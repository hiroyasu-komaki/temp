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IT投資ガバナンス 起案者ガイド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起案者のための手引き（2027年度）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文書番号 ITC-F-12　｜　版 1.0　｜　所管 IT投資委員会事務局　｜　承認者 ポートフォリオ・IT投資チームの管理職　｜　最終改訂日 2026-10-18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このガイドについて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ITC-F-12　IT投資ガバナンス 起案者ガイド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起案者（IT投資案件の案件担当者）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このガイドでわかること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申請の対象、全体の流れ、締切、IntakeForm・実行計画の書き方、結果の受け取り方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正式なルール（上位文書）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IT投資ガバナンス 運用基準（ITC-R-03）。本ガイドと食い違う場合は正式なルールが優先します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文書番号・版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ITC-F-12・1.0（2026-10-18）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所管・承認者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IT投資委員会事務局・ポートフォリオ・IT投資チームの管理職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見直し周期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定期見直しの周期）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全体の流れ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ITC-F-12　IT投資ガバナンス 起案者ガイド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IntakeFormの提出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年次の受付期間に、または随時に、起案者がIntakeFormを出します</a:t>
            </a:r>
          </a:p>
        </p:txBody>
      </p:sp>
      <p:sp>
        <p:nvSpPr>
          <p:cNvPr id="8" name="Shape 6"/>
          <p:cNvSpPr/>
          <p:nvPr/>
        </p:nvSpPr>
        <p:spPr>
          <a:xfrm>
            <a:off x="265176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6616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</a:p>
        </p:txBody>
      </p:sp>
      <p:sp>
        <p:nvSpPr>
          <p:cNvPr id="10" name="Text 8"/>
          <p:cNvSpPr/>
          <p:nvPr/>
        </p:nvSpPr>
        <p:spPr>
          <a:xfrm>
            <a:off x="278892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278892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事務局が記入内容を確認し、金額で付議先（Tier1かTier2）を決めます</a:t>
            </a:r>
          </a:p>
        </p:txBody>
      </p:sp>
      <p:sp>
        <p:nvSpPr>
          <p:cNvPr id="12" name="Shape 10"/>
          <p:cNvSpPr/>
          <p:nvPr/>
        </p:nvSpPr>
        <p:spPr>
          <a:xfrm>
            <a:off x="489204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80644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優先順位の審議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502920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Tier1またはTier2が、優先順位（随時は優先度）を決めます</a:t>
            </a:r>
          </a:p>
        </p:txBody>
      </p:sp>
      <p:sp>
        <p:nvSpPr>
          <p:cNvPr id="16" name="Shape 14"/>
          <p:cNvSpPr/>
          <p:nvPr/>
        </p:nvSpPr>
        <p:spPr>
          <a:xfrm>
            <a:off x="713232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</a:p>
        </p:txBody>
      </p:sp>
      <p:sp>
        <p:nvSpPr>
          <p:cNvPr id="18" name="Text 16"/>
          <p:cNvSpPr/>
          <p:nvPr/>
        </p:nvSpPr>
        <p:spPr>
          <a:xfrm>
            <a:off x="726948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実行計画の審議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72694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所属部門の依頼を受け、IT部門の担当者と共同で実行計画を出します。Tier2が自ら承認・否認を決めるか、Tier3の推奨案を受けて決めるか、承認会議（ローカル）に委ねるかを振り分けます</a:t>
            </a:r>
          </a:p>
        </p:txBody>
      </p:sp>
      <p:sp>
        <p:nvSpPr>
          <p:cNvPr id="20" name="Shape 18"/>
          <p:cNvSpPr/>
          <p:nvPr/>
        </p:nvSpPr>
        <p:spPr>
          <a:xfrm>
            <a:off x="937260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28700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</a:p>
        </p:txBody>
      </p:sp>
      <p:sp>
        <p:nvSpPr>
          <p:cNvPr id="22" name="Text 20"/>
          <p:cNvSpPr/>
          <p:nvPr/>
        </p:nvSpPr>
        <p:spPr>
          <a:xfrm>
            <a:off x="950976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結果の通知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950976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事務局が、各段階の結果を起案者に通知します</a:t>
            </a:r>
          </a:p>
        </p:txBody>
      </p:sp>
      <p:sp>
        <p:nvSpPr>
          <p:cNvPr id="24" name="Text 22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根拠: 業務フロー定義（ITC-P-06）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申請の対象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ITC-F-12　IT投資ガバナンス 起案者ガイド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94960" cy="3566160"/>
          </a:xfrm>
          <a:prstGeom prst="rect">
            <a:avLst/>
          </a:prstGeom>
          <a:solidFill>
            <a:srgbClr val="F7F8FA"/>
          </a:solidFill>
          <a:ln w="19050">
            <a:solidFill>
              <a:srgbClr val="1C2B4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IT投資案件（（TBD: IT投資案件の定義））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年次の予算策定の時期に出す案件（年次の受付）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年次の予算策定とは別に、いつでも出せる案件（随時のIntake）</a:t>
            </a:r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394960" cy="3566160"/>
          </a:xfrm>
          <a:prstGeom prst="rect">
            <a:avLst/>
          </a:prstGeom>
          <a:solidFill>
            <a:srgbClr val="F7F8FA"/>
          </a:solidFill>
          <a:ln w="19050">
            <a:solidFill>
              <a:srgbClr val="5B667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対象外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659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年次のIT投資予算の総額の決定（ファイナンス部門が決めます）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優先順位が付いた後の案件の管理（PPMボードが行います）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年次以外の時期の予算の追加（原則として認められません）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548640" y="4892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根拠: 運用基準 第2条・第5条　／　判断に迷う場合はIT投資委員会事務局へ相談してください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ITC-F-12　IT投資ガバナンス 起案者ガイド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イベント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起案者がすること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11月ごろ（TBD: 年次の受付期間と年次の会議の日程）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Tier1・Tier2の年次の会議（優先順位の審議）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200"/>
                        <a:t>（結果の通知を待つ）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12月（来期予算の確定と同時）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PPMボードが、起案者の所属部門を通じて実行計画の提出期限を伝える。本運用の開始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200"/>
                        <a:t>所属部門の依頼を受け、IT部門の担当者と共同で実行計画を作る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1月から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Tier2での実行計画の審議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200"/>
                        <a:t>提出期限までに実行計画を出す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随時（時期を問わない）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随時のIntake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200"/>
                        <a:t>年次予算にない案件が見込まれたら、IntakeFormを出す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優先度ありの通知の後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随時の案件の実行計画の審議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200"/>
                        <a:t>所属部門の依頼を受けて（または依頼の前に）、実行計画を出す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9"/>
          <p:cNvSpPr txBox="1"/>
          <p:nvPr/>
        </p:nvSpPr>
        <p:spPr>
          <a:xfrm>
            <a:off x="548640" y="4320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締切を過ぎた場合: （TBD: 締切を過ぎた提出の扱い）　／　根拠: 憲章（ITC-R-02）別表1・別表2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IntakeForm・実行計画の書き方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ITC-F-12　IT投資ガバナンス 起案者ガイド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9260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書くこと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良い例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避けたい例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付議先（Tier1かTier2か）を決める金額。算定方法は運用基準 第6条による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○○円（算定方法に沿った内訳つき）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内訳のない概数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IntakeFormのその他の項目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IntakeFormの記入項目）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実行計画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実行計画の必須の情報と様式）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様式: IntakeForm　／　置き場所と提出先: （TBD: IntakeFormの置き場所と提出先）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結果と次のステップ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ITC-F-12　IT投資ガバナンス 起案者ガイド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優先順位・優先度あり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所属部門の依頼を受けて（または依頼の前に）、IT部門の担当者と共同で実行計画を出してください</a:t>
            </a:r>
          </a:p>
        </p:txBody>
      </p:sp>
      <p:sp>
        <p:nvSpPr>
          <p:cNvPr id="8" name="Shape 6"/>
          <p:cNvSpPr/>
          <p:nvPr/>
        </p:nvSpPr>
        <p:spPr>
          <a:xfrm>
            <a:off x="336042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5433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優先度なし（随時）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354330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（TBD: 優先度が認められなかった案件の扱い）</a:t>
            </a:r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35508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承認（実行計画）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635508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承認された実行計画に沿って、案件を進めてください</a:t>
            </a:r>
          </a:p>
        </p:txBody>
      </p:sp>
      <p:sp>
        <p:nvSpPr>
          <p:cNvPr id="14" name="Shape 12"/>
          <p:cNvSpPr/>
          <p:nvPr/>
        </p:nvSpPr>
        <p:spPr>
          <a:xfrm>
            <a:off x="898398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16686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否認（実行計画）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916686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（TBD: 否認された実行計画の再提出の扱い）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根拠: 運用基準 第10条（判断・対応の区分）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よくある間違いと問い合わせ先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ITC-F-12　IT投資ガバナンス 起案者ガイド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よくある間違い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どうすればよいか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優先順位の付いていない案件の実行計画を出す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先にIntakeFormを出し、優先順位（随時は優先度）の審議を受けてください（運用基準 第5条）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年次以外の時期に、予算の追加を前提にして案件を計画する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年次以外の時期の予算の追加は、原則として認められません（運用基準 第5条第3項）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問い合わせ先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連絡先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受付時間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問い合わせ先と関係者の連絡先）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（TBD: 問い合わせ先と関係者の連絡先）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改訂履歴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ITC-F-12　IT投資ガバナンス 起案者ガイド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52120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改訂内容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2026-10-18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制定（初期セットの作成）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/>
                        <a:t>IT投資委員会事務局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/>
                        <a:t/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利用者ガイド</dc:title>
  <dc:subject>PptxGenJS Presentation</dc:subject>
  <dc:creator/>
  <cp:lastModifiedBy>PptxGenJS</cp:lastModifiedBy>
  <cp:revision>1</cp:revision>
  <dcterms:created xsi:type="dcterms:W3CDTF">2026-09-29T22:38:01Z</dcterms:created>
  <dcterms:modified xsi:type="dcterms:W3CDTF">2026-09-29T22:38:01Z</dcterms:modified>
</cp:coreProperties>
</file>