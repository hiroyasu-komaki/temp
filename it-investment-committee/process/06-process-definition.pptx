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15"/>
    <p:sldId id="265" r:id="rId16"/>
    <p:sldId id="266" r:id="rId17"/>
    <p:sldId id="268" r:id="rId19"/>
    <p:sldId id="260" r:id="rId6"/>
    <p:sldId id="261" r:id="rId7"/>
    <p:sldId id="267" r:id="rId18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9.xml"/><Relationship Id="rId7" Type="http://schemas.openxmlformats.org/officeDocument/2006/relationships/slide" Target="slides/slide10.xml"/><Relationship Id="rId8" Type="http://schemas.openxmlformats.org/officeDocument/2006/relationships/slide" Target="slides/slide12.xml"/><Relationship Id="rId9" Type="http://schemas.openxmlformats.org/officeDocument/2006/relationships/slide" Target="slides/slide13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11.xml"/><Relationship Id="rId19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IT投資ガバナンス 業務フロー定義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全体の流れ・関係者・RACI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文書番号 ITC-P-06　｜　版 1.0　｜　所管 IT投資委員会事務局　｜　承認者 ポートフォリオ・IT投資チームの管理職　｜　最終改訂日 2026-10-18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文書管理情報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ITC-P-06　IT投資ガバナンス 業務フロー定義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内容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文書番号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ITC-P-06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版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1.0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所管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IT投資委員会事務局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承認者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ポートフォリオ・IT投資チームの管理職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最終改訂日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2026-10-18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上位文書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IT投資ガバナンス 憲章（ITC-R-02）、IT投資ガバナンス 運用基準（ITC-R-03）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見直し周期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（TBD: 定期見直しの周期）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目的と適用範囲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ITC-P-06　IT投資ガバナンス 業務フロー定義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内容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目的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Tier1〜Tier3によるIT投資案件の優先順位付けと実行計画の審議を、どの順で・誰から誰へ・何を渡して進めるかを定める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開始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（1）⏱ 年次の予算策定　（2）Intakeを出す　（3）実行計画を出す　（4）Tier3を要請した　（5）承認会議（ローカル）に委ねた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終了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（1）優先順位を通知した　（2）優先度を通知した　（3）審議結果を通知した　（4）承認・否認を決めた　（5）結果を受け取った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対象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IT投資案件（運用基準 第2条）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対象外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年次のIT投資予算の総額の決定（ファイナンス部門）、優先順位が付いた案件の管理（PPMボード）、Tier3の運営（Tier3の主催者）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関係者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起案者の所属部門（事業部門またはIT部門）、起案者、IT部門の担当者、IT投資委員会事務局、Tier1、Tier2、Tier3、承認会議（ローカル）、PPMボード、ファイナンス部門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全体フロー（1）年次の優先順位付け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ITC-P-06　IT投資ガバナンス 業務フロー定義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</a:p>
        </p:txBody>
      </p:sp>
      <p:sp>
        <p:nvSpPr>
          <p:cNvPr id="201" name="Lane"/>
          <p:cNvSpPr/>
          <p:nvPr/>
        </p:nvSpPr>
        <p:spPr>
          <a:xfrm>
            <a:off x="540000" y="1152000"/>
            <a:ext cx="11052000" cy="1080000"/>
          </a:xfrm>
          <a:prstGeom prst="rect">
            <a:avLst/>
          </a:prstGeom>
          <a:solidFill>
            <a:srgbClr val="F7F8FA"/>
          </a:solidFill>
          <a:ln w="9525">
            <a:solidFill>
              <a:srgbClr val="CFCABE"/>
            </a:solidFill>
          </a:ln>
        </p:spPr>
        <p:txBody>
          <a:bodyPr wrap="square" lIns="36000" tIns="36000" rIns="36000" bIns="36000" anchor="ctr"/>
          <a:lstStyle/>
          <a:p/>
        </p:txBody>
      </p:sp>
      <p:sp>
        <p:nvSpPr>
          <p:cNvPr id="202" name="LaneLabel"/>
          <p:cNvSpPr/>
          <p:nvPr/>
        </p:nvSpPr>
        <p:spPr>
          <a:xfrm>
            <a:off x="540000" y="1152000"/>
            <a:ext cx="1224000" cy="1080000"/>
          </a:xfrm>
          <a:prstGeom prst="rect">
            <a:avLst/>
          </a:prstGeom>
          <a:solidFill>
            <a:srgbClr val="DCE3EC"/>
          </a:solidFill>
          <a:ln w="9525">
            <a:solidFill>
              <a:srgbClr val="CFCABE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100" b="1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起案者</a:t>
            </a:r>
          </a:p>
        </p:txBody>
      </p:sp>
      <p:sp>
        <p:nvSpPr>
          <p:cNvPr id="203" name="Lane"/>
          <p:cNvSpPr/>
          <p:nvPr/>
        </p:nvSpPr>
        <p:spPr>
          <a:xfrm>
            <a:off x="540000" y="2232000"/>
            <a:ext cx="11052000" cy="1080000"/>
          </a:xfrm>
          <a:prstGeom prst="rect">
            <a:avLst/>
          </a:prstGeom>
          <a:solidFill>
            <a:srgbClr val="F7F8FA"/>
          </a:solidFill>
          <a:ln w="9525">
            <a:solidFill>
              <a:srgbClr val="CFCABE"/>
            </a:solidFill>
          </a:ln>
        </p:spPr>
        <p:txBody>
          <a:bodyPr wrap="square" lIns="36000" tIns="36000" rIns="36000" bIns="36000" anchor="ctr"/>
          <a:lstStyle/>
          <a:p/>
        </p:txBody>
      </p:sp>
      <p:sp>
        <p:nvSpPr>
          <p:cNvPr id="204" name="LaneLabel"/>
          <p:cNvSpPr/>
          <p:nvPr/>
        </p:nvSpPr>
        <p:spPr>
          <a:xfrm>
            <a:off x="540000" y="2232000"/>
            <a:ext cx="1224000" cy="1080000"/>
          </a:xfrm>
          <a:prstGeom prst="rect">
            <a:avLst/>
          </a:prstGeom>
          <a:solidFill>
            <a:srgbClr val="DCE3EC"/>
          </a:solidFill>
          <a:ln w="9525">
            <a:solidFill>
              <a:srgbClr val="CFCABE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100" b="1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IT投資委員会</a:t>
            </a:r>
          </a:p>
          <a:p>
            <a:pPr algn="ctr"/>
            <a:r>
              <a:rPr lang="ja-JP" sz="1100" b="1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事務局</a:t>
            </a:r>
          </a:p>
        </p:txBody>
      </p:sp>
      <p:sp>
        <p:nvSpPr>
          <p:cNvPr id="205" name="Lane"/>
          <p:cNvSpPr/>
          <p:nvPr/>
        </p:nvSpPr>
        <p:spPr>
          <a:xfrm>
            <a:off x="540000" y="3312000"/>
            <a:ext cx="11052000" cy="1080000"/>
          </a:xfrm>
          <a:prstGeom prst="rect">
            <a:avLst/>
          </a:prstGeom>
          <a:solidFill>
            <a:srgbClr val="F7F8FA"/>
          </a:solidFill>
          <a:ln w="9525">
            <a:solidFill>
              <a:srgbClr val="CFCABE"/>
            </a:solidFill>
          </a:ln>
        </p:spPr>
        <p:txBody>
          <a:bodyPr wrap="square" lIns="36000" tIns="36000" rIns="36000" bIns="36000" anchor="ctr"/>
          <a:lstStyle/>
          <a:p/>
        </p:txBody>
      </p:sp>
      <p:sp>
        <p:nvSpPr>
          <p:cNvPr id="206" name="LaneLabel"/>
          <p:cNvSpPr/>
          <p:nvPr/>
        </p:nvSpPr>
        <p:spPr>
          <a:xfrm>
            <a:off x="540000" y="3312000"/>
            <a:ext cx="1224000" cy="1080000"/>
          </a:xfrm>
          <a:prstGeom prst="rect">
            <a:avLst/>
          </a:prstGeom>
          <a:solidFill>
            <a:srgbClr val="DCE3EC"/>
          </a:solidFill>
          <a:ln w="9525">
            <a:solidFill>
              <a:srgbClr val="CFCABE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100" b="1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Tier1</a:t>
            </a:r>
          </a:p>
        </p:txBody>
      </p:sp>
      <p:sp>
        <p:nvSpPr>
          <p:cNvPr id="207" name="Lane"/>
          <p:cNvSpPr/>
          <p:nvPr/>
        </p:nvSpPr>
        <p:spPr>
          <a:xfrm>
            <a:off x="540000" y="4392000"/>
            <a:ext cx="11052000" cy="1080000"/>
          </a:xfrm>
          <a:prstGeom prst="rect">
            <a:avLst/>
          </a:prstGeom>
          <a:solidFill>
            <a:srgbClr val="F7F8FA"/>
          </a:solidFill>
          <a:ln w="9525">
            <a:solidFill>
              <a:srgbClr val="CFCABE"/>
            </a:solidFill>
          </a:ln>
        </p:spPr>
        <p:txBody>
          <a:bodyPr wrap="square" lIns="36000" tIns="36000" rIns="36000" bIns="36000" anchor="ctr"/>
          <a:lstStyle/>
          <a:p/>
        </p:txBody>
      </p:sp>
      <p:sp>
        <p:nvSpPr>
          <p:cNvPr id="208" name="LaneLabel"/>
          <p:cNvSpPr/>
          <p:nvPr/>
        </p:nvSpPr>
        <p:spPr>
          <a:xfrm>
            <a:off x="540000" y="4392000"/>
            <a:ext cx="1224000" cy="1080000"/>
          </a:xfrm>
          <a:prstGeom prst="rect">
            <a:avLst/>
          </a:prstGeom>
          <a:solidFill>
            <a:srgbClr val="DCE3EC"/>
          </a:solidFill>
          <a:ln w="9525">
            <a:solidFill>
              <a:srgbClr val="CFCABE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100" b="1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Tier2</a:t>
            </a:r>
          </a:p>
        </p:txBody>
      </p:sp>
      <p:sp>
        <p:nvSpPr>
          <p:cNvPr id="209" name="StartEvent"/>
          <p:cNvSpPr/>
          <p:nvPr/>
        </p:nvSpPr>
        <p:spPr>
          <a:xfrm>
            <a:off x="1908000" y="2628000"/>
            <a:ext cx="288000" cy="288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F4F6A"/>
            </a:solidFill>
          </a:ln>
        </p:spPr>
        <p:txBody>
          <a:bodyPr wrap="square" lIns="36000" tIns="36000" rIns="36000" bIns="36000" anchor="ctr"/>
          <a:lstStyle/>
          <a:p/>
        </p:txBody>
      </p:sp>
      <p:sp>
        <p:nvSpPr>
          <p:cNvPr id="210" name="Label"/>
          <p:cNvSpPr txBox="1"/>
          <p:nvPr/>
        </p:nvSpPr>
        <p:spPr>
          <a:xfrm>
            <a:off x="1782000" y="2952000"/>
            <a:ext cx="54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⏱ 年次の</a:t>
            </a:r>
          </a:p>
          <a:p>
            <a:pPr algn="ct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予算策定</a:t>
            </a:r>
          </a:p>
        </p:txBody>
      </p:sp>
      <p:sp>
        <p:nvSpPr>
          <p:cNvPr id="211" name="Task"/>
          <p:cNvSpPr/>
          <p:nvPr/>
        </p:nvSpPr>
        <p:spPr>
          <a:xfrm>
            <a:off x="2304000" y="2484000"/>
            <a:ext cx="1080000" cy="5760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5E7391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① 年次の受付を周知する</a:t>
            </a:r>
          </a:p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§3.1</a:t>
            </a:r>
          </a:p>
        </p:txBody>
      </p:sp>
      <p:sp>
        <p:nvSpPr>
          <p:cNvPr id="212" name="Task"/>
          <p:cNvSpPr/>
          <p:nvPr/>
        </p:nvSpPr>
        <p:spPr>
          <a:xfrm>
            <a:off x="3546000" y="1404000"/>
            <a:ext cx="1080000" cy="5760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9AA5B5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IntakeFormを</a:t>
            </a:r>
          </a:p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提出する</a:t>
            </a:r>
          </a:p>
        </p:txBody>
      </p:sp>
      <p:sp>
        <p:nvSpPr>
          <p:cNvPr id="213" name="Task"/>
          <p:cNvSpPr/>
          <p:nvPr/>
        </p:nvSpPr>
        <p:spPr>
          <a:xfrm>
            <a:off x="4788000" y="2484000"/>
            <a:ext cx="1080000" cy="5760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5E7391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② 年次の提出を確認する</a:t>
            </a:r>
          </a:p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§3.2</a:t>
            </a:r>
          </a:p>
        </p:txBody>
      </p:sp>
      <p:sp>
        <p:nvSpPr>
          <p:cNvPr id="214" name="Gateway"/>
          <p:cNvSpPr/>
          <p:nvPr/>
        </p:nvSpPr>
        <p:spPr>
          <a:xfrm>
            <a:off x="5976000" y="2592000"/>
            <a:ext cx="360000" cy="3600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3F4F6A"/>
            </a:solidFill>
          </a:ln>
        </p:spPr>
        <p:txBody>
          <a:bodyPr wrap="square" lIns="0" tIns="0" rIns="0" bIns="0" anchor="ctr"/>
          <a:lstStyle/>
          <a:p/>
        </p:txBody>
      </p:sp>
      <p:sp>
        <p:nvSpPr>
          <p:cNvPr id="215" name="Label"/>
          <p:cNvSpPr txBox="1"/>
          <p:nvPr/>
        </p:nvSpPr>
        <p:spPr>
          <a:xfrm>
            <a:off x="5832000" y="2970000"/>
            <a:ext cx="648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不備は</a:t>
            </a:r>
          </a:p>
          <a:p>
            <a:pPr algn="ct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あるか？</a:t>
            </a:r>
          </a:p>
        </p:txBody>
      </p:sp>
      <p:sp>
        <p:nvSpPr>
          <p:cNvPr id="216" name="Task"/>
          <p:cNvSpPr/>
          <p:nvPr/>
        </p:nvSpPr>
        <p:spPr>
          <a:xfrm>
            <a:off x="6750000" y="2484000"/>
            <a:ext cx="1080000" cy="5760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5E7391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③ 年次の会議を運営する</a:t>
            </a:r>
          </a:p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§3.3</a:t>
            </a:r>
          </a:p>
        </p:txBody>
      </p:sp>
      <p:sp>
        <p:nvSpPr>
          <p:cNvPr id="217" name="Gateway"/>
          <p:cNvSpPr/>
          <p:nvPr/>
        </p:nvSpPr>
        <p:spPr>
          <a:xfrm>
            <a:off x="7938000" y="2592000"/>
            <a:ext cx="360000" cy="3600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3F4F6A"/>
            </a:solidFill>
          </a:ln>
        </p:spPr>
        <p:txBody>
          <a:bodyPr wrap="square" lIns="0" tIns="0" rIns="0" bIns="0" anchor="ctr"/>
          <a:lstStyle/>
          <a:p/>
        </p:txBody>
      </p:sp>
      <p:sp>
        <p:nvSpPr>
          <p:cNvPr id="218" name="Label"/>
          <p:cNvSpPr txBox="1"/>
          <p:nvPr/>
        </p:nvSpPr>
        <p:spPr>
          <a:xfrm>
            <a:off x="7794000" y="2304000"/>
            <a:ext cx="648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基準額を</a:t>
            </a:r>
          </a:p>
          <a:p>
            <a:pPr algn="ct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超えるか？</a:t>
            </a:r>
          </a:p>
        </p:txBody>
      </p:sp>
      <p:sp>
        <p:nvSpPr>
          <p:cNvPr id="219" name="Task"/>
          <p:cNvSpPr/>
          <p:nvPr/>
        </p:nvSpPr>
        <p:spPr>
          <a:xfrm>
            <a:off x="8838000" y="3564000"/>
            <a:ext cx="1080000" cy="5760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9AA5B5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優先順位を</a:t>
            </a:r>
          </a:p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決める</a:t>
            </a:r>
          </a:p>
        </p:txBody>
      </p:sp>
      <p:sp>
        <p:nvSpPr>
          <p:cNvPr id="220" name="Task"/>
          <p:cNvSpPr/>
          <p:nvPr/>
        </p:nvSpPr>
        <p:spPr>
          <a:xfrm>
            <a:off x="8838000" y="4644000"/>
            <a:ext cx="1080000" cy="5760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9AA5B5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優先順位を</a:t>
            </a:r>
          </a:p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決める</a:t>
            </a:r>
          </a:p>
        </p:txBody>
      </p:sp>
      <p:sp>
        <p:nvSpPr>
          <p:cNvPr id="221" name="Task"/>
          <p:cNvSpPr/>
          <p:nvPr/>
        </p:nvSpPr>
        <p:spPr>
          <a:xfrm>
            <a:off x="10062000" y="2484000"/>
            <a:ext cx="1080000" cy="5760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5E7391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④ 優先順位を記録し通知する</a:t>
            </a:r>
          </a:p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§3.4</a:t>
            </a:r>
          </a:p>
        </p:txBody>
      </p:sp>
      <p:sp>
        <p:nvSpPr>
          <p:cNvPr id="222" name="EndEvent"/>
          <p:cNvSpPr/>
          <p:nvPr/>
        </p:nvSpPr>
        <p:spPr>
          <a:xfrm>
            <a:off x="11250000" y="2628000"/>
            <a:ext cx="288000" cy="2880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F4F6A"/>
            </a:solidFill>
          </a:ln>
        </p:spPr>
        <p:txBody>
          <a:bodyPr wrap="square" lIns="36000" tIns="36000" rIns="36000" bIns="36000" anchor="ctr"/>
          <a:lstStyle/>
          <a:p/>
        </p:txBody>
      </p:sp>
      <p:sp>
        <p:nvSpPr>
          <p:cNvPr id="223" name="Label"/>
          <p:cNvSpPr txBox="1"/>
          <p:nvPr/>
        </p:nvSpPr>
        <p:spPr>
          <a:xfrm>
            <a:off x="11106000" y="2952000"/>
            <a:ext cx="576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優先順位を</a:t>
            </a:r>
          </a:p>
          <a:p>
            <a:pPr algn="ct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通知した</a:t>
            </a:r>
          </a:p>
        </p:txBody>
      </p:sp>
      <p:cxnSp>
        <p:nvCxnSpPr>
          <p:cNvPr id="224" name="Flow"/>
          <p:cNvCxnSpPr/>
          <p:nvPr/>
        </p:nvCxnSpPr>
        <p:spPr>
          <a:xfrm>
            <a:off x="2196000" y="2772000"/>
            <a:ext cx="108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cxnSp>
        <p:nvCxnSpPr>
          <p:cNvPr id="225" name="Flow"/>
          <p:cNvCxnSpPr/>
          <p:nvPr/>
        </p:nvCxnSpPr>
        <p:spPr>
          <a:xfrm>
            <a:off x="3384000" y="2772000"/>
            <a:ext cx="81000" cy="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226" name="Flow"/>
          <p:cNvCxnSpPr/>
          <p:nvPr/>
        </p:nvCxnSpPr>
        <p:spPr>
          <a:xfrm flipV="1">
            <a:off x="3465000" y="1692000"/>
            <a:ext cx="0" cy="108000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227" name="Flow"/>
          <p:cNvCxnSpPr/>
          <p:nvPr/>
        </p:nvCxnSpPr>
        <p:spPr>
          <a:xfrm>
            <a:off x="3465000" y="1692000"/>
            <a:ext cx="81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cxnSp>
        <p:nvCxnSpPr>
          <p:cNvPr id="228" name="Flow"/>
          <p:cNvCxnSpPr/>
          <p:nvPr/>
        </p:nvCxnSpPr>
        <p:spPr>
          <a:xfrm>
            <a:off x="4086000" y="1980000"/>
            <a:ext cx="0" cy="79200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229" name="Flow"/>
          <p:cNvCxnSpPr/>
          <p:nvPr/>
        </p:nvCxnSpPr>
        <p:spPr>
          <a:xfrm>
            <a:off x="4086000" y="2772000"/>
            <a:ext cx="702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cxnSp>
        <p:nvCxnSpPr>
          <p:cNvPr id="230" name="Flow"/>
          <p:cNvCxnSpPr/>
          <p:nvPr/>
        </p:nvCxnSpPr>
        <p:spPr>
          <a:xfrm>
            <a:off x="5868000" y="2772000"/>
            <a:ext cx="108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cxnSp>
        <p:nvCxnSpPr>
          <p:cNvPr id="231" name="Flow"/>
          <p:cNvCxnSpPr/>
          <p:nvPr/>
        </p:nvCxnSpPr>
        <p:spPr>
          <a:xfrm>
            <a:off x="6336000" y="2772000"/>
            <a:ext cx="414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cxnSp>
        <p:nvCxnSpPr>
          <p:cNvPr id="232" name="Flow"/>
          <p:cNvCxnSpPr/>
          <p:nvPr/>
        </p:nvCxnSpPr>
        <p:spPr>
          <a:xfrm flipV="1">
            <a:off x="6156000" y="1692000"/>
            <a:ext cx="0" cy="90000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233" name="Flow"/>
          <p:cNvCxnSpPr/>
          <p:nvPr/>
        </p:nvCxnSpPr>
        <p:spPr>
          <a:xfrm flipH="1">
            <a:off x="4626000" y="1692000"/>
            <a:ext cx="1530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cxnSp>
        <p:nvCxnSpPr>
          <p:cNvPr id="234" name="Flow"/>
          <p:cNvCxnSpPr/>
          <p:nvPr/>
        </p:nvCxnSpPr>
        <p:spPr>
          <a:xfrm>
            <a:off x="7830000" y="2772000"/>
            <a:ext cx="108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cxnSp>
        <p:nvCxnSpPr>
          <p:cNvPr id="235" name="Flow"/>
          <p:cNvCxnSpPr/>
          <p:nvPr/>
        </p:nvCxnSpPr>
        <p:spPr>
          <a:xfrm>
            <a:off x="8298000" y="2772000"/>
            <a:ext cx="432000" cy="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236" name="Flow"/>
          <p:cNvCxnSpPr/>
          <p:nvPr/>
        </p:nvCxnSpPr>
        <p:spPr>
          <a:xfrm>
            <a:off x="8730000" y="2772000"/>
            <a:ext cx="0" cy="108000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237" name="Flow"/>
          <p:cNvCxnSpPr/>
          <p:nvPr/>
        </p:nvCxnSpPr>
        <p:spPr>
          <a:xfrm>
            <a:off x="8730000" y="3852000"/>
            <a:ext cx="108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cxnSp>
        <p:nvCxnSpPr>
          <p:cNvPr id="238" name="Flow"/>
          <p:cNvCxnSpPr/>
          <p:nvPr/>
        </p:nvCxnSpPr>
        <p:spPr>
          <a:xfrm>
            <a:off x="8118000" y="2952000"/>
            <a:ext cx="0" cy="198000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239" name="Flow"/>
          <p:cNvCxnSpPr/>
          <p:nvPr/>
        </p:nvCxnSpPr>
        <p:spPr>
          <a:xfrm>
            <a:off x="8118000" y="4932000"/>
            <a:ext cx="720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cxnSp>
        <p:nvCxnSpPr>
          <p:cNvPr id="240" name="Flow"/>
          <p:cNvCxnSpPr/>
          <p:nvPr/>
        </p:nvCxnSpPr>
        <p:spPr>
          <a:xfrm>
            <a:off x="9918000" y="3852000"/>
            <a:ext cx="72000" cy="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241" name="Flow"/>
          <p:cNvCxnSpPr/>
          <p:nvPr/>
        </p:nvCxnSpPr>
        <p:spPr>
          <a:xfrm flipV="1">
            <a:off x="9990000" y="2772000"/>
            <a:ext cx="0" cy="108000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242" name="Flow"/>
          <p:cNvCxnSpPr/>
          <p:nvPr/>
        </p:nvCxnSpPr>
        <p:spPr>
          <a:xfrm>
            <a:off x="9990000" y="2772000"/>
            <a:ext cx="72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cxnSp>
        <p:nvCxnSpPr>
          <p:cNvPr id="243" name="Flow"/>
          <p:cNvCxnSpPr/>
          <p:nvPr/>
        </p:nvCxnSpPr>
        <p:spPr>
          <a:xfrm>
            <a:off x="9918000" y="4932000"/>
            <a:ext cx="72000" cy="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244" name="Flow"/>
          <p:cNvCxnSpPr/>
          <p:nvPr/>
        </p:nvCxnSpPr>
        <p:spPr>
          <a:xfrm flipV="1">
            <a:off x="9990000" y="2772000"/>
            <a:ext cx="0" cy="216000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245" name="Flow"/>
          <p:cNvCxnSpPr/>
          <p:nvPr/>
        </p:nvCxnSpPr>
        <p:spPr>
          <a:xfrm>
            <a:off x="9990000" y="2772000"/>
            <a:ext cx="72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cxnSp>
        <p:nvCxnSpPr>
          <p:cNvPr id="246" name="Flow"/>
          <p:cNvCxnSpPr/>
          <p:nvPr/>
        </p:nvCxnSpPr>
        <p:spPr>
          <a:xfrm>
            <a:off x="11142000" y="2772000"/>
            <a:ext cx="108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sp>
        <p:nvSpPr>
          <p:cNvPr id="247" name="Label"/>
          <p:cNvSpPr txBox="1"/>
          <p:nvPr/>
        </p:nvSpPr>
        <p:spPr>
          <a:xfrm>
            <a:off x="6354000" y="2574000"/>
            <a:ext cx="396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いいえ</a:t>
            </a:r>
          </a:p>
        </p:txBody>
      </p:sp>
      <p:sp>
        <p:nvSpPr>
          <p:cNvPr id="248" name="Label"/>
          <p:cNvSpPr txBox="1"/>
          <p:nvPr/>
        </p:nvSpPr>
        <p:spPr>
          <a:xfrm>
            <a:off x="6192000" y="2304000"/>
            <a:ext cx="36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はい</a:t>
            </a:r>
          </a:p>
        </p:txBody>
      </p:sp>
      <p:sp>
        <p:nvSpPr>
          <p:cNvPr id="249" name="Label"/>
          <p:cNvSpPr txBox="1"/>
          <p:nvPr/>
        </p:nvSpPr>
        <p:spPr>
          <a:xfrm>
            <a:off x="8316000" y="2574000"/>
            <a:ext cx="36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はい</a:t>
            </a:r>
          </a:p>
        </p:txBody>
      </p:sp>
      <p:sp>
        <p:nvSpPr>
          <p:cNvPr id="250" name="Label"/>
          <p:cNvSpPr txBox="1"/>
          <p:nvPr/>
        </p:nvSpPr>
        <p:spPr>
          <a:xfrm>
            <a:off x="8154000" y="2988000"/>
            <a:ext cx="396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いいえ</a:t>
            </a:r>
          </a:p>
        </p:txBody>
      </p:sp>
      <p:sp>
        <p:nvSpPr>
          <p:cNvPr id="251" name="Label"/>
          <p:cNvSpPr txBox="1"/>
          <p:nvPr/>
        </p:nvSpPr>
        <p:spPr>
          <a:xfrm>
            <a:off x="540000" y="5562000"/>
            <a:ext cx="11052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000" b="0">
                <a:solidFill>
                  <a:srgbClr val="5E7391"/>
                </a:solidFill>
                <a:latin typeface="Yu Gothic"/>
                <a:ea typeface="Yu Gothic"/>
                <a:cs typeface="Yu Gothic"/>
              </a:rPr>
              <a:t>丸数字はプロセス一覧の No.、§ は Runbook の節を示す。</a:t>
            </a:r>
          </a:p>
          <a:p>
            <a:pPr algn="l"/>
            <a:r>
              <a:rPr lang="ja-JP" sz="1000" b="0">
                <a:solidFill>
                  <a:srgbClr val="5E7391"/>
                </a:solidFill>
                <a:latin typeface="Yu Gothic"/>
                <a:ea typeface="Yu Gothic"/>
                <a:cs typeface="Yu Gothic"/>
              </a:rPr>
              <a:t>付議先は運用基準 第5条・第6条による。図は1件の案件の流れを示す。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全体フロー（2）随時のIntake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ITC-P-06　IT投資ガバナンス 業務フロー定義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</a:p>
        </p:txBody>
      </p:sp>
      <p:sp>
        <p:nvSpPr>
          <p:cNvPr id="201" name="Lane"/>
          <p:cNvSpPr/>
          <p:nvPr/>
        </p:nvSpPr>
        <p:spPr>
          <a:xfrm>
            <a:off x="540000" y="1152000"/>
            <a:ext cx="11052000" cy="1080000"/>
          </a:xfrm>
          <a:prstGeom prst="rect">
            <a:avLst/>
          </a:prstGeom>
          <a:solidFill>
            <a:srgbClr val="F7F8FA"/>
          </a:solidFill>
          <a:ln w="9525">
            <a:solidFill>
              <a:srgbClr val="CFCABE"/>
            </a:solidFill>
          </a:ln>
        </p:spPr>
        <p:txBody>
          <a:bodyPr wrap="square" lIns="36000" tIns="36000" rIns="36000" bIns="36000" anchor="ctr"/>
          <a:lstStyle/>
          <a:p/>
        </p:txBody>
      </p:sp>
      <p:sp>
        <p:nvSpPr>
          <p:cNvPr id="202" name="LaneLabel"/>
          <p:cNvSpPr/>
          <p:nvPr/>
        </p:nvSpPr>
        <p:spPr>
          <a:xfrm>
            <a:off x="540000" y="1152000"/>
            <a:ext cx="1224000" cy="1080000"/>
          </a:xfrm>
          <a:prstGeom prst="rect">
            <a:avLst/>
          </a:prstGeom>
          <a:solidFill>
            <a:srgbClr val="DCE3EC"/>
          </a:solidFill>
          <a:ln w="9525">
            <a:solidFill>
              <a:srgbClr val="CFCABE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100" b="1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起案者</a:t>
            </a:r>
          </a:p>
        </p:txBody>
      </p:sp>
      <p:sp>
        <p:nvSpPr>
          <p:cNvPr id="203" name="Lane"/>
          <p:cNvSpPr/>
          <p:nvPr/>
        </p:nvSpPr>
        <p:spPr>
          <a:xfrm>
            <a:off x="540000" y="2232000"/>
            <a:ext cx="11052000" cy="1080000"/>
          </a:xfrm>
          <a:prstGeom prst="rect">
            <a:avLst/>
          </a:prstGeom>
          <a:solidFill>
            <a:srgbClr val="F7F8FA"/>
          </a:solidFill>
          <a:ln w="9525">
            <a:solidFill>
              <a:srgbClr val="CFCABE"/>
            </a:solidFill>
          </a:ln>
        </p:spPr>
        <p:txBody>
          <a:bodyPr wrap="square" lIns="36000" tIns="36000" rIns="36000" bIns="36000" anchor="ctr"/>
          <a:lstStyle/>
          <a:p/>
        </p:txBody>
      </p:sp>
      <p:sp>
        <p:nvSpPr>
          <p:cNvPr id="204" name="LaneLabel"/>
          <p:cNvSpPr/>
          <p:nvPr/>
        </p:nvSpPr>
        <p:spPr>
          <a:xfrm>
            <a:off x="540000" y="2232000"/>
            <a:ext cx="1224000" cy="1080000"/>
          </a:xfrm>
          <a:prstGeom prst="rect">
            <a:avLst/>
          </a:prstGeom>
          <a:solidFill>
            <a:srgbClr val="DCE3EC"/>
          </a:solidFill>
          <a:ln w="9525">
            <a:solidFill>
              <a:srgbClr val="CFCABE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100" b="1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IT投資委員会</a:t>
            </a:r>
          </a:p>
          <a:p>
            <a:pPr algn="ctr"/>
            <a:r>
              <a:rPr lang="ja-JP" sz="1100" b="1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事務局</a:t>
            </a:r>
          </a:p>
        </p:txBody>
      </p:sp>
      <p:sp>
        <p:nvSpPr>
          <p:cNvPr id="205" name="Lane"/>
          <p:cNvSpPr/>
          <p:nvPr/>
        </p:nvSpPr>
        <p:spPr>
          <a:xfrm>
            <a:off x="540000" y="3312000"/>
            <a:ext cx="11052000" cy="1080000"/>
          </a:xfrm>
          <a:prstGeom prst="rect">
            <a:avLst/>
          </a:prstGeom>
          <a:solidFill>
            <a:srgbClr val="F7F8FA"/>
          </a:solidFill>
          <a:ln w="9525">
            <a:solidFill>
              <a:srgbClr val="CFCABE"/>
            </a:solidFill>
          </a:ln>
        </p:spPr>
        <p:txBody>
          <a:bodyPr wrap="square" lIns="36000" tIns="36000" rIns="36000" bIns="36000" anchor="ctr"/>
          <a:lstStyle/>
          <a:p/>
        </p:txBody>
      </p:sp>
      <p:sp>
        <p:nvSpPr>
          <p:cNvPr id="206" name="LaneLabel"/>
          <p:cNvSpPr/>
          <p:nvPr/>
        </p:nvSpPr>
        <p:spPr>
          <a:xfrm>
            <a:off x="540000" y="3312000"/>
            <a:ext cx="1224000" cy="1080000"/>
          </a:xfrm>
          <a:prstGeom prst="rect">
            <a:avLst/>
          </a:prstGeom>
          <a:solidFill>
            <a:srgbClr val="DCE3EC"/>
          </a:solidFill>
          <a:ln w="9525">
            <a:solidFill>
              <a:srgbClr val="CFCABE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100" b="1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Tier1</a:t>
            </a:r>
          </a:p>
        </p:txBody>
      </p:sp>
      <p:sp>
        <p:nvSpPr>
          <p:cNvPr id="207" name="Lane"/>
          <p:cNvSpPr/>
          <p:nvPr/>
        </p:nvSpPr>
        <p:spPr>
          <a:xfrm>
            <a:off x="540000" y="4392000"/>
            <a:ext cx="11052000" cy="1080000"/>
          </a:xfrm>
          <a:prstGeom prst="rect">
            <a:avLst/>
          </a:prstGeom>
          <a:solidFill>
            <a:srgbClr val="F7F8FA"/>
          </a:solidFill>
          <a:ln w="9525">
            <a:solidFill>
              <a:srgbClr val="CFCABE"/>
            </a:solidFill>
          </a:ln>
        </p:spPr>
        <p:txBody>
          <a:bodyPr wrap="square" lIns="36000" tIns="36000" rIns="36000" bIns="36000" anchor="ctr"/>
          <a:lstStyle/>
          <a:p/>
        </p:txBody>
      </p:sp>
      <p:sp>
        <p:nvSpPr>
          <p:cNvPr id="208" name="LaneLabel"/>
          <p:cNvSpPr/>
          <p:nvPr/>
        </p:nvSpPr>
        <p:spPr>
          <a:xfrm>
            <a:off x="540000" y="4392000"/>
            <a:ext cx="1224000" cy="1080000"/>
          </a:xfrm>
          <a:prstGeom prst="rect">
            <a:avLst/>
          </a:prstGeom>
          <a:solidFill>
            <a:srgbClr val="DCE3EC"/>
          </a:solidFill>
          <a:ln w="9525">
            <a:solidFill>
              <a:srgbClr val="CFCABE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100" b="1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Tier2</a:t>
            </a:r>
          </a:p>
        </p:txBody>
      </p:sp>
      <p:sp>
        <p:nvSpPr>
          <p:cNvPr id="209" name="StartEvent"/>
          <p:cNvSpPr/>
          <p:nvPr/>
        </p:nvSpPr>
        <p:spPr>
          <a:xfrm>
            <a:off x="1908000" y="1548000"/>
            <a:ext cx="288000" cy="288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F4F6A"/>
            </a:solidFill>
          </a:ln>
        </p:spPr>
        <p:txBody>
          <a:bodyPr wrap="square" lIns="36000" tIns="36000" rIns="36000" bIns="36000" anchor="ctr"/>
          <a:lstStyle/>
          <a:p/>
        </p:txBody>
      </p:sp>
      <p:sp>
        <p:nvSpPr>
          <p:cNvPr id="210" name="Label"/>
          <p:cNvSpPr txBox="1"/>
          <p:nvPr/>
        </p:nvSpPr>
        <p:spPr>
          <a:xfrm>
            <a:off x="1800000" y="1872000"/>
            <a:ext cx="504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Intakeを</a:t>
            </a:r>
          </a:p>
          <a:p>
            <a:pPr algn="ct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出す</a:t>
            </a:r>
          </a:p>
        </p:txBody>
      </p:sp>
      <p:sp>
        <p:nvSpPr>
          <p:cNvPr id="211" name="Task"/>
          <p:cNvSpPr/>
          <p:nvPr/>
        </p:nvSpPr>
        <p:spPr>
          <a:xfrm>
            <a:off x="2412000" y="1404000"/>
            <a:ext cx="1080000" cy="5760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9AA5B5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IntakeFormを</a:t>
            </a:r>
          </a:p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提出する</a:t>
            </a:r>
          </a:p>
        </p:txBody>
      </p:sp>
      <p:sp>
        <p:nvSpPr>
          <p:cNvPr id="212" name="Task"/>
          <p:cNvSpPr/>
          <p:nvPr/>
        </p:nvSpPr>
        <p:spPr>
          <a:xfrm>
            <a:off x="3816000" y="2484000"/>
            <a:ext cx="1080000" cy="5760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5E7391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⑤ Intakeを受け付ける</a:t>
            </a:r>
          </a:p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§3.5</a:t>
            </a:r>
          </a:p>
        </p:txBody>
      </p:sp>
      <p:sp>
        <p:nvSpPr>
          <p:cNvPr id="213" name="Gateway"/>
          <p:cNvSpPr/>
          <p:nvPr/>
        </p:nvSpPr>
        <p:spPr>
          <a:xfrm>
            <a:off x="5112000" y="2592000"/>
            <a:ext cx="360000" cy="3600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3F4F6A"/>
            </a:solidFill>
          </a:ln>
        </p:spPr>
        <p:txBody>
          <a:bodyPr wrap="square" lIns="0" tIns="0" rIns="0" bIns="0" anchor="ctr"/>
          <a:lstStyle/>
          <a:p/>
        </p:txBody>
      </p:sp>
      <p:sp>
        <p:nvSpPr>
          <p:cNvPr id="214" name="Label"/>
          <p:cNvSpPr txBox="1"/>
          <p:nvPr/>
        </p:nvSpPr>
        <p:spPr>
          <a:xfrm>
            <a:off x="4968000" y="2970000"/>
            <a:ext cx="648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不備は</a:t>
            </a:r>
          </a:p>
          <a:p>
            <a:pPr algn="ct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あるか？</a:t>
            </a:r>
          </a:p>
        </p:txBody>
      </p:sp>
      <p:sp>
        <p:nvSpPr>
          <p:cNvPr id="215" name="Task"/>
          <p:cNvSpPr/>
          <p:nvPr/>
        </p:nvSpPr>
        <p:spPr>
          <a:xfrm>
            <a:off x="5940000" y="2484000"/>
            <a:ext cx="1080000" cy="5760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5E7391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⑥ Intakeの会議を運営する</a:t>
            </a:r>
          </a:p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§3.6</a:t>
            </a:r>
          </a:p>
        </p:txBody>
      </p:sp>
      <p:sp>
        <p:nvSpPr>
          <p:cNvPr id="216" name="Gateway"/>
          <p:cNvSpPr/>
          <p:nvPr/>
        </p:nvSpPr>
        <p:spPr>
          <a:xfrm>
            <a:off x="7236000" y="2592000"/>
            <a:ext cx="360000" cy="3600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3F4F6A"/>
            </a:solidFill>
          </a:ln>
        </p:spPr>
        <p:txBody>
          <a:bodyPr wrap="square" lIns="0" tIns="0" rIns="0" bIns="0" anchor="ctr"/>
          <a:lstStyle/>
          <a:p/>
        </p:txBody>
      </p:sp>
      <p:sp>
        <p:nvSpPr>
          <p:cNvPr id="217" name="Label"/>
          <p:cNvSpPr txBox="1"/>
          <p:nvPr/>
        </p:nvSpPr>
        <p:spPr>
          <a:xfrm>
            <a:off x="7092000" y="2304000"/>
            <a:ext cx="648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基準額を</a:t>
            </a:r>
          </a:p>
          <a:p>
            <a:pPr algn="ct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超えるか？</a:t>
            </a:r>
          </a:p>
        </p:txBody>
      </p:sp>
      <p:sp>
        <p:nvSpPr>
          <p:cNvPr id="218" name="Task"/>
          <p:cNvSpPr/>
          <p:nvPr/>
        </p:nvSpPr>
        <p:spPr>
          <a:xfrm>
            <a:off x="8064000" y="3564000"/>
            <a:ext cx="1080000" cy="5760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9AA5B5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優先度を</a:t>
            </a:r>
          </a:p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判断する</a:t>
            </a:r>
          </a:p>
        </p:txBody>
      </p:sp>
      <p:sp>
        <p:nvSpPr>
          <p:cNvPr id="219" name="Task"/>
          <p:cNvSpPr/>
          <p:nvPr/>
        </p:nvSpPr>
        <p:spPr>
          <a:xfrm>
            <a:off x="8064000" y="4644000"/>
            <a:ext cx="1080000" cy="5760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9AA5B5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優先度を</a:t>
            </a:r>
          </a:p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判断する</a:t>
            </a:r>
          </a:p>
        </p:txBody>
      </p:sp>
      <p:sp>
        <p:nvSpPr>
          <p:cNvPr id="220" name="Task"/>
          <p:cNvSpPr/>
          <p:nvPr/>
        </p:nvSpPr>
        <p:spPr>
          <a:xfrm>
            <a:off x="9468000" y="2484000"/>
            <a:ext cx="1080000" cy="5760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5E7391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⑦ 優先度を記録し通知する</a:t>
            </a:r>
          </a:p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§3.7</a:t>
            </a:r>
          </a:p>
        </p:txBody>
      </p:sp>
      <p:sp>
        <p:nvSpPr>
          <p:cNvPr id="221" name="EndEvent"/>
          <p:cNvSpPr/>
          <p:nvPr/>
        </p:nvSpPr>
        <p:spPr>
          <a:xfrm>
            <a:off x="10764000" y="2628000"/>
            <a:ext cx="288000" cy="2880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F4F6A"/>
            </a:solidFill>
          </a:ln>
        </p:spPr>
        <p:txBody>
          <a:bodyPr wrap="square" lIns="36000" tIns="36000" rIns="36000" bIns="36000" anchor="ctr"/>
          <a:lstStyle/>
          <a:p/>
        </p:txBody>
      </p:sp>
      <p:sp>
        <p:nvSpPr>
          <p:cNvPr id="222" name="Label"/>
          <p:cNvSpPr txBox="1"/>
          <p:nvPr/>
        </p:nvSpPr>
        <p:spPr>
          <a:xfrm>
            <a:off x="10620000" y="2952000"/>
            <a:ext cx="576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優先度を</a:t>
            </a:r>
          </a:p>
          <a:p>
            <a:pPr algn="ct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通知した</a:t>
            </a:r>
          </a:p>
        </p:txBody>
      </p:sp>
      <p:cxnSp>
        <p:nvCxnSpPr>
          <p:cNvPr id="223" name="Flow"/>
          <p:cNvCxnSpPr/>
          <p:nvPr/>
        </p:nvCxnSpPr>
        <p:spPr>
          <a:xfrm>
            <a:off x="2196000" y="1692000"/>
            <a:ext cx="216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cxnSp>
        <p:nvCxnSpPr>
          <p:cNvPr id="224" name="Flow"/>
          <p:cNvCxnSpPr/>
          <p:nvPr/>
        </p:nvCxnSpPr>
        <p:spPr>
          <a:xfrm>
            <a:off x="2952000" y="1980000"/>
            <a:ext cx="0" cy="79200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225" name="Flow"/>
          <p:cNvCxnSpPr/>
          <p:nvPr/>
        </p:nvCxnSpPr>
        <p:spPr>
          <a:xfrm>
            <a:off x="2952000" y="2772000"/>
            <a:ext cx="864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cxnSp>
        <p:nvCxnSpPr>
          <p:cNvPr id="226" name="Flow"/>
          <p:cNvCxnSpPr/>
          <p:nvPr/>
        </p:nvCxnSpPr>
        <p:spPr>
          <a:xfrm>
            <a:off x="4896000" y="2772000"/>
            <a:ext cx="216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cxnSp>
        <p:nvCxnSpPr>
          <p:cNvPr id="227" name="Flow"/>
          <p:cNvCxnSpPr/>
          <p:nvPr/>
        </p:nvCxnSpPr>
        <p:spPr>
          <a:xfrm>
            <a:off x="5472000" y="2772000"/>
            <a:ext cx="468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cxnSp>
        <p:nvCxnSpPr>
          <p:cNvPr id="228" name="Flow"/>
          <p:cNvCxnSpPr/>
          <p:nvPr/>
        </p:nvCxnSpPr>
        <p:spPr>
          <a:xfrm flipV="1">
            <a:off x="5292000" y="1692000"/>
            <a:ext cx="0" cy="90000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229" name="Flow"/>
          <p:cNvCxnSpPr/>
          <p:nvPr/>
        </p:nvCxnSpPr>
        <p:spPr>
          <a:xfrm flipH="1">
            <a:off x="3492000" y="1692000"/>
            <a:ext cx="1800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cxnSp>
        <p:nvCxnSpPr>
          <p:cNvPr id="230" name="Flow"/>
          <p:cNvCxnSpPr/>
          <p:nvPr/>
        </p:nvCxnSpPr>
        <p:spPr>
          <a:xfrm>
            <a:off x="7020000" y="2772000"/>
            <a:ext cx="216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cxnSp>
        <p:nvCxnSpPr>
          <p:cNvPr id="231" name="Flow"/>
          <p:cNvCxnSpPr/>
          <p:nvPr/>
        </p:nvCxnSpPr>
        <p:spPr>
          <a:xfrm>
            <a:off x="7596000" y="2772000"/>
            <a:ext cx="360000" cy="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232" name="Flow"/>
          <p:cNvCxnSpPr/>
          <p:nvPr/>
        </p:nvCxnSpPr>
        <p:spPr>
          <a:xfrm>
            <a:off x="7956000" y="2772000"/>
            <a:ext cx="0" cy="108000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233" name="Flow"/>
          <p:cNvCxnSpPr/>
          <p:nvPr/>
        </p:nvCxnSpPr>
        <p:spPr>
          <a:xfrm>
            <a:off x="7956000" y="3852000"/>
            <a:ext cx="108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cxnSp>
        <p:nvCxnSpPr>
          <p:cNvPr id="234" name="Flow"/>
          <p:cNvCxnSpPr/>
          <p:nvPr/>
        </p:nvCxnSpPr>
        <p:spPr>
          <a:xfrm>
            <a:off x="7416000" y="2952000"/>
            <a:ext cx="0" cy="198000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235" name="Flow"/>
          <p:cNvCxnSpPr/>
          <p:nvPr/>
        </p:nvCxnSpPr>
        <p:spPr>
          <a:xfrm>
            <a:off x="7416000" y="4932000"/>
            <a:ext cx="648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cxnSp>
        <p:nvCxnSpPr>
          <p:cNvPr id="236" name="Flow"/>
          <p:cNvCxnSpPr/>
          <p:nvPr/>
        </p:nvCxnSpPr>
        <p:spPr>
          <a:xfrm>
            <a:off x="9144000" y="3852000"/>
            <a:ext cx="162000" cy="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237" name="Flow"/>
          <p:cNvCxnSpPr/>
          <p:nvPr/>
        </p:nvCxnSpPr>
        <p:spPr>
          <a:xfrm flipV="1">
            <a:off x="9306000" y="2772000"/>
            <a:ext cx="0" cy="108000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238" name="Flow"/>
          <p:cNvCxnSpPr/>
          <p:nvPr/>
        </p:nvCxnSpPr>
        <p:spPr>
          <a:xfrm>
            <a:off x="9306000" y="2772000"/>
            <a:ext cx="162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cxnSp>
        <p:nvCxnSpPr>
          <p:cNvPr id="239" name="Flow"/>
          <p:cNvCxnSpPr/>
          <p:nvPr/>
        </p:nvCxnSpPr>
        <p:spPr>
          <a:xfrm>
            <a:off x="9144000" y="4932000"/>
            <a:ext cx="162000" cy="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240" name="Flow"/>
          <p:cNvCxnSpPr/>
          <p:nvPr/>
        </p:nvCxnSpPr>
        <p:spPr>
          <a:xfrm flipV="1">
            <a:off x="9306000" y="2772000"/>
            <a:ext cx="0" cy="216000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241" name="Flow"/>
          <p:cNvCxnSpPr/>
          <p:nvPr/>
        </p:nvCxnSpPr>
        <p:spPr>
          <a:xfrm>
            <a:off x="9306000" y="2772000"/>
            <a:ext cx="162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cxnSp>
        <p:nvCxnSpPr>
          <p:cNvPr id="242" name="Flow"/>
          <p:cNvCxnSpPr/>
          <p:nvPr/>
        </p:nvCxnSpPr>
        <p:spPr>
          <a:xfrm>
            <a:off x="10548000" y="2772000"/>
            <a:ext cx="216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sp>
        <p:nvSpPr>
          <p:cNvPr id="243" name="Label"/>
          <p:cNvSpPr txBox="1"/>
          <p:nvPr/>
        </p:nvSpPr>
        <p:spPr>
          <a:xfrm>
            <a:off x="5490000" y="2574000"/>
            <a:ext cx="396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いいえ</a:t>
            </a:r>
          </a:p>
        </p:txBody>
      </p:sp>
      <p:sp>
        <p:nvSpPr>
          <p:cNvPr id="244" name="Label"/>
          <p:cNvSpPr txBox="1"/>
          <p:nvPr/>
        </p:nvSpPr>
        <p:spPr>
          <a:xfrm>
            <a:off x="5328000" y="2304000"/>
            <a:ext cx="36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はい</a:t>
            </a:r>
          </a:p>
        </p:txBody>
      </p:sp>
      <p:sp>
        <p:nvSpPr>
          <p:cNvPr id="245" name="Label"/>
          <p:cNvSpPr txBox="1"/>
          <p:nvPr/>
        </p:nvSpPr>
        <p:spPr>
          <a:xfrm>
            <a:off x="7614000" y="2574000"/>
            <a:ext cx="36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はい</a:t>
            </a:r>
          </a:p>
        </p:txBody>
      </p:sp>
      <p:sp>
        <p:nvSpPr>
          <p:cNvPr id="246" name="Label"/>
          <p:cNvSpPr txBox="1"/>
          <p:nvPr/>
        </p:nvSpPr>
        <p:spPr>
          <a:xfrm>
            <a:off x="7452000" y="2988000"/>
            <a:ext cx="396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いいえ</a:t>
            </a:r>
          </a:p>
        </p:txBody>
      </p:sp>
      <p:sp>
        <p:nvSpPr>
          <p:cNvPr id="247" name="Label"/>
          <p:cNvSpPr txBox="1"/>
          <p:nvPr/>
        </p:nvSpPr>
        <p:spPr>
          <a:xfrm>
            <a:off x="540000" y="5562000"/>
            <a:ext cx="11052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000" b="0">
                <a:solidFill>
                  <a:srgbClr val="5E7391"/>
                </a:solidFill>
                <a:latin typeface="Yu Gothic"/>
                <a:ea typeface="Yu Gothic"/>
                <a:cs typeface="Yu Gothic"/>
              </a:rPr>
              <a:t>丸数字はプロセス一覧の No.、§ は Runbook の節を示す。</a:t>
            </a:r>
          </a:p>
          <a:p>
            <a:pPr algn="l"/>
            <a:r>
              <a:rPr lang="ja-JP" sz="1000" b="0">
                <a:solidFill>
                  <a:srgbClr val="5E7391"/>
                </a:solidFill>
                <a:latin typeface="Yu Gothic"/>
                <a:ea typeface="Yu Gothic"/>
                <a:cs typeface="Yu Gothic"/>
              </a:rPr>
              <a:t>優先度ありの案件は、全体フロー（3）で実行計画を審議する。付議先は運用基準 第5条・第6条による。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全体フロー（3）実行計画の審議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ITC-P-06　IT投資ガバナンス 業務フロー定義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</a:p>
        </p:txBody>
      </p:sp>
      <p:sp>
        <p:nvSpPr>
          <p:cNvPr id="201" name="Lane"/>
          <p:cNvSpPr/>
          <p:nvPr/>
        </p:nvSpPr>
        <p:spPr>
          <a:xfrm>
            <a:off x="540000" y="1152000"/>
            <a:ext cx="11052000" cy="1188000"/>
          </a:xfrm>
          <a:prstGeom prst="rect">
            <a:avLst/>
          </a:prstGeom>
          <a:solidFill>
            <a:srgbClr val="F7F8FA"/>
          </a:solidFill>
          <a:ln w="9525">
            <a:solidFill>
              <a:srgbClr val="CFCABE"/>
            </a:solidFill>
          </a:ln>
        </p:spPr>
        <p:txBody>
          <a:bodyPr wrap="square" lIns="36000" tIns="36000" rIns="36000" bIns="36000" anchor="ctr"/>
          <a:lstStyle/>
          <a:p/>
        </p:txBody>
      </p:sp>
      <p:sp>
        <p:nvSpPr>
          <p:cNvPr id="202" name="LaneLabel"/>
          <p:cNvSpPr/>
          <p:nvPr/>
        </p:nvSpPr>
        <p:spPr>
          <a:xfrm>
            <a:off x="540000" y="1152000"/>
            <a:ext cx="1224000" cy="1188000"/>
          </a:xfrm>
          <a:prstGeom prst="rect">
            <a:avLst/>
          </a:prstGeom>
          <a:solidFill>
            <a:srgbClr val="DCE3EC"/>
          </a:solidFill>
          <a:ln w="9525">
            <a:solidFill>
              <a:srgbClr val="CFCABE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100" b="1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起案者</a:t>
            </a:r>
          </a:p>
        </p:txBody>
      </p:sp>
      <p:sp>
        <p:nvSpPr>
          <p:cNvPr id="203" name="Lane"/>
          <p:cNvSpPr/>
          <p:nvPr/>
        </p:nvSpPr>
        <p:spPr>
          <a:xfrm>
            <a:off x="540000" y="2340000"/>
            <a:ext cx="11052000" cy="1188000"/>
          </a:xfrm>
          <a:prstGeom prst="rect">
            <a:avLst/>
          </a:prstGeom>
          <a:solidFill>
            <a:srgbClr val="F7F8FA"/>
          </a:solidFill>
          <a:ln w="9525">
            <a:solidFill>
              <a:srgbClr val="CFCABE"/>
            </a:solidFill>
          </a:ln>
        </p:spPr>
        <p:txBody>
          <a:bodyPr wrap="square" lIns="36000" tIns="36000" rIns="36000" bIns="36000" anchor="ctr"/>
          <a:lstStyle/>
          <a:p/>
        </p:txBody>
      </p:sp>
      <p:sp>
        <p:nvSpPr>
          <p:cNvPr id="204" name="LaneLabel"/>
          <p:cNvSpPr/>
          <p:nvPr/>
        </p:nvSpPr>
        <p:spPr>
          <a:xfrm>
            <a:off x="540000" y="2340000"/>
            <a:ext cx="1224000" cy="1188000"/>
          </a:xfrm>
          <a:prstGeom prst="rect">
            <a:avLst/>
          </a:prstGeom>
          <a:solidFill>
            <a:srgbClr val="DCE3EC"/>
          </a:solidFill>
          <a:ln w="9525">
            <a:solidFill>
              <a:srgbClr val="CFCABE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100" b="1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IT投資委員会</a:t>
            </a:r>
          </a:p>
          <a:p>
            <a:pPr algn="ctr"/>
            <a:r>
              <a:rPr lang="ja-JP" sz="1100" b="1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事務局</a:t>
            </a:r>
          </a:p>
        </p:txBody>
      </p:sp>
      <p:sp>
        <p:nvSpPr>
          <p:cNvPr id="205" name="Lane"/>
          <p:cNvSpPr/>
          <p:nvPr/>
        </p:nvSpPr>
        <p:spPr>
          <a:xfrm>
            <a:off x="540000" y="3528000"/>
            <a:ext cx="11052000" cy="1188000"/>
          </a:xfrm>
          <a:prstGeom prst="rect">
            <a:avLst/>
          </a:prstGeom>
          <a:solidFill>
            <a:srgbClr val="F7F8FA"/>
          </a:solidFill>
          <a:ln w="9525">
            <a:solidFill>
              <a:srgbClr val="CFCABE"/>
            </a:solidFill>
          </a:ln>
        </p:spPr>
        <p:txBody>
          <a:bodyPr wrap="square" lIns="36000" tIns="36000" rIns="36000" bIns="36000" anchor="ctr"/>
          <a:lstStyle/>
          <a:p/>
        </p:txBody>
      </p:sp>
      <p:sp>
        <p:nvSpPr>
          <p:cNvPr id="206" name="LaneLabel"/>
          <p:cNvSpPr/>
          <p:nvPr/>
        </p:nvSpPr>
        <p:spPr>
          <a:xfrm>
            <a:off x="540000" y="3528000"/>
            <a:ext cx="1224000" cy="1188000"/>
          </a:xfrm>
          <a:prstGeom prst="rect">
            <a:avLst/>
          </a:prstGeom>
          <a:solidFill>
            <a:srgbClr val="DCE3EC"/>
          </a:solidFill>
          <a:ln w="9525">
            <a:solidFill>
              <a:srgbClr val="CFCABE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100" b="1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Tier2</a:t>
            </a:r>
          </a:p>
        </p:txBody>
      </p:sp>
      <p:sp>
        <p:nvSpPr>
          <p:cNvPr id="207" name="StartEvent"/>
          <p:cNvSpPr/>
          <p:nvPr/>
        </p:nvSpPr>
        <p:spPr>
          <a:xfrm>
            <a:off x="1908000" y="1602000"/>
            <a:ext cx="288000" cy="288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F4F6A"/>
            </a:solidFill>
          </a:ln>
        </p:spPr>
        <p:txBody>
          <a:bodyPr wrap="square" lIns="36000" tIns="36000" rIns="36000" bIns="36000" anchor="ctr"/>
          <a:lstStyle/>
          <a:p/>
        </p:txBody>
      </p:sp>
      <p:sp>
        <p:nvSpPr>
          <p:cNvPr id="208" name="Label"/>
          <p:cNvSpPr txBox="1"/>
          <p:nvPr/>
        </p:nvSpPr>
        <p:spPr>
          <a:xfrm>
            <a:off x="1764000" y="1926000"/>
            <a:ext cx="576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実行計画を</a:t>
            </a:r>
          </a:p>
          <a:p>
            <a:pPr algn="ct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出す</a:t>
            </a:r>
          </a:p>
        </p:txBody>
      </p:sp>
      <p:sp>
        <p:nvSpPr>
          <p:cNvPr id="209" name="Task"/>
          <p:cNvSpPr/>
          <p:nvPr/>
        </p:nvSpPr>
        <p:spPr>
          <a:xfrm>
            <a:off x="2376000" y="1458000"/>
            <a:ext cx="1080000" cy="5760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9AA5B5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実行計画を</a:t>
            </a:r>
          </a:p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提出する</a:t>
            </a:r>
          </a:p>
        </p:txBody>
      </p:sp>
      <p:sp>
        <p:nvSpPr>
          <p:cNvPr id="210" name="Task"/>
          <p:cNvSpPr/>
          <p:nvPr/>
        </p:nvSpPr>
        <p:spPr>
          <a:xfrm>
            <a:off x="3708000" y="2646000"/>
            <a:ext cx="1080000" cy="5760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5E7391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⑧ 実行計画を受け付ける</a:t>
            </a:r>
          </a:p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§3.8</a:t>
            </a:r>
          </a:p>
        </p:txBody>
      </p:sp>
      <p:sp>
        <p:nvSpPr>
          <p:cNvPr id="211" name="Gateway"/>
          <p:cNvSpPr/>
          <p:nvPr/>
        </p:nvSpPr>
        <p:spPr>
          <a:xfrm>
            <a:off x="4968000" y="2754000"/>
            <a:ext cx="360000" cy="3600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3F4F6A"/>
            </a:solidFill>
          </a:ln>
        </p:spPr>
        <p:txBody>
          <a:bodyPr wrap="square" lIns="0" tIns="0" rIns="0" bIns="0" anchor="ctr"/>
          <a:lstStyle/>
          <a:p/>
        </p:txBody>
      </p:sp>
      <p:sp>
        <p:nvSpPr>
          <p:cNvPr id="212" name="Label"/>
          <p:cNvSpPr txBox="1"/>
          <p:nvPr/>
        </p:nvSpPr>
        <p:spPr>
          <a:xfrm>
            <a:off x="4824000" y="3132000"/>
            <a:ext cx="648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不備は</a:t>
            </a:r>
          </a:p>
          <a:p>
            <a:pPr algn="ct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あるか？</a:t>
            </a:r>
          </a:p>
        </p:txBody>
      </p:sp>
      <p:sp>
        <p:nvSpPr>
          <p:cNvPr id="213" name="Task"/>
          <p:cNvSpPr/>
          <p:nvPr/>
        </p:nvSpPr>
        <p:spPr>
          <a:xfrm>
            <a:off x="5760000" y="2646000"/>
            <a:ext cx="1080000" cy="5760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5E7391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⑨ Tier2を運営する</a:t>
            </a:r>
          </a:p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§3.9</a:t>
            </a:r>
          </a:p>
        </p:txBody>
      </p:sp>
      <p:sp>
        <p:nvSpPr>
          <p:cNvPr id="214" name="Task"/>
          <p:cNvSpPr/>
          <p:nvPr/>
        </p:nvSpPr>
        <p:spPr>
          <a:xfrm>
            <a:off x="7056000" y="3834000"/>
            <a:ext cx="1080000" cy="5760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9AA5B5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実行計画を</a:t>
            </a:r>
          </a:p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審議する</a:t>
            </a:r>
          </a:p>
        </p:txBody>
      </p:sp>
      <p:sp>
        <p:nvSpPr>
          <p:cNvPr id="215" name="Gateway"/>
          <p:cNvSpPr/>
          <p:nvPr/>
        </p:nvSpPr>
        <p:spPr>
          <a:xfrm>
            <a:off x="8316000" y="3942000"/>
            <a:ext cx="360000" cy="3600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3F4F6A"/>
            </a:solidFill>
          </a:ln>
        </p:spPr>
        <p:txBody>
          <a:bodyPr wrap="square" lIns="0" tIns="0" rIns="0" bIns="0" anchor="ctr"/>
          <a:lstStyle/>
          <a:p/>
        </p:txBody>
      </p:sp>
      <p:sp>
        <p:nvSpPr>
          <p:cNvPr id="216" name="Label"/>
          <p:cNvSpPr txBox="1"/>
          <p:nvPr/>
        </p:nvSpPr>
        <p:spPr>
          <a:xfrm>
            <a:off x="7635240" y="4320000"/>
            <a:ext cx="749808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決裁の</a:t>
            </a:r>
          </a:p>
          <a:p>
            <a:pPr algn="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振り分け</a:t>
            </a:r>
          </a:p>
        </p:txBody>
      </p:sp>
      <p:sp>
        <p:nvSpPr>
          <p:cNvPr id="217" name="Task"/>
          <p:cNvSpPr/>
          <p:nvPr/>
        </p:nvSpPr>
        <p:spPr>
          <a:xfrm>
            <a:off x="9108000" y="3593592"/>
            <a:ext cx="1080000" cy="4572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5E7391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フロー（4）へ</a:t>
            </a:r>
          </a:p>
        </p:txBody>
      </p:sp>
      <p:sp>
        <p:nvSpPr>
          <p:cNvPr id="243" name="Task"/>
          <p:cNvSpPr/>
          <p:nvPr/>
        </p:nvSpPr>
        <p:spPr>
          <a:xfrm>
            <a:off x="9108000" y="4187952"/>
            <a:ext cx="1080000" cy="4572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5E7391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フロー（5）へ</a:t>
            </a:r>
          </a:p>
        </p:txBody>
      </p:sp>
      <p:sp>
        <p:nvSpPr>
          <p:cNvPr id="218" name="SubMarker"/>
          <p:cNvSpPr/>
          <p:nvPr/>
        </p:nvSpPr>
        <p:spPr>
          <a:xfrm>
            <a:off x="9576000" y="3904487"/>
            <a:ext cx="144000" cy="144000"/>
          </a:xfrm>
          <a:prstGeom prst="rect">
            <a:avLst/>
          </a:prstGeom>
          <a:solidFill>
            <a:srgbClr val="FFFFFF"/>
          </a:solidFill>
          <a:ln w="9525">
            <a:solidFill>
              <a:srgbClr val="3F4F6A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ja-JP" sz="900" b="1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+</a:t>
            </a:r>
          </a:p>
        </p:txBody>
      </p:sp>
      <p:sp>
        <p:nvSpPr>
          <p:cNvPr id="244" name="SubMarker"/>
          <p:cNvSpPr/>
          <p:nvPr/>
        </p:nvSpPr>
        <p:spPr>
          <a:xfrm>
            <a:off x="9576000" y="4498848"/>
            <a:ext cx="144000" cy="144000"/>
          </a:xfrm>
          <a:prstGeom prst="rect">
            <a:avLst/>
          </a:prstGeom>
          <a:solidFill>
            <a:srgbClr val="FFFFFF"/>
          </a:solidFill>
          <a:ln w="9525">
            <a:solidFill>
              <a:srgbClr val="3F4F6A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ja-JP" sz="900" b="1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+</a:t>
            </a:r>
          </a:p>
        </p:txBody>
      </p:sp>
      <p:sp>
        <p:nvSpPr>
          <p:cNvPr id="219" name="Task"/>
          <p:cNvSpPr/>
          <p:nvPr/>
        </p:nvSpPr>
        <p:spPr>
          <a:xfrm>
            <a:off x="10404000" y="2646000"/>
            <a:ext cx="1080000" cy="5760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5E7391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⑩ 審議結果を記録し通知する</a:t>
            </a:r>
          </a:p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§3.10</a:t>
            </a:r>
          </a:p>
        </p:txBody>
      </p:sp>
      <p:sp>
        <p:nvSpPr>
          <p:cNvPr id="220" name="EndEvent"/>
          <p:cNvSpPr/>
          <p:nvPr/>
        </p:nvSpPr>
        <p:spPr>
          <a:xfrm>
            <a:off x="11664000" y="2790000"/>
            <a:ext cx="288000" cy="2880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F4F6A"/>
            </a:solidFill>
          </a:ln>
        </p:spPr>
        <p:txBody>
          <a:bodyPr wrap="square" lIns="36000" tIns="36000" rIns="36000" bIns="36000" anchor="ctr"/>
          <a:lstStyle/>
          <a:p/>
        </p:txBody>
      </p:sp>
      <p:sp>
        <p:nvSpPr>
          <p:cNvPr id="221" name="Label"/>
          <p:cNvSpPr txBox="1"/>
          <p:nvPr/>
        </p:nvSpPr>
        <p:spPr>
          <a:xfrm>
            <a:off x="11520000" y="3114000"/>
            <a:ext cx="576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審議結果を</a:t>
            </a:r>
          </a:p>
          <a:p>
            <a:pPr algn="ct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通知した</a:t>
            </a:r>
          </a:p>
        </p:txBody>
      </p:sp>
      <p:cxnSp>
        <p:nvCxnSpPr>
          <p:cNvPr id="222" name="Flow"/>
          <p:cNvCxnSpPr/>
          <p:nvPr/>
        </p:nvCxnSpPr>
        <p:spPr>
          <a:xfrm>
            <a:off x="2196000" y="1746000"/>
            <a:ext cx="180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cxnSp>
        <p:nvCxnSpPr>
          <p:cNvPr id="223" name="Flow"/>
          <p:cNvCxnSpPr/>
          <p:nvPr/>
        </p:nvCxnSpPr>
        <p:spPr>
          <a:xfrm>
            <a:off x="2916000" y="2034000"/>
            <a:ext cx="0" cy="90000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224" name="Flow"/>
          <p:cNvCxnSpPr/>
          <p:nvPr/>
        </p:nvCxnSpPr>
        <p:spPr>
          <a:xfrm>
            <a:off x="2916000" y="2934000"/>
            <a:ext cx="792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cxnSp>
        <p:nvCxnSpPr>
          <p:cNvPr id="225" name="Flow"/>
          <p:cNvCxnSpPr/>
          <p:nvPr/>
        </p:nvCxnSpPr>
        <p:spPr>
          <a:xfrm>
            <a:off x="4788000" y="2934000"/>
            <a:ext cx="180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cxnSp>
        <p:nvCxnSpPr>
          <p:cNvPr id="226" name="Flow"/>
          <p:cNvCxnSpPr/>
          <p:nvPr/>
        </p:nvCxnSpPr>
        <p:spPr>
          <a:xfrm>
            <a:off x="5328000" y="2934000"/>
            <a:ext cx="432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cxnSp>
        <p:nvCxnSpPr>
          <p:cNvPr id="227" name="Flow"/>
          <p:cNvCxnSpPr/>
          <p:nvPr/>
        </p:nvCxnSpPr>
        <p:spPr>
          <a:xfrm flipV="1">
            <a:off x="5148000" y="1746000"/>
            <a:ext cx="0" cy="100800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228" name="Flow"/>
          <p:cNvCxnSpPr/>
          <p:nvPr/>
        </p:nvCxnSpPr>
        <p:spPr>
          <a:xfrm flipH="1">
            <a:off x="3456000" y="1746000"/>
            <a:ext cx="1692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cxnSp>
        <p:nvCxnSpPr>
          <p:cNvPr id="229" name="Flow"/>
          <p:cNvCxnSpPr/>
          <p:nvPr/>
        </p:nvCxnSpPr>
        <p:spPr>
          <a:xfrm>
            <a:off x="6300000" y="3222000"/>
            <a:ext cx="0" cy="90000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230" name="Flow"/>
          <p:cNvCxnSpPr/>
          <p:nvPr/>
        </p:nvCxnSpPr>
        <p:spPr>
          <a:xfrm>
            <a:off x="6300000" y="4122000"/>
            <a:ext cx="756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cxnSp>
        <p:nvCxnSpPr>
          <p:cNvPr id="231" name="Flow"/>
          <p:cNvCxnSpPr/>
          <p:nvPr/>
        </p:nvCxnSpPr>
        <p:spPr>
          <a:xfrm>
            <a:off x="8136000" y="4122000"/>
            <a:ext cx="180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cxnSp>
        <p:nvCxnSpPr>
          <p:cNvPr id="232" name="Flow"/>
          <p:cNvCxnSpPr/>
          <p:nvPr/>
        </p:nvCxnSpPr>
        <p:spPr>
          <a:xfrm>
            <a:off x="8887968" y="3822191"/>
            <a:ext cx="219456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cxnSp>
        <p:nvCxnSpPr>
          <p:cNvPr id="245" name="Flow"/>
          <p:cNvCxnSpPr/>
          <p:nvPr/>
        </p:nvCxnSpPr>
        <p:spPr>
          <a:xfrm>
            <a:off x="8887968" y="4416552"/>
            <a:ext cx="219456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cxnSp>
        <p:nvCxnSpPr>
          <p:cNvPr id="233" name="Flow"/>
          <p:cNvCxnSpPr/>
          <p:nvPr/>
        </p:nvCxnSpPr>
        <p:spPr>
          <a:xfrm flipV="1">
            <a:off x="8496000" y="2934000"/>
            <a:ext cx="0" cy="100800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234" name="Flow"/>
          <p:cNvCxnSpPr/>
          <p:nvPr/>
        </p:nvCxnSpPr>
        <p:spPr>
          <a:xfrm>
            <a:off x="8496000" y="2934000"/>
            <a:ext cx="1908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cxnSp>
        <p:nvCxnSpPr>
          <p:cNvPr id="235" name="Flow"/>
          <p:cNvCxnSpPr/>
          <p:nvPr/>
        </p:nvCxnSpPr>
        <p:spPr>
          <a:xfrm>
            <a:off x="10186416" y="3822191"/>
            <a:ext cx="109728" cy="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248" name="Flow"/>
          <p:cNvCxnSpPr/>
          <p:nvPr/>
        </p:nvCxnSpPr>
        <p:spPr>
          <a:xfrm>
            <a:off x="10186416" y="4416552"/>
            <a:ext cx="109728" cy="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247" name="Flow"/>
          <p:cNvCxnSpPr/>
          <p:nvPr/>
        </p:nvCxnSpPr>
        <p:spPr>
          <a:xfrm>
            <a:off x="8887968" y="3822191"/>
            <a:ext cx="0" cy="59436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246" name="Flow"/>
          <p:cNvCxnSpPr/>
          <p:nvPr/>
        </p:nvCxnSpPr>
        <p:spPr>
          <a:xfrm>
            <a:off x="8677656" y="4123944"/>
            <a:ext cx="210312" cy="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236" name="Flow"/>
          <p:cNvCxnSpPr/>
          <p:nvPr/>
        </p:nvCxnSpPr>
        <p:spPr>
          <a:xfrm flipV="1">
            <a:off x="10296144" y="2935224"/>
            <a:ext cx="0" cy="1481328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237" name="Flow"/>
          <p:cNvCxnSpPr/>
          <p:nvPr/>
        </p:nvCxnSpPr>
        <p:spPr>
          <a:xfrm>
            <a:off x="10296000" y="2934000"/>
            <a:ext cx="108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sp>
        <p:nvSpPr>
          <p:cNvPr id="238" name="Label"/>
          <p:cNvSpPr txBox="1"/>
          <p:nvPr/>
        </p:nvSpPr>
        <p:spPr>
          <a:xfrm>
            <a:off x="5346000" y="2736000"/>
            <a:ext cx="396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いいえ</a:t>
            </a:r>
          </a:p>
        </p:txBody>
      </p:sp>
      <p:sp>
        <p:nvSpPr>
          <p:cNvPr id="239" name="Label"/>
          <p:cNvSpPr txBox="1"/>
          <p:nvPr/>
        </p:nvSpPr>
        <p:spPr>
          <a:xfrm>
            <a:off x="5184000" y="2466000"/>
            <a:ext cx="36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はい</a:t>
            </a:r>
          </a:p>
        </p:txBody>
      </p:sp>
      <p:sp>
        <p:nvSpPr>
          <p:cNvPr id="241" name="Label"/>
          <p:cNvSpPr txBox="1"/>
          <p:nvPr/>
        </p:nvSpPr>
        <p:spPr>
          <a:xfrm>
            <a:off x="8101583" y="3611880"/>
            <a:ext cx="396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Tier2</a:t>
            </a:r>
          </a:p>
        </p:txBody>
      </p:sp>
      <p:sp>
        <p:nvSpPr>
          <p:cNvPr id="250" name="Label"/>
          <p:cNvSpPr txBox="1"/>
          <p:nvPr/>
        </p:nvSpPr>
        <p:spPr>
          <a:xfrm>
            <a:off x="8449056" y="4462272"/>
            <a:ext cx="7315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ja-JP" sz="8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承認会議</a:t>
            </a:r>
          </a:p>
          <a:p>
            <a:pPr algn="ctr"/>
            <a:r>
              <a:rPr lang="ja-JP" sz="8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（ローカル）</a:t>
            </a:r>
          </a:p>
        </p:txBody>
      </p:sp>
      <p:sp>
        <p:nvSpPr>
          <p:cNvPr id="249" name="Label"/>
          <p:cNvSpPr txBox="1"/>
          <p:nvPr/>
        </p:nvSpPr>
        <p:spPr>
          <a:xfrm>
            <a:off x="8531352" y="3630168"/>
            <a:ext cx="356616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Tier3</a:t>
            </a:r>
          </a:p>
        </p:txBody>
      </p:sp>
      <p:sp>
        <p:nvSpPr>
          <p:cNvPr id="242" name="Label"/>
          <p:cNvSpPr txBox="1"/>
          <p:nvPr/>
        </p:nvSpPr>
        <p:spPr>
          <a:xfrm>
            <a:off x="540000" y="4806000"/>
            <a:ext cx="11052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000" b="0">
                <a:solidFill>
                  <a:srgbClr val="5E7391"/>
                </a:solidFill>
                <a:latin typeface="Yu Gothic"/>
                <a:ea typeface="Yu Gothic"/>
                <a:cs typeface="Yu Gothic"/>
              </a:rPr>
              <a:t>丸数字はプロセス一覧の No.、§ は Runbook の節を示す。</a:t>
            </a:r>
          </a:p>
          <a:p>
            <a:pPr algn="l"/>
            <a:r>
              <a:rPr lang="ja-JP" sz="1000" b="0">
                <a:solidFill>
                  <a:srgbClr val="5E7391"/>
                </a:solidFill>
                <a:latin typeface="Yu Gothic"/>
                <a:ea typeface="Yu Gothic"/>
                <a:cs typeface="Yu Gothic"/>
              </a:rPr>
              <a:t>実行計画は、PPMボードの通知を受けた起案者の所属部門（事業部門またはIT部門）の依頼により（または依頼に先行して）、起案者がIT部門の担当者と共同で作成して提出する。決裁の振り分け（Tier2が決める／Tier3の推奨案を受けてTier2が決める／承認会議（ローカル）に委ねる）は運用基準 第5条第2項による。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全体フロー（4）Tier3の審査と再審議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ITC-P-06　IT投資ガバナンス 業務フロー定義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</a:p>
        </p:txBody>
      </p:sp>
      <p:sp>
        <p:nvSpPr>
          <p:cNvPr id="201" name="Lane"/>
          <p:cNvSpPr/>
          <p:nvPr/>
        </p:nvSpPr>
        <p:spPr>
          <a:xfrm>
            <a:off x="540000" y="1152000"/>
            <a:ext cx="11052000" cy="1188000"/>
          </a:xfrm>
          <a:prstGeom prst="rect">
            <a:avLst/>
          </a:prstGeom>
          <a:solidFill>
            <a:srgbClr val="F7F8FA"/>
          </a:solidFill>
          <a:ln w="9525">
            <a:solidFill>
              <a:srgbClr val="CFCABE"/>
            </a:solidFill>
          </a:ln>
        </p:spPr>
        <p:txBody>
          <a:bodyPr wrap="square" lIns="36000" tIns="36000" rIns="36000" bIns="36000" anchor="ctr"/>
          <a:lstStyle/>
          <a:p/>
        </p:txBody>
      </p:sp>
      <p:sp>
        <p:nvSpPr>
          <p:cNvPr id="202" name="LaneLabel"/>
          <p:cNvSpPr/>
          <p:nvPr/>
        </p:nvSpPr>
        <p:spPr>
          <a:xfrm>
            <a:off x="540000" y="1152000"/>
            <a:ext cx="1224000" cy="1188000"/>
          </a:xfrm>
          <a:prstGeom prst="rect">
            <a:avLst/>
          </a:prstGeom>
          <a:solidFill>
            <a:srgbClr val="DCE3EC"/>
          </a:solidFill>
          <a:ln w="9525">
            <a:solidFill>
              <a:srgbClr val="CFCABE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100" b="1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IT投資委員会</a:t>
            </a:r>
          </a:p>
          <a:p>
            <a:pPr algn="ctr"/>
            <a:r>
              <a:rPr lang="ja-JP" sz="1100" b="1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事務局</a:t>
            </a:r>
          </a:p>
        </p:txBody>
      </p:sp>
      <p:sp>
        <p:nvSpPr>
          <p:cNvPr id="203" name="Lane"/>
          <p:cNvSpPr/>
          <p:nvPr/>
        </p:nvSpPr>
        <p:spPr>
          <a:xfrm>
            <a:off x="540000" y="2340000"/>
            <a:ext cx="11052000" cy="1188000"/>
          </a:xfrm>
          <a:prstGeom prst="rect">
            <a:avLst/>
          </a:prstGeom>
          <a:solidFill>
            <a:srgbClr val="F7F8FA"/>
          </a:solidFill>
          <a:ln w="9525">
            <a:solidFill>
              <a:srgbClr val="CFCABE"/>
            </a:solidFill>
          </a:ln>
        </p:spPr>
        <p:txBody>
          <a:bodyPr wrap="square" lIns="36000" tIns="36000" rIns="36000" bIns="36000" anchor="ctr"/>
          <a:lstStyle/>
          <a:p/>
        </p:txBody>
      </p:sp>
      <p:sp>
        <p:nvSpPr>
          <p:cNvPr id="204" name="LaneLabel"/>
          <p:cNvSpPr/>
          <p:nvPr/>
        </p:nvSpPr>
        <p:spPr>
          <a:xfrm>
            <a:off x="540000" y="2340000"/>
            <a:ext cx="1224000" cy="1188000"/>
          </a:xfrm>
          <a:prstGeom prst="rect">
            <a:avLst/>
          </a:prstGeom>
          <a:solidFill>
            <a:srgbClr val="DCE3EC"/>
          </a:solidFill>
          <a:ln w="9525">
            <a:solidFill>
              <a:srgbClr val="CFCABE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100" b="1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Tier2</a:t>
            </a:r>
          </a:p>
        </p:txBody>
      </p:sp>
      <p:sp>
        <p:nvSpPr>
          <p:cNvPr id="205" name="Lane"/>
          <p:cNvSpPr/>
          <p:nvPr/>
        </p:nvSpPr>
        <p:spPr>
          <a:xfrm>
            <a:off x="540000" y="3528000"/>
            <a:ext cx="11052000" cy="1188000"/>
          </a:xfrm>
          <a:prstGeom prst="rect">
            <a:avLst/>
          </a:prstGeom>
          <a:solidFill>
            <a:srgbClr val="F7F8FA"/>
          </a:solidFill>
          <a:ln w="9525">
            <a:solidFill>
              <a:srgbClr val="CFCABE"/>
            </a:solidFill>
          </a:ln>
        </p:spPr>
        <p:txBody>
          <a:bodyPr wrap="square" lIns="36000" tIns="36000" rIns="36000" bIns="36000" anchor="ctr"/>
          <a:lstStyle/>
          <a:p/>
        </p:txBody>
      </p:sp>
      <p:sp>
        <p:nvSpPr>
          <p:cNvPr id="206" name="LaneLabel"/>
          <p:cNvSpPr/>
          <p:nvPr/>
        </p:nvSpPr>
        <p:spPr>
          <a:xfrm>
            <a:off x="540000" y="3528000"/>
            <a:ext cx="1224000" cy="1188000"/>
          </a:xfrm>
          <a:prstGeom prst="rect">
            <a:avLst/>
          </a:prstGeom>
          <a:solidFill>
            <a:srgbClr val="DCE3EC"/>
          </a:solidFill>
          <a:ln w="9525">
            <a:solidFill>
              <a:srgbClr val="CFCABE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100" b="1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Tier3</a:t>
            </a:r>
          </a:p>
        </p:txBody>
      </p:sp>
      <p:sp>
        <p:nvSpPr>
          <p:cNvPr id="207" name="StartEvent"/>
          <p:cNvSpPr/>
          <p:nvPr/>
        </p:nvSpPr>
        <p:spPr>
          <a:xfrm>
            <a:off x="1908000" y="2790000"/>
            <a:ext cx="288000" cy="288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F4F6A"/>
            </a:solidFill>
          </a:ln>
        </p:spPr>
        <p:txBody>
          <a:bodyPr wrap="square" lIns="36000" tIns="36000" rIns="36000" bIns="36000" anchor="ctr"/>
          <a:lstStyle/>
          <a:p/>
        </p:txBody>
      </p:sp>
      <p:sp>
        <p:nvSpPr>
          <p:cNvPr id="208" name="Label"/>
          <p:cNvSpPr txBox="1"/>
          <p:nvPr/>
        </p:nvSpPr>
        <p:spPr>
          <a:xfrm>
            <a:off x="1764000" y="3114000"/>
            <a:ext cx="576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Tier3を</a:t>
            </a:r>
          </a:p>
          <a:p>
            <a:pPr algn="ct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要請した</a:t>
            </a:r>
          </a:p>
        </p:txBody>
      </p:sp>
      <p:sp>
        <p:nvSpPr>
          <p:cNvPr id="209" name="Task"/>
          <p:cNvSpPr/>
          <p:nvPr/>
        </p:nvSpPr>
        <p:spPr>
          <a:xfrm>
            <a:off x="2772000" y="1458000"/>
            <a:ext cx="1080000" cy="5760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5E7391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⑪ Tier3の招集を依頼する</a:t>
            </a:r>
          </a:p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§3.11</a:t>
            </a:r>
          </a:p>
        </p:txBody>
      </p:sp>
      <p:sp>
        <p:nvSpPr>
          <p:cNvPr id="210" name="Task"/>
          <p:cNvSpPr/>
          <p:nvPr/>
        </p:nvSpPr>
        <p:spPr>
          <a:xfrm>
            <a:off x="4428000" y="3834000"/>
            <a:ext cx="1080000" cy="5760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9AA5B5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推奨案を</a:t>
            </a:r>
          </a:p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まとめる</a:t>
            </a:r>
          </a:p>
        </p:txBody>
      </p:sp>
      <p:sp>
        <p:nvSpPr>
          <p:cNvPr id="211" name="Task"/>
          <p:cNvSpPr/>
          <p:nvPr/>
        </p:nvSpPr>
        <p:spPr>
          <a:xfrm>
            <a:off x="6084000" y="1458000"/>
            <a:ext cx="1080000" cy="5760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5E7391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⑫ Tier2の再審議を運営する</a:t>
            </a:r>
          </a:p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§3.12</a:t>
            </a:r>
          </a:p>
        </p:txBody>
      </p:sp>
      <p:sp>
        <p:nvSpPr>
          <p:cNvPr id="212" name="Task"/>
          <p:cNvSpPr/>
          <p:nvPr/>
        </p:nvSpPr>
        <p:spPr>
          <a:xfrm>
            <a:off x="7740000" y="2646000"/>
            <a:ext cx="1080000" cy="5760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9AA5B5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承認・否認を</a:t>
            </a:r>
          </a:p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決める</a:t>
            </a:r>
          </a:p>
        </p:txBody>
      </p:sp>
      <p:sp>
        <p:nvSpPr>
          <p:cNvPr id="213" name="EndEvent"/>
          <p:cNvSpPr/>
          <p:nvPr/>
        </p:nvSpPr>
        <p:spPr>
          <a:xfrm>
            <a:off x="9180000" y="2790000"/>
            <a:ext cx="288000" cy="2880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F4F6A"/>
            </a:solidFill>
          </a:ln>
        </p:spPr>
        <p:txBody>
          <a:bodyPr wrap="square" lIns="36000" tIns="36000" rIns="36000" bIns="36000" anchor="ctr"/>
          <a:lstStyle/>
          <a:p/>
        </p:txBody>
      </p:sp>
      <p:sp>
        <p:nvSpPr>
          <p:cNvPr id="214" name="Label"/>
          <p:cNvSpPr txBox="1"/>
          <p:nvPr/>
        </p:nvSpPr>
        <p:spPr>
          <a:xfrm>
            <a:off x="9000000" y="3114000"/>
            <a:ext cx="648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承認・否認を</a:t>
            </a:r>
          </a:p>
          <a:p>
            <a:pPr algn="ct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決めた</a:t>
            </a:r>
          </a:p>
        </p:txBody>
      </p:sp>
      <p:cxnSp>
        <p:nvCxnSpPr>
          <p:cNvPr id="215" name="Flow"/>
          <p:cNvCxnSpPr/>
          <p:nvPr/>
        </p:nvCxnSpPr>
        <p:spPr>
          <a:xfrm>
            <a:off x="2196000" y="2934000"/>
            <a:ext cx="288000" cy="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216" name="Flow"/>
          <p:cNvCxnSpPr/>
          <p:nvPr/>
        </p:nvCxnSpPr>
        <p:spPr>
          <a:xfrm flipV="1">
            <a:off x="2484000" y="1746000"/>
            <a:ext cx="0" cy="118800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217" name="Flow"/>
          <p:cNvCxnSpPr/>
          <p:nvPr/>
        </p:nvCxnSpPr>
        <p:spPr>
          <a:xfrm>
            <a:off x="2484000" y="1746000"/>
            <a:ext cx="288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cxnSp>
        <p:nvCxnSpPr>
          <p:cNvPr id="218" name="Flow"/>
          <p:cNvCxnSpPr/>
          <p:nvPr/>
        </p:nvCxnSpPr>
        <p:spPr>
          <a:xfrm>
            <a:off x="3852000" y="1746000"/>
            <a:ext cx="288000" cy="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219" name="Flow"/>
          <p:cNvCxnSpPr/>
          <p:nvPr/>
        </p:nvCxnSpPr>
        <p:spPr>
          <a:xfrm>
            <a:off x="4140000" y="1746000"/>
            <a:ext cx="0" cy="237600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220" name="Flow"/>
          <p:cNvCxnSpPr/>
          <p:nvPr/>
        </p:nvCxnSpPr>
        <p:spPr>
          <a:xfrm>
            <a:off x="4140000" y="4122000"/>
            <a:ext cx="288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cxnSp>
        <p:nvCxnSpPr>
          <p:cNvPr id="221" name="Flow"/>
          <p:cNvCxnSpPr/>
          <p:nvPr/>
        </p:nvCxnSpPr>
        <p:spPr>
          <a:xfrm>
            <a:off x="5508000" y="4122000"/>
            <a:ext cx="288000" cy="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222" name="Flow"/>
          <p:cNvCxnSpPr/>
          <p:nvPr/>
        </p:nvCxnSpPr>
        <p:spPr>
          <a:xfrm flipV="1">
            <a:off x="5796000" y="1746000"/>
            <a:ext cx="0" cy="237600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223" name="Flow"/>
          <p:cNvCxnSpPr/>
          <p:nvPr/>
        </p:nvCxnSpPr>
        <p:spPr>
          <a:xfrm>
            <a:off x="5796000" y="1746000"/>
            <a:ext cx="288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cxnSp>
        <p:nvCxnSpPr>
          <p:cNvPr id="224" name="Flow"/>
          <p:cNvCxnSpPr/>
          <p:nvPr/>
        </p:nvCxnSpPr>
        <p:spPr>
          <a:xfrm>
            <a:off x="7164000" y="1746000"/>
            <a:ext cx="288000" cy="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225" name="Flow"/>
          <p:cNvCxnSpPr/>
          <p:nvPr/>
        </p:nvCxnSpPr>
        <p:spPr>
          <a:xfrm>
            <a:off x="7452000" y="1746000"/>
            <a:ext cx="0" cy="118800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226" name="Flow"/>
          <p:cNvCxnSpPr/>
          <p:nvPr/>
        </p:nvCxnSpPr>
        <p:spPr>
          <a:xfrm>
            <a:off x="7452000" y="2934000"/>
            <a:ext cx="288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cxnSp>
        <p:nvCxnSpPr>
          <p:cNvPr id="227" name="Flow"/>
          <p:cNvCxnSpPr/>
          <p:nvPr/>
        </p:nvCxnSpPr>
        <p:spPr>
          <a:xfrm>
            <a:off x="8820000" y="2934000"/>
            <a:ext cx="360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sp>
        <p:nvSpPr>
          <p:cNvPr id="228" name="Label"/>
          <p:cNvSpPr txBox="1"/>
          <p:nvPr/>
        </p:nvSpPr>
        <p:spPr>
          <a:xfrm>
            <a:off x="540000" y="4806000"/>
            <a:ext cx="11052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000" b="0">
                <a:solidFill>
                  <a:srgbClr val="5E7391"/>
                </a:solidFill>
                <a:latin typeface="Yu Gothic"/>
                <a:ea typeface="Yu Gothic"/>
                <a:cs typeface="Yu Gothic"/>
              </a:rPr>
              <a:t>丸数字はプロセス一覧の No.、§ は Runbook の節を示す。</a:t>
            </a:r>
          </a:p>
          <a:p>
            <a:pPr algn="l"/>
            <a:r>
              <a:rPr lang="ja-JP" sz="1000" b="0">
                <a:solidFill>
                  <a:srgbClr val="5E7391"/>
                </a:solidFill>
                <a:latin typeface="Yu Gothic"/>
                <a:ea typeface="Yu Gothic"/>
                <a:cs typeface="Yu Gothic"/>
              </a:rPr>
              <a:t>全体フロー（3）のサブプロセスを展開したもの。終了後は全体フロー（3）の⑩へ進む。Tier3の運営はTier3の主催者が行う。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全体フロー（5）承認会議（ローカル）への委任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ITC-P-06　IT投資ガバナンス 業務フロー定義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</a:p>
        </p:txBody>
      </p:sp>
      <p:sp>
        <p:nvSpPr>
          <p:cNvPr id="201" name="Lane"/>
          <p:cNvSpPr/>
          <p:nvPr/>
        </p:nvSpPr>
        <p:spPr>
          <a:xfrm>
            <a:off x="540000" y="1152000"/>
            <a:ext cx="11052000" cy="1188000"/>
          </a:xfrm>
          <a:prstGeom prst="rect">
            <a:avLst/>
          </a:prstGeom>
          <a:solidFill>
            <a:srgbClr val="F7F8FA"/>
          </a:solidFill>
          <a:ln w="9525">
            <a:solidFill>
              <a:srgbClr val="CFCABE"/>
            </a:solidFill>
          </a:ln>
        </p:spPr>
        <p:txBody>
          <a:bodyPr wrap="square" lIns="36000" tIns="36000" rIns="36000" bIns="36000" anchor="ctr"/>
          <a:lstStyle/>
          <a:p/>
        </p:txBody>
      </p:sp>
      <p:sp>
        <p:nvSpPr>
          <p:cNvPr id="202" name="LaneLabel"/>
          <p:cNvSpPr/>
          <p:nvPr/>
        </p:nvSpPr>
        <p:spPr>
          <a:xfrm>
            <a:off x="540000" y="1152000"/>
            <a:ext cx="1224000" cy="1188000"/>
          </a:xfrm>
          <a:prstGeom prst="rect">
            <a:avLst/>
          </a:prstGeom>
          <a:solidFill>
            <a:srgbClr val="DCE3EC"/>
          </a:solidFill>
          <a:ln w="9525">
            <a:solidFill>
              <a:srgbClr val="CFCABE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100" b="1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IT投資委員会</a:t>
            </a:r>
          </a:p>
          <a:p>
            <a:pPr algn="ctr"/>
            <a:r>
              <a:rPr lang="ja-JP" sz="1100" b="1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事務局</a:t>
            </a:r>
          </a:p>
        </p:txBody>
      </p:sp>
      <p:sp>
        <p:nvSpPr>
          <p:cNvPr id="203" name="Lane"/>
          <p:cNvSpPr/>
          <p:nvPr/>
        </p:nvSpPr>
        <p:spPr>
          <a:xfrm>
            <a:off x="540000" y="2340000"/>
            <a:ext cx="11052000" cy="1188000"/>
          </a:xfrm>
          <a:prstGeom prst="rect">
            <a:avLst/>
          </a:prstGeom>
          <a:solidFill>
            <a:srgbClr val="F7F8FA"/>
          </a:solidFill>
          <a:ln w="9525">
            <a:solidFill>
              <a:srgbClr val="CFCABE"/>
            </a:solidFill>
          </a:ln>
        </p:spPr>
        <p:txBody>
          <a:bodyPr wrap="square" lIns="36000" tIns="36000" rIns="36000" bIns="36000" anchor="ctr"/>
          <a:lstStyle/>
          <a:p/>
        </p:txBody>
      </p:sp>
      <p:sp>
        <p:nvSpPr>
          <p:cNvPr id="204" name="LaneLabel"/>
          <p:cNvSpPr/>
          <p:nvPr/>
        </p:nvSpPr>
        <p:spPr>
          <a:xfrm>
            <a:off x="540000" y="2340000"/>
            <a:ext cx="1224000" cy="1188000"/>
          </a:xfrm>
          <a:prstGeom prst="rect">
            <a:avLst/>
          </a:prstGeom>
          <a:solidFill>
            <a:srgbClr val="DCE3EC"/>
          </a:solidFill>
          <a:ln w="9525">
            <a:solidFill>
              <a:srgbClr val="CFCABE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100" b="1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Tier2</a:t>
            </a:r>
          </a:p>
        </p:txBody>
      </p:sp>
      <p:sp>
        <p:nvSpPr>
          <p:cNvPr id="205" name="Lane"/>
          <p:cNvSpPr/>
          <p:nvPr/>
        </p:nvSpPr>
        <p:spPr>
          <a:xfrm>
            <a:off x="540000" y="3528000"/>
            <a:ext cx="11052000" cy="1188000"/>
          </a:xfrm>
          <a:prstGeom prst="rect">
            <a:avLst/>
          </a:prstGeom>
          <a:solidFill>
            <a:srgbClr val="F7F8FA"/>
          </a:solidFill>
          <a:ln w="9525">
            <a:solidFill>
              <a:srgbClr val="CFCABE"/>
            </a:solidFill>
          </a:ln>
        </p:spPr>
        <p:txBody>
          <a:bodyPr wrap="square" lIns="36000" tIns="36000" rIns="36000" bIns="36000" anchor="ctr"/>
          <a:lstStyle/>
          <a:p/>
        </p:txBody>
      </p:sp>
      <p:sp>
        <p:nvSpPr>
          <p:cNvPr id="206" name="LaneLabel"/>
          <p:cNvSpPr/>
          <p:nvPr/>
        </p:nvSpPr>
        <p:spPr>
          <a:xfrm>
            <a:off x="540000" y="3528000"/>
            <a:ext cx="1224000" cy="1188000"/>
          </a:xfrm>
          <a:prstGeom prst="rect">
            <a:avLst/>
          </a:prstGeom>
          <a:solidFill>
            <a:srgbClr val="DCE3EC"/>
          </a:solidFill>
          <a:ln w="9525">
            <a:solidFill>
              <a:srgbClr val="CFCABE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100" b="1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承認会議（ローカル）</a:t>
            </a:r>
          </a:p>
        </p:txBody>
      </p:sp>
      <p:sp>
        <p:nvSpPr>
          <p:cNvPr id="207" name="StartEvent"/>
          <p:cNvSpPr/>
          <p:nvPr/>
        </p:nvSpPr>
        <p:spPr>
          <a:xfrm>
            <a:off x="1908000" y="2790000"/>
            <a:ext cx="288000" cy="288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F4F6A"/>
            </a:solidFill>
          </a:ln>
        </p:spPr>
        <p:txBody>
          <a:bodyPr wrap="square" lIns="36000" tIns="36000" rIns="36000" bIns="36000" anchor="ctr"/>
          <a:lstStyle/>
          <a:p/>
        </p:txBody>
      </p:sp>
      <p:sp>
        <p:nvSpPr>
          <p:cNvPr id="208" name="Label"/>
          <p:cNvSpPr txBox="1"/>
          <p:nvPr/>
        </p:nvSpPr>
        <p:spPr>
          <a:xfrm>
            <a:off x="1764000" y="3114000"/>
            <a:ext cx="576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承認会議（ローカル）に</a:t>
            </a:r>
          </a:p>
          <a:p>
            <a:pPr algn="ct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委ねた</a:t>
            </a:r>
          </a:p>
        </p:txBody>
      </p:sp>
      <p:sp>
        <p:nvSpPr>
          <p:cNvPr id="209" name="Task"/>
          <p:cNvSpPr/>
          <p:nvPr/>
        </p:nvSpPr>
        <p:spPr>
          <a:xfrm>
            <a:off x="2772000" y="1458000"/>
            <a:ext cx="1080000" cy="5760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5E7391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⑬ 承認会議（ローカル）に委任を通知する</a:t>
            </a:r>
          </a:p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§3.13</a:t>
            </a:r>
          </a:p>
        </p:txBody>
      </p:sp>
      <p:sp>
        <p:nvSpPr>
          <p:cNvPr id="210" name="Task"/>
          <p:cNvSpPr/>
          <p:nvPr/>
        </p:nvSpPr>
        <p:spPr>
          <a:xfrm>
            <a:off x="4428000" y="3834000"/>
            <a:ext cx="1080000" cy="5760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9AA5B5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承認・否認を</a:t>
            </a:r>
          </a:p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決める</a:t>
            </a:r>
          </a:p>
        </p:txBody>
      </p:sp>
      <p:sp>
        <p:nvSpPr>
          <p:cNvPr id="211" name="Task"/>
          <p:cNvSpPr/>
          <p:nvPr/>
        </p:nvSpPr>
        <p:spPr>
          <a:xfrm>
            <a:off x="6084000" y="1458000"/>
            <a:ext cx="1080000" cy="5760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5E7391"/>
            </a:solidFill>
          </a:ln>
        </p:spPr>
        <p:txBody>
          <a:bodyPr wrap="square" lIns="36000" tIns="36000" rIns="36000" bIns="36000" anchor="ctr"/>
          <a:lstStyle/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⑬ 結果を受け取る</a:t>
            </a:r>
          </a:p>
          <a:p>
            <a:pPr algn="ctr"/>
            <a:r>
              <a:rPr lang="ja-JP"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§3.13</a:t>
            </a:r>
          </a:p>
        </p:txBody>
      </p:sp>
      <p:sp>
        <p:nvSpPr>
          <p:cNvPr id="213" name="EndEvent"/>
          <p:cNvSpPr/>
          <p:nvPr/>
        </p:nvSpPr>
        <p:spPr>
          <a:xfrm>
            <a:off x="7735824" y="1600200"/>
            <a:ext cx="288000" cy="2880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F4F6A"/>
            </a:solidFill>
          </a:ln>
        </p:spPr>
        <p:txBody>
          <a:bodyPr wrap="square" lIns="36000" tIns="36000" rIns="36000" bIns="36000" anchor="ctr"/>
          <a:lstStyle/>
          <a:p/>
        </p:txBody>
      </p:sp>
      <p:sp>
        <p:nvSpPr>
          <p:cNvPr id="214" name="Label"/>
          <p:cNvSpPr txBox="1"/>
          <p:nvPr/>
        </p:nvSpPr>
        <p:spPr>
          <a:xfrm>
            <a:off x="7589520" y="1929384"/>
            <a:ext cx="648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結果を</a:t>
            </a:r>
          </a:p>
          <a:p>
            <a:pPr algn="ctr"/>
            <a:r>
              <a:rPr lang="ja-JP"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受け取った</a:t>
            </a:r>
          </a:p>
        </p:txBody>
      </p:sp>
      <p:cxnSp>
        <p:nvCxnSpPr>
          <p:cNvPr id="215" name="Flow"/>
          <p:cNvCxnSpPr/>
          <p:nvPr/>
        </p:nvCxnSpPr>
        <p:spPr>
          <a:xfrm>
            <a:off x="2196000" y="2934000"/>
            <a:ext cx="288000" cy="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216" name="Flow"/>
          <p:cNvCxnSpPr/>
          <p:nvPr/>
        </p:nvCxnSpPr>
        <p:spPr>
          <a:xfrm flipV="1">
            <a:off x="2484000" y="1746000"/>
            <a:ext cx="0" cy="118800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217" name="Flow"/>
          <p:cNvCxnSpPr/>
          <p:nvPr/>
        </p:nvCxnSpPr>
        <p:spPr>
          <a:xfrm>
            <a:off x="2484000" y="1746000"/>
            <a:ext cx="288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cxnSp>
        <p:nvCxnSpPr>
          <p:cNvPr id="218" name="Flow"/>
          <p:cNvCxnSpPr/>
          <p:nvPr/>
        </p:nvCxnSpPr>
        <p:spPr>
          <a:xfrm>
            <a:off x="3852000" y="1746000"/>
            <a:ext cx="288000" cy="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219" name="Flow"/>
          <p:cNvCxnSpPr/>
          <p:nvPr/>
        </p:nvCxnSpPr>
        <p:spPr>
          <a:xfrm>
            <a:off x="4140000" y="1746000"/>
            <a:ext cx="0" cy="237600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220" name="Flow"/>
          <p:cNvCxnSpPr/>
          <p:nvPr/>
        </p:nvCxnSpPr>
        <p:spPr>
          <a:xfrm>
            <a:off x="4140000" y="4122000"/>
            <a:ext cx="288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cxnSp>
        <p:nvCxnSpPr>
          <p:cNvPr id="221" name="Flow"/>
          <p:cNvCxnSpPr/>
          <p:nvPr/>
        </p:nvCxnSpPr>
        <p:spPr>
          <a:xfrm>
            <a:off x="5508000" y="4122000"/>
            <a:ext cx="288000" cy="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222" name="Flow"/>
          <p:cNvCxnSpPr/>
          <p:nvPr/>
        </p:nvCxnSpPr>
        <p:spPr>
          <a:xfrm flipV="1">
            <a:off x="5796000" y="1746000"/>
            <a:ext cx="0" cy="237600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cxnSp>
        <p:nvCxnSpPr>
          <p:cNvPr id="223" name="Flow"/>
          <p:cNvCxnSpPr/>
          <p:nvPr/>
        </p:nvCxnSpPr>
        <p:spPr>
          <a:xfrm>
            <a:off x="5796000" y="1746000"/>
            <a:ext cx="288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</p:cxnSp>
      <p:cxnSp>
        <p:nvCxnSpPr>
          <p:cNvPr id="224" name="Flow"/>
          <p:cNvCxnSpPr/>
          <p:nvPr/>
        </p:nvCxnSpPr>
        <p:spPr>
          <a:xfrm>
            <a:off x="7164000" y="1746000"/>
            <a:ext cx="576072" cy="0"/>
          </a:xfrm>
          <a:prstGeom prst="line">
            <a:avLst/>
          </a:prstGeom>
          <a:ln w="19050">
            <a:solidFill>
              <a:srgbClr val="3F4F6A"/>
            </a:solidFill>
          </a:ln>
        </p:spPr>
      </p:cxnSp>
      <p:sp>
        <p:nvSpPr>
          <p:cNvPr id="228" name="Label"/>
          <p:cNvSpPr txBox="1"/>
          <p:nvPr/>
        </p:nvSpPr>
        <p:spPr>
          <a:xfrm>
            <a:off x="540000" y="4806000"/>
            <a:ext cx="11052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000" b="0">
                <a:solidFill>
                  <a:srgbClr val="5E7391"/>
                </a:solidFill>
                <a:latin typeface="Yu Gothic"/>
                <a:ea typeface="Yu Gothic"/>
                <a:cs typeface="Yu Gothic"/>
              </a:rPr>
              <a:t>丸数字はプロセス一覧の No.、§ は Runbook の節を示す。</a:t>
            </a:r>
          </a:p>
          <a:p>
            <a:pPr algn="l"/>
            <a:r>
              <a:rPr lang="ja-JP" sz="1000" b="0">
                <a:solidFill>
                  <a:srgbClr val="5E7391"/>
                </a:solidFill>
                <a:latin typeface="Yu Gothic"/>
                <a:ea typeface="Yu Gothic"/>
                <a:cs typeface="Yu Gothic"/>
              </a:rPr>
              <a:t>全体フロー（3）のサブプロセスを展開したもの。終了後は全体フロー（3）の⑩へ進む。承認会議（ローカル）は承認・否認を決め、結果をIT投資委員会事務局に報告する。報告の方法は（TBD: 承認会議（ローカル）に委ねた案件の報告と事後のモニタリング）。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プロセス一覧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ITC-P-06　IT投資ガバナンス 業務フロー定義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533216"/>
                <a:gridCol w="1999561"/>
                <a:gridCol w="2132865"/>
                <a:gridCol w="2132865"/>
                <a:gridCol w="1732953"/>
                <a:gridCol w="1333040"/>
                <a:gridCol w="119973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No.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プロセス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入力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出力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担当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期限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関連手順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年次の受付を周知する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年次の予算策定のイベントの日程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年次の受付の周知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IT投資委員会事務局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運用基準 第13条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Runbook §3.1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年次の提出を確認する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IntakeForm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案件ID、付議先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IT投資委員会事務局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運用基準 第13条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Runbook §3.2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年次の会議を運営する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案件の一覧、年次のIT投資予算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議題・資料・議事録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IT投資委員会事務局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運用基準 第13条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Runbook §3.3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優先順位を記録し通知する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議事録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決定記録、通知、優先順位の一覧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IT投資委員会事務局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運用基準 第13条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Runbook §3.4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Intakeを受け付ける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IntakeForm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案件ID、付議先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IT投資委員会事務局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運用基準 第13条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Runbook §3.5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Intakeの会議を運営する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IntakeForm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議題・資料・議事録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IT投資委員会事務局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運用基準 第13条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Runbook §3.6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優先度を記録し通知する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議事録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決定記録、通知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IT投資委員会事務局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運用基準 第13条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Runbook §3.7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実行計画を受け付ける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実行計画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受付の記録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IT投資委員会事務局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運用基準 第13条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Runbook §3.8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Tier2を運営する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実行計画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議題・資料・議事録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IT投資委員会事務局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運用基準 第13条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Runbook §3.9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審議結果を記録し通知する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議事録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決定記録、通知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IT投資委員会事務局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運用基準 第13条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Runbook §3.10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11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Tier3の招集を依頼する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Tier2の要請、実行計画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招集の依頼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IT投資委員会事務局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運用基準 第13条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Runbook §3.11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Tier2の再審議を運営する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推奨案、実行計画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議題・資料・議事録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IT投資委員会事務局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運用基準 第13条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Runbook §3.12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13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承認会議（ローカル）への委任を通知し、結果を受け取る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Tier2の委任、実行計画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委任記録、通知、承認・否認の結果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IT投資委員会事務局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運用基準 第13条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Runbook §3.13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RACI（1）年次の優先順位付けと随時のIntake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ITC-P-06　IT投資ガバナンス 業務フロー定義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3531140"/>
                <a:gridCol w="1177046"/>
                <a:gridCol w="1647865"/>
                <a:gridCol w="1177046"/>
                <a:gridCol w="1177046"/>
                <a:gridCol w="235409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活動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起案者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IT投資委員会事務局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Tier1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Tier2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関係部署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 年次の受付を周知する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A/R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② 年次の提出を確認する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A/R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③ 年次の会議を運営する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A/R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00"/>
                        <a:t>C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00"/>
                        <a:t>C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C（ファイナンス部門）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④ 優先順位を記録し通知する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A/R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I（PPMボード）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⑤ Intakeを受け付ける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A/R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⑥ Intakeの会議を運営する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A/R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00"/>
                        <a:t>C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00"/>
                        <a:t>C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⑦ 優先度を記録し通知する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A/R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I（PPMボード）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年次の優先順位の決定（基準額を超える）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00"/>
                        <a:t>A/R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年次の優先順位の決定（基準額以下）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00"/>
                        <a:t>A/R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随時のIntakeの優先度（基準額を超える）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00"/>
                        <a:t>A/R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随時のIntakeの優先度（基準額以下）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00"/>
                        <a:t>A/R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Label"/>
          <p:cNvSpPr txBox="1"/>
          <p:nvPr/>
        </p:nvSpPr>
        <p:spPr>
          <a:xfrm>
            <a:off x="548640" y="5616000"/>
            <a:ext cx="1106424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000" b="0">
                <a:solidFill>
                  <a:srgbClr val="5E7391"/>
                </a:solidFill>
                <a:latin typeface="Yu Gothic"/>
                <a:ea typeface="Yu Gothic"/>
                <a:cs typeface="Yu Gothic"/>
              </a:rPr>
              <a:t>凡例: R＝実行する、A＝最終責任を負う（1行に1つ）、C＝相談を受ける、I＝報告を受ける。</a:t>
            </a:r>
          </a:p>
          <a:p>
            <a:pPr algn="l"/>
            <a:r>
              <a:rPr lang="ja-JP" sz="1000" b="0">
                <a:solidFill>
                  <a:srgbClr val="5E7391"/>
                </a:solidFill>
                <a:latin typeface="Yu Gothic"/>
                <a:ea typeface="Yu Gothic"/>
                <a:cs typeface="Yu Gothic"/>
              </a:rPr>
              <a:t>A は、会議体が決める事項は会議体に、事務局の手順は事務局に置く。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RACI（2）実行計画の審議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ITC-P-06　IT投資ガバナンス 業務フロー定義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3531140"/>
                <a:gridCol w="1177046"/>
                <a:gridCol w="1647865"/>
                <a:gridCol w="1177046"/>
                <a:gridCol w="1177046"/>
                <a:gridCol w="235409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活動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起案者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IT投資委員会事務局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Tier2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Tier3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関係部署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実行計画の作成・提出の通知と依頼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A/R（PPMボード）、R（起案者の所属部門）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⑧ 実行計画を受け付ける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A/R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⑨ Tier2を運営する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A/R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00"/>
                        <a:t>C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決裁の振り分け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00"/>
                        <a:t>A/R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I（承認会議（ローカル））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⑪ Tier3の招集を依頼する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A/R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00"/>
                        <a:t>I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推奨案のとりまとめ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00"/>
                        <a:t>I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00"/>
                        <a:t>A/R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⑫ Tier2の再審議を運営する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A/R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00"/>
                        <a:t>C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実行計画の承認・否認（Tier2が決める案件）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00"/>
                        <a:t>A/R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00"/>
                        <a:t>C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⑬ 承認会議（ローカル）への委任を通知し、結果を受け取る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A/R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C（承認会議（ローカル））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実行計画の承認・否認（承認会議（ローカル）に委ねた案件）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00"/>
                        <a:t>I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A/R（承認会議（ローカル））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⑩ 審議結果を記録し通知する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A/R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00"/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I（PPMボード）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Label"/>
          <p:cNvSpPr txBox="1"/>
          <p:nvPr/>
        </p:nvSpPr>
        <p:spPr>
          <a:xfrm>
            <a:off x="548640" y="5616000"/>
            <a:ext cx="1106424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000" b="0">
                <a:solidFill>
                  <a:srgbClr val="5E7391"/>
                </a:solidFill>
                <a:latin typeface="Yu Gothic"/>
                <a:ea typeface="Yu Gothic"/>
                <a:cs typeface="Yu Gothic"/>
              </a:rPr>
              <a:t>凡例: R＝実行する、A＝最終責任を負う（1行に1つ）、C＝相談を受ける、I＝報告を受ける。</a:t>
            </a:r>
          </a:p>
          <a:p>
            <a:pPr algn="l"/>
            <a:r>
              <a:rPr lang="ja-JP" sz="1000" b="0">
                <a:solidFill>
                  <a:srgbClr val="5E7391"/>
                </a:solidFill>
                <a:latin typeface="Yu Gothic"/>
                <a:ea typeface="Yu Gothic"/>
                <a:cs typeface="Yu Gothic"/>
              </a:rPr>
              <a:t>A は、会議体が決める事項は会議体に、事務局の手順は事務局に置く。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他のプロセス・部署との受け渡し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ITC-P-06　IT投資ガバナンス 業務フロー定義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1548993"/>
                <a:gridCol w="2876702"/>
                <a:gridCol w="885139"/>
                <a:gridCol w="2876702"/>
                <a:gridCol w="287670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相手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渡すもの／受け取るもの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方向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タイミング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手段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ファイナンス部門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年次のIT投資予算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受け取る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年次の会議を運営する前（Runbook §3.3）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（TBD: 決定の連携先と方法（PPMボード・ファイナンス部門））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PPMボード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年次の優先順位の一覧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渡す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優先順位を記録した後（Runbook §3.4）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（TBD: 決定の連携先と方法（PPMボード・ファイナンス部門））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PPMボード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随時のIntakeの優先度（優先度ありの案件）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渡す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優先度を記録した後（Runbook §3.7）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（TBD: 決定の連携先と方法（PPMボード・ファイナンス部門））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PPMボード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実行計画の審議結果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渡す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審議結果を記録した後（Runbook §3.10）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（TBD: 決定の連携先と方法（PPMボード・ファイナンス部門））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Tier3の主催者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Tier3の招集の依頼、実行計画、Tier2の要請の内容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渡す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Tier2がTier3の招集を要請した後（Runbook §3.11）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（TBD: 決定の連携先と方法（PPMボード・ファイナンス部門））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Tier3の主催者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推奨案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受け取る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Tier3の審査の後（Runbook §3.12）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（TBD: 決定の連携先と方法（PPMボード・ファイナンス部門））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承認会議（ローカル）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委任の内容、実行計画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渡す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Tier2が決裁を承認会議（ローカル）に委ねた後（Runbook §3.13）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（TBD: 決定の連携先と方法（PPMボード・ファイナンス部門））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承認会議（ローカル）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承認・否認の結果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受け取る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承認会議（ローカル）の後（Runbook §3.13）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（TBD: 承認会議（ローカル）に委ねた案件の報告と事後のモニタリング）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改訂履歴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ITC-P-06　IT投資ガバナンス 業務フロー定義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645920"/>
                <a:gridCol w="521208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版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日付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改訂内容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改訂者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承認者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1.0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2026-10-18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制定（初期セットの作成）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/>
                        <a:t>IT投資委員会事務局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/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業務フロー定義</dc:title>
  <dc:subject>PptxGenJS Presentation</dc:subject>
  <dc:creator/>
  <cp:lastModifiedBy>PptxGenJS</cp:lastModifiedBy>
  <cp:revision>1</cp:revision>
  <dcterms:created xsi:type="dcterms:W3CDTF">2026-09-29T22:38:01Z</dcterms:created>
  <dcterms:modified xsi:type="dcterms:W3CDTF">2026-09-29T22:38:01Z</dcterms:modified>
</cp:coreProperties>
</file>