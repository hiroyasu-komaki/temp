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説明会資料。課題と対応方針は設計者が別資料で説明する。本資料は実務者（IT部門・事業部門）向けに、変更点と実務を説明する。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35000" y="406400"/>
            <a:ext cx="1092200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4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35000" y="1107380"/>
            <a:ext cx="10744200" cy="4937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35000" y="406400"/>
            <a:ext cx="1092200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4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35000" y="1107380"/>
            <a:ext cx="10744200" cy="4937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56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6000" y="3048000"/>
            <a:ext cx="4826000" cy="3810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635000" y="2221905"/>
            <a:ext cx="11249660" cy="149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05"/>
              </a:lnSpc>
              <a:buNone/>
            </a:pPr>
            <a:r>
              <a:rPr lang="en-US" sz="4300" b="1" i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IT投資ガバナンス新体制</a:t>
            </a:r>
            <a:endParaRPr lang="en-US" sz="4300" dirty="0"/>
          </a:p>
          <a:p>
            <a:pPr algn="l" indent="0" marL="0">
              <a:lnSpc>
                <a:spcPts val="5805"/>
              </a:lnSpc>
              <a:buNone/>
            </a:pPr>
            <a:r>
              <a:rPr lang="en-US" sz="4300" b="1" i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審議プロセスの変更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00" y="3950295"/>
            <a:ext cx="1124966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変更の背景にある考え方を理解し、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IT部門全員で変革に取り組むために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5000" y="6030020"/>
            <a:ext cx="65405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　｜　施行日：未定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sp>
        <p:nvSpPr>
          <p:cNvPr id="4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本日の内容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35000" y="2845395"/>
            <a:ext cx="698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35000" y="2007890"/>
            <a:ext cx="660400" cy="467320"/>
          </a:xfrm>
          <a:custGeom>
            <a:avLst/>
            <a:gdLst/>
            <a:ahLst/>
            <a:cxnLst/>
            <a:rect l="l" t="t" r="r" b="b"/>
            <a:pathLst>
              <a:path w="660400" h="467320">
                <a:moveTo>
                  <a:pt x="233660" y="0"/>
                </a:moveTo>
                <a:lnTo>
                  <a:pt x="426740" y="0"/>
                </a:lnTo>
                <a:arcTo hR="233660" wR="233660" stAng="16200000" swAng="5400000"/>
                <a:lnTo>
                  <a:pt x="660400" y="233660"/>
                </a:lnTo>
                <a:arcTo hR="233660" wR="233660" stAng="0" swAng="5400000"/>
                <a:lnTo>
                  <a:pt x="233660" y="467320"/>
                </a:lnTo>
                <a:arcTo hR="233660" wR="233660" stAng="5400000" swAng="5400000"/>
                <a:lnTo>
                  <a:pt x="0" y="233660"/>
                </a:lnTo>
                <a:arcTo hR="233660" wR="233660" stAng="10800000" swAng="5400000"/>
                <a:close/>
              </a:path>
            </a:pathLst>
          </a:custGeom>
          <a:solidFill>
            <a:srgbClr val="ED5604"/>
          </a:solidFill>
          <a:ln/>
        </p:spPr>
        <p:txBody>
          <a:bodyPr wrap="square" lIns="0" tIns="38100" rIns="0" bIns="1270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49400" y="1894880"/>
            <a:ext cx="6252718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変更点の確認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549400" y="2321520"/>
            <a:ext cx="62527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会議体とプロセスは、何が、どのように変わるのか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35000" y="4053086"/>
            <a:ext cx="698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5000" y="3215580"/>
            <a:ext cx="660400" cy="467320"/>
          </a:xfrm>
          <a:custGeom>
            <a:avLst/>
            <a:gdLst/>
            <a:ahLst/>
            <a:cxnLst/>
            <a:rect l="l" t="t" r="r" b="b"/>
            <a:pathLst>
              <a:path w="660400" h="467320">
                <a:moveTo>
                  <a:pt x="233660" y="0"/>
                </a:moveTo>
                <a:lnTo>
                  <a:pt x="426740" y="0"/>
                </a:lnTo>
                <a:arcTo hR="233660" wR="233660" stAng="16200000" swAng="5400000"/>
                <a:lnTo>
                  <a:pt x="660400" y="233660"/>
                </a:lnTo>
                <a:arcTo hR="233660" wR="233660" stAng="0" swAng="5400000"/>
                <a:lnTo>
                  <a:pt x="233660" y="467320"/>
                </a:lnTo>
                <a:arcTo hR="233660" wR="233660" stAng="5400000" swAng="5400000"/>
                <a:lnTo>
                  <a:pt x="0" y="233660"/>
                </a:lnTo>
                <a:arcTo hR="233660" wR="233660" stAng="10800000" swAng="5400000"/>
                <a:close/>
              </a:path>
            </a:pathLst>
          </a:custGeom>
          <a:solidFill>
            <a:srgbClr val="ED5604"/>
          </a:solidFill>
          <a:ln/>
        </p:spPr>
        <p:txBody>
          <a:bodyPr wrap="square" lIns="0" tIns="38100" rIns="0" bIns="1270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549400" y="3102570"/>
            <a:ext cx="6252718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起案者の実務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549400" y="3529211"/>
            <a:ext cx="62527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起案者として、何を、どのように行えばよいか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35000" y="4423271"/>
            <a:ext cx="660400" cy="467320"/>
          </a:xfrm>
          <a:custGeom>
            <a:avLst/>
            <a:gdLst/>
            <a:ahLst/>
            <a:cxnLst/>
            <a:rect l="l" t="t" r="r" b="b"/>
            <a:pathLst>
              <a:path w="660400" h="467320">
                <a:moveTo>
                  <a:pt x="233660" y="0"/>
                </a:moveTo>
                <a:lnTo>
                  <a:pt x="426740" y="0"/>
                </a:lnTo>
                <a:arcTo hR="233660" wR="233660" stAng="16200000" swAng="5400000"/>
                <a:lnTo>
                  <a:pt x="660400" y="233660"/>
                </a:lnTo>
                <a:arcTo hR="233660" wR="233660" stAng="0" swAng="5400000"/>
                <a:lnTo>
                  <a:pt x="233660" y="467320"/>
                </a:lnTo>
                <a:arcTo hR="233660" wR="233660" stAng="5400000" swAng="5400000"/>
                <a:lnTo>
                  <a:pt x="0" y="233660"/>
                </a:lnTo>
                <a:arcTo hR="233660" wR="233660" stAng="10800000" swAng="5400000"/>
                <a:close/>
              </a:path>
            </a:pathLst>
          </a:custGeom>
          <a:solidFill>
            <a:srgbClr val="ED5604"/>
          </a:solidFill>
          <a:ln/>
        </p:spPr>
        <p:txBody>
          <a:bodyPr wrap="square" lIns="0" tIns="38100" rIns="0" bIns="1270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549400" y="4310261"/>
            <a:ext cx="6252718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事務局の整備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549400" y="4736902"/>
            <a:ext cx="62527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事務局が、何を、どのように整備しているか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28000" y="2386310"/>
            <a:ext cx="3429000" cy="2125861"/>
          </a:xfrm>
          <a:prstGeom prst="roundRect">
            <a:avLst>
              <a:gd name="adj" fmla="val 4779"/>
            </a:avLst>
          </a:prstGeom>
          <a:solidFill>
            <a:srgbClr val="F2F2F2"/>
          </a:solidFill>
          <a:ln/>
        </p:spPr>
      </p:sp>
      <p:sp>
        <p:nvSpPr>
          <p:cNvPr id="17" name="Text 13"/>
          <p:cNvSpPr/>
          <p:nvPr/>
        </p:nvSpPr>
        <p:spPr>
          <a:xfrm>
            <a:off x="8458200" y="2741910"/>
            <a:ext cx="285165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D61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458200" y="3099991"/>
            <a:ext cx="285165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458200" y="3512741"/>
            <a:ext cx="285165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D61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458200" y="3870821"/>
            <a:ext cx="285165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IT部門と事業部門の実務者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16000" y="2296914"/>
            <a:ext cx="104648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ED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</a:t>
            </a:r>
            <a:endParaRPr lang="en-US" sz="16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1016000" y="2561034"/>
            <a:ext cx="10464800" cy="7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b="1" i="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変更点の確認</a:t>
            </a:r>
            <a:endParaRPr lang="en-US" sz="4600" dirty="0"/>
          </a:p>
        </p:txBody>
      </p:sp>
      <p:sp>
        <p:nvSpPr>
          <p:cNvPr id="6" name="Shape 2"/>
          <p:cNvSpPr/>
          <p:nvPr/>
        </p:nvSpPr>
        <p:spPr>
          <a:xfrm>
            <a:off x="1016000" y="3262015"/>
            <a:ext cx="3556000" cy="19050"/>
          </a:xfrm>
          <a:prstGeom prst="rect">
            <a:avLst/>
          </a:prstGeom>
          <a:solidFill>
            <a:srgbClr val="C9CBCD"/>
          </a:solidFill>
          <a:ln/>
        </p:spPr>
      </p:sp>
      <p:sp>
        <p:nvSpPr>
          <p:cNvPr id="7" name="Text 3"/>
          <p:cNvSpPr/>
          <p:nvPr/>
        </p:nvSpPr>
        <p:spPr>
          <a:xfrm>
            <a:off x="1016000" y="3281065"/>
            <a:ext cx="104648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何が、どのように変わるのか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016000" y="3601045"/>
            <a:ext cx="10464800" cy="98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・会議体の変更</a:t>
            </a:r>
            <a:endParaRPr lang="en-US" sz="14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・プロセスの変更（優先順位・予算計上まで／実行計画の審議から実行まで）</a:t>
            </a:r>
            <a:endParaRPr lang="en-US" sz="14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・そのほかの変更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pic>
        <p:nvPicPr>
          <p:cNvPr id="4" name="Image 2" descr="変更前後の比較①：会議体の図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変更前後の比較①：会議体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590834" y="1035050"/>
            <a:ext cx="43408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D61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変更前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5444591" y="1035050"/>
            <a:ext cx="618199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変更後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731441" y="1770459"/>
            <a:ext cx="1220391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5D61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DIB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1978025" y="1544241"/>
            <a:ext cx="289744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役員レベル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1978025" y="1702991"/>
            <a:ext cx="28974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50百万円以上の投資計画（年1回、予算編成前）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978025" y="2020491"/>
            <a:ext cx="289744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予算計上の是非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731441" y="2645569"/>
            <a:ext cx="1220391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5D61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ICTB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731441" y="2828131"/>
            <a:ext cx="1220391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5D61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（ローカル）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1978025" y="2590006"/>
            <a:ext cx="289744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IT部門責任者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978025" y="2748756"/>
            <a:ext cx="289744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単一の国・地域に閉じた案件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978025" y="2907506"/>
            <a:ext cx="289744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実行計画の承認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31441" y="3612158"/>
            <a:ext cx="1220391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5D61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ICTB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31441" y="3794720"/>
            <a:ext cx="1220391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5D61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（グローバル）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978025" y="3556595"/>
            <a:ext cx="289744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IT部門責任者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978025" y="3715345"/>
            <a:ext cx="289744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2つ以上の国・地域にまたがる案件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978025" y="3874095"/>
            <a:ext cx="337566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実行計画の承認（実態はローカルと同じ）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31441" y="5279628"/>
            <a:ext cx="1220391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5D61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事業部門内の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731441" y="5462191"/>
            <a:ext cx="1220391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5D61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承認会議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978025" y="5144691"/>
            <a:ext cx="289744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各事業部門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978025" y="5303441"/>
            <a:ext cx="289744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事業部門予算の案件（IT投資の大半）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978025" y="5462191"/>
            <a:ext cx="28974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自部門予算によるIT投資の承認（共通ルールなし）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612110" y="1770459"/>
            <a:ext cx="1027410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Tier1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665516" y="1544241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参加者：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C-suite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665516" y="1702991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1億円を超える案件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665516" y="1861741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決定：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優先順位（年次）・優先度（随時）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665516" y="2020491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開催：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年1回（11月ごろ）＋随時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612110" y="2954338"/>
            <a:ext cx="1027410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6665516" y="2728119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参加者：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C-suiteの1つ下のシニアマネジメント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665516" y="2886869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1億円以下の案件の優先順位・優先度、優先度が付いた全案件の実行計画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665516" y="3045619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決定：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優先順位・優先度（1億円以下）、決裁の振り分け、実行計画の承認・否認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665516" y="3204369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開催：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年1回＋随時＋毎月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5612110" y="4143673"/>
            <a:ext cx="1027410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Tier3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5612110" y="4326235"/>
            <a:ext cx="1027410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（新設）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6665516" y="4008735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参加者：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固定メンバーなし（EAの統括責任者・各領域責任者が主催し招集）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665516" y="4167485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Tier2が要請した実行計画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665516" y="4326235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決定：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推奨案をTier2へ報告（承認・否認は決めない）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665516" y="4484985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開催：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随時（Tier2の要請時）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5612110" y="5279628"/>
            <a:ext cx="1027410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承認会議</a:t>
            </a:r>
            <a:endParaRPr lang="en-US" sz="1150" dirty="0"/>
          </a:p>
        </p:txBody>
      </p:sp>
      <p:sp>
        <p:nvSpPr>
          <p:cNvPr id="44" name="Text 39"/>
          <p:cNvSpPr/>
          <p:nvPr/>
        </p:nvSpPr>
        <p:spPr>
          <a:xfrm>
            <a:off x="5612110" y="5462191"/>
            <a:ext cx="1027410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（ローカル）</a:t>
            </a:r>
            <a:endParaRPr lang="en-US" sz="1150" dirty="0"/>
          </a:p>
        </p:txBody>
      </p:sp>
      <p:sp>
        <p:nvSpPr>
          <p:cNvPr id="45" name="Text 40"/>
          <p:cNvSpPr/>
          <p:nvPr/>
        </p:nvSpPr>
        <p:spPr>
          <a:xfrm>
            <a:off x="6665516" y="5224066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参加者：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起案者の所属部門（事業部門またはIT部門）の承認会議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6665516" y="5382816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Tier2が決裁を委ねた案件（事業部門・IT部門のどちらの起案も対象）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6665516" y="5541566"/>
            <a:ext cx="49380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決定：</a:t>
            </a:r>
            <a:r>
              <a:rPr lang="en-US" sz="10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実行計画の承認・否認（結果を事務局へ報告）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pic>
        <p:nvPicPr>
          <p:cNvPr id="4" name="Image 2" descr="変更前後のプロセス①：優先順位・予算計上までの図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変更前後のプロセス①：優先順位・予算計上まで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583584" y="1035050"/>
            <a:ext cx="48386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D61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変更前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6087005" y="1035050"/>
            <a:ext cx="523689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変更後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819749" y="1681559"/>
            <a:ext cx="2270269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IT投資計画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1869516" y="2555776"/>
            <a:ext cx="2170833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50百万円以上？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1819749" y="3515023"/>
            <a:ext cx="2270269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DIB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1819749" y="3681710"/>
            <a:ext cx="227026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予算計上の承認（役員・年1回）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3021905" y="3065066"/>
            <a:ext cx="49589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Yes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819749" y="5233789"/>
            <a:ext cx="2270269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予算計上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940175" y="2388195"/>
            <a:ext cx="49589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887516" y="3644900"/>
            <a:ext cx="88265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IT部門の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4887516" y="3779838"/>
            <a:ext cx="88265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関与なし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7370893" y="1654373"/>
            <a:ext cx="2668524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IntakeFormを提出（起案者）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370893" y="1821061"/>
            <a:ext cx="266852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年次の受付期間／随時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7370893" y="2455069"/>
            <a:ext cx="2668524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事務局が受付・付議先を判定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769150" y="3256260"/>
            <a:ext cx="187191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1億円を超える？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171809" y="4268192"/>
            <a:ext cx="2070784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Tier1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171809" y="4434880"/>
            <a:ext cx="2070784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優先順位（年次）／優先度（随時）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167719" y="4268192"/>
            <a:ext cx="2070784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167719" y="4434880"/>
            <a:ext cx="2070784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優先順位（年次）／優先度（随時）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129760" y="3065066"/>
            <a:ext cx="786110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超える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9495135" y="3065066"/>
            <a:ext cx="59243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以下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873102" y="5162352"/>
            <a:ext cx="3664009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優先順位・優先度の決定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873102" y="5329039"/>
            <a:ext cx="3664009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以降はPPMボードが管理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163270" y="5674320"/>
            <a:ext cx="5236897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</a:t>
            </a:r>
            <a:r>
              <a:rPr lang="en-US" sz="95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：年次の会議で案件どうしを比べて付ける順位　</a:t>
            </a:r>
            <a:r>
              <a:rPr lang="en-US" sz="9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</a:t>
            </a:r>
            <a:r>
              <a:rPr lang="en-US" sz="95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：随時の受付で、実行計画の審議に進めてよいかの判断（あり／なし）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1146770" y="6109295"/>
            <a:ext cx="59243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2316460" y="6109295"/>
            <a:ext cx="215049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課題箇所（IT部門の関与なし）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pic>
        <p:nvPicPr>
          <p:cNvPr id="4" name="Image 2" descr="変更前後のプロセス②：実行計画の審議から実行までの図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変更前後のプロセス②：実行計画の審議から実行まで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583584" y="1035050"/>
            <a:ext cx="48386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D61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変更前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6087005" y="1035050"/>
            <a:ext cx="523689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変更後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952704" y="1681559"/>
            <a:ext cx="2070784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予算計上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952704" y="2286000"/>
            <a:ext cx="2070784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実行計画策定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952704" y="2866827"/>
            <a:ext cx="2070784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事業部門内承認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952704" y="3033514"/>
            <a:ext cx="2070784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（共通ルールなし）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952704" y="3821410"/>
            <a:ext cx="2070784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ローカルかつ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952704" y="3964285"/>
            <a:ext cx="2070784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50百万円未満？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344216" y="4783534"/>
            <a:ext cx="128845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ICTB審議不要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1344216" y="4934347"/>
            <a:ext cx="128845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（内規）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2055416" y="4437360"/>
            <a:ext cx="39935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Yes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760391" y="3892748"/>
            <a:ext cx="128845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対象範囲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070225" y="3722291"/>
            <a:ext cx="39935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373636" y="4795441"/>
            <a:ext cx="99824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3373636" y="4930378"/>
            <a:ext cx="99824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ICTB実行承認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533205" y="4795441"/>
            <a:ext cx="99824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グローバル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533205" y="4930378"/>
            <a:ext cx="99824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ICTB実行承認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3118445" y="4272855"/>
            <a:ext cx="78611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単一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5099645" y="4272855"/>
            <a:ext cx="592435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719881" y="5523309"/>
            <a:ext cx="4758929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029562" y="1681559"/>
            <a:ext cx="2867396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優先順位・優先度の決定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731247" y="2311102"/>
            <a:ext cx="3464523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実行計画の提出（起案者）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731247" y="2477790"/>
            <a:ext cx="3464523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PPMボードの要請を受けて（要請前も可）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7328374" y="3330178"/>
            <a:ext cx="2270269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決裁の振り分け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7328374" y="3488928"/>
            <a:ext cx="2270269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（Tier2）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982891" y="4392910"/>
            <a:ext cx="148153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承認会議（ローカル）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5982891" y="4543723"/>
            <a:ext cx="148153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承認・否認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7722791" y="4384973"/>
            <a:ext cx="1481534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7722791" y="4551660"/>
            <a:ext cx="148153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承認・否認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9655770" y="4384973"/>
            <a:ext cx="1481534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Tier3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9655770" y="4551660"/>
            <a:ext cx="1481534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推奨案をまとめる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646466" y="3209925"/>
            <a:ext cx="882650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委ねる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8531225" y="3934420"/>
            <a:ext cx="1172170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Tier2が決める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9230320" y="4128095"/>
            <a:ext cx="399355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要請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9211270" y="4765675"/>
            <a:ext cx="45720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推奨案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6131213" y="5523309"/>
            <a:ext cx="4858365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実行（承認された案件）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6066135" y="5915620"/>
            <a:ext cx="5336333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※決裁の振り分けの判断基準（Tier3を招集する条件、承認会議（ローカル）に委ねる条件）は未定。承認会議（ローカル）に委ねた案件の結果は事務局に報告する。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1146770" y="6109295"/>
            <a:ext cx="59243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2316460" y="6109295"/>
            <a:ext cx="786110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課題箇所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3679130" y="6109295"/>
            <a:ext cx="136584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条件付きの経路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sp>
        <p:nvSpPr>
          <p:cNvPr id="4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変更前後の比較③：そのほか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635000" y="802580"/>
            <a:ext cx="1746250" cy="340320"/>
          </a:xfrm>
          <a:custGeom>
            <a:avLst/>
            <a:gdLst/>
            <a:ahLst/>
            <a:cxnLst/>
            <a:rect l="l" t="t" r="r" b="b"/>
            <a:pathLst>
              <a:path w="1746250" h="340320">
                <a:moveTo>
                  <a:pt x="63500" y="0"/>
                </a:moveTo>
                <a:lnTo>
                  <a:pt x="1746250" y="0"/>
                </a:lnTo>
                <a:lnTo>
                  <a:pt x="1746250" y="340320"/>
                </a:lnTo>
                <a:lnTo>
                  <a:pt x="0" y="340320"/>
                </a:lnTo>
                <a:lnTo>
                  <a:pt x="0" y="63500"/>
                </a:lnTo>
                <a:arcTo hR="63500" wR="63500" stAng="10800000" swAng="5400000"/>
                <a:close/>
              </a:path>
            </a:pathLst>
          </a:custGeom>
          <a:solidFill>
            <a:srgbClr val="5D6164"/>
          </a:solidFill>
          <a:ln/>
        </p:spPr>
        <p:txBody>
          <a:bodyPr wrap="square" lIns="127000" tIns="63500" rIns="76200" bIns="381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観点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2381250" y="802580"/>
            <a:ext cx="3937000" cy="340320"/>
          </a:xfrm>
          <a:prstGeom prst="rect">
            <a:avLst/>
          </a:prstGeom>
          <a:solidFill>
            <a:srgbClr val="5D6164"/>
          </a:solidFill>
          <a:ln/>
        </p:spPr>
        <p:txBody>
          <a:bodyPr wrap="square" lIns="146050" tIns="63500" rIns="17082" bIns="381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変更前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2390775" y="802580"/>
            <a:ext cx="0" cy="3403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318250" y="802580"/>
            <a:ext cx="5238750" cy="340320"/>
          </a:xfrm>
          <a:custGeom>
            <a:avLst/>
            <a:gdLst/>
            <a:ahLst/>
            <a:cxnLst/>
            <a:rect l="l" t="t" r="r" b="b"/>
            <a:pathLst>
              <a:path w="5238750" h="340320">
                <a:moveTo>
                  <a:pt x="0" y="0"/>
                </a:moveTo>
                <a:lnTo>
                  <a:pt x="5175250" y="0"/>
                </a:lnTo>
                <a:arcTo hR="63500" wR="63500" stAng="16200000" swAng="5400000"/>
                <a:lnTo>
                  <a:pt x="5238750" y="340320"/>
                </a:lnTo>
                <a:lnTo>
                  <a:pt x="0" y="340320"/>
                </a:lnTo>
                <a:lnTo>
                  <a:pt x="0" y="0"/>
                </a:lnTo>
                <a:close/>
              </a:path>
            </a:pathLst>
          </a:custGeom>
          <a:solidFill>
            <a:srgbClr val="ED5604"/>
          </a:solidFill>
          <a:ln/>
        </p:spPr>
        <p:txBody>
          <a:bodyPr wrap="square" lIns="146050" tIns="63500" rIns="0" bIns="381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変更後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18250" y="802580"/>
            <a:ext cx="5238750" cy="340320"/>
          </a:xfrm>
          <a:custGeom>
            <a:avLst/>
            <a:gdLst/>
            <a:ahLst/>
            <a:cxnLst/>
            <a:rect l="l" t="t" r="r" b="b"/>
            <a:pathLst>
              <a:path w="5238750" h="340320">
                <a:moveTo>
                  <a:pt x="19050" y="340320"/>
                </a:moveTo>
                <a:lnTo>
                  <a:pt x="0" y="340320"/>
                </a:lnTo>
                <a:lnTo>
                  <a:pt x="0" y="0"/>
                </a:lnTo>
                <a:lnTo>
                  <a:pt x="19050" y="0"/>
                </a:lnTo>
                <a:lnTo>
                  <a:pt x="19050" y="340320"/>
                </a:lnTo>
                <a:close/>
              </a:path>
            </a:pathLst>
          </a:custGeom>
          <a:solidFill>
            <a:srgbClr val="FFFFF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700" y="1155601"/>
          <a:ext cx="10909300" cy="4450060"/>
        </p:xfrm>
        <a:graphic>
          <a:graphicData uri="http://schemas.openxmlformats.org/drawingml/2006/table">
            <a:tbl>
              <a:tblPr/>
              <a:tblGrid>
                <a:gridCol w="1745488"/>
                <a:gridCol w="3927348"/>
                <a:gridCol w="5236464"/>
              </a:tblGrid>
              <a:tr h="72251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審議の観点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DIB：予算計上の是非／ICTB：実行計画の承認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優先順位・優先度の審議（Tier1・Tier2）と実行計画の審議（Tier2）の2段階。アーキテクチャの視点はTier3が推奨案としてTier2に報告する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51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金額基準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DIBは50百万円以上が対象。50百万円未満のローカル案件は、内規によりICTBの審議なしに実行できる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金額にかかわらず、全てのIT投資案件がTier1またはTier2の審議対象。1億円を超えるかどうかで付議先を分ける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20005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IT部門の関与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50百万円未満はIT部門の関与なしに予算計上される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全案件がIntakeFormで事務局に届き、Tier1またはTier2で審議される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51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実行承認の経路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事業部門内承認 → ICTB の二重審議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実行計画はTier2が受け、案件ごとに決裁を振り分ける（Tier2が決める／Tier3の推奨案を受けて決める／承認会議（ローカル）に委ねる）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20005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地域による区分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ローカル／グローバルICTB（実態は同じ）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区分は設けない。アーキテクチャの観点はTier3が担う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05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受付の窓口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事業部門向けとICTB向けに、別々に資料を作成する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年次・随時とも、共通のIntakeFormで受け付ける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72251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年次予算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年次予算は策定後、期中に見直さない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332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年次の予算策定のイベント（11月ごろ）で優先順位を付ける。年次以外の時期の予算の追加は、原則として認めない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27000" marR="127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16000" y="2136973"/>
            <a:ext cx="104648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ED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</a:t>
            </a:r>
            <a:endParaRPr lang="en-US" sz="16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1016000" y="2401094"/>
            <a:ext cx="10464800" cy="7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b="1" i="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起案者の実務</a:t>
            </a:r>
            <a:endParaRPr lang="en-US" sz="4600" dirty="0"/>
          </a:p>
        </p:txBody>
      </p:sp>
      <p:sp>
        <p:nvSpPr>
          <p:cNvPr id="6" name="Shape 2"/>
          <p:cNvSpPr/>
          <p:nvPr/>
        </p:nvSpPr>
        <p:spPr>
          <a:xfrm>
            <a:off x="1016000" y="3102074"/>
            <a:ext cx="3556000" cy="19050"/>
          </a:xfrm>
          <a:prstGeom prst="rect">
            <a:avLst/>
          </a:prstGeom>
          <a:solidFill>
            <a:srgbClr val="C9CBCD"/>
          </a:solidFill>
          <a:ln/>
        </p:spPr>
      </p:sp>
      <p:sp>
        <p:nvSpPr>
          <p:cNvPr id="7" name="Text 3"/>
          <p:cNvSpPr/>
          <p:nvPr/>
        </p:nvSpPr>
        <p:spPr>
          <a:xfrm>
            <a:off x="1016000" y="3121124"/>
            <a:ext cx="104648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起案者として、何を、どのように行えばよいか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016000" y="3441105"/>
            <a:ext cx="10464800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・起案者のための5ステップ</a:t>
            </a:r>
            <a:endParaRPr lang="en-US" sz="14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・Intakeプロセスと定常プロセス</a:t>
            </a:r>
            <a:endParaRPr lang="en-US" sz="14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・提出に向けた準備</a:t>
            </a:r>
            <a:endParaRPr lang="en-US" sz="14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・審議結果に応じたネクスト・アクション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pic>
        <p:nvPicPr>
          <p:cNvPr id="4" name="Image 2" descr="5つのステップをつなぐ路線">    </p:cNvPr>
          <p:cNvPicPr>
            <a:picLocks noChangeAspect="1"/>
          </p:cNvPicPr>
          <p:nvPr/>
        </p:nvPicPr>
        <p:blipFill>
          <a:blip r:embed="rId3"/>
          <a:srcRect l="0" r="0" t="-135" b="-135"/>
          <a:stretch/>
        </p:blipFill>
        <p:spPr>
          <a:xfrm>
            <a:off x="635000" y="2413000"/>
            <a:ext cx="10922000" cy="508000"/>
          </a:xfrm>
          <a:prstGeom prst="rect">
            <a:avLst/>
          </a:prstGeom>
        </p:spPr>
      </p:pic>
      <p:sp>
        <p:nvSpPr>
          <p:cNvPr id="5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起案者のための5ステップ・路線図</a:t>
            </a:r>
            <a:endParaRPr lang="en-US" sz="2400" dirty="0"/>
          </a:p>
        </p:txBody>
      </p:sp>
      <p:pic>
        <p:nvPicPr>
          <p:cNvPr id="6" name="Image 3" descr="PaperPla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447800" y="1524000"/>
            <a:ext cx="406400" cy="406400"/>
          </a:xfrm>
          <a:prstGeom prst="rect">
            <a:avLst/>
          </a:prstGeom>
        </p:spPr>
      </p:pic>
      <p:pic>
        <p:nvPicPr>
          <p:cNvPr id="7" name="Image 4" descr="Sear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670300" y="1524000"/>
            <a:ext cx="406400" cy="406400"/>
          </a:xfrm>
          <a:prstGeom prst="rect">
            <a:avLst/>
          </a:prstGeom>
        </p:spPr>
      </p:pic>
      <p:pic>
        <p:nvPicPr>
          <p:cNvPr id="8" name="Image 5" descr="Char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892800" y="1524000"/>
            <a:ext cx="406400" cy="406400"/>
          </a:xfrm>
          <a:prstGeom prst="rect">
            <a:avLst/>
          </a:prstGeom>
        </p:spPr>
      </p:pic>
      <p:pic>
        <p:nvPicPr>
          <p:cNvPr id="9" name="Image 6" descr="Boo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15300" y="1524000"/>
            <a:ext cx="406400" cy="406400"/>
          </a:xfrm>
          <a:prstGeom prst="rect">
            <a:avLst/>
          </a:prstGeom>
        </p:spPr>
      </p:pic>
      <p:pic>
        <p:nvPicPr>
          <p:cNvPr id="10" name="Image 7" descr="Cha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337800" y="1524000"/>
            <a:ext cx="406400" cy="406400"/>
          </a:xfrm>
          <a:prstGeom prst="rect">
            <a:avLst/>
          </a:prstGeom>
        </p:spPr>
      </p:pic>
      <p:sp>
        <p:nvSpPr>
          <p:cNvPr id="11" name="Shape 1"/>
          <p:cNvSpPr/>
          <p:nvPr/>
        </p:nvSpPr>
        <p:spPr>
          <a:xfrm>
            <a:off x="635000" y="3175000"/>
            <a:ext cx="2032000" cy="2794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2" name="Text 2"/>
          <p:cNvSpPr/>
          <p:nvPr/>
        </p:nvSpPr>
        <p:spPr>
          <a:xfrm>
            <a:off x="787400" y="3378200"/>
            <a:ext cx="17272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D61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13" name="Text 3"/>
          <p:cNvSpPr/>
          <p:nvPr/>
        </p:nvSpPr>
        <p:spPr>
          <a:xfrm>
            <a:off x="787400" y="3639741"/>
            <a:ext cx="17272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IntakeFormの提出</a:t>
            </a:r>
            <a:endParaRPr lang="en-US" sz="1400" dirty="0"/>
          </a:p>
        </p:txBody>
      </p:sp>
      <p:sp>
        <p:nvSpPr>
          <p:cNvPr id="14" name="Text 4"/>
          <p:cNvSpPr/>
          <p:nvPr/>
        </p:nvSpPr>
        <p:spPr>
          <a:xfrm>
            <a:off x="787400" y="3943251"/>
            <a:ext cx="17272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（Actor：起案者）</a:t>
            </a:r>
            <a:endParaRPr lang="en-US" sz="1100" dirty="0"/>
          </a:p>
        </p:txBody>
      </p:sp>
      <p:sp>
        <p:nvSpPr>
          <p:cNvPr id="15" name="Text 5"/>
          <p:cNvSpPr/>
          <p:nvPr/>
        </p:nvSpPr>
        <p:spPr>
          <a:xfrm>
            <a:off x="812800" y="4202311"/>
            <a:ext cx="172720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年次の受付期間、または随時に提出する。</a:t>
            </a:r>
            <a:endParaRPr lang="en-US" sz="1200" dirty="0"/>
          </a:p>
        </p:txBody>
      </p:sp>
      <p:sp>
        <p:nvSpPr>
          <p:cNvPr id="16" name="Shape 6"/>
          <p:cNvSpPr/>
          <p:nvPr/>
        </p:nvSpPr>
        <p:spPr>
          <a:xfrm>
            <a:off x="2857500" y="3175000"/>
            <a:ext cx="2032000" cy="2794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7" name="Text 7"/>
          <p:cNvSpPr/>
          <p:nvPr/>
        </p:nvSpPr>
        <p:spPr>
          <a:xfrm>
            <a:off x="3009900" y="3378200"/>
            <a:ext cx="17272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D61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8" name="Text 8"/>
          <p:cNvSpPr/>
          <p:nvPr/>
        </p:nvSpPr>
        <p:spPr>
          <a:xfrm>
            <a:off x="3009900" y="3639741"/>
            <a:ext cx="17272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受付と振り分け</a:t>
            </a:r>
            <a:endParaRPr lang="en-US" sz="1400" dirty="0"/>
          </a:p>
        </p:txBody>
      </p:sp>
      <p:sp>
        <p:nvSpPr>
          <p:cNvPr id="19" name="Text 9"/>
          <p:cNvSpPr/>
          <p:nvPr/>
        </p:nvSpPr>
        <p:spPr>
          <a:xfrm>
            <a:off x="3009900" y="3943251"/>
            <a:ext cx="17272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（Actor：事務局）</a:t>
            </a:r>
            <a:endParaRPr lang="en-US" sz="1100" dirty="0"/>
          </a:p>
        </p:txBody>
      </p:sp>
      <p:sp>
        <p:nvSpPr>
          <p:cNvPr id="20" name="Text 10"/>
          <p:cNvSpPr/>
          <p:nvPr/>
        </p:nvSpPr>
        <p:spPr>
          <a:xfrm>
            <a:off x="3035300" y="4202311"/>
            <a:ext cx="1727200" cy="969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事務局が内容を確認し、金額で付議先（Tier1／Tier2）を判定する。不備があれば差し戻す。</a:t>
            </a:r>
            <a:endParaRPr lang="en-US" sz="1200" dirty="0"/>
          </a:p>
        </p:txBody>
      </p:sp>
      <p:sp>
        <p:nvSpPr>
          <p:cNvPr id="21" name="Shape 11"/>
          <p:cNvSpPr/>
          <p:nvPr/>
        </p:nvSpPr>
        <p:spPr>
          <a:xfrm>
            <a:off x="5080000" y="3175000"/>
            <a:ext cx="2032000" cy="2794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22" name="Text 12"/>
          <p:cNvSpPr/>
          <p:nvPr/>
        </p:nvSpPr>
        <p:spPr>
          <a:xfrm>
            <a:off x="5232400" y="3378200"/>
            <a:ext cx="17272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D61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5232400" y="3639741"/>
            <a:ext cx="17272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優先順位の審議</a:t>
            </a:r>
            <a:endParaRPr lang="en-US" sz="1400" dirty="0"/>
          </a:p>
        </p:txBody>
      </p:sp>
      <p:sp>
        <p:nvSpPr>
          <p:cNvPr id="24" name="Text 14"/>
          <p:cNvSpPr/>
          <p:nvPr/>
        </p:nvSpPr>
        <p:spPr>
          <a:xfrm>
            <a:off x="5232400" y="3943251"/>
            <a:ext cx="17272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（Actor：Tier1／Tier2）</a:t>
            </a:r>
            <a:endParaRPr lang="en-US" sz="1100" dirty="0"/>
          </a:p>
        </p:txBody>
      </p:sp>
      <p:sp>
        <p:nvSpPr>
          <p:cNvPr id="25" name="Text 15"/>
          <p:cNvSpPr/>
          <p:nvPr/>
        </p:nvSpPr>
        <p:spPr>
          <a:xfrm>
            <a:off x="5257800" y="4202311"/>
            <a:ext cx="1727200" cy="73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限られた予算枠の中で、優先順位（随時は優先度）を決定する。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7302500" y="3175000"/>
            <a:ext cx="2032000" cy="2794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27" name="Text 17"/>
          <p:cNvSpPr/>
          <p:nvPr/>
        </p:nvSpPr>
        <p:spPr>
          <a:xfrm>
            <a:off x="7454900" y="3378200"/>
            <a:ext cx="17272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D61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7454900" y="3639741"/>
            <a:ext cx="17272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実行計画の審議</a:t>
            </a:r>
            <a:endParaRPr lang="en-US" sz="1400" dirty="0"/>
          </a:p>
        </p:txBody>
      </p:sp>
      <p:sp>
        <p:nvSpPr>
          <p:cNvPr id="29" name="Text 19"/>
          <p:cNvSpPr/>
          <p:nvPr/>
        </p:nvSpPr>
        <p:spPr>
          <a:xfrm>
            <a:off x="7312660" y="3943251"/>
            <a:ext cx="20116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（Actor：起案者／Tier2）</a:t>
            </a:r>
            <a:endParaRPr lang="en-US" sz="1100" dirty="0"/>
          </a:p>
        </p:txBody>
      </p:sp>
      <p:sp>
        <p:nvSpPr>
          <p:cNvPr id="30" name="Text 20"/>
          <p:cNvSpPr/>
          <p:nvPr/>
        </p:nvSpPr>
        <p:spPr>
          <a:xfrm>
            <a:off x="7480300" y="4202311"/>
            <a:ext cx="1727200" cy="1206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PPMボードの要請を受け、起案者が実行計画を提出する。Tier2が承認・否認（または振り分け）を決定する。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9525000" y="3175000"/>
            <a:ext cx="2032000" cy="2794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32" name="Text 22"/>
          <p:cNvSpPr/>
          <p:nvPr/>
        </p:nvSpPr>
        <p:spPr>
          <a:xfrm>
            <a:off x="9677400" y="3378200"/>
            <a:ext cx="17272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D61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9677400" y="3639741"/>
            <a:ext cx="17272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結果の通知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9677400" y="3943251"/>
            <a:ext cx="17272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（Actor：事務局）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9702800" y="4202311"/>
            <a:ext cx="1727200" cy="73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各段階の結果を事務局が起案者に通知し、次に行うことを案内する。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pic>
        <p:nvPicPr>
          <p:cNvPr id="4" name="Image 2" descr="Intakeプロセス（BPMN）：随時の優先度の決定までの図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Intakeプロセス（BPMN）：随時の優先度の決定まで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667345" y="1464766"/>
            <a:ext cx="7087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起案者</a:t>
            </a:r>
            <a:endParaRPr lang="en-US" sz="1050" dirty="0"/>
          </a:p>
        </p:txBody>
      </p:sp>
      <p:sp>
        <p:nvSpPr>
          <p:cNvPr id="7" name="Text 2"/>
          <p:cNvSpPr/>
          <p:nvPr/>
        </p:nvSpPr>
        <p:spPr>
          <a:xfrm>
            <a:off x="667345" y="2334022"/>
            <a:ext cx="7087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事務局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667345" y="3203972"/>
            <a:ext cx="7087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Tier1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667345" y="4073922"/>
            <a:ext cx="7087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67345" y="4860528"/>
            <a:ext cx="7087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PPM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67345" y="5027216"/>
            <a:ext cx="7087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ボード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1595041" y="1730970"/>
            <a:ext cx="1365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Intakeを出す（随時）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3258145" y="1478855"/>
            <a:ext cx="113288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IntakeFormを提出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209230" y="2280245"/>
            <a:ext cx="123001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受付・案件ID登録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209230" y="2417366"/>
            <a:ext cx="123001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必須情報の確認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494510" y="2687935"/>
            <a:ext cx="1365845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不備あり？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5963841" y="2348805"/>
            <a:ext cx="113288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付議先を判定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450310" y="2687935"/>
            <a:ext cx="1365845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8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1億円を超える？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8428236" y="3157835"/>
            <a:ext cx="142309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優先度を決定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428236" y="3294955"/>
            <a:ext cx="1423095" cy="147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事務局が会議を運営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7075091" y="4027785"/>
            <a:ext cx="142309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優先度を決定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075091" y="4164905"/>
            <a:ext cx="1423095" cy="147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事務局が会議を運営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9975155" y="2280245"/>
            <a:ext cx="123001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優先度を記録し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9975155" y="2417366"/>
            <a:ext cx="123001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起案者へ通知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293350" y="1208980"/>
            <a:ext cx="1365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結果を受領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9975155" y="4890095"/>
            <a:ext cx="123001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優先度ありの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9975155" y="5027216"/>
            <a:ext cx="123001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案件を管理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245100" y="1586210"/>
            <a:ext cx="1172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あり：差し戻し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5486400" y="2243435"/>
            <a:ext cx="447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なし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922220" y="2765425"/>
            <a:ext cx="4958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以下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8115300" y="2243435"/>
            <a:ext cx="592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超える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9156700" y="4369395"/>
            <a:ext cx="1365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優先度ありのみ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654050" y="5529560"/>
            <a:ext cx="11209702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随時のIntakeは、年次の予算策定のイベントとは別に、常時受け付ける。Tier1は1億円を超える案件、Tier2は1億円以下の案件を審議する。年次のIT投資予算への追加は、原則として認められない。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301750" y="6109295"/>
            <a:ext cx="155892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開始／終了イベント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3099395" y="6109295"/>
            <a:ext cx="68897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タスク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133155" y="6109295"/>
            <a:ext cx="146238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排他ゲートウェイ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5941020" y="6109295"/>
            <a:ext cx="979091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順序フロー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7341791" y="6109295"/>
            <a:ext cx="146238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メッセージフロー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pic>
        <p:nvPicPr>
          <p:cNvPr id="4" name="Image 2" descr="定常プロセス（BPMN）：実行計画の審議の図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定常プロセス（BPMN）：実行計画の審議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667345" y="1271290"/>
            <a:ext cx="9500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事業部門</a:t>
            </a:r>
            <a:endParaRPr lang="en-US" sz="1050" dirty="0"/>
          </a:p>
        </p:txBody>
      </p:sp>
      <p:sp>
        <p:nvSpPr>
          <p:cNvPr id="7" name="Text 2"/>
          <p:cNvSpPr/>
          <p:nvPr/>
        </p:nvSpPr>
        <p:spPr>
          <a:xfrm>
            <a:off x="667345" y="1851124"/>
            <a:ext cx="9500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起案者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667345" y="2347516"/>
            <a:ext cx="9500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IT部門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667345" y="2514203"/>
            <a:ext cx="9500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担当者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67345" y="3010595"/>
            <a:ext cx="9500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事務局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67345" y="3590330"/>
            <a:ext cx="9500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67345" y="4170065"/>
            <a:ext cx="9500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Tier3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67345" y="4667151"/>
            <a:ext cx="9500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承認会議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67345" y="4833838"/>
            <a:ext cx="9500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（ローカル）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67345" y="5246886"/>
            <a:ext cx="9500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PPM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67345" y="5413573"/>
            <a:ext cx="95002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ボード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208385" y="5074841"/>
            <a:ext cx="1365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優先順位・優先度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2388195" y="5276155"/>
            <a:ext cx="113288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事業部門へ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2388195" y="5413276"/>
            <a:ext cx="113288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通知を送る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367135" y="1276945"/>
            <a:ext cx="1365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通知を受領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3644205" y="1217216"/>
            <a:ext cx="132655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起案者へ実行計画の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644205" y="1354336"/>
            <a:ext cx="132655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作成・提出を依頼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624560" y="2117725"/>
            <a:ext cx="1365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依頼を受領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5142805" y="1797050"/>
            <a:ext cx="142309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実行計画を共同で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142805" y="1934170"/>
            <a:ext cx="142309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作成し、提出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741341" y="2376785"/>
            <a:ext cx="132655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実行計画を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3741341" y="2513905"/>
            <a:ext cx="132655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共同で作成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108601" y="2957116"/>
            <a:ext cx="123001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実行計画を受付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108601" y="3094236"/>
            <a:ext cx="123001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必須情報の確認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8270180" y="3016250"/>
            <a:ext cx="88265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不備あり？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7172226" y="3476030"/>
            <a:ext cx="123001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実行計画を審議し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172226" y="3613150"/>
            <a:ext cx="123001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決裁を振り分ける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7172226" y="3750270"/>
            <a:ext cx="1230015" cy="147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事務局が運営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7896820" y="4055765"/>
            <a:ext cx="142309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アーキテクチャ審査し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7896820" y="4192885"/>
            <a:ext cx="142309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推奨案をまとめる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7896820" y="4330005"/>
            <a:ext cx="1423095" cy="147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事務局が招集を依頼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9733161" y="3536652"/>
            <a:ext cx="93980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承認・否認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9733161" y="3673773"/>
            <a:ext cx="93980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を決定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9491266" y="4696420"/>
            <a:ext cx="142309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承認会議で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9491266" y="4833541"/>
            <a:ext cx="142309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承認・否認を決定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9878020" y="2957116"/>
            <a:ext cx="132655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審議結果を記録し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9878020" y="3094236"/>
            <a:ext cx="132655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起案者・PPMへ通知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9326860" y="1595735"/>
            <a:ext cx="1365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結果を受領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9484916" y="5335885"/>
            <a:ext cx="1365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審議結果を受領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5438080" y="2339975"/>
            <a:ext cx="592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共同作成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6308030" y="2581870"/>
            <a:ext cx="4958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提出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8047335" y="1972866"/>
            <a:ext cx="10756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あり：差し戻し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8047335" y="3209925"/>
            <a:ext cx="399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なし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9400480" y="3992860"/>
            <a:ext cx="882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Tier3を要請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9352260" y="3499445"/>
            <a:ext cx="4958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自ら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9400480" y="4292600"/>
            <a:ext cx="592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推奨案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9352260" y="3239095"/>
            <a:ext cx="688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委ねる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654050" y="5742285"/>
            <a:ext cx="11209702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※IT部門が起案する案件も同様（「事業部門」のレーンを、起案者の所属部門であるIT部門に読み替える）。振り分けの判断基準と否認時の再提出の扱いは未定。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1301750" y="6109295"/>
            <a:ext cx="155892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開始／終了イベント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3099395" y="6109295"/>
            <a:ext cx="68897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タスク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4133155" y="6109295"/>
            <a:ext cx="146238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排他ゲートウェイ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5941020" y="6109295"/>
            <a:ext cx="979091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順序フロー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7341791" y="6109295"/>
            <a:ext cx="146238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メッセージフロー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60" name="Text 55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sp>
        <p:nvSpPr>
          <p:cNvPr id="4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提出に向けた準備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35000" y="802580"/>
            <a:ext cx="5270500" cy="5293420"/>
          </a:xfrm>
          <a:prstGeom prst="roundRect">
            <a:avLst>
              <a:gd name="adj" fmla="val 1928"/>
            </a:avLst>
          </a:prstGeom>
          <a:solidFill>
            <a:srgbClr val="F2F2F2"/>
          </a:solidFill>
          <a:ln/>
        </p:spPr>
      </p:sp>
      <p:sp>
        <p:nvSpPr>
          <p:cNvPr id="6" name="Text 2"/>
          <p:cNvSpPr/>
          <p:nvPr/>
        </p:nvSpPr>
        <p:spPr>
          <a:xfrm>
            <a:off x="889000" y="1005780"/>
            <a:ext cx="4762500" cy="419100"/>
          </a:xfrm>
          <a:prstGeom prst="roundRect">
            <a:avLst>
              <a:gd name="adj" fmla="val 15152"/>
            </a:avLst>
          </a:prstGeom>
          <a:solidFill>
            <a:srgbClr val="5D6164"/>
          </a:solidFill>
          <a:ln/>
        </p:spPr>
        <p:txBody>
          <a:bodyPr wrap="square" lIns="14612" tIns="57601" rIns="14612" bIns="3220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IntakeFormの準備（優先順位の審議用）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89000" y="1653480"/>
            <a:ext cx="2159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55700" y="1653480"/>
            <a:ext cx="463067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提出時期：</a:t>
            </a: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随時（年次の予算策定とは別に、いつでも提出できる）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89000" y="2410321"/>
            <a:ext cx="2159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55700" y="2410321"/>
            <a:ext cx="463067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重要ポイント：</a:t>
            </a: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1億円を超えるかどうかで審議先が変わるため、金額は算定方法に沿って内訳つきで正確に記入すること。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92175" y="4796334"/>
            <a:ext cx="4756150" cy="1042491"/>
          </a:xfrm>
          <a:prstGeom prst="roundRect">
            <a:avLst>
              <a:gd name="adj" fmla="val 5787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 wrap="square" lIns="163306" tIns="137906" rIns="31480" bIns="112506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様式の所在：</a:t>
            </a: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未定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提出先：</a:t>
            </a: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未定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必須記入項目：</a:t>
            </a: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未定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86500" y="802580"/>
            <a:ext cx="5270500" cy="5293420"/>
          </a:xfrm>
          <a:prstGeom prst="roundRect">
            <a:avLst>
              <a:gd name="adj" fmla="val 1928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/>
          <p:nvPr/>
        </p:nvSpPr>
        <p:spPr>
          <a:xfrm>
            <a:off x="6540500" y="1005780"/>
            <a:ext cx="4762500" cy="419100"/>
          </a:xfrm>
          <a:prstGeom prst="roundRect">
            <a:avLst>
              <a:gd name="adj" fmla="val 15152"/>
            </a:avLst>
          </a:prstGeom>
          <a:solidFill>
            <a:srgbClr val="5D6164"/>
          </a:solidFill>
          <a:ln/>
        </p:spPr>
        <p:txBody>
          <a:bodyPr wrap="square" lIns="14612" tIns="57601" rIns="14612" bIns="3220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実行計画の準備（実行の審議用）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40500" y="1653480"/>
            <a:ext cx="2159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807200" y="1653480"/>
            <a:ext cx="463067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提出時期：</a:t>
            </a: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優先順位の確定後、PPMボードから提出の要請を受けたとき（要請前の自主的な提出も可）。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40500" y="2410321"/>
            <a:ext cx="2159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07200" y="2410321"/>
            <a:ext cx="463067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重要ポイント：</a:t>
            </a: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承認された実行計画に沿って案件が進むため、アーキテクチャや投資対効果の極めて詳細な根拠が求められる。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43675" y="4796334"/>
            <a:ext cx="4756150" cy="1042491"/>
          </a:xfrm>
          <a:prstGeom prst="roundRect">
            <a:avLst>
              <a:gd name="adj" fmla="val 5787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 wrap="square" lIns="163306" tIns="137906" rIns="31480" bIns="112506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必須の情報：</a:t>
            </a: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未定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提出形式：</a:t>
            </a: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未定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pic>
        <p:nvPicPr>
          <p:cNvPr id="4" name="Image 2" descr="審議結果から結果ごとの次の行動への分岐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審議結果に応じたネクスト・アクション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635000" y="2698750"/>
            <a:ext cx="1460500" cy="635000"/>
          </a:xfrm>
          <a:custGeom>
            <a:avLst/>
            <a:gdLst/>
            <a:ahLst/>
            <a:cxnLst/>
            <a:rect l="l" t="t" r="r" b="b"/>
            <a:pathLst>
              <a:path w="1460500" h="635000">
                <a:moveTo>
                  <a:pt x="63500" y="0"/>
                </a:moveTo>
                <a:lnTo>
                  <a:pt x="1397000" y="0"/>
                </a:lnTo>
                <a:arcTo hR="63500" wR="63500" stAng="16200000" swAng="5400000"/>
                <a:lnTo>
                  <a:pt x="1460500" y="571500"/>
                </a:lnTo>
                <a:arcTo hR="63500" wR="63500" stAng="0" swAng="5400000"/>
                <a:lnTo>
                  <a:pt x="63500" y="635000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close/>
              </a:path>
            </a:pathLst>
          </a:custGeom>
          <a:solidFill>
            <a:srgbClr val="5D616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審議結果</a:t>
            </a:r>
            <a:endParaRPr lang="en-US" sz="1500" dirty="0"/>
          </a:p>
        </p:txBody>
      </p:sp>
      <p:sp>
        <p:nvSpPr>
          <p:cNvPr id="7" name="Shape 2"/>
          <p:cNvSpPr/>
          <p:nvPr/>
        </p:nvSpPr>
        <p:spPr>
          <a:xfrm>
            <a:off x="2794000" y="1460500"/>
            <a:ext cx="1778000" cy="7620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8" name="Text 3"/>
          <p:cNvSpPr/>
          <p:nvPr/>
        </p:nvSpPr>
        <p:spPr>
          <a:xfrm>
            <a:off x="2870200" y="1631057"/>
            <a:ext cx="16256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D61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1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2870200" y="1829098"/>
            <a:ext cx="16256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優先順位の審議結果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2794000" y="3810000"/>
            <a:ext cx="1778000" cy="7620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11" name="Text 6"/>
          <p:cNvSpPr/>
          <p:nvPr/>
        </p:nvSpPr>
        <p:spPr>
          <a:xfrm>
            <a:off x="2870200" y="3980557"/>
            <a:ext cx="16256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D61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2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870200" y="4178598"/>
            <a:ext cx="16256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実行計画の審議結果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61000" y="1079500"/>
            <a:ext cx="6096000" cy="69850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</p:sp>
      <p:sp>
        <p:nvSpPr>
          <p:cNvPr id="14" name="Text 9"/>
          <p:cNvSpPr/>
          <p:nvPr/>
        </p:nvSpPr>
        <p:spPr>
          <a:xfrm>
            <a:off x="5638800" y="1202730"/>
            <a:ext cx="591261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優先順位の決定・優先度あり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638800" y="1433810"/>
            <a:ext cx="5912612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PPMボードからの要請を待つか、自ら実行計画を準備して提出する。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61000" y="1905000"/>
            <a:ext cx="6096000" cy="69850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</p:sp>
      <p:sp>
        <p:nvSpPr>
          <p:cNvPr id="17" name="Text 12"/>
          <p:cNvSpPr/>
          <p:nvPr/>
        </p:nvSpPr>
        <p:spPr>
          <a:xfrm>
            <a:off x="5638800" y="2028230"/>
            <a:ext cx="591261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優先度なし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638800" y="2259310"/>
            <a:ext cx="5912612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未定（優先度が認められなかった案件の扱い）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61000" y="3429000"/>
            <a:ext cx="6096000" cy="69850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</p:sp>
      <p:sp>
        <p:nvSpPr>
          <p:cNvPr id="20" name="Text 15"/>
          <p:cNvSpPr/>
          <p:nvPr/>
        </p:nvSpPr>
        <p:spPr>
          <a:xfrm>
            <a:off x="5638800" y="3552230"/>
            <a:ext cx="591261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承認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638800" y="3783310"/>
            <a:ext cx="5912612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承認された実行計画に沿って、直ちにIT投資案件の実行プロセスへ移行する。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61000" y="4254500"/>
            <a:ext cx="6096000" cy="69850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</p:sp>
      <p:sp>
        <p:nvSpPr>
          <p:cNvPr id="23" name="Text 18"/>
          <p:cNvSpPr/>
          <p:nvPr/>
        </p:nvSpPr>
        <p:spPr>
          <a:xfrm>
            <a:off x="5638800" y="4377730"/>
            <a:ext cx="591261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否認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638800" y="4608810"/>
            <a:ext cx="5912612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未定（否認された実行計画の再提出の扱い）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35000" y="5270500"/>
            <a:ext cx="10922000" cy="825500"/>
          </a:xfrm>
          <a:prstGeom prst="roundRect">
            <a:avLst>
              <a:gd name="adj" fmla="val 12308"/>
            </a:avLst>
          </a:prstGeom>
          <a:solidFill>
            <a:srgbClr val="FEE8DB"/>
          </a:solidFill>
          <a:ln/>
        </p:spPr>
      </p:sp>
      <p:sp>
        <p:nvSpPr>
          <p:cNvPr id="26" name="Text 21"/>
          <p:cNvSpPr/>
          <p:nvPr/>
        </p:nvSpPr>
        <p:spPr>
          <a:xfrm>
            <a:off x="838200" y="5496520"/>
            <a:ext cx="381000" cy="373360"/>
          </a:xfrm>
          <a:custGeom>
            <a:avLst/>
            <a:gdLst/>
            <a:ahLst/>
            <a:cxnLst/>
            <a:rect l="l" t="t" r="r" b="b"/>
            <a:pathLst>
              <a:path w="381000" h="373360">
                <a:moveTo>
                  <a:pt x="186680" y="0"/>
                </a:moveTo>
                <a:lnTo>
                  <a:pt x="194320" y="0"/>
                </a:lnTo>
                <a:arcTo hR="186680" wR="186680" stAng="16200000" swAng="5400000"/>
                <a:lnTo>
                  <a:pt x="381000" y="186680"/>
                </a:lnTo>
                <a:arcTo hR="186680" wR="186680" stAng="0" swAng="5400000"/>
                <a:lnTo>
                  <a:pt x="186680" y="373360"/>
                </a:lnTo>
                <a:arcTo hR="186680" wR="186680" stAng="5400000" swAng="5400000"/>
                <a:lnTo>
                  <a:pt x="0" y="186680"/>
                </a:lnTo>
                <a:arcTo hR="186680" wR="186680" stAng="10800000" swAng="5400000"/>
                <a:close/>
              </a:path>
            </a:pathLst>
          </a:custGeom>
          <a:solidFill>
            <a:srgbClr val="ED5604"/>
          </a:solidFill>
          <a:ln/>
        </p:spPr>
        <p:txBody>
          <a:bodyPr wrap="square" lIns="0" tIns="38100" rIns="0" bIns="12700" rtlCol="0" anchor="t">
            <a:normAutofit/>
          </a:bodyPr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1397000" y="5334099"/>
            <a:ext cx="1025550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よくある間違い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397000" y="5590580"/>
            <a:ext cx="10255504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・優先順位が付いていない状態で、いきなり実行計画を出さないこと（必ずIntakeFormから開始）。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・年次以外の時期に「予算の追加」を前提とした無計画な起案を行わないこと。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16000" y="2136973"/>
            <a:ext cx="104648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ED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</a:t>
            </a:r>
            <a:endParaRPr lang="en-US" sz="16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1016000" y="2401094"/>
            <a:ext cx="10464800" cy="7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b="1" i="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事務局の整備</a:t>
            </a:r>
            <a:endParaRPr lang="en-US" sz="4600" dirty="0"/>
          </a:p>
        </p:txBody>
      </p:sp>
      <p:sp>
        <p:nvSpPr>
          <p:cNvPr id="6" name="Shape 2"/>
          <p:cNvSpPr/>
          <p:nvPr/>
        </p:nvSpPr>
        <p:spPr>
          <a:xfrm>
            <a:off x="1016000" y="3102074"/>
            <a:ext cx="3556000" cy="19050"/>
          </a:xfrm>
          <a:prstGeom prst="rect">
            <a:avLst/>
          </a:prstGeom>
          <a:solidFill>
            <a:srgbClr val="C9CBCD"/>
          </a:solidFill>
          <a:ln/>
        </p:spPr>
      </p:sp>
      <p:sp>
        <p:nvSpPr>
          <p:cNvPr id="7" name="Text 3"/>
          <p:cNvSpPr/>
          <p:nvPr/>
        </p:nvSpPr>
        <p:spPr>
          <a:xfrm>
            <a:off x="1016000" y="3121124"/>
            <a:ext cx="104648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IT投資委員会事務局が、何を、どのように整備しているか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016000" y="3441105"/>
            <a:ext cx="10464800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・事務局の責務</a:t>
            </a:r>
            <a:endParaRPr lang="en-US" sz="14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・関連ドキュメントの構造と目的</a:t>
            </a:r>
            <a:endParaRPr lang="en-US" sz="14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・新体制への移行スケジュールとサポート窓口</a:t>
            </a:r>
            <a:endParaRPr lang="en-US" sz="14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・初年度の年間スケジュール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sp>
        <p:nvSpPr>
          <p:cNvPr id="4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IT投資委員会事務局：プロセスを回す「ハブ」としての責務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35000" y="802580"/>
            <a:ext cx="5270500" cy="5293420"/>
          </a:xfrm>
          <a:prstGeom prst="roundRect">
            <a:avLst>
              <a:gd name="adj" fmla="val 1928"/>
            </a:avLst>
          </a:prstGeom>
          <a:solidFill>
            <a:srgbClr val="F2F2F2"/>
          </a:solidFill>
          <a:ln/>
        </p:spPr>
      </p:sp>
      <p:sp>
        <p:nvSpPr>
          <p:cNvPr id="6" name="Text 2"/>
          <p:cNvSpPr/>
          <p:nvPr/>
        </p:nvSpPr>
        <p:spPr>
          <a:xfrm>
            <a:off x="889000" y="1005780"/>
            <a:ext cx="4762500" cy="419100"/>
          </a:xfrm>
          <a:prstGeom prst="roundRect">
            <a:avLst>
              <a:gd name="adj" fmla="val 15152"/>
            </a:avLst>
          </a:prstGeom>
          <a:solidFill>
            <a:srgbClr val="5D6164"/>
          </a:solidFill>
          <a:ln/>
        </p:spPr>
        <p:txBody>
          <a:bodyPr wrap="square" lIns="14612" tIns="57601" rIns="14612" bIns="3220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すること（What We Do）</a:t>
            </a:r>
            <a:endParaRPr lang="en-US" sz="1500" dirty="0"/>
          </a:p>
        </p:txBody>
      </p:sp>
      <p:pic>
        <p:nvPicPr>
          <p:cNvPr id="7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9000" y="2000945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1900" y="2000945"/>
            <a:ext cx="455218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受付と一次チェック：</a:t>
            </a: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IntakeFormや実行計画を受け付け、要件不足・不備があれば差し戻す。</a:t>
            </a:r>
            <a:endParaRPr lang="en-US" sz="1300" dirty="0"/>
          </a:p>
        </p:txBody>
      </p:sp>
      <p:pic>
        <p:nvPicPr>
          <p:cNvPr id="9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9000" y="3105249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31900" y="3105249"/>
            <a:ext cx="455218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会議の円滑な運営：</a:t>
            </a: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Tier1・Tier2の議題整理、資料準備、議事録作成を担う。</a:t>
            </a:r>
            <a:endParaRPr lang="en-US" sz="1300" dirty="0"/>
          </a:p>
        </p:txBody>
      </p:sp>
      <p:pic>
        <p:nvPicPr>
          <p:cNvPr id="11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9000" y="4209455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31900" y="4209455"/>
            <a:ext cx="455218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連携のブリッジ：</a:t>
            </a: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Tier2の振り分けに基づき、Tier3への招集依頼や承認会議（ローカル）への委任伝達を行う。</a:t>
            </a:r>
            <a:endParaRPr lang="en-US" sz="1300" dirty="0"/>
          </a:p>
        </p:txBody>
      </p:sp>
      <p:pic>
        <p:nvPicPr>
          <p:cNvPr id="13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9000" y="5313759"/>
            <a:ext cx="22860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31900" y="5313759"/>
            <a:ext cx="455218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記録と通知：</a:t>
            </a: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すべての決定を案件台帳・決定記録に登録し、起案者とPPMボードへ速やかに通知する。</a:t>
            </a:r>
            <a:endParaRPr lang="en-US" sz="1300" dirty="0"/>
          </a:p>
        </p:txBody>
      </p:sp>
      <p:sp>
        <p:nvSpPr>
          <p:cNvPr id="15" name="Shape 7"/>
          <p:cNvSpPr/>
          <p:nvPr/>
        </p:nvSpPr>
        <p:spPr>
          <a:xfrm>
            <a:off x="6286500" y="802580"/>
            <a:ext cx="5270500" cy="5293420"/>
          </a:xfrm>
          <a:prstGeom prst="roundRect">
            <a:avLst>
              <a:gd name="adj" fmla="val 1928"/>
            </a:avLst>
          </a:prstGeom>
          <a:solidFill>
            <a:srgbClr val="F2F2F2"/>
          </a:solidFill>
          <a:ln/>
        </p:spPr>
      </p:sp>
      <p:sp>
        <p:nvSpPr>
          <p:cNvPr id="16" name="Text 8"/>
          <p:cNvSpPr/>
          <p:nvPr/>
        </p:nvSpPr>
        <p:spPr>
          <a:xfrm>
            <a:off x="6540500" y="1005780"/>
            <a:ext cx="4762500" cy="419100"/>
          </a:xfrm>
          <a:prstGeom prst="roundRect">
            <a:avLst>
              <a:gd name="adj" fmla="val 15152"/>
            </a:avLst>
          </a:prstGeom>
          <a:solidFill>
            <a:srgbClr val="5D6164"/>
          </a:solidFill>
          <a:ln/>
        </p:spPr>
        <p:txBody>
          <a:bodyPr wrap="square" lIns="14612" tIns="57601" rIns="14612" bIns="3220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しないこと（What We Don’t Do）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6515100" y="2000945"/>
            <a:ext cx="2794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−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6883400" y="2000945"/>
            <a:ext cx="455218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案件の優先順位・優先度、実行計画の「可否」を決定すること。</a:t>
            </a: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（決定権は会議体にのみ存在）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6515100" y="3105249"/>
            <a:ext cx="2794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−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6883400" y="3105249"/>
            <a:ext cx="455218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Tier3会議そのものを運営すること。</a:t>
            </a: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（Tier3の主催者が独自に運営）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515100" y="4209455"/>
            <a:ext cx="2794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−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6883400" y="4209455"/>
            <a:ext cx="455218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IT投資予算の総額を決定すること。</a:t>
            </a: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（ファイナンス部門の役割）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515100" y="5313759"/>
            <a:ext cx="2794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−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6883400" y="5313759"/>
            <a:ext cx="455218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優先順位が付いた後の案件をトラッキング・管理すること。</a:t>
            </a: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（PPMボードの役割）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pic>
        <p:nvPicPr>
          <p:cNvPr id="4" name="Image 2" descr="規範・プロセス・記録の3層の枠と文書のアイコン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関連ドキュメントの構造と目的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2921000" y="1079500"/>
            <a:ext cx="6350000" cy="325041"/>
          </a:xfrm>
          <a:custGeom>
            <a:avLst/>
            <a:gdLst/>
            <a:ahLst/>
            <a:cxnLst/>
            <a:rect l="l" t="t" r="r" b="b"/>
            <a:pathLst>
              <a:path w="6350000" h="325041">
                <a:moveTo>
                  <a:pt x="162520" y="0"/>
                </a:moveTo>
                <a:lnTo>
                  <a:pt x="6187480" y="0"/>
                </a:lnTo>
                <a:arcTo hR="162520" wR="162520" stAng="16200000" swAng="5400000"/>
                <a:lnTo>
                  <a:pt x="6350000" y="162520"/>
                </a:lnTo>
                <a:arcTo hR="162520" wR="162520" stAng="0" swAng="5400000"/>
                <a:lnTo>
                  <a:pt x="162520" y="325041"/>
                </a:lnTo>
                <a:arcTo hR="162520" wR="162520" stAng="5400000" swAng="5400000"/>
                <a:lnTo>
                  <a:pt x="0" y="162520"/>
                </a:lnTo>
                <a:arcTo hR="162520" wR="162520" stAng="10800000" swAng="5400000"/>
                <a:close/>
              </a:path>
            </a:pathLst>
          </a:custGeom>
          <a:solidFill>
            <a:srgbClr val="5D6164"/>
          </a:solidFill>
          <a:ln/>
        </p:spPr>
        <p:txBody>
          <a:bodyPr wrap="square" lIns="9398" tIns="38100" rIns="9398" bIns="1270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規範（何を定めるか）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2921000" y="2705100"/>
            <a:ext cx="6350000" cy="325041"/>
          </a:xfrm>
          <a:custGeom>
            <a:avLst/>
            <a:gdLst/>
            <a:ahLst/>
            <a:cxnLst/>
            <a:rect l="l" t="t" r="r" b="b"/>
            <a:pathLst>
              <a:path w="6350000" h="325041">
                <a:moveTo>
                  <a:pt x="162520" y="0"/>
                </a:moveTo>
                <a:lnTo>
                  <a:pt x="6187480" y="0"/>
                </a:lnTo>
                <a:arcTo hR="162520" wR="162520" stAng="16200000" swAng="5400000"/>
                <a:lnTo>
                  <a:pt x="6350000" y="162520"/>
                </a:lnTo>
                <a:arcTo hR="162520" wR="162520" stAng="0" swAng="5400000"/>
                <a:lnTo>
                  <a:pt x="162520" y="325041"/>
                </a:lnTo>
                <a:arcTo hR="162520" wR="162520" stAng="5400000" swAng="5400000"/>
                <a:lnTo>
                  <a:pt x="0" y="162520"/>
                </a:lnTo>
                <a:arcTo hR="162520" wR="162520" stAng="10800000" swAng="5400000"/>
                <a:close/>
              </a:path>
            </a:pathLst>
          </a:custGeom>
          <a:solidFill>
            <a:srgbClr val="5D6164"/>
          </a:solidFill>
          <a:ln/>
        </p:spPr>
        <p:txBody>
          <a:bodyPr wrap="square" lIns="9398" tIns="38100" rIns="9398" bIns="1270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プロセス（どう運用するか）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2921000" y="4330700"/>
            <a:ext cx="6350000" cy="325041"/>
          </a:xfrm>
          <a:custGeom>
            <a:avLst/>
            <a:gdLst/>
            <a:ahLst/>
            <a:cxnLst/>
            <a:rect l="l" t="t" r="r" b="b"/>
            <a:pathLst>
              <a:path w="6350000" h="325041">
                <a:moveTo>
                  <a:pt x="162520" y="0"/>
                </a:moveTo>
                <a:lnTo>
                  <a:pt x="6187480" y="0"/>
                </a:lnTo>
                <a:arcTo hR="162520" wR="162520" stAng="16200000" swAng="5400000"/>
                <a:lnTo>
                  <a:pt x="6350000" y="162520"/>
                </a:lnTo>
                <a:arcTo hR="162520" wR="162520" stAng="0" swAng="5400000"/>
                <a:lnTo>
                  <a:pt x="162520" y="325041"/>
                </a:lnTo>
                <a:arcTo hR="162520" wR="162520" stAng="5400000" swAng="5400000"/>
                <a:lnTo>
                  <a:pt x="0" y="162520"/>
                </a:lnTo>
                <a:arcTo hR="162520" wR="162520" stAng="10800000" swAng="5400000"/>
                <a:close/>
              </a:path>
            </a:pathLst>
          </a:custGeom>
          <a:solidFill>
            <a:srgbClr val="5D6164"/>
          </a:solidFill>
          <a:ln/>
        </p:spPr>
        <p:txBody>
          <a:bodyPr wrap="square" lIns="9398" tIns="38100" rIns="9398" bIns="1270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記録（何を残すか）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397000" y="1638300"/>
            <a:ext cx="215836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憲章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397000" y="1916410"/>
            <a:ext cx="215836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・目的・範囲・役割と責任、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会議体の定め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095750" y="1638300"/>
            <a:ext cx="215836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運用基準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095750" y="1916410"/>
            <a:ext cx="215836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・対象・付議先の判定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・提出要件・判断の区分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794500" y="1638300"/>
            <a:ext cx="215836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決裁権限表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794500" y="1916410"/>
            <a:ext cx="215836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・誰が何をどの条件で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決裁するか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9493250" y="1638300"/>
            <a:ext cx="202755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用語集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493250" y="1916410"/>
            <a:ext cx="202755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・用語の定義、旧制度の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用語との対応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778000" y="3263900"/>
            <a:ext cx="274701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業務フロー定義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778000" y="3542010"/>
            <a:ext cx="274701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・全体の流れ・受け渡し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・RACI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61000" y="3263900"/>
            <a:ext cx="274701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Runbook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461000" y="3542010"/>
            <a:ext cx="274701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・事務局の作業手順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・例外対応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9144000" y="3263900"/>
            <a:ext cx="235458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起案者ガイド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144000" y="3542010"/>
            <a:ext cx="235458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・起案者向けの流れ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・書き方・締切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778000" y="4889500"/>
            <a:ext cx="274701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決定記録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778000" y="5167610"/>
            <a:ext cx="27470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・決定事項と未確定事項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61000" y="4889500"/>
            <a:ext cx="274701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審議議案の記録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461000" y="5167610"/>
            <a:ext cx="274701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・議題と審議資料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・案件ごとの付議先・状況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9144000" y="4889500"/>
            <a:ext cx="235458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議事録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9144000" y="5167610"/>
            <a:ext cx="235458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・審議内容と決定事項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・議長の確認を経て保管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pic>
        <p:nvPicPr>
          <p:cNvPr id="4" name="Image 2" descr="移行スケジュールの時系列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新体制への移行スケジュールとサポート窓口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1663700" y="1320800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11月某日：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1663700" y="1595041"/>
            <a:ext cx="5886450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Tier1・Tier2による優先順位の審議を開始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1663700" y="2273300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12月某日（来期予算の確定・本運用の開始）：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663700" y="2547541"/>
            <a:ext cx="5886450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PPMが各起案者へ実行計画の提出期限を発信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1663700" y="3225800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1月〜：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663700" y="3500041"/>
            <a:ext cx="5886450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Tier2で実行計画の審議を開始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663700" y="4178300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随時（Intakeオープン）：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663700" y="4452541"/>
            <a:ext cx="5886450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年次予算にない案件が見込まれたら順次申請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35000" y="5016500"/>
            <a:ext cx="6858000" cy="9525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5" name="Text 10"/>
          <p:cNvSpPr/>
          <p:nvPr/>
        </p:nvSpPr>
        <p:spPr>
          <a:xfrm>
            <a:off x="812800" y="5143500"/>
            <a:ext cx="6697472" cy="250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これから決まる主な事項（順次アナウンス）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2800" y="5419725"/>
            <a:ext cx="6697472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086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決裁の振り分け基準／IT投資案件の定義／金額の算定方法／IntakeForm・実行計画の様式／優先度なし・否認の扱い</a:t>
            </a:r>
            <a:endParaRPr lang="en-US" sz="1086" dirty="0"/>
          </a:p>
        </p:txBody>
      </p:sp>
      <p:sp>
        <p:nvSpPr>
          <p:cNvPr id="17" name="Shape 12"/>
          <p:cNvSpPr/>
          <p:nvPr/>
        </p:nvSpPr>
        <p:spPr>
          <a:xfrm>
            <a:off x="8001000" y="1270000"/>
            <a:ext cx="3556000" cy="469900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</p:spPr>
      </p:sp>
      <p:sp>
        <p:nvSpPr>
          <p:cNvPr id="18" name="Text 13"/>
          <p:cNvSpPr/>
          <p:nvPr/>
        </p:nvSpPr>
        <p:spPr>
          <a:xfrm>
            <a:off x="8305800" y="2514798"/>
            <a:ext cx="3034792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迷ったときは、提出の前に事務局へご相談ください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8305800" y="3431580"/>
            <a:ext cx="508000" cy="25400"/>
          </a:xfrm>
          <a:prstGeom prst="rect">
            <a:avLst/>
          </a:prstGeom>
          <a:solidFill>
            <a:srgbClr val="ED5604"/>
          </a:solidFill>
          <a:ln/>
        </p:spPr>
      </p:sp>
      <p:sp>
        <p:nvSpPr>
          <p:cNvPr id="20" name="Text 15"/>
          <p:cNvSpPr/>
          <p:nvPr/>
        </p:nvSpPr>
        <p:spPr>
          <a:xfrm>
            <a:off x="8305800" y="3710980"/>
            <a:ext cx="3034792" cy="1038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窓口：</a:t>
            </a:r>
            <a:r>
              <a:rPr lang="en-US" sz="14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400" dirty="0"/>
          </a:p>
          <a:p>
            <a:pPr algn="l" indent="0" marL="0">
              <a:lnSpc>
                <a:spcPts val="266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連絡先：</a:t>
            </a:r>
            <a:r>
              <a:rPr lang="en-US" sz="14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未定</a:t>
            </a:r>
            <a:endParaRPr lang="en-US" sz="1400" dirty="0"/>
          </a:p>
          <a:p>
            <a:pPr algn="l" indent="0" marL="0">
              <a:lnSpc>
                <a:spcPts val="2660"/>
              </a:lnSpc>
              <a:buNone/>
            </a:pPr>
            <a:r>
              <a:rPr lang="en-US" sz="14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受付時間：</a:t>
            </a:r>
            <a:r>
              <a:rPr lang="en-US" sz="14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未定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装飾の円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89000" cy="889000"/>
          </a:xfrm>
          <a:prstGeom prst="rect">
            <a:avLst/>
          </a:prstGeom>
        </p:spPr>
      </p:pic>
      <p:pic>
        <p:nvPicPr>
          <p:cNvPr id="3" name="Image 1" descr="装飾の円弧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03000" y="5969000"/>
            <a:ext cx="889000" cy="889000"/>
          </a:xfrm>
          <a:prstGeom prst="rect">
            <a:avLst/>
          </a:prstGeom>
        </p:spPr>
      </p:pic>
      <p:pic>
        <p:nvPicPr>
          <p:cNvPr id="4" name="Image 2" descr="初年度の年間スケジュール（2026年11月〜2027年12月）の図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>
            <p:ph type="title"/>
          </p:nvPr>
        </p:nvSpPr>
        <p:spPr>
          <a:xfrm>
            <a:off x="635000" y="406400"/>
            <a:ext cx="1124966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i="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初年度の年間スケジュール（2026年11月〜2027年12月）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2416770" y="1066304"/>
            <a:ext cx="13176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</a:t>
            </a:r>
            <a:endParaRPr lang="en-US" sz="950" dirty="0"/>
          </a:p>
        </p:txBody>
      </p:sp>
      <p:sp>
        <p:nvSpPr>
          <p:cNvPr id="7" name="Text 2"/>
          <p:cNvSpPr/>
          <p:nvPr/>
        </p:nvSpPr>
        <p:spPr>
          <a:xfrm>
            <a:off x="3630243" y="1066304"/>
            <a:ext cx="802386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2027年</a:t>
            </a:r>
            <a:endParaRPr lang="en-US" sz="950" dirty="0"/>
          </a:p>
        </p:txBody>
      </p:sp>
      <p:sp>
        <p:nvSpPr>
          <p:cNvPr id="8" name="Text 3"/>
          <p:cNvSpPr/>
          <p:nvPr/>
        </p:nvSpPr>
        <p:spPr>
          <a:xfrm>
            <a:off x="2416770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11月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068935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12月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3721695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1月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373860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2月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026025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3月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678785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4月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6330950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5月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983016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6月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7635875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7月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287941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8月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940105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9月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9592866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10月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245030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11月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897195" y="1331218"/>
            <a:ext cx="664766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12月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67345" y="1845171"/>
            <a:ext cx="172343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主なイベント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67345" y="2371328"/>
            <a:ext cx="172343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Intake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67345" y="2530078"/>
            <a:ext cx="17234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随時受付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67345" y="2839938"/>
            <a:ext cx="172343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Tier1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67345" y="2998688"/>
            <a:ext cx="17234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年次は11月、ほかは適宜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667345" y="3371453"/>
            <a:ext cx="172343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67345" y="3530203"/>
            <a:ext cx="17234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毎月1回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67345" y="3902968"/>
            <a:ext cx="172343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Tier3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67345" y="4061718"/>
            <a:ext cx="17234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Tier2の要請に応じて適宜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67345" y="4434483"/>
            <a:ext cx="172343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承認会議（ローカル）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67345" y="4593233"/>
            <a:ext cx="17234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各部門の運営に委ねる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667345" y="5135860"/>
            <a:ext cx="172343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IT投資予算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67345" y="5294610"/>
            <a:ext cx="17234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ハイレベルの日程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2416770" y="1827510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2416770" y="1962448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の審議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3068935" y="1827510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予算確定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3068935" y="1962448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提出期限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3068935" y="2097385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の発信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3721695" y="1827510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実行計画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3721695" y="1962448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審議開始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10245030" y="1827510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来期の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10245030" y="1962448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10897195" y="1827510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来期予算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10897195" y="1962448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確定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3795316" y="2088455"/>
            <a:ext cx="2548751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b="1" dirty="0">
                <a:solidFill>
                  <a:srgbClr val="ED56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本運用の開始（12月の予算確定後）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2356026" y="2447032"/>
            <a:ext cx="9267275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随時受付（本運用の開始前から常に開いている。年次予算にない案件が見込まれたら申請する）</a:t>
            </a:r>
            <a:endParaRPr lang="en-US" sz="850" dirty="0"/>
          </a:p>
        </p:txBody>
      </p:sp>
      <p:sp>
        <p:nvSpPr>
          <p:cNvPr id="48" name="Text 43"/>
          <p:cNvSpPr/>
          <p:nvPr/>
        </p:nvSpPr>
        <p:spPr>
          <a:xfrm>
            <a:off x="3037547" y="2915741"/>
            <a:ext cx="7251473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適宜（1億円を超える随時のIntakeを受け付けたとき）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10946011" y="2915741"/>
            <a:ext cx="56773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適宜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3679929" y="4510187"/>
            <a:ext cx="7923203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Tier2が決裁を委ねた案件を、各部門の承認会議で審議する（開催は各部門の運営に委ねる）</a:t>
            </a:r>
            <a:endParaRPr lang="en-US" sz="850" dirty="0"/>
          </a:p>
        </p:txBody>
      </p:sp>
      <p:sp>
        <p:nvSpPr>
          <p:cNvPr id="51" name="Text 46"/>
          <p:cNvSpPr/>
          <p:nvPr/>
        </p:nvSpPr>
        <p:spPr>
          <a:xfrm>
            <a:off x="8315363" y="4949924"/>
            <a:ext cx="321997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2028年度予算の編成</a:t>
            </a:r>
            <a:endParaRPr lang="en-US" sz="850" dirty="0"/>
          </a:p>
        </p:txBody>
      </p:sp>
      <p:sp>
        <p:nvSpPr>
          <p:cNvPr id="52" name="Text 47"/>
          <p:cNvSpPr/>
          <p:nvPr/>
        </p:nvSpPr>
        <p:spPr>
          <a:xfrm>
            <a:off x="3068935" y="5413375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2027年度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3068935" y="5548313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予算確定</a:t>
            </a:r>
            <a:endParaRPr lang="en-US" sz="850" dirty="0"/>
          </a:p>
        </p:txBody>
      </p:sp>
      <p:sp>
        <p:nvSpPr>
          <p:cNvPr id="54" name="Text 49"/>
          <p:cNvSpPr/>
          <p:nvPr/>
        </p:nvSpPr>
        <p:spPr>
          <a:xfrm>
            <a:off x="8206680" y="5413375"/>
            <a:ext cx="82798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ガイドライン</a:t>
            </a:r>
            <a:endParaRPr lang="en-US" sz="850" dirty="0"/>
          </a:p>
        </p:txBody>
      </p:sp>
      <p:sp>
        <p:nvSpPr>
          <p:cNvPr id="55" name="Text 50"/>
          <p:cNvSpPr/>
          <p:nvPr/>
        </p:nvSpPr>
        <p:spPr>
          <a:xfrm>
            <a:off x="8206680" y="5548313"/>
            <a:ext cx="827980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発出</a:t>
            </a:r>
            <a:endParaRPr lang="en-US" sz="850" dirty="0"/>
          </a:p>
        </p:txBody>
      </p:sp>
      <p:sp>
        <p:nvSpPr>
          <p:cNvPr id="56" name="Text 51"/>
          <p:cNvSpPr/>
          <p:nvPr/>
        </p:nvSpPr>
        <p:spPr>
          <a:xfrm>
            <a:off x="8940105" y="5413375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一次締切</a:t>
            </a:r>
            <a:endParaRPr lang="en-US" sz="850" dirty="0"/>
          </a:p>
        </p:txBody>
      </p:sp>
      <p:sp>
        <p:nvSpPr>
          <p:cNvPr id="57" name="Text 52"/>
          <p:cNvSpPr/>
          <p:nvPr/>
        </p:nvSpPr>
        <p:spPr>
          <a:xfrm>
            <a:off x="9592866" y="5413375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二次締切</a:t>
            </a:r>
            <a:endParaRPr lang="en-US" sz="850" dirty="0"/>
          </a:p>
        </p:txBody>
      </p:sp>
      <p:sp>
        <p:nvSpPr>
          <p:cNvPr id="58" name="Text 53"/>
          <p:cNvSpPr/>
          <p:nvPr/>
        </p:nvSpPr>
        <p:spPr>
          <a:xfrm>
            <a:off x="10897195" y="5413375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2028年度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0897195" y="5548313"/>
            <a:ext cx="664766" cy="16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2332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予算確定</a:t>
            </a:r>
            <a:endParaRPr lang="en-US" sz="850" dirty="0"/>
          </a:p>
        </p:txBody>
      </p:sp>
      <p:sp>
        <p:nvSpPr>
          <p:cNvPr id="60" name="Text 55"/>
          <p:cNvSpPr/>
          <p:nvPr/>
        </p:nvSpPr>
        <p:spPr>
          <a:xfrm>
            <a:off x="1031180" y="6080125"/>
            <a:ext cx="1075630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2238970" y="6080125"/>
            <a:ext cx="882650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開催</a:t>
            </a:r>
            <a:endParaRPr lang="en-US" sz="900" dirty="0"/>
          </a:p>
        </p:txBody>
      </p:sp>
      <p:sp>
        <p:nvSpPr>
          <p:cNvPr id="62" name="Text 57"/>
          <p:cNvSpPr/>
          <p:nvPr/>
        </p:nvSpPr>
        <p:spPr>
          <a:xfrm>
            <a:off x="3157141" y="6080125"/>
            <a:ext cx="2349981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適宜（開催しない月もある）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5843885" y="6080125"/>
            <a:ext cx="126930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期間・常時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7341791" y="6080125"/>
            <a:ext cx="155892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適宜の開催期間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9130010" y="6080125"/>
            <a:ext cx="1558925" cy="16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本運用の開始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635000" y="6497340"/>
            <a:ext cx="39243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IT投資委員会事務局</a:t>
            </a:r>
            <a:endParaRPr lang="en-US" sz="1200" dirty="0"/>
          </a:p>
        </p:txBody>
      </p:sp>
      <p:sp>
        <p:nvSpPr>
          <p:cNvPr id="67" name="Text 62"/>
          <p:cNvSpPr/>
          <p:nvPr/>
        </p:nvSpPr>
        <p:spPr>
          <a:xfrm>
            <a:off x="10744200" y="6497340"/>
            <a:ext cx="8128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投資ガバナンス新体制 審議プロセスの変更">
  <a:themeElements>
    <a:clrScheme name="IT投資ガバナンス新体制 審議プロセスの変更">
      <a:dk1>
        <a:srgbClr val="23323B"/>
      </a:dk1>
      <a:lt1>
        <a:srgbClr val="FFFFFF"/>
      </a:lt1>
      <a:dk2>
        <a:srgbClr val="5A656C"/>
      </a:dk2>
      <a:lt2>
        <a:srgbClr val="E9EBEB"/>
      </a:lt2>
      <a:accent1>
        <a:srgbClr val="ED5604"/>
      </a:accent1>
      <a:accent2>
        <a:srgbClr val="404040"/>
      </a:accent2>
      <a:accent3>
        <a:srgbClr val="7F7F7F"/>
      </a:accent3>
      <a:accent4>
        <a:srgbClr val="5D6164"/>
      </a:accent4>
      <a:accent5>
        <a:srgbClr val="C9CBCD"/>
      </a:accent5>
      <a:accent6>
        <a:srgbClr val="FEE8DB"/>
      </a:accent6>
      <a:hlink>
        <a:srgbClr val="0563C1"/>
      </a:hlink>
      <a:folHlink>
        <a:srgbClr val="954F72"/>
      </a:folHlink>
    </a:clrScheme>
    <a:fontScheme name="IT投資ガバナンス新体制 審議プロセスの変更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IT投資ガバナンス新体制 審議プロセスの変更</dc:title>
  <dc:subject/>
  <dc:creator/>
  <cp:lastModifiedBy/>
  <cp:revision>1</cp:revision>
  <dcterms:created xsi:type="dcterms:W3CDTF">2026-10-18T12:34:55Z</dcterms:created>
  <dcterms:modified xsi:type="dcterms:W3CDTF">2026-10-18T12:34:55Z</dcterms:modified>
</cp:coreProperties>
</file>