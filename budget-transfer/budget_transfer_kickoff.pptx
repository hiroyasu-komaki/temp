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6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IT予算移管 キックオフ</a:t>
            </a:r>
            <a:endParaRPr lang="ja-JP" alt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dirty="0">
                <a:solidFill>
                  <a:srgbClr val="B9D3D7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実務の進め方とお願いしたいこと</a:t>
            </a:r>
            <a:endParaRPr lang="ja-JP" alt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154680"/>
            <a:ext cx="146304" cy="14630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30723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2026年10月1日　IT部門</a:t>
            </a:r>
            <a:endParaRPr lang="ja-JP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本日の内容</a:t>
            </a:r>
            <a:endParaRPr lang="ja-JP" alt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移管を進めることは決定済みです。本日は実務の進め方をご説明します</a:t>
            </a:r>
            <a:endParaRPr lang="ja-JP" alt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6F0F1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36776"/>
            <a:ext cx="438912" cy="438912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36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</a:t>
            </a:r>
            <a:endParaRPr lang="ja-JP" alt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270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決まっていること</a:t>
            </a:r>
            <a:endParaRPr lang="ja-JP" alt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9280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移管の範囲と、移すかどうかの決め方</a:t>
            </a:r>
            <a:endParaRPr lang="ja-JP" alt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6F0F1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15768"/>
            <a:ext cx="438912" cy="438912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715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2</a:t>
            </a:r>
            <a:endParaRPr lang="ja-JP" alt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06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進め方とスケジュール</a:t>
            </a:r>
            <a:endParaRPr lang="ja-JP" alt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718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キックオフから予算編成への反映まで</a:t>
            </a:r>
            <a:endParaRPr lang="ja-JP" alt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6F0F1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94760"/>
            <a:ext cx="438912" cy="438912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94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3</a:t>
            </a:r>
            <a:endParaRPr lang="ja-JP" alt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6850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お願いしたいこと</a:t>
            </a:r>
            <a:endParaRPr lang="ja-JP" alt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05079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窓口の指名、予算シートの提出、ヒアリングへの対応</a:t>
            </a:r>
            <a:endParaRPr lang="ja-JP" alt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2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移管の範囲</a:t>
            </a:r>
            <a:endParaRPr lang="ja-JP" alt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予算・契約・業務の3つを、IT部門へ移します</a:t>
            </a:r>
            <a:endParaRPr lang="ja-JP" alt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E6F0F1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90472"/>
            <a:ext cx="566928" cy="566928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90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予算</a:t>
            </a:r>
            <a:endParaRPr lang="ja-JP" alt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システムに関する</a:t>
            </a:r>
            <a:endParaRPr lang="ja-JP" altLang="en-US" sz="1150" dirty="0"/>
          </a:p>
          <a:p>
            <a:pPr indent="0" marL="0">
              <a:buNone/>
            </a:pPr>
            <a:r>
              <a:rPr lang="ja-JP" altLang="en-US" sz="11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費用の予算</a:t>
            </a:r>
            <a:endParaRPr lang="ja-JP" alt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移管した予算は</a:t>
            </a:r>
            <a:endParaRPr lang="ja-JP" altLang="en-US" sz="1250" dirty="0"/>
          </a:p>
          <a:p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IT部門の予算になる</a:t>
            </a:r>
            <a:endParaRPr lang="ja-JP" alt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64408" y="132588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E6F0F1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1490472"/>
            <a:ext cx="566928" cy="566928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490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契約</a:t>
            </a:r>
            <a:endParaRPr lang="ja-JP" alt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33088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システムの利用・保守・</a:t>
            </a:r>
            <a:endParaRPr lang="ja-JP" altLang="en-US" sz="1150" dirty="0"/>
          </a:p>
          <a:p>
            <a:pPr indent="0" marL="0">
              <a:buNone/>
            </a:pPr>
            <a:r>
              <a:rPr lang="ja-JP" altLang="en-US" sz="11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開発などの契約</a:t>
            </a:r>
            <a:endParaRPr lang="ja-JP" alt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契約名義と支払いを</a:t>
            </a:r>
            <a:endParaRPr lang="ja-JP" altLang="en-US" sz="1250" dirty="0"/>
          </a:p>
          <a:p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IT部門へ移す</a:t>
            </a:r>
            <a:endParaRPr lang="ja-JP" alt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71616" y="132588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E6F0F1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490472"/>
            <a:ext cx="566928" cy="566928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54496" y="1490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業務</a:t>
            </a:r>
            <a:endParaRPr lang="ja-JP" alt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40296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システムの運用・開発、</a:t>
            </a:r>
            <a:endParaRPr lang="ja-JP" altLang="en-US" sz="1150" dirty="0"/>
          </a:p>
          <a:p>
            <a:pPr indent="0" marL="0">
              <a:buNone/>
            </a:pPr>
            <a:r>
              <a:rPr lang="ja-JP" altLang="en-US" sz="11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委託先や契約の管理</a:t>
            </a:r>
            <a:endParaRPr lang="ja-JP" alt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業務の担い手を</a:t>
            </a:r>
            <a:endParaRPr lang="ja-JP" altLang="en-US" sz="1250" dirty="0"/>
          </a:p>
          <a:p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IT部門へ移す</a:t>
            </a:r>
            <a:endParaRPr lang="ja-JP" alt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511296"/>
            <a:ext cx="146304" cy="14630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4290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初年度に全部は移しません　</a:t>
            </a:r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部門ごとに協議し、年単位のロードマップで段階的に移します</a:t>
            </a:r>
            <a:endParaRPr lang="ja-JP" alt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941064"/>
            <a:ext cx="146304" cy="14630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85876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移管直後はやり方を変えません　</a:t>
            </a:r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運用の見直しは、移管が安定してから行います</a:t>
            </a:r>
            <a:endParaRPr lang="ja-JP" alt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4370832"/>
            <a:ext cx="146304" cy="14630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28853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不要なものは移管に合わせて見直します　</a:t>
            </a:r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使われていない契約などは、この機会に削減します</a:t>
            </a:r>
            <a:endParaRPr lang="ja-JP" alt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3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予算・システム・業務・契約のつながり</a:t>
            </a:r>
            <a:endParaRPr lang="ja-JP" alt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予算シートの案件を起点に、関係するシステム・業務・契約をたどって整理します</a:t>
            </a:r>
            <a:endParaRPr lang="ja-JP" alt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0F3D4C"/>
          </a:solidFill>
          <a:ln w="6350">
            <a:solidFill>
              <a:srgbClr val="0F3D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案件（予算）</a:t>
            </a:r>
            <a:endParaRPr lang="ja-JP" alt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47088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00" dirty="0">
                <a:solidFill>
                  <a:srgbClr val="D9D9D9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予算シートの1行</a:t>
            </a:r>
            <a:endParaRPr lang="ja-JP" alt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15768" y="13716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25496" y="148132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システム</a:t>
            </a:r>
            <a:endParaRPr lang="ja-JP" alt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825496" y="1847088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案件の予算で費用を支払うシステム</a:t>
            </a:r>
            <a:endParaRPr lang="ja-JP" alt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74336" y="13716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4064" y="148132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業務</a:t>
            </a:r>
            <a:endParaRPr lang="ja-JP" alt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847088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システムの運用・開発、委託先や契約・予算の管理</a:t>
            </a:r>
            <a:endParaRPr lang="ja-JP" alt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32904" y="13716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2632" y="148132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契約</a:t>
            </a:r>
            <a:endParaRPr lang="ja-JP" alt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1847088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業務で管理している契約</a:t>
            </a:r>
            <a:endParaRPr lang="ja-JP" alt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65960" y="1965960"/>
            <a:ext cx="704088" cy="0"/>
          </a:xfrm>
          <a:prstGeom prst="line">
            <a:avLst/>
          </a:prstGeom>
          <a:noFill/>
          <a:ln w="15875">
            <a:solidFill>
              <a:srgbClr val="1B6A7A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874520" y="1655064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複数対複数</a:t>
            </a:r>
            <a:endParaRPr lang="ja-JP" alt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24528" y="1965960"/>
            <a:ext cx="704088" cy="0"/>
          </a:xfrm>
          <a:prstGeom prst="line">
            <a:avLst/>
          </a:prstGeom>
          <a:noFill/>
          <a:ln w="15875">
            <a:solidFill>
              <a:srgbClr val="1B6A7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133088" y="1655064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1対複数</a:t>
            </a:r>
            <a:endParaRPr lang="ja-JP" alt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83096" y="1965960"/>
            <a:ext cx="704088" cy="0"/>
          </a:xfrm>
          <a:prstGeom prst="line">
            <a:avLst/>
          </a:prstGeom>
          <a:noFill/>
          <a:ln w="15875">
            <a:solidFill>
              <a:srgbClr val="1B6A7A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391656" y="1655064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複数対1</a:t>
            </a:r>
            <a:endParaRPr lang="ja-JP" alt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64424" y="2560320"/>
            <a:ext cx="0" cy="365760"/>
          </a:xfrm>
          <a:prstGeom prst="line">
            <a:avLst/>
          </a:prstGeom>
          <a:noFill/>
          <a:ln w="12700">
            <a:solidFill>
              <a:srgbClr val="5B6B7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188720" y="2926080"/>
            <a:ext cx="6775704" cy="0"/>
          </a:xfrm>
          <a:prstGeom prst="line">
            <a:avLst/>
          </a:prstGeom>
          <a:noFill/>
          <a:ln w="12700">
            <a:solidFill>
              <a:srgbClr val="5B6B7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1188720" y="2578608"/>
            <a:ext cx="0" cy="347472"/>
          </a:xfrm>
          <a:prstGeom prst="line">
            <a:avLst/>
          </a:prstGeom>
          <a:noFill/>
          <a:ln w="12700">
            <a:solidFill>
              <a:srgbClr val="5B6B72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651760" y="2779776"/>
            <a:ext cx="3840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b="1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契約は、支払いに使う予算（案件）ともつながります</a:t>
            </a:r>
            <a:endParaRPr lang="ja-JP" alt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45643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1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予算シートの案件を起点に、システム → 業務 → 契約の順に確認します（ヒアリングもこの順で伺います）</a:t>
            </a:r>
            <a:endParaRPr lang="ja-JP" alt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1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1つの案件に複数のシステムが、1つのシステムに複数の案件が紐付くことがあります</a:t>
            </a:r>
            <a:endParaRPr lang="ja-JP" alt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1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システムと関係のない業務・契約は、移管の対象になりません（例：書籍や情報サービスの購読）</a:t>
            </a:r>
            <a:endParaRPr lang="ja-JP" alt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4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移管の決め方</a:t>
            </a:r>
            <a:endParaRPr lang="ja-JP" alt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システムから順に決め、業務・契約・予算はその結果に従います</a:t>
            </a:r>
            <a:endParaRPr lang="ja-JP" alt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17904" cy="1783080"/>
          </a:xfrm>
          <a:prstGeom prst="roundRect">
            <a:avLst>
              <a:gd name="adj" fmla="val 4819"/>
            </a:avLst>
          </a:prstGeom>
          <a:solidFill>
            <a:srgbClr val="E6F0F1"/>
          </a:solidFill>
          <a:ln w="12700">
            <a:solidFill>
              <a:srgbClr val="B9D3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81328"/>
            <a:ext cx="365760" cy="365760"/>
          </a:xfrm>
          <a:prstGeom prst="ellipse">
            <a:avLst/>
          </a:prstGeom>
          <a:solidFill>
            <a:srgbClr val="0F3D4C"/>
          </a:solidFill>
          <a:ln w="12700">
            <a:solidFill>
              <a:srgbClr val="0F3D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</a:t>
            </a:r>
            <a:endParaRPr lang="ja-JP" alt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81328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システム</a:t>
            </a:r>
            <a:endParaRPr lang="ja-JP" alt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99339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移すべきか</a:t>
            </a:r>
            <a:endParaRPr lang="ja-JP" alt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45059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影響範囲の広さで決める</a:t>
            </a:r>
            <a:endParaRPr lang="ja-JP" alt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956816" y="201168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›</a:t>
            </a:r>
            <a:endParaRPr lang="ja-JP" alt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148840" y="1371600"/>
            <a:ext cx="1517904" cy="1783080"/>
          </a:xfrm>
          <a:prstGeom prst="roundRect">
            <a:avLst>
              <a:gd name="adj" fmla="val 4819"/>
            </a:avLst>
          </a:prstGeom>
          <a:solidFill>
            <a:srgbClr val="E6F0F1"/>
          </a:solidFill>
          <a:ln w="12700">
            <a:solidFill>
              <a:srgbClr val="B9D3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58568" y="1481328"/>
            <a:ext cx="365760" cy="365760"/>
          </a:xfrm>
          <a:prstGeom prst="ellipse">
            <a:avLst/>
          </a:prstGeom>
          <a:solidFill>
            <a:srgbClr val="0F3D4C"/>
          </a:solidFill>
          <a:ln w="12700">
            <a:solidFill>
              <a:srgbClr val="0F3D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58568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2</a:t>
            </a:r>
            <a:endParaRPr lang="ja-JP" alt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1481328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システム</a:t>
            </a:r>
            <a:endParaRPr lang="ja-JP" alt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58568" y="199339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移す順番</a:t>
            </a:r>
            <a:endParaRPr lang="ja-JP" alt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258568" y="245059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安定しているものから移す</a:t>
            </a:r>
            <a:endParaRPr lang="ja-JP" alt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48456" y="201168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›</a:t>
            </a:r>
            <a:endParaRPr lang="ja-JP" alt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840480" y="1371600"/>
            <a:ext cx="1517904" cy="1783080"/>
          </a:xfrm>
          <a:prstGeom prst="roundRect">
            <a:avLst>
              <a:gd name="adj" fmla="val 4819"/>
            </a:avLst>
          </a:prstGeom>
          <a:solidFill>
            <a:srgbClr val="F2F7F8"/>
          </a:solidFill>
          <a:ln w="12700">
            <a:solidFill>
              <a:srgbClr val="B9D3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50208" y="1481328"/>
            <a:ext cx="365760" cy="365760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50208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3</a:t>
            </a:r>
            <a:endParaRPr lang="ja-JP" alt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1481328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業務</a:t>
            </a:r>
            <a:endParaRPr lang="ja-JP" alt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950208" y="199339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システムに従う</a:t>
            </a:r>
            <a:endParaRPr lang="ja-JP" alt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950208" y="245059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移すシステムの業務を移す</a:t>
            </a:r>
            <a:endParaRPr lang="ja-JP" alt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340096" y="201168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›</a:t>
            </a:r>
            <a:endParaRPr lang="ja-JP" alt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532120" y="1371600"/>
            <a:ext cx="1517904" cy="1783080"/>
          </a:xfrm>
          <a:prstGeom prst="roundRect">
            <a:avLst>
              <a:gd name="adj" fmla="val 4819"/>
            </a:avLst>
          </a:prstGeom>
          <a:solidFill>
            <a:srgbClr val="F2F7F8"/>
          </a:solidFill>
          <a:ln w="12700">
            <a:solidFill>
              <a:srgbClr val="B9D3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41848" y="1481328"/>
            <a:ext cx="365760" cy="365760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41848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4</a:t>
            </a:r>
            <a:endParaRPr lang="ja-JP" alt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1481328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契約</a:t>
            </a:r>
            <a:endParaRPr lang="ja-JP" alt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41848" y="199339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業務に従う</a:t>
            </a:r>
            <a:endParaRPr lang="ja-JP" alt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641848" y="245059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移す業務の契約を移す</a:t>
            </a:r>
            <a:endParaRPr lang="ja-JP" alt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031736" y="201168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›</a:t>
            </a:r>
            <a:endParaRPr lang="ja-JP" alt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223760" y="1371600"/>
            <a:ext cx="1517904" cy="1783080"/>
          </a:xfrm>
          <a:prstGeom prst="roundRect">
            <a:avLst>
              <a:gd name="adj" fmla="val 4819"/>
            </a:avLst>
          </a:prstGeom>
          <a:solidFill>
            <a:srgbClr val="F2F7F8"/>
          </a:solidFill>
          <a:ln w="12700">
            <a:solidFill>
              <a:srgbClr val="B9D3D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33488" y="1481328"/>
            <a:ext cx="365760" cy="365760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33488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5</a:t>
            </a:r>
            <a:endParaRPr lang="ja-JP" alt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0" y="1481328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予算</a:t>
            </a:r>
            <a:endParaRPr lang="ja-JP" alt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333488" y="199339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契約・業務次第</a:t>
            </a:r>
            <a:endParaRPr lang="ja-JP" alt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333488" y="2450592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どちらかを移すなら移す</a:t>
            </a:r>
            <a:endParaRPr lang="ja-JP" alt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8229600" cy="1325880"/>
          </a:xfrm>
          <a:prstGeom prst="roundRect">
            <a:avLst>
              <a:gd name="adj" fmla="val 6667"/>
            </a:avLst>
          </a:prstGeom>
          <a:solidFill>
            <a:srgbClr val="0F3D4C"/>
          </a:solidFill>
          <a:ln w="12700">
            <a:solidFill>
              <a:srgbClr val="0F3D4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347472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移すかどうかは、影響範囲の広さだけで決めます。</a:t>
            </a:r>
            <a:endParaRPr lang="ja-JP" alt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B9D3D7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移しにくいことを理由に「移さない」とはせず、準備を整えてから2年目以降に移します。</a:t>
            </a:r>
            <a:endParaRPr lang="ja-JP" alt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B9D3D7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移す順番は安定性（文書・管理者の有無、規制の手続き）で決め、安定したものから初年度に移します。</a:t>
            </a:r>
            <a:endParaRPr lang="ja-JP" alt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B9D3D7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判定の基準は全部門共通です。</a:t>
            </a:r>
            <a:endParaRPr lang="ja-JP" alt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5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影響範囲の見方と、今回留保とするもの</a:t>
            </a:r>
            <a:endParaRPr lang="ja-JP" alt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3つの質問で、システムの影響がどこまで及ぶかを見ます</a:t>
            </a:r>
            <a:endParaRPr lang="ja-JP" alt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影響範囲の3つの質問</a:t>
            </a:r>
            <a:endParaRPr lang="ja-JP" alt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狭い　→　広い</a:t>
            </a:r>
            <a:endParaRPr lang="ja-JP" alt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347472" cy="347472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</a:t>
            </a:r>
            <a:endParaRPr lang="ja-JP" alt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7373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誰が使っているか</a:t>
            </a:r>
            <a:endParaRPr lang="ja-JP" alt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73736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2F7F8"/>
          </a:solidFill>
          <a:ln w="9525">
            <a:solidFill>
              <a:srgbClr val="B9D3D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737360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b="1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自部門だけ</a:t>
            </a:r>
            <a:endParaRPr lang="ja-JP" alt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85032" y="173736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B9D3D7"/>
          </a:solidFill>
          <a:ln w="9525">
            <a:solidFill>
              <a:srgbClr val="B9D3D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85032" y="1737360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他部門も</a:t>
            </a:r>
            <a:endParaRPr lang="ja-JP" alt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72584" y="173736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1B6A7A"/>
          </a:solidFill>
          <a:ln w="9525">
            <a:solidFill>
              <a:srgbClr val="B9D3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72584" y="1737360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全社・社外も</a:t>
            </a:r>
            <a:endParaRPr lang="ja-JP" alt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347472" cy="347472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2</a:t>
            </a:r>
            <a:endParaRPr lang="ja-JP" alt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24505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データを誰が使っているか</a:t>
            </a:r>
            <a:endParaRPr lang="ja-JP" alt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2450592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2F7F8"/>
          </a:solidFill>
          <a:ln w="9525">
            <a:solidFill>
              <a:srgbClr val="B9D3D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97480" y="2450592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b="1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自部門だけ</a:t>
            </a:r>
            <a:endParaRPr lang="ja-JP" alt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85032" y="2450592"/>
            <a:ext cx="932688" cy="566928"/>
          </a:xfrm>
          <a:prstGeom prst="roundRect">
            <a:avLst>
              <a:gd name="adj" fmla="val 9677"/>
            </a:avLst>
          </a:prstGeom>
          <a:solidFill>
            <a:srgbClr val="B9D3D7"/>
          </a:solidFill>
          <a:ln w="9525">
            <a:solidFill>
              <a:srgbClr val="B9D3D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85032" y="2450592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他部門・</a:t>
            </a:r>
            <a:endParaRPr lang="ja-JP" altLang="en-US" sz="950" dirty="0"/>
          </a:p>
          <a:p>
            <a:pPr algn="ctr" indent="0" marL="0">
              <a:buNone/>
            </a:pPr>
            <a:r>
              <a:rPr lang="ja-JP" altLang="en-US" sz="9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他システムも</a:t>
            </a:r>
            <a:endParaRPr lang="ja-JP" alt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72584" y="2450592"/>
            <a:ext cx="932688" cy="566928"/>
          </a:xfrm>
          <a:prstGeom prst="roundRect">
            <a:avLst>
              <a:gd name="adj" fmla="val 9677"/>
            </a:avLst>
          </a:prstGeom>
          <a:solidFill>
            <a:srgbClr val="1B6A7A"/>
          </a:solidFill>
          <a:ln w="9525">
            <a:solidFill>
              <a:srgbClr val="B9D3D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72584" y="2450592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全社・社外も</a:t>
            </a:r>
            <a:endParaRPr lang="ja-JP" alt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347472" cy="347472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3</a:t>
            </a:r>
            <a:endParaRPr lang="ja-JP" alt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" y="316382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どこで動いているか</a:t>
            </a:r>
            <a:endParaRPr lang="ja-JP" alt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97480" y="3163824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2F7F8"/>
          </a:solidFill>
          <a:ln w="9525">
            <a:solidFill>
              <a:srgbClr val="B9D3D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97480" y="3163824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b="1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自部門専用</a:t>
            </a:r>
            <a:endParaRPr lang="ja-JP" alt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85032" y="3163824"/>
            <a:ext cx="932688" cy="566928"/>
          </a:xfrm>
          <a:prstGeom prst="roundRect">
            <a:avLst>
              <a:gd name="adj" fmla="val 9677"/>
            </a:avLst>
          </a:prstGeom>
          <a:solidFill>
            <a:srgbClr val="B9D3D7"/>
          </a:solidFill>
          <a:ln w="9525">
            <a:solidFill>
              <a:srgbClr val="B9D3D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85032" y="3163824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共用環境の</a:t>
            </a:r>
            <a:endParaRPr lang="ja-JP" altLang="en-US" sz="950" dirty="0"/>
          </a:p>
          <a:p>
            <a:pPr algn="ctr" indent="0" marL="0">
              <a:buNone/>
            </a:pPr>
            <a:r>
              <a:rPr lang="ja-JP" altLang="en-US" sz="9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一部</a:t>
            </a:r>
            <a:endParaRPr lang="ja-JP" alt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72584" y="3163824"/>
            <a:ext cx="932688" cy="566928"/>
          </a:xfrm>
          <a:prstGeom prst="roundRect">
            <a:avLst>
              <a:gd name="adj" fmla="val 9677"/>
            </a:avLst>
          </a:prstGeom>
          <a:solidFill>
            <a:srgbClr val="1B6A7A"/>
          </a:solidFill>
          <a:ln w="9525">
            <a:solidFill>
              <a:srgbClr val="B9D3D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72584" y="3163824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全社共用の</a:t>
            </a:r>
            <a:endParaRPr lang="ja-JP" altLang="en-US" sz="950" dirty="0"/>
          </a:p>
          <a:p>
            <a:pPr algn="ctr" indent="0" marL="0">
              <a:buNone/>
            </a:pPr>
            <a:r>
              <a:rPr lang="ja-JP" altLang="en-US" sz="95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基盤そのもの</a:t>
            </a:r>
            <a:endParaRPr lang="ja-JP" alt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931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1つでも自部門の外に及べば、移管の対象になります</a:t>
            </a:r>
            <a:endParaRPr lang="ja-JP" alt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280160"/>
            <a:ext cx="2788920" cy="3154680"/>
          </a:xfrm>
          <a:prstGeom prst="roundRect">
            <a:avLst>
              <a:gd name="adj" fmla="val 2623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80760" y="1389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今回、留保とするもの</a:t>
            </a:r>
            <a:endParaRPr lang="ja-JP" alt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08076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自部門の中で閉じているシステム</a:t>
            </a:r>
            <a:endParaRPr lang="ja-JP" alt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080760" y="20574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来年度から導入予定の新しいITガバナンス体制（検討中）では、自部門に閉じたシステムは、説明責任（アカウンタビリティ）も部門に置く運用を想定しています。</a:t>
            </a:r>
            <a:endParaRPr lang="ja-JP" alt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この段階でIT部門へ移管すると、説明責任は部門、予算と運用はIT部門という「逆ねじれ」が生じます。</a:t>
            </a:r>
            <a:endParaRPr lang="ja-JP" alt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そのため今回は留保とし、体制の確定にあわせて改めて判断します。</a:t>
            </a:r>
            <a:endParaRPr lang="ja-JP" alt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6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進め方とスケジュール（案）</a:t>
            </a:r>
            <a:endParaRPr lang="ja-JP" alt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日程は予算編成の締め切りに合わせて確定し、改めてご案内します</a:t>
            </a:r>
            <a:endParaRPr lang="ja-JP" alt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7280" y="2331720"/>
            <a:ext cx="6949440" cy="0"/>
          </a:xfrm>
          <a:prstGeom prst="line">
            <a:avLst/>
          </a:prstGeom>
          <a:noFill/>
          <a:ln w="38100">
            <a:solidFill>
              <a:srgbClr val="B9D3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212848"/>
            <a:ext cx="237744" cy="237744"/>
          </a:xfrm>
          <a:prstGeom prst="ellipse">
            <a:avLst/>
          </a:prstGeom>
          <a:solidFill>
            <a:srgbClr val="D982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10/1</a:t>
            </a:r>
            <a:endParaRPr lang="ja-JP" alt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6060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キックオフ</a:t>
            </a:r>
            <a:endParaRPr lang="ja-JP" alt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本日</a:t>
            </a:r>
            <a:endParaRPr lang="ja-JP" alt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68296" y="2212848"/>
            <a:ext cx="237744" cy="237744"/>
          </a:xfrm>
          <a:prstGeom prst="ellipse">
            <a:avLst/>
          </a:prstGeom>
          <a:solidFill>
            <a:srgbClr val="1B6A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01368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〜10/9</a:t>
            </a:r>
            <a:endParaRPr lang="ja-JP" alt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801368" y="26060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窓口の指名</a:t>
            </a:r>
            <a:endParaRPr lang="ja-JP" altLang="en-US" sz="1200" dirty="0"/>
          </a:p>
          <a:p>
            <a:pPr algn="ctr" indent="0" marL="0">
              <a:buNone/>
            </a:pPr>
            <a:r>
              <a:rPr lang="ja-JP" altLang="en-US" sz="12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予算シート提出</a:t>
            </a:r>
            <a:endParaRPr lang="ja-JP" alt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01368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各部門</a:t>
            </a:r>
            <a:endParaRPr lang="ja-JP" alt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58184" y="2212848"/>
            <a:ext cx="237744" cy="237744"/>
          </a:xfrm>
          <a:prstGeom prst="ellipse">
            <a:avLst/>
          </a:prstGeom>
          <a:solidFill>
            <a:srgbClr val="1B6A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91256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10/13〜11/6</a:t>
            </a:r>
            <a:endParaRPr lang="ja-JP" alt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91256" y="26060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ヒアリング</a:t>
            </a:r>
            <a:endParaRPr lang="ja-JP" alt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191256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IT部門が伺います</a:t>
            </a:r>
            <a:endParaRPr lang="ja-JP" alt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48072" y="2212848"/>
            <a:ext cx="237744" cy="237744"/>
          </a:xfrm>
          <a:prstGeom prst="ellipse">
            <a:avLst/>
          </a:prstGeom>
          <a:solidFill>
            <a:srgbClr val="1B6A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81144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11月中旬</a:t>
            </a:r>
            <a:endParaRPr lang="ja-JP" alt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26060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判定案の提示</a:t>
            </a:r>
            <a:endParaRPr lang="ja-JP" alt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IT部門</a:t>
            </a:r>
            <a:endParaRPr lang="ja-JP" alt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2212848"/>
            <a:ext cx="237744" cy="237744"/>
          </a:xfrm>
          <a:prstGeom prst="ellipse">
            <a:avLst/>
          </a:prstGeom>
          <a:solidFill>
            <a:srgbClr val="1B6A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71032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11月下旬</a:t>
            </a:r>
            <a:endParaRPr lang="ja-JP" altLang="en-US" sz="1200" dirty="0"/>
          </a:p>
          <a:p>
            <a:pPr algn="ctr" indent="0" marL="0">
              <a:buNone/>
            </a:pPr>
            <a:r>
              <a:rPr lang="ja-JP" altLang="en-US" sz="12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〜12月上旬</a:t>
            </a:r>
            <a:endParaRPr lang="ja-JP" alt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71032" y="26060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協議</a:t>
            </a:r>
            <a:endParaRPr lang="ja-JP" alt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71032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各部門×IT部門</a:t>
            </a:r>
            <a:endParaRPr lang="ja-JP" alt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27848" y="2212848"/>
            <a:ext cx="237744" cy="237744"/>
          </a:xfrm>
          <a:prstGeom prst="ellipse">
            <a:avLst/>
          </a:prstGeom>
          <a:solidFill>
            <a:srgbClr val="1B6A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6092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12月中旬</a:t>
            </a:r>
            <a:endParaRPr lang="ja-JP" alt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6060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合意・</a:t>
            </a:r>
            <a:endParaRPr lang="ja-JP" altLang="en-US" sz="1200" dirty="0"/>
          </a:p>
          <a:p>
            <a:pPr algn="ctr" indent="0" marL="0">
              <a:buNone/>
            </a:pPr>
            <a:r>
              <a:rPr lang="ja-JP" altLang="en-US" sz="12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予算編成に反映</a:t>
            </a:r>
            <a:endParaRPr lang="ja-JP" alt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各部門×IT部門</a:t>
            </a:r>
            <a:endParaRPr lang="ja-JP" alt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6F0F1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3886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ヒアリングで伺った内容はIT部門が整理し、判定案としてお示しします。各部門には内容の確認と、協議への参加をお願いします。</a:t>
            </a:r>
            <a:endParaRPr lang="ja-JP" alt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7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お願いしたいこと</a:t>
            </a:r>
            <a:endParaRPr lang="ja-JP" alt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記入の大半はIT部門が行います。各部門には情報のご提供と確認をお願いします</a:t>
            </a:r>
            <a:endParaRPr lang="ja-JP" alt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E6F0F1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81328"/>
            <a:ext cx="384048" cy="384048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</a:t>
            </a:r>
            <a:endParaRPr lang="ja-JP" alt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9903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窓口担当者の指名</a:t>
            </a:r>
            <a:endParaRPr lang="ja-JP" alt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7007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部門ごとに1名。ヒアリングと協議の窓口になります</a:t>
            </a:r>
            <a:endParaRPr lang="ja-JP" alt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03720" y="15087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03720" y="15087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10/9まで</a:t>
            </a:r>
            <a:endParaRPr lang="ja-JP" alt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304288"/>
            <a:ext cx="384048" cy="384048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2</a:t>
            </a:r>
            <a:endParaRPr lang="ja-JP" alt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22199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予算シートの提出</a:t>
            </a:r>
            <a:endParaRPr lang="ja-JP" alt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2374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今年度実績（見込みを含む）と来年度予算の案件一覧</a:t>
            </a:r>
            <a:endParaRPr lang="ja-JP" alt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233172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23317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10/9まで</a:t>
            </a:r>
            <a:endParaRPr lang="ja-JP" alt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E6F0F1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27248"/>
            <a:ext cx="384048" cy="384048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3</a:t>
            </a:r>
            <a:endParaRPr lang="ja-JP" alt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04495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ヒアリングへの対応</a:t>
            </a:r>
            <a:endParaRPr lang="ja-JP" alt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4670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1回60分程度。システムの数に応じて1〜2回を想定しています</a:t>
            </a:r>
            <a:endParaRPr lang="ja-JP" alt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315468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3154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10/13〜11/6</a:t>
            </a:r>
            <a:endParaRPr lang="ja-JP" alt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950208"/>
            <a:ext cx="384048" cy="384048"/>
          </a:xfrm>
          <a:prstGeom prst="ellipse">
            <a:avLst/>
          </a:prstGeom>
          <a:solidFill>
            <a:srgbClr val="1B6A7A"/>
          </a:solidFill>
          <a:ln w="12700">
            <a:solidFill>
              <a:srgbClr val="1B6A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4</a:t>
            </a:r>
            <a:endParaRPr lang="ja-JP" alt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386791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移管の希望と理由</a:t>
            </a:r>
            <a:endParaRPr lang="ja-JP" alt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416966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案件ごとに、予算・契約・業務を移したいか、その理由をお聞きします</a:t>
            </a:r>
            <a:endParaRPr lang="ja-JP" alt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03720" y="397764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39776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ヒアリング時</a:t>
            </a:r>
            <a:endParaRPr lang="ja-JP" alt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8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ヒアリングで伺う内容</a:t>
            </a:r>
            <a:endParaRPr lang="ja-JP" alt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わかる範囲でお答えください。わからない項目は一緒に確認します</a:t>
            </a:r>
            <a:endParaRPr lang="ja-JP" alt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15184" cy="2514600"/>
          </a:xfrm>
          <a:prstGeom prst="roundRect">
            <a:avLst>
              <a:gd name="adj" fmla="val 2909"/>
            </a:avLst>
          </a:prstGeom>
          <a:solidFill>
            <a:srgbClr val="E6F0F1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システム</a:t>
            </a:r>
            <a:endParaRPr lang="ja-JP" alt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誰が使っているか</a:t>
            </a:r>
            <a:endParaRPr lang="ja-JP" alt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データを誰が使っているか</a:t>
            </a:r>
            <a:endParaRPr lang="ja-JP" alt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どこで動いているか</a:t>
            </a:r>
            <a:endParaRPr lang="ja-JP" alt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設計書・手順書がそろっているか</a:t>
            </a:r>
            <a:endParaRPr lang="ja-JP" alt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内容を判断できる管理者がいるか</a:t>
            </a:r>
            <a:endParaRPr lang="ja-JP" alt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GxP対象か、個人情報を扱うか</a:t>
            </a:r>
            <a:endParaRPr lang="ja-JP" alt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64408" y="1280160"/>
            <a:ext cx="2615184" cy="2514600"/>
          </a:xfrm>
          <a:prstGeom prst="roundRect">
            <a:avLst>
              <a:gd name="adj" fmla="val 2909"/>
            </a:avLst>
          </a:prstGeom>
          <a:solidFill>
            <a:srgbClr val="E6F0F1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業務</a:t>
            </a:r>
            <a:endParaRPr lang="ja-JP" alt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17830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システムに関する業務（運用・開発、委託先の管理、契約・予算の管理）</a:t>
            </a:r>
            <a:endParaRPr lang="ja-JP" alt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実施者、頻度、年間工数</a:t>
            </a:r>
            <a:endParaRPr lang="ja-JP" alt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部門としての関わり方</a:t>
            </a:r>
            <a:endParaRPr lang="ja-JP" alt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SOPの有無</a:t>
            </a:r>
            <a:endParaRPr lang="ja-JP" alt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71616" y="1280160"/>
            <a:ext cx="2615184" cy="2514600"/>
          </a:xfrm>
          <a:prstGeom prst="roundRect">
            <a:avLst>
              <a:gd name="adj" fmla="val 2909"/>
            </a:avLst>
          </a:prstGeom>
          <a:solidFill>
            <a:srgbClr val="E6F0F1"/>
          </a:solidFill>
          <a:ln w="12700">
            <a:solidFill>
              <a:srgbClr val="E6F0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54496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B6A7A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契約</a:t>
            </a:r>
            <a:endParaRPr lang="ja-JP" alt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08776" y="17830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契約名、相手先、契約の種類</a:t>
            </a:r>
            <a:endParaRPr lang="ja-JP" alt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契約期間、自動更新、解約予告</a:t>
            </a:r>
            <a:endParaRPr lang="ja-JP" alt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年間金額</a:t>
            </a:r>
            <a:endParaRPr lang="ja-JP" altLang="en-US" sz="10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ja-JP" altLang="en-US" sz="10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どの業務で管理しているか</a:t>
            </a:r>
            <a:endParaRPr lang="ja-JP" alt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F3D4C"/>
          </a:solidFill>
          <a:ln w="12700">
            <a:solidFill>
              <a:srgbClr val="0F3D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事前にご用意いただきたい資料　</a:t>
            </a:r>
            <a:pPr indent="0" marL="0">
              <a:buNone/>
            </a:pPr>
            <a:r>
              <a:rPr lang="ja-JP" altLang="en-US" sz="1150" dirty="0">
                <a:solidFill>
                  <a:srgbClr val="B9D3D7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契約書（写し）、システム構成図・設計書、運用手順書・SOP、委託先からの報告書（手元にあるものだけで結構です）</a:t>
            </a:r>
            <a:endParaRPr lang="ja-JP" alt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9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問い合わせ先とよくある質問</a:t>
            </a:r>
            <a:endParaRPr lang="ja-JP" alt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0F3D4C"/>
          </a:solidFill>
          <a:ln w="12700">
            <a:solidFill>
              <a:srgbClr val="0F3D4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問い合わせ先</a:t>
            </a:r>
            <a:endParaRPr lang="ja-JP" alt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800" dirty="0">
                <a:solidFill>
                  <a:srgbClr val="00000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 </a:t>
            </a:r>
            <a:endParaRPr lang="ja-JP" alt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IT部門　予算移管担当</a:t>
            </a:r>
            <a:endParaRPr lang="ja-JP" alt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rgbClr val="B9D3D7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担当者：（氏名を記入）</a:t>
            </a:r>
            <a:endParaRPr lang="ja-JP" alt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rgbClr val="B9D3D7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メール：（アドレスを記入）</a:t>
            </a:r>
            <a:endParaRPr lang="ja-JP" alt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Q</a:t>
            </a:r>
            <a:endParaRPr lang="ja-JP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886200" y="109728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ヒアリングの前に何を準備すればよいですか</a:t>
            </a:r>
            <a:endParaRPr lang="ja-JP" alt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146304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前のページの資料です。手元にないものは用意しなくて結構です</a:t>
            </a:r>
            <a:endParaRPr lang="ja-JP" alt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Q</a:t>
            </a:r>
            <a:endParaRPr lang="ja-JP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98424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見送り（留保）になったシステムはどうなりますか</a:t>
            </a:r>
            <a:endParaRPr lang="ja-JP" alt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235000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今回は各部門に残します。翌年度以降に改めて判断します</a:t>
            </a:r>
            <a:endParaRPr lang="ja-JP" alt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Q</a:t>
            </a:r>
            <a:endParaRPr lang="ja-JP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2871216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部門の希望と判定案が違ったらどうなりますか</a:t>
            </a:r>
            <a:endParaRPr lang="ja-JP" alt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32369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協議の場で、判定の理由をご説明します。基準は全部門共通です</a:t>
            </a:r>
            <a:endParaRPr lang="ja-JP" alt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Q</a:t>
            </a:r>
            <a:endParaRPr lang="ja-JP" alt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37581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移管後、変更の依頼はどこに出せばよいですか</a:t>
            </a:r>
            <a:endParaRPr lang="ja-JP" alt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41239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移管の前に、依頼の窓口と手順を改めてご案内します</a:t>
            </a:r>
            <a:endParaRPr lang="ja-JP" alt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10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想定される質問と回答</a:t>
            </a:r>
            <a:endParaRPr lang="ja-JP" alt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07899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Q</a:t>
            </a:r>
            <a:endParaRPr lang="ja-JP" alt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7899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一部だけ移すことはありますか</a:t>
            </a:r>
            <a:endParaRPr lang="ja-JP" alt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408176"/>
            <a:ext cx="2176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案件・契約の中に移すものと移さないものがある場合は「一部移管」とし、契約の分割や費用の按分を協議します</a:t>
            </a:r>
            <a:endParaRPr lang="ja-JP" alt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55848" y="107899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Q</a:t>
            </a:r>
            <a:endParaRPr lang="ja-JP" alt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07899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解約予告の期限が早い契約は</a:t>
            </a:r>
            <a:endParaRPr lang="ja-JP" alt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408176"/>
            <a:ext cx="2176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合意（12月中旬）より前に通知期限が来る契約があります。予算シートのご提出時に満了日と解約予告期間をお知らせください。先行してご相談します</a:t>
            </a:r>
            <a:endParaRPr lang="ja-JP" alt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4768" y="107899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Q</a:t>
            </a:r>
            <a:endParaRPr lang="ja-JP" alt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07899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事業部門にとっての利点は何ですか</a:t>
            </a:r>
            <a:endParaRPr lang="ja-JP" alt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408176"/>
            <a:ext cx="2176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費用が自部門の予算から外れ、契約・更改の手間がなくなります。共有基盤の規制対応はIT部門が担います</a:t>
            </a:r>
            <a:endParaRPr lang="ja-JP" alt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176272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249424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Q</a:t>
            </a:r>
            <a:endParaRPr lang="ja-JP" alt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24942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IT部門は何を約束しますか</a:t>
            </a:r>
            <a:endParaRPr lang="ja-JP" alt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2578608"/>
            <a:ext cx="2176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変更依頼への回答期限を設け、移管前にお示しします。移管直後は運用を据え置きます</a:t>
            </a:r>
            <a:endParaRPr lang="ja-JP" alt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46120" y="2176272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55848" y="2249424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Q</a:t>
            </a:r>
            <a:endParaRPr lang="ja-JP" alt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224942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削減した分の予算はどうなりますか</a:t>
            </a:r>
            <a:endParaRPr lang="ja-JP" alt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2578608"/>
            <a:ext cx="2176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扱いは、部門ごとの協議で決めます</a:t>
            </a:r>
            <a:endParaRPr lang="ja-JP" alt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5040" y="2176272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44768" y="2249424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Q</a:t>
            </a:r>
            <a:endParaRPr lang="ja-JP" alt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224942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部門の希望はどう扱われますか</a:t>
            </a:r>
            <a:endParaRPr lang="ja-JP" alt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2578608"/>
            <a:ext cx="2176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移すかどうかは共通の基準で決めます。ご希望は、移管の時期と進め方（引継ぎ方法など）に反映します</a:t>
            </a:r>
            <a:endParaRPr lang="ja-JP" alt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3346704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3419856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Q</a:t>
            </a:r>
            <a:endParaRPr lang="ja-JP" alt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341985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業務の担当者はどうなりますか</a:t>
            </a:r>
            <a:endParaRPr lang="ja-JP" alt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3749040"/>
            <a:ext cx="2176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人員の異動は前提としていません。自ら運用・開発している業務など、人と切り離せない場合は個別にご相談します</a:t>
            </a:r>
            <a:endParaRPr lang="ja-JP" alt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46120" y="3346704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55848" y="3419856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Q</a:t>
            </a:r>
            <a:endParaRPr lang="ja-JP" alt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341985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「安定性」は何に使うのですか</a:t>
            </a:r>
            <a:endParaRPr lang="ja-JP" alt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611880" y="3749040"/>
            <a:ext cx="2176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移す順番に使います。安定しているものは初年度、それ以外は準備を整えて2年目以降に移します。移すかどうかは変わりません</a:t>
            </a:r>
            <a:endParaRPr lang="ja-JP" alt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35040" y="3346704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6F0F1"/>
          </a:solidFill>
          <a:ln w="6350">
            <a:solidFill>
              <a:srgbClr val="E6F0F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44768" y="3419856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D9822B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Q</a:t>
            </a:r>
            <a:endParaRPr lang="ja-JP" alt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341985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b="1" dirty="0">
                <a:solidFill>
                  <a:srgbClr val="0F3D4C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新しいITガバナンス体制とは</a:t>
            </a:r>
            <a:endParaRPr lang="ja-JP" alt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3749040"/>
            <a:ext cx="2176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F2A30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現在検討中です。内容が固まりしだい、改めてご案内します</a:t>
            </a:r>
            <a:endParaRPr lang="ja-JP" alt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B6B72"/>
                </a:solidFill>
                <a:latin typeface="Segoe UI" pitchFamily="34" charset="0"/>
                <a:ea typeface="Meiryo" pitchFamily="34" charset="-128"/>
                <a:cs typeface="Segoe UI" pitchFamily="34" charset="-120"/>
              </a:rPr>
              <a:t>11</a:t>
            </a:r>
            <a:endParaRPr lang="ja-JP" alt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IT予算移管 キックオフ</dc:title>
  <dc:subject>PptxGenJS Presentation</dc:subject>
  <dc:creator>PptxGenJS</dc:creator>
  <cp:lastModifiedBy>PptxGenJS</cp:lastModifiedBy>
  <cp:revision>1</cp:revision>
  <dcterms:created xsi:type="dcterms:W3CDTF">2026-09-21T07:19:54Z</dcterms:created>
  <dcterms:modified xsi:type="dcterms:W3CDTF">2026-09-21T07:19:54Z</dcterms:modified>
</cp:coreProperties>
</file>