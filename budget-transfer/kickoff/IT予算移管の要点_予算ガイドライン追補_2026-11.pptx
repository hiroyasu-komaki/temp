
<file path=[Content_Types].xml><?xml version="1.0" encoding="utf-8"?>
<Types xmlns="http://schemas.openxmlformats.org/package/2006/content-types">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4"/>
  </p:sldMasterIdLst>
  <p:notesMasterIdLst>
    <p:notesMasterId r:id="rId5"/>
  </p:notesMasterIdLst>
  <p:sldIdLst>
    <p:sldId id="256" r:id="rId6"/>
    <p:sldId id="282" r:id="rId117"/>
    <p:sldId id="283" r:id="rId118"/>
    <p:sldId id="258" r:id="rId8"/>
    <p:sldId id="259" r:id="rId9"/>
    <p:sldId id="261" r:id="rId11"/>
    <p:sldId id="267" r:id="rId10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表紙" id="{409EA2B5-F2A7-4CB5-82BA-641B7F0CD0B6}">
          <p14:sldIdLst>
            <p14:sldId id="256"/>
            <p14:sldId id="282"/>
            <p14:sldId id="283"/>
          </p14:sldIdLst>
        </p14:section>
        <p14:section name="予算移管の方針と進め方" id="{21F2759C-30DB-4622-835D-072BEE233D36}">
          <p14:sldIdLst>
            <p14:sldId id="258"/>
            <p14:sldId id="259"/>
          </p14:sldIdLst>
        </p14:section>
        <p14:section name="移管後の役割" id="{3B745467-87E7-42D2-8B4B-1BA428B43514}">
          <p14:sldIdLst>
            <p14:sldId id="261"/>
          </p14:sldIdLst>
        </p14:section>
        <p14:section name="IT資産管理" id="{7F319247-5CD6-4AF9-B288-B32F66FBC758}">
          <p14:sldIdLst>
            <p14:sldId id="267"/>
          </p14:sldIdLst>
        </p14:section>
      </p14:section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8A727C-A965-479B-B08A-54D43AD2AD89}">
  <a:tblStyle styleId="{578A727C-A965-479B-B08A-54D43AD2AD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5.xml"/><Relationship Id="rId9" Type="http://schemas.openxmlformats.org/officeDocument/2006/relationships/slide" Target="slides/slide6.xml"/><Relationship Id="rId11" Type="http://schemas.openxmlformats.org/officeDocument/2006/relationships/slide" Target="slides/slide8.xml"/><Relationship Id="rId102" Type="http://schemas.openxmlformats.org/officeDocument/2006/relationships/slide" Target="slides/slide9.xml"/><Relationship Id="rId117" Type="http://schemas.openxmlformats.org/officeDocument/2006/relationships/slide" Target="slides/slide2.xml"/><Relationship Id="rId11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この資料は「IT部門向け予算ガイドライン」の追補で、来年度予算からの IT予算移管を、GDSの各チームが普段の業務の中で進めるときの拠り所です。予算移管はプロジェクトではなく、専用の体制も作りません。全社で決まっている方針は守り、それ以外の進め方は、カウンターパートの各ファンクションと合意して決めてください。</a:t>
            </a: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今期の目標は、移管の稟議が12月末までに承認されることです。移管による効果の創出は、来期に改めて検討します。予算は移す時期によって3つに分けます。経費予算は1月1日にそろって移し、来年度に始める IT投資案件の予算は来年度予算から GDSが持ち、今年度から続く IT投資案件は移す時期を案件ごとに合意します。目標については、12月末までに終わっていることと、移管後に順次対応することを分けて確認してください。</a:t>
            </a:r>
          </a:p>
        </p:txBody>
      </p:sp>
      <p:sp>
        <p:nvSpPr>
          <p:cNvPr id="49" name="Google Shape;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11月と12月の進め方の目安です。担当BPは、ヒアリングシートを基に移管元と合意し、業務マニュアルや契約書、過去の記録を基に引き継ぎ、稟議申請の時点で完了を報告します。期間を通して、進捗管理表を随時更新し、問題が起きたとき、または起きそうなときは報告・相談してください。ゴールは、S&amp;Gにとっては移管の稟議が承認されていること、担当BPにとっては移管後の業務を開始できる状態にあることです。どちらも、その状態に行くための材料がそろっている必要があります。</a:t>
            </a:r>
          </a:p>
        </p:txBody>
      </p:sp>
      <p:sp>
        <p:nvSpPr>
          <p:cNvPr id="71" name="Google Shape;7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移管後の役割分担です。箱は領域、矢印の上に書いたのが行為です。ビジネス戦略から要求を明確にしてビジネス要件を定め、受け入れと効果測定の結果を評価して戦略を見直すのは各ファンクションです。ビジネス戦略を受けて IT戦略を策定し、その方針をソリューションに適用すること、非機能要件をシステム要件に示すこと、ソーシングの方針をベンダーに示すこと、ビジネス要件をシステム要件に落とす要件定義、ソリューション選定、ベンダー選定は、GDSがリードし、各ファンクションの助言のもとで GDSが決定します。ただし、ある部門に固有で、他への影響が一切ないシステムは、この限りではありません。IT財務管理、契約管理、サービス品質管理は GDSが担います。分担の細部と GDSが担い始める時期は、案件ごとに合意文書で確定してください。</a:t>
            </a:r>
          </a:p>
        </p:txBody>
      </p:sp>
      <p:sp>
        <p:nvSpPr>
          <p:cNvPr id="201" name="Google Shape;20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rgbClr val="EEEFEF"/>
        </a:solidFill>
        <a:effectLst/>
      </p:bgPr>
    </p:bg>
    <p:spTree>
      <p:nvGrpSpPr>
        <p:cNvPr id="11" name="Shape 11"/>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ja-JP"/>
          </a:p>
        </p:txBody>
      </p:sp>
      <p:sp>
        <p:nvSpPr>
          <p:cNvPr id="902" name="Arc BR"/>
          <p:cNvSpPr/>
          <p:nvPr userDrawn="1"/>
        </p:nvSpPr>
        <p:spPr>
          <a:xfrm>
            <a:off x="9652000" y="4318000"/>
            <a:ext cx="5080000" cy="5080000"/>
          </a:xfrm>
          <a:prstGeom prst="ellipse">
            <a:avLst/>
          </a:prstGeom>
          <a:noFill/>
          <a:ln w="279400">
            <a:solidFill>
              <a:srgbClr val="DEDEDF"/>
            </a:solidFill>
          </a:ln>
        </p:spPr>
        <p:txBody>
          <a:bodyPr/>
          <a:lstStyle/>
          <a:p>
            <a:endParaRPr lang="ja-JP"/>
          </a:p>
        </p:txBody>
      </p:sp>
      <p:sp>
        <p:nvSpPr>
          <p:cNvPr id="12" name="Google Shape;12;p2"/>
          <p:cNvSpPr txBox="1"/>
          <p:nvPr>
            <p:ph type="title"/>
          </p:nvPr>
        </p:nvSpPr>
        <p:spPr>
          <a:xfrm>
            <a:off x="731520" y="2286000"/>
            <a:ext cx="10698480"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404040"/>
              </a:buClr>
              <a:buSzPts val="3600"/>
              <a:buFont typeface="Arial"/>
              <a:buNone/>
              <a:defRPr b="1" i="0" sz="3600" u="none" cap="none" strike="noStrike">
                <a:solidFill>
                  <a:srgbClr val="40404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
          <p:cNvSpPr txBox="1"/>
          <p:nvPr>
            <p:ph idx="1" type="body"/>
          </p:nvPr>
        </p:nvSpPr>
        <p:spPr>
          <a:xfrm>
            <a:off x="731520" y="3383280"/>
            <a:ext cx="10698480" cy="109728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rgbClr val="404040"/>
              </a:buClr>
              <a:buSzPts val="1600"/>
              <a:buFont typeface="Arial"/>
              <a:buNone/>
              <a:defRPr b="0" i="0" sz="1600" u="none" cap="none" strike="noStrike">
                <a:solidFill>
                  <a:srgbClr val="404040"/>
                </a:solidFill>
                <a:latin typeface="Arial"/>
                <a:ea typeface="Arial"/>
                <a:cs typeface="Arial"/>
                <a:sym typeface="Arial"/>
              </a:defRPr>
            </a:lvl1pPr>
            <a:lvl2pPr indent="-406400" lvl="1" marL="914400" marR="0" rtl="0" algn="l">
              <a:spcBef>
                <a:spcPts val="560"/>
              </a:spcBef>
              <a:spcAft>
                <a:spcPts val="0"/>
              </a:spcAft>
              <a:buClr>
                <a:srgbClr val="404040"/>
              </a:buClr>
              <a:buSzPts val="2800"/>
              <a:buFont typeface="Arial"/>
              <a:buChar char="–"/>
              <a:defRPr b="0" i="0" sz="2800" u="none" cap="none" strike="noStrike">
                <a:solidFill>
                  <a:srgbClr val="404040"/>
                </a:solidFill>
                <a:latin typeface="Arial"/>
                <a:ea typeface="Arial"/>
                <a:cs typeface="Arial"/>
                <a:sym typeface="Arial"/>
              </a:defRPr>
            </a:lvl2pPr>
            <a:lvl3pPr indent="-381000" lvl="2" marL="1371600" marR="0" rtl="0" algn="l">
              <a:spcBef>
                <a:spcPts val="480"/>
              </a:spcBef>
              <a:spcAft>
                <a:spcPts val="0"/>
              </a:spcAft>
              <a:buClr>
                <a:srgbClr val="404040"/>
              </a:buClr>
              <a:buSzPts val="2400"/>
              <a:buFont typeface="Arial"/>
              <a:buChar char="•"/>
              <a:defRPr b="0" i="0" sz="2400" u="none" cap="none" strike="noStrike">
                <a:solidFill>
                  <a:srgbClr val="404040"/>
                </a:solidFill>
                <a:latin typeface="Arial"/>
                <a:ea typeface="Arial"/>
                <a:cs typeface="Arial"/>
                <a:sym typeface="Arial"/>
              </a:defRPr>
            </a:lvl3pPr>
            <a:lvl4pPr indent="-355600" lvl="3" marL="18288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4pPr>
            <a:lvl5pPr indent="-355600" lvl="4" marL="22860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5pPr>
            <a:lvl6pPr indent="-355600" lvl="5" marL="27432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6pPr>
            <a:lvl7pPr indent="-355600" lvl="6" marL="32004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7pPr>
            <a:lvl8pPr indent="-355600" lvl="7" marL="36576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8pPr>
            <a:lvl9pPr indent="-355600" lvl="8" marL="41148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4" name="Shape 14"/>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ja-JP"/>
          </a:p>
        </p:txBody>
      </p:sp>
      <p:sp>
        <p:nvSpPr>
          <p:cNvPr id="902" name="Arc BR"/>
          <p:cNvSpPr/>
          <p:nvPr userDrawn="1"/>
        </p:nvSpPr>
        <p:spPr>
          <a:xfrm>
            <a:off x="11684000" y="6350000"/>
            <a:ext cx="1117600" cy="1117600"/>
          </a:xfrm>
          <a:prstGeom prst="ellipse">
            <a:avLst/>
          </a:prstGeom>
          <a:noFill/>
          <a:ln w="114300">
            <a:solidFill>
              <a:srgbClr val="DEDEDF"/>
            </a:solidFill>
          </a:ln>
        </p:spPr>
        <p:txBody>
          <a:bodyPr/>
          <a:lstStyle/>
          <a:p>
            <a:endParaRPr lang="ja-JP"/>
          </a:p>
        </p:txBody>
      </p:sp>
      <p:sp>
        <p:nvSpPr>
          <p:cNvPr id="15" name="Google Shape;15;p3"/>
          <p:cNvSpPr txBox="1"/>
          <p:nvPr>
            <p:ph type="title"/>
          </p:nvPr>
        </p:nvSpPr>
        <p:spPr>
          <a:xfrm>
            <a:off x="635000" y="406400"/>
            <a:ext cx="10922000" cy="4318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23323B"/>
              </a:buClr>
              <a:buSzPts val="2600"/>
              <a:buFont typeface="Arial"/>
              <a:buNone/>
              <a:defRPr b="1" i="0" sz="2600" u="none" cap="none" strike="noStrike">
                <a:solidFill>
                  <a:srgbClr val="23323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3"/>
          <p:cNvSpPr txBox="1"/>
          <p:nvPr>
            <p:ph idx="12" type="sldNum"/>
          </p:nvPr>
        </p:nvSpPr>
        <p:spPr>
          <a:xfrm>
            <a:off x="10795000" y="6527800"/>
            <a:ext cx="762000" cy="1524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rgbClr val="7F7F7F"/>
                </a:solidFill>
                <a:latin typeface="Arial"/>
                <a:ea typeface="Arial"/>
                <a:cs typeface="Arial"/>
                <a:sym typeface="Arial"/>
              </a:defRPr>
            </a:lvl1pPr>
            <a:lvl2pPr indent="0" lvl="1" marL="0" marR="0" algn="r">
              <a:spcBef>
                <a:spcPts val="0"/>
              </a:spcBef>
              <a:buNone/>
              <a:defRPr b="0" i="0" sz="900" u="none" cap="none" strike="noStrike">
                <a:solidFill>
                  <a:srgbClr val="7F7F7F"/>
                </a:solidFill>
                <a:latin typeface="Arial"/>
                <a:ea typeface="Arial"/>
                <a:cs typeface="Arial"/>
                <a:sym typeface="Arial"/>
              </a:defRPr>
            </a:lvl2pPr>
            <a:lvl3pPr indent="0" lvl="2" marL="0" marR="0" algn="r">
              <a:spcBef>
                <a:spcPts val="0"/>
              </a:spcBef>
              <a:buNone/>
              <a:defRPr b="0" i="0" sz="900" u="none" cap="none" strike="noStrike">
                <a:solidFill>
                  <a:srgbClr val="7F7F7F"/>
                </a:solidFill>
                <a:latin typeface="Arial"/>
                <a:ea typeface="Arial"/>
                <a:cs typeface="Arial"/>
                <a:sym typeface="Arial"/>
              </a:defRPr>
            </a:lvl3pPr>
            <a:lvl4pPr indent="0" lvl="3" marL="0" marR="0" algn="r">
              <a:spcBef>
                <a:spcPts val="0"/>
              </a:spcBef>
              <a:buNone/>
              <a:defRPr b="0" i="0" sz="900" u="none" cap="none" strike="noStrike">
                <a:solidFill>
                  <a:srgbClr val="7F7F7F"/>
                </a:solidFill>
                <a:latin typeface="Arial"/>
                <a:ea typeface="Arial"/>
                <a:cs typeface="Arial"/>
                <a:sym typeface="Arial"/>
              </a:defRPr>
            </a:lvl4pPr>
            <a:lvl5pPr indent="0" lvl="4" marL="0" marR="0" algn="r">
              <a:spcBef>
                <a:spcPts val="0"/>
              </a:spcBef>
              <a:buNone/>
              <a:defRPr b="0" i="0" sz="900" u="none" cap="none" strike="noStrike">
                <a:solidFill>
                  <a:srgbClr val="7F7F7F"/>
                </a:solidFill>
                <a:latin typeface="Arial"/>
                <a:ea typeface="Arial"/>
                <a:cs typeface="Arial"/>
                <a:sym typeface="Arial"/>
              </a:defRPr>
            </a:lvl5pPr>
            <a:lvl6pPr indent="0" lvl="5" marL="0" marR="0" algn="r">
              <a:spcBef>
                <a:spcPts val="0"/>
              </a:spcBef>
              <a:buNone/>
              <a:defRPr b="0" i="0" sz="900" u="none" cap="none" strike="noStrike">
                <a:solidFill>
                  <a:srgbClr val="7F7F7F"/>
                </a:solidFill>
                <a:latin typeface="Arial"/>
                <a:ea typeface="Arial"/>
                <a:cs typeface="Arial"/>
                <a:sym typeface="Arial"/>
              </a:defRPr>
            </a:lvl6pPr>
            <a:lvl7pPr indent="0" lvl="6" marL="0" marR="0" algn="r">
              <a:spcBef>
                <a:spcPts val="0"/>
              </a:spcBef>
              <a:buNone/>
              <a:defRPr b="0" i="0" sz="900" u="none" cap="none" strike="noStrike">
                <a:solidFill>
                  <a:srgbClr val="7F7F7F"/>
                </a:solidFill>
                <a:latin typeface="Arial"/>
                <a:ea typeface="Arial"/>
                <a:cs typeface="Arial"/>
                <a:sym typeface="Arial"/>
              </a:defRPr>
            </a:lvl7pPr>
            <a:lvl8pPr indent="0" lvl="7" marL="0" marR="0" algn="r">
              <a:spcBef>
                <a:spcPts val="0"/>
              </a:spcBef>
              <a:buNone/>
              <a:defRPr b="0" i="0" sz="900" u="none" cap="none" strike="noStrike">
                <a:solidFill>
                  <a:srgbClr val="7F7F7F"/>
                </a:solidFill>
                <a:latin typeface="Arial"/>
                <a:ea typeface="Arial"/>
                <a:cs typeface="Arial"/>
                <a:sym typeface="Arial"/>
              </a:defRPr>
            </a:lvl8pPr>
            <a:lvl9pPr indent="0" lvl="8" marL="0" marR="0" algn="r">
              <a:spcBef>
                <a:spcPts val="0"/>
              </a:spcBef>
              <a:buNone/>
              <a:defRPr b="0" i="0" sz="9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03" name="Footer"/>
          <p:cNvSpPr txBox="1"/>
          <p:nvPr userDrawn="1"/>
        </p:nvSpPr>
        <p:spPr>
          <a:xfrm>
            <a:off x="635000" y="6527800"/>
            <a:ext cx="3810000" cy="152400"/>
          </a:xfrm>
          <a:prstGeom prst="rect">
            <a:avLst/>
          </a:prstGeom>
          <a:noFill/>
        </p:spPr>
        <p:txBody>
          <a:bodyPr wrap="none" lIns="0" tIns="0" rIns="0" bIns="0" anchor="b"/>
          <a:lstStyle/>
          <a:p>
            <a:pPr algn="l"/>
            <a:r>
              <a:rPr lang="ja-JP" sz="1000">
                <a:solidFill>
                  <a:srgbClr val="7F7F7F"/>
                </a:solidFill>
                <a:latin typeface="Arial"/>
                <a:ea typeface="Meiryo UI"/>
              </a:rPr>
              <a:t>予算ガイドライン追補｜IT予算移管の要点</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rgbClr val="FFFFFF"/>
        </a:solidFill>
      </p:bgPr>
    </p:bg>
    <p:spTree>
      <p:nvGrpSpPr>
        <p:cNvPr id="17" name="Shape 17"/>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ja-JP"/>
          </a:p>
        </p:txBody>
      </p:sp>
      <p:sp>
        <p:nvSpPr>
          <p:cNvPr id="902" name="Arc BR"/>
          <p:cNvSpPr/>
          <p:nvPr userDrawn="1"/>
        </p:nvSpPr>
        <p:spPr>
          <a:xfrm>
            <a:off x="11684000" y="6350000"/>
            <a:ext cx="1117600" cy="1117600"/>
          </a:xfrm>
          <a:prstGeom prst="ellipse">
            <a:avLst/>
          </a:prstGeom>
          <a:noFill/>
          <a:ln w="114300">
            <a:solidFill>
              <a:srgbClr val="DEDEDF"/>
            </a:solidFill>
          </a:ln>
        </p:spPr>
        <p:txBody>
          <a:bodyPr/>
          <a:lstStyle/>
          <a:p>
            <a:endParaRPr lang="ja-JP"/>
          </a:p>
        </p:txBody>
      </p:sp>
      <p:sp>
        <p:nvSpPr>
          <p:cNvPr id="903" name="Footer"/>
          <p:cNvSpPr txBox="1"/>
          <p:nvPr userDrawn="1"/>
        </p:nvSpPr>
        <p:spPr>
          <a:xfrm>
            <a:off x="635000" y="6527800"/>
            <a:ext cx="3810000" cy="152400"/>
          </a:xfrm>
          <a:prstGeom prst="rect">
            <a:avLst/>
          </a:prstGeom>
          <a:noFill/>
        </p:spPr>
        <p:txBody>
          <a:bodyPr wrap="none" lIns="0" tIns="0" rIns="0" bIns="0" anchor="b"/>
          <a:lstStyle/>
          <a:p>
            <a:pPr algn="l"/>
            <a:r>
              <a:rPr lang="ja-JP" sz="1000">
                <a:solidFill>
                  <a:srgbClr val="7F7F7F"/>
                </a:solidFill>
                <a:latin typeface="Arial"/>
                <a:ea typeface="Meiryo UI"/>
              </a:rPr>
              <a:t>予算ガイドライン追補｜IT予算移管の要点</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ja-JP"/>
          </a:p>
        </p:txBody>
      </p:sp>
      <p:sp>
        <p:nvSpPr>
          <p:cNvPr id="902" name="Arc BR"/>
          <p:cNvSpPr/>
          <p:nvPr userDrawn="1"/>
        </p:nvSpPr>
        <p:spPr>
          <a:xfrm>
            <a:off x="11684000" y="6350000"/>
            <a:ext cx="1117600" cy="1117600"/>
          </a:xfrm>
          <a:prstGeom prst="ellipse">
            <a:avLst/>
          </a:prstGeom>
          <a:noFill/>
          <a:ln w="114300">
            <a:solidFill>
              <a:srgbClr val="DEDEDF"/>
            </a:solidFill>
          </a:ln>
        </p:spPr>
        <p:txBody>
          <a:bodyPr/>
          <a:lstStyle/>
          <a:p>
            <a:endParaRPr lang="ja-JP"/>
          </a:p>
        </p:txBody>
      </p:sp>
      <p:sp>
        <p:nvSpPr>
          <p:cNvPr id="2" name="Text 0"/>
          <p:cNvSpPr/>
          <p:nvPr>
            <p:ph idx="100" type="title" hasCustomPrompt="1"/>
          </p:nvPr>
        </p:nvSpPr>
        <p:spPr>
          <a:xfrm>
            <a:off x="635000" y="406400"/>
            <a:ext cx="10922000" cy="431800"/>
          </a:xfrm>
          <a:prstGeom prst="rect">
            <a:avLst/>
          </a:prstGeom>
          <a:noFill/>
          <a:ln/>
        </p:spPr>
        <p:txBody>
          <a:bodyPr wrap="square" rtlCol="0"/>
          <a:lstStyle>
            <a:lvl1pPr algn="l" indent="0" marL="0">
              <a:buNone/>
              <a:defRPr lang="en-US" sz="2600" b="1" dirty="0">
                <a:solidFill>
                  <a:srgbClr val="23323B"/>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3" name="Text 0"/>
          <p:cNvSpPr/>
          <p:nvPr>
            <p:ph idx="101" type="body" hasCustomPrompt="1"/>
          </p:nvPr>
        </p:nvSpPr>
        <p:spPr>
          <a:xfrm>
            <a:off x="635000" y="889000"/>
            <a:ext cx="10922000" cy="304800"/>
          </a:xfrm>
          <a:prstGeom prst="rect">
            <a:avLst/>
          </a:prstGeom>
          <a:noFill/>
          <a:ln/>
        </p:spPr>
        <p:txBody>
          <a:bodyPr wrap="square" rtlCol="0"/>
          <a:lstStyle>
            <a:lvl1pPr indent="0" marL="0">
              <a:buNone/>
              <a:defRPr lang="en-US" sz="1400" dirty="0">
                <a:solidFill>
                  <a:srgbClr val="404040"/>
                </a:solidFill>
                <a:latin typeface="Arial" pitchFamily="34" charset="0"/>
                <a:ea typeface="Arial" pitchFamily="34" charset="-122"/>
                <a:cs typeface="Arial" pitchFamily="34" charset="-120"/>
              </a:defRPr>
            </a:lvl1pPr>
          </a:lstStyle>
          <a:p>
            <a:pPr indent="0" marL="0">
              <a:buNone/>
            </a:pPr>
            <a:endParaRPr lang="en-US" sz="1400" dirty="0"/>
          </a:p>
        </p:txBody>
      </p:sp>
      <p:sp>
        <p:nvSpPr>
          <p:cNvPr id="25" name="Slide Number Placeholder 0"/>
          <p:cNvSpPr>
            <a:spLocks noGrp="1"/>
          </p:cNvSpPr>
          <p:nvPr>
            <p:ph type="sldNum" sz="quarter" idx="4294967295"/>
          </p:nvPr>
        </p:nvSpPr>
        <p:spPr>
          <a:xfrm>
            <a:off x="10795000" y="6527800"/>
            <a:ext cx="762000" cy="1524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1002</a:t>
            </a:fld>
            <a:endParaRPr lang="en-US"/>
          </a:p>
        </p:txBody>
      </p:sp>
      <p:sp>
        <p:nvSpPr>
          <p:cNvPr id="903" name="Footer"/>
          <p:cNvSpPr txBox="1"/>
          <p:nvPr userDrawn="1"/>
        </p:nvSpPr>
        <p:spPr>
          <a:xfrm>
            <a:off x="635000" y="6527800"/>
            <a:ext cx="3810000" cy="152400"/>
          </a:xfrm>
          <a:prstGeom prst="rect">
            <a:avLst/>
          </a:prstGeom>
          <a:noFill/>
        </p:spPr>
        <p:txBody>
          <a:bodyPr wrap="none" lIns="0" tIns="0" rIns="0" bIns="0" anchor="b"/>
          <a:lstStyle/>
          <a:p>
            <a:pPr algn="l"/>
            <a:r>
              <a:rPr lang="ja-JP" sz="1000">
                <a:solidFill>
                  <a:srgbClr val="7F7F7F"/>
                </a:solidFill>
                <a:latin typeface="Arial"/>
                <a:ea typeface="Meiryo UI"/>
              </a:rPr>
              <a:t>予算ガイドライン追補｜IT予算移管の要点</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0795000" y="6527800"/>
            <a:ext cx="762000" cy="1524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900" u="none" cap="none" strike="noStrike">
                <a:solidFill>
                  <a:srgbClr val="7F7F7F"/>
                </a:solidFill>
                <a:latin typeface="Arial"/>
                <a:ea typeface="Arial"/>
                <a:cs typeface="Arial"/>
                <a:sym typeface="Arial"/>
              </a:defRPr>
            </a:lvl1pPr>
            <a:lvl2pPr indent="0" lvl="1" marL="0" marR="0" rtl="0" algn="r">
              <a:spcBef>
                <a:spcPts val="0"/>
              </a:spcBef>
              <a:buNone/>
              <a:defRPr b="0" i="0" sz="900" u="none" cap="none" strike="noStrike">
                <a:solidFill>
                  <a:srgbClr val="7F7F7F"/>
                </a:solidFill>
                <a:latin typeface="Arial"/>
                <a:ea typeface="Arial"/>
                <a:cs typeface="Arial"/>
                <a:sym typeface="Arial"/>
              </a:defRPr>
            </a:lvl2pPr>
            <a:lvl3pPr indent="0" lvl="2" marL="0" marR="0" rtl="0" algn="r">
              <a:spcBef>
                <a:spcPts val="0"/>
              </a:spcBef>
              <a:buNone/>
              <a:defRPr b="0" i="0" sz="900" u="none" cap="none" strike="noStrike">
                <a:solidFill>
                  <a:srgbClr val="7F7F7F"/>
                </a:solidFill>
                <a:latin typeface="Arial"/>
                <a:ea typeface="Arial"/>
                <a:cs typeface="Arial"/>
                <a:sym typeface="Arial"/>
              </a:defRPr>
            </a:lvl3pPr>
            <a:lvl4pPr indent="0" lvl="3" marL="0" marR="0" rtl="0" algn="r">
              <a:spcBef>
                <a:spcPts val="0"/>
              </a:spcBef>
              <a:buNone/>
              <a:defRPr b="0" i="0" sz="900" u="none" cap="none" strike="noStrike">
                <a:solidFill>
                  <a:srgbClr val="7F7F7F"/>
                </a:solidFill>
                <a:latin typeface="Arial"/>
                <a:ea typeface="Arial"/>
                <a:cs typeface="Arial"/>
                <a:sym typeface="Arial"/>
              </a:defRPr>
            </a:lvl4pPr>
            <a:lvl5pPr indent="0" lvl="4" marL="0" marR="0" rtl="0" algn="r">
              <a:spcBef>
                <a:spcPts val="0"/>
              </a:spcBef>
              <a:buNone/>
              <a:defRPr b="0" i="0" sz="900" u="none" cap="none" strike="noStrike">
                <a:solidFill>
                  <a:srgbClr val="7F7F7F"/>
                </a:solidFill>
                <a:latin typeface="Arial"/>
                <a:ea typeface="Arial"/>
                <a:cs typeface="Arial"/>
                <a:sym typeface="Arial"/>
              </a:defRPr>
            </a:lvl5pPr>
            <a:lvl6pPr indent="0" lvl="5" marL="0" marR="0" rtl="0" algn="r">
              <a:spcBef>
                <a:spcPts val="0"/>
              </a:spcBef>
              <a:buNone/>
              <a:defRPr b="0" i="0" sz="900" u="none" cap="none" strike="noStrike">
                <a:solidFill>
                  <a:srgbClr val="7F7F7F"/>
                </a:solidFill>
                <a:latin typeface="Arial"/>
                <a:ea typeface="Arial"/>
                <a:cs typeface="Arial"/>
                <a:sym typeface="Arial"/>
              </a:defRPr>
            </a:lvl6pPr>
            <a:lvl7pPr indent="0" lvl="6" marL="0" marR="0" rtl="0" algn="r">
              <a:spcBef>
                <a:spcPts val="0"/>
              </a:spcBef>
              <a:buNone/>
              <a:defRPr b="0" i="0" sz="900" u="none" cap="none" strike="noStrike">
                <a:solidFill>
                  <a:srgbClr val="7F7F7F"/>
                </a:solidFill>
                <a:latin typeface="Arial"/>
                <a:ea typeface="Arial"/>
                <a:cs typeface="Arial"/>
                <a:sym typeface="Arial"/>
              </a:defRPr>
            </a:lvl7pPr>
            <a:lvl8pPr indent="0" lvl="7" marL="0" marR="0" rtl="0" algn="r">
              <a:spcBef>
                <a:spcPts val="0"/>
              </a:spcBef>
              <a:buNone/>
              <a:defRPr b="0" i="0" sz="900" u="none" cap="none" strike="noStrike">
                <a:solidFill>
                  <a:srgbClr val="7F7F7F"/>
                </a:solidFill>
                <a:latin typeface="Arial"/>
                <a:ea typeface="Arial"/>
                <a:cs typeface="Arial"/>
                <a:sym typeface="Arial"/>
              </a:defRPr>
            </a:lvl8pPr>
            <a:lvl9pPr indent="0" lvl="8" marL="0" marR="0" rtl="0" algn="r">
              <a:spcBef>
                <a:spcPts val="0"/>
              </a:spcBef>
              <a:buNone/>
              <a:defRPr b="0" i="0" sz="9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5"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ED5604"/>
        </a:solidFill>
        <a:effectLst/>
      </p:bgPr>
    </p:bg>
    <p:spTree>
      <p:nvGrpSpPr>
        <p:cNvPr id="22" name="Shape 22"/>
        <p:cNvGrpSpPr/>
        <p:nvPr/>
      </p:nvGrpSpPr>
      <p:grpSpPr>
        <a:xfrm>
          <a:off x="0" y="0"/>
          <a:ext cx="0" cy="0"/>
          <a:chOff x="0" y="0"/>
          <a:chExt cx="0" cy="0"/>
        </a:xfrm>
      </p:grpSpPr>
      <p:sp>
        <p:nvSpPr>
          <p:cNvPr id="950" name="Cover Arc"/>
          <p:cNvSpPr/>
          <p:nvPr userDrawn="1"/>
        </p:nvSpPr>
        <p:spPr>
          <a:xfrm>
            <a:off x="9017000" y="3937000"/>
            <a:ext cx="6350000" cy="6350000"/>
          </a:xfrm>
          <a:prstGeom prst="ellipse">
            <a:avLst/>
          </a:prstGeom>
          <a:noFill/>
          <a:ln w="381000">
            <a:solidFill>
              <a:srgbClr val="FFFFFF"/>
            </a:solidFill>
          </a:ln>
        </p:spPr>
        <p:txBody>
          <a:bodyPr/>
          <a:lstStyle/>
          <a:p>
            <a:endParaRPr lang="ja-JP"/>
          </a:p>
        </p:txBody>
      </p:sp>
      <p:sp>
        <p:nvSpPr>
          <p:cNvPr id="23" name="Google Shape;23;p5"/>
          <p:cNvSpPr txBox="1"/>
          <p:nvPr>
            <p:ph type="title"/>
          </p:nvPr>
        </p:nvSpPr>
        <p:spPr>
          <a:xfrm>
            <a:off x="635000" y="2377440"/>
            <a:ext cx="9326880" cy="73152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rgbClr val="FFFFFF"/>
              </a:buClr>
              <a:buSzPts val="3600"/>
              <a:buFont typeface="Arial"/>
              <a:buNone/>
            </a:pPr>
            <a:r>
              <a:rPr b="1" lang="en-US" sz="3400">
                <a:solidFill>
                  <a:srgbClr val="FFFFFF"/>
                </a:solidFill>
              </a:rPr>
              <a:t>「IT部門向け予算ガイドライン」追補</a:t>
            </a:r>
            <a:endParaRPr sz="4300" b="1">
              <a:solidFill>
                <a:srgbClr val="FFFFFF"/>
              </a:solidFill>
            </a:endParaRPr>
          </a:p>
        </p:txBody>
      </p:sp>
      <p:sp>
        <p:nvSpPr>
          <p:cNvPr id="24" name="Google Shape;24;p5"/>
          <p:cNvSpPr txBox="1"/>
          <p:nvPr>
            <p:ph idx="1" type="body"/>
          </p:nvPr>
        </p:nvSpPr>
        <p:spPr>
          <a:xfrm>
            <a:off x="635000" y="3611880"/>
            <a:ext cx="8128000" cy="762000"/>
          </a:xfrm>
          <a:prstGeom prst="rect">
            <a:avLst/>
          </a:prstGeom>
          <a:noFill/>
          <a:ln>
            <a:noFill/>
          </a:ln>
        </p:spPr>
        <p:txBody>
          <a:bodyPr anchorCtr="0" anchor="t" bIns="0" lIns="0" spcFirstLastPara="1" rIns="0" wrap="square" tIns="0">
            <a:noAutofit/>
          </a:bodyPr>
          <a:lstStyle/>
          <a:p>
            <a:pPr indent="0" lvl="0" marL="0" rtl="0" algn="l">
              <a:buClr>
                <a:srgbClr val="DDE5F2"/>
              </a:buClr>
              <a:buSzPts val="1600"/>
              <a:buNone/>
              <a:spcAft>
                <a:spcPts val="600"/>
              </a:spcAft>
            </a:pPr>
            <a:r>
              <a:rPr lang="en-US" sz="1800" b="1">
                <a:solidFill>
                  <a:srgbClr val="FFFFFF"/>
                </a:solidFill>
              </a:rPr>
              <a:t>IT予算移管の要点</a:t>
            </a:r>
            <a:endParaRPr sz="1800" b="1">
              <a:solidFill>
                <a:srgbClr val="FFFFFF"/>
              </a:solidFill>
            </a:endParaRPr>
          </a:p>
          <a:p>
            <a:pPr indent="0" lvl="0" marL="0" rtl="0" algn="l">
              <a:buClr>
                <a:srgbClr val="DDE5F2"/>
              </a:buClr>
              <a:buSzPts val="1600"/>
              <a:buNone/>
              <a:spcAft>
                <a:spcPts val="600"/>
              </a:spcAft>
            </a:pPr>
            <a:r>
              <a:rPr lang="en-US" sz="1800" b="1">
                <a:solidFill>
                  <a:srgbClr val="FFFFFF"/>
                </a:solidFill>
              </a:rPr>
              <a:t>2026年11月キックオフ</a:t>
            </a:r>
            <a:endParaRPr sz="1800" b="1">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ph type="title"/>
          </p:nvPr>
        </p:nvSpPr>
        <p:spPr>
          <a:xfrm>
            <a:off x="635000" y="406400"/>
            <a:ext cx="10922000" cy="431800"/>
          </a:xfrm>
          <a:prstGeom prst="rect">
            <a:avLst/>
          </a:prstGeom>
          <a:noFill/>
          <a:ln>
            <a:noFill/>
          </a:ln>
        </p:spPr>
        <p:txBody>
          <a:bodyPr anchor="t" lIns="0" tIns="0" rIns="0" bIns="0" wrap="square">
            <a:noAutofit/>
          </a:bodyPr>
          <a:lstStyle/>
          <a:p>
            <a:pPr algn="l" marL="0" indent="0">
              <a:buNone/>
            </a:pPr>
            <a:r>
              <a:rPr lang="en-US" sz="2400" b="1">
                <a:solidFill>
                  <a:srgbClr val="23323B"/>
                </a:solidFill>
                <a:latin typeface="Arial"/>
                <a:ea typeface="Arial"/>
                <a:cs typeface="Arial"/>
              </a:rPr>
              <a:t>本書の位置付け</a:t>
            </a:r>
          </a:p>
        </p:txBody>
      </p:sp>
      <p:sp>
        <p:nvSpPr>
          <p:cNvPr id="4" name="Shape 4"/>
          <p:cNvSpPr txBox="1"/>
          <p:nvPr/>
        </p:nvSpPr>
        <p:spPr>
          <a:xfrm>
            <a:off x="635000" y="889000"/>
            <a:ext cx="10922000" cy="304800"/>
          </a:xfrm>
          <a:prstGeom prst="rect">
            <a:avLst/>
          </a:prstGeom>
          <a:noFill/>
          <a:ln>
            <a:noFill/>
          </a:ln>
        </p:spPr>
        <p:txBody>
          <a:bodyPr wrap="square" lIns="0" tIns="0" rIns="0" bIns="0" anchor="t" rtlCol="0">
            <a:noAutofit/>
          </a:bodyPr>
          <a:lstStyle/>
          <a:p>
            <a:pPr algn="l" marL="0" indent="0">
              <a:spcBef>
                <a:spcPts val="0"/>
              </a:spcBef>
              <a:buNone/>
            </a:pPr>
            <a:r>
              <a:rPr lang="en-US" sz="1600" b="1">
                <a:solidFill>
                  <a:srgbClr val="404040"/>
                </a:solidFill>
                <a:latin typeface="Arial"/>
                <a:ea typeface="Arial"/>
                <a:cs typeface="Arial"/>
              </a:rPr>
              <a:t>「IT部門向け予算ガイドライン」の追補。IT予算移管に必要な箇所に絞って説明を補う</a:t>
            </a:r>
          </a:p>
        </p:txBody>
      </p:sp>
      <p:sp>
        <p:nvSpPr>
          <p:cNvPr id="5" name="Shape 5"/>
          <p:cNvSpPr/>
          <p:nvPr/>
        </p:nvSpPr>
        <p:spPr>
          <a:xfrm>
            <a:off x="2051908" y="1463040"/>
            <a:ext cx="5136291" cy="959122"/>
          </a:xfrm>
          <a:prstGeom prst="rect">
            <a:avLst/>
          </a:prstGeom>
          <a:solidFill>
            <a:srgbClr val="F2F2F2"/>
          </a:solidFill>
          <a:ln w="9525">
            <a:solidFill>
              <a:srgbClr val="D9D9D9"/>
            </a:solidFill>
          </a:ln>
        </p:spPr>
        <p:txBody>
          <a:bodyPr wrap="square" lIns="182880" tIns="182880" rIns="182880" bIns="182880" anchor="ctr" rtlCol="0">
            <a:noAutofit/>
          </a:bodyPr>
          <a:lstStyle/>
          <a:p>
            <a:pPr algn="l" marL="0" indent="0">
              <a:spcBef>
                <a:spcPts val="0"/>
              </a:spcBef>
              <a:buNone/>
            </a:pPr>
            <a:r>
              <a:rPr lang="en-US" sz="1400" b="1">
                <a:solidFill>
                  <a:srgbClr val="23323B"/>
                </a:solidFill>
                <a:latin typeface="Arial"/>
                <a:ea typeface="Arial"/>
                <a:cs typeface="Arial"/>
              </a:rPr>
              <a:t>全社予算策定ガイドライン</a:t>
            </a:r>
          </a:p>
          <a:p>
            <a:pPr algn="l" marL="0" indent="0">
              <a:spcBef>
                <a:spcPts val="0"/>
              </a:spcBef>
              <a:buNone/>
            </a:pPr>
            <a:r>
              <a:rPr lang="en-US" sz="1400" b="0">
                <a:solidFill>
                  <a:srgbClr val="404040"/>
                </a:solidFill>
                <a:latin typeface="Arial"/>
                <a:ea typeface="Arial"/>
                <a:cs typeface="Arial"/>
              </a:rPr>
              <a:t>全社</a:t>
            </a:r>
          </a:p>
        </p:txBody>
      </p:sp>
      <p:sp>
        <p:nvSpPr>
          <p:cNvPr id="6" name="Shape 6"/>
          <p:cNvSpPr txBox="1"/>
          <p:nvPr/>
        </p:nvSpPr>
        <p:spPr>
          <a:xfrm>
            <a:off x="7453870" y="1463040"/>
            <a:ext cx="4102834" cy="959122"/>
          </a:xfrm>
          <a:prstGeom prst="rect">
            <a:avLst/>
          </a:prstGeom>
          <a:noFill/>
          <a:ln>
            <a:noFill/>
          </a:ln>
        </p:spPr>
        <p:txBody>
          <a:bodyPr wrap="square" lIns="0" tIns="0" rIns="0" bIns="0" anchor="ctr" rtlCol="0">
            <a:noAutofit/>
          </a:bodyPr>
          <a:lstStyle/>
          <a:p>
            <a:pPr algn="l" marL="0" indent="0">
              <a:spcBef>
                <a:spcPts val="0"/>
              </a:spcBef>
              <a:buNone/>
            </a:pPr>
            <a:r>
              <a:rPr lang="en-US" sz="1250" b="0">
                <a:solidFill>
                  <a:srgbClr val="000000"/>
                </a:solidFill>
                <a:latin typeface="Arial"/>
                <a:ea typeface="Arial"/>
                <a:cs typeface="Arial"/>
              </a:rPr>
              <a:t>予算策定の全社の決まり。IT予算の移管はここで決定済み</a:t>
            </a:r>
          </a:p>
        </p:txBody>
      </p:sp>
      <p:sp>
        <p:nvSpPr>
          <p:cNvPr id="7" name="Shape 7"/>
          <p:cNvSpPr/>
          <p:nvPr/>
        </p:nvSpPr>
        <p:spPr>
          <a:xfrm>
            <a:off x="1432010" y="2623122"/>
            <a:ext cx="5756189" cy="959122"/>
          </a:xfrm>
          <a:prstGeom prst="rect">
            <a:avLst/>
          </a:prstGeom>
          <a:solidFill>
            <a:srgbClr val="FEE8DB"/>
          </a:solidFill>
          <a:ln w="9525">
            <a:solidFill>
              <a:srgbClr val="D9D9D9"/>
            </a:solidFill>
          </a:ln>
        </p:spPr>
        <p:txBody>
          <a:bodyPr wrap="square" lIns="182880" tIns="182880" rIns="182880" bIns="182880" anchor="ctr" rtlCol="0">
            <a:noAutofit/>
          </a:bodyPr>
          <a:lstStyle/>
          <a:p>
            <a:pPr algn="l" marL="0" indent="0">
              <a:spcBef>
                <a:spcPts val="0"/>
              </a:spcBef>
              <a:buNone/>
            </a:pPr>
            <a:r>
              <a:rPr lang="en-US" sz="1400" b="1">
                <a:solidFill>
                  <a:srgbClr val="23323B"/>
                </a:solidFill>
                <a:latin typeface="Arial"/>
                <a:ea typeface="Arial"/>
                <a:cs typeface="Arial"/>
              </a:rPr>
              <a:t>IT部門向け予算ガイドライン</a:t>
            </a:r>
          </a:p>
          <a:p>
            <a:pPr algn="l" marL="0" indent="0">
              <a:spcBef>
                <a:spcPts val="0"/>
              </a:spcBef>
              <a:buNone/>
            </a:pPr>
            <a:r>
              <a:rPr lang="en-US" sz="1400" b="0">
                <a:solidFill>
                  <a:srgbClr val="404040"/>
                </a:solidFill>
                <a:latin typeface="Arial"/>
                <a:ea typeface="Arial"/>
                <a:cs typeface="Arial"/>
              </a:rPr>
              <a:t>GDS</a:t>
            </a:r>
          </a:p>
        </p:txBody>
      </p:sp>
      <p:sp>
        <p:nvSpPr>
          <p:cNvPr id="8" name="Shape 8"/>
          <p:cNvSpPr txBox="1"/>
          <p:nvPr/>
        </p:nvSpPr>
        <p:spPr>
          <a:xfrm>
            <a:off x="7453870" y="2623122"/>
            <a:ext cx="4102834" cy="959122"/>
          </a:xfrm>
          <a:prstGeom prst="rect">
            <a:avLst/>
          </a:prstGeom>
          <a:noFill/>
          <a:ln>
            <a:noFill/>
          </a:ln>
        </p:spPr>
        <p:txBody>
          <a:bodyPr wrap="square" lIns="0" tIns="0" rIns="0" bIns="0" anchor="ctr" rtlCol="0">
            <a:noAutofit/>
          </a:bodyPr>
          <a:lstStyle/>
          <a:p>
            <a:pPr algn="l" marL="0" indent="0">
              <a:spcBef>
                <a:spcPts val="0"/>
              </a:spcBef>
              <a:buNone/>
            </a:pPr>
            <a:r>
              <a:rPr lang="en-US" sz="1250" b="0">
                <a:solidFill>
                  <a:srgbClr val="000000"/>
                </a:solidFill>
                <a:latin typeface="Arial"/>
                <a:ea typeface="Arial"/>
                <a:cs typeface="Arial"/>
              </a:rPr>
              <a:t>GDSの予算の考え方と運用</a:t>
            </a:r>
          </a:p>
        </p:txBody>
      </p:sp>
      <p:sp>
        <p:nvSpPr>
          <p:cNvPr id="9" name="Shape 9"/>
          <p:cNvSpPr/>
          <p:nvPr/>
        </p:nvSpPr>
        <p:spPr>
          <a:xfrm>
            <a:off x="812113" y="3783204"/>
            <a:ext cx="6376086" cy="959122"/>
          </a:xfrm>
          <a:prstGeom prst="rect">
            <a:avLst/>
          </a:prstGeom>
          <a:solidFill>
            <a:srgbClr val="FEDCCA"/>
          </a:solidFill>
          <a:ln>
            <a:noFill/>
          </a:ln>
        </p:spPr>
        <p:txBody>
          <a:bodyPr wrap="square" lIns="182880" tIns="182880" rIns="182880" bIns="182880" anchor="ctr" rtlCol="0">
            <a:noAutofit/>
          </a:bodyPr>
          <a:lstStyle/>
          <a:p>
            <a:pPr algn="l" marL="0" indent="0">
              <a:spcBef>
                <a:spcPts val="0"/>
              </a:spcBef>
              <a:buNone/>
            </a:pPr>
            <a:r>
              <a:rPr lang="en-US" sz="1400" b="1">
                <a:solidFill>
                  <a:srgbClr val="23323B"/>
                </a:solidFill>
                <a:latin typeface="Arial"/>
                <a:ea typeface="Arial"/>
                <a:cs typeface="Arial"/>
              </a:rPr>
              <a:t>本書：追補（IT予算移管の要点）</a:t>
            </a:r>
          </a:p>
          <a:p>
            <a:pPr algn="l" marL="0" indent="0">
              <a:spcBef>
                <a:spcPts val="0"/>
              </a:spcBef>
              <a:buNone/>
            </a:pPr>
            <a:r>
              <a:rPr lang="en-US" sz="1400" b="0">
                <a:solidFill>
                  <a:srgbClr val="404040"/>
                </a:solidFill>
                <a:latin typeface="Arial"/>
                <a:ea typeface="Arial"/>
                <a:cs typeface="Arial"/>
              </a:rPr>
              <a:t>GDSの各チーム</a:t>
            </a:r>
          </a:p>
        </p:txBody>
      </p:sp>
      <p:sp>
        <p:nvSpPr>
          <p:cNvPr id="10" name="Shape 10"/>
          <p:cNvSpPr txBox="1"/>
          <p:nvPr/>
        </p:nvSpPr>
        <p:spPr>
          <a:xfrm>
            <a:off x="7453870" y="3783204"/>
            <a:ext cx="4102834" cy="959122"/>
          </a:xfrm>
          <a:prstGeom prst="rect">
            <a:avLst/>
          </a:prstGeom>
          <a:noFill/>
          <a:ln>
            <a:noFill/>
          </a:ln>
        </p:spPr>
        <p:txBody>
          <a:bodyPr wrap="square" lIns="0" tIns="0" rIns="0" bIns="0" anchor="ctr" rtlCol="0">
            <a:noAutofit/>
          </a:bodyPr>
          <a:lstStyle/>
          <a:p>
            <a:pPr algn="l" marL="0" indent="0">
              <a:spcBef>
                <a:spcPts val="0"/>
              </a:spcBef>
              <a:buNone/>
            </a:pPr>
            <a:r>
              <a:rPr lang="en-US" sz="1250" b="0">
                <a:solidFill>
                  <a:srgbClr val="000000"/>
                </a:solidFill>
                <a:latin typeface="Arial"/>
                <a:ea typeface="Arial"/>
                <a:cs typeface="Arial"/>
              </a:rPr>
              <a:t>予算移管の方針と進め方、役割分担の雛形。方針以外は、各ファンクションと合意して決める</a:t>
            </a:r>
          </a:p>
        </p:txBody>
      </p:sp>
      <p:sp>
        <p:nvSpPr>
          <p:cNvPr id="11" name="Shape 11"/>
          <p:cNvSpPr/>
          <p:nvPr/>
        </p:nvSpPr>
        <p:spPr>
          <a:xfrm>
            <a:off x="635000" y="4988958"/>
            <a:ext cx="10921704" cy="1361041"/>
          </a:xfrm>
          <a:prstGeom prst="rect">
            <a:avLst/>
          </a:prstGeom>
          <a:solidFill>
            <a:srgbClr val="F2F2F2"/>
          </a:solidFill>
          <a:ln>
            <a:noFill/>
          </a:ln>
        </p:spPr>
        <p:txBody>
          <a:bodyPr wrap="square" lIns="0" tIns="0" rIns="0" bIns="0" anchor="t" rtlCol="0">
            <a:noAutofit/>
          </a:bodyPr>
          <a:lstStyle/>
          <a:p>
            <a:endParaRPr lang="ja-JP"/>
          </a:p>
        </p:txBody>
      </p:sp>
      <p:sp>
        <p:nvSpPr>
          <p:cNvPr id="12" name="Shape 12"/>
          <p:cNvSpPr txBox="1"/>
          <p:nvPr/>
        </p:nvSpPr>
        <p:spPr>
          <a:xfrm>
            <a:off x="856391" y="5098572"/>
            <a:ext cx="10449697" cy="328842"/>
          </a:xfrm>
          <a:prstGeom prst="rect">
            <a:avLst/>
          </a:prstGeom>
          <a:noFill/>
          <a:ln>
            <a:noFill/>
          </a:ln>
        </p:spPr>
        <p:txBody>
          <a:bodyPr wrap="square" lIns="0" tIns="0" rIns="0" bIns="0" anchor="ctr" rtlCol="0">
            <a:noAutofit/>
          </a:bodyPr>
          <a:lstStyle/>
          <a:p>
            <a:pPr algn="l" marL="0" indent="0">
              <a:spcBef>
                <a:spcPts val="0"/>
              </a:spcBef>
              <a:buNone/>
            </a:pPr>
            <a:r>
              <a:rPr lang="en-US" sz="1350" b="1">
                <a:solidFill>
                  <a:srgbClr val="23323B"/>
                </a:solidFill>
                <a:latin typeface="Arial"/>
                <a:ea typeface="Arial"/>
                <a:cs typeface="Arial"/>
              </a:rPr>
              <a:t>本書を使うときの決まり</a:t>
            </a:r>
          </a:p>
        </p:txBody>
      </p:sp>
      <p:sp>
        <p:nvSpPr>
          <p:cNvPr id="13" name="Shape 13"/>
          <p:cNvSpPr txBox="1"/>
          <p:nvPr/>
        </p:nvSpPr>
        <p:spPr>
          <a:xfrm>
            <a:off x="856391" y="5445684"/>
            <a:ext cx="10449697" cy="812970"/>
          </a:xfrm>
          <a:prstGeom prst="rect">
            <a:avLst/>
          </a:prstGeom>
          <a:noFill/>
          <a:ln>
            <a:noFill/>
          </a:ln>
        </p:spPr>
        <p:txBody>
          <a:bodyPr wrap="square" lIns="0" tIns="0" rIns="0" bIns="0" anchor="t" rtlCol="0">
            <a:noAutofit/>
          </a:bodyPr>
          <a:lstStyle/>
          <a:p>
            <a:pPr algn="l" marL="171450" indent="-171450">
              <a:spcBef>
                <a:spcPts val="400"/>
              </a:spcBef>
              <a:buFont typeface="Arial"/>
              <a:buChar char="•"/>
            </a:pPr>
            <a:r>
              <a:rPr lang="en-US" sz="1250" b="0">
                <a:solidFill>
                  <a:srgbClr val="000000"/>
                </a:solidFill>
                <a:latin typeface="Arial"/>
                <a:ea typeface="Arial"/>
                <a:cs typeface="Arial"/>
              </a:rPr>
              <a:t>本書とガイドラインに齟齬がある場合は、ガイドラインの定めに従う</a:t>
            </a:r>
          </a:p>
          <a:p>
            <a:pPr algn="l" marL="171450" indent="-171450">
              <a:spcBef>
                <a:spcPts val="400"/>
              </a:spcBef>
              <a:buFont typeface="Arial"/>
              <a:buChar char="•"/>
            </a:pPr>
            <a:r>
              <a:rPr lang="en-US" sz="1250" b="0">
                <a:solidFill>
                  <a:srgbClr val="000000"/>
                </a:solidFill>
                <a:latin typeface="Arial"/>
                <a:ea typeface="Arial"/>
                <a:cs typeface="Arial"/>
              </a:rPr>
              <a:t>GxP 対象の業務は、品質保証部門が定める SOP・手順が正となる。本書の役割分担は雛形として使う</a:t>
            </a:r>
          </a:p>
          <a:p>
            <a:pPr algn="l" marL="171450" indent="-171450">
              <a:spcBef>
                <a:spcPts val="400"/>
              </a:spcBef>
              <a:buFont typeface="Arial"/>
              <a:buChar char="•"/>
            </a:pPr>
            <a:r>
              <a:rPr lang="en-US" sz="1250" b="0">
                <a:solidFill>
                  <a:srgbClr val="000000"/>
                </a:solidFill>
                <a:latin typeface="Arial"/>
                <a:ea typeface="Arial"/>
                <a:cs typeface="Arial"/>
              </a:rPr>
              <a:t>本書の下には、憲章（運用の基準）、手順書（Runbook）と予算移管シートを置く。合意した内容は合意文書に残す</a:t>
            </a:r>
          </a:p>
        </p:txBody>
      </p:sp>
      <p:sp>
        <p:nvSpPr>
          <p:cNvPr id="14" name="Google Shape;45;p6"/>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ph type="title"/>
          </p:nvPr>
        </p:nvSpPr>
        <p:spPr>
          <a:xfrm>
            <a:off x="635000" y="406400"/>
            <a:ext cx="10922000" cy="431800"/>
          </a:xfrm>
          <a:prstGeom prst="rect">
            <a:avLst/>
          </a:prstGeom>
          <a:noFill/>
          <a:ln>
            <a:noFill/>
          </a:ln>
        </p:spPr>
        <p:txBody>
          <a:bodyPr anchor="t" lIns="0" tIns="0" rIns="0" bIns="0" wrap="square">
            <a:noAutofit/>
          </a:bodyPr>
          <a:lstStyle/>
          <a:p>
            <a:pPr algn="l" marL="0" indent="0">
              <a:buNone/>
            </a:pPr>
            <a:r>
              <a:rPr lang="en-US" sz="2400" b="1">
                <a:solidFill>
                  <a:srgbClr val="23323B"/>
                </a:solidFill>
                <a:latin typeface="Arial"/>
                <a:ea typeface="Arial"/>
                <a:cs typeface="Arial"/>
              </a:rPr>
              <a:t>本書で扱うこと</a:t>
            </a:r>
          </a:p>
        </p:txBody>
      </p:sp>
      <p:sp>
        <p:nvSpPr>
          <p:cNvPr id="4" name="Shape 4"/>
          <p:cNvSpPr txBox="1"/>
          <p:nvPr/>
        </p:nvSpPr>
        <p:spPr>
          <a:xfrm>
            <a:off x="635000" y="889000"/>
            <a:ext cx="10922000" cy="304800"/>
          </a:xfrm>
          <a:prstGeom prst="rect">
            <a:avLst/>
          </a:prstGeom>
          <a:noFill/>
          <a:ln>
            <a:noFill/>
          </a:ln>
        </p:spPr>
        <p:txBody>
          <a:bodyPr wrap="square" lIns="0" tIns="0" rIns="0" bIns="0" anchor="t" rtlCol="0">
            <a:noAutofit/>
          </a:bodyPr>
          <a:lstStyle/>
          <a:p>
            <a:pPr algn="l" marL="0" indent="0">
              <a:spcBef>
                <a:spcPts val="0"/>
              </a:spcBef>
              <a:buNone/>
            </a:pPr>
            <a:r>
              <a:rPr lang="en-US" sz="1600" b="1">
                <a:solidFill>
                  <a:srgbClr val="404040"/>
                </a:solidFill>
                <a:latin typeface="Arial"/>
                <a:ea typeface="Arial"/>
                <a:cs typeface="Arial"/>
              </a:rPr>
              <a:t>本書は、予算移管を進めるうえで各チームが押さえる3つのことを扱う</a:t>
            </a:r>
          </a:p>
        </p:txBody>
      </p:sp>
      <p:sp>
        <p:nvSpPr>
          <p:cNvPr id="5" name="Shape 5"/>
          <p:cNvSpPr/>
          <p:nvPr/>
        </p:nvSpPr>
        <p:spPr>
          <a:xfrm>
            <a:off x="635000" y="1600200"/>
            <a:ext cx="10921704" cy="1188720"/>
          </a:xfrm>
          <a:prstGeom prst="rect">
            <a:avLst/>
          </a:prstGeom>
          <a:solidFill>
            <a:srgbClr val="F2F2F2"/>
          </a:solidFill>
          <a:ln>
            <a:noFill/>
          </a:ln>
        </p:spPr>
        <p:txBody>
          <a:bodyPr wrap="square" lIns="0" tIns="0" rIns="0" bIns="0" anchor="t" rtlCol="0">
            <a:noAutofit/>
          </a:bodyPr>
          <a:lstStyle/>
          <a:p>
            <a:endParaRPr lang="ja-JP"/>
          </a:p>
        </p:txBody>
      </p:sp>
      <p:sp>
        <p:nvSpPr>
          <p:cNvPr id="6" name="Shape 6"/>
          <p:cNvSpPr/>
          <p:nvPr/>
        </p:nvSpPr>
        <p:spPr>
          <a:xfrm>
            <a:off x="944948" y="1828800"/>
            <a:ext cx="708454" cy="731520"/>
          </a:xfrm>
          <a:prstGeom prst="ellipse">
            <a:avLst/>
          </a:prstGeom>
          <a:solidFill>
            <a:srgbClr val="ED5604"/>
          </a:solidFill>
          <a:ln>
            <a:noFill/>
          </a:ln>
        </p:spPr>
        <p:txBody>
          <a:bodyPr wrap="square" lIns="0" tIns="0" rIns="0" bIns="0" anchor="ctr" rtlCol="0">
            <a:noAutofit/>
          </a:bodyPr>
          <a:lstStyle/>
          <a:p>
            <a:pPr algn="ctr" marL="0" indent="0">
              <a:spcBef>
                <a:spcPts val="0"/>
              </a:spcBef>
              <a:buNone/>
            </a:pPr>
            <a:r>
              <a:rPr lang="en-US" sz="2600" b="1">
                <a:solidFill>
                  <a:srgbClr val="FFFFFF"/>
                </a:solidFill>
                <a:latin typeface="Arial"/>
                <a:ea typeface="Arial"/>
                <a:cs typeface="Arial"/>
              </a:rPr>
              <a:t>1</a:t>
            </a:r>
          </a:p>
        </p:txBody>
      </p:sp>
      <p:sp>
        <p:nvSpPr>
          <p:cNvPr id="7" name="Shape 7"/>
          <p:cNvSpPr txBox="1"/>
          <p:nvPr/>
        </p:nvSpPr>
        <p:spPr>
          <a:xfrm>
            <a:off x="1963351" y="1755648"/>
            <a:ext cx="7881551" cy="566928"/>
          </a:xfrm>
          <a:prstGeom prst="rect">
            <a:avLst/>
          </a:prstGeom>
          <a:noFill/>
          <a:ln>
            <a:noFill/>
          </a:ln>
        </p:spPr>
        <p:txBody>
          <a:bodyPr wrap="square" lIns="0" tIns="0" rIns="0" bIns="0" anchor="ctr" rtlCol="0">
            <a:noAutofit/>
          </a:bodyPr>
          <a:lstStyle/>
          <a:p>
            <a:pPr algn="l" marL="0" indent="0">
              <a:spcBef>
                <a:spcPts val="0"/>
              </a:spcBef>
              <a:buNone/>
            </a:pPr>
            <a:r>
              <a:rPr lang="en-US" sz="2800" b="1">
                <a:solidFill>
                  <a:srgbClr val="23323B"/>
                </a:solidFill>
                <a:latin typeface="Arial"/>
                <a:ea typeface="Arial"/>
                <a:cs typeface="Arial"/>
              </a:rPr>
              <a:t>今期の目標と達成状態を理解する</a:t>
            </a:r>
          </a:p>
        </p:txBody>
      </p:sp>
      <p:sp>
        <p:nvSpPr>
          <p:cNvPr id="8" name="Shape 8"/>
          <p:cNvSpPr txBox="1"/>
          <p:nvPr/>
        </p:nvSpPr>
        <p:spPr>
          <a:xfrm>
            <a:off x="1963351" y="2313432"/>
            <a:ext cx="7881551" cy="365760"/>
          </a:xfrm>
          <a:prstGeom prst="rect">
            <a:avLst/>
          </a:prstGeom>
          <a:noFill/>
          <a:ln>
            <a:noFill/>
          </a:ln>
        </p:spPr>
        <p:txBody>
          <a:bodyPr wrap="square" lIns="0" tIns="0" rIns="0" bIns="0" anchor="ctr" rtlCol="0">
            <a:noAutofit/>
          </a:bodyPr>
          <a:lstStyle/>
          <a:p>
            <a:pPr algn="l" marL="0" indent="0">
              <a:spcBef>
                <a:spcPts val="0"/>
              </a:spcBef>
              <a:buNone/>
            </a:pPr>
            <a:r>
              <a:rPr lang="en-US" sz="1500" b="0">
                <a:solidFill>
                  <a:srgbClr val="000000"/>
                </a:solidFill>
                <a:latin typeface="Arial"/>
                <a:ea typeface="Arial"/>
                <a:cs typeface="Arial"/>
              </a:rPr>
              <a:t>12月末までに移管の稟議が承認されている状態と、そこに至る進め方</a:t>
            </a:r>
          </a:p>
        </p:txBody>
      </p:sp>
      <p:sp>
        <p:nvSpPr>
          <p:cNvPr id="10" name="Shape 10"/>
          <p:cNvSpPr/>
          <p:nvPr/>
        </p:nvSpPr>
        <p:spPr>
          <a:xfrm>
            <a:off x="635000" y="3017520"/>
            <a:ext cx="10921704" cy="1188720"/>
          </a:xfrm>
          <a:prstGeom prst="rect">
            <a:avLst/>
          </a:prstGeom>
          <a:solidFill>
            <a:srgbClr val="F2F2F2"/>
          </a:solidFill>
          <a:ln>
            <a:noFill/>
          </a:ln>
        </p:spPr>
        <p:txBody>
          <a:bodyPr wrap="square" lIns="0" tIns="0" rIns="0" bIns="0" anchor="t" rtlCol="0">
            <a:noAutofit/>
          </a:bodyPr>
          <a:lstStyle/>
          <a:p>
            <a:endParaRPr lang="ja-JP"/>
          </a:p>
        </p:txBody>
      </p:sp>
      <p:sp>
        <p:nvSpPr>
          <p:cNvPr id="11" name="Shape 11"/>
          <p:cNvSpPr/>
          <p:nvPr/>
        </p:nvSpPr>
        <p:spPr>
          <a:xfrm>
            <a:off x="944948" y="3246120"/>
            <a:ext cx="708454" cy="731520"/>
          </a:xfrm>
          <a:prstGeom prst="ellipse">
            <a:avLst/>
          </a:prstGeom>
          <a:solidFill>
            <a:srgbClr val="ED5604"/>
          </a:solidFill>
          <a:ln>
            <a:noFill/>
          </a:ln>
        </p:spPr>
        <p:txBody>
          <a:bodyPr wrap="square" lIns="0" tIns="0" rIns="0" bIns="0" anchor="ctr" rtlCol="0">
            <a:noAutofit/>
          </a:bodyPr>
          <a:lstStyle/>
          <a:p>
            <a:pPr algn="ctr" marL="0" indent="0">
              <a:spcBef>
                <a:spcPts val="0"/>
              </a:spcBef>
              <a:buNone/>
            </a:pPr>
            <a:r>
              <a:rPr lang="en-US" sz="2600" b="1">
                <a:solidFill>
                  <a:srgbClr val="FFFFFF"/>
                </a:solidFill>
                <a:latin typeface="Arial"/>
                <a:ea typeface="Arial"/>
                <a:cs typeface="Arial"/>
              </a:rPr>
              <a:t>2</a:t>
            </a:r>
          </a:p>
        </p:txBody>
      </p:sp>
      <p:sp>
        <p:nvSpPr>
          <p:cNvPr id="12" name="Shape 12"/>
          <p:cNvSpPr txBox="1"/>
          <p:nvPr/>
        </p:nvSpPr>
        <p:spPr>
          <a:xfrm>
            <a:off x="1963351" y="3172968"/>
            <a:ext cx="7881551" cy="566928"/>
          </a:xfrm>
          <a:prstGeom prst="rect">
            <a:avLst/>
          </a:prstGeom>
          <a:noFill/>
          <a:ln>
            <a:noFill/>
          </a:ln>
        </p:spPr>
        <p:txBody>
          <a:bodyPr wrap="square" lIns="0" tIns="0" rIns="0" bIns="0" anchor="ctr" rtlCol="0">
            <a:noAutofit/>
          </a:bodyPr>
          <a:lstStyle/>
          <a:p>
            <a:pPr algn="l" marL="0" indent="0">
              <a:spcBef>
                <a:spcPts val="0"/>
              </a:spcBef>
              <a:buNone/>
            </a:pPr>
            <a:r>
              <a:rPr lang="en-US" sz="2800" b="1">
                <a:solidFill>
                  <a:srgbClr val="23323B"/>
                </a:solidFill>
                <a:latin typeface="Arial"/>
                <a:ea typeface="Arial"/>
                <a:cs typeface="Arial"/>
              </a:rPr>
              <a:t>移管後の役割の変更</a:t>
            </a:r>
          </a:p>
        </p:txBody>
      </p:sp>
      <p:sp>
        <p:nvSpPr>
          <p:cNvPr id="13" name="Shape 13"/>
          <p:cNvSpPr txBox="1"/>
          <p:nvPr/>
        </p:nvSpPr>
        <p:spPr>
          <a:xfrm>
            <a:off x="1963351" y="3730752"/>
            <a:ext cx="7881551" cy="365760"/>
          </a:xfrm>
          <a:prstGeom prst="rect">
            <a:avLst/>
          </a:prstGeom>
          <a:noFill/>
          <a:ln>
            <a:noFill/>
          </a:ln>
        </p:spPr>
        <p:txBody>
          <a:bodyPr wrap="square" lIns="0" tIns="0" rIns="0" bIns="0" anchor="ctr" rtlCol="0">
            <a:noAutofit/>
          </a:bodyPr>
          <a:lstStyle/>
          <a:p>
            <a:pPr algn="l" marL="0" indent="0">
              <a:spcBef>
                <a:spcPts val="0"/>
              </a:spcBef>
              <a:buNone/>
            </a:pPr>
            <a:r>
              <a:rPr lang="en-US" sz="1500" b="0">
                <a:solidFill>
                  <a:srgbClr val="000000"/>
                </a:solidFill>
                <a:latin typeface="Arial"/>
                <a:ea typeface="Arial"/>
                <a:cs typeface="Arial"/>
              </a:rPr>
              <a:t>各ファンクションと GDSの役割分担（RACI）</a:t>
            </a:r>
          </a:p>
        </p:txBody>
      </p:sp>
      <p:sp>
        <p:nvSpPr>
          <p:cNvPr id="15" name="Shape 15"/>
          <p:cNvSpPr/>
          <p:nvPr/>
        </p:nvSpPr>
        <p:spPr>
          <a:xfrm>
            <a:off x="635000" y="4434840"/>
            <a:ext cx="10921704" cy="1188720"/>
          </a:xfrm>
          <a:prstGeom prst="rect">
            <a:avLst/>
          </a:prstGeom>
          <a:solidFill>
            <a:srgbClr val="F2F2F2"/>
          </a:solidFill>
          <a:ln>
            <a:noFill/>
          </a:ln>
        </p:spPr>
        <p:txBody>
          <a:bodyPr wrap="square" lIns="0" tIns="0" rIns="0" bIns="0" anchor="t" rtlCol="0">
            <a:noAutofit/>
          </a:bodyPr>
          <a:lstStyle/>
          <a:p>
            <a:endParaRPr lang="ja-JP"/>
          </a:p>
        </p:txBody>
      </p:sp>
      <p:sp>
        <p:nvSpPr>
          <p:cNvPr id="16" name="Shape 16"/>
          <p:cNvSpPr/>
          <p:nvPr/>
        </p:nvSpPr>
        <p:spPr>
          <a:xfrm>
            <a:off x="944948" y="4663440"/>
            <a:ext cx="708454" cy="731520"/>
          </a:xfrm>
          <a:prstGeom prst="ellipse">
            <a:avLst/>
          </a:prstGeom>
          <a:solidFill>
            <a:srgbClr val="ED5604"/>
          </a:solidFill>
          <a:ln>
            <a:noFill/>
          </a:ln>
        </p:spPr>
        <p:txBody>
          <a:bodyPr wrap="square" lIns="0" tIns="0" rIns="0" bIns="0" anchor="ctr" rtlCol="0">
            <a:noAutofit/>
          </a:bodyPr>
          <a:lstStyle/>
          <a:p>
            <a:pPr algn="ctr" marL="0" indent="0">
              <a:spcBef>
                <a:spcPts val="0"/>
              </a:spcBef>
              <a:buNone/>
            </a:pPr>
            <a:r>
              <a:rPr lang="en-US" sz="2600" b="1">
                <a:solidFill>
                  <a:srgbClr val="FFFFFF"/>
                </a:solidFill>
                <a:latin typeface="Arial"/>
                <a:ea typeface="Arial"/>
                <a:cs typeface="Arial"/>
              </a:rPr>
              <a:t>3</a:t>
            </a:r>
          </a:p>
        </p:txBody>
      </p:sp>
      <p:sp>
        <p:nvSpPr>
          <p:cNvPr id="17" name="Shape 17"/>
          <p:cNvSpPr txBox="1"/>
          <p:nvPr/>
        </p:nvSpPr>
        <p:spPr>
          <a:xfrm>
            <a:off x="1963351" y="4590288"/>
            <a:ext cx="7881551" cy="566928"/>
          </a:xfrm>
          <a:prstGeom prst="rect">
            <a:avLst/>
          </a:prstGeom>
          <a:noFill/>
          <a:ln>
            <a:noFill/>
          </a:ln>
        </p:spPr>
        <p:txBody>
          <a:bodyPr wrap="square" lIns="0" tIns="0" rIns="0" bIns="0" anchor="ctr" rtlCol="0">
            <a:noAutofit/>
          </a:bodyPr>
          <a:lstStyle/>
          <a:p>
            <a:pPr algn="l" marL="0" indent="0">
              <a:spcBef>
                <a:spcPts val="0"/>
              </a:spcBef>
              <a:buNone/>
            </a:pPr>
            <a:r>
              <a:rPr lang="en-US" sz="2800" b="1">
                <a:solidFill>
                  <a:srgbClr val="23323B"/>
                </a:solidFill>
                <a:latin typeface="Arial"/>
                <a:ea typeface="Arial"/>
                <a:cs typeface="Arial"/>
              </a:rPr>
              <a:t>IT資産管理</a:t>
            </a:r>
          </a:p>
        </p:txBody>
      </p:sp>
      <p:sp>
        <p:nvSpPr>
          <p:cNvPr id="18" name="Shape 18"/>
          <p:cNvSpPr txBox="1"/>
          <p:nvPr/>
        </p:nvSpPr>
        <p:spPr>
          <a:xfrm>
            <a:off x="1963351" y="5148072"/>
            <a:ext cx="7881551" cy="365760"/>
          </a:xfrm>
          <a:prstGeom prst="rect">
            <a:avLst/>
          </a:prstGeom>
          <a:noFill/>
          <a:ln>
            <a:noFill/>
          </a:ln>
        </p:spPr>
        <p:txBody>
          <a:bodyPr wrap="square" lIns="0" tIns="0" rIns="0" bIns="0" anchor="ctr" rtlCol="0">
            <a:noAutofit/>
          </a:bodyPr>
          <a:lstStyle/>
          <a:p>
            <a:pPr algn="l" marL="0" indent="0">
              <a:spcBef>
                <a:spcPts val="0"/>
              </a:spcBef>
              <a:buNone/>
            </a:pPr>
            <a:r>
              <a:rPr lang="en-US" sz="1500" b="0">
                <a:solidFill>
                  <a:srgbClr val="000000"/>
                </a:solidFill>
                <a:latin typeface="Arial"/>
                <a:ea typeface="Arial"/>
                <a:cs typeface="Arial"/>
              </a:rPr>
              <a:t>固定資産と償却費の持ち方（予算を持つ GDSが持つ）</a:t>
            </a:r>
          </a:p>
        </p:txBody>
      </p:sp>
      <p:sp>
        <p:nvSpPr>
          <p:cNvPr id="21" name="Google Shape;45;p6"/>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7"/>
          <p:cNvSpPr txBox="1"/>
          <p:nvPr>
            <p:ph type="title"/>
          </p:nvPr>
        </p:nvSpPr>
        <p:spPr>
          <a:xfrm>
            <a:off x="635000" y="406400"/>
            <a:ext cx="10922000" cy="4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3323B"/>
              </a:buClr>
              <a:buSzPts val="2600"/>
              <a:buFont typeface="Arial"/>
              <a:buNone/>
            </a:pPr>
            <a:r>
              <a:rPr b="1" lang="en-US" sz="2400">
                <a:solidFill>
                  <a:srgbClr val="23323B"/>
                </a:solidFill>
              </a:rPr>
              <a:t>今期の目標</a:t>
            </a:r>
            <a:endParaRPr sz="2400" b="1">
              <a:solidFill>
                <a:srgbClr val="23323B"/>
              </a:solidFill>
            </a:endParaRPr>
          </a:p>
        </p:txBody>
      </p:sp>
      <p:sp>
        <p:nvSpPr>
          <p:cNvPr id="52" name="Google Shape;52;p7"/>
          <p:cNvSpPr/>
          <p:nvPr/>
        </p:nvSpPr>
        <p:spPr>
          <a:xfrm>
            <a:off x="635000" y="1143000"/>
            <a:ext cx="10919048" cy="1131956"/>
          </a:xfrm>
          <a:prstGeom prst="rect">
            <a:avLst/>
          </a:prstGeom>
          <a:solidFill>
            <a:srgbClr val="FEDC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7"/>
          <p:cNvSpPr txBox="1"/>
          <p:nvPr/>
        </p:nvSpPr>
        <p:spPr>
          <a:xfrm>
            <a:off x="989227" y="1251667"/>
            <a:ext cx="10184027" cy="56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323B"/>
              </a:buClr>
              <a:buSzPts val="2800"/>
              <a:buFont typeface="Arial"/>
              <a:buNone/>
            </a:pPr>
            <a:r>
              <a:rPr b="1" i="0" lang="en-US" sz="2800" u="none" cap="none" strike="noStrike">
                <a:solidFill>
                  <a:srgbClr val="23323B"/>
                </a:solidFill>
                <a:latin typeface="Arial"/>
                <a:ea typeface="Arial"/>
                <a:cs typeface="Arial"/>
                <a:sym typeface="Arial"/>
              </a:rPr>
              <a:t>移管の稟議が、12月末までに承認されること</a:t>
            </a:r>
            <a:endParaRPr b="0" i="0" sz="2800" u="none" cap="none" strike="noStrike">
              <a:solidFill>
                <a:srgbClr val="000000"/>
              </a:solidFill>
              <a:latin typeface="Arial"/>
              <a:ea typeface="Arial"/>
              <a:cs typeface="Arial"/>
              <a:sym typeface="Arial"/>
            </a:endParaRPr>
          </a:p>
        </p:txBody>
      </p:sp>
      <p:sp>
        <p:nvSpPr>
          <p:cNvPr id="54" name="Google Shape;54;p7"/>
          <p:cNvSpPr txBox="1"/>
          <p:nvPr/>
        </p:nvSpPr>
        <p:spPr>
          <a:xfrm>
            <a:off x="989227" y="1840285"/>
            <a:ext cx="10184027" cy="3078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4040"/>
              </a:buClr>
              <a:buSzPts val="1400"/>
              <a:buFont typeface="Arial"/>
              <a:buNone/>
            </a:pPr>
            <a:r>
              <a:rPr b="0" i="0" lang="en-US" sz="1400" u="none" cap="none" strike="noStrike">
                <a:solidFill>
                  <a:srgbClr val="404040"/>
                </a:solidFill>
                <a:latin typeface="Arial"/>
                <a:ea typeface="Arial"/>
                <a:cs typeface="Arial"/>
                <a:sym typeface="Arial"/>
              </a:rPr>
              <a:t>今期は12月末の移管の承認を目指す。移管による効果の創出は、来期に改めて検討する</a:t>
            </a:r>
            <a:endParaRPr b="0" i="0" sz="1400" u="none" cap="none" strike="noStrike">
              <a:solidFill>
                <a:srgbClr val="000000"/>
              </a:solidFill>
              <a:latin typeface="Arial"/>
              <a:ea typeface="Arial"/>
              <a:cs typeface="Arial"/>
              <a:sym typeface="Arial"/>
            </a:endParaRPr>
          </a:p>
        </p:txBody>
      </p:sp>
      <p:sp>
        <p:nvSpPr>
          <p:cNvPr id="55" name="Google Shape;55;p7"/>
          <p:cNvSpPr/>
          <p:nvPr/>
        </p:nvSpPr>
        <p:spPr>
          <a:xfrm>
            <a:off x="635000" y="2456069"/>
            <a:ext cx="3533414" cy="389393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7"/>
          <p:cNvSpPr txBox="1"/>
          <p:nvPr/>
        </p:nvSpPr>
        <p:spPr>
          <a:xfrm>
            <a:off x="829824" y="2619071"/>
            <a:ext cx="3143764" cy="36222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323B"/>
              </a:buClr>
              <a:buSzPts val="1500"/>
              <a:buFont typeface="Arial"/>
              <a:buNone/>
            </a:pPr>
            <a:r>
              <a:rPr b="1" i="0" lang="en-US" sz="1500" u="none" cap="none" strike="noStrike">
                <a:solidFill>
                  <a:srgbClr val="23323B"/>
                </a:solidFill>
                <a:latin typeface="Arial"/>
                <a:ea typeface="Arial"/>
                <a:cs typeface="Arial"/>
                <a:sym typeface="Arial"/>
              </a:rPr>
              <a:t>前提</a:t>
            </a:r>
            <a:endParaRPr b="0" i="0" sz="1500" u="none" cap="none" strike="noStrike">
              <a:solidFill>
                <a:srgbClr val="000000"/>
              </a:solidFill>
              <a:latin typeface="Arial"/>
              <a:ea typeface="Arial"/>
              <a:cs typeface="Arial"/>
              <a:sym typeface="Arial"/>
            </a:endParaRPr>
          </a:p>
        </p:txBody>
      </p:sp>
      <p:sp>
        <p:nvSpPr>
          <p:cNvPr id="57" name="Google Shape;57;p7"/>
          <p:cNvSpPr txBox="1"/>
          <p:nvPr/>
        </p:nvSpPr>
        <p:spPr>
          <a:xfrm>
            <a:off x="829824" y="2999408"/>
            <a:ext cx="3143764" cy="2716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4040"/>
              </a:buClr>
              <a:buSzPts val="1100"/>
              <a:buFont typeface="Arial"/>
              <a:buNone/>
            </a:pPr>
            <a:r>
              <a:rPr b="1" i="0" lang="en-US" sz="1100" u="none" cap="none" strike="noStrike">
                <a:solidFill>
                  <a:srgbClr val="404040"/>
                </a:solidFill>
                <a:latin typeface="Arial"/>
                <a:ea typeface="Arial"/>
                <a:cs typeface="Arial"/>
                <a:sym typeface="Arial"/>
              </a:rPr>
              <a:t>全社の方針として決定済み</a:t>
            </a:r>
            <a:endParaRPr b="0" i="0" sz="1100" u="none" cap="none" strike="noStrike">
              <a:solidFill>
                <a:srgbClr val="000000"/>
              </a:solidFill>
              <a:latin typeface="Arial"/>
              <a:ea typeface="Arial"/>
              <a:cs typeface="Arial"/>
              <a:sym typeface="Arial"/>
            </a:endParaRPr>
          </a:p>
        </p:txBody>
      </p:sp>
      <p:sp>
        <p:nvSpPr>
          <p:cNvPr id="58" name="Google Shape;58;p7"/>
          <p:cNvSpPr txBox="1"/>
          <p:nvPr/>
        </p:nvSpPr>
        <p:spPr>
          <a:xfrm>
            <a:off x="829824" y="3379746"/>
            <a:ext cx="3143764" cy="2852530"/>
          </a:xfrm>
          <a:prstGeom prst="rect">
            <a:avLst/>
          </a:prstGeom>
          <a:noFill/>
          <a:ln>
            <a:noFill/>
          </a:ln>
        </p:spPr>
        <p:txBody>
          <a:bodyPr anchorCtr="0" anchor="t" bIns="0" lIns="0" spcFirstLastPara="1" rIns="0" wrap="square" tIns="0">
            <a:noAutofit/>
          </a:bodyPr>
          <a:lstStyle/>
          <a:p>
            <a:pPr indent="-152400" lvl="0" marL="152400" marR="0" rtl="0" algn="l">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経営で決定済み。全社向けの予算策定ガイドラインに明記されている</a:t>
            </a:r>
            <a:endParaRPr b="0" i="0" sz="1100" u="none" cap="none" strike="noStrike">
              <a:solidFill>
                <a:srgbClr val="000000"/>
              </a:solidFill>
              <a:latin typeface="Arial"/>
              <a:ea typeface="Arial"/>
              <a:cs typeface="Arial"/>
              <a:sym typeface="Arial"/>
            </a:endParaRPr>
          </a:p>
          <a:p>
            <a:pPr indent="-152400" lvl="0" marL="152400" marR="0" rtl="0" algn="l">
              <a:spcBef>
                <a:spcPts val="30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対象は営業部門以外の部門（人事・総務・財務を含む）。各部門には案内済み</a:t>
            </a:r>
            <a:endParaRPr b="0" i="0" sz="1100" u="none" cap="none" strike="noStrike">
              <a:solidFill>
                <a:srgbClr val="000000"/>
              </a:solidFill>
              <a:latin typeface="Arial"/>
              <a:ea typeface="Arial"/>
              <a:cs typeface="Arial"/>
              <a:sym typeface="Arial"/>
            </a:endParaRPr>
          </a:p>
          <a:p>
            <a:pPr indent="-152400" lvl="0" marL="152400" marR="0" rtl="0" algn="l">
              <a:spcBef>
                <a:spcPts val="30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範囲は、業務アプリケーションとその関連ツールの予算・契約・間接業務</a:t>
            </a:r>
            <a:endParaRPr b="0" i="0" sz="1100" u="none" cap="none" strike="noStrike">
              <a:solidFill>
                <a:srgbClr val="000000"/>
              </a:solidFill>
              <a:latin typeface="Arial"/>
              <a:ea typeface="Arial"/>
              <a:cs typeface="Arial"/>
              <a:sym typeface="Arial"/>
            </a:endParaRPr>
          </a:p>
        </p:txBody>
      </p:sp>
      <p:sp>
        <p:nvSpPr>
          <p:cNvPr id="59" name="Google Shape;59;p7"/>
          <p:cNvSpPr/>
          <p:nvPr/>
        </p:nvSpPr>
        <p:spPr>
          <a:xfrm>
            <a:off x="4327816" y="2456069"/>
            <a:ext cx="3533414" cy="389393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txBox="1"/>
          <p:nvPr/>
        </p:nvSpPr>
        <p:spPr>
          <a:xfrm>
            <a:off x="4522641" y="2619071"/>
            <a:ext cx="3143764" cy="36222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323B"/>
              </a:buClr>
              <a:buSzPts val="1500"/>
              <a:buFont typeface="Arial"/>
              <a:buNone/>
            </a:pPr>
            <a:r>
              <a:rPr b="1" i="0" lang="en-US" sz="1500" u="none" cap="none" strike="noStrike">
                <a:solidFill>
                  <a:srgbClr val="23323B"/>
                </a:solidFill>
                <a:latin typeface="Arial"/>
                <a:ea typeface="Arial"/>
                <a:cs typeface="Arial"/>
                <a:sym typeface="Arial"/>
              </a:rPr>
              <a:t>方針</a:t>
            </a:r>
            <a:endParaRPr b="0" i="0" sz="1500" u="none" cap="none" strike="noStrike">
              <a:solidFill>
                <a:srgbClr val="000000"/>
              </a:solidFill>
              <a:latin typeface="Arial"/>
              <a:ea typeface="Arial"/>
              <a:cs typeface="Arial"/>
              <a:sym typeface="Arial"/>
            </a:endParaRPr>
          </a:p>
        </p:txBody>
      </p:sp>
      <p:sp>
        <p:nvSpPr>
          <p:cNvPr id="61" name="Google Shape;61;p7"/>
          <p:cNvSpPr txBox="1"/>
          <p:nvPr/>
        </p:nvSpPr>
        <p:spPr>
          <a:xfrm>
            <a:off x="4522641" y="2999408"/>
            <a:ext cx="3143764" cy="2716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4040"/>
              </a:buClr>
              <a:buSzPts val="1100"/>
              <a:buFont typeface="Arial"/>
              <a:buNone/>
            </a:pPr>
            <a:r>
              <a:rPr b="1" i="0" lang="en-US" sz="1100" u="none" cap="none" strike="noStrike">
                <a:solidFill>
                  <a:srgbClr val="404040"/>
                </a:solidFill>
                <a:latin typeface="Arial"/>
                <a:ea typeface="Arial"/>
                <a:cs typeface="Arial"/>
                <a:sym typeface="Arial"/>
              </a:rPr>
              <a:t>移す時期によって、予算を3つに分ける</a:t>
            </a:r>
            <a:endParaRPr b="0" i="0" sz="1100" u="none" cap="none" strike="noStrike">
              <a:solidFill>
                <a:srgbClr val="000000"/>
              </a:solidFill>
              <a:latin typeface="Arial"/>
              <a:ea typeface="Arial"/>
              <a:cs typeface="Arial"/>
              <a:sym typeface="Arial"/>
            </a:endParaRPr>
          </a:p>
        </p:txBody>
      </p:sp>
      <p:sp>
        <p:nvSpPr>
          <p:cNvPr id="62" name="Google Shape;62;p7"/>
          <p:cNvSpPr txBox="1"/>
          <p:nvPr/>
        </p:nvSpPr>
        <p:spPr>
          <a:xfrm>
            <a:off x="4522641" y="3379746"/>
            <a:ext cx="3143764" cy="2852530"/>
          </a:xfrm>
          <a:prstGeom prst="rect">
            <a:avLst/>
          </a:prstGeom>
          <a:noFill/>
          <a:ln>
            <a:noFill/>
          </a:ln>
        </p:spPr>
        <p:txBody>
          <a:bodyPr anchorCtr="0" anchor="t" bIns="0" lIns="0" spcFirstLastPara="1" rIns="0" wrap="square" tIns="0">
            <a:noAutofit/>
          </a:bodyPr>
          <a:lstStyle/>
          <a:p>
            <a:pPr indent="0" lvl="0" marL="0" marR="0" rtl="0" algn="l">
              <a:spcBef>
                <a:spcPts val="600"/>
              </a:spcBef>
              <a:spcAft>
                <a:spcPts val="0"/>
              </a:spcAft>
              <a:buClr>
                <a:srgbClr val="000000"/>
              </a:buClr>
              <a:buSzPts val="1150"/>
              <a:buFont typeface="Arial"/>
              <a:buNone/>
            </a:pPr>
            <a:r>
              <a:rPr b="1" i="0" lang="en-US" sz="1150" u="none" cap="none" strike="noStrike">
                <a:solidFill>
                  <a:srgbClr val="000000"/>
                </a:solidFill>
                <a:latin typeface="Arial"/>
                <a:ea typeface="Arial"/>
                <a:cs typeface="Arial"/>
                <a:sym typeface="Arial"/>
              </a:rPr>
              <a:t>2027年1月1日にそろって移す</a:t>
            </a:r>
            <a:endParaRPr b="0" i="0" sz="1100" u="none" cap="none" strike="noStrike">
              <a:solidFill>
                <a:srgbClr val="000000"/>
              </a:solidFill>
              <a:latin typeface="Arial"/>
              <a:ea typeface="Arial"/>
              <a:cs typeface="Arial"/>
              <a:sym typeface="Arial"/>
            </a:endParaRPr>
          </a:p>
          <a:p>
            <a:pPr indent="-152400" lvl="0" marL="152400" marR="0" rtl="0" algn="l">
              <a:spcBef>
                <a:spcPts val="0"/>
              </a:spcBef>
              <a:spcAft>
                <a:spcPts val="0"/>
              </a:spcAft>
              <a:buClr>
                <a:srgbClr val="000000"/>
              </a:buClr>
              <a:buSzPts val="1150"/>
              <a:buFont typeface="Arial"/>
              <a:buChar char="•"/>
            </a:pPr>
            <a:r>
              <a:rPr b="0" i="0" lang="en-US" sz="1150" u="none" cap="none" strike="noStrike">
                <a:solidFill>
                  <a:srgbClr val="000000"/>
                </a:solidFill>
                <a:latin typeface="Arial"/>
                <a:ea typeface="Arial"/>
                <a:cs typeface="Arial"/>
                <a:sym typeface="Arial"/>
              </a:rPr>
              <a:t>経費予算（保守・ライセンス・クラウド利用料・業務委託などの運用費用）</a:t>
            </a:r>
            <a:endParaRPr b="0" i="0" sz="1100" u="none" cap="none" strike="noStrike">
              <a:solidFill>
                <a:srgbClr val="000000"/>
              </a:solidFill>
              <a:latin typeface="Arial"/>
              <a:ea typeface="Arial"/>
              <a:cs typeface="Arial"/>
              <a:sym typeface="Arial"/>
            </a:endParaRPr>
          </a:p>
          <a:p>
            <a:pPr indent="0" lvl="0" marL="0" marR="0" rtl="0" algn="l">
              <a:spcBef>
                <a:spcPts val="600"/>
              </a:spcBef>
              <a:spcAft>
                <a:spcPts val="0"/>
              </a:spcAft>
              <a:buClr>
                <a:srgbClr val="000000"/>
              </a:buClr>
              <a:buSzPts val="1150"/>
              <a:buFont typeface="Arial"/>
              <a:buNone/>
            </a:pPr>
            <a:r>
              <a:rPr b="1" i="0" lang="en-US" sz="1150" u="none" cap="none" strike="noStrike">
                <a:solidFill>
                  <a:srgbClr val="000000"/>
                </a:solidFill>
                <a:latin typeface="Arial"/>
                <a:ea typeface="Arial"/>
                <a:cs typeface="Arial"/>
                <a:sym typeface="Arial"/>
              </a:rPr>
              <a:t>来年度予算から GDSが持つ</a:t>
            </a:r>
            <a:endParaRPr b="0" i="0" sz="1100" u="none" cap="none" strike="noStrike">
              <a:solidFill>
                <a:srgbClr val="000000"/>
              </a:solidFill>
              <a:latin typeface="Arial"/>
              <a:ea typeface="Arial"/>
              <a:cs typeface="Arial"/>
              <a:sym typeface="Arial"/>
            </a:endParaRPr>
          </a:p>
          <a:p>
            <a:pPr indent="-152400" lvl="0" marL="152400" marR="0" rtl="0" algn="l">
              <a:spcBef>
                <a:spcPts val="0"/>
              </a:spcBef>
              <a:spcAft>
                <a:spcPts val="0"/>
              </a:spcAft>
              <a:buClr>
                <a:srgbClr val="000000"/>
              </a:buClr>
              <a:buSzPts val="1150"/>
              <a:buFont typeface="Arial"/>
              <a:buChar char="•"/>
            </a:pPr>
            <a:r>
              <a:rPr b="0" i="0" lang="en-US" sz="1150" u="none" cap="none" strike="noStrike">
                <a:solidFill>
                  <a:srgbClr val="000000"/>
                </a:solidFill>
                <a:latin typeface="Arial"/>
                <a:ea typeface="Arial"/>
                <a:cs typeface="Arial"/>
                <a:sym typeface="Arial"/>
              </a:rPr>
              <a:t>来年度に始める IT投資案件の予算</a:t>
            </a:r>
            <a:endParaRPr b="0" i="0" sz="1100" u="none" cap="none" strike="noStrike">
              <a:solidFill>
                <a:srgbClr val="000000"/>
              </a:solidFill>
              <a:latin typeface="Arial"/>
              <a:ea typeface="Arial"/>
              <a:cs typeface="Arial"/>
              <a:sym typeface="Arial"/>
            </a:endParaRPr>
          </a:p>
          <a:p>
            <a:pPr indent="0" lvl="0" marL="0" marR="0" rtl="0" algn="l">
              <a:spcBef>
                <a:spcPts val="600"/>
              </a:spcBef>
              <a:spcAft>
                <a:spcPts val="0"/>
              </a:spcAft>
              <a:buClr>
                <a:srgbClr val="000000"/>
              </a:buClr>
              <a:buSzPts val="1150"/>
              <a:buFont typeface="Arial"/>
              <a:buNone/>
            </a:pPr>
            <a:r>
              <a:rPr b="1" i="0" lang="en-US" sz="1150" u="none" cap="none" strike="noStrike">
                <a:solidFill>
                  <a:srgbClr val="000000"/>
                </a:solidFill>
                <a:latin typeface="Arial"/>
                <a:ea typeface="Arial"/>
                <a:cs typeface="Arial"/>
                <a:sym typeface="Arial"/>
              </a:rPr>
              <a:t>移す時期を案件ごとに合意する</a:t>
            </a:r>
            <a:endParaRPr b="0" i="0" sz="1100" u="none" cap="none" strike="noStrike">
              <a:solidFill>
                <a:srgbClr val="000000"/>
              </a:solidFill>
              <a:latin typeface="Arial"/>
              <a:ea typeface="Arial"/>
              <a:cs typeface="Arial"/>
              <a:sym typeface="Arial"/>
            </a:endParaRPr>
          </a:p>
          <a:p>
            <a:pPr indent="-152400" lvl="0" marL="152400" marR="0" rtl="0" algn="l">
              <a:spcBef>
                <a:spcPts val="0"/>
              </a:spcBef>
              <a:spcAft>
                <a:spcPts val="0"/>
              </a:spcAft>
              <a:buClr>
                <a:srgbClr val="000000"/>
              </a:buClr>
              <a:buSzPts val="1150"/>
              <a:buFont typeface="Arial"/>
              <a:buChar char="•"/>
            </a:pPr>
            <a:r>
              <a:rPr b="0" i="0" lang="en-US" sz="1150" u="none" cap="none" strike="noStrike">
                <a:solidFill>
                  <a:srgbClr val="000000"/>
                </a:solidFill>
                <a:latin typeface="Arial"/>
                <a:ea typeface="Arial"/>
                <a:cs typeface="Arial"/>
                <a:sym typeface="Arial"/>
              </a:rPr>
              <a:t>今年度から続く IT投資案件（取得済みの資産、建設仮勘定、着手済みのもの）。時期は移管元と合意し、財務経理と確認する（7枚目）</a:t>
            </a:r>
            <a:endParaRPr b="0" i="0" sz="1100" u="none" cap="none" strike="noStrike">
              <a:solidFill>
                <a:srgbClr val="000000"/>
              </a:solidFill>
              <a:latin typeface="Arial"/>
              <a:ea typeface="Arial"/>
              <a:cs typeface="Arial"/>
              <a:sym typeface="Arial"/>
            </a:endParaRPr>
          </a:p>
        </p:txBody>
      </p:sp>
      <p:sp>
        <p:nvSpPr>
          <p:cNvPr id="63" name="Google Shape;63;p7"/>
          <p:cNvSpPr/>
          <p:nvPr/>
        </p:nvSpPr>
        <p:spPr>
          <a:xfrm>
            <a:off x="8020633" y="2456069"/>
            <a:ext cx="3533414" cy="389393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7"/>
          <p:cNvSpPr txBox="1"/>
          <p:nvPr/>
        </p:nvSpPr>
        <p:spPr>
          <a:xfrm>
            <a:off x="8215458" y="2619071"/>
            <a:ext cx="3143764" cy="36222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323B"/>
              </a:buClr>
              <a:buSzPts val="1500"/>
              <a:buFont typeface="Arial"/>
              <a:buNone/>
            </a:pPr>
            <a:r>
              <a:rPr b="1" i="0" lang="en-US" sz="1500" u="none" cap="none" strike="noStrike">
                <a:solidFill>
                  <a:srgbClr val="23323B"/>
                </a:solidFill>
                <a:latin typeface="Arial"/>
                <a:ea typeface="Arial"/>
                <a:cs typeface="Arial"/>
                <a:sym typeface="Arial"/>
              </a:rPr>
              <a:t>目標</a:t>
            </a:r>
            <a:endParaRPr b="0" i="0" sz="1500" u="none" cap="none" strike="noStrike">
              <a:solidFill>
                <a:srgbClr val="000000"/>
              </a:solidFill>
              <a:latin typeface="Arial"/>
              <a:ea typeface="Arial"/>
              <a:cs typeface="Arial"/>
              <a:sym typeface="Arial"/>
            </a:endParaRPr>
          </a:p>
        </p:txBody>
      </p:sp>
      <p:sp>
        <p:nvSpPr>
          <p:cNvPr id="65" name="Google Shape;65;p7"/>
          <p:cNvSpPr txBox="1"/>
          <p:nvPr/>
        </p:nvSpPr>
        <p:spPr>
          <a:xfrm>
            <a:off x="8215458" y="2999408"/>
            <a:ext cx="3143764" cy="2716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4040"/>
              </a:buClr>
              <a:buSzPts val="1100"/>
              <a:buFont typeface="Arial"/>
              <a:buNone/>
            </a:pPr>
            <a:r>
              <a:rPr b="1" i="0" lang="en-US" sz="1100" u="none" cap="none" strike="noStrike">
                <a:solidFill>
                  <a:srgbClr val="404040"/>
                </a:solidFill>
                <a:latin typeface="Arial"/>
                <a:ea typeface="Arial"/>
                <a:cs typeface="Arial"/>
                <a:sym typeface="Arial"/>
              </a:rPr>
              <a:t>12月末に、移管の稟議が承認されている</a:t>
            </a:r>
            <a:endParaRPr b="0" i="0" sz="1100" u="none" cap="none" strike="noStrike">
              <a:solidFill>
                <a:srgbClr val="000000"/>
              </a:solidFill>
              <a:latin typeface="Arial"/>
              <a:ea typeface="Arial"/>
              <a:cs typeface="Arial"/>
              <a:sym typeface="Arial"/>
            </a:endParaRPr>
          </a:p>
        </p:txBody>
      </p:sp>
      <p:sp>
        <p:nvSpPr>
          <p:cNvPr id="66" name="Google Shape;66;p7"/>
          <p:cNvSpPr txBox="1"/>
          <p:nvPr/>
        </p:nvSpPr>
        <p:spPr>
          <a:xfrm>
            <a:off x="8215458" y="3379746"/>
            <a:ext cx="3143764" cy="2852530"/>
          </a:xfrm>
          <a:prstGeom prst="rect">
            <a:avLst/>
          </a:prstGeom>
          <a:noFill/>
          <a:ln>
            <a:noFill/>
          </a:ln>
        </p:spPr>
        <p:txBody>
          <a:bodyPr anchorCtr="0" anchor="t" bIns="0" lIns="0" spcFirstLastPara="1" rIns="0" wrap="square" tIns="0">
            <a:noAutofit/>
          </a:bodyPr>
          <a:lstStyle/>
          <a:p>
            <a:pPr indent="0" lvl="0" marL="0" marR="0" rtl="0" algn="l">
              <a:spcBef>
                <a:spcPts val="600"/>
              </a:spcBef>
              <a:spcAft>
                <a:spcPts val="0"/>
              </a:spcAft>
              <a:buClr>
                <a:srgbClr val="23323B"/>
              </a:buClr>
              <a:buSzPts val="1200"/>
              <a:buFont typeface="Arial"/>
              <a:buNone/>
            </a:pPr>
            <a:r>
              <a:rPr b="1" i="0" lang="en-US" sz="1200" u="none" cap="none" strike="noStrike">
                <a:solidFill>
                  <a:srgbClr val="23323B"/>
                </a:solidFill>
                <a:latin typeface="Arial"/>
                <a:ea typeface="Arial"/>
                <a:cs typeface="Arial"/>
                <a:sym typeface="Arial"/>
              </a:rPr>
              <a:t>12月末までに終わっていること</a:t>
            </a:r>
            <a:endParaRPr b="0" i="0" sz="1100" u="none" cap="none" strike="noStrike">
              <a:solidFill>
                <a:srgbClr val="000000"/>
              </a:solidFill>
              <a:latin typeface="Arial"/>
              <a:ea typeface="Arial"/>
              <a:cs typeface="Arial"/>
              <a:sym typeface="Arial"/>
            </a:endParaRPr>
          </a:p>
          <a:p>
            <a:pPr indent="-152400" lvl="0" marL="152400" marR="0" rtl="0" algn="l">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稟議に必要な情報（移管する予算と契約、来年度予算、合意文書）が整理されている</a:t>
            </a:r>
            <a:endParaRPr b="0" i="0" sz="1100" u="none" cap="none" strike="noStrike">
              <a:solidFill>
                <a:srgbClr val="000000"/>
              </a:solidFill>
              <a:latin typeface="Arial"/>
              <a:ea typeface="Arial"/>
              <a:cs typeface="Arial"/>
              <a:sym typeface="Arial"/>
            </a:endParaRPr>
          </a:p>
          <a:p>
            <a:pPr indent="-152400" lvl="0" marL="152400" marR="0" rtl="0" algn="l">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合意文書に沿って引き継ぎが終わり、1月から GDSが契約の管理と支払いを始められる</a:t>
            </a:r>
            <a:endParaRPr b="0" i="0" sz="1100" u="none" cap="none" strike="noStrike">
              <a:solidFill>
                <a:srgbClr val="000000"/>
              </a:solidFill>
              <a:latin typeface="Arial"/>
              <a:ea typeface="Arial"/>
              <a:cs typeface="Arial"/>
              <a:sym typeface="Arial"/>
            </a:endParaRPr>
          </a:p>
          <a:p>
            <a:pPr indent="0" lvl="0" marL="0" marR="0" rtl="0" algn="l">
              <a:spcBef>
                <a:spcPts val="600"/>
              </a:spcBef>
              <a:spcAft>
                <a:spcPts val="0"/>
              </a:spcAft>
              <a:buClr>
                <a:srgbClr val="23323B"/>
              </a:buClr>
              <a:buSzPts val="1200"/>
              <a:buFont typeface="Arial"/>
              <a:buNone/>
            </a:pPr>
            <a:r>
              <a:rPr b="1" i="0" lang="en-US" sz="1200" u="none" cap="none" strike="noStrike">
                <a:solidFill>
                  <a:srgbClr val="23323B"/>
                </a:solidFill>
                <a:latin typeface="Arial"/>
                <a:ea typeface="Arial"/>
                <a:cs typeface="Arial"/>
                <a:sym typeface="Arial"/>
              </a:rPr>
              <a:t>移管後に順次対応すること</a:t>
            </a:r>
            <a:endParaRPr b="0" i="0" sz="1100" u="none" cap="none" strike="noStrike">
              <a:solidFill>
                <a:srgbClr val="000000"/>
              </a:solidFill>
              <a:latin typeface="Arial"/>
              <a:ea typeface="Arial"/>
              <a:cs typeface="Arial"/>
              <a:sym typeface="Arial"/>
            </a:endParaRPr>
          </a:p>
          <a:p>
            <a:pPr indent="-152400" lvl="0" marL="152400" marR="0" rtl="0" algn="l">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担当の変更に正式な手続き（SOP の改訂、GxP の変更管理など）が要る業務は、手続きが終わるまで今の担当が続ける（経過措置）。業務と完了予定は合意文書に残す</a:t>
            </a:r>
            <a:endParaRPr b="0" i="0" sz="1100" u="none" cap="none" strike="noStrike">
              <a:solidFill>
                <a:srgbClr val="000000"/>
              </a:solidFill>
              <a:latin typeface="Arial"/>
              <a:ea typeface="Arial"/>
              <a:cs typeface="Arial"/>
              <a:sym typeface="Arial"/>
            </a:endParaRPr>
          </a:p>
          <a:p>
            <a:pPr indent="-152400" lvl="0" marL="152400" marR="0" rtl="0" algn="l">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契約の署名者は次回の更新から GDSに変わる。請求書の宛名の変更は2月初旬までに相手先に連絡する</a:t>
            </a:r>
            <a:endParaRPr b="0" i="0" sz="1100" u="none" cap="none" strike="noStrike">
              <a:solidFill>
                <a:srgbClr val="000000"/>
              </a:solidFill>
              <a:latin typeface="Arial"/>
              <a:ea typeface="Arial"/>
              <a:cs typeface="Arial"/>
              <a:sym typeface="Arial"/>
            </a:endParaRPr>
          </a:p>
        </p:txBody>
      </p:sp>
      <p:sp>
        <p:nvSpPr>
          <p:cNvPr id="67" name="Google Shape;67;p7"/>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8"/>
          <p:cNvSpPr txBox="1"/>
          <p:nvPr>
            <p:ph type="title"/>
          </p:nvPr>
        </p:nvSpPr>
        <p:spPr>
          <a:xfrm>
            <a:off x="635000" y="406400"/>
            <a:ext cx="10922000" cy="4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3323B"/>
              </a:buClr>
              <a:buSzPts val="2600"/>
              <a:buFont typeface="Arial"/>
              <a:buNone/>
            </a:pPr>
            <a:r>
              <a:rPr b="1" lang="en-US" sz="2400">
                <a:solidFill>
                  <a:srgbClr val="23323B"/>
                </a:solidFill>
              </a:rPr>
              <a:t>11月〜12月の進め方（目安）</a:t>
            </a:r>
            <a:endParaRPr sz="2400" b="1">
              <a:solidFill>
                <a:srgbClr val="23323B"/>
              </a:solidFill>
            </a:endParaRPr>
          </a:p>
        </p:txBody>
      </p:sp>
      <p:sp>
        <p:nvSpPr>
          <p:cNvPr id="74" name="Google Shape;74;p8"/>
          <p:cNvSpPr/>
          <p:nvPr/>
        </p:nvSpPr>
        <p:spPr>
          <a:xfrm>
            <a:off x="4664332" y="1143000"/>
            <a:ext cx="2641521" cy="265663"/>
          </a:xfrm>
          <a:prstGeom prst="rect">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txBox="1"/>
          <p:nvPr/>
        </p:nvSpPr>
        <p:spPr>
          <a:xfrm>
            <a:off x="4664332" y="1143000"/>
            <a:ext cx="2641521"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11月</a:t>
            </a:r>
            <a:endParaRPr b="0" i="0" sz="1100" u="none" cap="none" strike="noStrike">
              <a:solidFill>
                <a:srgbClr val="000000"/>
              </a:solidFill>
              <a:latin typeface="Arial"/>
              <a:ea typeface="Arial"/>
              <a:cs typeface="Arial"/>
              <a:sym typeface="Arial"/>
            </a:endParaRPr>
          </a:p>
        </p:txBody>
      </p:sp>
      <p:sp>
        <p:nvSpPr>
          <p:cNvPr id="76" name="Google Shape;76;p8"/>
          <p:cNvSpPr/>
          <p:nvPr/>
        </p:nvSpPr>
        <p:spPr>
          <a:xfrm>
            <a:off x="7305854" y="1143000"/>
            <a:ext cx="2823695" cy="265663"/>
          </a:xfrm>
          <a:prstGeom prst="rect">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txBox="1"/>
          <p:nvPr/>
        </p:nvSpPr>
        <p:spPr>
          <a:xfrm>
            <a:off x="7305854" y="1143000"/>
            <a:ext cx="2823695"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12月</a:t>
            </a:r>
            <a:endParaRPr b="0" i="0" sz="1100" u="none" cap="none" strike="noStrike">
              <a:solidFill>
                <a:srgbClr val="000000"/>
              </a:solidFill>
              <a:latin typeface="Arial"/>
              <a:ea typeface="Arial"/>
              <a:cs typeface="Arial"/>
              <a:sym typeface="Arial"/>
            </a:endParaRPr>
          </a:p>
        </p:txBody>
      </p:sp>
      <p:sp>
        <p:nvSpPr>
          <p:cNvPr id="78" name="Google Shape;78;p8"/>
          <p:cNvSpPr/>
          <p:nvPr/>
        </p:nvSpPr>
        <p:spPr>
          <a:xfrm>
            <a:off x="10129549" y="1143000"/>
            <a:ext cx="1424498" cy="265663"/>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txBox="1"/>
          <p:nvPr/>
        </p:nvSpPr>
        <p:spPr>
          <a:xfrm>
            <a:off x="10129549" y="1143000"/>
            <a:ext cx="142449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1100"/>
              <a:buFont typeface="Arial"/>
              <a:buNone/>
            </a:pPr>
            <a:r>
              <a:rPr b="1" i="0" lang="en-US" sz="1100" u="none" cap="none" strike="noStrike">
                <a:solidFill>
                  <a:srgbClr val="404040"/>
                </a:solidFill>
                <a:latin typeface="Arial"/>
                <a:ea typeface="Arial"/>
                <a:cs typeface="Arial"/>
                <a:sym typeface="Arial"/>
              </a:rPr>
              <a:t>1月以降</a:t>
            </a:r>
            <a:endParaRPr b="0" i="0" sz="1100" u="none" cap="none" strike="noStrike">
              <a:solidFill>
                <a:srgbClr val="000000"/>
              </a:solidFill>
              <a:latin typeface="Arial"/>
              <a:ea typeface="Arial"/>
              <a:cs typeface="Arial"/>
              <a:sym typeface="Arial"/>
            </a:endParaRPr>
          </a:p>
        </p:txBody>
      </p:sp>
      <p:sp>
        <p:nvSpPr>
          <p:cNvPr id="80" name="Google Shape;80;p8"/>
          <p:cNvSpPr txBox="1"/>
          <p:nvPr/>
        </p:nvSpPr>
        <p:spPr>
          <a:xfrm>
            <a:off x="4664332"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11/2</a:t>
            </a:r>
            <a:endParaRPr b="0" i="0" sz="950" u="none" cap="none" strike="noStrike">
              <a:solidFill>
                <a:srgbClr val="000000"/>
              </a:solidFill>
              <a:latin typeface="Arial"/>
              <a:ea typeface="Arial"/>
              <a:cs typeface="Arial"/>
              <a:sym typeface="Arial"/>
            </a:endParaRPr>
          </a:p>
        </p:txBody>
      </p:sp>
      <p:sp>
        <p:nvSpPr>
          <p:cNvPr id="81" name="Google Shape;81;p8"/>
          <p:cNvSpPr txBox="1"/>
          <p:nvPr/>
        </p:nvSpPr>
        <p:spPr>
          <a:xfrm>
            <a:off x="5301941"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11/9</a:t>
            </a:r>
            <a:endParaRPr b="0" i="0" sz="950" u="none" cap="none" strike="noStrike">
              <a:solidFill>
                <a:srgbClr val="000000"/>
              </a:solidFill>
              <a:latin typeface="Arial"/>
              <a:ea typeface="Arial"/>
              <a:cs typeface="Arial"/>
              <a:sym typeface="Arial"/>
            </a:endParaRPr>
          </a:p>
        </p:txBody>
      </p:sp>
      <p:sp>
        <p:nvSpPr>
          <p:cNvPr id="82" name="Google Shape;82;p8"/>
          <p:cNvSpPr txBox="1"/>
          <p:nvPr/>
        </p:nvSpPr>
        <p:spPr>
          <a:xfrm>
            <a:off x="5939549"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11/16</a:t>
            </a:r>
            <a:endParaRPr b="0" i="0" sz="950" u="none" cap="none" strike="noStrike">
              <a:solidFill>
                <a:srgbClr val="000000"/>
              </a:solidFill>
              <a:latin typeface="Arial"/>
              <a:ea typeface="Arial"/>
              <a:cs typeface="Arial"/>
              <a:sym typeface="Arial"/>
            </a:endParaRPr>
          </a:p>
        </p:txBody>
      </p:sp>
      <p:sp>
        <p:nvSpPr>
          <p:cNvPr id="83" name="Google Shape;83;p8"/>
          <p:cNvSpPr txBox="1"/>
          <p:nvPr/>
        </p:nvSpPr>
        <p:spPr>
          <a:xfrm>
            <a:off x="6577158"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11/23</a:t>
            </a:r>
            <a:endParaRPr b="0" i="0" sz="950" u="none" cap="none" strike="noStrike">
              <a:solidFill>
                <a:srgbClr val="000000"/>
              </a:solidFill>
              <a:latin typeface="Arial"/>
              <a:ea typeface="Arial"/>
              <a:cs typeface="Arial"/>
              <a:sym typeface="Arial"/>
            </a:endParaRPr>
          </a:p>
        </p:txBody>
      </p:sp>
      <p:sp>
        <p:nvSpPr>
          <p:cNvPr id="84" name="Google Shape;84;p8"/>
          <p:cNvSpPr txBox="1"/>
          <p:nvPr/>
        </p:nvSpPr>
        <p:spPr>
          <a:xfrm>
            <a:off x="7214767"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11/30</a:t>
            </a:r>
            <a:endParaRPr b="0" i="0" sz="950" u="none" cap="none" strike="noStrike">
              <a:solidFill>
                <a:srgbClr val="000000"/>
              </a:solidFill>
              <a:latin typeface="Arial"/>
              <a:ea typeface="Arial"/>
              <a:cs typeface="Arial"/>
              <a:sym typeface="Arial"/>
            </a:endParaRPr>
          </a:p>
        </p:txBody>
      </p:sp>
      <p:sp>
        <p:nvSpPr>
          <p:cNvPr id="85" name="Google Shape;85;p8"/>
          <p:cNvSpPr txBox="1"/>
          <p:nvPr/>
        </p:nvSpPr>
        <p:spPr>
          <a:xfrm>
            <a:off x="7852375"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12/7</a:t>
            </a:r>
            <a:endParaRPr b="0" i="0" sz="950" u="none" cap="none" strike="noStrike">
              <a:solidFill>
                <a:srgbClr val="000000"/>
              </a:solidFill>
              <a:latin typeface="Arial"/>
              <a:ea typeface="Arial"/>
              <a:cs typeface="Arial"/>
              <a:sym typeface="Arial"/>
            </a:endParaRPr>
          </a:p>
        </p:txBody>
      </p:sp>
      <p:sp>
        <p:nvSpPr>
          <p:cNvPr id="86" name="Google Shape;86;p8"/>
          <p:cNvSpPr txBox="1"/>
          <p:nvPr/>
        </p:nvSpPr>
        <p:spPr>
          <a:xfrm>
            <a:off x="8489984"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12/14</a:t>
            </a:r>
            <a:endParaRPr b="0" i="0" sz="950" u="none" cap="none" strike="noStrike">
              <a:solidFill>
                <a:srgbClr val="000000"/>
              </a:solidFill>
              <a:latin typeface="Arial"/>
              <a:ea typeface="Arial"/>
              <a:cs typeface="Arial"/>
              <a:sym typeface="Arial"/>
            </a:endParaRPr>
          </a:p>
        </p:txBody>
      </p:sp>
      <p:sp>
        <p:nvSpPr>
          <p:cNvPr id="87" name="Google Shape;87;p8"/>
          <p:cNvSpPr txBox="1"/>
          <p:nvPr/>
        </p:nvSpPr>
        <p:spPr>
          <a:xfrm>
            <a:off x="9127592"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12/21</a:t>
            </a:r>
            <a:endParaRPr b="0" i="0" sz="950" u="none" cap="none" strike="noStrike">
              <a:solidFill>
                <a:srgbClr val="000000"/>
              </a:solidFill>
              <a:latin typeface="Arial"/>
              <a:ea typeface="Arial"/>
              <a:cs typeface="Arial"/>
              <a:sym typeface="Arial"/>
            </a:endParaRPr>
          </a:p>
        </p:txBody>
      </p:sp>
      <p:sp>
        <p:nvSpPr>
          <p:cNvPr id="88" name="Google Shape;88;p8"/>
          <p:cNvSpPr txBox="1"/>
          <p:nvPr/>
        </p:nvSpPr>
        <p:spPr>
          <a:xfrm>
            <a:off x="9765201"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12/28</a:t>
            </a:r>
            <a:endParaRPr b="0" i="0" sz="950" u="none" cap="none" strike="noStrike">
              <a:solidFill>
                <a:srgbClr val="000000"/>
              </a:solidFill>
              <a:latin typeface="Arial"/>
              <a:ea typeface="Arial"/>
              <a:cs typeface="Arial"/>
              <a:sym typeface="Arial"/>
            </a:endParaRPr>
          </a:p>
        </p:txBody>
      </p:sp>
      <p:sp>
        <p:nvSpPr>
          <p:cNvPr id="89" name="Google Shape;89;p8"/>
          <p:cNvSpPr txBox="1"/>
          <p:nvPr/>
        </p:nvSpPr>
        <p:spPr>
          <a:xfrm>
            <a:off x="10129549" y="1408663"/>
            <a:ext cx="142449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1/1〜</a:t>
            </a:r>
            <a:endParaRPr b="0" i="0" sz="950" u="none" cap="none" strike="noStrike">
              <a:solidFill>
                <a:srgbClr val="000000"/>
              </a:solidFill>
              <a:latin typeface="Arial"/>
              <a:ea typeface="Arial"/>
              <a:cs typeface="Arial"/>
              <a:sym typeface="Arial"/>
            </a:endParaRPr>
          </a:p>
        </p:txBody>
      </p:sp>
      <p:sp>
        <p:nvSpPr>
          <p:cNvPr id="90" name="Google Shape;90;p8"/>
          <p:cNvSpPr txBox="1"/>
          <p:nvPr/>
        </p:nvSpPr>
        <p:spPr>
          <a:xfrm>
            <a:off x="723556" y="1727459"/>
            <a:ext cx="3852218" cy="48704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323B"/>
              </a:buClr>
              <a:buSzPts val="1100"/>
              <a:buFont typeface="Arial"/>
              <a:buNone/>
            </a:pPr>
            <a:r>
              <a:rPr b="1" i="0" lang="en-US" sz="1100" u="none" cap="none" strike="noStrike">
                <a:solidFill>
                  <a:srgbClr val="23323B"/>
                </a:solidFill>
                <a:latin typeface="Arial"/>
                <a:ea typeface="Arial"/>
                <a:cs typeface="Arial"/>
                <a:sym typeface="Arial"/>
              </a:rPr>
              <a:t>マイルストーン</a:t>
            </a:r>
            <a:endParaRPr b="0" i="0" sz="1100" u="none" cap="none" strike="noStrike">
              <a:solidFill>
                <a:srgbClr val="000000"/>
              </a:solidFill>
              <a:latin typeface="Arial"/>
              <a:ea typeface="Arial"/>
              <a:cs typeface="Arial"/>
              <a:sym typeface="Arial"/>
            </a:endParaRPr>
          </a:p>
        </p:txBody>
      </p:sp>
      <p:sp>
        <p:nvSpPr>
          <p:cNvPr id="91" name="Google Shape;91;p8"/>
          <p:cNvSpPr/>
          <p:nvPr/>
        </p:nvSpPr>
        <p:spPr>
          <a:xfrm>
            <a:off x="4630174" y="1771736"/>
            <a:ext cx="159402" cy="159397"/>
          </a:xfrm>
          <a:prstGeom prst="diamond">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txBox="1"/>
          <p:nvPr/>
        </p:nvSpPr>
        <p:spPr>
          <a:xfrm>
            <a:off x="4267091" y="1939989"/>
            <a:ext cx="885567" cy="28337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3323B"/>
              </a:buClr>
              <a:buSzPts val="850"/>
              <a:buFont typeface="Arial"/>
              <a:buNone/>
            </a:pPr>
            <a:r>
              <a:rPr b="0" i="0" lang="en-US" sz="850" u="none" cap="none" strike="noStrike">
                <a:solidFill>
                  <a:srgbClr val="23323B"/>
                </a:solidFill>
                <a:latin typeface="Arial"/>
                <a:ea typeface="Arial"/>
                <a:cs typeface="Arial"/>
                <a:sym typeface="Arial"/>
              </a:rPr>
              <a:t>11月</a:t>
            </a:r>
            <a:endParaRPr b="0" i="0" sz="850" u="none" cap="none" strike="noStrike">
              <a:solidFill>
                <a:srgbClr val="000000"/>
              </a:solidFill>
              <a:latin typeface="Arial"/>
              <a:ea typeface="Arial"/>
              <a:cs typeface="Arial"/>
              <a:sym typeface="Arial"/>
            </a:endParaRPr>
          </a:p>
          <a:p>
            <a:pPr indent="0" lvl="0" marL="0" marR="0" rtl="0" algn="ctr">
              <a:spcBef>
                <a:spcPts val="0"/>
              </a:spcBef>
              <a:spcAft>
                <a:spcPts val="0"/>
              </a:spcAft>
              <a:buClr>
                <a:srgbClr val="23323B"/>
              </a:buClr>
              <a:buSzPts val="850"/>
              <a:buFont typeface="Arial"/>
              <a:buNone/>
            </a:pPr>
            <a:r>
              <a:rPr b="0" i="0" lang="en-US" sz="850" u="none" cap="none" strike="noStrike">
                <a:solidFill>
                  <a:srgbClr val="23323B"/>
                </a:solidFill>
                <a:latin typeface="Arial"/>
                <a:ea typeface="Arial"/>
                <a:cs typeface="Arial"/>
                <a:sym typeface="Arial"/>
              </a:rPr>
              <a:t>活動の開始</a:t>
            </a:r>
            <a:endParaRPr b="0" i="0" sz="850" u="none" cap="none" strike="noStrike">
              <a:solidFill>
                <a:srgbClr val="000000"/>
              </a:solidFill>
              <a:latin typeface="Arial"/>
              <a:ea typeface="Arial"/>
              <a:cs typeface="Arial"/>
              <a:sym typeface="Arial"/>
            </a:endParaRPr>
          </a:p>
        </p:txBody>
      </p:sp>
      <p:sp>
        <p:nvSpPr>
          <p:cNvPr id="93" name="Google Shape;93;p8"/>
          <p:cNvSpPr/>
          <p:nvPr/>
        </p:nvSpPr>
        <p:spPr>
          <a:xfrm>
            <a:off x="8182566" y="1771736"/>
            <a:ext cx="159402" cy="159397"/>
          </a:xfrm>
          <a:prstGeom prst="diamond">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txBox="1"/>
          <p:nvPr/>
        </p:nvSpPr>
        <p:spPr>
          <a:xfrm>
            <a:off x="7819483" y="1939989"/>
            <a:ext cx="885567" cy="28337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3323B"/>
              </a:buClr>
              <a:buSzPts val="850"/>
              <a:buFont typeface="Arial"/>
              <a:buNone/>
            </a:pPr>
            <a:r>
              <a:rPr b="0" i="0" lang="en-US" sz="850" u="none" cap="none" strike="noStrike">
                <a:solidFill>
                  <a:srgbClr val="23323B"/>
                </a:solidFill>
                <a:latin typeface="Arial"/>
                <a:ea typeface="Arial"/>
                <a:cs typeface="Arial"/>
                <a:sym typeface="Arial"/>
              </a:rPr>
              <a:t>12/11</a:t>
            </a:r>
            <a:endParaRPr b="0" i="0" sz="850" u="none" cap="none" strike="noStrike">
              <a:solidFill>
                <a:srgbClr val="000000"/>
              </a:solidFill>
              <a:latin typeface="Arial"/>
              <a:ea typeface="Arial"/>
              <a:cs typeface="Arial"/>
              <a:sym typeface="Arial"/>
            </a:endParaRPr>
          </a:p>
          <a:p>
            <a:pPr indent="0" lvl="0" marL="0" marR="0" rtl="0" algn="ctr">
              <a:spcBef>
                <a:spcPts val="0"/>
              </a:spcBef>
              <a:spcAft>
                <a:spcPts val="0"/>
              </a:spcAft>
              <a:buClr>
                <a:srgbClr val="23323B"/>
              </a:buClr>
              <a:buSzPts val="850"/>
              <a:buFont typeface="Arial"/>
              <a:buNone/>
            </a:pPr>
            <a:r>
              <a:rPr b="0" i="0" lang="en-US" sz="850" u="none" cap="none" strike="noStrike">
                <a:solidFill>
                  <a:srgbClr val="23323B"/>
                </a:solidFill>
                <a:latin typeface="Arial"/>
                <a:ea typeface="Arial"/>
                <a:cs typeface="Arial"/>
                <a:sym typeface="Arial"/>
              </a:rPr>
              <a:t>合意</a:t>
            </a:r>
            <a:endParaRPr b="0" i="0" sz="850" u="none" cap="none" strike="noStrike">
              <a:solidFill>
                <a:srgbClr val="000000"/>
              </a:solidFill>
              <a:latin typeface="Arial"/>
              <a:ea typeface="Arial"/>
              <a:cs typeface="Arial"/>
              <a:sym typeface="Arial"/>
            </a:endParaRPr>
          </a:p>
        </p:txBody>
      </p:sp>
      <p:sp>
        <p:nvSpPr>
          <p:cNvPr id="95" name="Google Shape;95;p8"/>
          <p:cNvSpPr/>
          <p:nvPr/>
        </p:nvSpPr>
        <p:spPr>
          <a:xfrm>
            <a:off x="8820174" y="1771736"/>
            <a:ext cx="159402" cy="159397"/>
          </a:xfrm>
          <a:prstGeom prst="diamond">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txBox="1"/>
          <p:nvPr/>
        </p:nvSpPr>
        <p:spPr>
          <a:xfrm>
            <a:off x="8457092" y="1939989"/>
            <a:ext cx="885567" cy="28337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3323B"/>
              </a:buClr>
              <a:buSzPts val="850"/>
              <a:buFont typeface="Arial"/>
              <a:buNone/>
            </a:pPr>
            <a:r>
              <a:rPr b="0" i="0" lang="en-US" sz="850" u="none" cap="none" strike="noStrike">
                <a:solidFill>
                  <a:srgbClr val="23323B"/>
                </a:solidFill>
                <a:latin typeface="Arial"/>
                <a:ea typeface="Arial"/>
                <a:cs typeface="Arial"/>
                <a:sym typeface="Arial"/>
              </a:rPr>
              <a:t>12/18</a:t>
            </a:r>
            <a:endParaRPr b="0" i="0" sz="850" u="none" cap="none" strike="noStrike">
              <a:solidFill>
                <a:srgbClr val="000000"/>
              </a:solidFill>
              <a:latin typeface="Arial"/>
              <a:ea typeface="Arial"/>
              <a:cs typeface="Arial"/>
              <a:sym typeface="Arial"/>
            </a:endParaRPr>
          </a:p>
          <a:p>
            <a:pPr indent="0" lvl="0" marL="0" marR="0" rtl="0" algn="ctr">
              <a:spcBef>
                <a:spcPts val="0"/>
              </a:spcBef>
              <a:spcAft>
                <a:spcPts val="0"/>
              </a:spcAft>
              <a:buClr>
                <a:srgbClr val="23323B"/>
              </a:buClr>
              <a:buSzPts val="850"/>
              <a:buFont typeface="Arial"/>
              <a:buNone/>
            </a:pPr>
            <a:r>
              <a:rPr b="0" i="0" lang="en-US" sz="850" u="none" cap="none" strike="noStrike">
                <a:solidFill>
                  <a:srgbClr val="23323B"/>
                </a:solidFill>
                <a:latin typeface="Arial"/>
                <a:ea typeface="Arial"/>
                <a:cs typeface="Arial"/>
                <a:sym typeface="Arial"/>
              </a:rPr>
              <a:t>準備完了</a:t>
            </a:r>
            <a:endParaRPr b="0" i="0" sz="850" u="none" cap="none" strike="noStrike">
              <a:solidFill>
                <a:srgbClr val="000000"/>
              </a:solidFill>
              <a:latin typeface="Arial"/>
              <a:ea typeface="Arial"/>
              <a:cs typeface="Arial"/>
              <a:sym typeface="Arial"/>
            </a:endParaRPr>
          </a:p>
        </p:txBody>
      </p:sp>
      <p:sp>
        <p:nvSpPr>
          <p:cNvPr id="97" name="Google Shape;97;p8"/>
          <p:cNvSpPr/>
          <p:nvPr/>
        </p:nvSpPr>
        <p:spPr>
          <a:xfrm>
            <a:off x="10049848" y="1771736"/>
            <a:ext cx="159402" cy="159397"/>
          </a:xfrm>
          <a:prstGeom prst="diamond">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txBox="1"/>
          <p:nvPr/>
        </p:nvSpPr>
        <p:spPr>
          <a:xfrm>
            <a:off x="9226270" y="1939989"/>
            <a:ext cx="885567" cy="283374"/>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3323B"/>
              </a:buClr>
              <a:buSzPts val="850"/>
              <a:buFont typeface="Arial"/>
              <a:buNone/>
            </a:pPr>
            <a:r>
              <a:rPr b="1" i="0" lang="en-US" sz="850" u="none" cap="none" strike="noStrike">
                <a:solidFill>
                  <a:srgbClr val="23323B"/>
                </a:solidFill>
                <a:latin typeface="Arial"/>
                <a:ea typeface="Arial"/>
                <a:cs typeface="Arial"/>
                <a:sym typeface="Arial"/>
              </a:rPr>
              <a:t>12/31</a:t>
            </a:r>
            <a:endParaRPr b="0" i="0" sz="850" u="none" cap="none" strike="noStrike">
              <a:solidFill>
                <a:srgbClr val="000000"/>
              </a:solidFill>
              <a:latin typeface="Arial"/>
              <a:ea typeface="Arial"/>
              <a:cs typeface="Arial"/>
              <a:sym typeface="Arial"/>
            </a:endParaRPr>
          </a:p>
          <a:p>
            <a:pPr indent="0" lvl="0" marL="0" marR="0" rtl="0" algn="r">
              <a:spcBef>
                <a:spcPts val="0"/>
              </a:spcBef>
              <a:spcAft>
                <a:spcPts val="0"/>
              </a:spcAft>
              <a:buClr>
                <a:srgbClr val="23323B"/>
              </a:buClr>
              <a:buSzPts val="850"/>
              <a:buFont typeface="Arial"/>
              <a:buNone/>
            </a:pPr>
            <a:r>
              <a:rPr b="1" i="0" lang="en-US" sz="850" u="none" cap="none" strike="noStrike">
                <a:solidFill>
                  <a:srgbClr val="23323B"/>
                </a:solidFill>
                <a:latin typeface="Arial"/>
                <a:ea typeface="Arial"/>
                <a:cs typeface="Arial"/>
                <a:sym typeface="Arial"/>
              </a:rPr>
              <a:t>稟議の承認</a:t>
            </a:r>
            <a:endParaRPr b="0" i="0" sz="850" u="none" cap="none" strike="noStrike">
              <a:solidFill>
                <a:srgbClr val="000000"/>
              </a:solidFill>
              <a:latin typeface="Arial"/>
              <a:ea typeface="Arial"/>
              <a:cs typeface="Arial"/>
              <a:sym typeface="Arial"/>
            </a:endParaRPr>
          </a:p>
        </p:txBody>
      </p:sp>
      <p:sp>
        <p:nvSpPr>
          <p:cNvPr id="99" name="Google Shape;99;p8"/>
          <p:cNvSpPr/>
          <p:nvPr/>
        </p:nvSpPr>
        <p:spPr>
          <a:xfrm>
            <a:off x="10235817" y="1771736"/>
            <a:ext cx="159402" cy="159397"/>
          </a:xfrm>
          <a:prstGeom prst="diamond">
            <a:avLst/>
          </a:prstGeom>
          <a:solidFill>
            <a:srgbClr val="7F7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txBox="1"/>
          <p:nvPr/>
        </p:nvSpPr>
        <p:spPr>
          <a:xfrm>
            <a:off x="10235817" y="1939989"/>
            <a:ext cx="1300519" cy="28337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4040"/>
              </a:buClr>
              <a:buSzPts val="850"/>
              <a:buFont typeface="Arial"/>
              <a:buNone/>
            </a:pPr>
            <a:r>
              <a:rPr b="0" i="0" lang="en-US" sz="850" u="none" cap="none" strike="noStrike">
                <a:solidFill>
                  <a:srgbClr val="404040"/>
                </a:solidFill>
                <a:latin typeface="Arial"/>
                <a:ea typeface="Arial"/>
                <a:cs typeface="Arial"/>
                <a:sym typeface="Arial"/>
              </a:rPr>
              <a:t>1/1</a:t>
            </a:r>
            <a:endParaRPr b="0" i="0" sz="850" u="none" cap="none" strike="noStrike">
              <a:solidFill>
                <a:srgbClr val="000000"/>
              </a:solidFill>
              <a:latin typeface="Arial"/>
              <a:ea typeface="Arial"/>
              <a:cs typeface="Arial"/>
              <a:sym typeface="Arial"/>
            </a:endParaRPr>
          </a:p>
          <a:p>
            <a:pPr indent="0" lvl="0" marL="0" marR="0" rtl="0" algn="l">
              <a:spcBef>
                <a:spcPts val="0"/>
              </a:spcBef>
              <a:spcAft>
                <a:spcPts val="0"/>
              </a:spcAft>
              <a:buClr>
                <a:srgbClr val="404040"/>
              </a:buClr>
              <a:buSzPts val="850"/>
              <a:buFont typeface="Arial"/>
              <a:buNone/>
            </a:pPr>
            <a:r>
              <a:rPr b="0" i="0" lang="en-US" sz="850" u="none" cap="none" strike="noStrike">
                <a:solidFill>
                  <a:srgbClr val="404040"/>
                </a:solidFill>
                <a:latin typeface="Arial"/>
                <a:ea typeface="Arial"/>
                <a:cs typeface="Arial"/>
                <a:sym typeface="Arial"/>
              </a:rPr>
              <a:t>移管（間接業務の開始）</a:t>
            </a:r>
            <a:endParaRPr b="0" i="0" sz="850" u="none" cap="none" strike="noStrike">
              <a:solidFill>
                <a:srgbClr val="000000"/>
              </a:solidFill>
              <a:latin typeface="Arial"/>
              <a:ea typeface="Arial"/>
              <a:cs typeface="Arial"/>
              <a:sym typeface="Arial"/>
            </a:endParaRPr>
          </a:p>
        </p:txBody>
      </p:sp>
      <p:sp>
        <p:nvSpPr>
          <p:cNvPr id="101" name="Google Shape;101;p8"/>
          <p:cNvSpPr/>
          <p:nvPr/>
        </p:nvSpPr>
        <p:spPr>
          <a:xfrm>
            <a:off x="635000" y="2214508"/>
            <a:ext cx="10919048" cy="230241"/>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
          <p:cNvSpPr txBox="1"/>
          <p:nvPr/>
        </p:nvSpPr>
        <p:spPr>
          <a:xfrm>
            <a:off x="723556" y="2214508"/>
            <a:ext cx="2656702" cy="2302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323B"/>
              </a:buClr>
              <a:buSzPts val="1100"/>
              <a:buFont typeface="Arial"/>
              <a:buNone/>
            </a:pPr>
            <a:r>
              <a:rPr b="1" i="0" lang="en-US" sz="1100" u="none" cap="none" strike="noStrike">
                <a:solidFill>
                  <a:srgbClr val="23323B"/>
                </a:solidFill>
                <a:latin typeface="Arial"/>
                <a:ea typeface="Arial"/>
                <a:cs typeface="Arial"/>
                <a:sym typeface="Arial"/>
              </a:rPr>
              <a:t>S&amp;G</a:t>
            </a:r>
            <a:endParaRPr b="0" i="0" sz="1100" u="none" cap="none" strike="noStrike">
              <a:solidFill>
                <a:srgbClr val="000000"/>
              </a:solidFill>
              <a:latin typeface="Arial"/>
              <a:ea typeface="Arial"/>
              <a:cs typeface="Arial"/>
              <a:sym typeface="Arial"/>
            </a:endParaRPr>
          </a:p>
        </p:txBody>
      </p:sp>
      <p:sp>
        <p:nvSpPr>
          <p:cNvPr id="103" name="Google Shape;103;p8"/>
          <p:cNvSpPr txBox="1"/>
          <p:nvPr/>
        </p:nvSpPr>
        <p:spPr>
          <a:xfrm>
            <a:off x="723556" y="2444750"/>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追補の公開と説明</a:t>
            </a:r>
            <a:endParaRPr b="0" i="0" sz="1050" u="none" cap="none" strike="noStrike">
              <a:solidFill>
                <a:srgbClr val="000000"/>
              </a:solidFill>
              <a:latin typeface="Arial"/>
              <a:ea typeface="Arial"/>
              <a:cs typeface="Arial"/>
              <a:sym typeface="Arial"/>
            </a:endParaRPr>
          </a:p>
        </p:txBody>
      </p:sp>
      <p:cxnSp>
        <p:nvCxnSpPr>
          <p:cNvPr id="104" name="Google Shape;104;p8"/>
          <p:cNvCxnSpPr/>
          <p:nvPr/>
        </p:nvCxnSpPr>
        <p:spPr>
          <a:xfrm>
            <a:off x="635000" y="2701557"/>
            <a:ext cx="10919048" cy="0"/>
          </a:xfrm>
          <a:prstGeom prst="straightConnector1">
            <a:avLst/>
          </a:prstGeom>
          <a:noFill/>
          <a:ln cap="flat" cmpd="sng" w="9525">
            <a:solidFill>
              <a:srgbClr val="F2F2F2"/>
            </a:solidFill>
            <a:prstDash val="solid"/>
            <a:round/>
            <a:headEnd len="sm" w="sm" type="none"/>
            <a:tailEnd len="sm" w="sm" type="none"/>
          </a:ln>
        </p:spPr>
      </p:cxnSp>
      <p:sp>
        <p:nvSpPr>
          <p:cNvPr id="105" name="Google Shape;105;p8"/>
          <p:cNvSpPr/>
          <p:nvPr/>
        </p:nvSpPr>
        <p:spPr>
          <a:xfrm>
            <a:off x="4664332" y="2497882"/>
            <a:ext cx="168257" cy="168253"/>
          </a:xfrm>
          <a:prstGeom prst="diamond">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p:cNvSpPr txBox="1"/>
          <p:nvPr/>
        </p:nvSpPr>
        <p:spPr>
          <a:xfrm>
            <a:off x="723556" y="2701557"/>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移管ステータスと進捗の確認（毎日）</a:t>
            </a:r>
            <a:endParaRPr b="0" i="0" sz="1050" u="none" cap="none" strike="noStrike">
              <a:solidFill>
                <a:srgbClr val="000000"/>
              </a:solidFill>
              <a:latin typeface="Arial"/>
              <a:ea typeface="Arial"/>
              <a:cs typeface="Arial"/>
              <a:sym typeface="Arial"/>
            </a:endParaRPr>
          </a:p>
        </p:txBody>
      </p:sp>
      <p:cxnSp>
        <p:nvCxnSpPr>
          <p:cNvPr id="107" name="Google Shape;107;p8"/>
          <p:cNvCxnSpPr/>
          <p:nvPr/>
        </p:nvCxnSpPr>
        <p:spPr>
          <a:xfrm>
            <a:off x="635000" y="2958365"/>
            <a:ext cx="10919048" cy="0"/>
          </a:xfrm>
          <a:prstGeom prst="straightConnector1">
            <a:avLst/>
          </a:prstGeom>
          <a:noFill/>
          <a:ln cap="flat" cmpd="sng" w="9525">
            <a:solidFill>
              <a:srgbClr val="F2F2F2"/>
            </a:solidFill>
            <a:prstDash val="solid"/>
            <a:round/>
            <a:headEnd len="sm" w="sm" type="none"/>
            <a:tailEnd len="sm" w="sm" type="none"/>
          </a:ln>
        </p:spPr>
      </p:cxnSp>
      <p:sp>
        <p:nvSpPr>
          <p:cNvPr id="108" name="Google Shape;108;p8"/>
          <p:cNvSpPr/>
          <p:nvPr/>
        </p:nvSpPr>
        <p:spPr>
          <a:xfrm>
            <a:off x="4664332" y="2763545"/>
            <a:ext cx="5465216" cy="132831"/>
          </a:xfrm>
          <a:prstGeom prst="rect">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txBox="1"/>
          <p:nvPr/>
        </p:nvSpPr>
        <p:spPr>
          <a:xfrm>
            <a:off x="723556" y="2958365"/>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合意文書の横並びの確認</a:t>
            </a:r>
            <a:endParaRPr b="0" i="0" sz="1050" u="none" cap="none" strike="noStrike">
              <a:solidFill>
                <a:srgbClr val="000000"/>
              </a:solidFill>
              <a:latin typeface="Arial"/>
              <a:ea typeface="Arial"/>
              <a:cs typeface="Arial"/>
              <a:sym typeface="Arial"/>
            </a:endParaRPr>
          </a:p>
        </p:txBody>
      </p:sp>
      <p:cxnSp>
        <p:nvCxnSpPr>
          <p:cNvPr id="110" name="Google Shape;110;p8"/>
          <p:cNvCxnSpPr/>
          <p:nvPr/>
        </p:nvCxnSpPr>
        <p:spPr>
          <a:xfrm>
            <a:off x="635000" y="3215173"/>
            <a:ext cx="10919048" cy="0"/>
          </a:xfrm>
          <a:prstGeom prst="straightConnector1">
            <a:avLst/>
          </a:prstGeom>
          <a:noFill/>
          <a:ln cap="flat" cmpd="sng" w="9525">
            <a:solidFill>
              <a:srgbClr val="F2F2F2"/>
            </a:solidFill>
            <a:prstDash val="solid"/>
            <a:round/>
            <a:headEnd len="sm" w="sm" type="none"/>
            <a:tailEnd len="sm" w="sm" type="none"/>
          </a:ln>
        </p:spPr>
      </p:cxnSp>
      <p:sp>
        <p:nvSpPr>
          <p:cNvPr id="111" name="Google Shape;111;p8"/>
          <p:cNvSpPr/>
          <p:nvPr/>
        </p:nvSpPr>
        <p:spPr>
          <a:xfrm>
            <a:off x="7214767" y="3020353"/>
            <a:ext cx="1093043" cy="132831"/>
          </a:xfrm>
          <a:prstGeom prst="rect">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8"/>
          <p:cNvSpPr txBox="1"/>
          <p:nvPr/>
        </p:nvSpPr>
        <p:spPr>
          <a:xfrm>
            <a:off x="723556" y="3215173"/>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移管の稟議の起票と承認（部門ごと）</a:t>
            </a:r>
            <a:endParaRPr b="0" i="0" sz="1050" u="none" cap="none" strike="noStrike">
              <a:solidFill>
                <a:srgbClr val="000000"/>
              </a:solidFill>
              <a:latin typeface="Arial"/>
              <a:ea typeface="Arial"/>
              <a:cs typeface="Arial"/>
              <a:sym typeface="Arial"/>
            </a:endParaRPr>
          </a:p>
        </p:txBody>
      </p:sp>
      <p:cxnSp>
        <p:nvCxnSpPr>
          <p:cNvPr id="113" name="Google Shape;113;p8"/>
          <p:cNvCxnSpPr/>
          <p:nvPr/>
        </p:nvCxnSpPr>
        <p:spPr>
          <a:xfrm>
            <a:off x="635000" y="3471981"/>
            <a:ext cx="10919048" cy="0"/>
          </a:xfrm>
          <a:prstGeom prst="straightConnector1">
            <a:avLst/>
          </a:prstGeom>
          <a:noFill/>
          <a:ln cap="flat" cmpd="sng" w="9525">
            <a:solidFill>
              <a:srgbClr val="F2F2F2"/>
            </a:solidFill>
            <a:prstDash val="solid"/>
            <a:round/>
            <a:headEnd len="sm" w="sm" type="none"/>
            <a:tailEnd len="sm" w="sm" type="none"/>
          </a:ln>
        </p:spPr>
      </p:cxnSp>
      <p:sp>
        <p:nvSpPr>
          <p:cNvPr id="114" name="Google Shape;114;p8"/>
          <p:cNvSpPr/>
          <p:nvPr/>
        </p:nvSpPr>
        <p:spPr>
          <a:xfrm>
            <a:off x="7852375" y="3277161"/>
            <a:ext cx="2277173" cy="132831"/>
          </a:xfrm>
          <a:prstGeom prst="rect">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635000" y="3471981"/>
            <a:ext cx="10919048" cy="230241"/>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txBox="1"/>
          <p:nvPr/>
        </p:nvSpPr>
        <p:spPr>
          <a:xfrm>
            <a:off x="723556" y="3471981"/>
            <a:ext cx="2656702" cy="2302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323B"/>
              </a:buClr>
              <a:buSzPts val="1100"/>
              <a:buFont typeface="Arial"/>
              <a:buNone/>
            </a:pPr>
            <a:r>
              <a:rPr b="1" i="0" lang="en-US" sz="1100" u="none" cap="none" strike="noStrike">
                <a:solidFill>
                  <a:srgbClr val="23323B"/>
                </a:solidFill>
                <a:latin typeface="Arial"/>
                <a:ea typeface="Arial"/>
                <a:cs typeface="Arial"/>
                <a:sym typeface="Arial"/>
              </a:rPr>
              <a:t>担当BP</a:t>
            </a:r>
            <a:endParaRPr b="0" i="0" sz="1100" u="none" cap="none" strike="noStrike">
              <a:solidFill>
                <a:srgbClr val="000000"/>
              </a:solidFill>
              <a:latin typeface="Arial"/>
              <a:ea typeface="Arial"/>
              <a:cs typeface="Arial"/>
              <a:sym typeface="Arial"/>
            </a:endParaRPr>
          </a:p>
        </p:txBody>
      </p:sp>
      <p:sp>
        <p:nvSpPr>
          <p:cNvPr id="117" name="Google Shape;117;p8"/>
          <p:cNvSpPr txBox="1"/>
          <p:nvPr/>
        </p:nvSpPr>
        <p:spPr>
          <a:xfrm>
            <a:off x="723556" y="3702222"/>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①　移管元と合意する（ヒアリングシート → 合意文書）</a:t>
            </a:r>
            <a:endParaRPr b="0" i="0" sz="1050" u="none" cap="none" strike="noStrike">
              <a:solidFill>
                <a:srgbClr val="000000"/>
              </a:solidFill>
              <a:latin typeface="Arial"/>
              <a:ea typeface="Arial"/>
              <a:cs typeface="Arial"/>
              <a:sym typeface="Arial"/>
            </a:endParaRPr>
          </a:p>
        </p:txBody>
      </p:sp>
      <p:cxnSp>
        <p:nvCxnSpPr>
          <p:cNvPr id="118" name="Google Shape;118;p8"/>
          <p:cNvCxnSpPr/>
          <p:nvPr/>
        </p:nvCxnSpPr>
        <p:spPr>
          <a:xfrm>
            <a:off x="635000" y="3959030"/>
            <a:ext cx="10919048" cy="0"/>
          </a:xfrm>
          <a:prstGeom prst="straightConnector1">
            <a:avLst/>
          </a:prstGeom>
          <a:noFill/>
          <a:ln cap="flat" cmpd="sng" w="9525">
            <a:solidFill>
              <a:srgbClr val="F2F2F2"/>
            </a:solidFill>
            <a:prstDash val="solid"/>
            <a:round/>
            <a:headEnd len="sm" w="sm" type="none"/>
            <a:tailEnd len="sm" w="sm" type="none"/>
          </a:ln>
        </p:spPr>
      </p:cxnSp>
      <p:sp>
        <p:nvSpPr>
          <p:cNvPr id="119" name="Google Shape;119;p8"/>
          <p:cNvSpPr/>
          <p:nvPr/>
        </p:nvSpPr>
        <p:spPr>
          <a:xfrm>
            <a:off x="4663440" y="3764210"/>
            <a:ext cx="3648456" cy="132831"/>
          </a:xfrm>
          <a:prstGeom prst="rect">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txBox="1"/>
          <p:nvPr/>
        </p:nvSpPr>
        <p:spPr>
          <a:xfrm>
            <a:off x="723556" y="3959030"/>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②　引き継ぐ（業務マニュアル・契約書・過去の記録）</a:t>
            </a:r>
            <a:endParaRPr b="0" i="0" sz="1050" u="none" cap="none" strike="noStrike">
              <a:solidFill>
                <a:srgbClr val="000000"/>
              </a:solidFill>
              <a:latin typeface="Arial"/>
              <a:ea typeface="Arial"/>
              <a:cs typeface="Arial"/>
              <a:sym typeface="Arial"/>
            </a:endParaRPr>
          </a:p>
        </p:txBody>
      </p:sp>
      <p:cxnSp>
        <p:nvCxnSpPr>
          <p:cNvPr id="121" name="Google Shape;121;p8"/>
          <p:cNvCxnSpPr/>
          <p:nvPr/>
        </p:nvCxnSpPr>
        <p:spPr>
          <a:xfrm>
            <a:off x="635000" y="4215838"/>
            <a:ext cx="10919048" cy="0"/>
          </a:xfrm>
          <a:prstGeom prst="straightConnector1">
            <a:avLst/>
          </a:prstGeom>
          <a:noFill/>
          <a:ln cap="flat" cmpd="sng" w="9525">
            <a:solidFill>
              <a:srgbClr val="F2F2F2"/>
            </a:solidFill>
            <a:prstDash val="solid"/>
            <a:round/>
            <a:headEnd len="sm" w="sm" type="none"/>
            <a:tailEnd len="sm" w="sm" type="none"/>
          </a:ln>
        </p:spPr>
      </p:cxnSp>
      <p:sp>
        <p:nvSpPr>
          <p:cNvPr id="122" name="Google Shape;122;p8"/>
          <p:cNvSpPr/>
          <p:nvPr/>
        </p:nvSpPr>
        <p:spPr>
          <a:xfrm>
            <a:off x="7214616" y="4021018"/>
            <a:ext cx="1728216" cy="132831"/>
          </a:xfrm>
          <a:prstGeom prst="rect">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txBox="1"/>
          <p:nvPr/>
        </p:nvSpPr>
        <p:spPr>
          <a:xfrm>
            <a:off x="723556" y="4215838"/>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③　完了を報告する（稟議申請の時点）</a:t>
            </a:r>
            <a:endParaRPr b="0" i="0" sz="1050" u="none" cap="none" strike="noStrike">
              <a:solidFill>
                <a:srgbClr val="000000"/>
              </a:solidFill>
              <a:latin typeface="Arial"/>
              <a:ea typeface="Arial"/>
              <a:cs typeface="Arial"/>
              <a:sym typeface="Arial"/>
            </a:endParaRPr>
          </a:p>
        </p:txBody>
      </p:sp>
      <p:cxnSp>
        <p:nvCxnSpPr>
          <p:cNvPr id="124" name="Google Shape;124;p8"/>
          <p:cNvCxnSpPr/>
          <p:nvPr/>
        </p:nvCxnSpPr>
        <p:spPr>
          <a:xfrm>
            <a:off x="635000" y="4472646"/>
            <a:ext cx="10919048" cy="0"/>
          </a:xfrm>
          <a:prstGeom prst="straightConnector1">
            <a:avLst/>
          </a:prstGeom>
          <a:noFill/>
          <a:ln cap="flat" cmpd="sng" w="9525">
            <a:solidFill>
              <a:srgbClr val="F2F2F2"/>
            </a:solidFill>
            <a:prstDash val="solid"/>
            <a:round/>
            <a:headEnd len="sm" w="sm" type="none"/>
            <a:tailEnd len="sm" w="sm" type="none"/>
          </a:ln>
        </p:spPr>
      </p:cxnSp>
      <p:sp>
        <p:nvSpPr>
          <p:cNvPr id="125" name="Google Shape;125;p8"/>
          <p:cNvSpPr/>
          <p:nvPr/>
        </p:nvSpPr>
        <p:spPr>
          <a:xfrm>
            <a:off x="8485632" y="4277826"/>
            <a:ext cx="457200" cy="132831"/>
          </a:xfrm>
          <a:prstGeom prst="rect">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txBox="1"/>
          <p:nvPr/>
        </p:nvSpPr>
        <p:spPr>
          <a:xfrm>
            <a:off x="723556" y="4472646"/>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進捗管理表の更新（随時）</a:t>
            </a:r>
            <a:endParaRPr b="0" i="0" sz="1050" u="none" cap="none" strike="noStrike">
              <a:solidFill>
                <a:srgbClr val="000000"/>
              </a:solidFill>
              <a:latin typeface="Arial"/>
              <a:ea typeface="Arial"/>
              <a:cs typeface="Arial"/>
              <a:sym typeface="Arial"/>
            </a:endParaRPr>
          </a:p>
        </p:txBody>
      </p:sp>
      <p:cxnSp>
        <p:nvCxnSpPr>
          <p:cNvPr id="127" name="Google Shape;127;p8"/>
          <p:cNvCxnSpPr/>
          <p:nvPr/>
        </p:nvCxnSpPr>
        <p:spPr>
          <a:xfrm>
            <a:off x="635000" y="4729454"/>
            <a:ext cx="10919048" cy="0"/>
          </a:xfrm>
          <a:prstGeom prst="straightConnector1">
            <a:avLst/>
          </a:prstGeom>
          <a:noFill/>
          <a:ln cap="flat" cmpd="sng" w="9525">
            <a:solidFill>
              <a:srgbClr val="F2F2F2"/>
            </a:solidFill>
            <a:prstDash val="solid"/>
            <a:round/>
            <a:headEnd len="sm" w="sm" type="none"/>
            <a:tailEnd len="sm" w="sm" type="none"/>
          </a:ln>
        </p:spPr>
      </p:cxnSp>
      <p:sp>
        <p:nvSpPr>
          <p:cNvPr id="128" name="Google Shape;128;p8"/>
          <p:cNvSpPr/>
          <p:nvPr/>
        </p:nvSpPr>
        <p:spPr>
          <a:xfrm>
            <a:off x="4663440" y="4534634"/>
            <a:ext cx="5468112" cy="132831"/>
          </a:xfrm>
          <a:prstGeom prst="rect">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txBox="1"/>
          <p:nvPr/>
        </p:nvSpPr>
        <p:spPr>
          <a:xfrm>
            <a:off x="723556" y="4729454"/>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問題・懸念の報告と相談（随時）</a:t>
            </a:r>
            <a:endParaRPr b="0" i="0" sz="1050" u="none" cap="none" strike="noStrike">
              <a:solidFill>
                <a:srgbClr val="000000"/>
              </a:solidFill>
              <a:latin typeface="Arial"/>
              <a:ea typeface="Arial"/>
              <a:cs typeface="Arial"/>
              <a:sym typeface="Arial"/>
            </a:endParaRPr>
          </a:p>
        </p:txBody>
      </p:sp>
      <p:cxnSp>
        <p:nvCxnSpPr>
          <p:cNvPr id="130" name="Google Shape;130;p8"/>
          <p:cNvCxnSpPr/>
          <p:nvPr/>
        </p:nvCxnSpPr>
        <p:spPr>
          <a:xfrm>
            <a:off x="635000" y="4986261"/>
            <a:ext cx="10919048" cy="0"/>
          </a:xfrm>
          <a:prstGeom prst="straightConnector1">
            <a:avLst/>
          </a:prstGeom>
          <a:noFill/>
          <a:ln cap="flat" cmpd="sng" w="9525">
            <a:solidFill>
              <a:srgbClr val="F2F2F2"/>
            </a:solidFill>
            <a:prstDash val="solid"/>
            <a:round/>
            <a:headEnd len="sm" w="sm" type="none"/>
            <a:tailEnd len="sm" w="sm" type="none"/>
          </a:ln>
        </p:spPr>
      </p:cxnSp>
      <p:sp>
        <p:nvSpPr>
          <p:cNvPr id="131" name="Google Shape;131;p8"/>
          <p:cNvSpPr/>
          <p:nvPr/>
        </p:nvSpPr>
        <p:spPr>
          <a:xfrm>
            <a:off x="4664332" y="4791442"/>
            <a:ext cx="5465216" cy="132831"/>
          </a:xfrm>
          <a:prstGeom prst="rect">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txBox="1"/>
          <p:nvPr/>
        </p:nvSpPr>
        <p:spPr>
          <a:xfrm>
            <a:off x="723556" y="4986261"/>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経過措置の業務の担当の変更（手続きの完了後）</a:t>
            </a:r>
            <a:endParaRPr b="0" i="0" sz="1050" u="none" cap="none" strike="noStrike">
              <a:solidFill>
                <a:srgbClr val="000000"/>
              </a:solidFill>
              <a:latin typeface="Arial"/>
              <a:ea typeface="Arial"/>
              <a:cs typeface="Arial"/>
              <a:sym typeface="Arial"/>
            </a:endParaRPr>
          </a:p>
        </p:txBody>
      </p:sp>
      <p:cxnSp>
        <p:nvCxnSpPr>
          <p:cNvPr id="133" name="Google Shape;133;p8"/>
          <p:cNvCxnSpPr/>
          <p:nvPr/>
        </p:nvCxnSpPr>
        <p:spPr>
          <a:xfrm>
            <a:off x="635000" y="5243069"/>
            <a:ext cx="10919048" cy="0"/>
          </a:xfrm>
          <a:prstGeom prst="straightConnector1">
            <a:avLst/>
          </a:prstGeom>
          <a:noFill/>
          <a:ln cap="flat" cmpd="sng" w="9525">
            <a:solidFill>
              <a:srgbClr val="F2F2F2"/>
            </a:solidFill>
            <a:prstDash val="solid"/>
            <a:round/>
            <a:headEnd len="sm" w="sm" type="none"/>
            <a:tailEnd len="sm" w="sm" type="none"/>
          </a:ln>
        </p:spPr>
      </p:cxnSp>
      <p:sp>
        <p:nvSpPr>
          <p:cNvPr id="134" name="Google Shape;134;p8"/>
          <p:cNvSpPr/>
          <p:nvPr/>
        </p:nvSpPr>
        <p:spPr>
          <a:xfrm>
            <a:off x="10182683" y="5048250"/>
            <a:ext cx="1318230" cy="132831"/>
          </a:xfrm>
          <a:prstGeom prst="rect">
            <a:avLst/>
          </a:prstGeom>
          <a:solidFill>
            <a:srgbClr val="F2F2F2"/>
          </a:solidFill>
          <a:ln cap="flat" cmpd="sng" w="9525">
            <a:solidFill>
              <a:srgbClr val="D9D9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txBox="1"/>
          <p:nvPr/>
        </p:nvSpPr>
        <p:spPr>
          <a:xfrm>
            <a:off x="10182683" y="5048250"/>
            <a:ext cx="1318230" cy="13283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850"/>
              <a:buFont typeface="Arial"/>
              <a:buNone/>
            </a:pPr>
            <a:r>
              <a:rPr b="0" i="0" lang="en-US" sz="850" u="none" cap="none" strike="noStrike">
                <a:solidFill>
                  <a:srgbClr val="404040"/>
                </a:solidFill>
                <a:latin typeface="Arial"/>
                <a:ea typeface="Arial"/>
                <a:cs typeface="Arial"/>
                <a:sym typeface="Arial"/>
              </a:rPr>
              <a:t>完了予定に沿って</a:t>
            </a:r>
            <a:endParaRPr b="0" i="0" sz="850" u="none" cap="none" strike="noStrike">
              <a:solidFill>
                <a:srgbClr val="000000"/>
              </a:solidFill>
              <a:latin typeface="Arial"/>
              <a:ea typeface="Arial"/>
              <a:cs typeface="Arial"/>
              <a:sym typeface="Arial"/>
            </a:endParaRPr>
          </a:p>
        </p:txBody>
      </p:sp>
      <p:cxnSp>
        <p:nvCxnSpPr>
          <p:cNvPr id="136" name="Google Shape;136;p8"/>
          <p:cNvCxnSpPr/>
          <p:nvPr/>
        </p:nvCxnSpPr>
        <p:spPr>
          <a:xfrm>
            <a:off x="7305854" y="1727459"/>
            <a:ext cx="0" cy="3515610"/>
          </a:xfrm>
          <a:prstGeom prst="straightConnector1">
            <a:avLst/>
          </a:prstGeom>
          <a:noFill/>
          <a:ln cap="flat" cmpd="sng" w="9525">
            <a:solidFill>
              <a:srgbClr val="D9D9D9"/>
            </a:solidFill>
            <a:prstDash val="solid"/>
            <a:round/>
            <a:headEnd len="sm" w="sm" type="none"/>
            <a:tailEnd len="sm" w="sm" type="none"/>
          </a:ln>
        </p:spPr>
      </p:cxnSp>
      <p:cxnSp>
        <p:nvCxnSpPr>
          <p:cNvPr id="137" name="Google Shape;137;p8"/>
          <p:cNvCxnSpPr/>
          <p:nvPr/>
        </p:nvCxnSpPr>
        <p:spPr>
          <a:xfrm>
            <a:off x="8307810" y="1727459"/>
            <a:ext cx="0" cy="3515610"/>
          </a:xfrm>
          <a:prstGeom prst="straightConnector1">
            <a:avLst/>
          </a:prstGeom>
          <a:noFill/>
          <a:ln cap="flat" cmpd="sng" w="9525">
            <a:solidFill>
              <a:srgbClr val="D9D9D9"/>
            </a:solidFill>
            <a:prstDash val="dash"/>
            <a:round/>
            <a:headEnd len="sm" w="sm" type="none"/>
            <a:tailEnd len="sm" w="sm" type="none"/>
          </a:ln>
        </p:spPr>
      </p:cxnSp>
      <p:cxnSp>
        <p:nvCxnSpPr>
          <p:cNvPr id="138" name="Google Shape;138;p8"/>
          <p:cNvCxnSpPr/>
          <p:nvPr/>
        </p:nvCxnSpPr>
        <p:spPr>
          <a:xfrm>
            <a:off x="8945419" y="1727459"/>
            <a:ext cx="0" cy="3515610"/>
          </a:xfrm>
          <a:prstGeom prst="straightConnector1">
            <a:avLst/>
          </a:prstGeom>
          <a:noFill/>
          <a:ln cap="flat" cmpd="sng" w="9525">
            <a:solidFill>
              <a:srgbClr val="D9D9D9"/>
            </a:solidFill>
            <a:prstDash val="dash"/>
            <a:round/>
            <a:headEnd len="sm" w="sm" type="none"/>
            <a:tailEnd len="sm" w="sm" type="none"/>
          </a:ln>
        </p:spPr>
      </p:cxnSp>
      <p:cxnSp>
        <p:nvCxnSpPr>
          <p:cNvPr id="139" name="Google Shape;139;p8"/>
          <p:cNvCxnSpPr/>
          <p:nvPr/>
        </p:nvCxnSpPr>
        <p:spPr>
          <a:xfrm>
            <a:off x="10129549" y="1727459"/>
            <a:ext cx="0" cy="3515610"/>
          </a:xfrm>
          <a:prstGeom prst="straightConnector1">
            <a:avLst/>
          </a:prstGeom>
          <a:noFill/>
          <a:ln cap="flat" cmpd="sng" w="9525">
            <a:solidFill>
              <a:srgbClr val="5D6164"/>
            </a:solidFill>
            <a:prstDash val="solid"/>
            <a:round/>
            <a:headEnd len="sm" w="sm" type="none"/>
            <a:tailEnd len="sm" w="sm" type="none"/>
          </a:ln>
        </p:spPr>
      </p:cxnSp>
      <p:sp>
        <p:nvSpPr>
          <p:cNvPr id="140" name="Google Shape;140;p8"/>
          <p:cNvSpPr/>
          <p:nvPr/>
        </p:nvSpPr>
        <p:spPr>
          <a:xfrm>
            <a:off x="635000" y="5376672"/>
            <a:ext cx="5379822" cy="102412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txBox="1"/>
          <p:nvPr/>
        </p:nvSpPr>
        <p:spPr>
          <a:xfrm>
            <a:off x="794402" y="5458968"/>
            <a:ext cx="5061018" cy="2656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323B"/>
              </a:buClr>
              <a:buSzPts val="1200"/>
              <a:buFont typeface="Arial"/>
              <a:buNone/>
            </a:pPr>
            <a:r>
              <a:rPr b="1" i="0" lang="en-US" sz="1200" u="none" cap="none" strike="noStrike">
                <a:solidFill>
                  <a:srgbClr val="23323B"/>
                </a:solidFill>
                <a:latin typeface="Arial"/>
                <a:ea typeface="Arial"/>
                <a:cs typeface="Arial"/>
                <a:sym typeface="Arial"/>
              </a:rPr>
              <a:t>S&amp;Gの完了状態：移管の稟議が承認されている</a:t>
            </a:r>
            <a:endParaRPr b="0" i="0" sz="1200" u="none" cap="none" strike="noStrike">
              <a:solidFill>
                <a:srgbClr val="000000"/>
              </a:solidFill>
              <a:latin typeface="Arial"/>
              <a:ea typeface="Arial"/>
              <a:cs typeface="Arial"/>
              <a:sym typeface="Arial"/>
            </a:endParaRPr>
          </a:p>
        </p:txBody>
      </p:sp>
      <p:sp>
        <p:nvSpPr>
          <p:cNvPr id="142" name="Google Shape;142;p8"/>
          <p:cNvSpPr txBox="1"/>
          <p:nvPr/>
        </p:nvSpPr>
        <p:spPr>
          <a:xfrm>
            <a:off x="794402" y="5742432"/>
            <a:ext cx="5061018" cy="6035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そのための材料：全案件の合意文書と完了報告、進捗管理表（移管ステータス）がそろい、稟議に必要な情報（移管する予算と契約、来年度予算）が整理されている</a:t>
            </a:r>
            <a:endParaRPr b="0" i="0" sz="1000" u="none" cap="none" strike="noStrike">
              <a:solidFill>
                <a:srgbClr val="000000"/>
              </a:solidFill>
              <a:latin typeface="Arial"/>
              <a:ea typeface="Arial"/>
              <a:cs typeface="Arial"/>
              <a:sym typeface="Arial"/>
            </a:endParaRPr>
          </a:p>
        </p:txBody>
      </p:sp>
      <p:sp>
        <p:nvSpPr>
          <p:cNvPr id="143" name="Google Shape;143;p8"/>
          <p:cNvSpPr/>
          <p:nvPr/>
        </p:nvSpPr>
        <p:spPr>
          <a:xfrm>
            <a:off x="6174225" y="5376672"/>
            <a:ext cx="5379822" cy="102412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txBox="1"/>
          <p:nvPr/>
        </p:nvSpPr>
        <p:spPr>
          <a:xfrm>
            <a:off x="6333627" y="5458968"/>
            <a:ext cx="5061018" cy="2656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323B"/>
              </a:buClr>
              <a:buSzPts val="1200"/>
              <a:buFont typeface="Arial"/>
              <a:buNone/>
            </a:pPr>
            <a:r>
              <a:rPr b="1" i="0" lang="en-US" sz="1200" u="none" cap="none" strike="noStrike">
                <a:solidFill>
                  <a:srgbClr val="23323B"/>
                </a:solidFill>
                <a:latin typeface="Arial"/>
                <a:ea typeface="Arial"/>
                <a:cs typeface="Arial"/>
                <a:sym typeface="Arial"/>
              </a:rPr>
              <a:t>担当BPの完了状態：移管後の業務を開始できる</a:t>
            </a:r>
            <a:endParaRPr b="0" i="0" sz="1200" u="none" cap="none" strike="noStrike">
              <a:solidFill>
                <a:srgbClr val="000000"/>
              </a:solidFill>
              <a:latin typeface="Arial"/>
              <a:ea typeface="Arial"/>
              <a:cs typeface="Arial"/>
              <a:sym typeface="Arial"/>
            </a:endParaRPr>
          </a:p>
        </p:txBody>
      </p:sp>
      <p:sp>
        <p:nvSpPr>
          <p:cNvPr id="145" name="Google Shape;145;p8"/>
          <p:cNvSpPr txBox="1"/>
          <p:nvPr/>
        </p:nvSpPr>
        <p:spPr>
          <a:xfrm>
            <a:off x="6333627" y="5742432"/>
            <a:ext cx="5061018" cy="60350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そのための材料：承認された合意文書（移管する予算と契約、引き継ぐ業務、報告・相談の方法、時期）と、引き継いだ業務マニュアル・契約書・過去の記録</a:t>
            </a:r>
            <a:endParaRPr b="0" i="0" sz="1000" u="none" cap="none" strike="noStrike">
              <a:solidFill>
                <a:srgbClr val="000000"/>
              </a:solidFill>
              <a:latin typeface="Arial"/>
              <a:ea typeface="Arial"/>
              <a:cs typeface="Arial"/>
              <a:sym typeface="Arial"/>
            </a:endParaRPr>
          </a:p>
        </p:txBody>
      </p:sp>
      <p:sp>
        <p:nvSpPr>
          <p:cNvPr id="146" name="Google Shape;146;p8"/>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0"/>
          <p:cNvSpPr txBox="1"/>
          <p:nvPr>
            <p:ph type="title"/>
          </p:nvPr>
        </p:nvSpPr>
        <p:spPr>
          <a:xfrm>
            <a:off x="635000" y="406400"/>
            <a:ext cx="10922000" cy="4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3323B"/>
              </a:buClr>
              <a:buSzPts val="2600"/>
              <a:buFont typeface="Arial"/>
              <a:buNone/>
            </a:pPr>
            <a:r>
              <a:rPr b="1" lang="en-US" sz="2400">
                <a:solidFill>
                  <a:srgbClr val="23323B"/>
                </a:solidFill>
              </a:rPr>
              <a:t>移管後の役割分担（RACI）</a:t>
            </a:r>
            <a:endParaRPr sz="2400" b="1">
              <a:solidFill>
                <a:srgbClr val="23323B"/>
              </a:solidFill>
            </a:endParaRPr>
          </a:p>
        </p:txBody>
      </p:sp>
      <p:sp>
        <p:nvSpPr>
          <p:cNvPr id="204" name="Google Shape;204;p10"/>
          <p:cNvSpPr txBox="1"/>
          <p:nvPr/>
        </p:nvSpPr>
        <p:spPr>
          <a:xfrm>
            <a:off x="635000" y="889000"/>
            <a:ext cx="1092200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323B"/>
              </a:buClr>
              <a:buSzPts val="1400"/>
              <a:buFont typeface="Arial"/>
              <a:buNone/>
            </a:pPr>
            <a:r>
              <a:rPr b="1" i="0" lang="en-US" sz="1400" u="none" cap="none" strike="noStrike">
                <a:solidFill>
                  <a:srgbClr val="404040"/>
                </a:solidFill>
                <a:latin typeface="Arial"/>
                <a:ea typeface="Arial"/>
                <a:cs typeface="Arial"/>
                <a:sym typeface="Arial"/>
              </a:rPr>
              <a:t>IT主導の領域は、GDSがリード（R）し、各ファンクションの助言（C）のもとで GDSが決定（A）する</a:t>
            </a:r>
            <a:endParaRPr b="1" i="0" sz="1400" u="none" cap="none" strike="noStrike">
              <a:solidFill>
                <a:srgbClr val="404040"/>
              </a:solidFill>
              <a:latin typeface="Arial"/>
              <a:ea typeface="Arial"/>
              <a:cs typeface="Arial"/>
              <a:sym typeface="Arial"/>
            </a:endParaRPr>
          </a:p>
          <a:p>
            <a:pPr indent="0" lvl="0" marL="0" marR="0" rtl="0" algn="l">
              <a:spcBef>
                <a:spcPts val="0"/>
              </a:spcBef>
              <a:spcAft>
                <a:spcPts val="0"/>
              </a:spcAft>
              <a:buClr>
                <a:srgbClr val="23323B"/>
              </a:buClr>
              <a:buSzPts val="1400"/>
              <a:buFont typeface="Arial"/>
              <a:buNone/>
            </a:pPr>
            <a:r>
              <a:rPr b="1" i="0" lang="en-US" sz="1400" u="none" cap="none" strike="noStrike">
                <a:solidFill>
                  <a:srgbClr val="404040"/>
                </a:solidFill>
                <a:latin typeface="Arial"/>
                <a:ea typeface="Arial"/>
                <a:cs typeface="Arial"/>
                <a:sym typeface="Arial"/>
              </a:rPr>
              <a:t>ただし、ある部門に固有で、他への影響が一切ないシステムは、この限りではない</a:t>
            </a:r>
            <a:endParaRPr b="1" i="0" sz="1400" u="none" cap="none" strike="noStrike">
              <a:solidFill>
                <a:srgbClr val="404040"/>
              </a:solidFill>
              <a:latin typeface="Arial"/>
              <a:ea typeface="Arial"/>
              <a:cs typeface="Arial"/>
              <a:sym typeface="Arial"/>
            </a:endParaRPr>
          </a:p>
        </p:txBody>
      </p:sp>
      <p:sp>
        <p:nvSpPr>
          <p:cNvPr id="249" name="Google Shape;249;p10"/>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
        <p:nvSpPr>
          <p:cNvPr id="250" name="act-req-arc"/>
          <p:cNvSpPr/>
          <p:nvPr/>
        </p:nvSpPr>
        <p:spPr>
          <a:xfrm>
            <a:off x="694943" y="1901951"/>
            <a:ext cx="7863840" cy="4059936"/>
          </a:xfrm>
          <a:prstGeom prst="arc">
            <a:avLst>
              <a:gd name="adj1" fmla="val 9780079"/>
              <a:gd name="adj2" fmla="val 16200000"/>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act-review-arc"/>
          <p:cNvSpPr/>
          <p:nvPr/>
        </p:nvSpPr>
        <p:spPr>
          <a:xfrm>
            <a:off x="3621024" y="1901951"/>
            <a:ext cx="7863840" cy="4059936"/>
          </a:xfrm>
          <a:prstGeom prst="arc">
            <a:avLst>
              <a:gd name="adj1" fmla="val 16200000"/>
              <a:gd name="adj2" fmla="val 1019921"/>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 name="act-itstrategy"/>
          <p:cNvCxnSpPr/>
          <p:nvPr/>
        </p:nvCxnSpPr>
        <p:spPr>
          <a:xfrm>
            <a:off x="6089904" y="2267712"/>
            <a:ext cx="0" cy="32004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3" name="act-policy"/>
          <p:cNvCxnSpPr/>
          <p:nvPr/>
        </p:nvCxnSpPr>
        <p:spPr>
          <a:xfrm>
            <a:off x="6089904" y="3319272"/>
            <a:ext cx="0" cy="32004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4" name="act-reqdef"/>
          <p:cNvCxnSpPr/>
          <p:nvPr/>
        </p:nvCxnSpPr>
        <p:spPr>
          <a:xfrm flipV="1">
            <a:off x="2478024" y="4370832"/>
            <a:ext cx="0" cy="36576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5" name="act-solution"/>
          <p:cNvCxnSpPr/>
          <p:nvPr/>
        </p:nvCxnSpPr>
        <p:spPr>
          <a:xfrm>
            <a:off x="3712464" y="4005072"/>
            <a:ext cx="1143000" cy="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6" name="act-vendor"/>
          <p:cNvCxnSpPr/>
          <p:nvPr/>
        </p:nvCxnSpPr>
        <p:spPr>
          <a:xfrm>
            <a:off x="7324344" y="4005072"/>
            <a:ext cx="1143000" cy="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7" name="act-benefit"/>
          <p:cNvCxnSpPr/>
          <p:nvPr/>
        </p:nvCxnSpPr>
        <p:spPr>
          <a:xfrm>
            <a:off x="9701784" y="4370832"/>
            <a:ext cx="0" cy="36576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8" name="act-nfr"/>
          <p:cNvSpPr/>
          <p:nvPr/>
        </p:nvSpPr>
        <p:spPr>
          <a:xfrm>
            <a:off x="2926080" y="2953512"/>
            <a:ext cx="3401567" cy="1371600"/>
          </a:xfrm>
          <a:prstGeom prst="arc">
            <a:avLst>
              <a:gd name="adj1" fmla="val 10800000"/>
              <a:gd name="adj2" fmla="val 16200000"/>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act-sourcing"/>
          <p:cNvSpPr/>
          <p:nvPr/>
        </p:nvSpPr>
        <p:spPr>
          <a:xfrm>
            <a:off x="5852160" y="2953512"/>
            <a:ext cx="3401567" cy="1371600"/>
          </a:xfrm>
          <a:prstGeom prst="arc">
            <a:avLst>
              <a:gd name="adj1" fmla="val 16200000"/>
              <a:gd name="adj2" fmla="val 21600000"/>
            </a:avLst>
          </a:prstGeom>
          <a:noFill/>
          <a:ln w="19050">
            <a:solidFill>
              <a:srgbClr val="7F7F7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O-Strategy"/>
          <p:cNvSpPr/>
          <p:nvPr/>
        </p:nvSpPr>
        <p:spPr>
          <a:xfrm>
            <a:off x="4626864" y="1536192"/>
            <a:ext cx="29260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4754879" y="1618488"/>
            <a:ext cx="2103120" cy="237744"/>
          </a:xfrm>
          <a:prstGeom prst="rect">
            <a:avLst/>
          </a:prstGeom>
          <a:noFill/>
        </p:spPr>
        <p:txBody>
          <a:bodyPr wrap="square" lIns="0" rIns="0" tIns="0" bIns="0" anchor="t">
            <a:spAutoFit/>
          </a:bodyPr>
          <a:lstStyle/>
          <a:p>
            <a:pPr algn="l"/>
            <a:r>
              <a:rPr sz="1150" b="1">
                <a:solidFill>
                  <a:srgbClr val="23323B"/>
                </a:solidFill>
                <a:latin typeface="Arial"/>
                <a:ea typeface="Arial"/>
              </a:rPr>
              <a:t>ビジネス戦略</a:t>
            </a:r>
          </a:p>
        </p:txBody>
      </p:sp>
      <p:sp>
        <p:nvSpPr>
          <p:cNvPr id="262" name="Rounded Rectangle 261"/>
          <p:cNvSpPr/>
          <p:nvPr/>
        </p:nvSpPr>
        <p:spPr>
          <a:xfrm>
            <a:off x="6912863" y="1636776"/>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ビジネス</a:t>
            </a:r>
          </a:p>
        </p:txBody>
      </p:sp>
      <p:sp>
        <p:nvSpPr>
          <p:cNvPr id="263" name="TextBox 262"/>
          <p:cNvSpPr txBox="1"/>
          <p:nvPr/>
        </p:nvSpPr>
        <p:spPr>
          <a:xfrm>
            <a:off x="4754879" y="1892807"/>
            <a:ext cx="2670048" cy="292608"/>
          </a:xfrm>
          <a:prstGeom prst="rect">
            <a:avLst/>
          </a:prstGeom>
          <a:noFill/>
        </p:spPr>
        <p:txBody>
          <a:bodyPr wrap="square" lIns="0" rIns="0" tIns="0" bIns="0" anchor="t">
            <a:spAutoFit/>
          </a:bodyPr>
          <a:lstStyle/>
          <a:p>
            <a:pPr algn="l"/>
            <a:r>
              <a:rPr sz="850" b="0">
                <a:solidFill>
                  <a:srgbClr val="404040"/>
                </a:solidFill>
                <a:latin typeface="Arial"/>
                <a:ea typeface="Arial"/>
              </a:rPr>
              <a:t>事業の方向（創発、伸長・拡大、維持、縮小・撤退）、ビジネス上の課題と IT への期待</a:t>
            </a:r>
          </a:p>
        </p:txBody>
      </p:sp>
      <p:sp>
        <p:nvSpPr>
          <p:cNvPr id="264" name="SO-Strategy"/>
          <p:cNvSpPr/>
          <p:nvPr/>
        </p:nvSpPr>
        <p:spPr>
          <a:xfrm>
            <a:off x="4626864" y="2587752"/>
            <a:ext cx="29260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4754879" y="2670048"/>
            <a:ext cx="2103120" cy="237744"/>
          </a:xfrm>
          <a:prstGeom prst="rect">
            <a:avLst/>
          </a:prstGeom>
          <a:noFill/>
        </p:spPr>
        <p:txBody>
          <a:bodyPr wrap="square" lIns="0" rIns="0" tIns="0" bIns="0" anchor="t">
            <a:spAutoFit/>
          </a:bodyPr>
          <a:lstStyle/>
          <a:p>
            <a:pPr algn="l"/>
            <a:r>
              <a:rPr sz="1150" b="1">
                <a:solidFill>
                  <a:srgbClr val="FFFFFF"/>
                </a:solidFill>
                <a:latin typeface="Arial"/>
                <a:ea typeface="Arial"/>
              </a:rPr>
              <a:t>IT戦略</a:t>
            </a:r>
          </a:p>
        </p:txBody>
      </p:sp>
      <p:sp>
        <p:nvSpPr>
          <p:cNvPr id="266" name="Rounded Rectangle 265"/>
          <p:cNvSpPr/>
          <p:nvPr/>
        </p:nvSpPr>
        <p:spPr>
          <a:xfrm>
            <a:off x="6912863" y="2688336"/>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IT主導</a:t>
            </a:r>
          </a:p>
        </p:txBody>
      </p:sp>
      <p:sp>
        <p:nvSpPr>
          <p:cNvPr id="267" name="TextBox 266"/>
          <p:cNvSpPr txBox="1"/>
          <p:nvPr/>
        </p:nvSpPr>
        <p:spPr>
          <a:xfrm>
            <a:off x="4754879" y="2944368"/>
            <a:ext cx="2670048" cy="292608"/>
          </a:xfrm>
          <a:prstGeom prst="rect">
            <a:avLst/>
          </a:prstGeom>
          <a:noFill/>
        </p:spPr>
        <p:txBody>
          <a:bodyPr wrap="square" lIns="0" rIns="0" tIns="0" bIns="0" anchor="t">
            <a:spAutoFit/>
          </a:bodyPr>
          <a:lstStyle/>
          <a:p>
            <a:pPr algn="l"/>
            <a:r>
              <a:rPr sz="850" b="0">
                <a:solidFill>
                  <a:srgbClr val="FFFFFF"/>
                </a:solidFill>
                <a:latin typeface="Arial"/>
                <a:ea typeface="Arial"/>
              </a:rPr>
              <a:t>IT投資の方針、全社のアーキテクチャと共通基盤、技術の選択とソーシングの方向</a:t>
            </a:r>
          </a:p>
        </p:txBody>
      </p:sp>
      <p:sp>
        <p:nvSpPr>
          <p:cNvPr id="268" name="SO-SysReq"/>
          <p:cNvSpPr/>
          <p:nvPr/>
        </p:nvSpPr>
        <p:spPr>
          <a:xfrm>
            <a:off x="1243584" y="3639312"/>
            <a:ext cx="24688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371600" y="3721608"/>
            <a:ext cx="1645920" cy="237744"/>
          </a:xfrm>
          <a:prstGeom prst="rect">
            <a:avLst/>
          </a:prstGeom>
          <a:noFill/>
        </p:spPr>
        <p:txBody>
          <a:bodyPr wrap="square" lIns="0" rIns="0" tIns="0" bIns="0" anchor="t">
            <a:spAutoFit/>
          </a:bodyPr>
          <a:lstStyle/>
          <a:p>
            <a:pPr algn="l"/>
            <a:r>
              <a:rPr sz="1150" b="1">
                <a:solidFill>
                  <a:srgbClr val="FFFFFF"/>
                </a:solidFill>
                <a:latin typeface="Arial"/>
                <a:ea typeface="Arial"/>
              </a:rPr>
              <a:t>システム要件</a:t>
            </a:r>
          </a:p>
        </p:txBody>
      </p:sp>
      <p:sp>
        <p:nvSpPr>
          <p:cNvPr id="270" name="Rounded Rectangle 269"/>
          <p:cNvSpPr/>
          <p:nvPr/>
        </p:nvSpPr>
        <p:spPr>
          <a:xfrm>
            <a:off x="3072384" y="3739896"/>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IT主導</a:t>
            </a:r>
          </a:p>
        </p:txBody>
      </p:sp>
      <p:sp>
        <p:nvSpPr>
          <p:cNvPr id="271" name="TextBox 270"/>
          <p:cNvSpPr txBox="1"/>
          <p:nvPr/>
        </p:nvSpPr>
        <p:spPr>
          <a:xfrm>
            <a:off x="1371600" y="3995928"/>
            <a:ext cx="2212848" cy="292608"/>
          </a:xfrm>
          <a:prstGeom prst="rect">
            <a:avLst/>
          </a:prstGeom>
          <a:noFill/>
        </p:spPr>
        <p:txBody>
          <a:bodyPr wrap="square" lIns="0" rIns="0" tIns="0" bIns="0" anchor="t">
            <a:spAutoFit/>
          </a:bodyPr>
          <a:lstStyle/>
          <a:p>
            <a:pPr algn="l"/>
            <a:r>
              <a:rPr sz="850" b="0">
                <a:solidFill>
                  <a:srgbClr val="FFFFFF"/>
                </a:solidFill>
                <a:latin typeface="Arial"/>
                <a:ea typeface="Arial"/>
              </a:rPr>
              <a:t>機能・非機能（性能・可用性・セキュリティ）・移行の要件</a:t>
            </a:r>
          </a:p>
        </p:txBody>
      </p:sp>
      <p:sp>
        <p:nvSpPr>
          <p:cNvPr id="272" name="SO-Solution"/>
          <p:cNvSpPr/>
          <p:nvPr/>
        </p:nvSpPr>
        <p:spPr>
          <a:xfrm>
            <a:off x="4855464" y="3639312"/>
            <a:ext cx="24688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4983479" y="3721608"/>
            <a:ext cx="1645920" cy="237744"/>
          </a:xfrm>
          <a:prstGeom prst="rect">
            <a:avLst/>
          </a:prstGeom>
          <a:noFill/>
        </p:spPr>
        <p:txBody>
          <a:bodyPr wrap="square" lIns="0" rIns="0" tIns="0" bIns="0" anchor="t">
            <a:spAutoFit/>
          </a:bodyPr>
          <a:lstStyle/>
          <a:p>
            <a:pPr algn="l"/>
            <a:r>
              <a:rPr sz="1150" b="1">
                <a:solidFill>
                  <a:srgbClr val="FFFFFF"/>
                </a:solidFill>
                <a:latin typeface="Arial"/>
                <a:ea typeface="Arial"/>
              </a:rPr>
              <a:t>ソリューション</a:t>
            </a:r>
          </a:p>
        </p:txBody>
      </p:sp>
      <p:sp>
        <p:nvSpPr>
          <p:cNvPr id="274" name="Rounded Rectangle 273"/>
          <p:cNvSpPr/>
          <p:nvPr/>
        </p:nvSpPr>
        <p:spPr>
          <a:xfrm>
            <a:off x="6684264" y="3739896"/>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IT主導</a:t>
            </a:r>
          </a:p>
        </p:txBody>
      </p:sp>
      <p:sp>
        <p:nvSpPr>
          <p:cNvPr id="275" name="TextBox 274"/>
          <p:cNvSpPr txBox="1"/>
          <p:nvPr/>
        </p:nvSpPr>
        <p:spPr>
          <a:xfrm>
            <a:off x="4983479" y="3995928"/>
            <a:ext cx="2212848" cy="292608"/>
          </a:xfrm>
          <a:prstGeom prst="rect">
            <a:avLst/>
          </a:prstGeom>
          <a:noFill/>
        </p:spPr>
        <p:txBody>
          <a:bodyPr wrap="square" lIns="0" rIns="0" tIns="0" bIns="0" anchor="t">
            <a:spAutoFit/>
          </a:bodyPr>
          <a:lstStyle/>
          <a:p>
            <a:pPr algn="l"/>
            <a:r>
              <a:rPr sz="850" b="0">
                <a:solidFill>
                  <a:srgbClr val="FFFFFF"/>
                </a:solidFill>
                <a:latin typeface="Arial"/>
                <a:ea typeface="Arial"/>
              </a:rPr>
              <a:t>SaaS・パッケージ・個別開発と、導入〜運用〜廃止のシステムライフサイクル</a:t>
            </a:r>
          </a:p>
        </p:txBody>
      </p:sp>
      <p:sp>
        <p:nvSpPr>
          <p:cNvPr id="276" name="SO-Vendor"/>
          <p:cNvSpPr/>
          <p:nvPr/>
        </p:nvSpPr>
        <p:spPr>
          <a:xfrm>
            <a:off x="8467344" y="3639312"/>
            <a:ext cx="24688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8595360" y="3721608"/>
            <a:ext cx="1645920" cy="237744"/>
          </a:xfrm>
          <a:prstGeom prst="rect">
            <a:avLst/>
          </a:prstGeom>
          <a:noFill/>
        </p:spPr>
        <p:txBody>
          <a:bodyPr wrap="square" lIns="0" rIns="0" tIns="0" bIns="0" anchor="t">
            <a:spAutoFit/>
          </a:bodyPr>
          <a:lstStyle/>
          <a:p>
            <a:pPr algn="l"/>
            <a:r>
              <a:rPr sz="1150" b="1">
                <a:solidFill>
                  <a:srgbClr val="FFFFFF"/>
                </a:solidFill>
                <a:latin typeface="Arial"/>
                <a:ea typeface="Arial"/>
              </a:rPr>
              <a:t>ベンダー</a:t>
            </a:r>
          </a:p>
        </p:txBody>
      </p:sp>
      <p:sp>
        <p:nvSpPr>
          <p:cNvPr id="278" name="Rounded Rectangle 277"/>
          <p:cNvSpPr/>
          <p:nvPr/>
        </p:nvSpPr>
        <p:spPr>
          <a:xfrm>
            <a:off x="10296144" y="3739896"/>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IT主導</a:t>
            </a:r>
          </a:p>
        </p:txBody>
      </p:sp>
      <p:sp>
        <p:nvSpPr>
          <p:cNvPr id="279" name="TextBox 278"/>
          <p:cNvSpPr txBox="1"/>
          <p:nvPr/>
        </p:nvSpPr>
        <p:spPr>
          <a:xfrm>
            <a:off x="8595360" y="3995928"/>
            <a:ext cx="2212848" cy="292608"/>
          </a:xfrm>
          <a:prstGeom prst="rect">
            <a:avLst/>
          </a:prstGeom>
          <a:noFill/>
        </p:spPr>
        <p:txBody>
          <a:bodyPr wrap="square" lIns="0" rIns="0" tIns="0" bIns="0" anchor="t">
            <a:spAutoFit/>
          </a:bodyPr>
          <a:lstStyle/>
          <a:p>
            <a:pPr algn="l"/>
            <a:r>
              <a:rPr sz="850" b="0">
                <a:solidFill>
                  <a:srgbClr val="FFFFFF"/>
                </a:solidFill>
                <a:latin typeface="Arial"/>
                <a:ea typeface="Arial"/>
              </a:rPr>
              <a:t>供給者と提案・見積・契約条件。選定後のパフォーマンス・関係・リスク</a:t>
            </a:r>
          </a:p>
        </p:txBody>
      </p:sp>
      <p:sp>
        <p:nvSpPr>
          <p:cNvPr id="280" name="PO-BizReq"/>
          <p:cNvSpPr/>
          <p:nvPr/>
        </p:nvSpPr>
        <p:spPr>
          <a:xfrm>
            <a:off x="1243584" y="4736592"/>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1371600" y="4818888"/>
            <a:ext cx="1645920" cy="237744"/>
          </a:xfrm>
          <a:prstGeom prst="rect">
            <a:avLst/>
          </a:prstGeom>
          <a:noFill/>
        </p:spPr>
        <p:txBody>
          <a:bodyPr wrap="square" lIns="0" rIns="0" tIns="0" bIns="0" anchor="t">
            <a:spAutoFit/>
          </a:bodyPr>
          <a:lstStyle/>
          <a:p>
            <a:pPr algn="l"/>
            <a:r>
              <a:rPr sz="1150" b="1">
                <a:solidFill>
                  <a:srgbClr val="23323B"/>
                </a:solidFill>
                <a:latin typeface="Arial"/>
                <a:ea typeface="Arial"/>
              </a:rPr>
              <a:t>ビジネス要件</a:t>
            </a:r>
          </a:p>
        </p:txBody>
      </p:sp>
      <p:sp>
        <p:nvSpPr>
          <p:cNvPr id="282" name="Rounded Rectangle 281"/>
          <p:cNvSpPr/>
          <p:nvPr/>
        </p:nvSpPr>
        <p:spPr>
          <a:xfrm>
            <a:off x="3072384" y="4837176"/>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ビジネス</a:t>
            </a:r>
          </a:p>
        </p:txBody>
      </p:sp>
      <p:sp>
        <p:nvSpPr>
          <p:cNvPr id="283" name="TextBox 282"/>
          <p:cNvSpPr txBox="1"/>
          <p:nvPr/>
        </p:nvSpPr>
        <p:spPr>
          <a:xfrm>
            <a:off x="1371600" y="5093207"/>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変える目的と成果（戦略の実現・環境変化・規制対応）、業務要件と優先順位</a:t>
            </a:r>
          </a:p>
        </p:txBody>
      </p:sp>
      <p:sp>
        <p:nvSpPr>
          <p:cNvPr id="284" name="PO-Benefits"/>
          <p:cNvSpPr/>
          <p:nvPr/>
        </p:nvSpPr>
        <p:spPr>
          <a:xfrm>
            <a:off x="8467344" y="4736592"/>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8595360" y="4818888"/>
            <a:ext cx="1645920" cy="237744"/>
          </a:xfrm>
          <a:prstGeom prst="rect">
            <a:avLst/>
          </a:prstGeom>
          <a:noFill/>
        </p:spPr>
        <p:txBody>
          <a:bodyPr wrap="square" lIns="0" rIns="0" tIns="0" bIns="0" anchor="t">
            <a:spAutoFit/>
          </a:bodyPr>
          <a:lstStyle/>
          <a:p>
            <a:pPr algn="l"/>
            <a:r>
              <a:rPr sz="1150" b="1">
                <a:solidFill>
                  <a:srgbClr val="23323B"/>
                </a:solidFill>
                <a:latin typeface="Arial"/>
                <a:ea typeface="Arial"/>
              </a:rPr>
              <a:t>ビジネス効果</a:t>
            </a:r>
          </a:p>
        </p:txBody>
      </p:sp>
      <p:sp>
        <p:nvSpPr>
          <p:cNvPr id="286" name="Rounded Rectangle 285"/>
          <p:cNvSpPr/>
          <p:nvPr/>
        </p:nvSpPr>
        <p:spPr>
          <a:xfrm>
            <a:off x="10296144" y="4837176"/>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ビジネス</a:t>
            </a:r>
          </a:p>
        </p:txBody>
      </p:sp>
      <p:sp>
        <p:nvSpPr>
          <p:cNvPr id="287" name="TextBox 286"/>
          <p:cNvSpPr txBox="1"/>
          <p:nvPr/>
        </p:nvSpPr>
        <p:spPr>
          <a:xfrm>
            <a:off x="8595360" y="5093207"/>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投資効果（KPI）の実績と、価値を妨げている要因</a:t>
            </a:r>
          </a:p>
        </p:txBody>
      </p:sp>
      <p:sp>
        <p:nvSpPr>
          <p:cNvPr id="288" name="lbl-req"/>
          <p:cNvSpPr/>
          <p:nvPr/>
        </p:nvSpPr>
        <p:spPr>
          <a:xfrm>
            <a:off x="675628" y="2982578"/>
            <a:ext cx="775411"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要求の明確化</a:t>
            </a:r>
          </a:p>
        </p:txBody>
      </p:sp>
      <p:sp>
        <p:nvSpPr>
          <p:cNvPr id="289" name="lbl-review"/>
          <p:cNvSpPr/>
          <p:nvPr/>
        </p:nvSpPr>
        <p:spPr>
          <a:xfrm>
            <a:off x="10728768" y="2982578"/>
            <a:ext cx="775411"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評価・見直し</a:t>
            </a:r>
          </a:p>
        </p:txBody>
      </p:sp>
      <p:sp>
        <p:nvSpPr>
          <p:cNvPr id="290" name="lbl-itstrategy"/>
          <p:cNvSpPr/>
          <p:nvPr/>
        </p:nvSpPr>
        <p:spPr>
          <a:xfrm>
            <a:off x="5696803" y="2336292"/>
            <a:ext cx="786201"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IT戦略の策定</a:t>
            </a:r>
          </a:p>
        </p:txBody>
      </p:sp>
      <p:sp>
        <p:nvSpPr>
          <p:cNvPr id="291" name="lbl-policy"/>
          <p:cNvSpPr/>
          <p:nvPr/>
        </p:nvSpPr>
        <p:spPr>
          <a:xfrm>
            <a:off x="5756148" y="3387851"/>
            <a:ext cx="667512"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方針の適用</a:t>
            </a:r>
          </a:p>
        </p:txBody>
      </p:sp>
      <p:sp>
        <p:nvSpPr>
          <p:cNvPr id="292" name="lbl-reqdef"/>
          <p:cNvSpPr/>
          <p:nvPr/>
        </p:nvSpPr>
        <p:spPr>
          <a:xfrm>
            <a:off x="2198217" y="4462272"/>
            <a:ext cx="559612"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要件定義</a:t>
            </a:r>
          </a:p>
        </p:txBody>
      </p:sp>
      <p:sp>
        <p:nvSpPr>
          <p:cNvPr id="293" name="lbl-solution"/>
          <p:cNvSpPr/>
          <p:nvPr/>
        </p:nvSpPr>
        <p:spPr>
          <a:xfrm>
            <a:off x="3734409" y="3913632"/>
            <a:ext cx="1099108"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ソリューション選定</a:t>
            </a:r>
          </a:p>
        </p:txBody>
      </p:sp>
      <p:sp>
        <p:nvSpPr>
          <p:cNvPr id="294" name="lbl-vendor"/>
          <p:cNvSpPr/>
          <p:nvPr/>
        </p:nvSpPr>
        <p:spPr>
          <a:xfrm>
            <a:off x="7508138" y="3913632"/>
            <a:ext cx="775411"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ベンダー選定</a:t>
            </a:r>
          </a:p>
        </p:txBody>
      </p:sp>
      <p:sp>
        <p:nvSpPr>
          <p:cNvPr id="295" name="lbl-benefit"/>
          <p:cNvSpPr/>
          <p:nvPr/>
        </p:nvSpPr>
        <p:spPr>
          <a:xfrm>
            <a:off x="9152229" y="4462272"/>
            <a:ext cx="1099108"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受け入れ・効果測定</a:t>
            </a:r>
          </a:p>
        </p:txBody>
      </p:sp>
      <p:sp>
        <p:nvSpPr>
          <p:cNvPr id="296" name="lbl-nfr"/>
          <p:cNvSpPr/>
          <p:nvPr/>
        </p:nvSpPr>
        <p:spPr>
          <a:xfrm>
            <a:off x="3090472" y="3062938"/>
            <a:ext cx="667512"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非機能要件</a:t>
            </a:r>
          </a:p>
        </p:txBody>
      </p:sp>
      <p:sp>
        <p:nvSpPr>
          <p:cNvPr id="297" name="lbl-sourcing"/>
          <p:cNvSpPr/>
          <p:nvPr/>
        </p:nvSpPr>
        <p:spPr>
          <a:xfrm>
            <a:off x="8421823" y="3062938"/>
            <a:ext cx="667512"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ソーシング</a:t>
            </a:r>
          </a:p>
        </p:txBody>
      </p:sp>
      <p:sp>
        <p:nvSpPr>
          <p:cNvPr id="298" name="Rounded Rectangle 297"/>
          <p:cNvSpPr/>
          <p:nvPr/>
        </p:nvSpPr>
        <p:spPr>
          <a:xfrm>
            <a:off x="630936" y="1572768"/>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ビジネス</a:t>
            </a:r>
          </a:p>
        </p:txBody>
      </p:sp>
      <p:sp>
        <p:nvSpPr>
          <p:cNvPr id="299" name="TextBox 298"/>
          <p:cNvSpPr txBox="1"/>
          <p:nvPr/>
        </p:nvSpPr>
        <p:spPr>
          <a:xfrm>
            <a:off x="1216152" y="1572768"/>
            <a:ext cx="2377440" cy="182880"/>
          </a:xfrm>
          <a:prstGeom prst="rect">
            <a:avLst/>
          </a:prstGeom>
          <a:noFill/>
        </p:spPr>
        <p:txBody>
          <a:bodyPr wrap="square" lIns="0" rIns="0" tIns="0" bIns="0" anchor="ctr">
            <a:spAutoFit/>
          </a:bodyPr>
          <a:lstStyle/>
          <a:p>
            <a:pPr algn="l"/>
            <a:r>
              <a:rPr sz="900" b="0">
                <a:solidFill>
                  <a:srgbClr val="404040"/>
                </a:solidFill>
                <a:latin typeface="Arial"/>
                <a:ea typeface="Arial"/>
              </a:rPr>
              <a:t>R・A：各ファンクション</a:t>
            </a:r>
          </a:p>
        </p:txBody>
      </p:sp>
      <p:sp>
        <p:nvSpPr>
          <p:cNvPr id="300" name="Rounded Rectangle 299"/>
          <p:cNvSpPr/>
          <p:nvPr/>
        </p:nvSpPr>
        <p:spPr>
          <a:xfrm>
            <a:off x="630936" y="1801368"/>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IT主導</a:t>
            </a:r>
          </a:p>
        </p:txBody>
      </p:sp>
      <p:sp>
        <p:nvSpPr>
          <p:cNvPr id="301" name="TextBox 300"/>
          <p:cNvSpPr txBox="1"/>
          <p:nvPr/>
        </p:nvSpPr>
        <p:spPr>
          <a:xfrm>
            <a:off x="1216152" y="1801368"/>
            <a:ext cx="2377440" cy="182880"/>
          </a:xfrm>
          <a:prstGeom prst="rect">
            <a:avLst/>
          </a:prstGeom>
          <a:noFill/>
        </p:spPr>
        <p:txBody>
          <a:bodyPr wrap="square" lIns="0" rIns="0" tIns="0" bIns="0" anchor="ctr">
            <a:spAutoFit/>
          </a:bodyPr>
          <a:lstStyle/>
          <a:p>
            <a:pPr algn="l"/>
            <a:r>
              <a:rPr sz="900" b="0">
                <a:solidFill>
                  <a:srgbClr val="404040"/>
                </a:solidFill>
                <a:latin typeface="Arial"/>
                <a:ea typeface="Arial"/>
              </a:rPr>
              <a:t>R・A：GDS　C：各ファンクション</a:t>
            </a:r>
          </a:p>
        </p:txBody>
      </p:sp>
      <p:sp>
        <p:nvSpPr>
          <p:cNvPr id="302" name="ITM-Label"/>
          <p:cNvSpPr/>
          <p:nvPr/>
        </p:nvSpPr>
        <p:spPr>
          <a:xfrm>
            <a:off x="630936" y="5596128"/>
            <a:ext cx="1417320" cy="713232"/>
          </a:xfrm>
          <a:prstGeom prst="rect">
            <a:avLst/>
          </a:prstGeom>
          <a:solidFill>
            <a:srgbClr val="5D6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685800" y="5724144"/>
            <a:ext cx="1307592" cy="566928"/>
          </a:xfrm>
          <a:prstGeom prst="rect">
            <a:avLst/>
          </a:prstGeom>
          <a:noFill/>
        </p:spPr>
        <p:txBody>
          <a:bodyPr wrap="square" lIns="0" rIns="0" tIns="0" bIns="0" anchor="t">
            <a:spAutoFit/>
          </a:bodyPr>
          <a:lstStyle/>
          <a:p>
            <a:pPr algn="ctr"/>
            <a:r>
              <a:rPr sz="1000" b="1">
                <a:solidFill>
                  <a:srgbClr val="FFFFFF"/>
                </a:solidFill>
                <a:latin typeface="Arial"/>
                <a:ea typeface="Arial"/>
              </a:rPr>
              <a:t>GDSの</a:t>
            </a:r>
          </a:p>
          <a:p>
            <a:pPr algn="ctr"/>
            <a:r>
              <a:rPr sz="1000" b="1">
                <a:solidFill>
                  <a:srgbClr val="FFFFFF"/>
                </a:solidFill>
                <a:latin typeface="Arial"/>
                <a:ea typeface="Arial"/>
              </a:rPr>
              <a:t>マネジメント</a:t>
            </a:r>
          </a:p>
          <a:p>
            <a:pPr algn="ctr"/>
            <a:r>
              <a:rPr sz="1000" b="0">
                <a:solidFill>
                  <a:srgbClr val="FFFFFF"/>
                </a:solidFill>
                <a:latin typeface="Arial"/>
                <a:ea typeface="Arial"/>
              </a:rPr>
              <a:t>（A・R）</a:t>
            </a:r>
          </a:p>
        </p:txBody>
      </p:sp>
      <p:sp>
        <p:nvSpPr>
          <p:cNvPr id="304" name="ITM-0"/>
          <p:cNvSpPr/>
          <p:nvPr/>
        </p:nvSpPr>
        <p:spPr>
          <a:xfrm>
            <a:off x="2139696" y="5596128"/>
            <a:ext cx="3075432"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2267712" y="5678424"/>
            <a:ext cx="2819400" cy="219456"/>
          </a:xfrm>
          <a:prstGeom prst="rect">
            <a:avLst/>
          </a:prstGeom>
          <a:noFill/>
        </p:spPr>
        <p:txBody>
          <a:bodyPr wrap="square" lIns="0" rIns="0" tIns="0" bIns="0" anchor="t">
            <a:spAutoFit/>
          </a:bodyPr>
          <a:lstStyle/>
          <a:p>
            <a:pPr algn="l"/>
            <a:r>
              <a:rPr sz="1050" b="1">
                <a:solidFill>
                  <a:srgbClr val="23323B"/>
                </a:solidFill>
                <a:latin typeface="Arial"/>
                <a:ea typeface="Arial"/>
              </a:rPr>
              <a:t>IT財務管理</a:t>
            </a:r>
          </a:p>
        </p:txBody>
      </p:sp>
      <p:sp>
        <p:nvSpPr>
          <p:cNvPr id="306" name="TextBox 305"/>
          <p:cNvSpPr txBox="1"/>
          <p:nvPr/>
        </p:nvSpPr>
        <p:spPr>
          <a:xfrm>
            <a:off x="2267712" y="5943600"/>
            <a:ext cx="2819400" cy="438912"/>
          </a:xfrm>
          <a:prstGeom prst="rect">
            <a:avLst/>
          </a:prstGeom>
          <a:noFill/>
        </p:spPr>
        <p:txBody>
          <a:bodyPr wrap="square" lIns="0" rIns="0" tIns="0" bIns="0" anchor="t">
            <a:spAutoFit/>
          </a:bodyPr>
          <a:lstStyle/>
          <a:p>
            <a:pPr algn="l"/>
            <a:r>
              <a:rPr sz="850" b="0">
                <a:solidFill>
                  <a:srgbClr val="404040"/>
                </a:solidFill>
                <a:latin typeface="Arial"/>
                <a:ea typeface="Arial"/>
              </a:rPr>
              <a:t>予算の策定と執行、部門別・案件別の費用の見える化。投資の効果と費用を対比する</a:t>
            </a:r>
          </a:p>
        </p:txBody>
      </p:sp>
      <p:sp>
        <p:nvSpPr>
          <p:cNvPr id="307" name="ITM-1"/>
          <p:cNvSpPr/>
          <p:nvPr/>
        </p:nvSpPr>
        <p:spPr>
          <a:xfrm>
            <a:off x="5306568" y="5596128"/>
            <a:ext cx="3075432"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5434584" y="5678424"/>
            <a:ext cx="2819400" cy="219456"/>
          </a:xfrm>
          <a:prstGeom prst="rect">
            <a:avLst/>
          </a:prstGeom>
          <a:noFill/>
        </p:spPr>
        <p:txBody>
          <a:bodyPr wrap="square" lIns="0" rIns="0" tIns="0" bIns="0" anchor="t">
            <a:spAutoFit/>
          </a:bodyPr>
          <a:lstStyle/>
          <a:p>
            <a:pPr algn="l"/>
            <a:r>
              <a:rPr sz="1050" b="1">
                <a:solidFill>
                  <a:srgbClr val="23323B"/>
                </a:solidFill>
                <a:latin typeface="Arial"/>
                <a:ea typeface="Arial"/>
              </a:rPr>
              <a:t>契約管理</a:t>
            </a:r>
          </a:p>
        </p:txBody>
      </p:sp>
      <p:sp>
        <p:nvSpPr>
          <p:cNvPr id="309" name="TextBox 308"/>
          <p:cNvSpPr txBox="1"/>
          <p:nvPr/>
        </p:nvSpPr>
        <p:spPr>
          <a:xfrm>
            <a:off x="5434584" y="5943600"/>
            <a:ext cx="2819400" cy="438912"/>
          </a:xfrm>
          <a:prstGeom prst="rect">
            <a:avLst/>
          </a:prstGeom>
          <a:noFill/>
        </p:spPr>
        <p:txBody>
          <a:bodyPr wrap="square" lIns="0" rIns="0" tIns="0" bIns="0" anchor="t">
            <a:spAutoFit/>
          </a:bodyPr>
          <a:lstStyle/>
          <a:p>
            <a:pPr algn="l"/>
            <a:r>
              <a:rPr sz="850" b="0">
                <a:solidFill>
                  <a:srgbClr val="404040"/>
                </a:solidFill>
                <a:latin typeface="Arial"/>
                <a:ea typeface="Arial"/>
              </a:rPr>
              <a:t>ライセンス、クラウド・インフラ、保守、業務委託などの契約条件の合意と、利用実態に合わせた更新・見直し</a:t>
            </a:r>
          </a:p>
        </p:txBody>
      </p:sp>
      <p:sp>
        <p:nvSpPr>
          <p:cNvPr id="310" name="ITM-2"/>
          <p:cNvSpPr/>
          <p:nvPr/>
        </p:nvSpPr>
        <p:spPr>
          <a:xfrm>
            <a:off x="8473440" y="5596128"/>
            <a:ext cx="3075432"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8601456" y="5678424"/>
            <a:ext cx="2819400" cy="219456"/>
          </a:xfrm>
          <a:prstGeom prst="rect">
            <a:avLst/>
          </a:prstGeom>
          <a:noFill/>
        </p:spPr>
        <p:txBody>
          <a:bodyPr wrap="square" lIns="0" rIns="0" tIns="0" bIns="0" anchor="t">
            <a:spAutoFit/>
          </a:bodyPr>
          <a:lstStyle/>
          <a:p>
            <a:pPr algn="l"/>
            <a:r>
              <a:rPr sz="1050" b="1">
                <a:solidFill>
                  <a:srgbClr val="23323B"/>
                </a:solidFill>
                <a:latin typeface="Arial"/>
                <a:ea typeface="Arial"/>
              </a:rPr>
              <a:t>サービス品質管理</a:t>
            </a:r>
          </a:p>
        </p:txBody>
      </p:sp>
      <p:sp>
        <p:nvSpPr>
          <p:cNvPr id="312" name="TextBox 311"/>
          <p:cNvSpPr txBox="1"/>
          <p:nvPr/>
        </p:nvSpPr>
        <p:spPr>
          <a:xfrm>
            <a:off x="8601456" y="5943600"/>
            <a:ext cx="2819400" cy="438912"/>
          </a:xfrm>
          <a:prstGeom prst="rect">
            <a:avLst/>
          </a:prstGeom>
          <a:noFill/>
        </p:spPr>
        <p:txBody>
          <a:bodyPr wrap="square" lIns="0" rIns="0" tIns="0" bIns="0" anchor="t">
            <a:spAutoFit/>
          </a:bodyPr>
          <a:lstStyle/>
          <a:p>
            <a:pPr algn="l"/>
            <a:r>
              <a:rPr sz="850" b="0">
                <a:solidFill>
                  <a:srgbClr val="404040"/>
                </a:solidFill>
                <a:latin typeface="Arial"/>
                <a:ea typeface="Arial"/>
              </a:rPr>
              <a:t>サービスレベルの合意とモニタリング、検証（バリデーション）、変更管理（GxP を含む）</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35000" y="406400"/>
            <a:ext cx="10922000" cy="431800"/>
          </a:xfrm>
          <a:prstGeom prst="rect">
            <a:avLst/>
          </a:prstGeom>
          <a:noFill/>
          <a:ln/>
        </p:spPr>
        <p:txBody>
          <a:bodyPr wrap="square" lIns="0" tIns="0" rIns="0" bIns="0" rtlCol="0" anchor="t"/>
          <a:lstStyle/>
          <a:p>
            <a:pPr algn="l" indent="0" marL="0">
              <a:buNone/>
            </a:pPr>
            <a:r>
              <a:rPr lang="en-US" sz="2400" b="1" dirty="0">
                <a:solidFill>
                  <a:srgbClr val="23323B"/>
                </a:solidFill>
                <a:latin typeface="Arial" pitchFamily="34" charset="0"/>
                <a:ea typeface="Arial" pitchFamily="34" charset="-122"/>
                <a:cs typeface="Arial" pitchFamily="34" charset="-120"/>
              </a:rPr>
              <a:t>固定資産は予算を持つ GDSが持つ</a:t>
            </a:r>
            <a:endParaRPr lang="en-US" sz="2400" dirty="0" b="1">
              <a:solidFill>
                <a:srgbClr val="23323B"/>
              </a:solidFill>
            </a:endParaRPr>
          </a:p>
        </p:txBody>
      </p:sp>
      <p:sp>
        <p:nvSpPr>
          <p:cNvPr id="3" name="Text 0"/>
          <p:cNvSpPr/>
          <p:nvPr>
            <p:ph idx="101" type="body" hasCustomPrompt="1"/>
          </p:nvPr>
        </p:nvSpPr>
        <p:spPr>
          <a:xfrm>
            <a:off x="635000" y="889000"/>
            <a:ext cx="10922000" cy="279400"/>
          </a:xfrm>
          <a:prstGeom prst="rect">
            <a:avLst/>
          </a:prstGeom>
          <a:noFill/>
          <a:ln/>
        </p:spPr>
        <p:txBody>
          <a:bodyPr wrap="square" lIns="0" tIns="0" rIns="0" bIns="0" rtlCol="0" anchor="t"/>
          <a:lstStyle/>
          <a:p>
            <a:pPr indent="0" marL="0">
              <a:buNone/>
            </a:pPr>
            <a:r>
              <a:rPr lang="en-US" sz="1400" dirty="0" b="1">
                <a:solidFill>
                  <a:srgbClr val="404040"/>
                </a:solidFill>
                <a:latin typeface="Arial" pitchFamily="34" charset="0"/>
                <a:ea typeface="Arial" pitchFamily="34" charset="-122"/>
                <a:cs typeface="Arial" pitchFamily="34" charset="-120"/>
              </a:rPr>
              <a:t>予算を持つ GDSが資産と償却費も管理する。コストセンターを分けて費用を見せ、研究開発・製造の費用は受益部門に配賦する</a:t>
            </a:r>
            <a:endParaRPr lang="en-US" sz="1400" dirty="0" b="1">
              <a:solidFill>
                <a:srgbClr val="404040"/>
              </a:solidFill>
            </a:endParaRPr>
          </a:p>
        </p:txBody>
      </p:sp>
      <p:graphicFrame>
        <p:nvGraphicFramePr>
          <p:cNvPr id="3" name="asset-table"/>
          <p:cNvGraphicFramePr>
            <a:graphicFrameLocks noGrp="1"/>
          </p:cNvGraphicFramePr>
          <p:nvPr>
            <p:extLst>
              <p:ext uri="{D42A27DB-BD31-4B8C-83A1-F6EECF244321}">
                <p14:modId xmlns:p14="http://schemas.microsoft.com/office/powerpoint/2010/main" val="1579011935"/>
              </p:ext>
            </p:extLst>
          </p:nvPr>
        </p:nvGraphicFramePr>
        <p:xfrm>
          <a:off x="635000" y="1481328"/>
          <a:ext cx="10919048" cy="2962656"/>
        </p:xfrm>
        <a:graphic>
          <a:graphicData uri="http://schemas.openxmlformats.org/drawingml/2006/table">
            <a:tbl>
              <a:tblPr/>
              <a:tblGrid>
                <a:gridCol w="4011621"/>
                <a:gridCol w="1062681"/>
                <a:gridCol w="1948248"/>
                <a:gridCol w="1948248"/>
                <a:gridCol w="1948248"/>
              </a:tblGrid>
              <a:tr h="329184">
                <a:tc rowSpan="2">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IT投資の種類</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D6164"/>
                    </a:solidFill>
                  </a:tcPr>
                </a:tc>
                <a:tc rowSpan="2">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仮勘定</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D6164"/>
                    </a:solidFill>
                  </a:tcPr>
                </a:tc>
                <a:tc gridSpan="3">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本勘定（固定資産の所有者＝償却費の負担部門）</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D6164"/>
                    </a:solidFill>
                  </a:tcPr>
                </a:tc>
                <a:tc hMerge="1">
                  <a:txBody>
                    <a:bodyPr/>
                    <a:p/>
                  </a:txBody>
                  <a:tcPr/>
                </a:tc>
                <a:tc hMerge="1">
                  <a:txBody>
                    <a:bodyPr/>
                    <a:p/>
                  </a:txBody>
                  <a:tcPr/>
                </a:tc>
              </a:tr>
              <a:tr h="329184">
                <a:tc vMerge="1">
                  <a:txBody>
                    <a:bodyPr/>
                    <a:p/>
                  </a:txBody>
                  <a:tcPr/>
                </a:tc>
                <a:tc vMerge="1">
                  <a:txBody>
                    <a:bodyPr/>
                    <a:p/>
                  </a:txBody>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個別（単一部門）</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D616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共通（複数部門）</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D616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全社共通（全部門・基盤）</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D6164"/>
                    </a:solidFill>
                  </a:tcPr>
                </a:tc>
              </a:tr>
              <a:tr h="384048">
                <a:tc>
                  <a:txBody>
                    <a:bodyPr/>
                    <a:lstStyle/>
                    <a:p>
                      <a:pPr algn="l" indent="0" marL="0">
                        <a:buNone/>
                      </a:pPr>
                      <a:r>
                        <a:rPr lang="en-US" sz="1200" b="1" dirty="0">
                          <a:solidFill>
                            <a:srgbClr val="000000"/>
                          </a:solidFill>
                          <a:latin typeface="Arial" pitchFamily="34" charset="0"/>
                          <a:ea typeface="Arial" pitchFamily="34" charset="-122"/>
                          <a:cs typeface="Arial" pitchFamily="34" charset="-120"/>
                        </a:rPr>
                        <a:t>① 業務アプリの新規導入（パッケージ・構成設定）</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7F7F7F"/>
                          </a:solidFill>
                          <a:latin typeface="Arial" pitchFamily="34" charset="0"/>
                          <a:ea typeface="Arial" pitchFamily="34" charset="-122"/>
                          <a:cs typeface="Arial" pitchFamily="34" charset="-120"/>
                        </a:rPr>
                        <a:t>該当なし</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algn="l" indent="0" marL="0">
                        <a:buNone/>
                      </a:pPr>
                      <a:r>
                        <a:rPr lang="en-US" sz="1200" b="1" dirty="0">
                          <a:solidFill>
                            <a:srgbClr val="000000"/>
                          </a:solidFill>
                          <a:latin typeface="Arial" pitchFamily="34" charset="0"/>
                          <a:ea typeface="Arial" pitchFamily="34" charset="-122"/>
                          <a:cs typeface="Arial" pitchFamily="34" charset="-120"/>
                        </a:rPr>
                        <a:t>② 業務アプリの個別開発・アドオン</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7F7F7F"/>
                          </a:solidFill>
                          <a:latin typeface="Arial" pitchFamily="34" charset="0"/>
                          <a:ea typeface="Arial" pitchFamily="34" charset="-122"/>
                          <a:cs typeface="Arial" pitchFamily="34" charset="-120"/>
                        </a:rPr>
                        <a:t>該当なし</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algn="l" indent="0" marL="0">
                        <a:buNone/>
                      </a:pPr>
                      <a:r>
                        <a:rPr lang="en-US" sz="1200" b="1" dirty="0">
                          <a:solidFill>
                            <a:srgbClr val="000000"/>
                          </a:solidFill>
                          <a:latin typeface="Arial" pitchFamily="34" charset="0"/>
                          <a:ea typeface="Arial" pitchFamily="34" charset="-122"/>
                          <a:cs typeface="Arial" pitchFamily="34" charset="-120"/>
                        </a:rPr>
                        <a:t>③ 既存資産の改修（資本的支出）</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algn="l" indent="0" marL="0">
                        <a:buNone/>
                      </a:pPr>
                      <a:r>
                        <a:rPr lang="en-US" sz="1200" b="1" dirty="0">
                          <a:solidFill>
                            <a:srgbClr val="000000"/>
                          </a:solidFill>
                          <a:latin typeface="Arial" pitchFamily="34" charset="0"/>
                          <a:ea typeface="Arial" pitchFamily="34" charset="-122"/>
                          <a:cs typeface="Arial" pitchFamily="34" charset="-120"/>
                        </a:rPr>
                        <a:t>④ ソフトウェアライセンスの買取</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なし</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algn="l" indent="0" marL="0">
                        <a:buNone/>
                      </a:pPr>
                      <a:r>
                        <a:rPr lang="en-US" sz="1200" b="1" dirty="0">
                          <a:solidFill>
                            <a:srgbClr val="000000"/>
                          </a:solidFill>
                          <a:latin typeface="Arial" pitchFamily="34" charset="0"/>
                          <a:ea typeface="Arial" pitchFamily="34" charset="-122"/>
                          <a:cs typeface="Arial" pitchFamily="34" charset="-120"/>
                        </a:rPr>
                        <a:t>⑤ ハードウェア・機器</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なし</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algn="l" indent="0" marL="0">
                        <a:buNone/>
                      </a:pPr>
                      <a:r>
                        <a:rPr lang="en-US" sz="1200" b="1" dirty="0">
                          <a:solidFill>
                            <a:srgbClr val="000000"/>
                          </a:solidFill>
                          <a:latin typeface="Arial" pitchFamily="34" charset="0"/>
                          <a:ea typeface="Arial" pitchFamily="34" charset="-122"/>
                          <a:cs typeface="Arial" pitchFamily="34" charset="-120"/>
                        </a:rPr>
                        <a:t>⑥ 基盤・共通サービス（クラウド、データなど）</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7F7F7F"/>
                          </a:solidFill>
                          <a:latin typeface="Arial" pitchFamily="34" charset="0"/>
                          <a:ea typeface="Arial" pitchFamily="34" charset="-122"/>
                          <a:cs typeface="Arial" pitchFamily="34" charset="-120"/>
                        </a:rPr>
                        <a:t>該当なし</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GDS（移管の対象外）</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795000" y="6527800"/>
            <a:ext cx="762000" cy="152400"/>
          </a:xfrm>
          <a:prstGeom prst="rect">
            <a:avLst/>
          </a:prstGeom>
          <a:extLst>
            <a:ext uri="{C572A759-6A51-4108-AA02-DFA0A04FC94B}">
              <ma14:wrappingTextBoxFlag xmlns:ma14="http://schemas.microsoft.com/office/mac/drawingml/2011/main" val="0"/>
            </a:ext>
          </a:extLst>
        </p:spPr>
        <p:txBody>
          <a:bodyPr anchor="b" lIns="0" tIns="0" rIns="0" bIns="0"/>
          <a:lstStyle>
            <a:lvl1pPr>
              <a:defRPr sz="900">
                <a:solidFill>
                  <a:srgbClr val="7F7F7F"/>
                </a:solidFill>
              </a:defRPr>
            </a:lvl1pPr>
          </a:lstStyle>
          <a:p>
            <a:pPr algn="r"/>
            <a:fld id="{F7021451-1387-4CA6-816F-3879F97B5CBC}" type="slidenum">
              <a:rPr b="0" lang="en-US" sz="1000">
                <a:solidFill>
                  <a:srgbClr val="7F7F7F"/>
                </a:solidFill>
              </a:rPr>
              <a:t>2</a:t>
            </a:fld>
            <a:endParaRPr lang="en-US" sz="1000" b="0">
              <a:solidFill>
                <a:srgbClr val="7F7F7F"/>
              </a:solidFill>
            </a:endParaRPr>
          </a:p>
        </p:txBody>
      </p:sp>
      <p:sp>
        <p:nvSpPr>
          <p:cNvPr id="26" name="TextBox 25"/>
          <p:cNvSpPr txBox="1"/>
          <p:nvPr/>
        </p:nvSpPr>
        <p:spPr>
          <a:xfrm>
            <a:off x="630936" y="4626864"/>
            <a:ext cx="10917936" cy="219456"/>
          </a:xfrm>
          <a:prstGeom prst="rect">
            <a:avLst/>
          </a:prstGeom>
          <a:noFill/>
        </p:spPr>
        <p:txBody>
          <a:bodyPr wrap="square" lIns="0" rIns="0" tIns="0" bIns="0" anchor="t">
            <a:spAutoFit/>
          </a:bodyPr>
          <a:lstStyle/>
          <a:p>
            <a:pPr algn="l"/>
            <a:r>
              <a:rPr sz="1100" b="1">
                <a:solidFill>
                  <a:srgbClr val="23323B"/>
                </a:solidFill>
                <a:latin typeface="Arial"/>
                <a:ea typeface="Arial"/>
              </a:rPr>
              <a:t>予算移管の時点で進行中・保有中の資産</a:t>
            </a:r>
          </a:p>
        </p:txBody>
      </p:sp>
      <p:sp>
        <p:nvSpPr>
          <p:cNvPr id="27" name="asset-case-1"/>
          <p:cNvSpPr/>
          <p:nvPr/>
        </p:nvSpPr>
        <p:spPr>
          <a:xfrm>
            <a:off x="630936" y="4937759"/>
            <a:ext cx="3578352"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029200"/>
            <a:ext cx="3285744" cy="201168"/>
          </a:xfrm>
          <a:prstGeom prst="rect">
            <a:avLst/>
          </a:prstGeom>
          <a:noFill/>
        </p:spPr>
        <p:txBody>
          <a:bodyPr wrap="square" lIns="0" rIns="0" tIns="0" bIns="0" anchor="t">
            <a:spAutoFit/>
          </a:bodyPr>
          <a:lstStyle/>
          <a:p>
            <a:pPr algn="l"/>
            <a:r>
              <a:rPr sz="1050" b="1">
                <a:solidFill>
                  <a:srgbClr val="23323B"/>
                </a:solidFill>
                <a:latin typeface="Arial"/>
                <a:ea typeface="Arial"/>
              </a:rPr>
              <a:t>① 資産取得済み</a:t>
            </a:r>
          </a:p>
        </p:txBody>
      </p:sp>
      <p:sp>
        <p:nvSpPr>
          <p:cNvPr id="29" name="TextBox 28"/>
          <p:cNvSpPr txBox="1"/>
          <p:nvPr/>
        </p:nvSpPr>
        <p:spPr>
          <a:xfrm>
            <a:off x="777240" y="5285231"/>
            <a:ext cx="3285744" cy="329184"/>
          </a:xfrm>
          <a:prstGeom prst="rect">
            <a:avLst/>
          </a:prstGeom>
          <a:noFill/>
        </p:spPr>
        <p:txBody>
          <a:bodyPr wrap="square" lIns="0" rIns="0" tIns="0" bIns="0" anchor="t">
            <a:spAutoFit/>
          </a:bodyPr>
          <a:lstStyle/>
          <a:p>
            <a:pPr algn="l"/>
            <a:r>
              <a:rPr sz="900" b="0">
                <a:solidFill>
                  <a:srgbClr val="404040"/>
                </a:solidFill>
                <a:latin typeface="Arial"/>
                <a:ea typeface="Arial"/>
              </a:rPr>
              <a:t>移管の時点で資産に計上され、減価償却が始まっているもの</a:t>
            </a:r>
          </a:p>
        </p:txBody>
      </p:sp>
      <p:sp>
        <p:nvSpPr>
          <p:cNvPr id="30" name="asset-case-2"/>
          <p:cNvSpPr/>
          <p:nvPr/>
        </p:nvSpPr>
        <p:spPr>
          <a:xfrm>
            <a:off x="4300728" y="4937759"/>
            <a:ext cx="3578352"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47032" y="5029200"/>
            <a:ext cx="3285744" cy="201168"/>
          </a:xfrm>
          <a:prstGeom prst="rect">
            <a:avLst/>
          </a:prstGeom>
          <a:noFill/>
        </p:spPr>
        <p:txBody>
          <a:bodyPr wrap="square" lIns="0" rIns="0" tIns="0" bIns="0" anchor="t">
            <a:spAutoFit/>
          </a:bodyPr>
          <a:lstStyle/>
          <a:p>
            <a:pPr algn="l"/>
            <a:r>
              <a:rPr sz="1050" b="1">
                <a:solidFill>
                  <a:srgbClr val="23323B"/>
                </a:solidFill>
                <a:latin typeface="Arial"/>
                <a:ea typeface="Arial"/>
              </a:rPr>
              <a:t>② 建設仮勘定</a:t>
            </a:r>
          </a:p>
        </p:txBody>
      </p:sp>
      <p:sp>
        <p:nvSpPr>
          <p:cNvPr id="32" name="TextBox 31"/>
          <p:cNvSpPr txBox="1"/>
          <p:nvPr/>
        </p:nvSpPr>
        <p:spPr>
          <a:xfrm>
            <a:off x="4447032" y="5285231"/>
            <a:ext cx="3285744" cy="329184"/>
          </a:xfrm>
          <a:prstGeom prst="rect">
            <a:avLst/>
          </a:prstGeom>
          <a:noFill/>
        </p:spPr>
        <p:txBody>
          <a:bodyPr wrap="square" lIns="0" rIns="0" tIns="0" bIns="0" anchor="t">
            <a:spAutoFit/>
          </a:bodyPr>
          <a:lstStyle/>
          <a:p>
            <a:pPr algn="l"/>
            <a:r>
              <a:rPr sz="900" b="0">
                <a:solidFill>
                  <a:srgbClr val="404040"/>
                </a:solidFill>
                <a:latin typeface="Arial"/>
                <a:ea typeface="Arial"/>
              </a:rPr>
              <a:t>移管の時点で仮勘定に計上されており、来年度に資産を取得するもの</a:t>
            </a:r>
          </a:p>
        </p:txBody>
      </p:sp>
      <p:sp>
        <p:nvSpPr>
          <p:cNvPr id="33" name="asset-case-3"/>
          <p:cNvSpPr/>
          <p:nvPr/>
        </p:nvSpPr>
        <p:spPr>
          <a:xfrm>
            <a:off x="7970520" y="4937759"/>
            <a:ext cx="3578352"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16824" y="5029200"/>
            <a:ext cx="3285744" cy="201168"/>
          </a:xfrm>
          <a:prstGeom prst="rect">
            <a:avLst/>
          </a:prstGeom>
          <a:noFill/>
        </p:spPr>
        <p:txBody>
          <a:bodyPr wrap="square" lIns="0" rIns="0" tIns="0" bIns="0" anchor="t">
            <a:spAutoFit/>
          </a:bodyPr>
          <a:lstStyle/>
          <a:p>
            <a:pPr algn="l"/>
            <a:r>
              <a:rPr sz="1050" b="1">
                <a:solidFill>
                  <a:srgbClr val="23323B"/>
                </a:solidFill>
                <a:latin typeface="Arial"/>
                <a:ea typeface="Arial"/>
              </a:rPr>
              <a:t>③ 着手済み・仮勘定なし</a:t>
            </a:r>
          </a:p>
        </p:txBody>
      </p:sp>
      <p:sp>
        <p:nvSpPr>
          <p:cNvPr id="35" name="TextBox 34"/>
          <p:cNvSpPr txBox="1"/>
          <p:nvPr/>
        </p:nvSpPr>
        <p:spPr>
          <a:xfrm>
            <a:off x="8116824" y="5285231"/>
            <a:ext cx="3285744" cy="329184"/>
          </a:xfrm>
          <a:prstGeom prst="rect">
            <a:avLst/>
          </a:prstGeom>
          <a:noFill/>
        </p:spPr>
        <p:txBody>
          <a:bodyPr wrap="square" lIns="0" rIns="0" tIns="0" bIns="0" anchor="t">
            <a:spAutoFit/>
          </a:bodyPr>
          <a:lstStyle/>
          <a:p>
            <a:pPr algn="l"/>
            <a:r>
              <a:rPr sz="900" b="0">
                <a:solidFill>
                  <a:srgbClr val="404040"/>
                </a:solidFill>
                <a:latin typeface="Arial"/>
                <a:ea typeface="Arial"/>
              </a:rPr>
              <a:t>着手しているが、まだ仮勘定に全く計上されていないもの</a:t>
            </a:r>
          </a:p>
        </p:txBody>
      </p:sp>
      <p:sp>
        <p:nvSpPr>
          <p:cNvPr id="36" name="asset-key-message"/>
          <p:cNvSpPr/>
          <p:nvPr/>
        </p:nvSpPr>
        <p:spPr>
          <a:xfrm>
            <a:off x="630936" y="5742431"/>
            <a:ext cx="10917936" cy="45720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3816" y="5742431"/>
            <a:ext cx="10552176" cy="457200"/>
          </a:xfrm>
          <a:prstGeom prst="rect">
            <a:avLst/>
          </a:prstGeom>
          <a:noFill/>
        </p:spPr>
        <p:txBody>
          <a:bodyPr wrap="square" lIns="0" rIns="0" tIns="0" bIns="0" anchor="ctr">
            <a:spAutoFit/>
          </a:bodyPr>
          <a:lstStyle/>
          <a:p>
            <a:pPr algn="l"/>
            <a:r>
              <a:rPr sz="1250" b="1">
                <a:solidFill>
                  <a:srgbClr val="FFFFFF"/>
                </a:solidFill>
                <a:latin typeface="Arial"/>
                <a:ea typeface="Arial"/>
              </a:rPr>
              <a:t>いずれも GDSに移す。</a:t>
            </a:r>
            <a:r>
              <a:rPr sz="1250" b="1">
                <a:solidFill>
                  <a:srgbClr val="FFFFFF"/>
                </a:solidFill>
                <a:latin typeface="Arial"/>
                <a:ea typeface="Arial"/>
              </a:rPr>
              <a:t>移す時期は移管元と合意し、あわせて財務経理と確認して、適切な会計処理ができるようにする</a:t>
            </a:r>
          </a:p>
        </p:txBody>
      </p:sp>
    </p:spTree>
  </p:cSld>
  <p:clrMapOvr>
    <a:masterClrMapping/>
  </p:clrMapOvr>
</p:sld>
</file>

<file path=ppt/theme/theme1.xml><?xml version="1.0" encoding="utf-8"?>
<a:theme xmlns:a="http://schemas.openxmlformats.org/drawingml/2006/main" xmlns:r="http://schemas.openxmlformats.org/officeDocument/2006/relationships" name="BTR Kickoff">
  <a:themeElements>
    <a:clrScheme name="BTR Kickoff">
      <a:dk1>
        <a:srgbClr val="000000"/>
      </a:dk1>
      <a:lt1>
        <a:srgbClr val="FFFFFF"/>
      </a:lt1>
      <a:dk2>
        <a:srgbClr val="23323B"/>
      </a:dk2>
      <a:lt2>
        <a:srgbClr val="EEEFEF"/>
      </a:lt2>
      <a:accent1>
        <a:srgbClr val="ED5604"/>
      </a:accent1>
      <a:accent2>
        <a:srgbClr val="404040"/>
      </a:accent2>
      <a:accent3>
        <a:srgbClr val="7F7F7F"/>
      </a:accent3>
      <a:accent4>
        <a:srgbClr val="FEE8DB"/>
      </a:accent4>
      <a:accent5>
        <a:srgbClr val="5D6164"/>
      </a:accent5>
      <a:accent6>
        <a:srgbClr val="D9D9D9"/>
      </a:accent6>
      <a:hlink>
        <a:srgbClr val="23323B"/>
      </a:hlink>
      <a:folHlink>
        <a:srgbClr val="404040"/>
      </a:folHlink>
    </a:clrScheme>
    <a:fontScheme name="Office">
      <a:majorFont>
        <a:latin typeface="Arial"/>
        <a:ea typeface="Meiryo UI"/>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eiryo UI"/>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TR Kickoff">
  <a:themeElements>
    <a:clrScheme name="BTR Kickoff">
      <a:dk1>
        <a:srgbClr val="222B38"/>
      </a:dk1>
      <a:lt1>
        <a:srgbClr val="FFFFFF"/>
      </a:lt1>
      <a:dk2>
        <a:srgbClr val="1C2B45"/>
      </a:dk2>
      <a:lt2>
        <a:srgbClr val="F4F6F9"/>
      </a:lt2>
      <a:accent1>
        <a:srgbClr val="1C2B45"/>
      </a:accent1>
      <a:accent2>
        <a:srgbClr val="5E7391"/>
      </a:accent2>
      <a:accent3>
        <a:srgbClr val="9AA5B5"/>
      </a:accent3>
      <a:accent4>
        <a:srgbClr val="DDE5F2"/>
      </a:accent4>
      <a:accent5>
        <a:srgbClr val="3F4F6A"/>
      </a:accent5>
      <a:accent6>
        <a:srgbClr val="999999"/>
      </a:accent6>
      <a:hlink>
        <a:srgbClr val="1C2B45"/>
      </a:hlink>
      <a:folHlink>
        <a:srgbClr val="5E73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IT予算移管の要点（IT部門向け予算ガイドライン 追補）</dc:title>
  <cp:lastModifiedBy>python-pptx</cp:lastModifiedBy>
  <cp:revision>1</cp:revision>
  <dcterms:modified xsi:type="dcterms:W3CDTF">2026-10-20T11:43:38Z</dcterms:modified>
</cp:coreProperties>
</file>