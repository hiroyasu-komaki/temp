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86" r:id="rId10"/>
    <p:sldId id="287" r:id="rId12"/>
    <p:sldId id="288" r:id="rId13"/>
    <p:sldId id="259" r:id="rId9"/>
    <p:sldId id="261" r:id="rId11"/>
    <p:sldId id="285" r:id="rId14"/>
    <p:sldId id="267" r:id="rId10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表紙" id="{409EA2B5-F2A7-4CB5-82BA-641B7F0CD0B6}">
          <p14:sldIdLst>
            <p14:sldId id="256"/>
            <p14:sldId id="282"/>
            <p14:sldId id="283"/>
          </p14:sldIdLst>
        </p14:section>
        <p14:section name="予算移管の方針と進め方" id="{21F2759C-30DB-4622-835D-072BEE233D36}">
          <p14:sldIdLst>
            <p14:sldId id="258"/>
            <p14:sldId id="259"/>
          </p14:sldIdLst>
        </p14:section>
        <p14:section name="移管後の役割" id="{3B745467-87E7-42D2-8B4B-1BA428B43514}">
          <p14:sldIdLst>
            <p14:sldId id="261"/>
          </p14:sldIdLst>
        </p14:section>
        <p14:section name="IT資産管理" id="{7F319247-5CD6-4AF9-B288-B32F66FBC758}">
          <p14:sldIdLst>
            <p14:sldId id="267"/>
            <p14:sldId id="284"/>
          </p14:sldIdLst>
        </p14:section>
      </p14:section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8A727C-A965-479B-B08A-54D43AD2AD89}">
  <a:tblStyle styleId="{578A727C-A965-479B-B08A-54D43AD2AD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6.xml"/><Relationship Id="rId11" Type="http://schemas.openxmlformats.org/officeDocument/2006/relationships/slide" Target="slides/slide3.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4.xml"/><Relationship Id="rId10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この資料は「IT部門向け予算ガイドライン」の追補で、来年度予算からの IT予算移管を、GDSの各チームが普段の業務の中で進めるときの拠り所です。予算移管はプロジェクトではなく、専用の体制も作りません。全社で決まっている方針は守り、それ以外の進め方は、カウンターパートの各ファンクションと合意して決めてください。</a:t>
            </a: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11月と12月の進め方の目安です。担当BPは、ヒアリングシートを基に移管元と合意し、業務マニュアルや契約書、過去の記録を基に引き継ぎ、稟議申請の時点で完了を報告します。期間を通して、進捗管理表を随時更新し、問題が起きたとき、または起きそうなときは報告・相談してください。ゴールは、S&amp;Gにとっては移管の稟議が承認されていること、担当BPにとっては移管後の業務を開始できる状態にあることです。どちらも、その状態に行くための材料がそろっている必要があります。</a:t>
            </a: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移管後の役割分担です。箱は領域、矢印の上に書いたのが行為です。ビジネス戦略から要求を明確にしてビジネス要件を定め、受け入れと効果測定の結果を評価して戦略を見直すのは各ファンクションです。ビジネス戦略を受けて IT戦略を策定し、その方針をソリューションに適用すること、非機能要件をシステム要件に示すこと、ソーシングの方針をベンダーに示すこと、ビジネス要件をシステム要件に落とす要件定義、ソリューション選定、ベンダー選定は、GDSがリードし、各ファンクションの助言のもとで GDSが決定します。ただし、ある部門に固有で、他への影響が一切ないシステムは、この限りではありません。IT財務管理、契約管理、サービス品質管理は GDSが担います。分担の細部と GDSが担い始める時期は、案件ごとに合意文書で確定してください。</a:t>
            </a:r>
          </a:p>
        </p:txBody>
      </p:sp>
      <p:sp>
        <p:nvSpPr>
          <p:cNvPr id="201" name="Google Shape;2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EEEFEF"/>
        </a:solidFill>
        <a:effectLst/>
      </p:bgPr>
    </p:bg>
    <p:spTree>
      <p:nvGrpSpPr>
        <p:cNvPr id="11" name="Shape 11"/>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9652000" y="4318000"/>
            <a:ext cx="5080000" cy="5080000"/>
          </a:xfrm>
          <a:prstGeom prst="ellipse">
            <a:avLst/>
          </a:prstGeom>
          <a:noFill/>
          <a:ln w="279400">
            <a:solidFill>
              <a:srgbClr val="DEDEDF"/>
            </a:solidFill>
          </a:ln>
        </p:spPr>
        <p:txBody>
          <a:bodyPr/>
          <a:lstStyle/>
          <a:p>
            <a:endParaRPr lang="ja-JP"/>
          </a:p>
        </p:txBody>
      </p:sp>
      <p:sp>
        <p:nvSpPr>
          <p:cNvPr id="12" name="Google Shape;12;p2"/>
          <p:cNvSpPr txBox="1"/>
          <p:nvPr>
            <p:ph type="title"/>
          </p:nvPr>
        </p:nvSpPr>
        <p:spPr>
          <a:xfrm>
            <a:off x="731520" y="2286000"/>
            <a:ext cx="1069848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404040"/>
              </a:buClr>
              <a:buSzPts val="3600"/>
              <a:buFont typeface="Arial"/>
              <a:buNone/>
              <a:defRPr b="1" i="0" sz="3600" u="none" cap="none" strike="noStrike">
                <a:solidFill>
                  <a:srgbClr val="40404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731520" y="3383280"/>
            <a:ext cx="1069848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rgbClr val="404040"/>
              </a:buClr>
              <a:buSzPts val="1600"/>
              <a:buFont typeface="Arial"/>
              <a:buNone/>
              <a:defRPr b="0" i="0" sz="1600" u="none" cap="none" strike="noStrike">
                <a:solidFill>
                  <a:srgbClr val="404040"/>
                </a:solidFill>
                <a:latin typeface="Arial"/>
                <a:ea typeface="Arial"/>
                <a:cs typeface="Arial"/>
                <a:sym typeface="Arial"/>
              </a:defRPr>
            </a:lvl1pPr>
            <a:lvl2pPr indent="-406400" lvl="1" marL="914400" marR="0" rtl="0" algn="l">
              <a:spcBef>
                <a:spcPts val="560"/>
              </a:spcBef>
              <a:spcAft>
                <a:spcPts val="0"/>
              </a:spcAft>
              <a:buClr>
                <a:srgbClr val="404040"/>
              </a:buClr>
              <a:buSzPts val="2800"/>
              <a:buFont typeface="Arial"/>
              <a:buChar char="–"/>
              <a:defRPr b="0" i="0" sz="2800" u="none" cap="none" strike="noStrike">
                <a:solidFill>
                  <a:srgbClr val="404040"/>
                </a:solidFill>
                <a:latin typeface="Arial"/>
                <a:ea typeface="Arial"/>
                <a:cs typeface="Arial"/>
                <a:sym typeface="Arial"/>
              </a:defRPr>
            </a:lvl2pPr>
            <a:lvl3pPr indent="-381000" lvl="2" marL="1371600" marR="0" rtl="0" algn="l">
              <a:spcBef>
                <a:spcPts val="480"/>
              </a:spcBef>
              <a:spcAft>
                <a:spcPts val="0"/>
              </a:spcAft>
              <a:buClr>
                <a:srgbClr val="404040"/>
              </a:buClr>
              <a:buSzPts val="2400"/>
              <a:buFont typeface="Arial"/>
              <a:buChar char="•"/>
              <a:defRPr b="0" i="0" sz="2400" u="none" cap="none" strike="noStrike">
                <a:solidFill>
                  <a:srgbClr val="404040"/>
                </a:solidFill>
                <a:latin typeface="Arial"/>
                <a:ea typeface="Arial"/>
                <a:cs typeface="Arial"/>
                <a:sym typeface="Arial"/>
              </a:defRPr>
            </a:lvl3pPr>
            <a:lvl4pPr indent="-355600" lvl="3" marL="1828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4pPr>
            <a:lvl5pPr indent="-355600" lvl="4" marL="22860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5pPr>
            <a:lvl6pPr indent="-355600" lvl="5" marL="27432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6pPr>
            <a:lvl7pPr indent="-355600" lvl="6" marL="32004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7pPr>
            <a:lvl8pPr indent="-355600" lvl="7" marL="36576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8pPr>
            <a:lvl9pPr indent="-355600" lvl="8" marL="4114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15" name="Google Shape;15;p3"/>
          <p:cNvSpPr txBox="1"/>
          <p:nvPr>
            <p:ph type="title"/>
          </p:nvPr>
        </p:nvSpPr>
        <p:spPr>
          <a:xfrm>
            <a:off x="635000" y="406400"/>
            <a:ext cx="10922000" cy="431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23323B"/>
              </a:buClr>
              <a:buSzPts val="2600"/>
              <a:buFont typeface="Arial"/>
              <a:buNone/>
              <a:defRPr b="1" i="0" sz="2600" u="none" cap="none" strike="noStrike">
                <a:solidFill>
                  <a:srgbClr val="23323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7F7F7F"/>
                </a:solidFill>
                <a:latin typeface="Arial"/>
                <a:ea typeface="Arial"/>
                <a:cs typeface="Arial"/>
                <a:sym typeface="Arial"/>
              </a:defRPr>
            </a:lvl1pPr>
            <a:lvl2pPr indent="0" lvl="1" marL="0" marR="0" algn="r">
              <a:spcBef>
                <a:spcPts val="0"/>
              </a:spcBef>
              <a:buNone/>
              <a:defRPr b="0" i="0" sz="900" u="none" cap="none" strike="noStrike">
                <a:solidFill>
                  <a:srgbClr val="7F7F7F"/>
                </a:solidFill>
                <a:latin typeface="Arial"/>
                <a:ea typeface="Arial"/>
                <a:cs typeface="Arial"/>
                <a:sym typeface="Arial"/>
              </a:defRPr>
            </a:lvl2pPr>
            <a:lvl3pPr indent="0" lvl="2" marL="0" marR="0" algn="r">
              <a:spcBef>
                <a:spcPts val="0"/>
              </a:spcBef>
              <a:buNone/>
              <a:defRPr b="0" i="0" sz="900" u="none" cap="none" strike="noStrike">
                <a:solidFill>
                  <a:srgbClr val="7F7F7F"/>
                </a:solidFill>
                <a:latin typeface="Arial"/>
                <a:ea typeface="Arial"/>
                <a:cs typeface="Arial"/>
                <a:sym typeface="Arial"/>
              </a:defRPr>
            </a:lvl3pPr>
            <a:lvl4pPr indent="0" lvl="3" marL="0" marR="0" algn="r">
              <a:spcBef>
                <a:spcPts val="0"/>
              </a:spcBef>
              <a:buNone/>
              <a:defRPr b="0" i="0" sz="900" u="none" cap="none" strike="noStrike">
                <a:solidFill>
                  <a:srgbClr val="7F7F7F"/>
                </a:solidFill>
                <a:latin typeface="Arial"/>
                <a:ea typeface="Arial"/>
                <a:cs typeface="Arial"/>
                <a:sym typeface="Arial"/>
              </a:defRPr>
            </a:lvl4pPr>
            <a:lvl5pPr indent="0" lvl="4" marL="0" marR="0" algn="r">
              <a:spcBef>
                <a:spcPts val="0"/>
              </a:spcBef>
              <a:buNone/>
              <a:defRPr b="0" i="0" sz="900" u="none" cap="none" strike="noStrike">
                <a:solidFill>
                  <a:srgbClr val="7F7F7F"/>
                </a:solidFill>
                <a:latin typeface="Arial"/>
                <a:ea typeface="Arial"/>
                <a:cs typeface="Arial"/>
                <a:sym typeface="Arial"/>
              </a:defRPr>
            </a:lvl5pPr>
            <a:lvl6pPr indent="0" lvl="5" marL="0" marR="0" algn="r">
              <a:spcBef>
                <a:spcPts val="0"/>
              </a:spcBef>
              <a:buNone/>
              <a:defRPr b="0" i="0" sz="900" u="none" cap="none" strike="noStrike">
                <a:solidFill>
                  <a:srgbClr val="7F7F7F"/>
                </a:solidFill>
                <a:latin typeface="Arial"/>
                <a:ea typeface="Arial"/>
                <a:cs typeface="Arial"/>
                <a:sym typeface="Arial"/>
              </a:defRPr>
            </a:lvl6pPr>
            <a:lvl7pPr indent="0" lvl="6" marL="0" marR="0" algn="r">
              <a:spcBef>
                <a:spcPts val="0"/>
              </a:spcBef>
              <a:buNone/>
              <a:defRPr b="0" i="0" sz="900" u="none" cap="none" strike="noStrike">
                <a:solidFill>
                  <a:srgbClr val="7F7F7F"/>
                </a:solidFill>
                <a:latin typeface="Arial"/>
                <a:ea typeface="Arial"/>
                <a:cs typeface="Arial"/>
                <a:sym typeface="Arial"/>
              </a:defRPr>
            </a:lvl7pPr>
            <a:lvl8pPr indent="0" lvl="7" marL="0" marR="0" algn="r">
              <a:spcBef>
                <a:spcPts val="0"/>
              </a:spcBef>
              <a:buNone/>
              <a:defRPr b="0" i="0" sz="900" u="none" cap="none" strike="noStrike">
                <a:solidFill>
                  <a:srgbClr val="7F7F7F"/>
                </a:solidFill>
                <a:latin typeface="Arial"/>
                <a:ea typeface="Arial"/>
                <a:cs typeface="Arial"/>
                <a:sym typeface="Arial"/>
              </a:defRPr>
            </a:lvl8pPr>
            <a:lvl9pPr indent="0" lvl="8" marL="0" marR="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予算ガイドライン追補｜IT予算移管の要点</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rgbClr val="FFFFFF"/>
        </a:solidFill>
      </p:bgPr>
    </p:bg>
    <p:spTree>
      <p:nvGrpSpPr>
        <p:cNvPr id="17" name="Shape 17"/>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予算ガイドライン追補｜IT予算移管の要点</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2" name="Text 0"/>
          <p:cNvSpPr/>
          <p:nvPr>
            <p:ph idx="100" type="title" hasCustomPrompt="1"/>
          </p:nvPr>
        </p:nvSpPr>
        <p:spPr>
          <a:xfrm>
            <a:off x="635000" y="406400"/>
            <a:ext cx="10922000" cy="431800"/>
          </a:xfrm>
          <a:prstGeom prst="rect">
            <a:avLst/>
          </a:prstGeom>
          <a:noFill/>
          <a:ln/>
        </p:spPr>
        <p:txBody>
          <a:bodyPr wrap="square" rtlCol="0"/>
          <a:lstStyle>
            <a:lvl1pPr algn="l" indent="0" marL="0">
              <a:buNone/>
              <a:defRPr lang="en-US" sz="2600" b="1" dirty="0">
                <a:solidFill>
                  <a:srgbClr val="23323B"/>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ph idx="101" type="body" hasCustomPrompt="1"/>
          </p:nvPr>
        </p:nvSpPr>
        <p:spPr>
          <a:xfrm>
            <a:off x="635000" y="889000"/>
            <a:ext cx="10922000" cy="304800"/>
          </a:xfrm>
          <a:prstGeom prst="rect">
            <a:avLst/>
          </a:prstGeom>
          <a:noFill/>
          <a:ln/>
        </p:spPr>
        <p:txBody>
          <a:bodyPr wrap="square" rtlCol="0"/>
          <a:lstStyle>
            <a:lvl1pPr indent="0" marL="0">
              <a:buNone/>
              <a:defRPr lang="en-US" sz="1400" dirty="0">
                <a:solidFill>
                  <a:srgbClr val="404040"/>
                </a:solidFill>
                <a:latin typeface="Arial" pitchFamily="34" charset="0"/>
                <a:ea typeface="Arial" pitchFamily="34" charset="-122"/>
                <a:cs typeface="Arial" pitchFamily="34" charset="-120"/>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1002</a:t>
            </a:fld>
            <a:endParaRPr lang="en-US"/>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予算ガイドライン追補｜IT予算移管の要点</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7F7F7F"/>
                </a:solidFill>
                <a:latin typeface="Arial"/>
                <a:ea typeface="Arial"/>
                <a:cs typeface="Arial"/>
                <a:sym typeface="Arial"/>
              </a:defRPr>
            </a:lvl1pPr>
            <a:lvl2pPr indent="0" lvl="1" marL="0" marR="0" rtl="0" algn="r">
              <a:spcBef>
                <a:spcPts val="0"/>
              </a:spcBef>
              <a:buNone/>
              <a:defRPr b="0" i="0" sz="900" u="none" cap="none" strike="noStrike">
                <a:solidFill>
                  <a:srgbClr val="7F7F7F"/>
                </a:solidFill>
                <a:latin typeface="Arial"/>
                <a:ea typeface="Arial"/>
                <a:cs typeface="Arial"/>
                <a:sym typeface="Arial"/>
              </a:defRPr>
            </a:lvl2pPr>
            <a:lvl3pPr indent="0" lvl="2" marL="0" marR="0" rtl="0" algn="r">
              <a:spcBef>
                <a:spcPts val="0"/>
              </a:spcBef>
              <a:buNone/>
              <a:defRPr b="0" i="0" sz="900" u="none" cap="none" strike="noStrike">
                <a:solidFill>
                  <a:srgbClr val="7F7F7F"/>
                </a:solidFill>
                <a:latin typeface="Arial"/>
                <a:ea typeface="Arial"/>
                <a:cs typeface="Arial"/>
                <a:sym typeface="Arial"/>
              </a:defRPr>
            </a:lvl3pPr>
            <a:lvl4pPr indent="0" lvl="3" marL="0" marR="0" rtl="0" algn="r">
              <a:spcBef>
                <a:spcPts val="0"/>
              </a:spcBef>
              <a:buNone/>
              <a:defRPr b="0" i="0" sz="900" u="none" cap="none" strike="noStrike">
                <a:solidFill>
                  <a:srgbClr val="7F7F7F"/>
                </a:solidFill>
                <a:latin typeface="Arial"/>
                <a:ea typeface="Arial"/>
                <a:cs typeface="Arial"/>
                <a:sym typeface="Arial"/>
              </a:defRPr>
            </a:lvl4pPr>
            <a:lvl5pPr indent="0" lvl="4" marL="0" marR="0" rtl="0" algn="r">
              <a:spcBef>
                <a:spcPts val="0"/>
              </a:spcBef>
              <a:buNone/>
              <a:defRPr b="0" i="0" sz="900" u="none" cap="none" strike="noStrike">
                <a:solidFill>
                  <a:srgbClr val="7F7F7F"/>
                </a:solidFill>
                <a:latin typeface="Arial"/>
                <a:ea typeface="Arial"/>
                <a:cs typeface="Arial"/>
                <a:sym typeface="Arial"/>
              </a:defRPr>
            </a:lvl5pPr>
            <a:lvl6pPr indent="0" lvl="5" marL="0" marR="0" rtl="0" algn="r">
              <a:spcBef>
                <a:spcPts val="0"/>
              </a:spcBef>
              <a:buNone/>
              <a:defRPr b="0" i="0" sz="900" u="none" cap="none" strike="noStrike">
                <a:solidFill>
                  <a:srgbClr val="7F7F7F"/>
                </a:solidFill>
                <a:latin typeface="Arial"/>
                <a:ea typeface="Arial"/>
                <a:cs typeface="Arial"/>
                <a:sym typeface="Arial"/>
              </a:defRPr>
            </a:lvl6pPr>
            <a:lvl7pPr indent="0" lvl="6" marL="0" marR="0" rtl="0" algn="r">
              <a:spcBef>
                <a:spcPts val="0"/>
              </a:spcBef>
              <a:buNone/>
              <a:defRPr b="0" i="0" sz="900" u="none" cap="none" strike="noStrike">
                <a:solidFill>
                  <a:srgbClr val="7F7F7F"/>
                </a:solidFill>
                <a:latin typeface="Arial"/>
                <a:ea typeface="Arial"/>
                <a:cs typeface="Arial"/>
                <a:sym typeface="Arial"/>
              </a:defRPr>
            </a:lvl7pPr>
            <a:lvl8pPr indent="0" lvl="7" marL="0" marR="0" rtl="0" algn="r">
              <a:spcBef>
                <a:spcPts val="0"/>
              </a:spcBef>
              <a:buNone/>
              <a:defRPr b="0" i="0" sz="900" u="none" cap="none" strike="noStrike">
                <a:solidFill>
                  <a:srgbClr val="7F7F7F"/>
                </a:solidFill>
                <a:latin typeface="Arial"/>
                <a:ea typeface="Arial"/>
                <a:cs typeface="Arial"/>
                <a:sym typeface="Arial"/>
              </a:defRPr>
            </a:lvl8pPr>
            <a:lvl9pPr indent="0" lvl="8" marL="0" marR="0" rtl="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ED5604"/>
        </a:solidFill>
        <a:effectLst/>
      </p:bgPr>
    </p:bg>
    <p:spTree>
      <p:nvGrpSpPr>
        <p:cNvPr id="22" name="Shape 22"/>
        <p:cNvGrpSpPr/>
        <p:nvPr/>
      </p:nvGrpSpPr>
      <p:grpSpPr>
        <a:xfrm>
          <a:off x="0" y="0"/>
          <a:ext cx="0" cy="0"/>
          <a:chOff x="0" y="0"/>
          <a:chExt cx="0" cy="0"/>
        </a:xfrm>
      </p:grpSpPr>
      <p:sp>
        <p:nvSpPr>
          <p:cNvPr id="950" name="Cover Arc"/>
          <p:cNvSpPr/>
          <p:nvPr userDrawn="1"/>
        </p:nvSpPr>
        <p:spPr>
          <a:xfrm>
            <a:off x="9017000" y="3937000"/>
            <a:ext cx="6350000" cy="6350000"/>
          </a:xfrm>
          <a:prstGeom prst="ellipse">
            <a:avLst/>
          </a:prstGeom>
          <a:noFill/>
          <a:ln w="381000">
            <a:solidFill>
              <a:srgbClr val="FFFFFF"/>
            </a:solidFill>
          </a:ln>
        </p:spPr>
        <p:txBody>
          <a:bodyPr/>
          <a:lstStyle/>
          <a:p>
            <a:endParaRPr lang="ja-JP"/>
          </a:p>
        </p:txBody>
      </p:sp>
      <p:sp>
        <p:nvSpPr>
          <p:cNvPr id="23" name="Google Shape;23;p5"/>
          <p:cNvSpPr txBox="1"/>
          <p:nvPr>
            <p:ph type="title"/>
          </p:nvPr>
        </p:nvSpPr>
        <p:spPr>
          <a:xfrm>
            <a:off x="635000" y="2377440"/>
            <a:ext cx="9326880" cy="73152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FFFFFF"/>
              </a:buClr>
              <a:buSzPts val="3600"/>
              <a:buFont typeface="Arial"/>
              <a:buNone/>
            </a:pPr>
            <a:r>
              <a:rPr b="1" lang="en-US" sz="3400">
                <a:solidFill>
                  <a:srgbClr val="FFFFFF"/>
                </a:solidFill>
              </a:rPr>
              <a:t>「IT部門向け予算ガイドライン」追補</a:t>
            </a:r>
            <a:endParaRPr sz="4300" b="1">
              <a:solidFill>
                <a:srgbClr val="FFFFFF"/>
              </a:solidFill>
            </a:endParaRPr>
          </a:p>
        </p:txBody>
      </p:sp>
      <p:sp>
        <p:nvSpPr>
          <p:cNvPr id="24" name="Google Shape;24;p5"/>
          <p:cNvSpPr txBox="1"/>
          <p:nvPr>
            <p:ph idx="1" type="body"/>
          </p:nvPr>
        </p:nvSpPr>
        <p:spPr>
          <a:xfrm>
            <a:off x="635000" y="3611880"/>
            <a:ext cx="8128000" cy="762000"/>
          </a:xfrm>
          <a:prstGeom prst="rect">
            <a:avLst/>
          </a:prstGeom>
          <a:noFill/>
          <a:ln>
            <a:noFill/>
          </a:ln>
        </p:spPr>
        <p:txBody>
          <a:bodyPr anchorCtr="0" anchor="t" bIns="0" lIns="0" spcFirstLastPara="1" rIns="0" wrap="square" tIns="0">
            <a:noAutofit/>
          </a:bodyPr>
          <a:lstStyle/>
          <a:p>
            <a:pPr indent="0" lvl="0" marL="0" rtl="0" algn="l">
              <a:buClr>
                <a:srgbClr val="DDE5F2"/>
              </a:buClr>
              <a:buSzPts val="1600"/>
              <a:buNone/>
              <a:spcAft>
                <a:spcPts val="600"/>
              </a:spcAft>
            </a:pPr>
            <a:r>
              <a:rPr lang="en-US" sz="1800" b="1">
                <a:solidFill>
                  <a:srgbClr val="FFFFFF"/>
                </a:solidFill>
              </a:rPr>
              <a:t>IT予算移管の要点</a:t>
            </a:r>
            <a:endParaRPr sz="1800" b="1">
              <a:solidFill>
                <a:srgbClr val="FFFFFF"/>
              </a:solidFill>
            </a:endParaRPr>
          </a:p>
          <a:p>
            <a:pPr indent="0" lvl="0" marL="0" rtl="0" algn="l">
              <a:buClr>
                <a:srgbClr val="DDE5F2"/>
              </a:buClr>
              <a:buSzPts val="1600"/>
              <a:buNone/>
              <a:spcAft>
                <a:spcPts val="600"/>
              </a:spcAft>
            </a:pPr>
            <a:r>
              <a:rPr lang="en-US" sz="1800" b="1">
                <a:solidFill>
                  <a:srgbClr val="FFFFFF"/>
                </a:solidFill>
              </a:rPr>
              <a:t>2026年11月キックオフ</a:t>
            </a:r>
            <a:endParaRPr sz="1800" b="1">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cxnSp>
        <p:nvCxnSpPr>
          <p:cNvPr id="203" name="Connector 202"/>
          <p:cNvCxnSpPr/>
          <p:nvPr/>
        </p:nvCxnSpPr>
        <p:spPr>
          <a:xfrm>
            <a:off x="10129549" y="1783080"/>
            <a:ext cx="0" cy="4274760"/>
          </a:xfrm>
          <a:prstGeom prst="line">
            <a:avLst/>
          </a:prstGeom>
          <a:ln w="9525">
            <a:solidFill>
              <a:srgbClr val="B4BEC6"/>
            </a:solidFill>
            <a:prstDash val="lgDash"/>
          </a:ln>
        </p:spPr>
        <p:style>
          <a:lnRef idx="2">
            <a:schemeClr val="accent1"/>
          </a:lnRef>
          <a:fillRef idx="0">
            <a:schemeClr val="accent1"/>
          </a:fillRef>
          <a:effectRef idx="0">
            <a:schemeClr val="accent1"/>
          </a:effectRef>
          <a:fontRef idx="minor">
            <a:schemeClr val="tx1"/>
          </a:fontRef>
        </p:style>
      </p:cxnSp>
      <p:cxnSp>
        <p:nvCxnSpPr>
          <p:cNvPr id="202" name="Connector 201"/>
          <p:cNvCxnSpPr/>
          <p:nvPr/>
        </p:nvCxnSpPr>
        <p:spPr>
          <a:xfrm>
            <a:off x="7305850" y="1783080"/>
            <a:ext cx="0" cy="4274760"/>
          </a:xfrm>
          <a:prstGeom prst="line">
            <a:avLst/>
          </a:prstGeom>
          <a:ln w="9525">
            <a:solidFill>
              <a:srgbClr val="B4BEC6"/>
            </a:solidFill>
            <a:prstDash val="lgDash"/>
          </a:ln>
        </p:spPr>
        <p:style>
          <a:lnRef idx="2">
            <a:schemeClr val="accent1"/>
          </a:lnRef>
          <a:fillRef idx="0">
            <a:schemeClr val="accent1"/>
          </a:fillRef>
          <a:effectRef idx="0">
            <a:schemeClr val="accent1"/>
          </a:effectRef>
          <a:fontRef idx="minor">
            <a:schemeClr val="tx1"/>
          </a:fontRef>
        </p:style>
      </p:cxnSp>
      <p:sp>
        <p:nvSpPr>
          <p:cNvPr id="73" name="Google Shape;73;p8"/>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11月〜12月の進め方（目安）</a:t>
            </a:r>
            <a:endParaRPr sz="2400" b="1">
              <a:solidFill>
                <a:srgbClr val="23323B"/>
              </a:solidFill>
            </a:endParaRPr>
          </a:p>
        </p:txBody>
      </p:sp>
      <p:sp>
        <p:nvSpPr>
          <p:cNvPr id="146" name="Google Shape;146;p8"/>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147" name="Rectangle 146"/>
          <p:cNvSpPr/>
          <p:nvPr/>
        </p:nvSpPr>
        <p:spPr>
          <a:xfrm>
            <a:off x="4664332" y="1554480"/>
            <a:ext cx="2632374"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50" b="1">
                <a:solidFill>
                  <a:srgbClr val="FFFFFF"/>
                </a:solidFill>
                <a:latin typeface="Arial"/>
                <a:ea typeface="Arial"/>
              </a:rPr>
              <a:t>11月</a:t>
            </a:r>
          </a:p>
        </p:txBody>
      </p:sp>
      <p:sp>
        <p:nvSpPr>
          <p:cNvPr id="148" name="Rectangle 147"/>
          <p:cNvSpPr/>
          <p:nvPr/>
        </p:nvSpPr>
        <p:spPr>
          <a:xfrm>
            <a:off x="7305850" y="1554480"/>
            <a:ext cx="2814554"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50" b="1">
                <a:solidFill>
                  <a:srgbClr val="FFFFFF"/>
                </a:solidFill>
                <a:latin typeface="Arial"/>
                <a:ea typeface="Arial"/>
              </a:rPr>
              <a:t>12月</a:t>
            </a:r>
          </a:p>
        </p:txBody>
      </p:sp>
      <p:sp>
        <p:nvSpPr>
          <p:cNvPr id="149" name="Rectangle 148"/>
          <p:cNvSpPr/>
          <p:nvPr/>
        </p:nvSpPr>
        <p:spPr>
          <a:xfrm>
            <a:off x="10129549" y="1554480"/>
            <a:ext cx="1415354"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50" b="1">
                <a:solidFill>
                  <a:srgbClr val="FFFFFF"/>
                </a:solidFill>
                <a:latin typeface="Arial"/>
                <a:ea typeface="Arial"/>
              </a:rPr>
              <a:t>1月以降</a:t>
            </a:r>
          </a:p>
        </p:txBody>
      </p:sp>
      <p:sp>
        <p:nvSpPr>
          <p:cNvPr id="150" name="TextBox 149"/>
          <p:cNvSpPr txBox="1"/>
          <p:nvPr/>
        </p:nvSpPr>
        <p:spPr>
          <a:xfrm>
            <a:off x="635000" y="1843080"/>
            <a:ext cx="3937892" cy="420000"/>
          </a:xfrm>
          <a:prstGeom prst="rect">
            <a:avLst/>
          </a:prstGeom>
          <a:noFill/>
        </p:spPr>
        <p:txBody>
          <a:bodyPr wrap="square" anchor="ctr" lIns="0" rIns="0" tIns="0" bIns="0">
            <a:spAutoFit/>
          </a:bodyPr>
          <a:lstStyle/>
          <a:p>
            <a:pPr algn="l"/>
            <a:r>
              <a:rPr sz="950" b="1">
                <a:solidFill>
                  <a:srgbClr val="23323B"/>
                </a:solidFill>
                <a:latin typeface="Arial"/>
                <a:ea typeface="Arial"/>
              </a:rPr>
              <a:t>マイルストーン</a:t>
            </a:r>
          </a:p>
        </p:txBody>
      </p:sp>
      <p:sp>
        <p:nvSpPr>
          <p:cNvPr id="151" name="Diamond 150"/>
          <p:cNvSpPr/>
          <p:nvPr/>
        </p:nvSpPr>
        <p:spPr>
          <a:xfrm>
            <a:off x="4594332"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TextBox 151"/>
          <p:cNvSpPr txBox="1"/>
          <p:nvPr/>
        </p:nvSpPr>
        <p:spPr>
          <a:xfrm>
            <a:off x="4684332" y="2043080"/>
            <a:ext cx="1300000" cy="240000"/>
          </a:xfrm>
          <a:prstGeom prst="rect">
            <a:avLst/>
          </a:prstGeom>
          <a:noFill/>
        </p:spPr>
        <p:txBody>
          <a:bodyPr wrap="square" anchor="t" lIns="0" rIns="0" tIns="0" bIns="0">
            <a:spAutoFit/>
          </a:bodyPr>
          <a:lstStyle/>
          <a:p>
            <a:pPr algn="l"/>
            <a:r>
              <a:rPr sz="800" b="1">
                <a:solidFill>
                  <a:srgbClr val="23323B"/>
                </a:solidFill>
                <a:latin typeface="Arial"/>
                <a:ea typeface="Arial"/>
              </a:rPr>
              <a:t>活動の開始</a:t>
            </a:r>
          </a:p>
        </p:txBody>
      </p:sp>
      <p:sp>
        <p:nvSpPr>
          <p:cNvPr id="153" name="Diamond 152"/>
          <p:cNvSpPr/>
          <p:nvPr/>
        </p:nvSpPr>
        <p:spPr>
          <a:xfrm>
            <a:off x="7144764"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TextBox 153"/>
          <p:cNvSpPr txBox="1"/>
          <p:nvPr/>
        </p:nvSpPr>
        <p:spPr>
          <a:xfrm>
            <a:off x="5894764" y="2043080"/>
            <a:ext cx="1300000" cy="240000"/>
          </a:xfrm>
          <a:prstGeom prst="rect">
            <a:avLst/>
          </a:prstGeom>
          <a:noFill/>
        </p:spPr>
        <p:txBody>
          <a:bodyPr wrap="square" anchor="t" lIns="0" rIns="0" tIns="0" bIns="0">
            <a:spAutoFit/>
          </a:bodyPr>
          <a:lstStyle/>
          <a:p>
            <a:pPr algn="r"/>
            <a:r>
              <a:rPr sz="800" b="1">
                <a:solidFill>
                  <a:srgbClr val="23323B"/>
                </a:solidFill>
                <a:latin typeface="Arial"/>
                <a:ea typeface="Arial"/>
              </a:rPr>
              <a:t>完了目処の報告</a:t>
            </a:r>
          </a:p>
        </p:txBody>
      </p:sp>
      <p:sp>
        <p:nvSpPr>
          <p:cNvPr id="155" name="Diamond 154"/>
          <p:cNvSpPr/>
          <p:nvPr/>
        </p:nvSpPr>
        <p:spPr>
          <a:xfrm>
            <a:off x="7509111"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TextBox 155"/>
          <p:cNvSpPr txBox="1"/>
          <p:nvPr/>
        </p:nvSpPr>
        <p:spPr>
          <a:xfrm>
            <a:off x="7599111" y="2043080"/>
            <a:ext cx="1300000" cy="240000"/>
          </a:xfrm>
          <a:prstGeom prst="rect">
            <a:avLst/>
          </a:prstGeom>
          <a:noFill/>
        </p:spPr>
        <p:txBody>
          <a:bodyPr wrap="square" anchor="t" lIns="0" rIns="0" tIns="0" bIns="0">
            <a:spAutoFit/>
          </a:bodyPr>
          <a:lstStyle/>
          <a:p>
            <a:pPr algn="l"/>
            <a:r>
              <a:rPr sz="800" b="1">
                <a:solidFill>
                  <a:srgbClr val="23323B"/>
                </a:solidFill>
                <a:latin typeface="Arial"/>
                <a:ea typeface="Arial"/>
              </a:rPr>
              <a:t>作業の完了</a:t>
            </a:r>
          </a:p>
        </p:txBody>
      </p:sp>
      <p:sp>
        <p:nvSpPr>
          <p:cNvPr id="157" name="Diamond 156"/>
          <p:cNvSpPr/>
          <p:nvPr/>
        </p:nvSpPr>
        <p:spPr>
          <a:xfrm>
            <a:off x="8511066"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TextBox 157"/>
          <p:cNvSpPr txBox="1"/>
          <p:nvPr/>
        </p:nvSpPr>
        <p:spPr>
          <a:xfrm>
            <a:off x="7931066" y="2043080"/>
            <a:ext cx="1300000" cy="240000"/>
          </a:xfrm>
          <a:prstGeom prst="rect">
            <a:avLst/>
          </a:prstGeom>
          <a:noFill/>
        </p:spPr>
        <p:txBody>
          <a:bodyPr wrap="square" anchor="t" lIns="0" rIns="0" tIns="0" bIns="0">
            <a:spAutoFit/>
          </a:bodyPr>
          <a:lstStyle/>
          <a:p>
            <a:pPr algn="ctr"/>
            <a:r>
              <a:rPr sz="800" b="1">
                <a:solidFill>
                  <a:srgbClr val="23323B"/>
                </a:solidFill>
                <a:latin typeface="Arial"/>
                <a:ea typeface="Arial"/>
              </a:rPr>
              <a:t>稟議の承認</a:t>
            </a:r>
          </a:p>
        </p:txBody>
      </p:sp>
      <p:sp>
        <p:nvSpPr>
          <p:cNvPr id="159" name="Diamond 158"/>
          <p:cNvSpPr/>
          <p:nvPr/>
        </p:nvSpPr>
        <p:spPr>
          <a:xfrm>
            <a:off x="10219549"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TextBox 159"/>
          <p:cNvSpPr txBox="1"/>
          <p:nvPr/>
        </p:nvSpPr>
        <p:spPr>
          <a:xfrm>
            <a:off x="10309549" y="2043080"/>
            <a:ext cx="1200000" cy="240000"/>
          </a:xfrm>
          <a:prstGeom prst="rect">
            <a:avLst/>
          </a:prstGeom>
          <a:noFill/>
        </p:spPr>
        <p:txBody>
          <a:bodyPr wrap="square" anchor="t" lIns="0" rIns="0" tIns="0" bIns="0">
            <a:spAutoFit/>
          </a:bodyPr>
          <a:lstStyle/>
          <a:p>
            <a:pPr algn="l"/>
            <a:r>
              <a:rPr sz="800" b="1">
                <a:solidFill>
                  <a:srgbClr val="23323B"/>
                </a:solidFill>
                <a:latin typeface="Arial"/>
                <a:ea typeface="Arial"/>
              </a:rPr>
              <a:t>移管</a:t>
            </a:r>
          </a:p>
        </p:txBody>
      </p:sp>
      <p:sp>
        <p:nvSpPr>
          <p:cNvPr id="161" name="Rectangle 160"/>
          <p:cNvSpPr/>
          <p:nvPr/>
        </p:nvSpPr>
        <p:spPr>
          <a:xfrm>
            <a:off x="635000" y="2308800"/>
            <a:ext cx="10919047"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50" b="1">
                <a:solidFill>
                  <a:srgbClr val="FFFFFF"/>
                </a:solidFill>
                <a:latin typeface="Arial"/>
                <a:ea typeface="Arial"/>
              </a:rPr>
              <a:t>担当BP</a:t>
            </a:r>
          </a:p>
        </p:txBody>
      </p:sp>
      <p:sp>
        <p:nvSpPr>
          <p:cNvPr id="162" name="Rectangle 161"/>
          <p:cNvSpPr/>
          <p:nvPr/>
        </p:nvSpPr>
        <p:spPr>
          <a:xfrm>
            <a:off x="635000" y="2537400"/>
            <a:ext cx="10919047" cy="22860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23323B"/>
                </a:solidFill>
                <a:latin typeface="Arial"/>
                <a:ea typeface="Arial"/>
              </a:rPr>
              <a:t>経費予算の移管</a:t>
            </a:r>
          </a:p>
        </p:txBody>
      </p:sp>
      <p:sp>
        <p:nvSpPr>
          <p:cNvPr id="163" name="TextBox 162"/>
          <p:cNvSpPr txBox="1"/>
          <p:nvPr/>
        </p:nvSpPr>
        <p:spPr>
          <a:xfrm>
            <a:off x="726440" y="27660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① ヒアリングシートを基に、移管対象の予算を特定する</a:t>
            </a:r>
          </a:p>
        </p:txBody>
      </p:sp>
      <p:sp>
        <p:nvSpPr>
          <p:cNvPr id="164" name="Rectangle 163"/>
          <p:cNvSpPr/>
          <p:nvPr/>
        </p:nvSpPr>
        <p:spPr>
          <a:xfrm>
            <a:off x="4664332" y="28160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5" name="Connector 164"/>
          <p:cNvCxnSpPr/>
          <p:nvPr/>
        </p:nvCxnSpPr>
        <p:spPr>
          <a:xfrm>
            <a:off x="635000" y="29946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66" name="TextBox 165"/>
          <p:cNvSpPr txBox="1"/>
          <p:nvPr/>
        </p:nvSpPr>
        <p:spPr>
          <a:xfrm>
            <a:off x="726440" y="29946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② 予算シートに転記する（対象外は除外、追加分は追記）</a:t>
            </a:r>
          </a:p>
        </p:txBody>
      </p:sp>
      <p:sp>
        <p:nvSpPr>
          <p:cNvPr id="167" name="Rectangle 166"/>
          <p:cNvSpPr/>
          <p:nvPr/>
        </p:nvSpPr>
        <p:spPr>
          <a:xfrm>
            <a:off x="4664332" y="30446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8" name="Connector 167"/>
          <p:cNvCxnSpPr/>
          <p:nvPr/>
        </p:nvCxnSpPr>
        <p:spPr>
          <a:xfrm>
            <a:off x="635000" y="32232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69" name="TextBox 168"/>
          <p:cNvSpPr txBox="1"/>
          <p:nvPr/>
        </p:nvSpPr>
        <p:spPr>
          <a:xfrm>
            <a:off x="726440" y="32232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③ ステータスを随時更新し、11月末に完了目処を報告する</a:t>
            </a:r>
          </a:p>
        </p:txBody>
      </p:sp>
      <p:sp>
        <p:nvSpPr>
          <p:cNvPr id="170" name="Rectangle 169"/>
          <p:cNvSpPr/>
          <p:nvPr/>
        </p:nvSpPr>
        <p:spPr>
          <a:xfrm>
            <a:off x="4664332" y="32732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Diamond 170"/>
          <p:cNvSpPr/>
          <p:nvPr/>
        </p:nvSpPr>
        <p:spPr>
          <a:xfrm>
            <a:off x="7134764" y="3257500"/>
            <a:ext cx="160000" cy="160000"/>
          </a:xfrm>
          <a:prstGeom prst="diamond">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2" name="Connector 171"/>
          <p:cNvCxnSpPr/>
          <p:nvPr/>
        </p:nvCxnSpPr>
        <p:spPr>
          <a:xfrm>
            <a:off x="635000" y="34518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73" name="TextBox 172"/>
          <p:cNvSpPr txBox="1"/>
          <p:nvPr/>
        </p:nvSpPr>
        <p:spPr>
          <a:xfrm>
            <a:off x="726440" y="34518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④ 契約・発注などの業務を引き継ぐ（開始時期はカウンターパートと協議）</a:t>
            </a:r>
          </a:p>
        </p:txBody>
      </p:sp>
      <p:sp>
        <p:nvSpPr>
          <p:cNvPr id="174" name="Rectangle 173"/>
          <p:cNvSpPr/>
          <p:nvPr/>
        </p:nvSpPr>
        <p:spPr>
          <a:xfrm>
            <a:off x="4664332" y="35018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5" name="Connector 174"/>
          <p:cNvCxnSpPr/>
          <p:nvPr/>
        </p:nvCxnSpPr>
        <p:spPr>
          <a:xfrm>
            <a:off x="635000" y="36804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76" name="Rectangle 175"/>
          <p:cNvSpPr/>
          <p:nvPr/>
        </p:nvSpPr>
        <p:spPr>
          <a:xfrm>
            <a:off x="635000" y="3680400"/>
            <a:ext cx="10919047" cy="22860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23323B"/>
                </a:solidFill>
                <a:latin typeface="Arial"/>
                <a:ea typeface="Arial"/>
              </a:rPr>
              <a:t>固定資産の移管</a:t>
            </a:r>
          </a:p>
        </p:txBody>
      </p:sp>
      <p:sp>
        <p:nvSpPr>
          <p:cNvPr id="177" name="TextBox 176"/>
          <p:cNvSpPr txBox="1"/>
          <p:nvPr/>
        </p:nvSpPr>
        <p:spPr>
          <a:xfrm>
            <a:off x="726440" y="39090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① 固定資産台帳を確認し、移管の時期（同時／順次）を特定する</a:t>
            </a:r>
          </a:p>
        </p:txBody>
      </p:sp>
      <p:sp>
        <p:nvSpPr>
          <p:cNvPr id="178" name="Rectangle 177"/>
          <p:cNvSpPr/>
          <p:nvPr/>
        </p:nvSpPr>
        <p:spPr>
          <a:xfrm>
            <a:off x="5301940" y="3959000"/>
            <a:ext cx="2368258"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9" name="Connector 178"/>
          <p:cNvCxnSpPr/>
          <p:nvPr/>
        </p:nvCxnSpPr>
        <p:spPr>
          <a:xfrm>
            <a:off x="635000" y="41376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80" name="TextBox 179"/>
          <p:cNvSpPr txBox="1"/>
          <p:nvPr/>
        </p:nvSpPr>
        <p:spPr>
          <a:xfrm>
            <a:off x="726440" y="41376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② 台帳の確認ステータスを更新する</a:t>
            </a:r>
          </a:p>
        </p:txBody>
      </p:sp>
      <p:sp>
        <p:nvSpPr>
          <p:cNvPr id="181" name="Rectangle 180"/>
          <p:cNvSpPr/>
          <p:nvPr/>
        </p:nvSpPr>
        <p:spPr>
          <a:xfrm>
            <a:off x="5301940" y="4187600"/>
            <a:ext cx="2368258"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2" name="Connector 181"/>
          <p:cNvCxnSpPr/>
          <p:nvPr/>
        </p:nvCxnSpPr>
        <p:spPr>
          <a:xfrm>
            <a:off x="635000" y="43662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83" name="Rectangle 182"/>
          <p:cNvSpPr/>
          <p:nvPr/>
        </p:nvSpPr>
        <p:spPr>
          <a:xfrm>
            <a:off x="635000" y="4457640"/>
            <a:ext cx="10919047"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50" b="1">
                <a:solidFill>
                  <a:srgbClr val="FFFFFF"/>
                </a:solidFill>
                <a:latin typeface="Arial"/>
                <a:ea typeface="Arial"/>
              </a:rPr>
              <a:t>S&amp;G（FinanceBP）</a:t>
            </a:r>
          </a:p>
        </p:txBody>
      </p:sp>
      <p:sp>
        <p:nvSpPr>
          <p:cNvPr id="184" name="TextBox 183"/>
          <p:cNvSpPr txBox="1"/>
          <p:nvPr/>
        </p:nvSpPr>
        <p:spPr>
          <a:xfrm>
            <a:off x="726440" y="46862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固定資産台帳を担当BPに提示する</a:t>
            </a:r>
          </a:p>
        </p:txBody>
      </p:sp>
      <p:sp>
        <p:nvSpPr>
          <p:cNvPr id="185" name="Rectangle 184"/>
          <p:cNvSpPr/>
          <p:nvPr/>
        </p:nvSpPr>
        <p:spPr>
          <a:xfrm>
            <a:off x="4664332" y="4736240"/>
            <a:ext cx="455434"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6" name="Connector 185"/>
          <p:cNvCxnSpPr/>
          <p:nvPr/>
        </p:nvCxnSpPr>
        <p:spPr>
          <a:xfrm>
            <a:off x="635000" y="49148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87" name="TextBox 186"/>
          <p:cNvSpPr txBox="1"/>
          <p:nvPr/>
        </p:nvSpPr>
        <p:spPr>
          <a:xfrm>
            <a:off x="726440" y="49148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予算シートと固定資産台帳のステータスで、全体の状況を把握する（随時）</a:t>
            </a:r>
          </a:p>
        </p:txBody>
      </p:sp>
      <p:sp>
        <p:nvSpPr>
          <p:cNvPr id="188" name="Rectangle 187"/>
          <p:cNvSpPr/>
          <p:nvPr/>
        </p:nvSpPr>
        <p:spPr>
          <a:xfrm>
            <a:off x="4664332" y="4964840"/>
            <a:ext cx="4007821" cy="128600"/>
          </a:xfrm>
          <a:prstGeom prst="rect">
            <a:avLst/>
          </a:prstGeom>
          <a:solidFill>
            <a:srgbClr val="B4BEC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onnector 188"/>
          <p:cNvCxnSpPr/>
          <p:nvPr/>
        </p:nvCxnSpPr>
        <p:spPr>
          <a:xfrm>
            <a:off x="635000" y="51434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0" name="TextBox 189"/>
          <p:cNvSpPr txBox="1"/>
          <p:nvPr/>
        </p:nvSpPr>
        <p:spPr>
          <a:xfrm>
            <a:off x="726440" y="51434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11月末の目処を受けて、移管対象を報告する</a:t>
            </a:r>
          </a:p>
        </p:txBody>
      </p:sp>
      <p:sp>
        <p:nvSpPr>
          <p:cNvPr id="191" name="Diamond 190"/>
          <p:cNvSpPr/>
          <p:nvPr/>
        </p:nvSpPr>
        <p:spPr>
          <a:xfrm>
            <a:off x="7316937" y="5177740"/>
            <a:ext cx="160000" cy="160000"/>
          </a:xfrm>
          <a:prstGeom prst="diamond">
            <a:avLst/>
          </a:prstGeom>
          <a:solidFill>
            <a:srgbClr val="23323B"/>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2" name="Connector 191"/>
          <p:cNvCxnSpPr/>
          <p:nvPr/>
        </p:nvCxnSpPr>
        <p:spPr>
          <a:xfrm>
            <a:off x="635000" y="53720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3" name="TextBox 192"/>
          <p:cNvSpPr txBox="1"/>
          <p:nvPr/>
        </p:nvSpPr>
        <p:spPr>
          <a:xfrm>
            <a:off x="726440" y="53720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稟議を準備する（申請単位・事前承認・関係者への連絡）</a:t>
            </a:r>
          </a:p>
        </p:txBody>
      </p:sp>
      <p:sp>
        <p:nvSpPr>
          <p:cNvPr id="194" name="Rectangle 193"/>
          <p:cNvSpPr/>
          <p:nvPr/>
        </p:nvSpPr>
        <p:spPr>
          <a:xfrm>
            <a:off x="7396937" y="5422040"/>
            <a:ext cx="910868"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5" name="Connector 194"/>
          <p:cNvCxnSpPr/>
          <p:nvPr/>
        </p:nvCxnSpPr>
        <p:spPr>
          <a:xfrm>
            <a:off x="635000" y="56006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6" name="TextBox 195"/>
          <p:cNvSpPr txBox="1"/>
          <p:nvPr/>
        </p:nvSpPr>
        <p:spPr>
          <a:xfrm>
            <a:off x="726440" y="56006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稟議を申請し、結果を担当BPに連携する</a:t>
            </a:r>
          </a:p>
        </p:txBody>
      </p:sp>
      <p:sp>
        <p:nvSpPr>
          <p:cNvPr id="197" name="Rectangle 196"/>
          <p:cNvSpPr/>
          <p:nvPr/>
        </p:nvSpPr>
        <p:spPr>
          <a:xfrm>
            <a:off x="8489980" y="5650640"/>
            <a:ext cx="182173"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8" name="Connector 197"/>
          <p:cNvCxnSpPr/>
          <p:nvPr/>
        </p:nvCxnSpPr>
        <p:spPr>
          <a:xfrm>
            <a:off x="635000" y="58292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9" name="TextBox 198"/>
          <p:cNvSpPr txBox="1"/>
          <p:nvPr/>
        </p:nvSpPr>
        <p:spPr>
          <a:xfrm>
            <a:off x="726440" y="58292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固定資産・減価償却費の移管手続きを順次行う</a:t>
            </a:r>
          </a:p>
        </p:txBody>
      </p:sp>
      <p:sp>
        <p:nvSpPr>
          <p:cNvPr id="200" name="Rectangle 199"/>
          <p:cNvSpPr/>
          <p:nvPr/>
        </p:nvSpPr>
        <p:spPr>
          <a:xfrm>
            <a:off x="7852372" y="5879240"/>
            <a:ext cx="3701675"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1" name="Connector 200"/>
          <p:cNvCxnSpPr/>
          <p:nvPr/>
        </p:nvCxnSpPr>
        <p:spPr>
          <a:xfrm>
            <a:off x="635000" y="60578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204" name="Rectangle 203"/>
          <p:cNvSpPr/>
          <p:nvPr/>
        </p:nvSpPr>
        <p:spPr>
          <a:xfrm>
            <a:off x="8034545" y="2811720"/>
            <a:ext cx="3519501" cy="822960"/>
          </a:xfrm>
          <a:prstGeom prst="rect">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5" name="TextBox 204"/>
          <p:cNvSpPr txBox="1"/>
          <p:nvPr/>
        </p:nvSpPr>
        <p:spPr>
          <a:xfrm>
            <a:off x="8125985" y="2857440"/>
            <a:ext cx="3336621" cy="731520"/>
          </a:xfrm>
          <a:prstGeom prst="rect">
            <a:avLst/>
          </a:prstGeom>
          <a:noFill/>
        </p:spPr>
        <p:txBody>
          <a:bodyPr wrap="square" lIns="0" rIns="0" tIns="0" bIns="0">
            <a:spAutoFit/>
          </a:bodyPr>
          <a:lstStyle/>
          <a:p>
            <a:pPr>
              <a:spcAft>
                <a:spcPts val="200"/>
              </a:spcAft>
            </a:pPr>
            <a:r>
              <a:rPr sz="900" b="1">
                <a:solidFill>
                  <a:srgbClr val="23323B"/>
                </a:solidFill>
                <a:latin typeface="Arial"/>
                <a:ea typeface="Arial"/>
              </a:rPr>
              <a:t>完了の定義（12月末時点）</a:t>
            </a:r>
          </a:p>
          <a:p>
            <a:pPr>
              <a:spcAft>
                <a:spcPts val="200"/>
              </a:spcAft>
            </a:pPr>
            <a:r>
              <a:rPr sz="850" b="0">
                <a:solidFill>
                  <a:srgbClr val="404040"/>
                </a:solidFill>
                <a:latin typeface="Arial"/>
                <a:ea typeface="Arial"/>
              </a:rPr>
              <a:t>① 移管対象の予算が、移管元と合意されている</a:t>
            </a:r>
          </a:p>
          <a:p>
            <a:pPr>
              <a:spcAft>
                <a:spcPts val="200"/>
              </a:spcAft>
            </a:pPr>
            <a:r>
              <a:rPr sz="850" b="0">
                <a:solidFill>
                  <a:srgbClr val="404040"/>
                </a:solidFill>
                <a:latin typeface="Arial"/>
                <a:ea typeface="Arial"/>
              </a:rPr>
              <a:t>② 移管対象の予算が、予算シートに漏れなく記載されている</a:t>
            </a:r>
          </a:p>
          <a:p>
            <a:pPr>
              <a:spcAft>
                <a:spcPts val="200"/>
              </a:spcAft>
            </a:pPr>
            <a:r>
              <a:rPr sz="850" b="0">
                <a:solidFill>
                  <a:srgbClr val="404040"/>
                </a:solidFill>
                <a:latin typeface="Arial"/>
                <a:ea typeface="Arial"/>
              </a:rPr>
              <a:t>③ 移管対象の予算に紐づく業務の引き継ぎを開始している</a:t>
            </a:r>
          </a:p>
        </p:txBody>
      </p:sp>
      <p:sp>
        <p:nvSpPr>
          <p:cNvPr id="206" name="Rectangle 205"/>
          <p:cNvSpPr/>
          <p:nvPr/>
        </p:nvSpPr>
        <p:spPr>
          <a:xfrm>
            <a:off x="8034545" y="3726120"/>
            <a:ext cx="3519501" cy="594360"/>
          </a:xfrm>
          <a:prstGeom prst="rect">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TextBox 206"/>
          <p:cNvSpPr txBox="1"/>
          <p:nvPr/>
        </p:nvSpPr>
        <p:spPr>
          <a:xfrm>
            <a:off x="8125985" y="3771840"/>
            <a:ext cx="3336621" cy="502920"/>
          </a:xfrm>
          <a:prstGeom prst="rect">
            <a:avLst/>
          </a:prstGeom>
          <a:noFill/>
        </p:spPr>
        <p:txBody>
          <a:bodyPr wrap="square" lIns="0" rIns="0" tIns="0" bIns="0">
            <a:spAutoFit/>
          </a:bodyPr>
          <a:lstStyle/>
          <a:p>
            <a:pPr>
              <a:spcAft>
                <a:spcPts val="200"/>
              </a:spcAft>
            </a:pPr>
            <a:r>
              <a:rPr sz="900" b="1">
                <a:solidFill>
                  <a:srgbClr val="23323B"/>
                </a:solidFill>
                <a:latin typeface="Arial"/>
                <a:ea typeface="Arial"/>
              </a:rPr>
              <a:t>完了の定義（12月末時点）</a:t>
            </a:r>
          </a:p>
          <a:p>
            <a:pPr>
              <a:spcAft>
                <a:spcPts val="200"/>
              </a:spcAft>
            </a:pPr>
            <a:r>
              <a:rPr sz="850" b="0">
                <a:solidFill>
                  <a:srgbClr val="404040"/>
                </a:solidFill>
                <a:latin typeface="Arial"/>
                <a:ea typeface="Arial"/>
              </a:rPr>
              <a:t>① 移管対象の固定資産と移管の時期が特定されている</a:t>
            </a:r>
          </a:p>
          <a:p>
            <a:pPr>
              <a:spcAft>
                <a:spcPts val="200"/>
              </a:spcAft>
            </a:pPr>
            <a:r>
              <a:rPr sz="850" b="0">
                <a:solidFill>
                  <a:srgbClr val="404040"/>
                </a:solidFill>
                <a:latin typeface="Arial"/>
                <a:ea typeface="Arial"/>
              </a:rPr>
              <a:t>② 移管対象の固定資産の、来期以降の取り扱いを理解している</a:t>
            </a:r>
          </a:p>
        </p:txBody>
      </p:sp>
      <p:sp>
        <p:nvSpPr>
          <p:cNvPr id="208" name="Rectangle 207"/>
          <p:cNvSpPr/>
          <p:nvPr/>
        </p:nvSpPr>
        <p:spPr>
          <a:xfrm>
            <a:off x="8854327" y="4731960"/>
            <a:ext cx="2699719" cy="1051560"/>
          </a:xfrm>
          <a:prstGeom prst="rect">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8945767" y="4777680"/>
            <a:ext cx="2516839" cy="960120"/>
          </a:xfrm>
          <a:prstGeom prst="rect">
            <a:avLst/>
          </a:prstGeom>
          <a:noFill/>
        </p:spPr>
        <p:txBody>
          <a:bodyPr wrap="square" lIns="0" rIns="0" tIns="0" bIns="0">
            <a:spAutoFit/>
          </a:bodyPr>
          <a:lstStyle/>
          <a:p>
            <a:pPr>
              <a:spcAft>
                <a:spcPts val="200"/>
              </a:spcAft>
            </a:pPr>
            <a:r>
              <a:rPr sz="900" b="1">
                <a:solidFill>
                  <a:srgbClr val="23323B"/>
                </a:solidFill>
                <a:latin typeface="Arial"/>
                <a:ea typeface="Arial"/>
              </a:rPr>
              <a:t>完了の定義（12月末時点）</a:t>
            </a:r>
          </a:p>
          <a:p>
            <a:pPr>
              <a:spcAft>
                <a:spcPts val="200"/>
              </a:spcAft>
            </a:pPr>
            <a:r>
              <a:rPr sz="850" b="0">
                <a:solidFill>
                  <a:srgbClr val="404040"/>
                </a:solidFill>
                <a:latin typeface="Arial"/>
                <a:ea typeface="Arial"/>
              </a:rPr>
              <a:t>① 移管の稟議が承認されている</a:t>
            </a:r>
          </a:p>
          <a:p>
            <a:pPr>
              <a:spcAft>
                <a:spcPts val="200"/>
              </a:spcAft>
            </a:pPr>
            <a:r>
              <a:rPr sz="850" b="0">
                <a:solidFill>
                  <a:srgbClr val="404040"/>
                </a:solidFill>
                <a:latin typeface="Arial"/>
                <a:ea typeface="Arial"/>
              </a:rPr>
              <a:t>② 結果が担当BPに連携されている</a:t>
            </a:r>
          </a:p>
          <a:p>
            <a:pPr>
              <a:spcAft>
                <a:spcPts val="200"/>
              </a:spcAft>
            </a:pPr>
            <a:r>
              <a:rPr sz="850" b="0">
                <a:solidFill>
                  <a:srgbClr val="404040"/>
                </a:solidFill>
                <a:latin typeface="Arial"/>
                <a:ea typeface="Arial"/>
              </a:rPr>
              <a:t>③ 固定資産の移管手続きを開始している</a:t>
            </a:r>
          </a:p>
        </p:txBody>
      </p:sp>
      <p:sp>
        <p:nvSpPr>
          <p:cNvPr id="210" name="TextBox 209"/>
          <p:cNvSpPr txBox="1"/>
          <p:nvPr/>
        </p:nvSpPr>
        <p:spPr>
          <a:xfrm>
            <a:off x="635000" y="889000"/>
            <a:ext cx="10922000" cy="560000"/>
          </a:xfrm>
          <a:prstGeom prst="rect">
            <a:avLst/>
          </a:prstGeom>
          <a:noFill/>
        </p:spPr>
        <p:txBody>
          <a:bodyPr wrap="square" lIns="0" rIns="0" tIns="0" bIns="0">
            <a:spAutoFit/>
          </a:bodyPr>
          <a:lstStyle/>
          <a:p>
            <a:r>
              <a:rPr sz="1400" b="1">
                <a:solidFill>
                  <a:srgbClr val="404040"/>
                </a:solidFill>
                <a:latin typeface="Arial"/>
                <a:ea typeface="Arial"/>
              </a:rPr>
              <a:t>年内に発注が必要な案件は、予算移管を待たずに可能な範囲で手続きを始める</a:t>
            </a:r>
          </a:p>
          <a:p>
            <a:r>
              <a:rPr sz="1400" b="1">
                <a:solidFill>
                  <a:srgbClr val="404040"/>
                </a:solidFill>
                <a:latin typeface="Arial"/>
                <a:ea typeface="Arial"/>
              </a:rPr>
              <a:t>契約の名義変更は適切な時期に行えばよく、予算移管と同時である必要はない</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302" name="it-region"/>
          <p:cNvSpPr/>
          <p:nvPr/>
        </p:nvSpPr>
        <p:spPr>
          <a:xfrm>
            <a:off x="1060704" y="2600528"/>
            <a:ext cx="10058400" cy="2105856"/>
          </a:xfrm>
          <a:prstGeom prst="roundRect">
            <a:avLst>
              <a:gd name="adj" fmla="val 6000"/>
            </a:avLst>
          </a:prstGeom>
          <a:solidFill>
            <a:srgbClr val="D3DFEA"/>
          </a:solidFill>
          <a:ln w="12700">
            <a:solidFill>
              <a:srgbClr val="23323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Google Shape;203;p10"/>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移管後の役割分担（RACI）</a:t>
            </a:r>
            <a:endParaRPr sz="2400" b="1">
              <a:solidFill>
                <a:srgbClr val="23323B"/>
              </a:solidFill>
            </a:endParaRPr>
          </a:p>
        </p:txBody>
      </p:sp>
      <p:sp>
        <p:nvSpPr>
          <p:cNvPr id="204" name="Google Shape;204;p10"/>
          <p:cNvSpPr txBox="1"/>
          <p:nvPr/>
        </p:nvSpPr>
        <p:spPr>
          <a:xfrm>
            <a:off x="635000" y="889000"/>
            <a:ext cx="109220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400"/>
              <a:buFont typeface="Arial"/>
              <a:buNone/>
            </a:pPr>
            <a:r>
              <a:rPr b="1" i="0" lang="en-US" sz="1400" u="none" cap="none" strike="noStrike">
                <a:solidFill>
                  <a:srgbClr val="404040"/>
                </a:solidFill>
                <a:latin typeface="Arial"/>
                <a:ea typeface="Arial"/>
                <a:cs typeface="Arial"/>
                <a:sym typeface="Arial"/>
              </a:rPr>
              <a:t>IT領域は、GDSと各ファンクションが連携・協働して進め、GDSのリードで全社共通と個別最適のバランスをとる</a:t>
            </a:r>
            <a:endParaRPr b="1" i="0" sz="1400" u="none" cap="none" strike="noStrike">
              <a:solidFill>
                <a:srgbClr val="404040"/>
              </a:solidFill>
              <a:latin typeface="Arial"/>
              <a:ea typeface="Arial"/>
              <a:cs typeface="Arial"/>
              <a:sym typeface="Arial"/>
            </a:endParaRPr>
          </a:p>
          <a:p>
            <a:pPr indent="0" lvl="0" marL="0" marR="0" rtl="0" algn="l">
              <a:spcBef>
                <a:spcPts val="0"/>
              </a:spcBef>
              <a:spcAft>
                <a:spcPts val="0"/>
              </a:spcAft>
              <a:buClr>
                <a:srgbClr val="23323B"/>
              </a:buClr>
              <a:buSzPts val="1400"/>
              <a:buFont typeface="Arial"/>
              <a:buNone/>
            </a:pPr>
            <a:r>
              <a:rPr b="0" i="0" lang="en-US" sz="1200" u="none" cap="none" strike="noStrike">
                <a:solidFill>
                  <a:srgbClr val="404040"/>
                </a:solidFill>
                <a:latin typeface="Arial"/>
                <a:ea typeface="Arial"/>
                <a:cs typeface="Arial"/>
                <a:sym typeface="Arial"/>
              </a:rPr>
              <a:t>ただし、ある部門に閉じた案件は、従来どおり各ファンクションがリードし、GDSが支援する</a:t>
            </a:r>
            <a:endParaRPr b="1" i="0" sz="1400" u="none" cap="none" strike="noStrike">
              <a:solidFill>
                <a:srgbClr val="404040"/>
              </a:solidFill>
              <a:latin typeface="Arial"/>
              <a:ea typeface="Arial"/>
              <a:cs typeface="Arial"/>
              <a:sym typeface="Arial"/>
            </a:endParaRPr>
          </a:p>
        </p:txBody>
      </p:sp>
      <p:sp>
        <p:nvSpPr>
          <p:cNvPr id="249" name="Google Shape;249;p10"/>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250" name="act-req-arc"/>
          <p:cNvSpPr/>
          <p:nvPr/>
        </p:nvSpPr>
        <p:spPr>
          <a:xfrm>
            <a:off x="694943" y="1901951"/>
            <a:ext cx="7863840" cy="4352544"/>
          </a:xfrm>
          <a:prstGeom prst="arc">
            <a:avLst>
              <a:gd name="adj1" fmla="val 9780079"/>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act-review-arc"/>
          <p:cNvSpPr/>
          <p:nvPr/>
        </p:nvSpPr>
        <p:spPr>
          <a:xfrm>
            <a:off x="3621024" y="1901951"/>
            <a:ext cx="7863840" cy="4352544"/>
          </a:xfrm>
          <a:prstGeom prst="arc">
            <a:avLst>
              <a:gd name="adj1" fmla="val 16200000"/>
              <a:gd name="adj2" fmla="val 1019921"/>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 name="act-itstrategy"/>
          <p:cNvCxnSpPr/>
          <p:nvPr/>
        </p:nvCxnSpPr>
        <p:spPr>
          <a:xfrm>
            <a:off x="6089904" y="2267712"/>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3" name="act-policy"/>
          <p:cNvCxnSpPr/>
          <p:nvPr/>
        </p:nvCxnSpPr>
        <p:spPr>
          <a:xfrm>
            <a:off x="6089904" y="3432048"/>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4" name="act-reqdef"/>
          <p:cNvCxnSpPr/>
          <p:nvPr/>
        </p:nvCxnSpPr>
        <p:spPr>
          <a:xfrm flipV="1">
            <a:off x="2478024" y="459638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5" name="act-solution"/>
          <p:cNvCxnSpPr/>
          <p:nvPr/>
        </p:nvCxnSpPr>
        <p:spPr>
          <a:xfrm>
            <a:off x="3712464" y="423062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6" name="act-vendor"/>
          <p:cNvCxnSpPr/>
          <p:nvPr/>
        </p:nvCxnSpPr>
        <p:spPr>
          <a:xfrm>
            <a:off x="7324344" y="423062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7" name="act-benefit"/>
          <p:cNvCxnSpPr/>
          <p:nvPr/>
        </p:nvCxnSpPr>
        <p:spPr>
          <a:xfrm>
            <a:off x="9701784" y="459638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8" name="act-nfr"/>
          <p:cNvSpPr/>
          <p:nvPr/>
        </p:nvSpPr>
        <p:spPr>
          <a:xfrm>
            <a:off x="2926080" y="3066288"/>
            <a:ext cx="3401567" cy="1484376"/>
          </a:xfrm>
          <a:prstGeom prst="arc">
            <a:avLst>
              <a:gd name="adj1" fmla="val 10800000"/>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act-sourcing"/>
          <p:cNvSpPr/>
          <p:nvPr/>
        </p:nvSpPr>
        <p:spPr>
          <a:xfrm>
            <a:off x="5852160" y="3066288"/>
            <a:ext cx="3401567" cy="1484376"/>
          </a:xfrm>
          <a:prstGeom prst="arc">
            <a:avLst>
              <a:gd name="adj1" fmla="val 16200000"/>
              <a:gd name="adj2" fmla="val 21600000"/>
            </a:avLst>
          </a:prstGeom>
          <a:noFill/>
          <a:ln w="19050">
            <a:solidFill>
              <a:srgbClr val="7F7F7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O-Strategy"/>
          <p:cNvSpPr/>
          <p:nvPr/>
        </p:nvSpPr>
        <p:spPr>
          <a:xfrm>
            <a:off x="4626864" y="1536192"/>
            <a:ext cx="29260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754879" y="1618488"/>
            <a:ext cx="21031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ビジネス戦略</a:t>
            </a:r>
          </a:p>
        </p:txBody>
      </p:sp>
      <p:sp>
        <p:nvSpPr>
          <p:cNvPr id="262" name="Rounded Rectangle 261"/>
          <p:cNvSpPr/>
          <p:nvPr/>
        </p:nvSpPr>
        <p:spPr>
          <a:xfrm>
            <a:off x="6912863" y="16367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63" name="TextBox 262"/>
          <p:cNvSpPr txBox="1"/>
          <p:nvPr/>
        </p:nvSpPr>
        <p:spPr>
          <a:xfrm>
            <a:off x="4754879" y="1892807"/>
            <a:ext cx="2670048" cy="292608"/>
          </a:xfrm>
          <a:prstGeom prst="rect">
            <a:avLst/>
          </a:prstGeom>
          <a:noFill/>
        </p:spPr>
        <p:txBody>
          <a:bodyPr wrap="square" lIns="0" rIns="0" tIns="0" bIns="0" anchor="t">
            <a:spAutoFit/>
          </a:bodyPr>
          <a:lstStyle/>
          <a:p>
            <a:pPr algn="l"/>
            <a:r>
              <a:rPr sz="850" b="0">
                <a:solidFill>
                  <a:srgbClr val="404040"/>
                </a:solidFill>
                <a:latin typeface="Arial"/>
                <a:ea typeface="Arial"/>
              </a:rPr>
              <a:t>事業の方向を決め、その実現のために IT に期待することを示す</a:t>
            </a:r>
          </a:p>
        </p:txBody>
      </p:sp>
      <p:sp>
        <p:nvSpPr>
          <p:cNvPr id="264" name="SO-Strategy"/>
          <p:cNvSpPr/>
          <p:nvPr/>
        </p:nvSpPr>
        <p:spPr>
          <a:xfrm>
            <a:off x="4626864" y="2700528"/>
            <a:ext cx="29260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754879" y="2782824"/>
            <a:ext cx="2103120" cy="237744"/>
          </a:xfrm>
          <a:prstGeom prst="rect">
            <a:avLst/>
          </a:prstGeom>
          <a:noFill/>
        </p:spPr>
        <p:txBody>
          <a:bodyPr wrap="square" lIns="0" rIns="0" tIns="0" bIns="0" anchor="t">
            <a:spAutoFit/>
          </a:bodyPr>
          <a:lstStyle/>
          <a:p>
            <a:pPr algn="l"/>
            <a:r>
              <a:rPr sz="1150" b="1">
                <a:solidFill>
                  <a:srgbClr val="FFFFFF"/>
                </a:solidFill>
                <a:latin typeface="Arial"/>
                <a:ea typeface="Arial"/>
              </a:rPr>
              <a:t>IT戦略</a:t>
            </a:r>
          </a:p>
        </p:txBody>
      </p:sp>
      <p:sp>
        <p:nvSpPr>
          <p:cNvPr id="266" name="Rounded Rectangle 265"/>
          <p:cNvSpPr/>
          <p:nvPr/>
        </p:nvSpPr>
        <p:spPr>
          <a:xfrm>
            <a:off x="6912863" y="2801112"/>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67" name="TextBox 266"/>
          <p:cNvSpPr txBox="1"/>
          <p:nvPr/>
        </p:nvSpPr>
        <p:spPr>
          <a:xfrm>
            <a:off x="4754879" y="3057144"/>
            <a:ext cx="2670048" cy="292608"/>
          </a:xfrm>
          <a:prstGeom prst="rect">
            <a:avLst/>
          </a:prstGeom>
          <a:noFill/>
        </p:spPr>
        <p:txBody>
          <a:bodyPr wrap="square" lIns="0" rIns="0" tIns="0" bIns="0" anchor="t">
            <a:spAutoFit/>
          </a:bodyPr>
          <a:lstStyle/>
          <a:p>
            <a:pPr algn="l"/>
            <a:r>
              <a:rPr sz="850" b="0">
                <a:solidFill>
                  <a:srgbClr val="FFFFFF"/>
                </a:solidFill>
                <a:latin typeface="Arial"/>
                <a:ea typeface="Arial"/>
              </a:rPr>
              <a:t>事業の方向を IT で実現するために、IT投資の方針と全社の共通基盤を決める</a:t>
            </a:r>
          </a:p>
        </p:txBody>
      </p:sp>
      <p:sp>
        <p:nvSpPr>
          <p:cNvPr id="268" name="SO-SysReq"/>
          <p:cNvSpPr/>
          <p:nvPr/>
        </p:nvSpPr>
        <p:spPr>
          <a:xfrm>
            <a:off x="1243584" y="3864864"/>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71600" y="3947160"/>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システム要件</a:t>
            </a:r>
          </a:p>
        </p:txBody>
      </p:sp>
      <p:sp>
        <p:nvSpPr>
          <p:cNvPr id="270" name="Rounded Rectangle 269"/>
          <p:cNvSpPr/>
          <p:nvPr/>
        </p:nvSpPr>
        <p:spPr>
          <a:xfrm>
            <a:off x="3072384" y="396544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71" name="TextBox 270"/>
          <p:cNvSpPr txBox="1"/>
          <p:nvPr/>
        </p:nvSpPr>
        <p:spPr>
          <a:xfrm>
            <a:off x="1371600" y="4221480"/>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ビジネス要件を実現するために、機能・非機能・移行の要件を決める</a:t>
            </a:r>
          </a:p>
        </p:txBody>
      </p:sp>
      <p:sp>
        <p:nvSpPr>
          <p:cNvPr id="272" name="SO-Solution"/>
          <p:cNvSpPr/>
          <p:nvPr/>
        </p:nvSpPr>
        <p:spPr>
          <a:xfrm>
            <a:off x="4855464" y="3864864"/>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983479" y="3947160"/>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ソリューション</a:t>
            </a:r>
          </a:p>
        </p:txBody>
      </p:sp>
      <p:sp>
        <p:nvSpPr>
          <p:cNvPr id="274" name="Rounded Rectangle 273"/>
          <p:cNvSpPr/>
          <p:nvPr/>
        </p:nvSpPr>
        <p:spPr>
          <a:xfrm>
            <a:off x="6684264" y="396544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75" name="TextBox 274"/>
          <p:cNvSpPr txBox="1"/>
          <p:nvPr/>
        </p:nvSpPr>
        <p:spPr>
          <a:xfrm>
            <a:off x="4983479" y="4221480"/>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要件と全社方針に合う実現手段（SaaS・パッケージ・個別開発）を選ぶ</a:t>
            </a:r>
          </a:p>
        </p:txBody>
      </p:sp>
      <p:sp>
        <p:nvSpPr>
          <p:cNvPr id="276" name="SO-Vendor"/>
          <p:cNvSpPr/>
          <p:nvPr/>
        </p:nvSpPr>
        <p:spPr>
          <a:xfrm>
            <a:off x="8467344" y="3864864"/>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595360" y="3947160"/>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ベンダー</a:t>
            </a:r>
          </a:p>
        </p:txBody>
      </p:sp>
      <p:sp>
        <p:nvSpPr>
          <p:cNvPr id="278" name="Rounded Rectangle 277"/>
          <p:cNvSpPr/>
          <p:nvPr/>
        </p:nvSpPr>
        <p:spPr>
          <a:xfrm>
            <a:off x="10296144" y="396544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79" name="TextBox 278"/>
          <p:cNvSpPr txBox="1"/>
          <p:nvPr/>
        </p:nvSpPr>
        <p:spPr>
          <a:xfrm>
            <a:off x="8595360" y="4221480"/>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提案と見積を比べて供給者を選び、選定後の実績とリスクを管理する</a:t>
            </a:r>
          </a:p>
        </p:txBody>
      </p:sp>
      <p:sp>
        <p:nvSpPr>
          <p:cNvPr id="280" name="PO-BizReq"/>
          <p:cNvSpPr/>
          <p:nvPr/>
        </p:nvSpPr>
        <p:spPr>
          <a:xfrm>
            <a:off x="1243584" y="502920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371600" y="5111496"/>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ビジネス要件</a:t>
            </a:r>
          </a:p>
        </p:txBody>
      </p:sp>
      <p:sp>
        <p:nvSpPr>
          <p:cNvPr id="282" name="Rounded Rectangle 281"/>
          <p:cNvSpPr/>
          <p:nvPr/>
        </p:nvSpPr>
        <p:spPr>
          <a:xfrm>
            <a:off x="3072384" y="512978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83" name="TextBox 282"/>
          <p:cNvSpPr txBox="1"/>
          <p:nvPr/>
        </p:nvSpPr>
        <p:spPr>
          <a:xfrm>
            <a:off x="1371600" y="538581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業務で達成したい成果を明確にし、業務要件と優先順位を決める</a:t>
            </a:r>
          </a:p>
        </p:txBody>
      </p:sp>
      <p:sp>
        <p:nvSpPr>
          <p:cNvPr id="284" name="PO-Benefits"/>
          <p:cNvSpPr/>
          <p:nvPr/>
        </p:nvSpPr>
        <p:spPr>
          <a:xfrm>
            <a:off x="8467344" y="502920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595360" y="5111496"/>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ビジネス効果</a:t>
            </a:r>
          </a:p>
        </p:txBody>
      </p:sp>
      <p:sp>
        <p:nvSpPr>
          <p:cNvPr id="286" name="Rounded Rectangle 285"/>
          <p:cNvSpPr/>
          <p:nvPr/>
        </p:nvSpPr>
        <p:spPr>
          <a:xfrm>
            <a:off x="10296144" y="512978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87" name="TextBox 286"/>
          <p:cNvSpPr txBox="1"/>
          <p:nvPr/>
        </p:nvSpPr>
        <p:spPr>
          <a:xfrm>
            <a:off x="8595360" y="538581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投資の効果を確かめるために、KPIの実績を測り、阻害要因を特定する</a:t>
            </a:r>
          </a:p>
        </p:txBody>
      </p:sp>
      <p:sp>
        <p:nvSpPr>
          <p:cNvPr id="288" name="lbl-req"/>
          <p:cNvSpPr/>
          <p:nvPr/>
        </p:nvSpPr>
        <p:spPr>
          <a:xfrm>
            <a:off x="210000" y="4738560"/>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事業の方向・課題</a:t>
            </a:r>
          </a:p>
        </p:txBody>
      </p:sp>
      <p:sp>
        <p:nvSpPr>
          <p:cNvPr id="289" name="lbl-review"/>
          <p:cNvSpPr/>
          <p:nvPr/>
        </p:nvSpPr>
        <p:spPr>
          <a:xfrm>
            <a:off x="11120000" y="4738560"/>
            <a:ext cx="66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KPIの実績</a:t>
            </a:r>
          </a:p>
        </p:txBody>
      </p:sp>
      <p:sp>
        <p:nvSpPr>
          <p:cNvPr id="290" name="lbl-itstrategy"/>
          <p:cNvSpPr/>
          <p:nvPr/>
        </p:nvSpPr>
        <p:spPr>
          <a:xfrm>
            <a:off x="5729903" y="2392680"/>
            <a:ext cx="72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ITへの期待</a:t>
            </a:r>
          </a:p>
        </p:txBody>
      </p:sp>
      <p:sp>
        <p:nvSpPr>
          <p:cNvPr id="291" name="lbl-policy"/>
          <p:cNvSpPr/>
          <p:nvPr/>
        </p:nvSpPr>
        <p:spPr>
          <a:xfrm>
            <a:off x="4824904" y="3478454"/>
            <a:ext cx="2530000" cy="34000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アーキテクチャ方針</a:t>
            </a:r>
          </a:p>
          <a:p>
            <a:pPr algn="ctr"/>
            <a:r>
              <a:rPr sz="850" b="1">
                <a:solidFill>
                  <a:srgbClr val="23323B"/>
                </a:solidFill>
                <a:latin typeface="Arial"/>
                <a:ea typeface="Arial"/>
              </a:rPr>
              <a:t>（テクノロジー・データ・セキュリティ）</a:t>
            </a:r>
          </a:p>
        </p:txBody>
      </p:sp>
      <p:sp>
        <p:nvSpPr>
          <p:cNvPr id="292" name="lbl-reqdef"/>
          <p:cNvSpPr/>
          <p:nvPr/>
        </p:nvSpPr>
        <p:spPr>
          <a:xfrm>
            <a:off x="1863023" y="4721352"/>
            <a:ext cx="123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業務要件・優先順位</a:t>
            </a:r>
          </a:p>
        </p:txBody>
      </p:sp>
      <p:sp>
        <p:nvSpPr>
          <p:cNvPr id="293" name="lbl-solution"/>
          <p:cNvSpPr/>
          <p:nvPr/>
        </p:nvSpPr>
        <p:spPr>
          <a:xfrm>
            <a:off x="3928963" y="4139184"/>
            <a:ext cx="710000" cy="18288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要件定義書</a:t>
            </a:r>
          </a:p>
        </p:txBody>
      </p:sp>
      <p:sp>
        <p:nvSpPr>
          <p:cNvPr id="294" name="lbl-vendor"/>
          <p:cNvSpPr/>
          <p:nvPr/>
        </p:nvSpPr>
        <p:spPr>
          <a:xfrm>
            <a:off x="7540843" y="4139184"/>
            <a:ext cx="710000" cy="18288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提案依頼書</a:t>
            </a:r>
          </a:p>
        </p:txBody>
      </p:sp>
      <p:sp>
        <p:nvSpPr>
          <p:cNvPr id="295" name="lbl-benefit"/>
          <p:cNvSpPr/>
          <p:nvPr/>
        </p:nvSpPr>
        <p:spPr>
          <a:xfrm>
            <a:off x="9151783" y="4721352"/>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稼働したシステム</a:t>
            </a:r>
          </a:p>
        </p:txBody>
      </p:sp>
      <p:sp>
        <p:nvSpPr>
          <p:cNvPr id="296" name="lbl-nfr"/>
          <p:cNvSpPr/>
          <p:nvPr/>
        </p:nvSpPr>
        <p:spPr>
          <a:xfrm>
            <a:off x="2954228" y="3097154"/>
            <a:ext cx="940000" cy="34000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開発標準</a:t>
            </a:r>
          </a:p>
          <a:p>
            <a:pPr algn="ctr"/>
            <a:r>
              <a:rPr sz="850" b="1">
                <a:solidFill>
                  <a:srgbClr val="23323B"/>
                </a:solidFill>
                <a:latin typeface="Arial"/>
                <a:ea typeface="Arial"/>
              </a:rPr>
              <a:t>（SDLC・CSV）</a:t>
            </a:r>
          </a:p>
        </p:txBody>
      </p:sp>
      <p:sp>
        <p:nvSpPr>
          <p:cNvPr id="297" name="lbl-sourcing"/>
          <p:cNvSpPr/>
          <p:nvPr/>
        </p:nvSpPr>
        <p:spPr>
          <a:xfrm>
            <a:off x="7650000" y="3097154"/>
            <a:ext cx="2530000" cy="34000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ソーシング方針</a:t>
            </a:r>
          </a:p>
          <a:p>
            <a:pPr algn="ctr"/>
            <a:r>
              <a:rPr sz="850" b="1">
                <a:solidFill>
                  <a:srgbClr val="23323B"/>
                </a:solidFill>
                <a:latin typeface="Arial"/>
                <a:ea typeface="Arial"/>
              </a:rPr>
              <a:t>（内製・外注・オフショア／ニアショア）</a:t>
            </a:r>
          </a:p>
        </p:txBody>
      </p:sp>
      <p:sp>
        <p:nvSpPr>
          <p:cNvPr id="298" name="Rounded Rectangle 297"/>
          <p:cNvSpPr/>
          <p:nvPr/>
        </p:nvSpPr>
        <p:spPr>
          <a:xfrm>
            <a:off x="630936" y="1572768"/>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99" name="TextBox 298"/>
          <p:cNvSpPr txBox="1"/>
          <p:nvPr/>
        </p:nvSpPr>
        <p:spPr>
          <a:xfrm>
            <a:off x="1216152" y="15727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R・A：各ファンクション</a:t>
            </a:r>
          </a:p>
        </p:txBody>
      </p:sp>
      <p:sp>
        <p:nvSpPr>
          <p:cNvPr id="300" name="Rounded Rectangle 299"/>
          <p:cNvSpPr/>
          <p:nvPr/>
        </p:nvSpPr>
        <p:spPr>
          <a:xfrm>
            <a:off x="630936" y="180136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301" name="TextBox 300"/>
          <p:cNvSpPr txBox="1"/>
          <p:nvPr/>
        </p:nvSpPr>
        <p:spPr>
          <a:xfrm>
            <a:off x="1216152" y="18013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R・A：GDS　C：各ファンクション</a:t>
            </a:r>
          </a:p>
        </p:txBody>
      </p:sp>
      <p:sp>
        <p:nvSpPr>
          <p:cNvPr id="303" name="it-region-cap"/>
          <p:cNvSpPr txBox="1"/>
          <p:nvPr/>
        </p:nvSpPr>
        <p:spPr>
          <a:xfrm>
            <a:off x="2560320" y="2691968"/>
            <a:ext cx="1600000" cy="182880"/>
          </a:xfrm>
          <a:prstGeom prst="rect">
            <a:avLst/>
          </a:prstGeom>
          <a:noFill/>
        </p:spPr>
        <p:txBody>
          <a:bodyPr wrap="none" lIns="0" tIns="0" rIns="0" bIns="0">
            <a:spAutoFit/>
          </a:bodyPr>
          <a:lstStyle/>
          <a:p>
            <a:r>
              <a:rPr sz="900" b="1">
                <a:solidFill>
                  <a:srgbClr val="23323B"/>
                </a:solidFill>
                <a:latin typeface="Arial"/>
              </a:rPr>
              <a:t>IT主導の領域</a:t>
            </a:r>
          </a:p>
        </p:txBody>
      </p:sp>
      <p:sp>
        <p:nvSpPr>
          <p:cNvPr id="304" name="Rectangle 303"/>
          <p:cNvSpPr/>
          <p:nvPr/>
        </p:nvSpPr>
        <p:spPr>
          <a:xfrm>
            <a:off x="630936" y="5943600"/>
            <a:ext cx="10917936" cy="420624"/>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lIns="182880"/>
          <a:lstStyle/>
          <a:p>
            <a:pPr algn="l"/>
            <a:r>
              <a:rPr sz="1250" b="1">
                <a:solidFill>
                  <a:srgbClr val="FFFFFF"/>
                </a:solidFill>
                <a:latin typeface="Arial"/>
                <a:ea typeface="Arial"/>
              </a:rPr>
              <a:t>移管した予算に伴う間接業務（予算管理・契約管理・発注・支払）は、GDSが責任を持って管理・実行する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2" name="it-region"/>
          <p:cNvSpPr/>
          <p:nvPr/>
        </p:nvSpPr>
        <p:spPr>
          <a:xfrm>
            <a:off x="1060704" y="3394824"/>
            <a:ext cx="10058400" cy="991520"/>
          </a:xfrm>
          <a:prstGeom prst="roundRect">
            <a:avLst>
              <a:gd name="adj" fmla="val 6000"/>
            </a:avLst>
          </a:prstGeom>
          <a:solidFill>
            <a:srgbClr val="FBE3D3"/>
          </a:solidFill>
          <a:ln w="12700">
            <a:solidFill>
              <a:srgbClr val="ED560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Google Shape;203;p10"/>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Alternative：個別案件に関する役割分担（RACI）</a:t>
            </a:r>
            <a:endParaRPr sz="2400" b="1">
              <a:solidFill>
                <a:srgbClr val="23323B"/>
              </a:solidFill>
            </a:endParaRPr>
          </a:p>
        </p:txBody>
      </p:sp>
      <p:sp>
        <p:nvSpPr>
          <p:cNvPr id="249" name="Google Shape;249;p10"/>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250" name="act-req-arc"/>
          <p:cNvSpPr/>
          <p:nvPr/>
        </p:nvSpPr>
        <p:spPr>
          <a:xfrm>
            <a:off x="694943" y="1581911"/>
            <a:ext cx="7863840" cy="4352544"/>
          </a:xfrm>
          <a:prstGeom prst="arc">
            <a:avLst>
              <a:gd name="adj1" fmla="val 9780079"/>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act-review-arc"/>
          <p:cNvSpPr/>
          <p:nvPr/>
        </p:nvSpPr>
        <p:spPr>
          <a:xfrm>
            <a:off x="3621024" y="1581911"/>
            <a:ext cx="7863840" cy="4352544"/>
          </a:xfrm>
          <a:prstGeom prst="arc">
            <a:avLst>
              <a:gd name="adj1" fmla="val 16200000"/>
              <a:gd name="adj2" fmla="val 1019921"/>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 name="act-itstrategy"/>
          <p:cNvCxnSpPr/>
          <p:nvPr/>
        </p:nvCxnSpPr>
        <p:spPr>
          <a:xfrm>
            <a:off x="6089904" y="1947672"/>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3" name="act-policy"/>
          <p:cNvCxnSpPr/>
          <p:nvPr/>
        </p:nvCxnSpPr>
        <p:spPr>
          <a:xfrm>
            <a:off x="6089904" y="3112008"/>
            <a:ext cx="0" cy="432816"/>
          </a:xfrm>
          <a:prstGeom prst="line">
            <a:avLst/>
          </a:prstGeom>
          <a:ln w="19050">
            <a:solidFill>
              <a:srgbClr val="C8CCD0"/>
            </a:solidFill>
            <a:prstDash val="lgDash"/>
            <a:tailEnd type="triangle" w="med" len="med"/>
          </a:ln>
        </p:spPr>
        <p:style>
          <a:lnRef idx="2">
            <a:schemeClr val="accent1"/>
          </a:lnRef>
          <a:fillRef idx="0">
            <a:schemeClr val="accent1"/>
          </a:fillRef>
          <a:effectRef idx="1">
            <a:schemeClr val="accent1"/>
          </a:effectRef>
          <a:fontRef idx="minor">
            <a:schemeClr val="tx1"/>
          </a:fontRef>
        </p:style>
      </p:cxnSp>
      <p:cxnSp>
        <p:nvCxnSpPr>
          <p:cNvPr id="254" name="act-reqdef"/>
          <p:cNvCxnSpPr/>
          <p:nvPr/>
        </p:nvCxnSpPr>
        <p:spPr>
          <a:xfrm flipV="1">
            <a:off x="2478024" y="427634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5" name="act-solution"/>
          <p:cNvCxnSpPr/>
          <p:nvPr/>
        </p:nvCxnSpPr>
        <p:spPr>
          <a:xfrm>
            <a:off x="3712464" y="391058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6" name="act-vendor"/>
          <p:cNvCxnSpPr/>
          <p:nvPr/>
        </p:nvCxnSpPr>
        <p:spPr>
          <a:xfrm>
            <a:off x="7324344" y="391058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7" name="act-benefit"/>
          <p:cNvCxnSpPr/>
          <p:nvPr/>
        </p:nvCxnSpPr>
        <p:spPr>
          <a:xfrm>
            <a:off x="9701784" y="427634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8" name="act-nfr"/>
          <p:cNvSpPr/>
          <p:nvPr/>
        </p:nvSpPr>
        <p:spPr>
          <a:xfrm>
            <a:off x="2926080" y="2746248"/>
            <a:ext cx="3401567" cy="1484376"/>
          </a:xfrm>
          <a:prstGeom prst="arc">
            <a:avLst>
              <a:gd name="adj1" fmla="val 10800000"/>
              <a:gd name="adj2" fmla="val 16200000"/>
            </a:avLst>
          </a:prstGeom>
          <a:noFill/>
          <a:ln w="19050">
            <a:solidFill>
              <a:srgbClr val="C8CCD0"/>
            </a:solidFill>
            <a:prstDash val="lgDash"/>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act-sourcing"/>
          <p:cNvSpPr/>
          <p:nvPr/>
        </p:nvSpPr>
        <p:spPr>
          <a:xfrm>
            <a:off x="5852160" y="2746248"/>
            <a:ext cx="3401567" cy="1484376"/>
          </a:xfrm>
          <a:prstGeom prst="arc">
            <a:avLst>
              <a:gd name="adj1" fmla="val 16200000"/>
              <a:gd name="adj2" fmla="val 21600000"/>
            </a:avLst>
          </a:prstGeom>
          <a:noFill/>
          <a:ln w="19050">
            <a:solidFill>
              <a:srgbClr val="C8CCD0"/>
            </a:solidFill>
            <a:prstDash val="lg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O-Strategy"/>
          <p:cNvSpPr/>
          <p:nvPr/>
        </p:nvSpPr>
        <p:spPr>
          <a:xfrm>
            <a:off x="4626864" y="1216152"/>
            <a:ext cx="29260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754879" y="1298448"/>
            <a:ext cx="21031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ビジネス戦略</a:t>
            </a:r>
          </a:p>
        </p:txBody>
      </p:sp>
      <p:sp>
        <p:nvSpPr>
          <p:cNvPr id="262" name="Rounded Rectangle 261"/>
          <p:cNvSpPr/>
          <p:nvPr/>
        </p:nvSpPr>
        <p:spPr>
          <a:xfrm>
            <a:off x="6912863" y="131673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63" name="TextBox 262"/>
          <p:cNvSpPr txBox="1"/>
          <p:nvPr/>
        </p:nvSpPr>
        <p:spPr>
          <a:xfrm>
            <a:off x="4754879" y="1572767"/>
            <a:ext cx="2670048" cy="292608"/>
          </a:xfrm>
          <a:prstGeom prst="rect">
            <a:avLst/>
          </a:prstGeom>
          <a:noFill/>
        </p:spPr>
        <p:txBody>
          <a:bodyPr wrap="square" lIns="0" rIns="0" tIns="0" bIns="0" anchor="t">
            <a:spAutoFit/>
          </a:bodyPr>
          <a:lstStyle/>
          <a:p>
            <a:pPr algn="l"/>
            <a:r>
              <a:rPr sz="850" b="0">
                <a:solidFill>
                  <a:srgbClr val="404040"/>
                </a:solidFill>
                <a:latin typeface="Arial"/>
                <a:ea typeface="Arial"/>
              </a:rPr>
              <a:t>事業の方向を決め、その実現のために IT に期待することを示す</a:t>
            </a:r>
          </a:p>
        </p:txBody>
      </p:sp>
      <p:sp>
        <p:nvSpPr>
          <p:cNvPr id="264" name="SO-Strategy"/>
          <p:cNvSpPr/>
          <p:nvPr/>
        </p:nvSpPr>
        <p:spPr>
          <a:xfrm>
            <a:off x="4626864" y="2380488"/>
            <a:ext cx="29260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754879" y="2462784"/>
            <a:ext cx="2103120" cy="237744"/>
          </a:xfrm>
          <a:prstGeom prst="rect">
            <a:avLst/>
          </a:prstGeom>
          <a:noFill/>
        </p:spPr>
        <p:txBody>
          <a:bodyPr wrap="square" lIns="0" rIns="0" tIns="0" bIns="0" anchor="t">
            <a:spAutoFit/>
          </a:bodyPr>
          <a:lstStyle/>
          <a:p>
            <a:pPr algn="l"/>
            <a:r>
              <a:rPr sz="1150" b="1">
                <a:solidFill>
                  <a:srgbClr val="FFFFFF"/>
                </a:solidFill>
                <a:latin typeface="Arial"/>
                <a:ea typeface="Arial"/>
              </a:rPr>
              <a:t>IT戦略</a:t>
            </a:r>
          </a:p>
        </p:txBody>
      </p:sp>
      <p:sp>
        <p:nvSpPr>
          <p:cNvPr id="266" name="Rounded Rectangle 265"/>
          <p:cNvSpPr/>
          <p:nvPr/>
        </p:nvSpPr>
        <p:spPr>
          <a:xfrm>
            <a:off x="6912863" y="2481072"/>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67" name="TextBox 266"/>
          <p:cNvSpPr txBox="1"/>
          <p:nvPr/>
        </p:nvSpPr>
        <p:spPr>
          <a:xfrm>
            <a:off x="4754879" y="2737104"/>
            <a:ext cx="2670048" cy="292608"/>
          </a:xfrm>
          <a:prstGeom prst="rect">
            <a:avLst/>
          </a:prstGeom>
          <a:noFill/>
        </p:spPr>
        <p:txBody>
          <a:bodyPr wrap="square" lIns="0" rIns="0" tIns="0" bIns="0" anchor="t">
            <a:spAutoFit/>
          </a:bodyPr>
          <a:lstStyle/>
          <a:p>
            <a:pPr algn="l"/>
            <a:r>
              <a:rPr sz="850" b="0">
                <a:solidFill>
                  <a:srgbClr val="FFFFFF"/>
                </a:solidFill>
                <a:latin typeface="Arial"/>
                <a:ea typeface="Arial"/>
              </a:rPr>
              <a:t>事業の方向を IT で実現するために、IT投資の方針と全社の共通基盤を決める</a:t>
            </a:r>
          </a:p>
        </p:txBody>
      </p:sp>
      <p:sp>
        <p:nvSpPr>
          <p:cNvPr id="268" name="SO-SysReq"/>
          <p:cNvSpPr/>
          <p:nvPr/>
        </p:nvSpPr>
        <p:spPr>
          <a:xfrm>
            <a:off x="1243584" y="3544824"/>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71600" y="3627120"/>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システム要件</a:t>
            </a:r>
          </a:p>
        </p:txBody>
      </p:sp>
      <p:sp>
        <p:nvSpPr>
          <p:cNvPr id="270" name="Rounded Rectangle 269"/>
          <p:cNvSpPr/>
          <p:nvPr/>
        </p:nvSpPr>
        <p:spPr>
          <a:xfrm>
            <a:off x="2842384" y="3645408"/>
            <a:ext cx="742064"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D5604"/>
                </a:solidFill>
                <a:latin typeface="Arial"/>
                <a:ea typeface="Arial"/>
              </a:rPr>
              <a:t>ビジネス主導</a:t>
            </a:r>
          </a:p>
        </p:txBody>
      </p:sp>
      <p:sp>
        <p:nvSpPr>
          <p:cNvPr id="271" name="TextBox 270"/>
          <p:cNvSpPr txBox="1"/>
          <p:nvPr/>
        </p:nvSpPr>
        <p:spPr>
          <a:xfrm>
            <a:off x="1371600" y="3901440"/>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ビジネス要件を実現するために、機能・非機能・移行の要件を決める</a:t>
            </a:r>
          </a:p>
        </p:txBody>
      </p:sp>
      <p:sp>
        <p:nvSpPr>
          <p:cNvPr id="272" name="SO-Solution"/>
          <p:cNvSpPr/>
          <p:nvPr/>
        </p:nvSpPr>
        <p:spPr>
          <a:xfrm>
            <a:off x="4855464" y="3544824"/>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983479" y="3627120"/>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ソリューション</a:t>
            </a:r>
          </a:p>
        </p:txBody>
      </p:sp>
      <p:sp>
        <p:nvSpPr>
          <p:cNvPr id="274" name="Rounded Rectangle 273"/>
          <p:cNvSpPr/>
          <p:nvPr/>
        </p:nvSpPr>
        <p:spPr>
          <a:xfrm>
            <a:off x="6454264" y="3645408"/>
            <a:ext cx="742064"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D5604"/>
                </a:solidFill>
                <a:latin typeface="Arial"/>
                <a:ea typeface="Arial"/>
              </a:rPr>
              <a:t>ビジネス主導</a:t>
            </a:r>
          </a:p>
        </p:txBody>
      </p:sp>
      <p:sp>
        <p:nvSpPr>
          <p:cNvPr id="275" name="TextBox 274"/>
          <p:cNvSpPr txBox="1"/>
          <p:nvPr/>
        </p:nvSpPr>
        <p:spPr>
          <a:xfrm>
            <a:off x="4983479" y="3901440"/>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要件と全社方針に合う実現手段（SaaS・パッケージ・個別開発）を選ぶ</a:t>
            </a:r>
          </a:p>
        </p:txBody>
      </p:sp>
      <p:sp>
        <p:nvSpPr>
          <p:cNvPr id="276" name="SO-Vendor"/>
          <p:cNvSpPr/>
          <p:nvPr/>
        </p:nvSpPr>
        <p:spPr>
          <a:xfrm>
            <a:off x="8467344" y="3544824"/>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595360" y="3627120"/>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ベンダー</a:t>
            </a:r>
          </a:p>
        </p:txBody>
      </p:sp>
      <p:sp>
        <p:nvSpPr>
          <p:cNvPr id="278" name="Rounded Rectangle 277"/>
          <p:cNvSpPr/>
          <p:nvPr/>
        </p:nvSpPr>
        <p:spPr>
          <a:xfrm>
            <a:off x="10066144" y="3645408"/>
            <a:ext cx="742064"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D5604"/>
                </a:solidFill>
                <a:latin typeface="Arial"/>
                <a:ea typeface="Arial"/>
              </a:rPr>
              <a:t>ビジネス主導</a:t>
            </a:r>
          </a:p>
        </p:txBody>
      </p:sp>
      <p:sp>
        <p:nvSpPr>
          <p:cNvPr id="279" name="TextBox 278"/>
          <p:cNvSpPr txBox="1"/>
          <p:nvPr/>
        </p:nvSpPr>
        <p:spPr>
          <a:xfrm>
            <a:off x="8595360" y="3901440"/>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提案と見積を比べて供給者を選び、選定後の実績とリスクを管理する</a:t>
            </a:r>
          </a:p>
        </p:txBody>
      </p:sp>
      <p:sp>
        <p:nvSpPr>
          <p:cNvPr id="280" name="PO-BizReq"/>
          <p:cNvSpPr/>
          <p:nvPr/>
        </p:nvSpPr>
        <p:spPr>
          <a:xfrm>
            <a:off x="1243584" y="470916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371600" y="4791456"/>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ビジネス要件</a:t>
            </a:r>
          </a:p>
        </p:txBody>
      </p:sp>
      <p:sp>
        <p:nvSpPr>
          <p:cNvPr id="282" name="Rounded Rectangle 281"/>
          <p:cNvSpPr/>
          <p:nvPr/>
        </p:nvSpPr>
        <p:spPr>
          <a:xfrm>
            <a:off x="3072384" y="480974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83" name="TextBox 282"/>
          <p:cNvSpPr txBox="1"/>
          <p:nvPr/>
        </p:nvSpPr>
        <p:spPr>
          <a:xfrm>
            <a:off x="1371600" y="506577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業務で達成したい成果を明確にし、業務要件と優先順位を決める</a:t>
            </a:r>
          </a:p>
        </p:txBody>
      </p:sp>
      <p:sp>
        <p:nvSpPr>
          <p:cNvPr id="284" name="PO-Benefits"/>
          <p:cNvSpPr/>
          <p:nvPr/>
        </p:nvSpPr>
        <p:spPr>
          <a:xfrm>
            <a:off x="8467344" y="470916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595360" y="4791456"/>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ビジネス効果</a:t>
            </a:r>
          </a:p>
        </p:txBody>
      </p:sp>
      <p:sp>
        <p:nvSpPr>
          <p:cNvPr id="286" name="Rounded Rectangle 285"/>
          <p:cNvSpPr/>
          <p:nvPr/>
        </p:nvSpPr>
        <p:spPr>
          <a:xfrm>
            <a:off x="10296144" y="480974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87" name="TextBox 286"/>
          <p:cNvSpPr txBox="1"/>
          <p:nvPr/>
        </p:nvSpPr>
        <p:spPr>
          <a:xfrm>
            <a:off x="8595360" y="506577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投資の効果を確かめるために、KPIの実績を測り、阻害要因を特定する</a:t>
            </a:r>
          </a:p>
        </p:txBody>
      </p:sp>
      <p:sp>
        <p:nvSpPr>
          <p:cNvPr id="288" name="lbl-req"/>
          <p:cNvSpPr/>
          <p:nvPr/>
        </p:nvSpPr>
        <p:spPr>
          <a:xfrm>
            <a:off x="210000" y="4418520"/>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事業の方向・課題</a:t>
            </a:r>
          </a:p>
        </p:txBody>
      </p:sp>
      <p:sp>
        <p:nvSpPr>
          <p:cNvPr id="289" name="lbl-review"/>
          <p:cNvSpPr/>
          <p:nvPr/>
        </p:nvSpPr>
        <p:spPr>
          <a:xfrm>
            <a:off x="11120000" y="4418520"/>
            <a:ext cx="66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KPIの実績</a:t>
            </a:r>
          </a:p>
        </p:txBody>
      </p:sp>
      <p:sp>
        <p:nvSpPr>
          <p:cNvPr id="290" name="lbl-itstrategy"/>
          <p:cNvSpPr/>
          <p:nvPr/>
        </p:nvSpPr>
        <p:spPr>
          <a:xfrm>
            <a:off x="5729903" y="2072640"/>
            <a:ext cx="72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ITへの期待</a:t>
            </a:r>
          </a:p>
        </p:txBody>
      </p:sp>
      <p:sp>
        <p:nvSpPr>
          <p:cNvPr id="291" name="lbl-policy"/>
          <p:cNvSpPr/>
          <p:nvPr/>
        </p:nvSpPr>
        <p:spPr>
          <a:xfrm>
            <a:off x="4824904" y="3088414"/>
            <a:ext cx="2530000" cy="340000"/>
          </a:xfrm>
          <a:prstGeom prst="rect">
            <a:avLst/>
          </a:prstGeom>
          <a:solidFill>
            <a:srgbClr val="FFFFFF"/>
          </a:solidFill>
          <a:ln>
            <a:noFill/>
          </a:ln>
          <a:effectLst/>
        </p:spPr>
        <p:txBody>
          <a:bodyPr rtlCol="0" anchor="ctr" lIns="0" rIns="0" tIns="0" bIns="0" wrap="none"/>
          <a:lstStyle/>
          <a:p>
            <a:pPr algn="ctr"/>
            <a:r>
              <a:rPr sz="850" b="1">
                <a:solidFill>
                  <a:srgbClr val="C8CCD0"/>
                </a:solidFill>
                <a:latin typeface="Arial"/>
                <a:ea typeface="Arial"/>
              </a:rPr>
              <a:t>アーキテクチャ方針</a:t>
            </a:r>
          </a:p>
          <a:p>
            <a:pPr algn="ctr"/>
            <a:r>
              <a:rPr sz="850" b="1">
                <a:solidFill>
                  <a:srgbClr val="C8CCD0"/>
                </a:solidFill>
                <a:latin typeface="Arial"/>
                <a:ea typeface="Arial"/>
              </a:rPr>
              <a:t>（テクノロジー・データ・セキュリティ）</a:t>
            </a:r>
          </a:p>
        </p:txBody>
      </p:sp>
      <p:sp>
        <p:nvSpPr>
          <p:cNvPr id="292" name="lbl-reqdef"/>
          <p:cNvSpPr/>
          <p:nvPr/>
        </p:nvSpPr>
        <p:spPr>
          <a:xfrm>
            <a:off x="1863023" y="4401312"/>
            <a:ext cx="123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業務要件・優先順位</a:t>
            </a:r>
          </a:p>
        </p:txBody>
      </p:sp>
      <p:sp>
        <p:nvSpPr>
          <p:cNvPr id="293" name="lbl-solution"/>
          <p:cNvSpPr/>
          <p:nvPr/>
        </p:nvSpPr>
        <p:spPr>
          <a:xfrm>
            <a:off x="3928963" y="3819144"/>
            <a:ext cx="710000" cy="182880"/>
          </a:xfrm>
          <a:prstGeom prst="rect">
            <a:avLst/>
          </a:prstGeom>
          <a:solidFill>
            <a:srgbClr val="FBE3D3"/>
          </a:solidFill>
          <a:ln>
            <a:noFill/>
          </a:ln>
          <a:effectLst/>
        </p:spPr>
        <p:txBody>
          <a:bodyPr rtlCol="0" anchor="ctr" lIns="0" rIns="0" tIns="0" bIns="0" wrap="none"/>
          <a:lstStyle/>
          <a:p>
            <a:pPr algn="ctr"/>
            <a:r>
              <a:rPr sz="850" b="1">
                <a:solidFill>
                  <a:srgbClr val="23323B"/>
                </a:solidFill>
                <a:latin typeface="Arial"/>
                <a:ea typeface="Arial"/>
              </a:rPr>
              <a:t>要件定義書</a:t>
            </a:r>
          </a:p>
        </p:txBody>
      </p:sp>
      <p:sp>
        <p:nvSpPr>
          <p:cNvPr id="294" name="lbl-vendor"/>
          <p:cNvSpPr/>
          <p:nvPr/>
        </p:nvSpPr>
        <p:spPr>
          <a:xfrm>
            <a:off x="7540843" y="3819144"/>
            <a:ext cx="710000" cy="182880"/>
          </a:xfrm>
          <a:prstGeom prst="rect">
            <a:avLst/>
          </a:prstGeom>
          <a:solidFill>
            <a:srgbClr val="FBE3D3"/>
          </a:solidFill>
          <a:ln>
            <a:noFill/>
          </a:ln>
          <a:effectLst/>
        </p:spPr>
        <p:txBody>
          <a:bodyPr rtlCol="0" anchor="ctr" lIns="0" rIns="0" tIns="0" bIns="0" wrap="none"/>
          <a:lstStyle/>
          <a:p>
            <a:pPr algn="ctr"/>
            <a:r>
              <a:rPr sz="850" b="1">
                <a:solidFill>
                  <a:srgbClr val="23323B"/>
                </a:solidFill>
                <a:latin typeface="Arial"/>
                <a:ea typeface="Arial"/>
              </a:rPr>
              <a:t>提案依頼書</a:t>
            </a:r>
          </a:p>
        </p:txBody>
      </p:sp>
      <p:sp>
        <p:nvSpPr>
          <p:cNvPr id="295" name="lbl-benefit"/>
          <p:cNvSpPr/>
          <p:nvPr/>
        </p:nvSpPr>
        <p:spPr>
          <a:xfrm>
            <a:off x="9151783" y="4401312"/>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稼働したシステム</a:t>
            </a:r>
          </a:p>
        </p:txBody>
      </p:sp>
      <p:sp>
        <p:nvSpPr>
          <p:cNvPr id="296" name="lbl-nfr"/>
          <p:cNvSpPr/>
          <p:nvPr/>
        </p:nvSpPr>
        <p:spPr>
          <a:xfrm>
            <a:off x="2954228" y="2777114"/>
            <a:ext cx="940000" cy="340000"/>
          </a:xfrm>
          <a:prstGeom prst="rect">
            <a:avLst/>
          </a:prstGeom>
          <a:solidFill>
            <a:srgbClr val="FFFFFF"/>
          </a:solidFill>
          <a:ln>
            <a:noFill/>
          </a:ln>
          <a:effectLst/>
        </p:spPr>
        <p:txBody>
          <a:bodyPr rtlCol="0" anchor="ctr" lIns="0" rIns="0" tIns="0" bIns="0" wrap="none"/>
          <a:lstStyle/>
          <a:p>
            <a:pPr algn="ctr"/>
            <a:r>
              <a:rPr sz="850" b="1">
                <a:solidFill>
                  <a:srgbClr val="C8CCD0"/>
                </a:solidFill>
                <a:latin typeface="Arial"/>
                <a:ea typeface="Arial"/>
              </a:rPr>
              <a:t>開発標準</a:t>
            </a:r>
          </a:p>
          <a:p>
            <a:pPr algn="ctr"/>
            <a:r>
              <a:rPr sz="850" b="1">
                <a:solidFill>
                  <a:srgbClr val="C8CCD0"/>
                </a:solidFill>
                <a:latin typeface="Arial"/>
                <a:ea typeface="Arial"/>
              </a:rPr>
              <a:t>（SDLC・CSV）</a:t>
            </a:r>
          </a:p>
        </p:txBody>
      </p:sp>
      <p:sp>
        <p:nvSpPr>
          <p:cNvPr id="297" name="lbl-sourcing"/>
          <p:cNvSpPr/>
          <p:nvPr/>
        </p:nvSpPr>
        <p:spPr>
          <a:xfrm>
            <a:off x="7650000" y="2777114"/>
            <a:ext cx="2530000" cy="340000"/>
          </a:xfrm>
          <a:prstGeom prst="rect">
            <a:avLst/>
          </a:prstGeom>
          <a:solidFill>
            <a:srgbClr val="FFFFFF"/>
          </a:solidFill>
          <a:ln>
            <a:noFill/>
          </a:ln>
          <a:effectLst/>
        </p:spPr>
        <p:txBody>
          <a:bodyPr rtlCol="0" anchor="ctr" lIns="0" rIns="0" tIns="0" bIns="0" wrap="none"/>
          <a:lstStyle/>
          <a:p>
            <a:pPr algn="ctr"/>
            <a:r>
              <a:rPr sz="850" b="1">
                <a:solidFill>
                  <a:srgbClr val="C8CCD0"/>
                </a:solidFill>
                <a:latin typeface="Arial"/>
                <a:ea typeface="Arial"/>
              </a:rPr>
              <a:t>ソーシング方針</a:t>
            </a:r>
          </a:p>
          <a:p>
            <a:pPr algn="ctr"/>
            <a:r>
              <a:rPr sz="850" b="1">
                <a:solidFill>
                  <a:srgbClr val="C8CCD0"/>
                </a:solidFill>
                <a:latin typeface="Arial"/>
                <a:ea typeface="Arial"/>
              </a:rPr>
              <a:t>（内製・外注・オフショア／ニアショア）</a:t>
            </a:r>
          </a:p>
        </p:txBody>
      </p:sp>
      <p:sp>
        <p:nvSpPr>
          <p:cNvPr id="298" name="Rounded Rectangle 297"/>
          <p:cNvSpPr/>
          <p:nvPr/>
        </p:nvSpPr>
        <p:spPr>
          <a:xfrm>
            <a:off x="630936" y="1252728"/>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99" name="TextBox 298"/>
          <p:cNvSpPr txBox="1"/>
          <p:nvPr/>
        </p:nvSpPr>
        <p:spPr>
          <a:xfrm>
            <a:off x="1216152" y="125272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R・A：各ファンクション</a:t>
            </a:r>
          </a:p>
        </p:txBody>
      </p:sp>
      <p:sp>
        <p:nvSpPr>
          <p:cNvPr id="300" name="Rounded Rectangle 299"/>
          <p:cNvSpPr/>
          <p:nvPr/>
        </p:nvSpPr>
        <p:spPr>
          <a:xfrm>
            <a:off x="630936" y="148132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301" name="TextBox 300"/>
          <p:cNvSpPr txBox="1"/>
          <p:nvPr/>
        </p:nvSpPr>
        <p:spPr>
          <a:xfrm>
            <a:off x="1216152" y="148132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R・A：GDS　C：各ファンクション</a:t>
            </a:r>
          </a:p>
        </p:txBody>
      </p:sp>
      <p:sp>
        <p:nvSpPr>
          <p:cNvPr id="303" name="it-region-cap"/>
          <p:cNvSpPr txBox="1"/>
          <p:nvPr/>
        </p:nvSpPr>
        <p:spPr>
          <a:xfrm>
            <a:off x="1152144" y="3164824"/>
            <a:ext cx="1600000" cy="182880"/>
          </a:xfrm>
          <a:prstGeom prst="rect">
            <a:avLst/>
          </a:prstGeom>
          <a:noFill/>
        </p:spPr>
        <p:txBody>
          <a:bodyPr wrap="none" lIns="0" tIns="0" rIns="0" bIns="0">
            <a:spAutoFit/>
          </a:bodyPr>
          <a:lstStyle/>
          <a:p>
            <a:r>
              <a:rPr sz="900" b="1">
                <a:solidFill>
                  <a:srgbClr val="ED5604"/>
                </a:solidFill>
                <a:latin typeface="Arial"/>
              </a:rPr>
              <a:t>各ファンクション主導の領域</a:t>
            </a:r>
          </a:p>
        </p:txBody>
      </p:sp>
      <p:sp>
        <p:nvSpPr>
          <p:cNvPr id="304" name="Rectangle 303"/>
          <p:cNvSpPr/>
          <p:nvPr/>
        </p:nvSpPr>
        <p:spPr>
          <a:xfrm>
            <a:off x="630936" y="5577840"/>
            <a:ext cx="10917936" cy="685800"/>
          </a:xfrm>
          <a:prstGeom prst="rect">
            <a:avLst/>
          </a:prstGeom>
          <a:solidFill>
            <a:srgbClr val="ED5604"/>
          </a:solidFill>
          <a:ln>
            <a:noFill/>
          </a:ln>
          <a:effectLst/>
        </p:spPr>
        <p:style>
          <a:lnRef idx="1">
            <a:schemeClr val="accent1"/>
          </a:lnRef>
          <a:fillRef idx="3">
            <a:schemeClr val="accent1"/>
          </a:fillRef>
          <a:effectRef idx="0">
            <a:schemeClr val="accent1"/>
          </a:effectRef>
          <a:fontRef idx="minor">
            <a:schemeClr val="lt1"/>
          </a:fontRef>
        </p:style>
        <p:txBody>
          <a:bodyPr rtlCol="0" anchor="ctr" lIns="182880"/>
          <a:lstStyle/>
          <a:p>
            <a:pPr algn="l"/>
            <a:r>
              <a:rPr sz="1250" b="1">
                <a:solidFill>
                  <a:srgbClr val="FFFFFF"/>
                </a:solidFill>
                <a:latin typeface="Arial"/>
                <a:ea typeface="Arial"/>
              </a:rPr>
              <a:t>各ファンクション主導の方が円滑に進む案件は従来どおりでよいが、システムの視点で考えることは止めない</a:t>
            </a:r>
          </a:p>
          <a:p>
            <a:pPr algn="l"/>
            <a:r>
              <a:rPr sz="1150" b="0">
                <a:solidFill>
                  <a:srgbClr val="FFFFFF"/>
                </a:solidFill>
                <a:latin typeface="Arial"/>
                <a:ea typeface="Arial"/>
              </a:rPr>
              <a:t>同じデータを別々に入力していないか？　他で作られた帳票やデータを目視で確認・修正していないか？　同じツールを他部門も別に契約していないか？</a:t>
            </a:r>
          </a:p>
        </p:txBody>
      </p:sp>
      <p:sp>
        <p:nvSpPr>
          <p:cNvPr id="300" name="Rounded Rectangle 299"/>
          <p:cNvSpPr/>
          <p:nvPr/>
        </p:nvSpPr>
        <p:spPr>
          <a:xfrm>
            <a:off x="630936" y="1709928"/>
            <a:ext cx="742064"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D5604"/>
                </a:solidFill>
                <a:latin typeface="Arial"/>
                <a:ea typeface="Arial"/>
              </a:rPr>
              <a:t>ビジネス主導</a:t>
            </a:r>
          </a:p>
        </p:txBody>
      </p:sp>
      <p:sp>
        <p:nvSpPr>
          <p:cNvPr id="301" name="TextBox 300"/>
          <p:cNvSpPr txBox="1"/>
          <p:nvPr/>
        </p:nvSpPr>
        <p:spPr>
          <a:xfrm>
            <a:off x="1446152" y="1709928"/>
            <a:ext cx="2400000" cy="182880"/>
          </a:xfrm>
          <a:prstGeom prst="rect">
            <a:avLst/>
          </a:prstGeom>
          <a:solidFill>
            <a:srgbClr val="FFFFFF"/>
          </a:solidFill>
        </p:spPr>
        <p:txBody>
          <a:bodyPr wrap="square" lIns="0" rIns="0" tIns="0" bIns="0" anchor="ctr">
            <a:spAutoFit/>
          </a:bodyPr>
          <a:lstStyle/>
          <a:p>
            <a:pPr algn="l"/>
            <a:r>
              <a:rPr sz="900" b="0">
                <a:solidFill>
                  <a:srgbClr val="404040"/>
                </a:solidFill>
                <a:latin typeface="Arial"/>
                <a:ea typeface="Arial"/>
              </a:rPr>
              <a:t>R・A：各ファンクション　C：GDS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固定資産は GDSに移す</a:t>
            </a:r>
            <a:endParaRPr lang="en-US" sz="2400" dirty="0" b="1">
              <a:solidFill>
                <a:srgbClr val="23323B"/>
              </a:solidFill>
            </a:endParaRPr>
          </a:p>
        </p:txBody>
      </p:sp>
      <p:sp>
        <p:nvSpPr>
          <p:cNvPr id="3" name="Text 0"/>
          <p:cNvSpPr/>
          <p:nvPr>
            <p:ph idx="101" type="body" hasCustomPrompt="1"/>
          </p:nvPr>
        </p:nvSpPr>
        <p:spPr>
          <a:xfrm>
            <a:off x="635000" y="889000"/>
            <a:ext cx="10922000" cy="560000"/>
          </a:xfrm>
          <a:prstGeom prst="rect">
            <a:avLst/>
          </a:prstGeom>
          <a:noFill/>
          <a:ln/>
        </p:spPr>
        <p:txBody>
          <a:bodyPr wrap="square" lIns="0" tIns="0" rIns="0" bIns="0" rtlCol="0" anchor="t"/>
          <a:lstStyle/>
          <a:p>
            <a:pPr indent="0" marL="0">
              <a:buNone/>
            </a:pPr>
            <a:r>
              <a:rPr lang="en-US" sz="1400" dirty="0" b="1">
                <a:solidFill>
                  <a:srgbClr val="404040"/>
                </a:solidFill>
                <a:latin typeface="Arial" pitchFamily="34" charset="0"/>
                <a:ea typeface="Arial" pitchFamily="34" charset="-122"/>
                <a:cs typeface="Arial" pitchFamily="34" charset="-120"/>
              </a:rPr>
              <a:t>予算移管の対象となる IT投資の固定資産は、すべて GDSに移す。移す時期は、移管の時点の資産の状態で決まる</a:t>
            </a:r>
            <a:endParaRPr lang="en-US" sz="1400" dirty="0" b="1">
              <a:solidFill>
                <a:srgbClr val="404040"/>
              </a:solidFill>
            </a:endParaRPr>
          </a:p>
          <a:p>
            <a:pPr indent="0" marL="0">
              <a:buNone/>
            </a:pPr>
            <a:r>
              <a:rPr lang="en-US" sz="1400" dirty="0" b="1">
                <a:solidFill>
                  <a:srgbClr val="404040"/>
                </a:solidFill>
                <a:latin typeface="Arial" pitchFamily="34" charset="0"/>
                <a:ea typeface="Arial" pitchFamily="34" charset="-122"/>
                <a:cs typeface="Arial" pitchFamily="34" charset="-120"/>
              </a:rPr>
              <a:t>固定資産の移管と同時に、減価償却費の予算は FinanceBP が付け替える。移管後の償却費は GDSに計上する</a:t>
            </a:r>
            <a:endParaRPr lang="en-US" sz="1400" dirty="0" b="1">
              <a:solidFill>
                <a:srgbClr val="404040"/>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sp>
        <p:nvSpPr>
          <p:cNvPr id="26" name="TextBox 25"/>
          <p:cNvSpPr txBox="1"/>
          <p:nvPr/>
        </p:nvSpPr>
        <p:spPr>
          <a:xfrm>
            <a:off x="635000" y="1600200"/>
            <a:ext cx="2964040" cy="274320"/>
          </a:xfrm>
          <a:prstGeom prst="rect">
            <a:avLst/>
          </a:prstGeom>
          <a:noFill/>
        </p:spPr>
        <p:txBody>
          <a:bodyPr wrap="square" rIns="0" tIns="0" bIns="0" lIns="0" anchor="ctr">
            <a:spAutoFit/>
          </a:bodyPr>
          <a:lstStyle/>
          <a:p>
            <a:pPr algn="l"/>
            <a:r>
              <a:rPr sz="1050" b="1">
                <a:solidFill>
                  <a:srgbClr val="23323B"/>
                </a:solidFill>
                <a:latin typeface="Arial"/>
                <a:ea typeface="Arial"/>
              </a:rPr>
              <a:t>資産の状態</a:t>
            </a:r>
          </a:p>
        </p:txBody>
      </p:sp>
      <p:sp>
        <p:nvSpPr>
          <p:cNvPr id="27" name="Rectangle 26"/>
          <p:cNvSpPr/>
          <p:nvPr/>
        </p:nvSpPr>
        <p:spPr>
          <a:xfrm>
            <a:off x="3749040" y="1600200"/>
            <a:ext cx="2560320" cy="27432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lIns="0"/>
          <a:lstStyle/>
          <a:p>
            <a:pPr algn="ctr"/>
            <a:r>
              <a:rPr sz="1050" b="1">
                <a:solidFill>
                  <a:srgbClr val="23323B"/>
                </a:solidFill>
                <a:latin typeface="Arial"/>
                <a:ea typeface="Arial"/>
              </a:rPr>
              <a:t>〜2026年12月（移管前）</a:t>
            </a:r>
          </a:p>
        </p:txBody>
      </p:sp>
      <p:sp>
        <p:nvSpPr>
          <p:cNvPr id="28" name="Rectangle 27"/>
          <p:cNvSpPr/>
          <p:nvPr/>
        </p:nvSpPr>
        <p:spPr>
          <a:xfrm>
            <a:off x="6309360" y="1600200"/>
            <a:ext cx="5247640" cy="27432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lIns="0"/>
          <a:lstStyle/>
          <a:p>
            <a:pPr algn="ctr"/>
            <a:r>
              <a:rPr sz="1050" b="1">
                <a:solidFill>
                  <a:srgbClr val="23323B"/>
                </a:solidFill>
                <a:latin typeface="Arial"/>
                <a:ea typeface="Arial"/>
              </a:rPr>
              <a:t>2027年1月1日〜（移管後）</a:t>
            </a:r>
          </a:p>
        </p:txBody>
      </p:sp>
      <p:cxnSp>
        <p:nvCxnSpPr>
          <p:cNvPr id="29" name="Connector 28"/>
          <p:cNvCxnSpPr/>
          <p:nvPr/>
        </p:nvCxnSpPr>
        <p:spPr>
          <a:xfrm>
            <a:off x="635000" y="260604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635000" y="2070240"/>
            <a:ext cx="2914040" cy="485800"/>
          </a:xfrm>
          <a:prstGeom prst="rect">
            <a:avLst/>
          </a:prstGeom>
          <a:noFill/>
        </p:spPr>
        <p:txBody>
          <a:bodyPr wrap="square" rIns="0" tIns="0" bIns="0" lIns="0" anchor="t">
            <a:spAutoFit/>
          </a:bodyPr>
          <a:lstStyle/>
          <a:p>
            <a:pPr algn="l"/>
            <a:r>
              <a:rPr sz="1100" b="1">
                <a:solidFill>
                  <a:srgbClr val="23323B"/>
                </a:solidFill>
                <a:latin typeface="Arial"/>
                <a:ea typeface="Arial"/>
              </a:rPr>
              <a:t>① 既存資産</a:t>
            </a:r>
          </a:p>
          <a:p>
            <a:pPr algn="l"/>
            <a:r>
              <a:rPr sz="900" b="0">
                <a:solidFill>
                  <a:srgbClr val="404040"/>
                </a:solidFill>
                <a:latin typeface="Arial"/>
                <a:ea typeface="Arial"/>
              </a:rPr>
              <a:t>資産を取得し、減価償却が始まっているもの（簿価ゼロを含む）</a:t>
            </a:r>
          </a:p>
        </p:txBody>
      </p:sp>
      <p:cxnSp>
        <p:nvCxnSpPr>
          <p:cNvPr id="31" name="Connector 30"/>
          <p:cNvCxnSpPr/>
          <p:nvPr/>
        </p:nvCxnSpPr>
        <p:spPr>
          <a:xfrm>
            <a:off x="635000" y="329184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635000" y="2756040"/>
            <a:ext cx="2914040" cy="485800"/>
          </a:xfrm>
          <a:prstGeom prst="rect">
            <a:avLst/>
          </a:prstGeom>
          <a:noFill/>
        </p:spPr>
        <p:txBody>
          <a:bodyPr wrap="square" rIns="0" tIns="0" bIns="0" lIns="0" anchor="t">
            <a:spAutoFit/>
          </a:bodyPr>
          <a:lstStyle/>
          <a:p>
            <a:pPr algn="l"/>
            <a:r>
              <a:rPr sz="1100" b="1">
                <a:solidFill>
                  <a:srgbClr val="23323B"/>
                </a:solidFill>
                <a:latin typeface="Arial"/>
                <a:ea typeface="Arial"/>
              </a:rPr>
              <a:t>② 取得予定</a:t>
            </a:r>
          </a:p>
          <a:p>
            <a:pPr algn="l"/>
            <a:r>
              <a:rPr sz="900" b="0">
                <a:solidFill>
                  <a:srgbClr val="404040"/>
                </a:solidFill>
                <a:latin typeface="Arial"/>
                <a:ea typeface="Arial"/>
              </a:rPr>
              <a:t>構築中で、移管後に資産を取得するもの（建設仮勘定の有無を問わない）</a:t>
            </a:r>
          </a:p>
        </p:txBody>
      </p:sp>
      <p:cxnSp>
        <p:nvCxnSpPr>
          <p:cNvPr id="33" name="Connector 32"/>
          <p:cNvCxnSpPr/>
          <p:nvPr/>
        </p:nvCxnSpPr>
        <p:spPr>
          <a:xfrm>
            <a:off x="635000" y="397764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635000" y="3441840"/>
            <a:ext cx="2914040" cy="485800"/>
          </a:xfrm>
          <a:prstGeom prst="rect">
            <a:avLst/>
          </a:prstGeom>
          <a:noFill/>
        </p:spPr>
        <p:txBody>
          <a:bodyPr wrap="square" rIns="0" tIns="0" bIns="0" lIns="0" anchor="t">
            <a:spAutoFit/>
          </a:bodyPr>
          <a:lstStyle/>
          <a:p>
            <a:pPr algn="l"/>
            <a:r>
              <a:rPr sz="1100" b="1">
                <a:solidFill>
                  <a:srgbClr val="23323B"/>
                </a:solidFill>
                <a:latin typeface="Arial"/>
                <a:ea typeface="Arial"/>
              </a:rPr>
              <a:t>③ 将来資産</a:t>
            </a:r>
          </a:p>
          <a:p>
            <a:pPr algn="l"/>
            <a:r>
              <a:rPr sz="900" b="0">
                <a:solidFill>
                  <a:srgbClr val="404040"/>
                </a:solidFill>
                <a:latin typeface="Arial"/>
                <a:ea typeface="Arial"/>
              </a:rPr>
              <a:t>予算を取得済み、または見込みで、移管後に着手するもの</a:t>
            </a:r>
          </a:p>
        </p:txBody>
      </p:sp>
      <p:cxnSp>
        <p:nvCxnSpPr>
          <p:cNvPr id="35" name="Connector 34"/>
          <p:cNvCxnSpPr/>
          <p:nvPr/>
        </p:nvCxnSpPr>
        <p:spPr>
          <a:xfrm>
            <a:off x="635000" y="475488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35000" y="4127640"/>
            <a:ext cx="2914040" cy="577240"/>
          </a:xfrm>
          <a:prstGeom prst="rect">
            <a:avLst/>
          </a:prstGeom>
          <a:noFill/>
        </p:spPr>
        <p:txBody>
          <a:bodyPr wrap="square" rIns="0" tIns="0" bIns="0" lIns="0" anchor="t">
            <a:spAutoFit/>
          </a:bodyPr>
          <a:lstStyle/>
          <a:p>
            <a:pPr algn="l"/>
            <a:r>
              <a:rPr sz="1100" b="1">
                <a:solidFill>
                  <a:srgbClr val="23323B"/>
                </a:solidFill>
                <a:latin typeface="Arial"/>
                <a:ea typeface="Arial"/>
              </a:rPr>
              <a:t>④ 既存＋改修</a:t>
            </a:r>
          </a:p>
          <a:p>
            <a:pPr algn="l"/>
            <a:r>
              <a:rPr sz="900" b="0">
                <a:solidFill>
                  <a:srgbClr val="404040"/>
                </a:solidFill>
                <a:latin typeface="Arial"/>
                <a:ea typeface="Arial"/>
              </a:rPr>
              <a:t>既存資産を改修中で、移管後に改修分の資産を取得するもの</a:t>
            </a:r>
          </a:p>
        </p:txBody>
      </p:sp>
      <p:cxnSp>
        <p:nvCxnSpPr>
          <p:cNvPr id="37" name="Connector 36"/>
          <p:cNvCxnSpPr/>
          <p:nvPr/>
        </p:nvCxnSpPr>
        <p:spPr>
          <a:xfrm>
            <a:off x="635000" y="553212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635000" y="4904880"/>
            <a:ext cx="2914040" cy="577240"/>
          </a:xfrm>
          <a:prstGeom prst="rect">
            <a:avLst/>
          </a:prstGeom>
          <a:noFill/>
        </p:spPr>
        <p:txBody>
          <a:bodyPr wrap="square" rIns="0" tIns="0" bIns="0" lIns="0" anchor="t">
            <a:spAutoFit/>
          </a:bodyPr>
          <a:lstStyle/>
          <a:p>
            <a:pPr algn="l"/>
            <a:r>
              <a:rPr sz="1100" b="1">
                <a:solidFill>
                  <a:srgbClr val="23323B"/>
                </a:solidFill>
                <a:latin typeface="Arial"/>
                <a:ea typeface="Arial"/>
              </a:rPr>
              <a:t>⑤ 除却・減損の予定</a:t>
            </a:r>
          </a:p>
          <a:p>
            <a:pPr algn="l"/>
            <a:r>
              <a:rPr sz="900" b="0">
                <a:solidFill>
                  <a:srgbClr val="404040"/>
                </a:solidFill>
                <a:latin typeface="Arial"/>
                <a:ea typeface="Arial"/>
              </a:rPr>
              <a:t>除却・減損の予定がある資産</a:t>
            </a:r>
          </a:p>
        </p:txBody>
      </p:sp>
      <p:cxnSp>
        <p:nvCxnSpPr>
          <p:cNvPr id="39" name="Connector 38"/>
          <p:cNvCxnSpPr/>
          <p:nvPr/>
        </p:nvCxnSpPr>
        <p:spPr>
          <a:xfrm>
            <a:off x="6309360" y="1874520"/>
            <a:ext cx="0" cy="3657600"/>
          </a:xfrm>
          <a:prstGeom prst="line">
            <a:avLst/>
          </a:prstGeom>
          <a:ln w="12700">
            <a:solidFill>
              <a:srgbClr val="23323B"/>
            </a:solidFill>
            <a:prstDash val="lgDash"/>
          </a:ln>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3749040" y="2300240"/>
            <a:ext cx="2560320" cy="2286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移管元</a:t>
            </a:r>
          </a:p>
        </p:txBody>
      </p:sp>
      <p:sp>
        <p:nvSpPr>
          <p:cNvPr id="41" name="Rectangle 40"/>
          <p:cNvSpPr/>
          <p:nvPr/>
        </p:nvSpPr>
        <p:spPr>
          <a:xfrm>
            <a:off x="6309360" y="2300240"/>
            <a:ext cx="5247640" cy="2286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42" name="Isosceles Triangle 41"/>
          <p:cNvSpPr/>
          <p:nvPr/>
        </p:nvSpPr>
        <p:spPr>
          <a:xfrm rot="10800000">
            <a:off x="6249360" y="21902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419360" y="20502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移管日に移す</a:t>
            </a:r>
          </a:p>
        </p:txBody>
      </p:sp>
      <p:sp>
        <p:nvSpPr>
          <p:cNvPr id="44" name="Rectangle 43"/>
          <p:cNvSpPr/>
          <p:nvPr/>
        </p:nvSpPr>
        <p:spPr>
          <a:xfrm>
            <a:off x="3749040" y="2986040"/>
            <a:ext cx="3870960" cy="2286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移管元（プロジェクトを継続）</a:t>
            </a:r>
          </a:p>
        </p:txBody>
      </p:sp>
      <p:sp>
        <p:nvSpPr>
          <p:cNvPr id="45" name="Rectangle 44"/>
          <p:cNvSpPr/>
          <p:nvPr/>
        </p:nvSpPr>
        <p:spPr>
          <a:xfrm>
            <a:off x="7620000" y="2986040"/>
            <a:ext cx="3937000" cy="2286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46" name="Isosceles Triangle 45"/>
          <p:cNvSpPr/>
          <p:nvPr/>
        </p:nvSpPr>
        <p:spPr>
          <a:xfrm rot="10800000">
            <a:off x="7560000" y="28760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730000" y="27360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資産計上の時点で移す</a:t>
            </a:r>
          </a:p>
        </p:txBody>
      </p:sp>
      <p:sp>
        <p:nvSpPr>
          <p:cNvPr id="48" name="Rectangle 47"/>
          <p:cNvSpPr/>
          <p:nvPr/>
        </p:nvSpPr>
        <p:spPr>
          <a:xfrm>
            <a:off x="3749040" y="3671840"/>
            <a:ext cx="2560320" cy="228600"/>
          </a:xfrm>
          <a:prstGeom prst="rect">
            <a:avLst/>
          </a:prstGeom>
          <a:noFill/>
          <a:ln w="9525">
            <a:solidFill>
              <a:srgbClr val="D9D9D9"/>
            </a:solidFill>
            <a:prstDash val="lgDash"/>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0">
                <a:solidFill>
                  <a:srgbClr val="404040"/>
                </a:solidFill>
                <a:latin typeface="Arial"/>
                <a:ea typeface="Arial"/>
              </a:rPr>
              <a:t>予算：移管元</a:t>
            </a:r>
          </a:p>
        </p:txBody>
      </p:sp>
      <p:sp>
        <p:nvSpPr>
          <p:cNvPr id="49" name="Rectangle 48"/>
          <p:cNvSpPr/>
          <p:nvPr/>
        </p:nvSpPr>
        <p:spPr>
          <a:xfrm>
            <a:off x="6309360" y="3671840"/>
            <a:ext cx="3063240" cy="228600"/>
          </a:xfrm>
          <a:prstGeom prst="rect">
            <a:avLst/>
          </a:prstGeom>
          <a:noFill/>
          <a:ln w="9525">
            <a:solidFill>
              <a:srgbClr val="23323B"/>
            </a:solidFill>
            <a:prstDash val="lgDash"/>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0">
                <a:solidFill>
                  <a:srgbClr val="23323B"/>
                </a:solidFill>
                <a:latin typeface="Arial"/>
                <a:ea typeface="Arial"/>
              </a:rPr>
              <a:t>予算：GDS</a:t>
            </a:r>
          </a:p>
        </p:txBody>
      </p:sp>
      <p:sp>
        <p:nvSpPr>
          <p:cNvPr id="50" name="Isosceles Triangle 49"/>
          <p:cNvSpPr/>
          <p:nvPr/>
        </p:nvSpPr>
        <p:spPr>
          <a:xfrm rot="10800000">
            <a:off x="6249360" y="35618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6419360" y="34218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予算移管</a:t>
            </a:r>
          </a:p>
        </p:txBody>
      </p:sp>
      <p:sp>
        <p:nvSpPr>
          <p:cNvPr id="52" name="Rectangle 51"/>
          <p:cNvSpPr/>
          <p:nvPr/>
        </p:nvSpPr>
        <p:spPr>
          <a:xfrm>
            <a:off x="9372600" y="3671840"/>
            <a:ext cx="2184400" cy="2286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GDS（仮勘定から）</a:t>
            </a:r>
          </a:p>
        </p:txBody>
      </p:sp>
      <p:sp>
        <p:nvSpPr>
          <p:cNvPr id="53" name="Isosceles Triangle 52"/>
          <p:cNvSpPr/>
          <p:nvPr/>
        </p:nvSpPr>
        <p:spPr>
          <a:xfrm rot="10800000">
            <a:off x="9312600" y="35618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482600" y="34218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着手の時点から GDSが持つ</a:t>
            </a:r>
          </a:p>
        </p:txBody>
      </p:sp>
      <p:sp>
        <p:nvSpPr>
          <p:cNvPr id="55" name="Rectangle 54"/>
          <p:cNvSpPr/>
          <p:nvPr/>
        </p:nvSpPr>
        <p:spPr>
          <a:xfrm>
            <a:off x="3749040" y="4307640"/>
            <a:ext cx="387096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本体：移管元</a:t>
            </a:r>
          </a:p>
        </p:txBody>
      </p:sp>
      <p:sp>
        <p:nvSpPr>
          <p:cNvPr id="56" name="Rectangle 55"/>
          <p:cNvSpPr/>
          <p:nvPr/>
        </p:nvSpPr>
        <p:spPr>
          <a:xfrm>
            <a:off x="7620000" y="4307640"/>
            <a:ext cx="3937000" cy="1900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57" name="Isosceles Triangle 56"/>
          <p:cNvSpPr/>
          <p:nvPr/>
        </p:nvSpPr>
        <p:spPr>
          <a:xfrm rot="10800000">
            <a:off x="7560000" y="41976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7730000" y="4057640"/>
            <a:ext cx="3827000" cy="180000"/>
          </a:xfrm>
          <a:prstGeom prst="rect">
            <a:avLst/>
          </a:prstGeom>
          <a:noFill/>
        </p:spPr>
        <p:txBody>
          <a:bodyPr wrap="square" rIns="0" tIns="0" bIns="0" lIns="0" anchor="t">
            <a:spAutoFit/>
          </a:bodyPr>
          <a:lstStyle/>
          <a:p>
            <a:pPr algn="l"/>
            <a:r>
              <a:rPr sz="900" b="1">
                <a:solidFill>
                  <a:srgbClr val="23323B"/>
                </a:solidFill>
                <a:latin typeface="Arial"/>
                <a:ea typeface="Arial"/>
              </a:rPr>
              <a:t>改修分の資産計上時に、本体もあわせて移す</a:t>
            </a:r>
          </a:p>
        </p:txBody>
      </p:sp>
      <p:sp>
        <p:nvSpPr>
          <p:cNvPr id="59" name="Rectangle 58"/>
          <p:cNvSpPr/>
          <p:nvPr/>
        </p:nvSpPr>
        <p:spPr>
          <a:xfrm>
            <a:off x="3749040" y="4547640"/>
            <a:ext cx="387096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改修（構築中）：移管元</a:t>
            </a:r>
          </a:p>
        </p:txBody>
      </p:sp>
      <p:sp>
        <p:nvSpPr>
          <p:cNvPr id="60" name="Rectangle 59"/>
          <p:cNvSpPr/>
          <p:nvPr/>
        </p:nvSpPr>
        <p:spPr>
          <a:xfrm>
            <a:off x="7620000" y="4547640"/>
            <a:ext cx="3937000" cy="1900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61" name="Rectangle 60"/>
          <p:cNvSpPr/>
          <p:nvPr/>
        </p:nvSpPr>
        <p:spPr>
          <a:xfrm>
            <a:off x="3749040" y="5084880"/>
            <a:ext cx="256032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今期に実施：移管元</a:t>
            </a:r>
          </a:p>
        </p:txBody>
      </p:sp>
      <p:sp>
        <p:nvSpPr>
          <p:cNvPr id="62" name="Isosceles Triangle 61"/>
          <p:cNvSpPr/>
          <p:nvPr/>
        </p:nvSpPr>
        <p:spPr>
          <a:xfrm rot="10800000">
            <a:off x="4969200" y="497488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5139200" y="4834880"/>
            <a:ext cx="1130160" cy="180000"/>
          </a:xfrm>
          <a:prstGeom prst="rect">
            <a:avLst/>
          </a:prstGeom>
          <a:noFill/>
        </p:spPr>
        <p:txBody>
          <a:bodyPr wrap="square" rIns="0" tIns="0" bIns="0" lIns="0" anchor="t">
            <a:spAutoFit/>
          </a:bodyPr>
          <a:lstStyle/>
          <a:p>
            <a:pPr algn="l"/>
            <a:r>
              <a:rPr sz="900" b="1">
                <a:solidFill>
                  <a:srgbClr val="23323B"/>
                </a:solidFill>
                <a:latin typeface="Arial"/>
                <a:ea typeface="Arial"/>
              </a:rPr>
              <a:t>移管元で承認</a:t>
            </a:r>
          </a:p>
        </p:txBody>
      </p:sp>
      <p:sp>
        <p:nvSpPr>
          <p:cNvPr id="64" name="Isosceles Triangle 63"/>
          <p:cNvSpPr/>
          <p:nvPr/>
        </p:nvSpPr>
        <p:spPr>
          <a:xfrm rot="10800000">
            <a:off x="6249360" y="497488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419360" y="483488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除却・減損</a:t>
            </a:r>
          </a:p>
        </p:txBody>
      </p:sp>
      <p:cxnSp>
        <p:nvCxnSpPr>
          <p:cNvPr id="66" name="Connector 65"/>
          <p:cNvCxnSpPr/>
          <p:nvPr/>
        </p:nvCxnSpPr>
        <p:spPr>
          <a:xfrm>
            <a:off x="5029200" y="5074880"/>
            <a:ext cx="0" cy="440000"/>
          </a:xfrm>
          <a:prstGeom prst="line">
            <a:avLst/>
          </a:prstGeom>
          <a:ln w="12700">
            <a:solidFill>
              <a:srgbClr val="23323B"/>
            </a:solidFill>
            <a:prstDash val="lgDash"/>
          </a:ln>
        </p:spPr>
        <p:style>
          <a:lnRef idx="2">
            <a:schemeClr val="accent1"/>
          </a:lnRef>
          <a:fillRef idx="0">
            <a:schemeClr val="accent1"/>
          </a:fillRef>
          <a:effectRef idx="0">
            <a:schemeClr val="accent1"/>
          </a:effectRef>
          <a:fontRef idx="minor">
            <a:schemeClr val="tx1"/>
          </a:fontRef>
        </p:style>
      </p:cxnSp>
      <p:sp>
        <p:nvSpPr>
          <p:cNvPr id="67" name="Rectangle 66"/>
          <p:cNvSpPr/>
          <p:nvPr/>
        </p:nvSpPr>
        <p:spPr>
          <a:xfrm>
            <a:off x="3749040" y="5324880"/>
            <a:ext cx="256032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来期以降に実施：移管元</a:t>
            </a:r>
          </a:p>
        </p:txBody>
      </p:sp>
      <p:sp>
        <p:nvSpPr>
          <p:cNvPr id="68" name="Rectangle 67"/>
          <p:cNvSpPr/>
          <p:nvPr/>
        </p:nvSpPr>
        <p:spPr>
          <a:xfrm>
            <a:off x="6309360" y="5324880"/>
            <a:ext cx="3291840" cy="1900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GDS（既存資産と一緒に移す）</a:t>
            </a:r>
          </a:p>
        </p:txBody>
      </p:sp>
      <p:sp>
        <p:nvSpPr>
          <p:cNvPr id="69" name="Isosceles Triangle 68"/>
          <p:cNvSpPr/>
          <p:nvPr/>
        </p:nvSpPr>
        <p:spPr>
          <a:xfrm rot="10800000">
            <a:off x="9541200" y="521488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711200" y="507488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除却・減損</a:t>
            </a:r>
          </a:p>
        </p:txBody>
      </p:sp>
      <p:sp>
        <p:nvSpPr>
          <p:cNvPr id="71" name="asset-key-message"/>
          <p:cNvSpPr/>
          <p:nvPr/>
        </p:nvSpPr>
        <p:spPr>
          <a:xfrm>
            <a:off x="635000" y="5669280"/>
            <a:ext cx="10922000" cy="4572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lIns="182880"/>
          <a:lstStyle/>
          <a:p>
            <a:pPr algn="l"/>
            <a:r>
              <a:rPr sz="1250" b="1">
                <a:solidFill>
                  <a:srgbClr val="FFFFFF"/>
                </a:solidFill>
                <a:latin typeface="Arial"/>
                <a:ea typeface="Arial"/>
              </a:rPr>
              <a:t>財務経理が提示する固定資産台帳から、移管対象を選定して返す。その後の移管手続きは FinanceBP が行う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この資料の位置付け</a:t>
            </a:r>
            <a:endParaRPr lang="en-US" sz="2400" dirty="0" b="1">
              <a:solidFill>
                <a:srgbClr val="23323B"/>
              </a:solidFill>
            </a:endParaRPr>
          </a:p>
        </p:txBody>
      </p:sp>
      <p:sp>
        <p:nvSpPr>
          <p:cNvPr id="3" name="Text 0"/>
          <p:cNvSpPr/>
          <p:nvPr>
            <p:ph idx="101" type="body" hasCustomPrompt="1"/>
          </p:nvPr>
        </p:nvSpPr>
        <p:spPr>
          <a:xfrm>
            <a:off x="635000" y="889000"/>
            <a:ext cx="10922000" cy="560000"/>
          </a:xfrm>
          <a:prstGeom prst="rect">
            <a:avLst/>
          </a:prstGeom>
          <a:noFill/>
          <a:ln/>
        </p:spPr>
        <p:txBody>
          <a:bodyPr wrap="square" lIns="0" tIns="0" rIns="0" bIns="0" rtlCol="0" anchor="t"/>
          <a:lstStyle/>
          <a:p>
            <a:pPr indent="0" marL="0">
              <a:buNone/>
            </a:pPr>
            <a:r>
              <a:rPr lang="en-US" sz="1400" dirty="0" b="1">
                <a:solidFill>
                  <a:srgbClr val="404040"/>
                </a:solidFill>
                <a:latin typeface="Arial" pitchFamily="34" charset="0"/>
                <a:ea typeface="Arial" pitchFamily="34" charset="-122"/>
                <a:cs typeface="Arial" pitchFamily="34" charset="-120"/>
              </a:rPr>
              <a:t>予算移管で問い合わせの多かった事項について、考え方と対応方法をわかりやすく、誤解なく伝える</a:t>
            </a:r>
            <a:endParaRPr lang="en-US" sz="1400" dirty="0" b="1">
              <a:solidFill>
                <a:srgbClr val="404040"/>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sp>
        <p:nvSpPr>
          <p:cNvPr id="26" name="Rectangle 25"/>
          <p:cNvSpPr/>
          <p:nvPr/>
        </p:nvSpPr>
        <p:spPr>
          <a:xfrm>
            <a:off x="635000" y="155448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目的</a:t>
            </a:r>
          </a:p>
        </p:txBody>
      </p:sp>
      <p:sp>
        <p:nvSpPr>
          <p:cNvPr id="27" name="Rectangle 26"/>
          <p:cNvSpPr/>
          <p:nvPr/>
        </p:nvSpPr>
        <p:spPr>
          <a:xfrm>
            <a:off x="2921000" y="155448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予算移管で問い合わせの多かった事項について、考え方と対応方法を図で示しています。個別の回答では伝わりにくい背景を補い、誤解なく理解していただくことが目的です。</a:t>
            </a:r>
          </a:p>
        </p:txBody>
      </p:sp>
      <p:sp>
        <p:nvSpPr>
          <p:cNvPr id="28" name="Rectangle 27"/>
          <p:cNvSpPr/>
          <p:nvPr/>
        </p:nvSpPr>
        <p:spPr>
          <a:xfrm>
            <a:off x="635000" y="265176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QA表との関係</a:t>
            </a:r>
          </a:p>
        </p:txBody>
      </p:sp>
      <p:sp>
        <p:nvSpPr>
          <p:cNvPr id="29" name="Rectangle 28"/>
          <p:cNvSpPr/>
          <p:nvPr/>
        </p:nvSpPr>
        <p:spPr>
          <a:xfrm>
            <a:off x="2921000" y="265176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個別の問い合わせと回答は、QA表にまとめています。この資料は、その背景にある考え方を整理したものです。必要に応じて、両方をあわせて参照してください。</a:t>
            </a:r>
          </a:p>
        </p:txBody>
      </p:sp>
      <p:sp>
        <p:nvSpPr>
          <p:cNvPr id="30" name="Rectangle 29"/>
          <p:cNvSpPr/>
          <p:nvPr/>
        </p:nvSpPr>
        <p:spPr>
          <a:xfrm>
            <a:off x="635000" y="374904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使い方</a:t>
            </a:r>
          </a:p>
        </p:txBody>
      </p:sp>
      <p:sp>
        <p:nvSpPr>
          <p:cNvPr id="31" name="Rectangle 30"/>
          <p:cNvSpPr/>
          <p:nvPr/>
        </p:nvSpPr>
        <p:spPr>
          <a:xfrm>
            <a:off x="2921000" y="374904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GDSの移管担当者が、カウンターパートとなるビジネス側のメンバーと話すときに、同じ絵を見ながら目線を合わせるために使ってください。ご自身の理解の確認にも役立ててください。</a:t>
            </a:r>
          </a:p>
        </p:txBody>
      </p:sp>
      <p:sp>
        <p:nvSpPr>
          <p:cNvPr id="32" name="Rectangle 31"/>
          <p:cNvSpPr/>
          <p:nvPr/>
        </p:nvSpPr>
        <p:spPr>
          <a:xfrm>
            <a:off x="635000" y="484632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更新</a:t>
            </a:r>
          </a:p>
        </p:txBody>
      </p:sp>
      <p:sp>
        <p:nvSpPr>
          <p:cNvPr id="33" name="Rectangle 32"/>
          <p:cNvSpPr/>
          <p:nvPr/>
        </p:nvSpPr>
        <p:spPr>
          <a:xfrm>
            <a:off x="2921000" y="484632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問い合わせの状況に応じて、随時追記・更新します。変更点は、更新履歴で確認してください。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更新履歴</a:t>
            </a:r>
            <a:endParaRPr lang="en-US" sz="2400" dirty="0" b="1">
              <a:solidFill>
                <a:srgbClr val="23323B"/>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graphicFrame>
        <p:nvGraphicFramePr>
          <p:cNvPr id="26" name="Table 25"/>
          <p:cNvGraphicFramePr>
            <a:graphicFrameLocks noGrp="1"/>
          </p:cNvGraphicFramePr>
          <p:nvPr/>
        </p:nvGraphicFramePr>
        <p:xfrm>
          <a:off x="635000" y="1188720"/>
          <a:ext cx="10922000" cy="3291840"/>
        </p:xfrm>
        <a:graphic>
          <a:graphicData uri="http://schemas.openxmlformats.org/drawingml/2006/table">
            <a:tbl>
              <a:tblPr firstRow="0" bandRow="0">
                <a:tableStyleId>{5C22544A-7EE6-4342-B048-85BDC9FD1C3A}</a:tableStyleId>
              </a:tblPr>
              <a:tblGrid>
                <a:gridCol w="2194560"/>
                <a:gridCol w="8727440"/>
              </a:tblGrid>
              <a:tr h="365760">
                <a:tc>
                  <a:txBody>
                    <a:bodyPr/>
                    <a:lstStyle/>
                    <a:p>
                      <a:r>
                        <a:rPr sz="1100" b="1">
                          <a:solidFill>
                            <a:srgbClr val="FFFFFF"/>
                          </a:solidFill>
                          <a:latin typeface="Arial"/>
                        </a:rPr>
                        <a:t>更新日</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1">
                          <a:solidFill>
                            <a:srgbClr val="FFFFFF"/>
                          </a:solidFill>
                          <a:latin typeface="Arial"/>
                        </a:rPr>
                        <a:t>更新内容</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2026/11/02</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初版を公開</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この資料で扱うこと</a:t>
            </a:r>
            <a:endParaRPr lang="en-US" sz="2400" dirty="0" b="1">
              <a:solidFill>
                <a:srgbClr val="23323B"/>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graphicFrame>
        <p:nvGraphicFramePr>
          <p:cNvPr id="26" name="Table 25"/>
          <p:cNvGraphicFramePr>
            <a:graphicFrameLocks noGrp="1"/>
          </p:cNvGraphicFramePr>
          <p:nvPr/>
        </p:nvGraphicFramePr>
        <p:xfrm>
          <a:off x="635000" y="1188720"/>
          <a:ext cx="10922000" cy="1828800"/>
        </p:xfrm>
        <a:graphic>
          <a:graphicData uri="http://schemas.openxmlformats.org/drawingml/2006/table">
            <a:tbl>
              <a:tblPr firstRow="0" bandRow="0">
                <a:tableStyleId>{5C22544A-7EE6-4342-B048-85BDC9FD1C3A}</a:tableStyleId>
              </a:tblPr>
              <a:tblGrid>
                <a:gridCol w="1097280"/>
                <a:gridCol w="4023360"/>
                <a:gridCol w="5801360"/>
              </a:tblGrid>
              <a:tr h="365760">
                <a:tc>
                  <a:txBody>
                    <a:bodyPr/>
                    <a:lstStyle/>
                    <a:p>
                      <a:r>
                        <a:rPr sz="1100" b="1">
                          <a:solidFill>
                            <a:srgbClr val="FFFFFF"/>
                          </a:solidFill>
                          <a:latin typeface="Arial"/>
                        </a:rPr>
                        <a:t>ページ</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1">
                          <a:solidFill>
                            <a:srgbClr val="FFFFFF"/>
                          </a:solidFill>
                          <a:latin typeface="Arial"/>
                        </a:rPr>
                        <a:t>トピック</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1">
                          <a:solidFill>
                            <a:srgbClr val="FFFFFF"/>
                          </a:solidFill>
                          <a:latin typeface="Arial"/>
                        </a:rPr>
                        <a:t>概要</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p.5</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11月〜12月の進め方</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担当BPと S&amp;G（FinanceBP）のタスク、マイルストーン、完了の定義</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p.6</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移管後の役割分担（RACI）</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IT領域での GDSと各ファンクションの役割</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p.7</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Alternative：個別案件に関する役割分担</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ある部門に閉じた案件で、役割が入れ替わる場合</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p.8</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固定資産は GDSに移す</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資産の状態ごとの、移管の時期と考え方</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BTR Kickoff">
  <a:themeElements>
    <a:clrScheme name="BTR Kickoff">
      <a:dk1>
        <a:srgbClr val="000000"/>
      </a:dk1>
      <a:lt1>
        <a:srgbClr val="FFFFFF"/>
      </a:lt1>
      <a:dk2>
        <a:srgbClr val="23323B"/>
      </a:dk2>
      <a:lt2>
        <a:srgbClr val="EEEFEF"/>
      </a:lt2>
      <a:accent1>
        <a:srgbClr val="ED5604"/>
      </a:accent1>
      <a:accent2>
        <a:srgbClr val="404040"/>
      </a:accent2>
      <a:accent3>
        <a:srgbClr val="7F7F7F"/>
      </a:accent3>
      <a:accent4>
        <a:srgbClr val="FEE8DB"/>
      </a:accent4>
      <a:accent5>
        <a:srgbClr val="5D6164"/>
      </a:accent5>
      <a:accent6>
        <a:srgbClr val="D9D9D9"/>
      </a:accent6>
      <a:hlink>
        <a:srgbClr val="23323B"/>
      </a:hlink>
      <a:folHlink>
        <a:srgbClr val="404040"/>
      </a:folHlink>
    </a:clrScheme>
    <a:fontScheme name="Office">
      <a:majorFont>
        <a:latin typeface="Arial"/>
        <a:ea typeface="Meiryo UI"/>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eiryo UI"/>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IT予算移管の要点（IT部門向け予算ガイドライン 追補）</dc:title>
  <cp:lastModifiedBy>python-pptx</cp:lastModifiedBy>
  <cp:revision>1</cp:revision>
  <dcterms:modified xsi:type="dcterms:W3CDTF">2026-10-20T12:06:36Z</dcterms:modified>
</cp:coreProperties>
</file>