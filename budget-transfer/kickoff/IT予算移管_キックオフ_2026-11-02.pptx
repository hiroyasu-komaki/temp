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5"/>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本日は、来年度予算からの IT予算移管について、IT部門全員に共通の理解を持ってもらうための説明です。決まっていることと、12月末までの進め方を共有します。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に入る前に、IT部門の担当者にとっても、移管元のビジネス側にとっても一番気になっていることに先にお答えします。1つ目、例外はありません。すべての予算を1月1日に一括で移します。承認済みの文書で担当が定められ、変更に正式な手続きが要る業務だけは、手続きが終わるまで今の担当が続けますが、予算は移ります。2つ目、最終責任の A は部門に残ります。IT部門が担うのは間接業務と、IT関連業務の実務です。案件ごとに変えられる範囲は決めてあり、移管元の責任者が合意文書を承認して確定します。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期の目標は、移管の稟議が12月末までに承認されることです。移管による効果の創出は、来期に改めて検討します。移管は全社の方針として決まっており、すべての予算を1月1日に一括で移します。承認済みの文書で担当が定められた業務は、手続きが終わるまで経過措置として今の担当が続けますが、予算は移ります。12月末にすべてが終わっている必要はなく、前提は3つ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月と12月のタスクです。案件担当は①から④を順に進めます。①の棚卸しは11月中、②の合意は12月11日まで、③④は12月18日までです。進行役は毎日ステータスを確認し、部門の案件のステータスが埋まったところから稟議を起票します。1月以降は、経過措置の業務について、担当の変更の手続き（GxP の変更管理など）の完了が残ります。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件担当の方は、この1枚を手元に置いてください。4枚目のタスク①から④に対応しています。それぞれに成果物があります。進捗は予算移管シートで管理しますので、ステータスは条件を満たしたらその都度更新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業務を3つの層で考えます。直接業務は部門の本来の業務なので移しません。間接業務は予算に付いてくる手続きなので IT部門に移します。その間にあるIT関連業務は、次の2枚の RACI テンプレートを案件ごとにカスタマイズして、移管元の責任者と合意し、文書として残します。どの層でも、最終責任の A はビジネスオーナーに残ります。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IT投資プロセスの RACI です。IT関連業務の多くで、SO が実務の R を担い、BO は判断と承認の A に集中します。間接業務は IT部門が担います。案件ごとの合意では、今のやり方を Before として確かめ、After との差を一覧にして R の持ち方を合意します。A が BO に残ることは合意の対象にしません。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経費プロセスの RACI です。間接業務は1月から IT部門が担います。モニタリング、改善、契約の見直しといったIT関連業務は、SO が実務を担い、判断は BO に残します。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383280"/>
            <a:ext cx="10698480" cy="10972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914400"/>
          </a:xfrm>
          <a:prstGeom prst="rect">
            <a:avLst/>
          </a:prstGeom>
          <a:noFill/>
          <a:ln/>
        </p:spPr>
        <p:txBody>
          <a:bodyPr wrap="square" lIns="0" tIns="0" rIns="0" bIns="0" rtlCol="0" anchor="b"/>
          <a:lstStyle/>
          <a:p>
            <a:pPr algn="l" indent="0" marL="0">
              <a:buNone/>
            </a:pPr>
            <a:r>
              <a:rPr lang="en-US" sz="3600" b="1" dirty="0">
                <a:solidFill>
                  <a:schemeClr val="bg1"/>
                </a:solidFill>
              </a:rPr>
              <a:t>IT予算移管 キックオフ</a:t>
            </a:r>
            <a:endParaRPr lang="en-US" sz="3600" dirty="0"/>
          </a:p>
        </p:txBody>
      </p:sp>
      <p:sp>
        <p:nvSpPr>
          <p:cNvPr id="3"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indent="0" marL="0">
              <a:buNone/>
            </a:pPr>
            <a:r>
              <a:rPr lang="en-US" sz="1600" dirty="0">
                <a:solidFill>
                  <a:schemeClr val="accent4"/>
                </a:solidFill>
              </a:rPr>
              <a:t>IT部門 全員向け説明</a:t>
            </a:r>
            <a:endParaRPr lang="en-US" sz="1600" dirty="0"/>
          </a:p>
          <a:p>
            <a:pPr indent="0" marL="0">
              <a:buNone/>
            </a:pPr>
            <a:r>
              <a:rPr lang="en-US" sz="1600" dirty="0">
                <a:solidFill>
                  <a:schemeClr val="accent4"/>
                </a:solidFill>
              </a:rPr>
              <a:t>2026年11月2日　予算移管 進行役</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最初にお答えしたいこと</a:t>
            </a:r>
            <a:endParaRPr lang="en-US" sz="2600" dirty="0"/>
          </a:p>
        </p:txBody>
      </p:sp>
      <p:sp>
        <p:nvSpPr>
          <p:cNvPr id="3" name="box-1"/>
          <p:cNvSpPr/>
          <p:nvPr/>
        </p:nvSpPr>
        <p:spPr>
          <a:xfrm>
            <a:off x="457200" y="1097280"/>
            <a:ext cx="3017520" cy="2514600"/>
          </a:xfrm>
          <a:prstGeom prst="rect">
            <a:avLst/>
          </a:prstGeom>
          <a:solidFill>
            <a:schemeClr val="tx2"/>
          </a:solidFill>
          <a:ln/>
        </p:spPr>
      </p:sp>
      <p:sp>
        <p:nvSpPr>
          <p:cNvPr id="4" name="txt-2"/>
          <p:cNvSpPr txBox="1"/>
          <p:nvPr/>
        </p:nvSpPr>
        <p:spPr>
          <a:xfrm>
            <a:off x="731520" y="1371600"/>
            <a:ext cx="2468880" cy="274320"/>
          </a:xfrm>
          <a:prstGeom prst="rect">
            <a:avLst/>
          </a:prstGeom>
          <a:noFill/>
          <a:ln/>
        </p:spPr>
        <p:txBody>
          <a:bodyPr wrap="square" lIns="0" tIns="0" rIns="0" bIns="0" rtlCol="0" anchor="t"/>
          <a:lstStyle/>
          <a:p>
            <a:pPr indent="0" marL="0">
              <a:buNone/>
            </a:pPr>
            <a:r>
              <a:rPr lang="en-US" sz="1200" b="1" dirty="0">
                <a:solidFill>
                  <a:schemeClr val="accent4"/>
                </a:solidFill>
              </a:rPr>
              <a:t>懸念 1</a:t>
            </a:r>
            <a:endParaRPr lang="en-US" sz="1200" dirty="0"/>
          </a:p>
        </p:txBody>
      </p:sp>
      <p:sp>
        <p:nvSpPr>
          <p:cNvPr id="5" name="txt-3"/>
          <p:cNvSpPr txBox="1"/>
          <p:nvPr/>
        </p:nvSpPr>
        <p:spPr>
          <a:xfrm>
            <a:off x="731520" y="1737360"/>
            <a:ext cx="2468880" cy="1600200"/>
          </a:xfrm>
          <a:prstGeom prst="rect">
            <a:avLst/>
          </a:prstGeom>
          <a:noFill/>
          <a:ln/>
        </p:spPr>
        <p:txBody>
          <a:bodyPr wrap="square" lIns="0" tIns="0" rIns="0" bIns="0" rtlCol="0" anchor="t"/>
          <a:lstStyle/>
          <a:p>
            <a:pPr indent="0" marL="0">
              <a:buNone/>
            </a:pPr>
            <a:r>
              <a:rPr lang="en-US" sz="1700" b="1" dirty="0">
                <a:solidFill>
                  <a:schemeClr val="bg1"/>
                </a:solidFill>
              </a:rPr>
              <a:t>例外はあるのか。</a:t>
            </a:r>
            <a:endParaRPr lang="en-US" sz="1700" dirty="0"/>
          </a:p>
          <a:p>
            <a:pPr indent="0" marL="0">
              <a:buNone/>
            </a:pPr>
            <a:r>
              <a:rPr lang="en-US" sz="1700" b="1" dirty="0">
                <a:solidFill>
                  <a:schemeClr val="bg1"/>
                </a:solidFill>
              </a:rPr>
              <a:t>手続きが要る業務まで</a:t>
            </a:r>
            <a:endParaRPr lang="en-US" sz="1700" dirty="0"/>
          </a:p>
          <a:p>
            <a:pPr indent="0" marL="0">
              <a:buNone/>
            </a:pPr>
            <a:r>
              <a:rPr lang="en-US" sz="1700" b="1" dirty="0">
                <a:solidFill>
                  <a:schemeClr val="bg1"/>
                </a:solidFill>
              </a:rPr>
              <a:t>1月に移すのか</a:t>
            </a:r>
            <a:endParaRPr lang="en-US" sz="1700" dirty="0"/>
          </a:p>
        </p:txBody>
      </p:sp>
      <p:sp>
        <p:nvSpPr>
          <p:cNvPr id="6" name="box-4"/>
          <p:cNvSpPr/>
          <p:nvPr/>
        </p:nvSpPr>
        <p:spPr>
          <a:xfrm>
            <a:off x="3474720" y="1097280"/>
            <a:ext cx="8257032" cy="2514600"/>
          </a:xfrm>
          <a:prstGeom prst="rect">
            <a:avLst/>
          </a:prstGeom>
          <a:solidFill>
            <a:schemeClr val="bg2"/>
          </a:solidFill>
          <a:ln/>
        </p:spPr>
      </p:sp>
      <p:sp>
        <p:nvSpPr>
          <p:cNvPr id="7" name="txt-5"/>
          <p:cNvSpPr txBox="1"/>
          <p:nvPr/>
        </p:nvSpPr>
        <p:spPr>
          <a:xfrm>
            <a:off x="3794760" y="1325880"/>
            <a:ext cx="7616952" cy="457200"/>
          </a:xfrm>
          <a:prstGeom prst="rect">
            <a:avLst/>
          </a:prstGeom>
          <a:noFill/>
          <a:ln/>
        </p:spPr>
        <p:txBody>
          <a:bodyPr wrap="square" lIns="0" tIns="0" rIns="0" bIns="0" rtlCol="0" anchor="ctr"/>
          <a:lstStyle/>
          <a:p>
            <a:pPr indent="0" marL="0">
              <a:buNone/>
            </a:pPr>
            <a:r>
              <a:rPr lang="en-US" sz="1700" b="1" dirty="0">
                <a:solidFill>
                  <a:schemeClr val="tx2"/>
                </a:solidFill>
              </a:rPr>
              <a:t>例外はない。すべての予算を2027年1月1日に一括で移す</a:t>
            </a:r>
            <a:endParaRPr lang="en-US" sz="1700" dirty="0"/>
          </a:p>
        </p:txBody>
      </p:sp>
      <p:sp>
        <p:nvSpPr>
          <p:cNvPr id="8" name="qaline-6"/>
          <p:cNvSpPr/>
          <p:nvPr/>
        </p:nvSpPr>
        <p:spPr>
          <a:xfrm>
            <a:off x="3794760" y="1874520"/>
            <a:ext cx="7616952" cy="0"/>
          </a:xfrm>
          <a:prstGeom prst="line">
            <a:avLst/>
          </a:prstGeom>
          <a:noFill/>
          <a:ln w="9525">
            <a:solidFill>
              <a:schemeClr val="accent3"/>
            </a:solidFill>
            <a:prstDash val="solid"/>
          </a:ln>
        </p:spPr>
      </p:sp>
      <p:sp>
        <p:nvSpPr>
          <p:cNvPr id="9" name="txt-7"/>
          <p:cNvSpPr txBox="1"/>
          <p:nvPr/>
        </p:nvSpPr>
        <p:spPr>
          <a:xfrm>
            <a:off x="3794760" y="2011680"/>
            <a:ext cx="7616952" cy="14630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個別移管や案件の保留はしない。移管は全社の方針として決定済み</a:t>
            </a:r>
            <a:endParaRPr lang="en-US" sz="1100" dirty="0"/>
          </a:p>
          <a:p>
            <a:pPr marL="152400" indent="-152400">
              <a:spcAft>
                <a:spcPts val="600"/>
              </a:spcAft>
              <a:buSzPct val="100000"/>
              <a:buChar char="•"/>
            </a:pPr>
            <a:r>
              <a:rPr lang="en-US" sz="1300" dirty="0">
                <a:solidFill>
                  <a:schemeClr val="tx1"/>
                </a:solidFill>
              </a:rPr>
              <a:t>今の担当が SOP・規程・職務分掌など承認済みの文書で定められ、変えるのに正式な手続き（例：GxP の変更管理）が要る業務は、手続きが終わるまで今の担当が続ける（経過措置）</a:t>
            </a:r>
            <a:endParaRPr lang="en-US" sz="1100" dirty="0"/>
          </a:p>
          <a:p>
            <a:pPr marL="152400" indent="-152400">
              <a:spcAft>
                <a:spcPts val="600"/>
              </a:spcAft>
              <a:buSzPct val="100000"/>
              <a:buChar char="•"/>
            </a:pPr>
            <a:r>
              <a:rPr lang="en-US" sz="1300" dirty="0">
                <a:solidFill>
                  <a:schemeClr val="tx1"/>
                </a:solidFill>
              </a:rPr>
              <a:t>経過措置があっても予算は移る。その業務と完了予定は合意文書に残す</a:t>
            </a:r>
            <a:endParaRPr lang="en-US" sz="1100" dirty="0"/>
          </a:p>
        </p:txBody>
      </p:sp>
      <p:sp>
        <p:nvSpPr>
          <p:cNvPr id="10" name="box-8"/>
          <p:cNvSpPr/>
          <p:nvPr/>
        </p:nvSpPr>
        <p:spPr>
          <a:xfrm>
            <a:off x="457200" y="3794760"/>
            <a:ext cx="3017520" cy="2514600"/>
          </a:xfrm>
          <a:prstGeom prst="rect">
            <a:avLst/>
          </a:prstGeom>
          <a:solidFill>
            <a:schemeClr val="tx2"/>
          </a:solidFill>
          <a:ln/>
        </p:spPr>
      </p:sp>
      <p:sp>
        <p:nvSpPr>
          <p:cNvPr id="11" name="txt-9"/>
          <p:cNvSpPr txBox="1"/>
          <p:nvPr/>
        </p:nvSpPr>
        <p:spPr>
          <a:xfrm>
            <a:off x="731520" y="4069080"/>
            <a:ext cx="2468880" cy="274320"/>
          </a:xfrm>
          <a:prstGeom prst="rect">
            <a:avLst/>
          </a:prstGeom>
          <a:noFill/>
          <a:ln/>
        </p:spPr>
        <p:txBody>
          <a:bodyPr wrap="square" lIns="0" tIns="0" rIns="0" bIns="0" rtlCol="0" anchor="t"/>
          <a:lstStyle/>
          <a:p>
            <a:pPr indent="0" marL="0">
              <a:buNone/>
            </a:pPr>
            <a:r>
              <a:rPr lang="en-US" sz="1200" b="1" dirty="0">
                <a:solidFill>
                  <a:schemeClr val="accent4"/>
                </a:solidFill>
              </a:rPr>
              <a:t>懸念 2</a:t>
            </a:r>
            <a:endParaRPr lang="en-US" sz="1200" dirty="0"/>
          </a:p>
        </p:txBody>
      </p:sp>
      <p:sp>
        <p:nvSpPr>
          <p:cNvPr id="12" name="txt-10"/>
          <p:cNvSpPr txBox="1"/>
          <p:nvPr/>
        </p:nvSpPr>
        <p:spPr>
          <a:xfrm>
            <a:off x="731520" y="4434840"/>
            <a:ext cx="2468880" cy="1600200"/>
          </a:xfrm>
          <a:prstGeom prst="rect">
            <a:avLst/>
          </a:prstGeom>
          <a:noFill/>
          <a:ln/>
        </p:spPr>
        <p:txBody>
          <a:bodyPr wrap="square" lIns="0" tIns="0" rIns="0" bIns="0" rtlCol="0" anchor="t"/>
          <a:lstStyle/>
          <a:p>
            <a:pPr indent="0" marL="0">
              <a:buNone/>
            </a:pPr>
            <a:r>
              <a:rPr lang="en-US" sz="1700" b="1" dirty="0">
                <a:solidFill>
                  <a:schemeClr val="bg1"/>
                </a:solidFill>
              </a:rPr>
              <a:t>移管の後、</a:t>
            </a:r>
            <a:endParaRPr lang="en-US" sz="1700" dirty="0"/>
          </a:p>
          <a:p>
            <a:pPr indent="0" marL="0">
              <a:buNone/>
            </a:pPr>
            <a:r>
              <a:rPr lang="en-US" sz="1700" b="1" dirty="0">
                <a:solidFill>
                  <a:schemeClr val="bg1"/>
                </a:solidFill>
              </a:rPr>
              <a:t>誰が何を担うのか。</a:t>
            </a:r>
            <a:endParaRPr lang="en-US" sz="1700" dirty="0"/>
          </a:p>
          <a:p>
            <a:pPr indent="0" marL="0">
              <a:buNone/>
            </a:pPr>
            <a:r>
              <a:rPr lang="en-US" sz="1700" b="1" dirty="0">
                <a:solidFill>
                  <a:schemeClr val="bg1"/>
                </a:solidFill>
              </a:rPr>
              <a:t>部門の権限は</a:t>
            </a:r>
            <a:endParaRPr lang="en-US" sz="1700" dirty="0"/>
          </a:p>
          <a:p>
            <a:pPr indent="0" marL="0">
              <a:buNone/>
            </a:pPr>
            <a:r>
              <a:rPr lang="en-US" sz="1700" b="1" dirty="0">
                <a:solidFill>
                  <a:schemeClr val="bg1"/>
                </a:solidFill>
              </a:rPr>
              <a:t>どうなるのか</a:t>
            </a:r>
            <a:endParaRPr lang="en-US" sz="1700" dirty="0"/>
          </a:p>
        </p:txBody>
      </p:sp>
      <p:sp>
        <p:nvSpPr>
          <p:cNvPr id="13" name="box-11"/>
          <p:cNvSpPr/>
          <p:nvPr/>
        </p:nvSpPr>
        <p:spPr>
          <a:xfrm>
            <a:off x="3474720" y="3794760"/>
            <a:ext cx="8257032" cy="2514600"/>
          </a:xfrm>
          <a:prstGeom prst="rect">
            <a:avLst/>
          </a:prstGeom>
          <a:solidFill>
            <a:schemeClr val="bg2"/>
          </a:solidFill>
          <a:ln/>
        </p:spPr>
      </p:sp>
      <p:sp>
        <p:nvSpPr>
          <p:cNvPr id="14" name="txt-12"/>
          <p:cNvSpPr txBox="1"/>
          <p:nvPr/>
        </p:nvSpPr>
        <p:spPr>
          <a:xfrm>
            <a:off x="3794760" y="4023360"/>
            <a:ext cx="7616952" cy="457200"/>
          </a:xfrm>
          <a:prstGeom prst="rect">
            <a:avLst/>
          </a:prstGeom>
          <a:noFill/>
          <a:ln/>
        </p:spPr>
        <p:txBody>
          <a:bodyPr wrap="square" lIns="0" tIns="0" rIns="0" bIns="0" rtlCol="0" anchor="ctr"/>
          <a:lstStyle/>
          <a:p>
            <a:pPr indent="0" marL="0">
              <a:buNone/>
            </a:pPr>
            <a:r>
              <a:rPr lang="en-US" sz="1700" b="1" dirty="0">
                <a:solidFill>
                  <a:schemeClr val="tx2"/>
                </a:solidFill>
              </a:rPr>
              <a:t>最終責任（A）は部門に残る。役割分担は標準 RACI を基に合意する</a:t>
            </a:r>
            <a:endParaRPr lang="en-US" sz="1700" dirty="0"/>
          </a:p>
        </p:txBody>
      </p:sp>
      <p:sp>
        <p:nvSpPr>
          <p:cNvPr id="15" name="qaline-13"/>
          <p:cNvSpPr/>
          <p:nvPr/>
        </p:nvSpPr>
        <p:spPr>
          <a:xfrm>
            <a:off x="3794760" y="4572000"/>
            <a:ext cx="7616952" cy="0"/>
          </a:xfrm>
          <a:prstGeom prst="line">
            <a:avLst/>
          </a:prstGeom>
          <a:noFill/>
          <a:ln w="9525">
            <a:solidFill>
              <a:schemeClr val="accent3"/>
            </a:solidFill>
            <a:prstDash val="solid"/>
          </a:ln>
        </p:spPr>
      </p:sp>
      <p:sp>
        <p:nvSpPr>
          <p:cNvPr id="16" name="txt-14"/>
          <p:cNvSpPr txBox="1"/>
          <p:nvPr/>
        </p:nvSpPr>
        <p:spPr>
          <a:xfrm>
            <a:off x="3794760" y="4709160"/>
            <a:ext cx="7616952" cy="146304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間接業務（予算の管理、契約、発注・検収・支払い）は1月から IT部門が担う</a:t>
            </a:r>
            <a:endParaRPr lang="en-US" sz="1100" dirty="0"/>
          </a:p>
          <a:p>
            <a:pPr marL="152400" indent="-152400">
              <a:spcAft>
                <a:spcPts val="600"/>
              </a:spcAft>
              <a:buSzPct val="100000"/>
              <a:buChar char="•"/>
            </a:pPr>
            <a:r>
              <a:rPr lang="en-US" sz="1300" dirty="0">
                <a:solidFill>
                  <a:schemeClr val="tx1"/>
                </a:solidFill>
              </a:rPr>
              <a:t>直接業務と IT関連業務の A はビジネスオーナーに残る。IT部門は A を引き取らない</a:t>
            </a:r>
            <a:endParaRPr lang="en-US" sz="1100" dirty="0"/>
          </a:p>
          <a:p>
            <a:pPr marL="152400" indent="-152400">
              <a:spcAft>
                <a:spcPts val="600"/>
              </a:spcAft>
              <a:buSzPct val="100000"/>
              <a:buChar char="•"/>
            </a:pPr>
            <a:r>
              <a:rPr lang="en-US" sz="1300" dirty="0">
                <a:solidFill>
                  <a:schemeClr val="tx1"/>
                </a:solidFill>
              </a:rPr>
              <a:t>案件ごとに変えられるのは、IT関連業務の R / C の持ち方と、IT部門が R を担い始める時期だけ。移管元の責任者が合意文書を承認して確定する（6〜8枚目）</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今期の目標</a:t>
            </a:r>
            <a:endParaRPr lang="en-US" sz="2600" dirty="0"/>
          </a:p>
        </p:txBody>
      </p:sp>
      <p:sp>
        <p:nvSpPr>
          <p:cNvPr id="3" name="box-15"/>
          <p:cNvSpPr/>
          <p:nvPr/>
        </p:nvSpPr>
        <p:spPr>
          <a:xfrm>
            <a:off x="457200" y="1051560"/>
            <a:ext cx="11274552" cy="1143000"/>
          </a:xfrm>
          <a:prstGeom prst="rect">
            <a:avLst/>
          </a:prstGeom>
          <a:solidFill>
            <a:schemeClr val="tx2"/>
          </a:solidFill>
          <a:ln/>
        </p:spPr>
      </p:sp>
      <p:sp>
        <p:nvSpPr>
          <p:cNvPr id="4" name="txt-16"/>
          <p:cNvSpPr txBox="1"/>
          <p:nvPr/>
        </p:nvSpPr>
        <p:spPr>
          <a:xfrm>
            <a:off x="822960" y="1161288"/>
            <a:ext cx="10515600" cy="566928"/>
          </a:xfrm>
          <a:prstGeom prst="rect">
            <a:avLst/>
          </a:prstGeom>
          <a:noFill/>
          <a:ln/>
        </p:spPr>
        <p:txBody>
          <a:bodyPr wrap="square" lIns="0" tIns="0" rIns="0" bIns="0" rtlCol="0" anchor="ctr"/>
          <a:lstStyle/>
          <a:p>
            <a:pPr indent="0" marL="0">
              <a:buNone/>
            </a:pPr>
            <a:r>
              <a:rPr lang="en-US" sz="2800" b="1" dirty="0">
                <a:solidFill>
                  <a:schemeClr val="bg1"/>
                </a:solidFill>
              </a:rPr>
              <a:t>移管の稟議が、12月末までに承認されること</a:t>
            </a:r>
            <a:endParaRPr lang="en-US" sz="2800" dirty="0"/>
          </a:p>
        </p:txBody>
      </p:sp>
      <p:sp>
        <p:nvSpPr>
          <p:cNvPr id="5" name="txt-17"/>
          <p:cNvSpPr txBox="1"/>
          <p:nvPr/>
        </p:nvSpPr>
        <p:spPr>
          <a:xfrm>
            <a:off x="822960" y="1755648"/>
            <a:ext cx="10515600" cy="310896"/>
          </a:xfrm>
          <a:prstGeom prst="rect">
            <a:avLst/>
          </a:prstGeom>
          <a:noFill/>
          <a:ln/>
        </p:spPr>
        <p:txBody>
          <a:bodyPr wrap="square" lIns="0" tIns="0" rIns="0" bIns="0" rtlCol="0" anchor="ctr"/>
          <a:lstStyle/>
          <a:p>
            <a:pPr indent="0" marL="0">
              <a:buNone/>
            </a:pPr>
            <a:r>
              <a:rPr lang="en-US" sz="1400" dirty="0">
                <a:solidFill>
                  <a:schemeClr val="accent4"/>
                </a:solidFill>
              </a:rPr>
              <a:t>今期は12月末の移管の承認を目指す。移管による効果の創出は、来期に改めて検討する</a:t>
            </a:r>
            <a:endParaRPr lang="en-US" sz="1400" dirty="0"/>
          </a:p>
        </p:txBody>
      </p:sp>
      <p:sp>
        <p:nvSpPr>
          <p:cNvPr id="6" name="box-18"/>
          <p:cNvSpPr/>
          <p:nvPr/>
        </p:nvSpPr>
        <p:spPr>
          <a:xfrm>
            <a:off x="457200" y="2377440"/>
            <a:ext cx="3648456" cy="3931920"/>
          </a:xfrm>
          <a:prstGeom prst="rect">
            <a:avLst/>
          </a:prstGeom>
          <a:solidFill>
            <a:schemeClr val="bg2"/>
          </a:solidFill>
          <a:ln/>
        </p:spPr>
      </p:sp>
      <p:sp>
        <p:nvSpPr>
          <p:cNvPr id="7" name="txt-19"/>
          <p:cNvSpPr txBox="1"/>
          <p:nvPr/>
        </p:nvSpPr>
        <p:spPr>
          <a:xfrm>
            <a:off x="658368"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決まっていること</a:t>
            </a:r>
            <a:endParaRPr lang="en-US" sz="1500" dirty="0"/>
          </a:p>
        </p:txBody>
      </p:sp>
      <p:sp>
        <p:nvSpPr>
          <p:cNvPr id="8" name="txt-20"/>
          <p:cNvSpPr txBox="1"/>
          <p:nvPr/>
        </p:nvSpPr>
        <p:spPr>
          <a:xfrm>
            <a:off x="658368"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全社の方針として決定済み</a:t>
            </a:r>
            <a:endParaRPr lang="en-US" sz="1100" dirty="0"/>
          </a:p>
        </p:txBody>
      </p:sp>
      <p:sp>
        <p:nvSpPr>
          <p:cNvPr id="9" name="txt-21"/>
          <p:cNvSpPr txBox="1"/>
          <p:nvPr/>
        </p:nvSpPr>
        <p:spPr>
          <a:xfrm>
            <a:off x="658368" y="3310128"/>
            <a:ext cx="3246120" cy="288036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経営で決定済み。全社向けの予算策定ガイドラインに明記されている</a:t>
            </a:r>
            <a:endParaRPr lang="en-US" sz="1100" dirty="0"/>
          </a:p>
          <a:p>
            <a:pPr marL="152400" indent="-152400">
              <a:spcAft>
                <a:spcPts val="300"/>
              </a:spcAft>
              <a:buSzPct val="100000"/>
              <a:buChar char="•"/>
            </a:pPr>
            <a:r>
              <a:rPr lang="en-US" sz="1200" dirty="0">
                <a:solidFill>
                  <a:schemeClr val="tx1"/>
                </a:solidFill>
              </a:rPr>
              <a:t>対象は営業部門以外の部門（人事・総務・財務を含む）。各部門には案内済み</a:t>
            </a:r>
            <a:endParaRPr lang="en-US" sz="1100" dirty="0"/>
          </a:p>
          <a:p>
            <a:pPr marL="152400" indent="-152400">
              <a:spcAft>
                <a:spcPts val="300"/>
              </a:spcAft>
              <a:buSzPct val="100000"/>
              <a:buChar char="•"/>
            </a:pPr>
            <a:r>
              <a:rPr lang="en-US" sz="1200" dirty="0">
                <a:solidFill>
                  <a:schemeClr val="tx1"/>
                </a:solidFill>
              </a:rPr>
              <a:t>範囲は、業務アプリケーションとその関連ツールの予算・契約・間接業務</a:t>
            </a:r>
            <a:endParaRPr lang="en-US" sz="1100" dirty="0"/>
          </a:p>
          <a:p>
            <a:pPr marL="152400" indent="-152400">
              <a:spcAft>
                <a:spcPts val="300"/>
              </a:spcAft>
              <a:buSzPct val="100000"/>
              <a:buChar char="•"/>
            </a:pPr>
            <a:r>
              <a:rPr lang="en-US" sz="1200" dirty="0">
                <a:solidFill>
                  <a:schemeClr val="tx1"/>
                </a:solidFill>
              </a:rPr>
              <a:t>インフラやセキュリティなど、全社横断の領域は含まない</a:t>
            </a:r>
            <a:endParaRPr lang="en-US" sz="1100" dirty="0"/>
          </a:p>
          <a:p>
            <a:pPr marL="152400" indent="-152400">
              <a:spcAft>
                <a:spcPts val="300"/>
              </a:spcAft>
              <a:buSzPct val="100000"/>
              <a:buChar char="•"/>
            </a:pPr>
            <a:r>
              <a:rPr lang="en-US" sz="1200" dirty="0">
                <a:solidFill>
                  <a:schemeClr val="tx1"/>
                </a:solidFill>
              </a:rPr>
              <a:t>ビジネスオーナーシップは部門に残る</a:t>
            </a:r>
            <a:endParaRPr lang="en-US" sz="1100" dirty="0"/>
          </a:p>
        </p:txBody>
      </p:sp>
      <p:sp>
        <p:nvSpPr>
          <p:cNvPr id="10" name="box-22"/>
          <p:cNvSpPr/>
          <p:nvPr/>
        </p:nvSpPr>
        <p:spPr>
          <a:xfrm>
            <a:off x="4270248" y="2377440"/>
            <a:ext cx="3648456" cy="3931920"/>
          </a:xfrm>
          <a:prstGeom prst="rect">
            <a:avLst/>
          </a:prstGeom>
          <a:solidFill>
            <a:schemeClr val="bg2"/>
          </a:solidFill>
          <a:ln/>
        </p:spPr>
      </p:sp>
      <p:sp>
        <p:nvSpPr>
          <p:cNvPr id="11" name="txt-23"/>
          <p:cNvSpPr txBox="1"/>
          <p:nvPr/>
        </p:nvSpPr>
        <p:spPr>
          <a:xfrm>
            <a:off x="4471416"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すべて一括で移管する</a:t>
            </a:r>
            <a:endParaRPr lang="en-US" sz="1500" dirty="0"/>
          </a:p>
        </p:txBody>
      </p:sp>
      <p:sp>
        <p:nvSpPr>
          <p:cNvPr id="12" name="txt-24"/>
          <p:cNvSpPr txBox="1"/>
          <p:nvPr/>
        </p:nvSpPr>
        <p:spPr>
          <a:xfrm>
            <a:off x="4471416"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予算は2027年1月1日に移る</a:t>
            </a:r>
            <a:endParaRPr lang="en-US" sz="1100" dirty="0"/>
          </a:p>
        </p:txBody>
      </p:sp>
      <p:sp>
        <p:nvSpPr>
          <p:cNvPr id="13" name="txt-25"/>
          <p:cNvSpPr txBox="1"/>
          <p:nvPr/>
        </p:nvSpPr>
        <p:spPr>
          <a:xfrm>
            <a:off x="4471416" y="3310128"/>
            <a:ext cx="3246120" cy="28803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chemeClr val="tx1"/>
                </a:solidFill>
              </a:rPr>
              <a:t>移すかどうかは判断しない</a:t>
            </a:r>
            <a:endParaRPr lang="en-US" sz="1100" dirty="0"/>
          </a:p>
          <a:p>
            <a:pPr marL="152400" indent="-152400">
              <a:spcAft>
                <a:spcPts val="300"/>
              </a:spcAft>
              <a:buSzPct val="100000"/>
              <a:buChar char="•"/>
            </a:pPr>
            <a:r>
              <a:rPr lang="en-US" sz="1150" b="1" dirty="0">
                <a:solidFill>
                  <a:schemeClr val="tx1"/>
                </a:solidFill>
              </a:rPr>
              <a:t>一括移管：2027年1月1日（すべての予算）</a:t>
            </a:r>
            <a:endParaRPr lang="en-US" sz="1100" dirty="0"/>
          </a:p>
          <a:p>
            <a:pPr marL="152400" indent="-152400">
              <a:spcAft>
                <a:spcPts val="300"/>
              </a:spcAft>
              <a:buSzPct val="100000"/>
              <a:buChar char="•"/>
            </a:pPr>
            <a:r>
              <a:rPr lang="en-US" sz="1150" dirty="0">
                <a:solidFill>
                  <a:schemeClr val="tx1"/>
                </a:solidFill>
              </a:rPr>
              <a:t>経過措置：今の役割分担（Before）が SOP・規程・職務分掌など承認済みの文書や記録で定められ、変えるのに正式な手続き（例：GxP の変更管理）が要る業務は、手続きが終わるまで今の担当が続ける</a:t>
            </a:r>
            <a:endParaRPr lang="en-US" sz="1100" dirty="0"/>
          </a:p>
          <a:p>
            <a:pPr marL="152400" indent="-152400">
              <a:spcAft>
                <a:spcPts val="300"/>
              </a:spcAft>
              <a:buSzPct val="100000"/>
              <a:buChar char="•"/>
            </a:pPr>
            <a:r>
              <a:rPr lang="en-US" sz="1150" b="1" dirty="0">
                <a:solidFill>
                  <a:schemeClr val="tx1"/>
                </a:solidFill>
              </a:rPr>
              <a:t>経過措置があっても、予算は1月1日に移る</a:t>
            </a:r>
            <a:endParaRPr lang="en-US" sz="1100" dirty="0"/>
          </a:p>
          <a:p>
            <a:pPr marL="152400" indent="-152400">
              <a:spcAft>
                <a:spcPts val="300"/>
              </a:spcAft>
              <a:buSzPct val="100000"/>
              <a:buChar char="•"/>
            </a:pPr>
            <a:r>
              <a:rPr lang="en-US" sz="1150" dirty="0">
                <a:solidFill>
                  <a:schemeClr val="tx1"/>
                </a:solidFill>
              </a:rPr>
              <a:t>経過措置の業務と完了予定は、合意文書に残す</a:t>
            </a:r>
            <a:endParaRPr lang="en-US" sz="1100" dirty="0"/>
          </a:p>
        </p:txBody>
      </p:sp>
      <p:sp>
        <p:nvSpPr>
          <p:cNvPr id="14" name="box-26"/>
          <p:cNvSpPr/>
          <p:nvPr/>
        </p:nvSpPr>
        <p:spPr>
          <a:xfrm>
            <a:off x="8083296" y="2377440"/>
            <a:ext cx="3648456" cy="3931920"/>
          </a:xfrm>
          <a:prstGeom prst="rect">
            <a:avLst/>
          </a:prstGeom>
          <a:solidFill>
            <a:schemeClr val="bg2"/>
          </a:solidFill>
          <a:ln/>
        </p:spPr>
      </p:sp>
      <p:sp>
        <p:nvSpPr>
          <p:cNvPr id="15" name="txt-27"/>
          <p:cNvSpPr txBox="1"/>
          <p:nvPr/>
        </p:nvSpPr>
        <p:spPr>
          <a:xfrm>
            <a:off x="8284464" y="2542032"/>
            <a:ext cx="3246120" cy="365760"/>
          </a:xfrm>
          <a:prstGeom prst="rect">
            <a:avLst/>
          </a:prstGeom>
          <a:noFill/>
          <a:ln/>
        </p:spPr>
        <p:txBody>
          <a:bodyPr wrap="square" lIns="0" tIns="0" rIns="0" bIns="0" rtlCol="0" anchor="t"/>
          <a:lstStyle/>
          <a:p>
            <a:pPr indent="0" marL="0">
              <a:buNone/>
            </a:pPr>
            <a:r>
              <a:rPr lang="en-US" sz="1500" b="1" dirty="0">
                <a:solidFill>
                  <a:schemeClr val="tx2"/>
                </a:solidFill>
              </a:rPr>
              <a:t>12月末のゴール</a:t>
            </a:r>
            <a:endParaRPr lang="en-US" sz="1500" dirty="0"/>
          </a:p>
        </p:txBody>
      </p:sp>
      <p:sp>
        <p:nvSpPr>
          <p:cNvPr id="16" name="txt-28"/>
          <p:cNvSpPr txBox="1"/>
          <p:nvPr/>
        </p:nvSpPr>
        <p:spPr>
          <a:xfrm>
            <a:off x="8284464" y="2926080"/>
            <a:ext cx="3246120" cy="274320"/>
          </a:xfrm>
          <a:prstGeom prst="rect">
            <a:avLst/>
          </a:prstGeom>
          <a:noFill/>
          <a:ln/>
        </p:spPr>
        <p:txBody>
          <a:bodyPr wrap="square" lIns="0" tIns="0" rIns="0" bIns="0" rtlCol="0" anchor="t"/>
          <a:lstStyle/>
          <a:p>
            <a:pPr indent="0" marL="0">
              <a:buNone/>
            </a:pPr>
            <a:r>
              <a:rPr lang="en-US" sz="1100" b="1" dirty="0">
                <a:solidFill>
                  <a:schemeClr val="accent2"/>
                </a:solidFill>
              </a:rPr>
              <a:t>稟議の承認。すべて終わっていなくてよい</a:t>
            </a:r>
            <a:endParaRPr lang="en-US" sz="1100" dirty="0"/>
          </a:p>
        </p:txBody>
      </p:sp>
      <p:sp>
        <p:nvSpPr>
          <p:cNvPr id="17" name="txt-29"/>
          <p:cNvSpPr txBox="1"/>
          <p:nvPr/>
        </p:nvSpPr>
        <p:spPr>
          <a:xfrm>
            <a:off x="8284464" y="3310128"/>
            <a:ext cx="3246120" cy="2880360"/>
          </a:xfrm>
          <a:prstGeom prst="rect">
            <a:avLst/>
          </a:prstGeom>
          <a:noFill/>
          <a:ln/>
        </p:spPr>
        <p:txBody>
          <a:bodyPr wrap="square" lIns="0" tIns="0" rIns="0" bIns="0" rtlCol="0" anchor="t"/>
          <a:lstStyle/>
          <a:p>
            <a:pPr indent="0" marL="0">
              <a:spcAft>
                <a:spcPts val="400"/>
              </a:spcAft>
              <a:buNone/>
            </a:pPr>
            <a:r>
              <a:rPr lang="en-US" sz="1200" b="1" dirty="0">
                <a:solidFill>
                  <a:schemeClr val="tx2"/>
                </a:solidFill>
              </a:rPr>
              <a:t>前提はこの3つだけ</a:t>
            </a:r>
            <a:endParaRPr lang="en-US" sz="1100" dirty="0"/>
          </a:p>
          <a:p>
            <a:pPr indent="0" marL="0">
              <a:spcAft>
                <a:spcPts val="300"/>
              </a:spcAft>
              <a:buNone/>
            </a:pPr>
            <a:r>
              <a:rPr lang="en-US" sz="1200" dirty="0">
                <a:solidFill>
                  <a:schemeClr val="tx1"/>
                </a:solidFill>
              </a:rPr>
              <a:t>①　稟議に必要な情報（移管判定、来年度予算、合意文書）が整理されている</a:t>
            </a:r>
            <a:endParaRPr lang="en-US" sz="1100" dirty="0"/>
          </a:p>
          <a:p>
            <a:pPr indent="0" marL="0">
              <a:spcAft>
                <a:spcPts val="300"/>
              </a:spcAft>
              <a:buNone/>
            </a:pPr>
            <a:r>
              <a:rPr lang="en-US" sz="1200" dirty="0">
                <a:solidFill>
                  <a:schemeClr val="tx1"/>
                </a:solidFill>
              </a:rPr>
              <a:t>②　終わっていないこと（SOPの改訂、契約の署名者の変更など）が案件ごとに明確になっている</a:t>
            </a:r>
            <a:endParaRPr lang="en-US" sz="1100" dirty="0"/>
          </a:p>
          <a:p>
            <a:pPr indent="0" marL="0">
              <a:spcAft>
                <a:spcPts val="800"/>
              </a:spcAft>
              <a:buNone/>
            </a:pPr>
            <a:r>
              <a:rPr lang="en-US" sz="1200" dirty="0">
                <a:solidFill>
                  <a:schemeClr val="tx1"/>
                </a:solidFill>
              </a:rPr>
              <a:t>③　1月から契約の管理と支払いを IT部門が始められる</a:t>
            </a:r>
            <a:endParaRPr lang="en-US" sz="1100" dirty="0"/>
          </a:p>
          <a:p>
            <a:pPr indent="0" marL="0">
              <a:spcAft>
                <a:spcPts val="800"/>
              </a:spcAft>
              <a:buNone/>
            </a:pPr>
            <a:r>
              <a:rPr lang="en-US" sz="1100" dirty="0">
                <a:solidFill>
                  <a:schemeClr val="tx1"/>
                </a:solidFill>
              </a:rPr>
              <a:t>移管の時点で契約の手続きはしない。署名者は次回の更新から IT部門に変わり、請求書の宛名の変更は2月初旬までに相手先に連絡する</a:t>
            </a:r>
            <a:endParaRPr lang="en-US" sz="1100" dirty="0"/>
          </a:p>
          <a:p>
            <a:pPr indent="0" marL="0">
              <a:buNone/>
            </a:pPr>
            <a:r>
              <a:rPr lang="en-US" sz="1100" dirty="0">
                <a:solidFill>
                  <a:schemeClr val="accent2"/>
                </a:solidFill>
              </a:rPr>
              <a:t>来年以降の役割分担は6〜8枚目に参考として示した。今は予算移管に集中してほしい</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11月〜12月のタスク</a:t>
            </a:r>
            <a:endParaRPr lang="en-US" sz="2600" dirty="0"/>
          </a:p>
        </p:txBody>
      </p:sp>
      <p:sp>
        <p:nvSpPr>
          <p:cNvPr id="3" name="box-30"/>
          <p:cNvSpPr/>
          <p:nvPr/>
        </p:nvSpPr>
        <p:spPr>
          <a:xfrm>
            <a:off x="4617720" y="1024128"/>
            <a:ext cx="2727525" cy="274320"/>
          </a:xfrm>
          <a:prstGeom prst="rect">
            <a:avLst/>
          </a:prstGeom>
          <a:solidFill>
            <a:schemeClr val="tx2"/>
          </a:solidFill>
          <a:ln/>
        </p:spPr>
      </p:sp>
      <p:sp>
        <p:nvSpPr>
          <p:cNvPr id="4" name="txt-31"/>
          <p:cNvSpPr txBox="1"/>
          <p:nvPr/>
        </p:nvSpPr>
        <p:spPr>
          <a:xfrm>
            <a:off x="4617720" y="1024128"/>
            <a:ext cx="2727525" cy="274320"/>
          </a:xfrm>
          <a:prstGeom prst="rect">
            <a:avLst/>
          </a:prstGeom>
          <a:noFill/>
          <a:ln/>
        </p:spPr>
        <p:txBody>
          <a:bodyPr wrap="square" lIns="0" tIns="0" rIns="0" bIns="0" rtlCol="0" anchor="ctr"/>
          <a:lstStyle/>
          <a:p>
            <a:pPr algn="ctr" indent="0" marL="0">
              <a:buNone/>
            </a:pPr>
            <a:r>
              <a:rPr lang="en-US" sz="1100" b="1" dirty="0">
                <a:solidFill>
                  <a:schemeClr val="bg1"/>
                </a:solidFill>
              </a:rPr>
              <a:t>11月</a:t>
            </a:r>
            <a:endParaRPr lang="en-US" sz="1100" dirty="0"/>
          </a:p>
        </p:txBody>
      </p:sp>
      <p:sp>
        <p:nvSpPr>
          <p:cNvPr id="5" name="box-32"/>
          <p:cNvSpPr/>
          <p:nvPr/>
        </p:nvSpPr>
        <p:spPr>
          <a:xfrm>
            <a:off x="7345245" y="1024128"/>
            <a:ext cx="2915630" cy="274320"/>
          </a:xfrm>
          <a:prstGeom prst="rect">
            <a:avLst/>
          </a:prstGeom>
          <a:solidFill>
            <a:schemeClr val="tx2"/>
          </a:solidFill>
          <a:ln/>
        </p:spPr>
      </p:sp>
      <p:sp>
        <p:nvSpPr>
          <p:cNvPr id="6" name="txt-33"/>
          <p:cNvSpPr txBox="1"/>
          <p:nvPr/>
        </p:nvSpPr>
        <p:spPr>
          <a:xfrm>
            <a:off x="7345245" y="1024128"/>
            <a:ext cx="2915630" cy="274320"/>
          </a:xfrm>
          <a:prstGeom prst="rect">
            <a:avLst/>
          </a:prstGeom>
          <a:noFill/>
          <a:ln/>
        </p:spPr>
        <p:txBody>
          <a:bodyPr wrap="square" lIns="0" tIns="0" rIns="0" bIns="0" rtlCol="0" anchor="ctr"/>
          <a:lstStyle/>
          <a:p>
            <a:pPr algn="ctr" indent="0" marL="0">
              <a:buNone/>
            </a:pPr>
            <a:r>
              <a:rPr lang="en-US" sz="1100" b="1" dirty="0">
                <a:solidFill>
                  <a:schemeClr val="bg1"/>
                </a:solidFill>
              </a:rPr>
              <a:t>12月</a:t>
            </a:r>
            <a:endParaRPr lang="en-US" sz="1100" dirty="0"/>
          </a:p>
        </p:txBody>
      </p:sp>
      <p:sp>
        <p:nvSpPr>
          <p:cNvPr id="7" name="box-34"/>
          <p:cNvSpPr/>
          <p:nvPr/>
        </p:nvSpPr>
        <p:spPr>
          <a:xfrm>
            <a:off x="10260874" y="1024128"/>
            <a:ext cx="1470878" cy="274320"/>
          </a:xfrm>
          <a:prstGeom prst="rect">
            <a:avLst/>
          </a:prstGeom>
          <a:solidFill>
            <a:schemeClr val="bg2"/>
          </a:solidFill>
          <a:ln/>
        </p:spPr>
      </p:sp>
      <p:sp>
        <p:nvSpPr>
          <p:cNvPr id="8" name="txt-35"/>
          <p:cNvSpPr txBox="1"/>
          <p:nvPr/>
        </p:nvSpPr>
        <p:spPr>
          <a:xfrm>
            <a:off x="10260874" y="1024128"/>
            <a:ext cx="1470878" cy="274320"/>
          </a:xfrm>
          <a:prstGeom prst="rect">
            <a:avLst/>
          </a:prstGeom>
          <a:noFill/>
          <a:ln/>
        </p:spPr>
        <p:txBody>
          <a:bodyPr wrap="square" lIns="0" tIns="0" rIns="0" bIns="0" rtlCol="0" anchor="ctr"/>
          <a:lstStyle/>
          <a:p>
            <a:pPr algn="ctr" indent="0" marL="0">
              <a:buNone/>
            </a:pPr>
            <a:r>
              <a:rPr lang="en-US" sz="1100" b="1" dirty="0">
                <a:solidFill>
                  <a:schemeClr val="accent2"/>
                </a:solidFill>
              </a:rPr>
              <a:t>1月以降</a:t>
            </a:r>
            <a:endParaRPr lang="en-US" sz="1100" dirty="0"/>
          </a:p>
        </p:txBody>
      </p:sp>
      <p:sp>
        <p:nvSpPr>
          <p:cNvPr id="9" name="txt-36"/>
          <p:cNvSpPr txBox="1"/>
          <p:nvPr/>
        </p:nvSpPr>
        <p:spPr>
          <a:xfrm>
            <a:off x="4617720"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11/2</a:t>
            </a:r>
            <a:endParaRPr lang="en-US" sz="950" dirty="0"/>
          </a:p>
        </p:txBody>
      </p:sp>
      <p:sp>
        <p:nvSpPr>
          <p:cNvPr id="10" name="txt-37"/>
          <p:cNvSpPr txBox="1"/>
          <p:nvPr/>
        </p:nvSpPr>
        <p:spPr>
          <a:xfrm>
            <a:off x="5276088"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11/9</a:t>
            </a:r>
            <a:endParaRPr lang="en-US" sz="950" dirty="0"/>
          </a:p>
        </p:txBody>
      </p:sp>
      <p:sp>
        <p:nvSpPr>
          <p:cNvPr id="11" name="txt-38"/>
          <p:cNvSpPr txBox="1"/>
          <p:nvPr/>
        </p:nvSpPr>
        <p:spPr>
          <a:xfrm>
            <a:off x="5934456"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11/16</a:t>
            </a:r>
            <a:endParaRPr lang="en-US" sz="950" dirty="0"/>
          </a:p>
        </p:txBody>
      </p:sp>
      <p:sp>
        <p:nvSpPr>
          <p:cNvPr id="12" name="txt-39"/>
          <p:cNvSpPr txBox="1"/>
          <p:nvPr/>
        </p:nvSpPr>
        <p:spPr>
          <a:xfrm>
            <a:off x="6592824"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11/23</a:t>
            </a:r>
            <a:endParaRPr lang="en-US" sz="950" dirty="0"/>
          </a:p>
        </p:txBody>
      </p:sp>
      <p:sp>
        <p:nvSpPr>
          <p:cNvPr id="13" name="txt-40"/>
          <p:cNvSpPr txBox="1"/>
          <p:nvPr/>
        </p:nvSpPr>
        <p:spPr>
          <a:xfrm>
            <a:off x="7251192"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11/30</a:t>
            </a:r>
            <a:endParaRPr lang="en-US" sz="950" dirty="0"/>
          </a:p>
        </p:txBody>
      </p:sp>
      <p:sp>
        <p:nvSpPr>
          <p:cNvPr id="14" name="txt-41"/>
          <p:cNvSpPr txBox="1"/>
          <p:nvPr/>
        </p:nvSpPr>
        <p:spPr>
          <a:xfrm>
            <a:off x="7909560"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12/7</a:t>
            </a:r>
            <a:endParaRPr lang="en-US" sz="950" dirty="0"/>
          </a:p>
        </p:txBody>
      </p:sp>
      <p:sp>
        <p:nvSpPr>
          <p:cNvPr id="15" name="txt-42"/>
          <p:cNvSpPr txBox="1"/>
          <p:nvPr/>
        </p:nvSpPr>
        <p:spPr>
          <a:xfrm>
            <a:off x="8567928"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12/14</a:t>
            </a:r>
            <a:endParaRPr lang="en-US" sz="950" dirty="0"/>
          </a:p>
        </p:txBody>
      </p:sp>
      <p:sp>
        <p:nvSpPr>
          <p:cNvPr id="16" name="txt-43"/>
          <p:cNvSpPr txBox="1"/>
          <p:nvPr/>
        </p:nvSpPr>
        <p:spPr>
          <a:xfrm>
            <a:off x="9226296"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12/21</a:t>
            </a:r>
            <a:endParaRPr lang="en-US" sz="950" dirty="0"/>
          </a:p>
        </p:txBody>
      </p:sp>
      <p:sp>
        <p:nvSpPr>
          <p:cNvPr id="17" name="txt-44"/>
          <p:cNvSpPr txBox="1"/>
          <p:nvPr/>
        </p:nvSpPr>
        <p:spPr>
          <a:xfrm>
            <a:off x="9884664" y="1298448"/>
            <a:ext cx="658368" cy="274320"/>
          </a:xfrm>
          <a:prstGeom prst="rect">
            <a:avLst/>
          </a:prstGeom>
          <a:noFill/>
          <a:ln/>
        </p:spPr>
        <p:txBody>
          <a:bodyPr wrap="square" lIns="0" tIns="0" rIns="0" bIns="0" rtlCol="0" anchor="ctr"/>
          <a:lstStyle/>
          <a:p>
            <a:pPr algn="ctr" indent="0" marL="0">
              <a:buNone/>
            </a:pPr>
            <a:r>
              <a:rPr lang="en-US" sz="950" dirty="0">
                <a:solidFill>
                  <a:schemeClr val="accent2"/>
                </a:solidFill>
              </a:rPr>
              <a:t>12/28</a:t>
            </a:r>
            <a:endParaRPr lang="en-US" sz="950" dirty="0"/>
          </a:p>
        </p:txBody>
      </p:sp>
      <p:sp>
        <p:nvSpPr>
          <p:cNvPr id="18" name="txt-45"/>
          <p:cNvSpPr txBox="1"/>
          <p:nvPr/>
        </p:nvSpPr>
        <p:spPr>
          <a:xfrm>
            <a:off x="10260874" y="1298448"/>
            <a:ext cx="1470878" cy="274320"/>
          </a:xfrm>
          <a:prstGeom prst="rect">
            <a:avLst/>
          </a:prstGeom>
          <a:noFill/>
          <a:ln/>
        </p:spPr>
        <p:txBody>
          <a:bodyPr wrap="square" lIns="0" tIns="0" rIns="0" bIns="0" rtlCol="0" anchor="ctr"/>
          <a:lstStyle/>
          <a:p>
            <a:pPr algn="ctr" indent="0" marL="0">
              <a:buNone/>
            </a:pPr>
            <a:r>
              <a:rPr lang="en-US" sz="950" dirty="0">
                <a:solidFill>
                  <a:schemeClr val="accent2"/>
                </a:solidFill>
              </a:rPr>
              <a:t>1/1〜</a:t>
            </a:r>
            <a:endParaRPr lang="en-US" sz="950" dirty="0"/>
          </a:p>
        </p:txBody>
      </p:sp>
      <p:sp>
        <p:nvSpPr>
          <p:cNvPr id="19" name="txt-46"/>
          <p:cNvSpPr txBox="1"/>
          <p:nvPr/>
        </p:nvSpPr>
        <p:spPr>
          <a:xfrm>
            <a:off x="548640" y="1627632"/>
            <a:ext cx="3977640" cy="502920"/>
          </a:xfrm>
          <a:prstGeom prst="rect">
            <a:avLst/>
          </a:prstGeom>
          <a:noFill/>
          <a:ln/>
        </p:spPr>
        <p:txBody>
          <a:bodyPr wrap="square" lIns="0" tIns="0" rIns="0" bIns="0" rtlCol="0" anchor="ctr"/>
          <a:lstStyle/>
          <a:p>
            <a:pPr indent="0" marL="0">
              <a:buNone/>
            </a:pPr>
            <a:r>
              <a:rPr lang="en-US" sz="1100" b="1" dirty="0">
                <a:solidFill>
                  <a:schemeClr val="tx2"/>
                </a:solidFill>
              </a:rPr>
              <a:t>マイルストーン</a:t>
            </a:r>
            <a:endParaRPr lang="en-US" sz="1100" dirty="0"/>
          </a:p>
        </p:txBody>
      </p:sp>
      <p:sp>
        <p:nvSpPr>
          <p:cNvPr id="20" name="ms-47"/>
          <p:cNvSpPr/>
          <p:nvPr/>
        </p:nvSpPr>
        <p:spPr>
          <a:xfrm>
            <a:off x="4582450" y="1673352"/>
            <a:ext cx="164592" cy="164592"/>
          </a:xfrm>
          <a:prstGeom prst="diamond">
            <a:avLst/>
          </a:prstGeom>
          <a:solidFill>
            <a:schemeClr val="tx2"/>
          </a:solidFill>
          <a:ln/>
        </p:spPr>
      </p:sp>
      <p:sp>
        <p:nvSpPr>
          <p:cNvPr id="21" name="txt-48"/>
          <p:cNvSpPr txBox="1"/>
          <p:nvPr/>
        </p:nvSpPr>
        <p:spPr>
          <a:xfrm>
            <a:off x="4207546"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11/2</a:t>
            </a:r>
            <a:endParaRPr lang="en-US" sz="850" dirty="0"/>
          </a:p>
          <a:p>
            <a:pPr algn="ctr" indent="0" marL="0">
              <a:buNone/>
            </a:pPr>
            <a:r>
              <a:rPr lang="en-US" sz="850" dirty="0">
                <a:solidFill>
                  <a:schemeClr val="tx2"/>
                </a:solidFill>
              </a:rPr>
              <a:t>キックオフ</a:t>
            </a:r>
            <a:endParaRPr lang="en-US" sz="850" dirty="0"/>
          </a:p>
        </p:txBody>
      </p:sp>
      <p:sp>
        <p:nvSpPr>
          <p:cNvPr id="22" name="ms-49"/>
          <p:cNvSpPr/>
          <p:nvPr/>
        </p:nvSpPr>
        <p:spPr>
          <a:xfrm>
            <a:off x="8250501" y="1673352"/>
            <a:ext cx="164592" cy="164592"/>
          </a:xfrm>
          <a:prstGeom prst="diamond">
            <a:avLst/>
          </a:prstGeom>
          <a:solidFill>
            <a:schemeClr val="tx2"/>
          </a:solidFill>
          <a:ln/>
        </p:spPr>
      </p:sp>
      <p:sp>
        <p:nvSpPr>
          <p:cNvPr id="23" name="txt-50"/>
          <p:cNvSpPr txBox="1"/>
          <p:nvPr/>
        </p:nvSpPr>
        <p:spPr>
          <a:xfrm>
            <a:off x="7875597"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12/11</a:t>
            </a:r>
            <a:endParaRPr lang="en-US" sz="850" dirty="0"/>
          </a:p>
          <a:p>
            <a:pPr algn="ctr" indent="0" marL="0">
              <a:buNone/>
            </a:pPr>
            <a:r>
              <a:rPr lang="en-US" sz="850" dirty="0">
                <a:solidFill>
                  <a:schemeClr val="tx2"/>
                </a:solidFill>
              </a:rPr>
              <a:t>合意の期限</a:t>
            </a:r>
            <a:endParaRPr lang="en-US" sz="850" dirty="0"/>
          </a:p>
        </p:txBody>
      </p:sp>
      <p:sp>
        <p:nvSpPr>
          <p:cNvPr id="24" name="ms-51"/>
          <p:cNvSpPr/>
          <p:nvPr/>
        </p:nvSpPr>
        <p:spPr>
          <a:xfrm>
            <a:off x="8908869" y="1673352"/>
            <a:ext cx="164592" cy="164592"/>
          </a:xfrm>
          <a:prstGeom prst="diamond">
            <a:avLst/>
          </a:prstGeom>
          <a:solidFill>
            <a:schemeClr val="tx2"/>
          </a:solidFill>
          <a:ln/>
        </p:spPr>
      </p:sp>
      <p:sp>
        <p:nvSpPr>
          <p:cNvPr id="25" name="txt-52"/>
          <p:cNvSpPr txBox="1"/>
          <p:nvPr/>
        </p:nvSpPr>
        <p:spPr>
          <a:xfrm>
            <a:off x="8533965" y="1847088"/>
            <a:ext cx="914400" cy="292608"/>
          </a:xfrm>
          <a:prstGeom prst="rect">
            <a:avLst/>
          </a:prstGeom>
          <a:noFill/>
          <a:ln/>
        </p:spPr>
        <p:txBody>
          <a:bodyPr wrap="square" lIns="0" tIns="0" rIns="0" bIns="0" rtlCol="0" anchor="t"/>
          <a:lstStyle/>
          <a:p>
            <a:pPr algn="ctr" indent="0" marL="0">
              <a:buNone/>
            </a:pPr>
            <a:r>
              <a:rPr lang="en-US" sz="850" dirty="0">
                <a:solidFill>
                  <a:schemeClr val="tx2"/>
                </a:solidFill>
              </a:rPr>
              <a:t>12/18</a:t>
            </a:r>
            <a:endParaRPr lang="en-US" sz="850" dirty="0"/>
          </a:p>
          <a:p>
            <a:pPr algn="ctr" indent="0" marL="0">
              <a:buNone/>
            </a:pPr>
            <a:r>
              <a:rPr lang="en-US" sz="850" dirty="0">
                <a:solidFill>
                  <a:schemeClr val="tx2"/>
                </a:solidFill>
              </a:rPr>
              <a:t>準備完了</a:t>
            </a:r>
            <a:endParaRPr lang="en-US" sz="850" dirty="0"/>
          </a:p>
        </p:txBody>
      </p:sp>
      <p:sp>
        <p:nvSpPr>
          <p:cNvPr id="26" name="ms-53"/>
          <p:cNvSpPr/>
          <p:nvPr/>
        </p:nvSpPr>
        <p:spPr>
          <a:xfrm>
            <a:off x="10178578" y="1673352"/>
            <a:ext cx="164592" cy="164592"/>
          </a:xfrm>
          <a:prstGeom prst="diamond">
            <a:avLst/>
          </a:prstGeom>
          <a:solidFill>
            <a:schemeClr val="tx2"/>
          </a:solidFill>
          <a:ln/>
        </p:spPr>
      </p:sp>
      <p:sp>
        <p:nvSpPr>
          <p:cNvPr id="27" name="txt-54"/>
          <p:cNvSpPr txBox="1"/>
          <p:nvPr/>
        </p:nvSpPr>
        <p:spPr>
          <a:xfrm>
            <a:off x="9328186" y="1847088"/>
            <a:ext cx="914400" cy="292608"/>
          </a:xfrm>
          <a:prstGeom prst="rect">
            <a:avLst/>
          </a:prstGeom>
          <a:noFill/>
          <a:ln/>
        </p:spPr>
        <p:txBody>
          <a:bodyPr wrap="square" lIns="0" tIns="0" rIns="0" bIns="0" rtlCol="0" anchor="t"/>
          <a:lstStyle/>
          <a:p>
            <a:pPr algn="r" indent="0" marL="0">
              <a:buNone/>
            </a:pPr>
            <a:r>
              <a:rPr lang="en-US" sz="850" b="1" dirty="0">
                <a:solidFill>
                  <a:schemeClr val="tx2"/>
                </a:solidFill>
              </a:rPr>
              <a:t>12/31</a:t>
            </a:r>
            <a:endParaRPr lang="en-US" sz="850" dirty="0"/>
          </a:p>
          <a:p>
            <a:pPr algn="r" indent="0" marL="0">
              <a:buNone/>
            </a:pPr>
            <a:r>
              <a:rPr lang="en-US" sz="850" b="1" dirty="0">
                <a:solidFill>
                  <a:schemeClr val="tx2"/>
                </a:solidFill>
              </a:rPr>
              <a:t>稟議の承認</a:t>
            </a:r>
            <a:endParaRPr lang="en-US" sz="850" dirty="0"/>
          </a:p>
        </p:txBody>
      </p:sp>
      <p:sp>
        <p:nvSpPr>
          <p:cNvPr id="28" name="ms-55"/>
          <p:cNvSpPr/>
          <p:nvPr/>
        </p:nvSpPr>
        <p:spPr>
          <a:xfrm>
            <a:off x="10370602" y="1673352"/>
            <a:ext cx="164592" cy="164592"/>
          </a:xfrm>
          <a:prstGeom prst="diamond">
            <a:avLst/>
          </a:prstGeom>
          <a:solidFill>
            <a:schemeClr val="accent2"/>
          </a:solidFill>
          <a:ln/>
        </p:spPr>
      </p:sp>
      <p:sp>
        <p:nvSpPr>
          <p:cNvPr id="29" name="txt-56"/>
          <p:cNvSpPr txBox="1"/>
          <p:nvPr/>
        </p:nvSpPr>
        <p:spPr>
          <a:xfrm>
            <a:off x="10370602" y="1847088"/>
            <a:ext cx="1342862" cy="292608"/>
          </a:xfrm>
          <a:prstGeom prst="rect">
            <a:avLst/>
          </a:prstGeom>
          <a:noFill/>
          <a:ln/>
        </p:spPr>
        <p:txBody>
          <a:bodyPr wrap="square" lIns="0" tIns="0" rIns="0" bIns="0" rtlCol="0" anchor="t"/>
          <a:lstStyle/>
          <a:p>
            <a:pPr indent="0" marL="0">
              <a:buNone/>
            </a:pPr>
            <a:r>
              <a:rPr lang="en-US" sz="850" dirty="0">
                <a:solidFill>
                  <a:schemeClr val="accent2"/>
                </a:solidFill>
              </a:rPr>
              <a:t>1/1</a:t>
            </a:r>
            <a:endParaRPr lang="en-US" sz="850" dirty="0"/>
          </a:p>
          <a:p>
            <a:pPr indent="0" marL="0">
              <a:buNone/>
            </a:pPr>
            <a:r>
              <a:rPr lang="en-US" sz="850" dirty="0">
                <a:solidFill>
                  <a:schemeClr val="accent2"/>
                </a:solidFill>
              </a:rPr>
              <a:t>移管（間接業務の開始）</a:t>
            </a:r>
            <a:endParaRPr lang="en-US" sz="850" dirty="0"/>
          </a:p>
        </p:txBody>
      </p:sp>
      <p:sp>
        <p:nvSpPr>
          <p:cNvPr id="30" name="box-57"/>
          <p:cNvSpPr/>
          <p:nvPr/>
        </p:nvSpPr>
        <p:spPr>
          <a:xfrm>
            <a:off x="457200" y="2130552"/>
            <a:ext cx="11274552" cy="237744"/>
          </a:xfrm>
          <a:prstGeom prst="rect">
            <a:avLst/>
          </a:prstGeom>
          <a:solidFill>
            <a:schemeClr val="bg2"/>
          </a:solidFill>
          <a:ln/>
        </p:spPr>
      </p:sp>
      <p:sp>
        <p:nvSpPr>
          <p:cNvPr id="31" name="txt-58"/>
          <p:cNvSpPr txBox="1"/>
          <p:nvPr/>
        </p:nvSpPr>
        <p:spPr>
          <a:xfrm>
            <a:off x="548640" y="2130552"/>
            <a:ext cx="2743200" cy="237744"/>
          </a:xfrm>
          <a:prstGeom prst="rect">
            <a:avLst/>
          </a:prstGeom>
          <a:noFill/>
          <a:ln/>
        </p:spPr>
        <p:txBody>
          <a:bodyPr wrap="square" lIns="0" tIns="0" rIns="0" bIns="0" rtlCol="0" anchor="ctr"/>
          <a:lstStyle/>
          <a:p>
            <a:pPr indent="0" marL="0">
              <a:buNone/>
            </a:pPr>
            <a:r>
              <a:rPr lang="en-US" sz="1100" b="1" dirty="0">
                <a:solidFill>
                  <a:schemeClr val="tx2"/>
                </a:solidFill>
              </a:rPr>
              <a:t>進行役</a:t>
            </a:r>
            <a:endParaRPr lang="en-US" sz="1100" dirty="0"/>
          </a:p>
        </p:txBody>
      </p:sp>
      <p:sp>
        <p:nvSpPr>
          <p:cNvPr id="32" name="txt-59"/>
          <p:cNvSpPr txBox="1"/>
          <p:nvPr/>
        </p:nvSpPr>
        <p:spPr>
          <a:xfrm>
            <a:off x="548640" y="2368296"/>
            <a:ext cx="4023360" cy="265176"/>
          </a:xfrm>
          <a:prstGeom prst="rect">
            <a:avLst/>
          </a:prstGeom>
          <a:noFill/>
          <a:ln/>
        </p:spPr>
        <p:txBody>
          <a:bodyPr wrap="square" lIns="0" tIns="0" rIns="0" bIns="0" rtlCol="0" anchor="ctr"/>
          <a:lstStyle/>
          <a:p>
            <a:pPr indent="0" marL="0">
              <a:buNone/>
            </a:pPr>
            <a:r>
              <a:rPr lang="en-US" sz="1050" dirty="0">
                <a:solidFill>
                  <a:schemeClr val="tx1"/>
                </a:solidFill>
              </a:rPr>
              <a:t>キックオフの開催</a:t>
            </a:r>
            <a:endParaRPr lang="en-US" sz="1050" dirty="0"/>
          </a:p>
        </p:txBody>
      </p:sp>
      <p:sp>
        <p:nvSpPr>
          <p:cNvPr id="33" name="rowline-60"/>
          <p:cNvSpPr/>
          <p:nvPr/>
        </p:nvSpPr>
        <p:spPr>
          <a:xfrm>
            <a:off x="457200" y="2633472"/>
            <a:ext cx="11274552" cy="0"/>
          </a:xfrm>
          <a:prstGeom prst="line">
            <a:avLst/>
          </a:prstGeom>
          <a:noFill/>
          <a:ln w="9525">
            <a:solidFill>
              <a:srgbClr val="F4F6F9"/>
            </a:solidFill>
            <a:prstDash val="solid"/>
          </a:ln>
        </p:spPr>
      </p:sp>
      <p:sp>
        <p:nvSpPr>
          <p:cNvPr id="34" name="ms-61"/>
          <p:cNvSpPr/>
          <p:nvPr/>
        </p:nvSpPr>
        <p:spPr>
          <a:xfrm>
            <a:off x="4617720" y="2423160"/>
            <a:ext cx="173736" cy="173736"/>
          </a:xfrm>
          <a:prstGeom prst="diamond">
            <a:avLst/>
          </a:prstGeom>
          <a:solidFill>
            <a:schemeClr val="tx2"/>
          </a:solidFill>
          <a:ln/>
        </p:spPr>
      </p:sp>
      <p:sp>
        <p:nvSpPr>
          <p:cNvPr id="35" name="txt-62"/>
          <p:cNvSpPr txBox="1"/>
          <p:nvPr/>
        </p:nvSpPr>
        <p:spPr>
          <a:xfrm>
            <a:off x="548640" y="2633472"/>
            <a:ext cx="4023360" cy="265176"/>
          </a:xfrm>
          <a:prstGeom prst="rect">
            <a:avLst/>
          </a:prstGeom>
          <a:noFill/>
          <a:ln/>
        </p:spPr>
        <p:txBody>
          <a:bodyPr wrap="square" lIns="0" tIns="0" rIns="0" bIns="0" rtlCol="0" anchor="ctr"/>
          <a:lstStyle/>
          <a:p>
            <a:pPr indent="0" marL="0">
              <a:buNone/>
            </a:pPr>
            <a:r>
              <a:rPr lang="en-US" sz="1050" dirty="0">
                <a:solidFill>
                  <a:schemeClr val="tx1"/>
                </a:solidFill>
              </a:rPr>
              <a:t>移管ステータスと進捗の確認（毎日）</a:t>
            </a:r>
            <a:endParaRPr lang="en-US" sz="1050" dirty="0"/>
          </a:p>
        </p:txBody>
      </p:sp>
      <p:sp>
        <p:nvSpPr>
          <p:cNvPr id="36" name="rowline-63"/>
          <p:cNvSpPr/>
          <p:nvPr/>
        </p:nvSpPr>
        <p:spPr>
          <a:xfrm>
            <a:off x="457200" y="2898648"/>
            <a:ext cx="11274552" cy="0"/>
          </a:xfrm>
          <a:prstGeom prst="line">
            <a:avLst/>
          </a:prstGeom>
          <a:noFill/>
          <a:ln w="9525">
            <a:solidFill>
              <a:srgbClr val="F4F6F9"/>
            </a:solidFill>
            <a:prstDash val="solid"/>
          </a:ln>
        </p:spPr>
      </p:sp>
      <p:sp>
        <p:nvSpPr>
          <p:cNvPr id="37" name="bar-64"/>
          <p:cNvSpPr/>
          <p:nvPr/>
        </p:nvSpPr>
        <p:spPr>
          <a:xfrm>
            <a:off x="4617720" y="2697480"/>
            <a:ext cx="5643154" cy="137160"/>
          </a:xfrm>
          <a:prstGeom prst="rect">
            <a:avLst/>
          </a:prstGeom>
          <a:solidFill>
            <a:schemeClr val="accent3"/>
          </a:solidFill>
          <a:ln/>
        </p:spPr>
      </p:sp>
      <p:sp>
        <p:nvSpPr>
          <p:cNvPr id="38" name="txt-65"/>
          <p:cNvSpPr txBox="1"/>
          <p:nvPr/>
        </p:nvSpPr>
        <p:spPr>
          <a:xfrm>
            <a:off x="548640" y="2898648"/>
            <a:ext cx="4023360" cy="265176"/>
          </a:xfrm>
          <a:prstGeom prst="rect">
            <a:avLst/>
          </a:prstGeom>
          <a:noFill/>
          <a:ln/>
        </p:spPr>
        <p:txBody>
          <a:bodyPr wrap="square" lIns="0" tIns="0" rIns="0" bIns="0" rtlCol="0" anchor="ctr"/>
          <a:lstStyle/>
          <a:p>
            <a:pPr indent="0" marL="0">
              <a:buNone/>
            </a:pPr>
            <a:r>
              <a:rPr lang="en-US" sz="1050" dirty="0">
                <a:solidFill>
                  <a:schemeClr val="tx1"/>
                </a:solidFill>
              </a:rPr>
              <a:t>合意文書の横並びの確認</a:t>
            </a:r>
            <a:endParaRPr lang="en-US" sz="1050" dirty="0"/>
          </a:p>
        </p:txBody>
      </p:sp>
      <p:sp>
        <p:nvSpPr>
          <p:cNvPr id="39" name="rowline-66"/>
          <p:cNvSpPr/>
          <p:nvPr/>
        </p:nvSpPr>
        <p:spPr>
          <a:xfrm>
            <a:off x="457200" y="3163824"/>
            <a:ext cx="11274552" cy="0"/>
          </a:xfrm>
          <a:prstGeom prst="line">
            <a:avLst/>
          </a:prstGeom>
          <a:noFill/>
          <a:ln w="9525">
            <a:solidFill>
              <a:srgbClr val="F4F6F9"/>
            </a:solidFill>
            <a:prstDash val="solid"/>
          </a:ln>
        </p:spPr>
      </p:sp>
      <p:sp>
        <p:nvSpPr>
          <p:cNvPr id="40" name="bar-67"/>
          <p:cNvSpPr/>
          <p:nvPr/>
        </p:nvSpPr>
        <p:spPr>
          <a:xfrm>
            <a:off x="7251192" y="2962656"/>
            <a:ext cx="1128631" cy="137160"/>
          </a:xfrm>
          <a:prstGeom prst="rect">
            <a:avLst/>
          </a:prstGeom>
          <a:solidFill>
            <a:schemeClr val="tx2"/>
          </a:solidFill>
          <a:ln/>
        </p:spPr>
      </p:sp>
      <p:sp>
        <p:nvSpPr>
          <p:cNvPr id="41" name="txt-68"/>
          <p:cNvSpPr txBox="1"/>
          <p:nvPr/>
        </p:nvSpPr>
        <p:spPr>
          <a:xfrm>
            <a:off x="548640" y="3163824"/>
            <a:ext cx="4023360" cy="265176"/>
          </a:xfrm>
          <a:prstGeom prst="rect">
            <a:avLst/>
          </a:prstGeom>
          <a:noFill/>
          <a:ln/>
        </p:spPr>
        <p:txBody>
          <a:bodyPr wrap="square" lIns="0" tIns="0" rIns="0" bIns="0" rtlCol="0" anchor="ctr"/>
          <a:lstStyle/>
          <a:p>
            <a:pPr indent="0" marL="0">
              <a:buNone/>
            </a:pPr>
            <a:r>
              <a:rPr lang="en-US" sz="1050" dirty="0">
                <a:solidFill>
                  <a:schemeClr val="tx1"/>
                </a:solidFill>
              </a:rPr>
              <a:t>移管の稟議の起票と承認（部門ごと）</a:t>
            </a:r>
            <a:endParaRPr lang="en-US" sz="1050" dirty="0"/>
          </a:p>
        </p:txBody>
      </p:sp>
      <p:sp>
        <p:nvSpPr>
          <p:cNvPr id="42" name="rowline-69"/>
          <p:cNvSpPr/>
          <p:nvPr/>
        </p:nvSpPr>
        <p:spPr>
          <a:xfrm>
            <a:off x="457200" y="3429000"/>
            <a:ext cx="11274552" cy="0"/>
          </a:xfrm>
          <a:prstGeom prst="line">
            <a:avLst/>
          </a:prstGeom>
          <a:noFill/>
          <a:ln w="9525">
            <a:solidFill>
              <a:srgbClr val="F4F6F9"/>
            </a:solidFill>
            <a:prstDash val="solid"/>
          </a:ln>
        </p:spPr>
      </p:sp>
      <p:sp>
        <p:nvSpPr>
          <p:cNvPr id="43" name="bar-70"/>
          <p:cNvSpPr/>
          <p:nvPr/>
        </p:nvSpPr>
        <p:spPr>
          <a:xfrm>
            <a:off x="7909560" y="3227832"/>
            <a:ext cx="2351314" cy="137160"/>
          </a:xfrm>
          <a:prstGeom prst="rect">
            <a:avLst/>
          </a:prstGeom>
          <a:solidFill>
            <a:schemeClr val="tx2"/>
          </a:solidFill>
          <a:ln/>
        </p:spPr>
      </p:sp>
      <p:sp>
        <p:nvSpPr>
          <p:cNvPr id="44" name="box-71"/>
          <p:cNvSpPr/>
          <p:nvPr/>
        </p:nvSpPr>
        <p:spPr>
          <a:xfrm>
            <a:off x="457200" y="3429000"/>
            <a:ext cx="11274552" cy="237744"/>
          </a:xfrm>
          <a:prstGeom prst="rect">
            <a:avLst/>
          </a:prstGeom>
          <a:solidFill>
            <a:schemeClr val="bg2"/>
          </a:solidFill>
          <a:ln/>
        </p:spPr>
      </p:sp>
      <p:sp>
        <p:nvSpPr>
          <p:cNvPr id="45" name="txt-72"/>
          <p:cNvSpPr txBox="1"/>
          <p:nvPr/>
        </p:nvSpPr>
        <p:spPr>
          <a:xfrm>
            <a:off x="548640" y="3429000"/>
            <a:ext cx="2743200" cy="237744"/>
          </a:xfrm>
          <a:prstGeom prst="rect">
            <a:avLst/>
          </a:prstGeom>
          <a:noFill/>
          <a:ln/>
        </p:spPr>
        <p:txBody>
          <a:bodyPr wrap="square" lIns="0" tIns="0" rIns="0" bIns="0" rtlCol="0" anchor="ctr"/>
          <a:lstStyle/>
          <a:p>
            <a:pPr indent="0" marL="0">
              <a:buNone/>
            </a:pPr>
            <a:r>
              <a:rPr lang="en-US" sz="1100" b="1" dirty="0">
                <a:solidFill>
                  <a:schemeClr val="tx2"/>
                </a:solidFill>
              </a:rPr>
              <a:t>案件担当</a:t>
            </a:r>
            <a:endParaRPr lang="en-US" sz="1100" dirty="0"/>
          </a:p>
        </p:txBody>
      </p:sp>
      <p:sp>
        <p:nvSpPr>
          <p:cNvPr id="46" name="txt-73"/>
          <p:cNvSpPr txBox="1"/>
          <p:nvPr/>
        </p:nvSpPr>
        <p:spPr>
          <a:xfrm>
            <a:off x="548640" y="3666744"/>
            <a:ext cx="4023360" cy="265176"/>
          </a:xfrm>
          <a:prstGeom prst="rect">
            <a:avLst/>
          </a:prstGeom>
          <a:noFill/>
          <a:ln/>
        </p:spPr>
        <p:txBody>
          <a:bodyPr wrap="square" lIns="0" tIns="0" rIns="0" bIns="0" rtlCol="0" anchor="ctr"/>
          <a:lstStyle/>
          <a:p>
            <a:pPr indent="0" marL="0">
              <a:buNone/>
            </a:pPr>
            <a:r>
              <a:rPr lang="en-US" sz="1050" dirty="0">
                <a:solidFill>
                  <a:schemeClr val="tx1"/>
                </a:solidFill>
              </a:rPr>
              <a:t>①　判定保留を解消し、棚卸しを終える</a:t>
            </a:r>
            <a:endParaRPr lang="en-US" sz="1050" dirty="0"/>
          </a:p>
        </p:txBody>
      </p:sp>
      <p:sp>
        <p:nvSpPr>
          <p:cNvPr id="47" name="rowline-74"/>
          <p:cNvSpPr/>
          <p:nvPr/>
        </p:nvSpPr>
        <p:spPr>
          <a:xfrm>
            <a:off x="457200" y="3931920"/>
            <a:ext cx="11274552" cy="0"/>
          </a:xfrm>
          <a:prstGeom prst="line">
            <a:avLst/>
          </a:prstGeom>
          <a:noFill/>
          <a:ln w="9525">
            <a:solidFill>
              <a:srgbClr val="F4F6F9"/>
            </a:solidFill>
            <a:prstDash val="solid"/>
          </a:ln>
        </p:spPr>
      </p:sp>
      <p:sp>
        <p:nvSpPr>
          <p:cNvPr id="48" name="bar-75"/>
          <p:cNvSpPr/>
          <p:nvPr/>
        </p:nvSpPr>
        <p:spPr>
          <a:xfrm>
            <a:off x="4617720" y="3730752"/>
            <a:ext cx="2727525" cy="137160"/>
          </a:xfrm>
          <a:prstGeom prst="rect">
            <a:avLst/>
          </a:prstGeom>
          <a:solidFill>
            <a:schemeClr val="tx2"/>
          </a:solidFill>
          <a:ln/>
        </p:spPr>
      </p:sp>
      <p:sp>
        <p:nvSpPr>
          <p:cNvPr id="49" name="txt-76"/>
          <p:cNvSpPr txBox="1"/>
          <p:nvPr/>
        </p:nvSpPr>
        <p:spPr>
          <a:xfrm>
            <a:off x="548640" y="3931920"/>
            <a:ext cx="4023360" cy="265176"/>
          </a:xfrm>
          <a:prstGeom prst="rect">
            <a:avLst/>
          </a:prstGeom>
          <a:noFill/>
          <a:ln/>
        </p:spPr>
        <p:txBody>
          <a:bodyPr wrap="square" lIns="0" tIns="0" rIns="0" bIns="0" rtlCol="0" anchor="ctr"/>
          <a:lstStyle/>
          <a:p>
            <a:pPr indent="0" marL="0">
              <a:buNone/>
            </a:pPr>
            <a:r>
              <a:rPr lang="en-US" sz="1050" dirty="0">
                <a:solidFill>
                  <a:schemeClr val="tx1"/>
                </a:solidFill>
              </a:rPr>
              <a:t>②　引継ぎ・IT関連業務の扱いを合意する（合意文書）</a:t>
            </a:r>
            <a:endParaRPr lang="en-US" sz="1050" dirty="0"/>
          </a:p>
        </p:txBody>
      </p:sp>
      <p:sp>
        <p:nvSpPr>
          <p:cNvPr id="50" name="rowline-77"/>
          <p:cNvSpPr/>
          <p:nvPr/>
        </p:nvSpPr>
        <p:spPr>
          <a:xfrm>
            <a:off x="457200" y="4197096"/>
            <a:ext cx="11274552" cy="0"/>
          </a:xfrm>
          <a:prstGeom prst="line">
            <a:avLst/>
          </a:prstGeom>
          <a:noFill/>
          <a:ln w="9525">
            <a:solidFill>
              <a:srgbClr val="F4F6F9"/>
            </a:solidFill>
            <a:prstDash val="solid"/>
          </a:ln>
        </p:spPr>
      </p:sp>
      <p:sp>
        <p:nvSpPr>
          <p:cNvPr id="51" name="bar-78"/>
          <p:cNvSpPr/>
          <p:nvPr/>
        </p:nvSpPr>
        <p:spPr>
          <a:xfrm>
            <a:off x="5934456" y="3995928"/>
            <a:ext cx="2445367" cy="137160"/>
          </a:xfrm>
          <a:prstGeom prst="rect">
            <a:avLst/>
          </a:prstGeom>
          <a:solidFill>
            <a:schemeClr val="tx2"/>
          </a:solidFill>
          <a:ln/>
        </p:spPr>
      </p:sp>
      <p:sp>
        <p:nvSpPr>
          <p:cNvPr id="52" name="txt-79"/>
          <p:cNvSpPr txBox="1"/>
          <p:nvPr/>
        </p:nvSpPr>
        <p:spPr>
          <a:xfrm>
            <a:off x="548640" y="4197096"/>
            <a:ext cx="4023360" cy="265176"/>
          </a:xfrm>
          <a:prstGeom prst="rect">
            <a:avLst/>
          </a:prstGeom>
          <a:noFill/>
          <a:ln/>
        </p:spPr>
        <p:txBody>
          <a:bodyPr wrap="square" lIns="0" tIns="0" rIns="0" bIns="0" rtlCol="0" anchor="ctr"/>
          <a:lstStyle/>
          <a:p>
            <a:pPr indent="0" marL="0">
              <a:buNone/>
            </a:pPr>
            <a:r>
              <a:rPr lang="en-US" sz="1050" dirty="0">
                <a:solidFill>
                  <a:schemeClr val="tx1"/>
                </a:solidFill>
              </a:rPr>
              <a:t>③　間接業務を受け手に引き継ぐ</a:t>
            </a:r>
            <a:endParaRPr lang="en-US" sz="1050" dirty="0"/>
          </a:p>
        </p:txBody>
      </p:sp>
      <p:sp>
        <p:nvSpPr>
          <p:cNvPr id="53" name="rowline-80"/>
          <p:cNvSpPr/>
          <p:nvPr/>
        </p:nvSpPr>
        <p:spPr>
          <a:xfrm>
            <a:off x="457200" y="4462272"/>
            <a:ext cx="11274552" cy="0"/>
          </a:xfrm>
          <a:prstGeom prst="line">
            <a:avLst/>
          </a:prstGeom>
          <a:noFill/>
          <a:ln w="9525">
            <a:solidFill>
              <a:srgbClr val="F4F6F9"/>
            </a:solidFill>
            <a:prstDash val="solid"/>
          </a:ln>
        </p:spPr>
      </p:sp>
      <p:sp>
        <p:nvSpPr>
          <p:cNvPr id="54" name="bar-81"/>
          <p:cNvSpPr/>
          <p:nvPr/>
        </p:nvSpPr>
        <p:spPr>
          <a:xfrm>
            <a:off x="7251192" y="4261104"/>
            <a:ext cx="1786999" cy="137160"/>
          </a:xfrm>
          <a:prstGeom prst="rect">
            <a:avLst/>
          </a:prstGeom>
          <a:solidFill>
            <a:schemeClr val="tx2"/>
          </a:solidFill>
          <a:ln/>
        </p:spPr>
      </p:sp>
      <p:sp>
        <p:nvSpPr>
          <p:cNvPr id="55" name="txt-82"/>
          <p:cNvSpPr txBox="1"/>
          <p:nvPr/>
        </p:nvSpPr>
        <p:spPr>
          <a:xfrm>
            <a:off x="548640" y="4462272"/>
            <a:ext cx="4023360" cy="265176"/>
          </a:xfrm>
          <a:prstGeom prst="rect">
            <a:avLst/>
          </a:prstGeom>
          <a:noFill/>
          <a:ln/>
        </p:spPr>
        <p:txBody>
          <a:bodyPr wrap="square" lIns="0" tIns="0" rIns="0" bIns="0" rtlCol="0" anchor="ctr"/>
          <a:lstStyle/>
          <a:p>
            <a:pPr indent="0" marL="0">
              <a:buNone/>
            </a:pPr>
            <a:r>
              <a:rPr lang="en-US" sz="1050" dirty="0">
                <a:solidFill>
                  <a:schemeClr val="tx1"/>
                </a:solidFill>
              </a:rPr>
              <a:t>④　準備完了を確認する</a:t>
            </a:r>
            <a:endParaRPr lang="en-US" sz="1050" dirty="0"/>
          </a:p>
        </p:txBody>
      </p:sp>
      <p:sp>
        <p:nvSpPr>
          <p:cNvPr id="56" name="rowline-83"/>
          <p:cNvSpPr/>
          <p:nvPr/>
        </p:nvSpPr>
        <p:spPr>
          <a:xfrm>
            <a:off x="457200" y="4727448"/>
            <a:ext cx="11274552" cy="0"/>
          </a:xfrm>
          <a:prstGeom prst="line">
            <a:avLst/>
          </a:prstGeom>
          <a:noFill/>
          <a:ln w="9525">
            <a:solidFill>
              <a:srgbClr val="F4F6F9"/>
            </a:solidFill>
            <a:prstDash val="solid"/>
          </a:ln>
        </p:spPr>
      </p:sp>
      <p:sp>
        <p:nvSpPr>
          <p:cNvPr id="57" name="bar-84"/>
          <p:cNvSpPr/>
          <p:nvPr/>
        </p:nvSpPr>
        <p:spPr>
          <a:xfrm>
            <a:off x="8567928" y="4526280"/>
            <a:ext cx="470263" cy="137160"/>
          </a:xfrm>
          <a:prstGeom prst="rect">
            <a:avLst/>
          </a:prstGeom>
          <a:solidFill>
            <a:schemeClr val="tx2"/>
          </a:solidFill>
          <a:ln/>
        </p:spPr>
      </p:sp>
      <p:sp>
        <p:nvSpPr>
          <p:cNvPr id="58" name="txt-85"/>
          <p:cNvSpPr txBox="1"/>
          <p:nvPr/>
        </p:nvSpPr>
        <p:spPr>
          <a:xfrm>
            <a:off x="548640" y="4727448"/>
            <a:ext cx="4023360" cy="265176"/>
          </a:xfrm>
          <a:prstGeom prst="rect">
            <a:avLst/>
          </a:prstGeom>
          <a:noFill/>
          <a:ln/>
        </p:spPr>
        <p:txBody>
          <a:bodyPr wrap="square" lIns="0" tIns="0" rIns="0" bIns="0" rtlCol="0" anchor="ctr"/>
          <a:lstStyle/>
          <a:p>
            <a:pPr indent="0" marL="0">
              <a:buNone/>
            </a:pPr>
            <a:r>
              <a:rPr lang="en-US" sz="1050" dirty="0">
                <a:solidFill>
                  <a:schemeClr val="tx1"/>
                </a:solidFill>
              </a:rPr>
              <a:t>移管ステータスの更新（随時）</a:t>
            </a:r>
            <a:endParaRPr lang="en-US" sz="1050" dirty="0"/>
          </a:p>
        </p:txBody>
      </p:sp>
      <p:sp>
        <p:nvSpPr>
          <p:cNvPr id="59" name="rowline-86"/>
          <p:cNvSpPr/>
          <p:nvPr/>
        </p:nvSpPr>
        <p:spPr>
          <a:xfrm>
            <a:off x="457200" y="4992624"/>
            <a:ext cx="11274552" cy="0"/>
          </a:xfrm>
          <a:prstGeom prst="line">
            <a:avLst/>
          </a:prstGeom>
          <a:noFill/>
          <a:ln w="9525">
            <a:solidFill>
              <a:srgbClr val="F4F6F9"/>
            </a:solidFill>
            <a:prstDash val="solid"/>
          </a:ln>
        </p:spPr>
      </p:sp>
      <p:sp>
        <p:nvSpPr>
          <p:cNvPr id="60" name="bar-87"/>
          <p:cNvSpPr/>
          <p:nvPr/>
        </p:nvSpPr>
        <p:spPr>
          <a:xfrm>
            <a:off x="4617720" y="4791456"/>
            <a:ext cx="5643154" cy="137160"/>
          </a:xfrm>
          <a:prstGeom prst="rect">
            <a:avLst/>
          </a:prstGeom>
          <a:solidFill>
            <a:schemeClr val="accent3"/>
          </a:solidFill>
          <a:ln/>
        </p:spPr>
      </p:sp>
      <p:sp>
        <p:nvSpPr>
          <p:cNvPr id="61" name="txt-88"/>
          <p:cNvSpPr txBox="1"/>
          <p:nvPr/>
        </p:nvSpPr>
        <p:spPr>
          <a:xfrm>
            <a:off x="548640" y="4992624"/>
            <a:ext cx="4023360" cy="265176"/>
          </a:xfrm>
          <a:prstGeom prst="rect">
            <a:avLst/>
          </a:prstGeom>
          <a:noFill/>
          <a:ln/>
        </p:spPr>
        <p:txBody>
          <a:bodyPr wrap="square" lIns="0" tIns="0" rIns="0" bIns="0" rtlCol="0" anchor="ctr"/>
          <a:lstStyle/>
          <a:p>
            <a:pPr indent="0" marL="0">
              <a:buNone/>
            </a:pPr>
            <a:r>
              <a:rPr lang="en-US" sz="1050" dirty="0">
                <a:solidFill>
                  <a:schemeClr val="tx1"/>
                </a:solidFill>
              </a:rPr>
              <a:t>経過措置の業務の担当の変更（手続きの完了後）</a:t>
            </a:r>
            <a:endParaRPr lang="en-US" sz="1050" dirty="0"/>
          </a:p>
        </p:txBody>
      </p:sp>
      <p:sp>
        <p:nvSpPr>
          <p:cNvPr id="62" name="rowline-89"/>
          <p:cNvSpPr/>
          <p:nvPr/>
        </p:nvSpPr>
        <p:spPr>
          <a:xfrm>
            <a:off x="457200" y="5257800"/>
            <a:ext cx="11274552" cy="0"/>
          </a:xfrm>
          <a:prstGeom prst="line">
            <a:avLst/>
          </a:prstGeom>
          <a:noFill/>
          <a:ln w="9525">
            <a:solidFill>
              <a:srgbClr val="F4F6F9"/>
            </a:solidFill>
            <a:prstDash val="solid"/>
          </a:ln>
        </p:spPr>
      </p:sp>
      <p:sp>
        <p:nvSpPr>
          <p:cNvPr id="63" name="bar-90"/>
          <p:cNvSpPr/>
          <p:nvPr/>
        </p:nvSpPr>
        <p:spPr>
          <a:xfrm>
            <a:off x="10315738" y="5056632"/>
            <a:ext cx="1361150" cy="137160"/>
          </a:xfrm>
          <a:prstGeom prst="rect">
            <a:avLst/>
          </a:prstGeom>
          <a:solidFill>
            <a:schemeClr val="bg2"/>
          </a:solidFill>
          <a:ln w="9525">
            <a:solidFill>
              <a:schemeClr val="accent3"/>
            </a:solidFill>
            <a:prstDash val="dash"/>
          </a:ln>
        </p:spPr>
      </p:sp>
      <p:sp>
        <p:nvSpPr>
          <p:cNvPr id="64" name="txt-91"/>
          <p:cNvSpPr txBox="1"/>
          <p:nvPr/>
        </p:nvSpPr>
        <p:spPr>
          <a:xfrm>
            <a:off x="10315738" y="5056632"/>
            <a:ext cx="1361150" cy="137160"/>
          </a:xfrm>
          <a:prstGeom prst="rect">
            <a:avLst/>
          </a:prstGeom>
          <a:noFill/>
          <a:ln/>
        </p:spPr>
        <p:txBody>
          <a:bodyPr wrap="square" lIns="0" tIns="0" rIns="0" bIns="0" rtlCol="0" anchor="ctr"/>
          <a:lstStyle/>
          <a:p>
            <a:pPr algn="ctr" indent="0" marL="0">
              <a:buNone/>
            </a:pPr>
            <a:r>
              <a:rPr lang="en-US" sz="850" dirty="0">
                <a:solidFill>
                  <a:schemeClr val="accent2"/>
                </a:solidFill>
              </a:rPr>
              <a:t>完了予定に沿って</a:t>
            </a:r>
            <a:endParaRPr lang="en-US" sz="850" dirty="0"/>
          </a:p>
        </p:txBody>
      </p:sp>
      <p:sp>
        <p:nvSpPr>
          <p:cNvPr id="65" name="vline-92"/>
          <p:cNvSpPr/>
          <p:nvPr/>
        </p:nvSpPr>
        <p:spPr>
          <a:xfrm>
            <a:off x="7345245" y="1627632"/>
            <a:ext cx="0" cy="3630168"/>
          </a:xfrm>
          <a:prstGeom prst="line">
            <a:avLst/>
          </a:prstGeom>
          <a:noFill/>
          <a:ln w="9525">
            <a:solidFill>
              <a:schemeClr val="accent3"/>
            </a:solidFill>
            <a:prstDash val="solid"/>
          </a:ln>
        </p:spPr>
      </p:sp>
      <p:sp>
        <p:nvSpPr>
          <p:cNvPr id="66" name="vline-93"/>
          <p:cNvSpPr/>
          <p:nvPr/>
        </p:nvSpPr>
        <p:spPr>
          <a:xfrm>
            <a:off x="8379823" y="1627632"/>
            <a:ext cx="0" cy="3630168"/>
          </a:xfrm>
          <a:prstGeom prst="line">
            <a:avLst/>
          </a:prstGeom>
          <a:noFill/>
          <a:ln w="9525">
            <a:solidFill>
              <a:schemeClr val="accent3"/>
            </a:solidFill>
            <a:prstDash val="dash"/>
          </a:ln>
        </p:spPr>
      </p:sp>
      <p:sp>
        <p:nvSpPr>
          <p:cNvPr id="67" name="vline-94"/>
          <p:cNvSpPr/>
          <p:nvPr/>
        </p:nvSpPr>
        <p:spPr>
          <a:xfrm>
            <a:off x="9038191" y="1627632"/>
            <a:ext cx="0" cy="3630168"/>
          </a:xfrm>
          <a:prstGeom prst="line">
            <a:avLst/>
          </a:prstGeom>
          <a:noFill/>
          <a:ln w="9525">
            <a:solidFill>
              <a:schemeClr val="accent3"/>
            </a:solidFill>
            <a:prstDash val="dash"/>
          </a:ln>
        </p:spPr>
      </p:sp>
      <p:sp>
        <p:nvSpPr>
          <p:cNvPr id="68" name="vline-95"/>
          <p:cNvSpPr/>
          <p:nvPr/>
        </p:nvSpPr>
        <p:spPr>
          <a:xfrm>
            <a:off x="10260874" y="1627632"/>
            <a:ext cx="0" cy="3630168"/>
          </a:xfrm>
          <a:prstGeom prst="line">
            <a:avLst/>
          </a:prstGeom>
          <a:noFill/>
          <a:ln w="9525">
            <a:solidFill>
              <a:schemeClr val="tx2"/>
            </a:solidFill>
            <a:prstDash val="solid"/>
          </a:ln>
        </p:spPr>
      </p:sp>
      <p:sp>
        <p:nvSpPr>
          <p:cNvPr id="69" name="box-96"/>
          <p:cNvSpPr/>
          <p:nvPr/>
        </p:nvSpPr>
        <p:spPr>
          <a:xfrm>
            <a:off x="457200" y="5440680"/>
            <a:ext cx="5554980" cy="960120"/>
          </a:xfrm>
          <a:prstGeom prst="rect">
            <a:avLst/>
          </a:prstGeom>
          <a:solidFill>
            <a:schemeClr val="bg2"/>
          </a:solidFill>
          <a:ln/>
        </p:spPr>
      </p:sp>
      <p:sp>
        <p:nvSpPr>
          <p:cNvPr id="70" name="txt-97"/>
          <p:cNvSpPr txBox="1"/>
          <p:nvPr/>
        </p:nvSpPr>
        <p:spPr>
          <a:xfrm>
            <a:off x="621792" y="5532120"/>
            <a:ext cx="5225796" cy="274320"/>
          </a:xfrm>
          <a:prstGeom prst="rect">
            <a:avLst/>
          </a:prstGeom>
          <a:noFill/>
          <a:ln/>
        </p:spPr>
        <p:txBody>
          <a:bodyPr wrap="square" lIns="0" tIns="0" rIns="0" bIns="0" rtlCol="0" anchor="t"/>
          <a:lstStyle/>
          <a:p>
            <a:pPr indent="0" marL="0">
              <a:buNone/>
            </a:pPr>
            <a:r>
              <a:rPr lang="en-US" sz="1200" b="1" dirty="0">
                <a:solidFill>
                  <a:schemeClr val="tx2"/>
                </a:solidFill>
              </a:rPr>
              <a:t>進行役（1名）</a:t>
            </a:r>
            <a:endParaRPr lang="en-US" sz="1200" dirty="0"/>
          </a:p>
        </p:txBody>
      </p:sp>
      <p:sp>
        <p:nvSpPr>
          <p:cNvPr id="71" name="txt-98"/>
          <p:cNvSpPr txBox="1"/>
          <p:nvPr/>
        </p:nvSpPr>
        <p:spPr>
          <a:xfrm>
            <a:off x="621792" y="5806440"/>
            <a:ext cx="5225796" cy="548640"/>
          </a:xfrm>
          <a:prstGeom prst="rect">
            <a:avLst/>
          </a:prstGeom>
          <a:noFill/>
          <a:ln/>
        </p:spPr>
        <p:txBody>
          <a:bodyPr wrap="square" lIns="0" tIns="0" rIns="0" bIns="0" rtlCol="0" anchor="t"/>
          <a:lstStyle/>
          <a:p>
            <a:pPr indent="0" marL="0">
              <a:buNone/>
            </a:pPr>
            <a:r>
              <a:rPr lang="en-US" sz="1000" dirty="0">
                <a:solidFill>
                  <a:schemeClr val="tx1"/>
                </a:solidFill>
              </a:rPr>
              <a:t>全体を進める。移管ステータスを毎日確認し、部門の案件のステータスが埋まったら移管の稟議を起票する。合意文書を横並びで確かめる。IT部門長への依頼と相談は進行役が行う</a:t>
            </a:r>
            <a:endParaRPr lang="en-US" sz="1000" dirty="0"/>
          </a:p>
        </p:txBody>
      </p:sp>
      <p:sp>
        <p:nvSpPr>
          <p:cNvPr id="72" name="box-99"/>
          <p:cNvSpPr/>
          <p:nvPr/>
        </p:nvSpPr>
        <p:spPr>
          <a:xfrm>
            <a:off x="6176772" y="5440680"/>
            <a:ext cx="5554980" cy="960120"/>
          </a:xfrm>
          <a:prstGeom prst="rect">
            <a:avLst/>
          </a:prstGeom>
          <a:solidFill>
            <a:schemeClr val="bg2"/>
          </a:solidFill>
          <a:ln/>
        </p:spPr>
      </p:sp>
      <p:sp>
        <p:nvSpPr>
          <p:cNvPr id="73" name="txt-100"/>
          <p:cNvSpPr txBox="1"/>
          <p:nvPr/>
        </p:nvSpPr>
        <p:spPr>
          <a:xfrm>
            <a:off x="6341364" y="5532120"/>
            <a:ext cx="5225796" cy="274320"/>
          </a:xfrm>
          <a:prstGeom prst="rect">
            <a:avLst/>
          </a:prstGeom>
          <a:noFill/>
          <a:ln/>
        </p:spPr>
        <p:txBody>
          <a:bodyPr wrap="square" lIns="0" tIns="0" rIns="0" bIns="0" rtlCol="0" anchor="t"/>
          <a:lstStyle/>
          <a:p>
            <a:pPr indent="0" marL="0">
              <a:buNone/>
            </a:pPr>
            <a:r>
              <a:rPr lang="en-US" sz="1200" b="1" dirty="0">
                <a:solidFill>
                  <a:schemeClr val="tx2"/>
                </a:solidFill>
              </a:rPr>
              <a:t>案件担当（普段の窓口）</a:t>
            </a:r>
            <a:endParaRPr lang="en-US" sz="1200" dirty="0"/>
          </a:p>
        </p:txBody>
      </p:sp>
      <p:sp>
        <p:nvSpPr>
          <p:cNvPr id="74" name="txt-101"/>
          <p:cNvSpPr txBox="1"/>
          <p:nvPr/>
        </p:nvSpPr>
        <p:spPr>
          <a:xfrm>
            <a:off x="6341364" y="5806440"/>
            <a:ext cx="5225796" cy="548640"/>
          </a:xfrm>
          <a:prstGeom prst="rect">
            <a:avLst/>
          </a:prstGeom>
          <a:noFill/>
          <a:ln/>
        </p:spPr>
        <p:txBody>
          <a:bodyPr wrap="square" lIns="0" tIns="0" rIns="0" bIns="0" rtlCol="0" anchor="t"/>
          <a:lstStyle/>
          <a:p>
            <a:pPr indent="0" marL="0">
              <a:buNone/>
            </a:pPr>
            <a:r>
              <a:rPr lang="en-US" sz="1000" dirty="0">
                <a:solidFill>
                  <a:schemeClr val="tx1"/>
                </a:solidFill>
              </a:rPr>
              <a:t>その案件でビジネス部門のカウンターパートを務めている IT部門のメンバーがそのまま担う。案件ごとの実務と、移管元の責任者への承認の依頼を行う（5枚目）</a:t>
            </a:r>
            <a:endParaRPr lang="en-US" sz="10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案件担当の手引き</a:t>
            </a:r>
            <a:endParaRPr lang="en-US" sz="2600" dirty="0"/>
          </a:p>
        </p:txBody>
      </p:sp>
      <p:sp>
        <p:nvSpPr>
          <p:cNvPr id="3" name="txt-102"/>
          <p:cNvSpPr txBox="1"/>
          <p:nvPr/>
        </p:nvSpPr>
        <p:spPr>
          <a:xfrm>
            <a:off x="457200" y="1005840"/>
            <a:ext cx="7360920" cy="274320"/>
          </a:xfrm>
          <a:prstGeom prst="rect">
            <a:avLst/>
          </a:prstGeom>
          <a:noFill/>
          <a:ln/>
        </p:spPr>
        <p:txBody>
          <a:bodyPr wrap="square" lIns="0" tIns="0" rIns="0" bIns="0" rtlCol="0" anchor="t"/>
          <a:lstStyle/>
          <a:p>
            <a:pPr indent="0" marL="0">
              <a:buNone/>
            </a:pPr>
            <a:r>
              <a:rPr lang="en-US" sz="1200" b="1" dirty="0">
                <a:solidFill>
                  <a:schemeClr val="accent2"/>
                </a:solidFill>
              </a:rPr>
              <a:t>やること（4枚目のタスク①〜④）</a:t>
            </a:r>
            <a:endParaRPr lang="en-US" sz="1200" dirty="0"/>
          </a:p>
        </p:txBody>
      </p:sp>
      <p:sp>
        <p:nvSpPr>
          <p:cNvPr id="4" name="box-103"/>
          <p:cNvSpPr/>
          <p:nvPr/>
        </p:nvSpPr>
        <p:spPr>
          <a:xfrm>
            <a:off x="457200" y="1353312"/>
            <a:ext cx="7360920" cy="1207008"/>
          </a:xfrm>
          <a:prstGeom prst="rect">
            <a:avLst/>
          </a:prstGeom>
          <a:solidFill>
            <a:schemeClr val="bg2"/>
          </a:solidFill>
          <a:ln/>
        </p:spPr>
      </p:sp>
      <p:sp>
        <p:nvSpPr>
          <p:cNvPr id="5" name="num-104"/>
          <p:cNvSpPr/>
          <p:nvPr/>
        </p:nvSpPr>
        <p:spPr>
          <a:xfrm>
            <a:off x="612648" y="1490472"/>
            <a:ext cx="384048" cy="384048"/>
          </a:xfrm>
          <a:prstGeom prst="ellipse">
            <a:avLst/>
          </a:prstGeom>
          <a:solidFill>
            <a:schemeClr val="tx2"/>
          </a:solidFill>
          <a:ln/>
        </p:spPr>
      </p:sp>
      <p:sp>
        <p:nvSpPr>
          <p:cNvPr id="6" name="txt-105"/>
          <p:cNvSpPr txBox="1"/>
          <p:nvPr/>
        </p:nvSpPr>
        <p:spPr>
          <a:xfrm>
            <a:off x="612648" y="1490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xt-106"/>
          <p:cNvSpPr txBox="1"/>
          <p:nvPr/>
        </p:nvSpPr>
        <p:spPr>
          <a:xfrm>
            <a:off x="1143000" y="149047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判定保留を解消し、棚卸しを終える</a:t>
            </a:r>
            <a:endParaRPr lang="en-US" sz="1400" dirty="0"/>
          </a:p>
        </p:txBody>
      </p:sp>
      <p:sp>
        <p:nvSpPr>
          <p:cNvPr id="8" name="txt-107"/>
          <p:cNvSpPr txBox="1"/>
          <p:nvPr/>
        </p:nvSpPr>
        <p:spPr>
          <a:xfrm>
            <a:off x="6400800" y="149047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11月中</a:t>
            </a:r>
            <a:endParaRPr lang="en-US" sz="1200" dirty="0"/>
          </a:p>
        </p:txBody>
      </p:sp>
      <p:sp>
        <p:nvSpPr>
          <p:cNvPr id="9" name="txt-108"/>
          <p:cNvSpPr txBox="1"/>
          <p:nvPr/>
        </p:nvSpPr>
        <p:spPr>
          <a:xfrm>
            <a:off x="1143000" y="1856232"/>
            <a:ext cx="6519672" cy="329184"/>
          </a:xfrm>
          <a:prstGeom prst="rect">
            <a:avLst/>
          </a:prstGeom>
          <a:noFill/>
          <a:ln/>
        </p:spPr>
        <p:txBody>
          <a:bodyPr wrap="square" lIns="0" tIns="0" rIns="0" bIns="0" rtlCol="0" anchor="t"/>
          <a:lstStyle/>
          <a:p>
            <a:pPr indent="0" marL="0">
              <a:buNone/>
            </a:pPr>
            <a:r>
              <a:rPr lang="en-US" sz="1000" dirty="0">
                <a:solidFill>
                  <a:schemeClr val="tx1"/>
                </a:solidFill>
              </a:rPr>
              <a:t>記入内容を部門の担当者に確かめ、足りない入力を埋めて判定保留をなくす</a:t>
            </a:r>
            <a:endParaRPr lang="en-US" sz="1000" dirty="0"/>
          </a:p>
        </p:txBody>
      </p:sp>
      <p:sp>
        <p:nvSpPr>
          <p:cNvPr id="10" name="txt-109"/>
          <p:cNvSpPr txBox="1"/>
          <p:nvPr/>
        </p:nvSpPr>
        <p:spPr>
          <a:xfrm>
            <a:off x="1143000" y="2221992"/>
            <a:ext cx="6519672" cy="329184"/>
          </a:xfrm>
          <a:prstGeom prst="rect">
            <a:avLst/>
          </a:prstGeom>
          <a:noFill/>
          <a:ln/>
        </p:spPr>
        <p:txBody>
          <a:bodyPr wrap="square" lIns="0" tIns="0" rIns="0" bIns="0" rtlCol="0" anchor="t"/>
          <a:lstStyle/>
          <a:p>
            <a:pPr indent="0" marL="0">
              <a:buNone/>
            </a:pPr>
            <a:r>
              <a:rPr lang="en-US" sz="1000" b="1" dirty="0">
                <a:solidFill>
                  <a:schemeClr val="tx2"/>
                </a:solidFill>
              </a:rPr>
              <a:t>成果物　</a:t>
            </a:r>
            <a:pPr indent="0" marL="0">
              <a:buNone/>
            </a:pPr>
            <a:r>
              <a:rPr lang="en-US" sz="1000" dirty="0">
                <a:solidFill>
                  <a:schemeClr val="tx1"/>
                </a:solidFill>
              </a:rPr>
              <a:t>部門の担当者が確認した予算移管シート（予算一覧・紐付け・システム・業務・契約）。判定保留がない状態</a:t>
            </a:r>
            <a:pPr indent="0" marL="0">
              <a:buNone/>
            </a:pPr>
            <a:r>
              <a:rPr lang="en-US" sz="1000" dirty="0">
                <a:solidFill>
                  <a:schemeClr val="accent2"/>
                </a:solidFill>
              </a:rPr>
              <a:t>　／　ステータス → 棚卸し済み</a:t>
            </a:r>
            <a:endParaRPr lang="en-US" sz="1000" dirty="0"/>
          </a:p>
        </p:txBody>
      </p:sp>
      <p:sp>
        <p:nvSpPr>
          <p:cNvPr id="11" name="box-110"/>
          <p:cNvSpPr/>
          <p:nvPr/>
        </p:nvSpPr>
        <p:spPr>
          <a:xfrm>
            <a:off x="457200" y="2633472"/>
            <a:ext cx="7360920" cy="1207008"/>
          </a:xfrm>
          <a:prstGeom prst="rect">
            <a:avLst/>
          </a:prstGeom>
          <a:solidFill>
            <a:schemeClr val="bg2"/>
          </a:solidFill>
          <a:ln/>
        </p:spPr>
      </p:sp>
      <p:sp>
        <p:nvSpPr>
          <p:cNvPr id="12" name="num-111"/>
          <p:cNvSpPr/>
          <p:nvPr/>
        </p:nvSpPr>
        <p:spPr>
          <a:xfrm>
            <a:off x="612648" y="2770632"/>
            <a:ext cx="384048" cy="384048"/>
          </a:xfrm>
          <a:prstGeom prst="ellipse">
            <a:avLst/>
          </a:prstGeom>
          <a:solidFill>
            <a:schemeClr val="tx2"/>
          </a:solidFill>
          <a:ln/>
        </p:spPr>
      </p:sp>
      <p:sp>
        <p:nvSpPr>
          <p:cNvPr id="13" name="txt-112"/>
          <p:cNvSpPr txBox="1"/>
          <p:nvPr/>
        </p:nvSpPr>
        <p:spPr>
          <a:xfrm>
            <a:off x="612648" y="2770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xt-113"/>
          <p:cNvSpPr txBox="1"/>
          <p:nvPr/>
        </p:nvSpPr>
        <p:spPr>
          <a:xfrm>
            <a:off x="1143000" y="277063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引継ぎ・IT関連業務の扱いを合意する</a:t>
            </a:r>
            <a:endParaRPr lang="en-US" sz="1400" dirty="0"/>
          </a:p>
        </p:txBody>
      </p:sp>
      <p:sp>
        <p:nvSpPr>
          <p:cNvPr id="15" name="txt-114"/>
          <p:cNvSpPr txBox="1"/>
          <p:nvPr/>
        </p:nvSpPr>
        <p:spPr>
          <a:xfrm>
            <a:off x="6400800" y="277063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12/11まで</a:t>
            </a:r>
            <a:endParaRPr lang="en-US" sz="1200" dirty="0"/>
          </a:p>
        </p:txBody>
      </p:sp>
      <p:sp>
        <p:nvSpPr>
          <p:cNvPr id="16" name="txt-115"/>
          <p:cNvSpPr txBox="1"/>
          <p:nvPr/>
        </p:nvSpPr>
        <p:spPr>
          <a:xfrm>
            <a:off x="1143000" y="3136392"/>
            <a:ext cx="6519672" cy="329184"/>
          </a:xfrm>
          <a:prstGeom prst="rect">
            <a:avLst/>
          </a:prstGeom>
          <a:noFill/>
          <a:ln/>
        </p:spPr>
        <p:txBody>
          <a:bodyPr wrap="square" lIns="0" tIns="0" rIns="0" bIns="0" rtlCol="0" anchor="t"/>
          <a:lstStyle/>
          <a:p>
            <a:pPr indent="0" marL="0">
              <a:buNone/>
            </a:pPr>
            <a:r>
              <a:rPr lang="en-US" sz="1000" dirty="0">
                <a:solidFill>
                  <a:schemeClr val="tx1"/>
                </a:solidFill>
              </a:rPr>
              <a:t>RACI（7・8枚目）を案件に合わせてカスタマイズし、経過措置と引継ぎの方法を加えた合意文書を作り、移管元の責任者の承認を得る</a:t>
            </a:r>
            <a:endParaRPr lang="en-US" sz="1000" dirty="0"/>
          </a:p>
        </p:txBody>
      </p:sp>
      <p:sp>
        <p:nvSpPr>
          <p:cNvPr id="17" name="txt-116"/>
          <p:cNvSpPr txBox="1"/>
          <p:nvPr/>
        </p:nvSpPr>
        <p:spPr>
          <a:xfrm>
            <a:off x="1143000" y="3502152"/>
            <a:ext cx="6519672" cy="329184"/>
          </a:xfrm>
          <a:prstGeom prst="rect">
            <a:avLst/>
          </a:prstGeom>
          <a:noFill/>
          <a:ln/>
        </p:spPr>
        <p:txBody>
          <a:bodyPr wrap="square" lIns="0" tIns="0" rIns="0" bIns="0" rtlCol="0" anchor="t"/>
          <a:lstStyle/>
          <a:p>
            <a:pPr indent="0" marL="0">
              <a:buNone/>
            </a:pPr>
            <a:r>
              <a:rPr lang="en-US" sz="1000" b="1" dirty="0">
                <a:solidFill>
                  <a:schemeClr val="tx2"/>
                </a:solidFill>
              </a:rPr>
              <a:t>成果物　</a:t>
            </a:r>
            <a:pPr indent="0" marL="0">
              <a:buNone/>
            </a:pPr>
            <a:r>
              <a:rPr lang="en-US" sz="1000" dirty="0">
                <a:solidFill>
                  <a:schemeClr val="tx1"/>
                </a:solidFill>
              </a:rPr>
              <a:t>承認された合意文書（カスタマイズした RACI、経過措置と完了予定、引継ぎの方法。決定記録に登録）</a:t>
            </a:r>
            <a:pPr indent="0" marL="0">
              <a:buNone/>
            </a:pPr>
            <a:r>
              <a:rPr lang="en-US" sz="1000" dirty="0">
                <a:solidFill>
                  <a:schemeClr val="accent2"/>
                </a:solidFill>
              </a:rPr>
              <a:t>　／　ステータス → 合意済み</a:t>
            </a:r>
            <a:endParaRPr lang="en-US" sz="1000" dirty="0"/>
          </a:p>
        </p:txBody>
      </p:sp>
      <p:sp>
        <p:nvSpPr>
          <p:cNvPr id="18" name="box-117"/>
          <p:cNvSpPr/>
          <p:nvPr/>
        </p:nvSpPr>
        <p:spPr>
          <a:xfrm>
            <a:off x="457200" y="3913632"/>
            <a:ext cx="7360920" cy="1207008"/>
          </a:xfrm>
          <a:prstGeom prst="rect">
            <a:avLst/>
          </a:prstGeom>
          <a:solidFill>
            <a:schemeClr val="bg2"/>
          </a:solidFill>
          <a:ln/>
        </p:spPr>
      </p:sp>
      <p:sp>
        <p:nvSpPr>
          <p:cNvPr id="19" name="num-118"/>
          <p:cNvSpPr/>
          <p:nvPr/>
        </p:nvSpPr>
        <p:spPr>
          <a:xfrm>
            <a:off x="612648" y="4050792"/>
            <a:ext cx="384048" cy="384048"/>
          </a:xfrm>
          <a:prstGeom prst="ellipse">
            <a:avLst/>
          </a:prstGeom>
          <a:solidFill>
            <a:schemeClr val="tx2"/>
          </a:solidFill>
          <a:ln/>
        </p:spPr>
      </p:sp>
      <p:sp>
        <p:nvSpPr>
          <p:cNvPr id="20" name="txt-119"/>
          <p:cNvSpPr txBox="1"/>
          <p:nvPr/>
        </p:nvSpPr>
        <p:spPr>
          <a:xfrm>
            <a:off x="612648" y="4050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xt-120"/>
          <p:cNvSpPr txBox="1"/>
          <p:nvPr/>
        </p:nvSpPr>
        <p:spPr>
          <a:xfrm>
            <a:off x="1143000" y="405079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間接業務を受け手に引き継ぐ</a:t>
            </a:r>
            <a:endParaRPr lang="en-US" sz="1400" dirty="0"/>
          </a:p>
        </p:txBody>
      </p:sp>
      <p:sp>
        <p:nvSpPr>
          <p:cNvPr id="22" name="txt-121"/>
          <p:cNvSpPr txBox="1"/>
          <p:nvPr/>
        </p:nvSpPr>
        <p:spPr>
          <a:xfrm>
            <a:off x="6400800" y="405079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12/18まで</a:t>
            </a:r>
            <a:endParaRPr lang="en-US" sz="1200" dirty="0"/>
          </a:p>
        </p:txBody>
      </p:sp>
      <p:sp>
        <p:nvSpPr>
          <p:cNvPr id="23" name="txt-122"/>
          <p:cNvSpPr txBox="1"/>
          <p:nvPr/>
        </p:nvSpPr>
        <p:spPr>
          <a:xfrm>
            <a:off x="1143000" y="4416552"/>
            <a:ext cx="6519672" cy="329184"/>
          </a:xfrm>
          <a:prstGeom prst="rect">
            <a:avLst/>
          </a:prstGeom>
          <a:noFill/>
          <a:ln/>
        </p:spPr>
        <p:txBody>
          <a:bodyPr wrap="square" lIns="0" tIns="0" rIns="0" bIns="0" rtlCol="0" anchor="t"/>
          <a:lstStyle/>
          <a:p>
            <a:pPr indent="0" marL="0">
              <a:buNone/>
            </a:pPr>
            <a:r>
              <a:rPr lang="en-US" sz="1000" dirty="0">
                <a:solidFill>
                  <a:schemeClr val="tx1"/>
                </a:solidFill>
              </a:rPr>
              <a:t>部門から手順・資料を受け取り、受け手に渡す</a:t>
            </a:r>
            <a:endParaRPr lang="en-US" sz="1000" dirty="0"/>
          </a:p>
        </p:txBody>
      </p:sp>
      <p:sp>
        <p:nvSpPr>
          <p:cNvPr id="24" name="txt-123"/>
          <p:cNvSpPr txBox="1"/>
          <p:nvPr/>
        </p:nvSpPr>
        <p:spPr>
          <a:xfrm>
            <a:off x="1143000" y="4782312"/>
            <a:ext cx="6519672" cy="329184"/>
          </a:xfrm>
          <a:prstGeom prst="rect">
            <a:avLst/>
          </a:prstGeom>
          <a:noFill/>
          <a:ln/>
        </p:spPr>
        <p:txBody>
          <a:bodyPr wrap="square" lIns="0" tIns="0" rIns="0" bIns="0" rtlCol="0" anchor="t"/>
          <a:lstStyle/>
          <a:p>
            <a:pPr indent="0" marL="0">
              <a:buNone/>
            </a:pPr>
            <a:r>
              <a:rPr lang="en-US" sz="1000" b="1" dirty="0">
                <a:solidFill>
                  <a:schemeClr val="tx2"/>
                </a:solidFill>
              </a:rPr>
              <a:t>成果物　</a:t>
            </a:r>
            <a:pPr indent="0" marL="0">
              <a:buNone/>
            </a:pPr>
            <a:r>
              <a:rPr lang="en-US" sz="1000" dirty="0">
                <a:solidFill>
                  <a:schemeClr val="tx1"/>
                </a:solidFill>
              </a:rPr>
              <a:t>受け手に渡した資料一式（契約書の写し、請求の窓口、支払いの時期、未払いの請求）。担当の変更に手続きが要る業務（GxP など）は、その起票と完了予定</a:t>
            </a:r>
            <a:endParaRPr lang="en-US" sz="1000" dirty="0"/>
          </a:p>
        </p:txBody>
      </p:sp>
      <p:sp>
        <p:nvSpPr>
          <p:cNvPr id="25" name="box-124"/>
          <p:cNvSpPr/>
          <p:nvPr/>
        </p:nvSpPr>
        <p:spPr>
          <a:xfrm>
            <a:off x="457200" y="5193792"/>
            <a:ext cx="7360920" cy="1207008"/>
          </a:xfrm>
          <a:prstGeom prst="rect">
            <a:avLst/>
          </a:prstGeom>
          <a:solidFill>
            <a:schemeClr val="bg2"/>
          </a:solidFill>
          <a:ln/>
        </p:spPr>
      </p:sp>
      <p:sp>
        <p:nvSpPr>
          <p:cNvPr id="26" name="num-125"/>
          <p:cNvSpPr/>
          <p:nvPr/>
        </p:nvSpPr>
        <p:spPr>
          <a:xfrm>
            <a:off x="612648" y="5330952"/>
            <a:ext cx="384048" cy="384048"/>
          </a:xfrm>
          <a:prstGeom prst="ellipse">
            <a:avLst/>
          </a:prstGeom>
          <a:solidFill>
            <a:schemeClr val="tx2"/>
          </a:solidFill>
          <a:ln/>
        </p:spPr>
      </p:sp>
      <p:sp>
        <p:nvSpPr>
          <p:cNvPr id="27" name="txt-126"/>
          <p:cNvSpPr txBox="1"/>
          <p:nvPr/>
        </p:nvSpPr>
        <p:spPr>
          <a:xfrm>
            <a:off x="612648" y="53309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txt-127"/>
          <p:cNvSpPr txBox="1"/>
          <p:nvPr/>
        </p:nvSpPr>
        <p:spPr>
          <a:xfrm>
            <a:off x="1143000" y="5330952"/>
            <a:ext cx="5120640" cy="384048"/>
          </a:xfrm>
          <a:prstGeom prst="rect">
            <a:avLst/>
          </a:prstGeom>
          <a:noFill/>
          <a:ln/>
        </p:spPr>
        <p:txBody>
          <a:bodyPr wrap="square" lIns="0" tIns="0" rIns="0" bIns="0" rtlCol="0" anchor="ctr"/>
          <a:lstStyle/>
          <a:p>
            <a:pPr indent="0" marL="0">
              <a:buNone/>
            </a:pPr>
            <a:r>
              <a:rPr lang="en-US" sz="1400" b="1" dirty="0">
                <a:solidFill>
                  <a:schemeClr val="tx2"/>
                </a:solidFill>
              </a:rPr>
              <a:t>準備完了を確認する</a:t>
            </a:r>
            <a:endParaRPr lang="en-US" sz="1400" dirty="0"/>
          </a:p>
        </p:txBody>
      </p:sp>
      <p:sp>
        <p:nvSpPr>
          <p:cNvPr id="29" name="txt-128"/>
          <p:cNvSpPr txBox="1"/>
          <p:nvPr/>
        </p:nvSpPr>
        <p:spPr>
          <a:xfrm>
            <a:off x="6400800" y="5330952"/>
            <a:ext cx="1261872" cy="384048"/>
          </a:xfrm>
          <a:prstGeom prst="rect">
            <a:avLst/>
          </a:prstGeom>
          <a:noFill/>
          <a:ln/>
        </p:spPr>
        <p:txBody>
          <a:bodyPr wrap="square" lIns="0" tIns="0" rIns="0" bIns="0" rtlCol="0" anchor="ctr"/>
          <a:lstStyle/>
          <a:p>
            <a:pPr algn="r" indent="0" marL="0">
              <a:buNone/>
            </a:pPr>
            <a:r>
              <a:rPr lang="en-US" sz="1200" b="1" dirty="0">
                <a:solidFill>
                  <a:schemeClr val="tx2"/>
                </a:solidFill>
              </a:rPr>
              <a:t>12/18まで</a:t>
            </a:r>
            <a:endParaRPr lang="en-US" sz="1200" dirty="0"/>
          </a:p>
        </p:txBody>
      </p:sp>
      <p:sp>
        <p:nvSpPr>
          <p:cNvPr id="30" name="txt-129"/>
          <p:cNvSpPr txBox="1"/>
          <p:nvPr/>
        </p:nvSpPr>
        <p:spPr>
          <a:xfrm>
            <a:off x="1143000" y="5696712"/>
            <a:ext cx="6519672" cy="329184"/>
          </a:xfrm>
          <a:prstGeom prst="rect">
            <a:avLst/>
          </a:prstGeom>
          <a:noFill/>
          <a:ln/>
        </p:spPr>
        <p:txBody>
          <a:bodyPr wrap="square" lIns="0" tIns="0" rIns="0" bIns="0" rtlCol="0" anchor="t"/>
          <a:lstStyle/>
          <a:p>
            <a:pPr indent="0" marL="0">
              <a:buNone/>
            </a:pPr>
            <a:r>
              <a:rPr lang="en-US" sz="1000" dirty="0">
                <a:solidFill>
                  <a:schemeClr val="tx1"/>
                </a:solidFill>
              </a:rPr>
              <a:t>準備完了チェックで、合意文書・引継ぎ・経過措置の手続きの起票を確かめる</a:t>
            </a:r>
            <a:endParaRPr lang="en-US" sz="1000" dirty="0"/>
          </a:p>
        </p:txBody>
      </p:sp>
      <p:sp>
        <p:nvSpPr>
          <p:cNvPr id="31" name="txt-130"/>
          <p:cNvSpPr txBox="1"/>
          <p:nvPr/>
        </p:nvSpPr>
        <p:spPr>
          <a:xfrm>
            <a:off x="1143000" y="6062472"/>
            <a:ext cx="6519672" cy="329184"/>
          </a:xfrm>
          <a:prstGeom prst="rect">
            <a:avLst/>
          </a:prstGeom>
          <a:noFill/>
          <a:ln/>
        </p:spPr>
        <p:txBody>
          <a:bodyPr wrap="square" lIns="0" tIns="0" rIns="0" bIns="0" rtlCol="0" anchor="t"/>
          <a:lstStyle/>
          <a:p>
            <a:pPr indent="0" marL="0">
              <a:buNone/>
            </a:pPr>
            <a:r>
              <a:rPr lang="en-US" sz="1000" b="1" dirty="0">
                <a:solidFill>
                  <a:schemeClr val="tx2"/>
                </a:solidFill>
              </a:rPr>
              <a:t>成果物　</a:t>
            </a:r>
            <a:pPr indent="0" marL="0">
              <a:buNone/>
            </a:pPr>
            <a:r>
              <a:rPr lang="en-US" sz="1000" dirty="0">
                <a:solidFill>
                  <a:schemeClr val="tx1"/>
                </a:solidFill>
              </a:rPr>
              <a:t>準備完了チェックの記録</a:t>
            </a:r>
            <a:pPr indent="0" marL="0">
              <a:buNone/>
            </a:pPr>
            <a:r>
              <a:rPr lang="en-US" sz="1000" dirty="0">
                <a:solidFill>
                  <a:schemeClr val="accent2"/>
                </a:solidFill>
              </a:rPr>
              <a:t>　／　ステータス → 準備完了</a:t>
            </a:r>
            <a:endParaRPr lang="en-US" sz="1000" dirty="0"/>
          </a:p>
        </p:txBody>
      </p:sp>
      <p:sp>
        <p:nvSpPr>
          <p:cNvPr id="32" name="txt-131"/>
          <p:cNvSpPr txBox="1"/>
          <p:nvPr/>
        </p:nvSpPr>
        <p:spPr>
          <a:xfrm>
            <a:off x="8028432" y="1005840"/>
            <a:ext cx="3703320" cy="274320"/>
          </a:xfrm>
          <a:prstGeom prst="rect">
            <a:avLst/>
          </a:prstGeom>
          <a:noFill/>
          <a:ln/>
        </p:spPr>
        <p:txBody>
          <a:bodyPr wrap="square" lIns="0" tIns="0" rIns="0" bIns="0" rtlCol="0" anchor="t"/>
          <a:lstStyle/>
          <a:p>
            <a:pPr indent="0" marL="0">
              <a:buNone/>
            </a:pPr>
            <a:r>
              <a:rPr lang="en-US" sz="1200" b="1" dirty="0">
                <a:solidFill>
                  <a:schemeClr val="accent2"/>
                </a:solidFill>
              </a:rPr>
              <a:t>お願いしたいこと</a:t>
            </a:r>
            <a:endParaRPr lang="en-US" sz="1200" dirty="0"/>
          </a:p>
        </p:txBody>
      </p:sp>
      <p:sp>
        <p:nvSpPr>
          <p:cNvPr id="33" name="box-132"/>
          <p:cNvSpPr/>
          <p:nvPr/>
        </p:nvSpPr>
        <p:spPr>
          <a:xfrm>
            <a:off x="8028432" y="1353312"/>
            <a:ext cx="3703320" cy="5047488"/>
          </a:xfrm>
          <a:prstGeom prst="rect">
            <a:avLst/>
          </a:prstGeom>
          <a:solidFill>
            <a:schemeClr val="bg1"/>
          </a:solidFill>
          <a:ln w="9525">
            <a:solidFill>
              <a:schemeClr val="accent3"/>
            </a:solidFill>
            <a:prstDash val="solid"/>
          </a:ln>
        </p:spPr>
      </p:sp>
      <p:sp>
        <p:nvSpPr>
          <p:cNvPr id="34" name="box-133"/>
          <p:cNvSpPr/>
          <p:nvPr/>
        </p:nvSpPr>
        <p:spPr>
          <a:xfrm>
            <a:off x="8257032" y="1517904"/>
            <a:ext cx="1325880" cy="329184"/>
          </a:xfrm>
          <a:prstGeom prst="rect">
            <a:avLst/>
          </a:prstGeom>
          <a:solidFill>
            <a:schemeClr val="bg2"/>
          </a:solidFill>
          <a:ln/>
        </p:spPr>
      </p:sp>
      <p:sp>
        <p:nvSpPr>
          <p:cNvPr id="35" name="txt-134"/>
          <p:cNvSpPr txBox="1"/>
          <p:nvPr/>
        </p:nvSpPr>
        <p:spPr>
          <a:xfrm>
            <a:off x="8257032" y="15179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棚卸し中</a:t>
            </a:r>
            <a:endParaRPr lang="en-US" sz="1050" dirty="0"/>
          </a:p>
        </p:txBody>
      </p:sp>
      <p:sp>
        <p:nvSpPr>
          <p:cNvPr id="36" name="arrow-135"/>
          <p:cNvSpPr/>
          <p:nvPr/>
        </p:nvSpPr>
        <p:spPr>
          <a:xfrm>
            <a:off x="8919972" y="1847088"/>
            <a:ext cx="0" cy="128016"/>
          </a:xfrm>
          <a:prstGeom prst="line">
            <a:avLst/>
          </a:prstGeom>
          <a:noFill/>
          <a:ln w="12700">
            <a:solidFill>
              <a:schemeClr val="accent3"/>
            </a:solidFill>
            <a:prstDash val="solid"/>
            <a:tailEnd type="triangle"/>
          </a:ln>
        </p:spPr>
      </p:sp>
      <p:sp>
        <p:nvSpPr>
          <p:cNvPr id="37" name="box-136"/>
          <p:cNvSpPr/>
          <p:nvPr/>
        </p:nvSpPr>
        <p:spPr>
          <a:xfrm>
            <a:off x="8257032" y="1975104"/>
            <a:ext cx="1325880" cy="329184"/>
          </a:xfrm>
          <a:prstGeom prst="rect">
            <a:avLst/>
          </a:prstGeom>
          <a:solidFill>
            <a:schemeClr val="bg2"/>
          </a:solidFill>
          <a:ln/>
        </p:spPr>
      </p:sp>
      <p:sp>
        <p:nvSpPr>
          <p:cNvPr id="38" name="txt-137"/>
          <p:cNvSpPr txBox="1"/>
          <p:nvPr/>
        </p:nvSpPr>
        <p:spPr>
          <a:xfrm>
            <a:off x="8257032" y="19751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棚卸し済み</a:t>
            </a:r>
            <a:endParaRPr lang="en-US" sz="1050" dirty="0"/>
          </a:p>
        </p:txBody>
      </p:sp>
      <p:sp>
        <p:nvSpPr>
          <p:cNvPr id="39" name="arrow-138"/>
          <p:cNvSpPr/>
          <p:nvPr/>
        </p:nvSpPr>
        <p:spPr>
          <a:xfrm>
            <a:off x="8919972" y="2304288"/>
            <a:ext cx="0" cy="128016"/>
          </a:xfrm>
          <a:prstGeom prst="line">
            <a:avLst/>
          </a:prstGeom>
          <a:noFill/>
          <a:ln w="12700">
            <a:solidFill>
              <a:schemeClr val="accent3"/>
            </a:solidFill>
            <a:prstDash val="solid"/>
            <a:tailEnd type="triangle"/>
          </a:ln>
        </p:spPr>
      </p:sp>
      <p:sp>
        <p:nvSpPr>
          <p:cNvPr id="40" name="box-139"/>
          <p:cNvSpPr/>
          <p:nvPr/>
        </p:nvSpPr>
        <p:spPr>
          <a:xfrm>
            <a:off x="8257032" y="2432304"/>
            <a:ext cx="1325880" cy="329184"/>
          </a:xfrm>
          <a:prstGeom prst="rect">
            <a:avLst/>
          </a:prstGeom>
          <a:solidFill>
            <a:schemeClr val="bg2"/>
          </a:solidFill>
          <a:ln/>
        </p:spPr>
      </p:sp>
      <p:sp>
        <p:nvSpPr>
          <p:cNvPr id="41" name="txt-140"/>
          <p:cNvSpPr txBox="1"/>
          <p:nvPr/>
        </p:nvSpPr>
        <p:spPr>
          <a:xfrm>
            <a:off x="8257032" y="2432304"/>
            <a:ext cx="1325880" cy="329184"/>
          </a:xfrm>
          <a:prstGeom prst="rect">
            <a:avLst/>
          </a:prstGeom>
          <a:noFill/>
          <a:ln/>
        </p:spPr>
        <p:txBody>
          <a:bodyPr wrap="square" lIns="0" tIns="0" rIns="0" bIns="0" rtlCol="0" anchor="ctr"/>
          <a:lstStyle/>
          <a:p>
            <a:pPr algn="ctr" indent="0" marL="0">
              <a:buNone/>
            </a:pPr>
            <a:r>
              <a:rPr lang="en-US" sz="1050" b="1" dirty="0">
                <a:solidFill>
                  <a:schemeClr val="tx2"/>
                </a:solidFill>
              </a:rPr>
              <a:t>合意済み</a:t>
            </a:r>
            <a:endParaRPr lang="en-US" sz="1050" dirty="0"/>
          </a:p>
        </p:txBody>
      </p:sp>
      <p:sp>
        <p:nvSpPr>
          <p:cNvPr id="42" name="arrow-141"/>
          <p:cNvSpPr/>
          <p:nvPr/>
        </p:nvSpPr>
        <p:spPr>
          <a:xfrm>
            <a:off x="8919972" y="2761488"/>
            <a:ext cx="0" cy="128016"/>
          </a:xfrm>
          <a:prstGeom prst="line">
            <a:avLst/>
          </a:prstGeom>
          <a:noFill/>
          <a:ln w="12700">
            <a:solidFill>
              <a:schemeClr val="accent3"/>
            </a:solidFill>
            <a:prstDash val="solid"/>
            <a:tailEnd type="triangle"/>
          </a:ln>
        </p:spPr>
      </p:sp>
      <p:sp>
        <p:nvSpPr>
          <p:cNvPr id="43" name="box-142"/>
          <p:cNvSpPr/>
          <p:nvPr/>
        </p:nvSpPr>
        <p:spPr>
          <a:xfrm>
            <a:off x="8257032" y="2889504"/>
            <a:ext cx="1325880" cy="329184"/>
          </a:xfrm>
          <a:prstGeom prst="rect">
            <a:avLst/>
          </a:prstGeom>
          <a:solidFill>
            <a:schemeClr val="tx2"/>
          </a:solidFill>
          <a:ln/>
        </p:spPr>
      </p:sp>
      <p:sp>
        <p:nvSpPr>
          <p:cNvPr id="44" name="txt-143"/>
          <p:cNvSpPr txBox="1"/>
          <p:nvPr/>
        </p:nvSpPr>
        <p:spPr>
          <a:xfrm>
            <a:off x="8257032" y="2889504"/>
            <a:ext cx="1325880" cy="329184"/>
          </a:xfrm>
          <a:prstGeom prst="rect">
            <a:avLst/>
          </a:prstGeom>
          <a:noFill/>
          <a:ln/>
        </p:spPr>
        <p:txBody>
          <a:bodyPr wrap="square" lIns="0" tIns="0" rIns="0" bIns="0" rtlCol="0" anchor="ctr"/>
          <a:lstStyle/>
          <a:p>
            <a:pPr algn="ctr" indent="0" marL="0">
              <a:buNone/>
            </a:pPr>
            <a:r>
              <a:rPr lang="en-US" sz="1050" b="1" dirty="0">
                <a:solidFill>
                  <a:schemeClr val="bg1"/>
                </a:solidFill>
              </a:rPr>
              <a:t>準備完了</a:t>
            </a:r>
            <a:endParaRPr lang="en-US" sz="1050" dirty="0"/>
          </a:p>
        </p:txBody>
      </p:sp>
      <p:sp>
        <p:nvSpPr>
          <p:cNvPr id="45" name="txt-144"/>
          <p:cNvSpPr txBox="1"/>
          <p:nvPr/>
        </p:nvSpPr>
        <p:spPr>
          <a:xfrm>
            <a:off x="9720072" y="1517904"/>
            <a:ext cx="1920240" cy="914400"/>
          </a:xfrm>
          <a:prstGeom prst="rect">
            <a:avLst/>
          </a:prstGeom>
          <a:noFill/>
          <a:ln/>
        </p:spPr>
        <p:txBody>
          <a:bodyPr wrap="square" lIns="0" tIns="0" rIns="0" bIns="0" rtlCol="0" anchor="t"/>
          <a:lstStyle/>
          <a:p>
            <a:pPr indent="0" marL="0">
              <a:buNone/>
            </a:pPr>
            <a:r>
              <a:rPr lang="en-US" sz="1000" dirty="0">
                <a:solidFill>
                  <a:schemeClr val="accent2"/>
                </a:solidFill>
              </a:rPr>
              <a:t>ほかに「対象外」がある</a:t>
            </a:r>
            <a:endParaRPr lang="en-US" sz="1000" dirty="0"/>
          </a:p>
        </p:txBody>
      </p:sp>
      <p:sp>
        <p:nvSpPr>
          <p:cNvPr id="46" name="txt-145"/>
          <p:cNvSpPr txBox="1"/>
          <p:nvPr/>
        </p:nvSpPr>
        <p:spPr>
          <a:xfrm>
            <a:off x="8257032" y="3429000"/>
            <a:ext cx="3291840" cy="288036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chemeClr val="tx1"/>
                </a:solidFill>
              </a:rPr>
              <a:t>予算移管シートの移管ステータスを、条件を満たしたらその都度更新する</a:t>
            </a:r>
            <a:endParaRPr lang="en-US" sz="1100" dirty="0"/>
          </a:p>
          <a:p>
            <a:pPr marL="152400" indent="-152400">
              <a:spcAft>
                <a:spcPts val="600"/>
              </a:spcAft>
              <a:buSzPct val="100000"/>
              <a:buChar char="•"/>
            </a:pPr>
            <a:r>
              <a:rPr lang="en-US" sz="1050" dirty="0">
                <a:solidFill>
                  <a:schemeClr val="tx1"/>
                </a:solidFill>
              </a:rPr>
              <a:t>「進捗」シートの自分の行（タスクの状態と完了日）を更新する</a:t>
            </a:r>
            <a:endParaRPr lang="en-US" sz="1100" dirty="0"/>
          </a:p>
          <a:p>
            <a:pPr marL="152400" indent="-152400">
              <a:spcAft>
                <a:spcPts val="600"/>
              </a:spcAft>
              <a:buSzPct val="100000"/>
              <a:buChar char="•"/>
            </a:pPr>
            <a:r>
              <a:rPr lang="en-US" sz="1050" dirty="0">
                <a:solidFill>
                  <a:schemeClr val="tx1"/>
                </a:solidFill>
              </a:rPr>
              <a:t>「確認（自動）」欄に表示が出たら、ステータスを見直す（進行役が毎日確認して依頼する）</a:t>
            </a:r>
            <a:endParaRPr lang="en-US" sz="1100" dirty="0"/>
          </a:p>
          <a:p>
            <a:pPr marL="152400" indent="-152400">
              <a:spcAft>
                <a:spcPts val="600"/>
              </a:spcAft>
              <a:buSzPct val="100000"/>
              <a:buChar char="•"/>
            </a:pPr>
            <a:r>
              <a:rPr lang="en-US" sz="1050" dirty="0">
                <a:solidFill>
                  <a:schemeClr val="tx1"/>
                </a:solidFill>
              </a:rPr>
              <a:t>判定は数式で自動。手で書き換えず、直すのは入力</a:t>
            </a:r>
            <a:endParaRPr lang="en-US" sz="1100" dirty="0"/>
          </a:p>
          <a:p>
            <a:pPr marL="152400" indent="-152400">
              <a:spcAft>
                <a:spcPts val="600"/>
              </a:spcAft>
              <a:buSzPct val="100000"/>
              <a:buChar char="•"/>
            </a:pPr>
            <a:r>
              <a:rPr lang="en-US" sz="1050" dirty="0">
                <a:solidFill>
                  <a:schemeClr val="tx1"/>
                </a:solidFill>
              </a:rPr>
              <a:t>承認済みの文書で担当が定められた業務は、経過措置として合意文書に記録する</a:t>
            </a:r>
            <a:endParaRPr lang="en-US" sz="1100" dirty="0"/>
          </a:p>
          <a:p>
            <a:pPr marL="152400" indent="-152400">
              <a:spcAft>
                <a:spcPts val="600"/>
              </a:spcAft>
              <a:buSzPct val="100000"/>
              <a:buChar char="•"/>
            </a:pPr>
            <a:r>
              <a:rPr lang="en-US" sz="1050" dirty="0">
                <a:solidFill>
                  <a:schemeClr val="tx1"/>
                </a:solidFill>
              </a:rPr>
              <a:t>期限に間に合いそうにないときは、理由と見込みを早めに進行役に伝える</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業務の3つの層と役割</a:t>
            </a:r>
            <a:endParaRPr lang="en-US" sz="2600" dirty="0"/>
          </a:p>
        </p:txBody>
      </p:sp>
      <p:sp>
        <p:nvSpPr>
          <p:cNvPr id="3" name="txt-146"/>
          <p:cNvSpPr txBox="1"/>
          <p:nvPr/>
        </p:nvSpPr>
        <p:spPr>
          <a:xfrm>
            <a:off x="457200" y="914400"/>
            <a:ext cx="11274552" cy="365760"/>
          </a:xfrm>
          <a:prstGeom prst="rect">
            <a:avLst/>
          </a:prstGeom>
          <a:noFill/>
          <a:ln/>
        </p:spPr>
        <p:txBody>
          <a:bodyPr wrap="square" lIns="0" tIns="0" rIns="0" bIns="0" rtlCol="0" anchor="ctr"/>
          <a:lstStyle/>
          <a:p>
            <a:pPr indent="0" marL="0">
              <a:buNone/>
            </a:pPr>
            <a:r>
              <a:rPr lang="en-US" sz="1400" b="1" dirty="0">
                <a:solidFill>
                  <a:schemeClr val="tx2"/>
                </a:solidFill>
              </a:rPr>
              <a:t>移すのは間接業務。IT関連業務（中間層）は案件ごとに合意する。どの層でも、業務の最終責任（A）はビジネスオーナーに残る</a:t>
            </a:r>
            <a:endParaRPr lang="en-US" sz="1400" dirty="0"/>
          </a:p>
        </p:txBody>
      </p:sp>
      <p:sp>
        <p:nvSpPr>
          <p:cNvPr id="4" name="box-147"/>
          <p:cNvSpPr/>
          <p:nvPr/>
        </p:nvSpPr>
        <p:spPr>
          <a:xfrm>
            <a:off x="2377440" y="1444752"/>
            <a:ext cx="3026664" cy="777240"/>
          </a:xfrm>
          <a:prstGeom prst="rect">
            <a:avLst/>
          </a:prstGeom>
          <a:solidFill>
            <a:schemeClr val="bg2"/>
          </a:solidFill>
          <a:ln/>
        </p:spPr>
      </p:sp>
      <p:sp>
        <p:nvSpPr>
          <p:cNvPr id="5" name="txt-148"/>
          <p:cNvSpPr txBox="1"/>
          <p:nvPr/>
        </p:nvSpPr>
        <p:spPr>
          <a:xfrm>
            <a:off x="2514600" y="1517904"/>
            <a:ext cx="2752344" cy="274320"/>
          </a:xfrm>
          <a:prstGeom prst="rect">
            <a:avLst/>
          </a:prstGeom>
          <a:noFill/>
          <a:ln/>
        </p:spPr>
        <p:txBody>
          <a:bodyPr wrap="square" lIns="0" tIns="0" rIns="0" bIns="0" rtlCol="0" anchor="t"/>
          <a:lstStyle/>
          <a:p>
            <a:pPr indent="0" marL="0">
              <a:buNone/>
            </a:pPr>
            <a:r>
              <a:rPr lang="en-US" sz="1200" b="1" dirty="0">
                <a:solidFill>
                  <a:schemeClr val="tx2"/>
                </a:solidFill>
              </a:rPr>
              <a:t>BO　ビジネスオーナー</a:t>
            </a:r>
            <a:endParaRPr lang="en-US" sz="1200" dirty="0"/>
          </a:p>
        </p:txBody>
      </p:sp>
      <p:sp>
        <p:nvSpPr>
          <p:cNvPr id="6" name="txt-149"/>
          <p:cNvSpPr txBox="1"/>
          <p:nvPr/>
        </p:nvSpPr>
        <p:spPr>
          <a:xfrm>
            <a:off x="2514600" y="1810512"/>
            <a:ext cx="2752344" cy="365760"/>
          </a:xfrm>
          <a:prstGeom prst="rect">
            <a:avLst/>
          </a:prstGeom>
          <a:noFill/>
          <a:ln/>
        </p:spPr>
        <p:txBody>
          <a:bodyPr wrap="square" lIns="0" tIns="0" rIns="0" bIns="0" rtlCol="0" anchor="t"/>
          <a:lstStyle/>
          <a:p>
            <a:pPr indent="0" marL="0">
              <a:buNone/>
            </a:pPr>
            <a:r>
              <a:rPr lang="en-US" sz="950" dirty="0">
                <a:solidFill>
                  <a:schemeClr val="tx1"/>
                </a:solidFill>
              </a:rPr>
              <a:t>部門長。業務プロセスと、業務アプリケーションの要否・目的・便益に最終責任を持つ</a:t>
            </a:r>
            <a:endParaRPr lang="en-US" sz="950" dirty="0"/>
          </a:p>
        </p:txBody>
      </p:sp>
      <p:sp>
        <p:nvSpPr>
          <p:cNvPr id="7" name="box-150"/>
          <p:cNvSpPr/>
          <p:nvPr/>
        </p:nvSpPr>
        <p:spPr>
          <a:xfrm>
            <a:off x="5541264" y="1444752"/>
            <a:ext cx="3026664" cy="777240"/>
          </a:xfrm>
          <a:prstGeom prst="rect">
            <a:avLst/>
          </a:prstGeom>
          <a:solidFill>
            <a:schemeClr val="bg2"/>
          </a:solidFill>
          <a:ln/>
        </p:spPr>
      </p:sp>
      <p:sp>
        <p:nvSpPr>
          <p:cNvPr id="8" name="txt-151"/>
          <p:cNvSpPr txBox="1"/>
          <p:nvPr/>
        </p:nvSpPr>
        <p:spPr>
          <a:xfrm>
            <a:off x="5678424" y="1517904"/>
            <a:ext cx="2752344" cy="274320"/>
          </a:xfrm>
          <a:prstGeom prst="rect">
            <a:avLst/>
          </a:prstGeom>
          <a:noFill/>
          <a:ln/>
        </p:spPr>
        <p:txBody>
          <a:bodyPr wrap="square" lIns="0" tIns="0" rIns="0" bIns="0" rtlCol="0" anchor="t"/>
          <a:lstStyle/>
          <a:p>
            <a:pPr indent="0" marL="0">
              <a:buNone/>
            </a:pPr>
            <a:r>
              <a:rPr lang="en-US" sz="1200" b="1" dirty="0">
                <a:solidFill>
                  <a:schemeClr val="tx2"/>
                </a:solidFill>
              </a:rPr>
              <a:t>BU　ビジネス担当</a:t>
            </a:r>
            <a:endParaRPr lang="en-US" sz="1200" dirty="0"/>
          </a:p>
        </p:txBody>
      </p:sp>
      <p:sp>
        <p:nvSpPr>
          <p:cNvPr id="9" name="txt-152"/>
          <p:cNvSpPr txBox="1"/>
          <p:nvPr/>
        </p:nvSpPr>
        <p:spPr>
          <a:xfrm>
            <a:off x="5678424" y="1810512"/>
            <a:ext cx="2752344" cy="365760"/>
          </a:xfrm>
          <a:prstGeom prst="rect">
            <a:avLst/>
          </a:prstGeom>
          <a:noFill/>
          <a:ln/>
        </p:spPr>
        <p:txBody>
          <a:bodyPr wrap="square" lIns="0" tIns="0" rIns="0" bIns="0" rtlCol="0" anchor="t"/>
          <a:lstStyle/>
          <a:p>
            <a:pPr indent="0" marL="0">
              <a:buNone/>
            </a:pPr>
            <a:r>
              <a:rPr lang="en-US" sz="950" dirty="0">
                <a:solidFill>
                  <a:schemeClr val="tx1"/>
                </a:solidFill>
              </a:rPr>
              <a:t>部門の担当者。システムを使って業務を行い、要望を出し、受け入れを確かめる</a:t>
            </a:r>
            <a:endParaRPr lang="en-US" sz="950" dirty="0"/>
          </a:p>
        </p:txBody>
      </p:sp>
      <p:sp>
        <p:nvSpPr>
          <p:cNvPr id="10" name="box-153"/>
          <p:cNvSpPr/>
          <p:nvPr/>
        </p:nvSpPr>
        <p:spPr>
          <a:xfrm>
            <a:off x="8705088" y="1444752"/>
            <a:ext cx="3026664" cy="777240"/>
          </a:xfrm>
          <a:prstGeom prst="rect">
            <a:avLst/>
          </a:prstGeom>
          <a:solidFill>
            <a:schemeClr val="tx2"/>
          </a:solidFill>
          <a:ln/>
        </p:spPr>
      </p:sp>
      <p:sp>
        <p:nvSpPr>
          <p:cNvPr id="11" name="txt-154"/>
          <p:cNvSpPr txBox="1"/>
          <p:nvPr/>
        </p:nvSpPr>
        <p:spPr>
          <a:xfrm>
            <a:off x="8842248" y="1517904"/>
            <a:ext cx="2752344" cy="274320"/>
          </a:xfrm>
          <a:prstGeom prst="rect">
            <a:avLst/>
          </a:prstGeom>
          <a:noFill/>
          <a:ln/>
        </p:spPr>
        <p:txBody>
          <a:bodyPr wrap="square" lIns="0" tIns="0" rIns="0" bIns="0" rtlCol="0" anchor="t"/>
          <a:lstStyle/>
          <a:p>
            <a:pPr indent="0" marL="0">
              <a:buNone/>
            </a:pPr>
            <a:r>
              <a:rPr lang="en-US" sz="1200" b="1" dirty="0">
                <a:solidFill>
                  <a:schemeClr val="bg1"/>
                </a:solidFill>
              </a:rPr>
              <a:t>SO　システムオーナー</a:t>
            </a:r>
            <a:endParaRPr lang="en-US" sz="1200" dirty="0"/>
          </a:p>
        </p:txBody>
      </p:sp>
      <p:sp>
        <p:nvSpPr>
          <p:cNvPr id="12" name="txt-155"/>
          <p:cNvSpPr txBox="1"/>
          <p:nvPr/>
        </p:nvSpPr>
        <p:spPr>
          <a:xfrm>
            <a:off x="8842248" y="1810512"/>
            <a:ext cx="2752344" cy="365760"/>
          </a:xfrm>
          <a:prstGeom prst="rect">
            <a:avLst/>
          </a:prstGeom>
          <a:noFill/>
          <a:ln/>
        </p:spPr>
        <p:txBody>
          <a:bodyPr wrap="square" lIns="0" tIns="0" rIns="0" bIns="0" rtlCol="0" anchor="t"/>
          <a:lstStyle/>
          <a:p>
            <a:pPr indent="0" marL="0">
              <a:buNone/>
            </a:pPr>
            <a:r>
              <a:rPr lang="en-US" sz="950" dirty="0">
                <a:solidFill>
                  <a:schemeClr val="bg1"/>
                </a:solidFill>
              </a:rPr>
              <a:t>IT部門。システムの可用性・保守・セキュリティに責任を持つ。A は引き取らない</a:t>
            </a:r>
            <a:endParaRPr lang="en-US" sz="950" dirty="0"/>
          </a:p>
        </p:txBody>
      </p:sp>
      <p:sp>
        <p:nvSpPr>
          <p:cNvPr id="13" name="txt-156"/>
          <p:cNvSpPr txBox="1"/>
          <p:nvPr/>
        </p:nvSpPr>
        <p:spPr>
          <a:xfrm>
            <a:off x="548640" y="2423160"/>
            <a:ext cx="1691640" cy="320040"/>
          </a:xfrm>
          <a:prstGeom prst="rect">
            <a:avLst/>
          </a:prstGeom>
          <a:noFill/>
          <a:ln/>
        </p:spPr>
        <p:txBody>
          <a:bodyPr wrap="square" lIns="0" tIns="0" rIns="0" bIns="0" rtlCol="0" anchor="t"/>
          <a:lstStyle/>
          <a:p>
            <a:pPr indent="0" marL="0">
              <a:buNone/>
            </a:pPr>
            <a:r>
              <a:rPr lang="en-US" sz="1400" b="1" dirty="0">
                <a:solidFill>
                  <a:schemeClr val="tx2"/>
                </a:solidFill>
              </a:rPr>
              <a:t>直接業務</a:t>
            </a:r>
            <a:endParaRPr lang="en-US" sz="1400" dirty="0"/>
          </a:p>
        </p:txBody>
      </p:sp>
      <p:sp>
        <p:nvSpPr>
          <p:cNvPr id="14" name="txt-157"/>
          <p:cNvSpPr txBox="1"/>
          <p:nvPr/>
        </p:nvSpPr>
        <p:spPr>
          <a:xfrm>
            <a:off x="548640" y="2770632"/>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移さない</a:t>
            </a:r>
            <a:endParaRPr lang="en-US" sz="1000" dirty="0"/>
          </a:p>
        </p:txBody>
      </p:sp>
      <p:sp>
        <p:nvSpPr>
          <p:cNvPr id="15" name="box-158"/>
          <p:cNvSpPr/>
          <p:nvPr/>
        </p:nvSpPr>
        <p:spPr>
          <a:xfrm>
            <a:off x="2377440" y="2331720"/>
            <a:ext cx="3026664" cy="822960"/>
          </a:xfrm>
          <a:prstGeom prst="rect">
            <a:avLst/>
          </a:prstGeom>
          <a:solidFill>
            <a:schemeClr val="bg1"/>
          </a:solidFill>
          <a:ln w="9525">
            <a:solidFill>
              <a:schemeClr val="accent3"/>
            </a:solidFill>
            <a:prstDash val="solid"/>
          </a:ln>
        </p:spPr>
      </p:sp>
      <p:sp>
        <p:nvSpPr>
          <p:cNvPr id="16" name="txt-159"/>
          <p:cNvSpPr txBox="1"/>
          <p:nvPr/>
        </p:nvSpPr>
        <p:spPr>
          <a:xfrm>
            <a:off x="2514600"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A</a:t>
            </a:r>
            <a:endParaRPr lang="en-US" sz="1400" dirty="0"/>
          </a:p>
        </p:txBody>
      </p:sp>
      <p:sp>
        <p:nvSpPr>
          <p:cNvPr id="17" name="txt-160"/>
          <p:cNvSpPr txBox="1"/>
          <p:nvPr/>
        </p:nvSpPr>
        <p:spPr>
          <a:xfrm>
            <a:off x="2514600"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業務要件・受け入れを決める</a:t>
            </a:r>
            <a:endParaRPr lang="en-US" sz="1050" dirty="0"/>
          </a:p>
        </p:txBody>
      </p:sp>
      <p:sp>
        <p:nvSpPr>
          <p:cNvPr id="18" name="box-161"/>
          <p:cNvSpPr/>
          <p:nvPr/>
        </p:nvSpPr>
        <p:spPr>
          <a:xfrm>
            <a:off x="5541264" y="2331720"/>
            <a:ext cx="3026664" cy="822960"/>
          </a:xfrm>
          <a:prstGeom prst="rect">
            <a:avLst/>
          </a:prstGeom>
          <a:solidFill>
            <a:schemeClr val="bg1"/>
          </a:solidFill>
          <a:ln w="9525">
            <a:solidFill>
              <a:schemeClr val="accent3"/>
            </a:solidFill>
            <a:prstDash val="solid"/>
          </a:ln>
        </p:spPr>
      </p:sp>
      <p:sp>
        <p:nvSpPr>
          <p:cNvPr id="19" name="txt-162"/>
          <p:cNvSpPr txBox="1"/>
          <p:nvPr/>
        </p:nvSpPr>
        <p:spPr>
          <a:xfrm>
            <a:off x="5678424"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R</a:t>
            </a:r>
            <a:endParaRPr lang="en-US" sz="1400" dirty="0"/>
          </a:p>
        </p:txBody>
      </p:sp>
      <p:sp>
        <p:nvSpPr>
          <p:cNvPr id="20" name="txt-163"/>
          <p:cNvSpPr txBox="1"/>
          <p:nvPr/>
        </p:nvSpPr>
        <p:spPr>
          <a:xfrm>
            <a:off x="5678424"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システムを使った業務、要件の整理、受け入れの確認</a:t>
            </a:r>
            <a:endParaRPr lang="en-US" sz="1050" dirty="0"/>
          </a:p>
        </p:txBody>
      </p:sp>
      <p:sp>
        <p:nvSpPr>
          <p:cNvPr id="21" name="box-164"/>
          <p:cNvSpPr/>
          <p:nvPr/>
        </p:nvSpPr>
        <p:spPr>
          <a:xfrm>
            <a:off x="8705088" y="2331720"/>
            <a:ext cx="3026664" cy="822960"/>
          </a:xfrm>
          <a:prstGeom prst="rect">
            <a:avLst/>
          </a:prstGeom>
          <a:solidFill>
            <a:schemeClr val="bg1"/>
          </a:solidFill>
          <a:ln w="9525">
            <a:solidFill>
              <a:schemeClr val="accent3"/>
            </a:solidFill>
            <a:prstDash val="solid"/>
          </a:ln>
        </p:spPr>
      </p:sp>
      <p:sp>
        <p:nvSpPr>
          <p:cNvPr id="22" name="txt-165"/>
          <p:cNvSpPr txBox="1"/>
          <p:nvPr/>
        </p:nvSpPr>
        <p:spPr>
          <a:xfrm>
            <a:off x="8842248" y="2404872"/>
            <a:ext cx="2752344" cy="292608"/>
          </a:xfrm>
          <a:prstGeom prst="rect">
            <a:avLst/>
          </a:prstGeom>
          <a:noFill/>
          <a:ln/>
        </p:spPr>
        <p:txBody>
          <a:bodyPr wrap="square" lIns="0" tIns="0" rIns="0" bIns="0" rtlCol="0" anchor="t"/>
          <a:lstStyle/>
          <a:p>
            <a:pPr indent="0" marL="0">
              <a:buNone/>
            </a:pPr>
            <a:r>
              <a:rPr lang="en-US" sz="1400" b="1" dirty="0">
                <a:solidFill>
                  <a:schemeClr val="tx2"/>
                </a:solidFill>
              </a:rPr>
              <a:t>C</a:t>
            </a:r>
            <a:endParaRPr lang="en-US" sz="1400" dirty="0"/>
          </a:p>
        </p:txBody>
      </p:sp>
      <p:sp>
        <p:nvSpPr>
          <p:cNvPr id="23" name="txt-166"/>
          <p:cNvSpPr txBox="1"/>
          <p:nvPr/>
        </p:nvSpPr>
        <p:spPr>
          <a:xfrm>
            <a:off x="8842248" y="2697480"/>
            <a:ext cx="2752344" cy="420624"/>
          </a:xfrm>
          <a:prstGeom prst="rect">
            <a:avLst/>
          </a:prstGeom>
          <a:noFill/>
          <a:ln/>
        </p:spPr>
        <p:txBody>
          <a:bodyPr wrap="square" lIns="0" tIns="0" rIns="0" bIns="0" rtlCol="0" anchor="t"/>
          <a:lstStyle/>
          <a:p>
            <a:pPr indent="0" marL="0">
              <a:buNone/>
            </a:pPr>
            <a:r>
              <a:rPr lang="en-US" sz="1050" dirty="0">
                <a:solidFill>
                  <a:schemeClr val="tx1"/>
                </a:solidFill>
              </a:rPr>
              <a:t>相談を受ける</a:t>
            </a:r>
            <a:endParaRPr lang="en-US" sz="1050" dirty="0"/>
          </a:p>
        </p:txBody>
      </p:sp>
      <p:sp>
        <p:nvSpPr>
          <p:cNvPr id="24" name="box-167"/>
          <p:cNvSpPr/>
          <p:nvPr/>
        </p:nvSpPr>
        <p:spPr>
          <a:xfrm>
            <a:off x="457200" y="3264408"/>
            <a:ext cx="11274552" cy="1124712"/>
          </a:xfrm>
          <a:prstGeom prst="rect">
            <a:avLst/>
          </a:prstGeom>
          <a:solidFill>
            <a:schemeClr val="accent4"/>
          </a:solidFill>
          <a:ln/>
        </p:spPr>
      </p:sp>
      <p:sp>
        <p:nvSpPr>
          <p:cNvPr id="25" name="txt-168"/>
          <p:cNvSpPr txBox="1"/>
          <p:nvPr/>
        </p:nvSpPr>
        <p:spPr>
          <a:xfrm>
            <a:off x="548640" y="3392424"/>
            <a:ext cx="1691640" cy="320040"/>
          </a:xfrm>
          <a:prstGeom prst="rect">
            <a:avLst/>
          </a:prstGeom>
          <a:noFill/>
          <a:ln/>
        </p:spPr>
        <p:txBody>
          <a:bodyPr wrap="square" lIns="0" tIns="0" rIns="0" bIns="0" rtlCol="0" anchor="t"/>
          <a:lstStyle/>
          <a:p>
            <a:pPr indent="0" marL="0">
              <a:buNone/>
            </a:pPr>
            <a:r>
              <a:rPr lang="en-US" sz="1400" b="1" dirty="0">
                <a:solidFill>
                  <a:schemeClr val="tx2"/>
                </a:solidFill>
              </a:rPr>
              <a:t>IT関連業務</a:t>
            </a:r>
            <a:endParaRPr lang="en-US" sz="1400" dirty="0"/>
          </a:p>
        </p:txBody>
      </p:sp>
      <p:sp>
        <p:nvSpPr>
          <p:cNvPr id="26" name="txt-169"/>
          <p:cNvSpPr txBox="1"/>
          <p:nvPr/>
        </p:nvSpPr>
        <p:spPr>
          <a:xfrm>
            <a:off x="548640" y="3739896"/>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中間層。案件ごとに合意</a:t>
            </a:r>
            <a:endParaRPr lang="en-US" sz="1000" dirty="0"/>
          </a:p>
        </p:txBody>
      </p:sp>
      <p:sp>
        <p:nvSpPr>
          <p:cNvPr id="27" name="box-170"/>
          <p:cNvSpPr/>
          <p:nvPr/>
        </p:nvSpPr>
        <p:spPr>
          <a:xfrm>
            <a:off x="2377440" y="3300984"/>
            <a:ext cx="3026664" cy="1051560"/>
          </a:xfrm>
          <a:prstGeom prst="rect">
            <a:avLst/>
          </a:prstGeom>
          <a:solidFill>
            <a:schemeClr val="bg1"/>
          </a:solidFill>
          <a:ln w="9525">
            <a:solidFill>
              <a:schemeClr val="accent3"/>
            </a:solidFill>
            <a:prstDash val="solid"/>
          </a:ln>
        </p:spPr>
      </p:sp>
      <p:sp>
        <p:nvSpPr>
          <p:cNvPr id="28" name="txt-171"/>
          <p:cNvSpPr txBox="1"/>
          <p:nvPr/>
        </p:nvSpPr>
        <p:spPr>
          <a:xfrm>
            <a:off x="2514600"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A</a:t>
            </a:r>
            <a:endParaRPr lang="en-US" sz="1400" dirty="0"/>
          </a:p>
        </p:txBody>
      </p:sp>
      <p:sp>
        <p:nvSpPr>
          <p:cNvPr id="29" name="txt-172"/>
          <p:cNvSpPr txBox="1"/>
          <p:nvPr/>
        </p:nvSpPr>
        <p:spPr>
          <a:xfrm>
            <a:off x="2514600"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判断・承認（交渉不可）</a:t>
            </a:r>
            <a:endParaRPr lang="en-US" sz="1050" dirty="0"/>
          </a:p>
        </p:txBody>
      </p:sp>
      <p:sp>
        <p:nvSpPr>
          <p:cNvPr id="30" name="box-173"/>
          <p:cNvSpPr/>
          <p:nvPr/>
        </p:nvSpPr>
        <p:spPr>
          <a:xfrm>
            <a:off x="5541264" y="3300984"/>
            <a:ext cx="3026664" cy="1051560"/>
          </a:xfrm>
          <a:prstGeom prst="rect">
            <a:avLst/>
          </a:prstGeom>
          <a:solidFill>
            <a:schemeClr val="bg1"/>
          </a:solidFill>
          <a:ln w="9525">
            <a:solidFill>
              <a:schemeClr val="accent3"/>
            </a:solidFill>
            <a:prstDash val="solid"/>
          </a:ln>
        </p:spPr>
      </p:sp>
      <p:sp>
        <p:nvSpPr>
          <p:cNvPr id="31" name="txt-174"/>
          <p:cNvSpPr txBox="1"/>
          <p:nvPr/>
        </p:nvSpPr>
        <p:spPr>
          <a:xfrm>
            <a:off x="5678424"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R / C</a:t>
            </a:r>
            <a:endParaRPr lang="en-US" sz="1400" dirty="0"/>
          </a:p>
        </p:txBody>
      </p:sp>
      <p:sp>
        <p:nvSpPr>
          <p:cNvPr id="32" name="txt-175"/>
          <p:cNvSpPr txBox="1"/>
          <p:nvPr/>
        </p:nvSpPr>
        <p:spPr>
          <a:xfrm>
            <a:off x="5678424"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要望と効果の説明</a:t>
            </a:r>
            <a:endParaRPr lang="en-US" sz="1050" dirty="0"/>
          </a:p>
        </p:txBody>
      </p:sp>
      <p:sp>
        <p:nvSpPr>
          <p:cNvPr id="33" name="box-176"/>
          <p:cNvSpPr/>
          <p:nvPr/>
        </p:nvSpPr>
        <p:spPr>
          <a:xfrm>
            <a:off x="8705088" y="3300984"/>
            <a:ext cx="3026664" cy="1051560"/>
          </a:xfrm>
          <a:prstGeom prst="rect">
            <a:avLst/>
          </a:prstGeom>
          <a:solidFill>
            <a:schemeClr val="bg1"/>
          </a:solidFill>
          <a:ln w="9525">
            <a:solidFill>
              <a:schemeClr val="accent3"/>
            </a:solidFill>
            <a:prstDash val="solid"/>
          </a:ln>
        </p:spPr>
      </p:sp>
      <p:sp>
        <p:nvSpPr>
          <p:cNvPr id="34" name="txt-177"/>
          <p:cNvSpPr txBox="1"/>
          <p:nvPr/>
        </p:nvSpPr>
        <p:spPr>
          <a:xfrm>
            <a:off x="8842248" y="3374136"/>
            <a:ext cx="2752344" cy="292608"/>
          </a:xfrm>
          <a:prstGeom prst="rect">
            <a:avLst/>
          </a:prstGeom>
          <a:noFill/>
          <a:ln/>
        </p:spPr>
        <p:txBody>
          <a:bodyPr wrap="square" lIns="0" tIns="0" rIns="0" bIns="0" rtlCol="0" anchor="t"/>
          <a:lstStyle/>
          <a:p>
            <a:pPr indent="0" marL="0">
              <a:buNone/>
            </a:pPr>
            <a:r>
              <a:rPr lang="en-US" sz="1400" b="1" dirty="0">
                <a:solidFill>
                  <a:schemeClr val="tx2"/>
                </a:solidFill>
              </a:rPr>
              <a:t>R</a:t>
            </a:r>
            <a:endParaRPr lang="en-US" sz="1400" dirty="0"/>
          </a:p>
        </p:txBody>
      </p:sp>
      <p:sp>
        <p:nvSpPr>
          <p:cNvPr id="35" name="txt-178"/>
          <p:cNvSpPr txBox="1"/>
          <p:nvPr/>
        </p:nvSpPr>
        <p:spPr>
          <a:xfrm>
            <a:off x="8842248" y="3666744"/>
            <a:ext cx="2752344" cy="649224"/>
          </a:xfrm>
          <a:prstGeom prst="rect">
            <a:avLst/>
          </a:prstGeom>
          <a:noFill/>
          <a:ln/>
        </p:spPr>
        <p:txBody>
          <a:bodyPr wrap="square" lIns="0" tIns="0" rIns="0" bIns="0" rtlCol="0" anchor="t"/>
          <a:lstStyle/>
          <a:p>
            <a:pPr indent="0" marL="0">
              <a:buNone/>
            </a:pPr>
            <a:r>
              <a:rPr lang="en-US" sz="1050" dirty="0">
                <a:solidFill>
                  <a:schemeClr val="tx1"/>
                </a:solidFill>
              </a:rPr>
              <a:t>実務を担う（投資：企画・見積の取得・申請書の作成／経費：運用のモニタリング、改善、契約の見直し）</a:t>
            </a:r>
            <a:endParaRPr lang="en-US" sz="1050" dirty="0"/>
          </a:p>
        </p:txBody>
      </p:sp>
      <p:sp>
        <p:nvSpPr>
          <p:cNvPr id="36" name="txt-179"/>
          <p:cNvSpPr txBox="1"/>
          <p:nvPr/>
        </p:nvSpPr>
        <p:spPr>
          <a:xfrm>
            <a:off x="548640" y="4590288"/>
            <a:ext cx="1691640" cy="320040"/>
          </a:xfrm>
          <a:prstGeom prst="rect">
            <a:avLst/>
          </a:prstGeom>
          <a:noFill/>
          <a:ln/>
        </p:spPr>
        <p:txBody>
          <a:bodyPr wrap="square" lIns="0" tIns="0" rIns="0" bIns="0" rtlCol="0" anchor="t"/>
          <a:lstStyle/>
          <a:p>
            <a:pPr indent="0" marL="0">
              <a:buNone/>
            </a:pPr>
            <a:r>
              <a:rPr lang="en-US" sz="1400" b="1" dirty="0">
                <a:solidFill>
                  <a:schemeClr val="tx2"/>
                </a:solidFill>
              </a:rPr>
              <a:t>間接業務</a:t>
            </a:r>
            <a:endParaRPr lang="en-US" sz="1400" dirty="0"/>
          </a:p>
        </p:txBody>
      </p:sp>
      <p:sp>
        <p:nvSpPr>
          <p:cNvPr id="37" name="txt-180"/>
          <p:cNvSpPr txBox="1"/>
          <p:nvPr/>
        </p:nvSpPr>
        <p:spPr>
          <a:xfrm>
            <a:off x="548640" y="4937760"/>
            <a:ext cx="1691640" cy="457200"/>
          </a:xfrm>
          <a:prstGeom prst="rect">
            <a:avLst/>
          </a:prstGeom>
          <a:noFill/>
          <a:ln/>
        </p:spPr>
        <p:txBody>
          <a:bodyPr wrap="square" lIns="0" tIns="0" rIns="0" bIns="0" rtlCol="0" anchor="t"/>
          <a:lstStyle/>
          <a:p>
            <a:pPr indent="0" marL="0">
              <a:buNone/>
            </a:pPr>
            <a:r>
              <a:rPr lang="en-US" sz="1000" b="1" dirty="0">
                <a:solidFill>
                  <a:schemeClr val="accent2"/>
                </a:solidFill>
              </a:rPr>
              <a:t>移す（これまでは部門が担当）</a:t>
            </a:r>
            <a:endParaRPr lang="en-US" sz="1000" dirty="0"/>
          </a:p>
        </p:txBody>
      </p:sp>
      <p:sp>
        <p:nvSpPr>
          <p:cNvPr id="38" name="box-181"/>
          <p:cNvSpPr/>
          <p:nvPr/>
        </p:nvSpPr>
        <p:spPr>
          <a:xfrm>
            <a:off x="2377440" y="4498848"/>
            <a:ext cx="3026664" cy="822960"/>
          </a:xfrm>
          <a:prstGeom prst="rect">
            <a:avLst/>
          </a:prstGeom>
          <a:solidFill>
            <a:schemeClr val="bg1"/>
          </a:solidFill>
          <a:ln w="9525">
            <a:solidFill>
              <a:schemeClr val="accent3"/>
            </a:solidFill>
            <a:prstDash val="solid"/>
          </a:ln>
        </p:spPr>
      </p:sp>
      <p:sp>
        <p:nvSpPr>
          <p:cNvPr id="39" name="txt-182"/>
          <p:cNvSpPr txBox="1"/>
          <p:nvPr/>
        </p:nvSpPr>
        <p:spPr>
          <a:xfrm>
            <a:off x="2514600"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I</a:t>
            </a:r>
            <a:endParaRPr lang="en-US" sz="1400" dirty="0"/>
          </a:p>
        </p:txBody>
      </p:sp>
      <p:sp>
        <p:nvSpPr>
          <p:cNvPr id="40" name="txt-183"/>
          <p:cNvSpPr txBox="1"/>
          <p:nvPr/>
        </p:nvSpPr>
        <p:spPr>
          <a:xfrm>
            <a:off x="2514600"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報告を受ける</a:t>
            </a:r>
            <a:endParaRPr lang="en-US" sz="1050" dirty="0"/>
          </a:p>
        </p:txBody>
      </p:sp>
      <p:sp>
        <p:nvSpPr>
          <p:cNvPr id="41" name="box-184"/>
          <p:cNvSpPr/>
          <p:nvPr/>
        </p:nvSpPr>
        <p:spPr>
          <a:xfrm>
            <a:off x="5541264" y="4498848"/>
            <a:ext cx="3026664" cy="822960"/>
          </a:xfrm>
          <a:prstGeom prst="rect">
            <a:avLst/>
          </a:prstGeom>
          <a:solidFill>
            <a:schemeClr val="bg1"/>
          </a:solidFill>
          <a:ln w="9525">
            <a:solidFill>
              <a:schemeClr val="accent3"/>
            </a:solidFill>
            <a:prstDash val="solid"/>
          </a:ln>
        </p:spPr>
      </p:sp>
      <p:sp>
        <p:nvSpPr>
          <p:cNvPr id="42" name="txt-185"/>
          <p:cNvSpPr txBox="1"/>
          <p:nvPr/>
        </p:nvSpPr>
        <p:spPr>
          <a:xfrm>
            <a:off x="5678424"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a:t>
            </a:r>
            <a:endParaRPr lang="en-US" sz="1400" dirty="0"/>
          </a:p>
        </p:txBody>
      </p:sp>
      <p:sp>
        <p:nvSpPr>
          <p:cNvPr id="43" name="txt-186"/>
          <p:cNvSpPr txBox="1"/>
          <p:nvPr/>
        </p:nvSpPr>
        <p:spPr>
          <a:xfrm>
            <a:off x="5678424"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関与しない</a:t>
            </a:r>
            <a:endParaRPr lang="en-US" sz="1050" dirty="0"/>
          </a:p>
        </p:txBody>
      </p:sp>
      <p:sp>
        <p:nvSpPr>
          <p:cNvPr id="44" name="box-187"/>
          <p:cNvSpPr/>
          <p:nvPr/>
        </p:nvSpPr>
        <p:spPr>
          <a:xfrm>
            <a:off x="8705088" y="4498848"/>
            <a:ext cx="3026664" cy="822960"/>
          </a:xfrm>
          <a:prstGeom prst="rect">
            <a:avLst/>
          </a:prstGeom>
          <a:solidFill>
            <a:schemeClr val="bg1"/>
          </a:solidFill>
          <a:ln w="9525">
            <a:solidFill>
              <a:schemeClr val="accent3"/>
            </a:solidFill>
            <a:prstDash val="solid"/>
          </a:ln>
        </p:spPr>
      </p:sp>
      <p:sp>
        <p:nvSpPr>
          <p:cNvPr id="45" name="txt-188"/>
          <p:cNvSpPr txBox="1"/>
          <p:nvPr/>
        </p:nvSpPr>
        <p:spPr>
          <a:xfrm>
            <a:off x="8842248" y="4572000"/>
            <a:ext cx="2752344" cy="292608"/>
          </a:xfrm>
          <a:prstGeom prst="rect">
            <a:avLst/>
          </a:prstGeom>
          <a:noFill/>
          <a:ln/>
        </p:spPr>
        <p:txBody>
          <a:bodyPr wrap="square" lIns="0" tIns="0" rIns="0" bIns="0" rtlCol="0" anchor="t"/>
          <a:lstStyle/>
          <a:p>
            <a:pPr indent="0" marL="0">
              <a:buNone/>
            </a:pPr>
            <a:r>
              <a:rPr lang="en-US" sz="1400" b="1" dirty="0">
                <a:solidFill>
                  <a:schemeClr val="tx2"/>
                </a:solidFill>
              </a:rPr>
              <a:t>A / R</a:t>
            </a:r>
            <a:endParaRPr lang="en-US" sz="1400" dirty="0"/>
          </a:p>
        </p:txBody>
      </p:sp>
      <p:sp>
        <p:nvSpPr>
          <p:cNvPr id="46" name="txt-189"/>
          <p:cNvSpPr txBox="1"/>
          <p:nvPr/>
        </p:nvSpPr>
        <p:spPr>
          <a:xfrm>
            <a:off x="8842248" y="4864608"/>
            <a:ext cx="2752344" cy="420624"/>
          </a:xfrm>
          <a:prstGeom prst="rect">
            <a:avLst/>
          </a:prstGeom>
          <a:noFill/>
          <a:ln/>
        </p:spPr>
        <p:txBody>
          <a:bodyPr wrap="square" lIns="0" tIns="0" rIns="0" bIns="0" rtlCol="0" anchor="t"/>
          <a:lstStyle/>
          <a:p>
            <a:pPr indent="0" marL="0">
              <a:buNone/>
            </a:pPr>
            <a:r>
              <a:rPr lang="en-US" sz="1050" dirty="0">
                <a:solidFill>
                  <a:schemeClr val="tx1"/>
                </a:solidFill>
              </a:rPr>
              <a:t>予算の管理、契約、発注・検収・支払い（1月から）</a:t>
            </a:r>
            <a:endParaRPr lang="en-US" sz="1050" dirty="0"/>
          </a:p>
        </p:txBody>
      </p:sp>
      <p:sp>
        <p:nvSpPr>
          <p:cNvPr id="47" name="txt-190"/>
          <p:cNvSpPr txBox="1"/>
          <p:nvPr/>
        </p:nvSpPr>
        <p:spPr>
          <a:xfrm>
            <a:off x="457200" y="5504688"/>
            <a:ext cx="11274552" cy="384048"/>
          </a:xfrm>
          <a:prstGeom prst="rect">
            <a:avLst/>
          </a:prstGeom>
          <a:noFill/>
          <a:ln/>
        </p:spPr>
        <p:txBody>
          <a:bodyPr wrap="square" lIns="0" tIns="0" rIns="0" bIns="0" rtlCol="0" anchor="ctr"/>
          <a:lstStyle/>
          <a:p>
            <a:pPr indent="0" marL="0">
              <a:buNone/>
            </a:pPr>
            <a:r>
              <a:rPr lang="en-US" sz="1500" b="1" dirty="0">
                <a:solidFill>
                  <a:schemeClr val="tx2"/>
                </a:solidFill>
              </a:rPr>
              <a:t>IT関連業務は、7・8枚目の RACI テンプレートを案件ごとにカスタマイズし、移管元の責任者と合意して文書に残す</a:t>
            </a:r>
            <a:endParaRPr lang="en-US" sz="15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RACI：IT投資プロセス（Before → After）</a:t>
            </a:r>
            <a:endParaRPr lang="en-US" sz="2600" dirty="0"/>
          </a:p>
        </p:txBody>
      </p:sp>
      <p:sp>
        <p:nvSpPr>
          <p:cNvPr id="3" name="txt-193"/>
          <p:cNvSpPr txBox="1"/>
          <p:nvPr/>
        </p:nvSpPr>
        <p:spPr>
          <a:xfrm>
            <a:off x="457200" y="914400"/>
            <a:ext cx="11274552" cy="256032"/>
          </a:xfrm>
          <a:prstGeom prst="rect">
            <a:avLst/>
          </a:prstGeom>
          <a:noFill/>
          <a:ln/>
        </p:spPr>
        <p:txBody>
          <a:bodyPr wrap="square" lIns="0" tIns="0" rIns="0" bIns="0" rtlCol="0" anchor="t"/>
          <a:lstStyle/>
          <a:p>
            <a:pPr indent="0" marL="0">
              <a:buNone/>
            </a:pPr>
            <a:r>
              <a:rPr lang="en-US" sz="1000" dirty="0">
                <a:solidFill>
                  <a:schemeClr val="accent2"/>
                </a:solidFill>
              </a:rPr>
              <a:t>BO：ビジネスオーナー（部門長）　BU：部門担当　SO：システムオーナー（IT部門）　　R：実行　A：最終責任　C：相談　I：連絡</a:t>
            </a:r>
            <a:endParaRPr lang="en-US" sz="1000" dirty="0"/>
          </a:p>
        </p:txBody>
      </p:sp>
      <p:graphicFrame>
        <p:nvGraphicFramePr>
          <p:cNvPr id="8" name="raci-194"/>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5971032"/>
                <a:gridCol w="822960"/>
                <a:gridCol w="868680"/>
                <a:gridCol w="868680"/>
                <a:gridCol w="914400"/>
                <a:gridCol w="914400"/>
                <a:gridCol w="914400"/>
              </a:tblGrid>
              <a:tr h="283464">
                <a:tc rowSpan="2">
                  <a:txBody>
                    <a:bodyPr/>
                    <a:lstStyle/>
                    <a:p>
                      <a:pPr algn="l" indent="0" marL="0">
                        <a:buNone/>
                      </a:pPr>
                      <a:r>
                        <a:rPr lang="en-US" sz="1050" b="1" dirty="0">
                          <a:solidFill>
                            <a:schemeClr val="bg1"/>
                          </a:solidFill>
                        </a:rPr>
                        <a:t>活動</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rowSpan="2">
                  <a:txBody>
                    <a:bodyPr/>
                    <a:lstStyle/>
                    <a:p>
                      <a:pPr algn="ctr" indent="0" marL="0">
                        <a:buNone/>
                      </a:pPr>
                      <a:r>
                        <a:rPr lang="en-US" sz="1050" b="1" dirty="0">
                          <a:solidFill>
                            <a:schemeClr val="bg1"/>
                          </a:solidFill>
                        </a:rPr>
                        <a:t>層</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gridSpan="2">
                  <a:txBody>
                    <a:bodyPr/>
                    <a:lstStyle/>
                    <a:p>
                      <a:pPr algn="ctr" indent="0" marL="0">
                        <a:buNone/>
                      </a:pPr>
                      <a:r>
                        <a:rPr lang="en-US" sz="1050" b="1" dirty="0">
                          <a:solidFill>
                            <a:schemeClr val="bg1"/>
                          </a:solidFill>
                        </a:rPr>
                        <a:t>Before（現状）</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2"/>
                    </a:solidFill>
                  </a:tcPr>
                </a:tc>
                <a:tc hMerge="1">
                  <a:tcPr/>
                </a:tc>
                <a:tc gridSpan="3">
                  <a:txBody>
                    <a:bodyPr/>
                    <a:lstStyle/>
                    <a:p>
                      <a:pPr algn="ctr" indent="0" marL="0">
                        <a:buNone/>
                      </a:pPr>
                      <a:r>
                        <a:rPr lang="en-US" sz="1050" b="1" dirty="0">
                          <a:solidFill>
                            <a:schemeClr val="bg1"/>
                          </a:solidFill>
                        </a:rPr>
                        <a:t>After（移管後）</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hMerge="1">
                  <a:tcPr/>
                </a:tc>
                <a:tc hMerge="1">
                  <a:tcPr/>
                </a:tc>
              </a:tr>
              <a:tr h="283464">
                <a:tc vMerge="1">
                  <a:tcPr/>
                </a:tc>
                <a:tc vMerge="1">
                  <a:tcPr/>
                </a:tc>
                <a:tc>
                  <a:txBody>
                    <a:bodyPr/>
                    <a:lstStyle/>
                    <a:p>
                      <a:pPr algn="ctr" indent="0" marL="0">
                        <a:buNone/>
                      </a:pPr>
                      <a:r>
                        <a:rPr lang="en-US" sz="1050" b="1" dirty="0">
                          <a:solidFill>
                            <a:schemeClr val="tx1"/>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2"/>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SO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　課題・ニーズの特定</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直接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I-2　業務要件の定義</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直接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I-3　解決策の検討（システム化の方針、既存システムとの整合）</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I-4　ベンダー情報の収集・見積の取得</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I-5　投資効果と費用の算定（BU は効果、SO は費用）</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I-6　予算要求・投資申請の作成</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I-7　投資の決裁</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gridSpan="3">
                  <a:txBody>
                    <a:bodyPr/>
                    <a:lstStyle/>
                    <a:p>
                      <a:pPr algn="ctr" indent="0" marL="0">
                        <a:buNone/>
                      </a:pPr>
                      <a:r>
                        <a:rPr lang="en-US" sz="1000" b="1" dirty="0">
                          <a:solidFill>
                            <a:schemeClr val="tx2"/>
                          </a:solidFill>
                        </a:rPr>
                        <a:t>決裁者（新しいITガバナンス〈Tier〉で検討中）</a:t>
                      </a:r>
                      <a:endParaRPr lang="en-US" sz="100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hMerge="1">
                  <a:tcPr/>
                </a:tc>
                <a:tc hMerge="1">
                  <a:tcPr/>
                </a:tc>
              </a:tr>
              <a:tr h="281354">
                <a:tc>
                  <a:txBody>
                    <a:bodyPr/>
                    <a:lstStyle/>
                    <a:p>
                      <a:pPr indent="0" marL="0">
                        <a:buNone/>
                      </a:pPr>
                      <a:r>
                        <a:rPr lang="en-US" sz="1050" dirty="0">
                          <a:solidFill>
                            <a:schemeClr val="tx1"/>
                          </a:solidFill>
                        </a:rPr>
                        <a:t>I-8　ベンダーの選定</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I-9　契約の締結</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I</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I-10　発注・検収・支払いの手続き</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I-11　プロジェクトの推進（進捗・品質）</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I-12　受け入れ（業務要件を満たすか）</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直接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281354">
                <a:tc>
                  <a:txBody>
                    <a:bodyPr/>
                    <a:lstStyle/>
                    <a:p>
                      <a:pPr indent="0" marL="0">
                        <a:buNone/>
                      </a:pPr>
                      <a:r>
                        <a:rPr lang="en-US" sz="1050" dirty="0">
                          <a:solidFill>
                            <a:schemeClr val="tx1"/>
                          </a:solidFill>
                        </a:rPr>
                        <a:t>I-13　効果の確認（事後評価）</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bl>
          </a:graphicData>
        </a:graphic>
      </p:graphicFrame>
      <p:sp>
        <p:nvSpPr>
          <p:cNvPr id="5" name="txt-195"/>
          <p:cNvSpPr txBox="1"/>
          <p:nvPr/>
        </p:nvSpPr>
        <p:spPr>
          <a:xfrm>
            <a:off x="457200" y="5650992"/>
            <a:ext cx="11274552" cy="749808"/>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chemeClr val="tx1"/>
                </a:solidFill>
              </a:rPr>
              <a:t>Before：ビジネス側が単独で行っている状態（初版は1パターン）。実際の Before が違う案件は、書き直してから比べる</a:t>
            </a:r>
            <a:endParaRPr lang="en-US" sz="1100" dirty="0"/>
          </a:p>
          <a:p>
            <a:pPr marL="152400" indent="-152400">
              <a:spcAft>
                <a:spcPts val="300"/>
              </a:spcAft>
              <a:buSzPct val="100000"/>
              <a:buChar char="•"/>
            </a:pPr>
            <a:r>
              <a:rPr lang="en-US" sz="1000" dirty="0">
                <a:solidFill>
                  <a:schemeClr val="tx1"/>
                </a:solidFill>
              </a:rPr>
              <a:t>After：IT部門が関与を強め、直接業務と IT関連業務の A はビジネスオーナーに残す。色付きのマスは Before から変わるところ（空欄は関与しなくなる）</a:t>
            </a:r>
            <a:endParaRPr lang="en-US" sz="1100" dirty="0"/>
          </a:p>
          <a:p>
            <a:pPr marL="152400" indent="-152400">
              <a:spcAft>
                <a:spcPts val="300"/>
              </a:spcAft>
              <a:buSzPct val="100000"/>
              <a:buChar char="•"/>
            </a:pPr>
            <a:r>
              <a:rPr lang="en-US" sz="1000" dirty="0">
                <a:solidFill>
                  <a:schemeClr val="tx1"/>
                </a:solidFill>
              </a:rPr>
              <a:t>案件ごとのカスタマイズ：変えられるのは IT関連の行の BU と SO の R / C の持ち方と、SO が R を担い始める時期だけ。A の列と、直接・間接の行は変えない</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RACI：経費プロセス（Before → After）</a:t>
            </a:r>
            <a:endParaRPr lang="en-US" sz="2600" dirty="0"/>
          </a:p>
        </p:txBody>
      </p:sp>
      <p:sp>
        <p:nvSpPr>
          <p:cNvPr id="3" name="txt-196"/>
          <p:cNvSpPr txBox="1"/>
          <p:nvPr/>
        </p:nvSpPr>
        <p:spPr>
          <a:xfrm>
            <a:off x="457200" y="914400"/>
            <a:ext cx="11274552" cy="256032"/>
          </a:xfrm>
          <a:prstGeom prst="rect">
            <a:avLst/>
          </a:prstGeom>
          <a:noFill/>
          <a:ln/>
        </p:spPr>
        <p:txBody>
          <a:bodyPr wrap="square" lIns="0" tIns="0" rIns="0" bIns="0" rtlCol="0" anchor="t"/>
          <a:lstStyle/>
          <a:p>
            <a:pPr indent="0" marL="0">
              <a:buNone/>
            </a:pPr>
            <a:r>
              <a:rPr lang="en-US" sz="1000" dirty="0">
                <a:solidFill>
                  <a:schemeClr val="accent2"/>
                </a:solidFill>
              </a:rPr>
              <a:t>BO：ビジネスオーナー（部門長）　BU：部門担当　SO：システムオーナー（IT部門）　　R：実行　A：最終責任　C：相談　I：連絡</a:t>
            </a:r>
            <a:endParaRPr lang="en-US" sz="1000" dirty="0"/>
          </a:p>
        </p:txBody>
      </p:sp>
      <p:graphicFrame>
        <p:nvGraphicFramePr>
          <p:cNvPr id="9" name="raci-197"/>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5971032"/>
                <a:gridCol w="822960"/>
                <a:gridCol w="868680"/>
                <a:gridCol w="868680"/>
                <a:gridCol w="914400"/>
                <a:gridCol w="914400"/>
                <a:gridCol w="914400"/>
              </a:tblGrid>
              <a:tr h="283464">
                <a:tc rowSpan="2">
                  <a:txBody>
                    <a:bodyPr/>
                    <a:lstStyle/>
                    <a:p>
                      <a:pPr algn="l" indent="0" marL="0">
                        <a:buNone/>
                      </a:pPr>
                      <a:r>
                        <a:rPr lang="en-US" sz="1050" b="1" dirty="0">
                          <a:solidFill>
                            <a:schemeClr val="bg1"/>
                          </a:solidFill>
                        </a:rPr>
                        <a:t>活動</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rowSpan="2">
                  <a:txBody>
                    <a:bodyPr/>
                    <a:lstStyle/>
                    <a:p>
                      <a:pPr algn="ctr" indent="0" marL="0">
                        <a:buNone/>
                      </a:pPr>
                      <a:r>
                        <a:rPr lang="en-US" sz="1050" b="1" dirty="0">
                          <a:solidFill>
                            <a:schemeClr val="bg1"/>
                          </a:solidFill>
                        </a:rPr>
                        <a:t>層</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gridSpan="2">
                  <a:txBody>
                    <a:bodyPr/>
                    <a:lstStyle/>
                    <a:p>
                      <a:pPr algn="ctr" indent="0" marL="0">
                        <a:buNone/>
                      </a:pPr>
                      <a:r>
                        <a:rPr lang="en-US" sz="1050" b="1" dirty="0">
                          <a:solidFill>
                            <a:schemeClr val="bg1"/>
                          </a:solidFill>
                        </a:rPr>
                        <a:t>Before（現状）</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2"/>
                    </a:solidFill>
                  </a:tcPr>
                </a:tc>
                <a:tc hMerge="1">
                  <a:tcPr/>
                </a:tc>
                <a:tc gridSpan="3">
                  <a:txBody>
                    <a:bodyPr/>
                    <a:lstStyle/>
                    <a:p>
                      <a:pPr algn="ctr" indent="0" marL="0">
                        <a:buNone/>
                      </a:pPr>
                      <a:r>
                        <a:rPr lang="en-US" sz="1050" b="1" dirty="0">
                          <a:solidFill>
                            <a:schemeClr val="bg1"/>
                          </a:solidFill>
                        </a:rPr>
                        <a:t>After（移管後）</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tx2"/>
                    </a:solidFill>
                  </a:tcPr>
                </a:tc>
                <a:tc hMerge="1">
                  <a:tcPr/>
                </a:tc>
                <a:tc hMerge="1">
                  <a:tcPr/>
                </a:tc>
              </a:tr>
              <a:tr h="283464">
                <a:tc vMerge="1">
                  <a:tcPr/>
                </a:tc>
                <a:tc vMerge="1">
                  <a:tcPr/>
                </a:tc>
                <a:tc>
                  <a:txBody>
                    <a:bodyPr/>
                    <a:lstStyle/>
                    <a:p>
                      <a:pPr algn="ctr" indent="0" marL="0">
                        <a:buNone/>
                      </a:pPr>
                      <a:r>
                        <a:rPr lang="en-US" sz="1050" b="1" dirty="0">
                          <a:solidFill>
                            <a:schemeClr val="tx1"/>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2"/>
                          </a:solidFill>
                        </a:rPr>
                        <a:t>BO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BU</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2"/>
                          </a:solidFill>
                        </a:rPr>
                        <a:t>SO</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　システムを使った業務</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直接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r>
              <a:tr h="310896">
                <a:tc>
                  <a:txBody>
                    <a:bodyPr/>
                    <a:lstStyle/>
                    <a:p>
                      <a:pPr indent="0" marL="0">
                        <a:buNone/>
                      </a:pPr>
                      <a:r>
                        <a:rPr lang="en-US" sz="1050" dirty="0">
                          <a:solidFill>
                            <a:schemeClr val="tx1"/>
                          </a:solidFill>
                        </a:rPr>
                        <a:t>E-2　部門で行う運用（ユーザー・権限の管理）</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直接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E-3　予算の計上・執行の管理</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I</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E-4　契約の更新・変更・解約の手続き</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E-5　請求書の受領・支払い</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E-6　委託先への指示・報告の受領（契約上の管理）</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間接</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A/R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E-7　運用状況のモニタリング（SLA・障害・利用状況）</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E-8　改善活動（BU は要望、SO は整理と実施）</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E-9　契約の見直しに向けた活動（利用実態・ライセンス数・代替案の評価、更新の判断）</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E-10　ベンダーの評価</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C</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r h="310896">
                <a:tc>
                  <a:txBody>
                    <a:bodyPr/>
                    <a:lstStyle/>
                    <a:p>
                      <a:pPr indent="0" marL="0">
                        <a:buNone/>
                      </a:pPr>
                      <a:r>
                        <a:rPr lang="en-US" sz="1050" dirty="0">
                          <a:solidFill>
                            <a:schemeClr val="tx1"/>
                          </a:solidFill>
                        </a:rPr>
                        <a:t>E-11　GxP の変更管理</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2"/>
                          </a:solidFill>
                        </a:rPr>
                        <a:t>IT関連</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accent2"/>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accent2"/>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2"/>
                    </a:solidFill>
                  </a:tcPr>
                </a:tc>
                <a:tc>
                  <a:txBody>
                    <a:bodyPr/>
                    <a:lstStyle/>
                    <a:p>
                      <a:pPr algn="ctr" indent="0" marL="0">
                        <a:buNone/>
                      </a:pPr>
                      <a:r>
                        <a:rPr lang="en-US" sz="1050" dirty="0">
                          <a:solidFill>
                            <a:schemeClr val="tx1"/>
                          </a:solidFill>
                        </a:rPr>
                        <a:t>A</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bg1"/>
                    </a:solidFill>
                  </a:tcPr>
                </a:tc>
                <a:tc>
                  <a:txBody>
                    <a:bodyPr/>
                    <a:lstStyle/>
                    <a:p>
                      <a:pPr algn="ctr" indent="0" marL="0">
                        <a:buNone/>
                      </a:pPr>
                      <a:r>
                        <a:rPr lang="en-US" sz="1050" b="1" dirty="0">
                          <a:solidFill>
                            <a:schemeClr val="tx1"/>
                          </a:solidFill>
                        </a:rPr>
                        <a:t>R</a:t>
                      </a:r>
                      <a:endParaRPr lang="en-US" sz="1050" dirty="0"/>
                    </a:p>
                  </a:txBody>
                  <a:tcPr marL="73152" marR="73152" marT="18288" marB="18288" anchor="ctr">
                    <a:lnL w="6350" cap="flat" cmpd="sng" algn="ctr">
                      <a:solidFill>
                        <a:srgbClr val="9AA5B5"/>
                      </a:solidFill>
                      <a:prstDash val="solid"/>
                      <a:round/>
                      <a:headEnd type="none" w="med" len="med"/>
                      <a:tailEnd type="none" w="med" len="med"/>
                    </a:lnL>
                    <a:lnR w="6350" cap="flat" cmpd="sng" algn="ctr">
                      <a:solidFill>
                        <a:srgbClr val="9AA5B5"/>
                      </a:solidFill>
                      <a:prstDash val="solid"/>
                      <a:round/>
                      <a:headEnd type="none" w="med" len="med"/>
                      <a:tailEnd type="none" w="med" len="med"/>
                    </a:lnR>
                    <a:lnT w="6350" cap="flat" cmpd="sng" algn="ctr">
                      <a:solidFill>
                        <a:srgbClr val="9AA5B5"/>
                      </a:solidFill>
                      <a:prstDash val="solid"/>
                      <a:round/>
                      <a:headEnd type="none" w="med" len="med"/>
                      <a:tailEnd type="none" w="med" len="med"/>
                    </a:lnT>
                    <a:lnB w="6350" cap="flat" cmpd="sng" algn="ctr">
                      <a:solidFill>
                        <a:srgbClr val="9AA5B5"/>
                      </a:solidFill>
                      <a:prstDash val="solid"/>
                      <a:round/>
                      <a:headEnd type="none" w="med" len="med"/>
                      <a:tailEnd type="none" w="med" len="med"/>
                    </a:lnB>
                    <a:solidFill>
                      <a:schemeClr val="accent4"/>
                    </a:solidFill>
                  </a:tcPr>
                </a:tc>
              </a:tr>
            </a:tbl>
          </a:graphicData>
        </a:graphic>
      </p:graphicFrame>
      <p:sp>
        <p:nvSpPr>
          <p:cNvPr id="5" name="txt-198"/>
          <p:cNvSpPr txBox="1"/>
          <p:nvPr/>
        </p:nvSpPr>
        <p:spPr>
          <a:xfrm>
            <a:off x="457200" y="5413248"/>
            <a:ext cx="11274552" cy="987552"/>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chemeClr val="tx1"/>
                </a:solidFill>
              </a:rPr>
              <a:t>Before：ビジネス側が単独で行っている状態（初版は1パターン）。実際の Before が違う案件は、書き直してから比べる</a:t>
            </a:r>
            <a:endParaRPr lang="en-US" sz="1100" dirty="0"/>
          </a:p>
          <a:p>
            <a:pPr marL="152400" indent="-152400">
              <a:spcAft>
                <a:spcPts val="300"/>
              </a:spcAft>
              <a:buSzPct val="100000"/>
              <a:buChar char="•"/>
            </a:pPr>
            <a:r>
              <a:rPr lang="en-US" sz="1000" dirty="0">
                <a:solidFill>
                  <a:schemeClr val="tx1"/>
                </a:solidFill>
              </a:rPr>
              <a:t>After：IT部門が関与を強め、直接業務と IT関連業務の A はビジネスオーナーに残す。色付きのマスは Before から変わるところ（空欄は関与しなくなる）</a:t>
            </a:r>
            <a:endParaRPr lang="en-US" sz="1100" dirty="0"/>
          </a:p>
          <a:p>
            <a:pPr marL="152400" indent="-152400">
              <a:spcAft>
                <a:spcPts val="300"/>
              </a:spcAft>
              <a:buSzPct val="100000"/>
              <a:buChar char="•"/>
            </a:pPr>
            <a:r>
              <a:rPr lang="en-US" sz="1000" dirty="0">
                <a:solidFill>
                  <a:schemeClr val="tx1"/>
                </a:solidFill>
              </a:rPr>
              <a:t>案件ごとのカスタマイズ：変えられるのは IT関連の行の BU と SO の R / C の持ち方と、SO が R を担い始める時期だけ。A の列と、直接・間接の行は変えない</a:t>
            </a:r>
            <a:endParaRPr lang="en-US" sz="1100" dirty="0"/>
          </a:p>
          <a:p>
            <a:pPr marL="152400" indent="-152400">
              <a:spcAft>
                <a:spcPts val="300"/>
              </a:spcAft>
              <a:buSzPct val="100000"/>
              <a:buChar char="•"/>
            </a:pPr>
            <a:r>
              <a:rPr lang="en-US" sz="1000" dirty="0">
                <a:solidFill>
                  <a:schemeClr val="tx1"/>
                </a:solidFill>
              </a:rPr>
              <a:t>E-11 には、本来は品質保証部門の関与が要る（この表では省いている）</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1" name="Text 0"/>
          <p:cNvSpPr/>
          <p:nvPr>
            <p:ph idx="100" type="title" hasCustomPrompt="1"/>
          </p:nvPr>
        </p:nvSpPr>
        <p:spPr>
          <a:xfrm>
            <a:off x="457200" y="274320"/>
            <a:ext cx="11274552" cy="594360"/>
          </a:xfrm>
          <a:prstGeom prst="rect">
            <a:avLst/>
          </a:prstGeom>
          <a:noFill/>
          <a:ln/>
        </p:spPr>
        <p:txBody>
          <a:bodyPr wrap="square" lIns="0" tIns="0" rIns="0" bIns="0" rtlCol="0" anchor="ctr"/>
          <a:lstStyle/>
          <a:p>
            <a:pPr algn="l" indent="0" marL="0">
              <a:buNone/>
            </a:pPr>
            <a:r>
              <a:rPr lang="en-US" sz="2600" b="1" dirty="0">
                <a:solidFill>
                  <a:schemeClr val="tx2"/>
                </a:solidFill>
              </a:rPr>
              <a:t>提言：IT予算は「分けて」持つ</a:t>
            </a:r>
            <a:endParaRPr lang="en-US" sz="2600" dirty="0"/>
          </a:p>
        </p:txBody>
      </p:sp>
      <p:sp>
        <p:nvSpPr>
          <p:cNvPr id="102" name="txt-146"/>
          <p:cNvSpPr txBox="1"/>
          <p:nvPr/>
        </p:nvSpPr>
        <p:spPr>
          <a:xfrm>
            <a:off x="457200" y="914400"/>
            <a:ext cx="11274552" cy="457200"/>
          </a:xfrm>
          <a:prstGeom prst="rect">
            <a:avLst/>
          </a:prstGeom>
          <a:noFill/>
          <a:ln/>
        </p:spPr>
        <p:txBody>
          <a:bodyPr wrap="square" lIns="0" tIns="0" rIns="0" bIns="0" rtlCol="0" anchor="ctr"/>
          <a:lstStyle/>
          <a:p>
            <a:pPr indent="0" marL="0">
              <a:buNone/>
            </a:pPr>
            <a:r>
              <a:rPr lang="en-US" sz="1300" b="1" dirty="0">
                <a:solidFill>
                  <a:schemeClr val="tx2"/>
                </a:solidFill>
              </a:rPr>
              <a:t>「事業側か、IT部門側か」の二択にしない。お金・契約・事務は IT部門に、業務の最終責任（A）は事業側に置く。そのための4つの条件</a:t>
            </a:r>
            <a:endParaRPr lang="en-US" sz="1400" dirty="0"/>
          </a:p>
        </p:txBody>
      </p:sp>
      <p:sp>
        <p:nvSpPr>
          <p:cNvPr id="103" name="box-18"/>
          <p:cNvSpPr/>
          <p:nvPr/>
        </p:nvSpPr>
        <p:spPr>
          <a:xfrm>
            <a:off x="457200" y="1536192"/>
            <a:ext cx="5545836" cy="2395728"/>
          </a:xfrm>
          <a:prstGeom prst="rect">
            <a:avLst/>
          </a:prstGeom>
          <a:solidFill>
            <a:schemeClr val="bg2"/>
          </a:solidFill>
          <a:ln/>
        </p:spPr>
      </p:sp>
      <p:sp>
        <p:nvSpPr>
          <p:cNvPr id="104" name="txt-19"/>
          <p:cNvSpPr txBox="1"/>
          <p:nvPr/>
        </p:nvSpPr>
        <p:spPr>
          <a:xfrm>
            <a:off x="658368" y="1673351"/>
            <a:ext cx="5143500" cy="329184"/>
          </a:xfrm>
          <a:prstGeom prst="rect">
            <a:avLst/>
          </a:prstGeom>
          <a:noFill/>
          <a:ln/>
        </p:spPr>
        <p:txBody>
          <a:bodyPr wrap="square" lIns="0" tIns="0" rIns="0" bIns="0" rtlCol="0" anchor="t"/>
          <a:lstStyle/>
          <a:p>
            <a:pPr indent="0" marL="0">
              <a:buNone/>
            </a:pPr>
            <a:r>
              <a:rPr lang="en-US" sz="1500" b="1" dirty="0">
                <a:solidFill>
                  <a:schemeClr val="tx2"/>
                </a:solidFill>
              </a:rPr>
              <a:t>①　予算と責任を分ける理由</a:t>
            </a:r>
            <a:endParaRPr lang="en-US" sz="1500" dirty="0"/>
          </a:p>
        </p:txBody>
      </p:sp>
      <p:sp>
        <p:nvSpPr>
          <p:cNvPr id="105" name="txt-20"/>
          <p:cNvSpPr txBox="1"/>
          <p:nvPr/>
        </p:nvSpPr>
        <p:spPr>
          <a:xfrm>
            <a:off x="658368" y="2020824"/>
            <a:ext cx="5143500" cy="274320"/>
          </a:xfrm>
          <a:prstGeom prst="rect">
            <a:avLst/>
          </a:prstGeom>
          <a:noFill/>
          <a:ln/>
        </p:spPr>
        <p:txBody>
          <a:bodyPr wrap="square" lIns="0" tIns="0" rIns="0" bIns="0" rtlCol="0" anchor="t"/>
          <a:lstStyle/>
          <a:p>
            <a:pPr indent="0" marL="0">
              <a:buNone/>
            </a:pPr>
            <a:r>
              <a:rPr lang="en-US" sz="1200" b="1" dirty="0">
                <a:solidFill>
                  <a:schemeClr val="accent2"/>
                </a:solidFill>
              </a:rPr>
              <a:t>お金の流れは IT部門に集め、業務の判断は事業側に残す</a:t>
            </a:r>
            <a:endParaRPr lang="en-US" sz="1100" dirty="0"/>
          </a:p>
        </p:txBody>
      </p:sp>
      <p:sp>
        <p:nvSpPr>
          <p:cNvPr id="106" name="txt-21"/>
          <p:cNvSpPr txBox="1"/>
          <p:nvPr/>
        </p:nvSpPr>
        <p:spPr>
          <a:xfrm>
            <a:off x="658368" y="2377440"/>
            <a:ext cx="5143500" cy="148132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IT部門に集めるのは予算・契約・間接業務。全社共通の基盤への影響の統制、ベンダーとの交渉力、重複の排除、IT費用の全社での可視化のため</a:t>
            </a:r>
            <a:endParaRPr lang="en-US" sz="1100" dirty="0"/>
          </a:p>
          <a:p>
            <a:pPr marL="152400" indent="-152400">
              <a:spcAft>
                <a:spcPts val="300"/>
              </a:spcAft>
              <a:buSzPct val="100000"/>
              <a:buChar char="•"/>
            </a:pPr>
            <a:r>
              <a:rPr lang="en-US" sz="1200" dirty="0">
                <a:solidFill>
                  <a:schemeClr val="tx1"/>
                </a:solidFill>
              </a:rPr>
              <a:t>業務アプリケーションの要否・要件・受け入れは、業務を知る側にしか判断できない。A は事業側に残す（プロセスオーナー原則）</a:t>
            </a:r>
            <a:endParaRPr lang="en-US" sz="1100" dirty="0"/>
          </a:p>
          <a:p>
            <a:pPr marL="152400" indent="-152400">
              <a:spcAft>
                <a:spcPts val="300"/>
              </a:spcAft>
              <a:buSzPct val="100000"/>
              <a:buChar char="•"/>
            </a:pPr>
            <a:r>
              <a:rPr lang="en-US" sz="1200" dirty="0">
                <a:solidFill>
                  <a:schemeClr val="tx1"/>
                </a:solidFill>
              </a:rPr>
              <a:t>問うべきは「どちらが持つか」ではなく「何をどちらが持つか」</a:t>
            </a:r>
            <a:endParaRPr lang="en-US" sz="1100" dirty="0"/>
          </a:p>
        </p:txBody>
      </p:sp>
      <p:sp>
        <p:nvSpPr>
          <p:cNvPr id="107" name="box-18"/>
          <p:cNvSpPr/>
          <p:nvPr/>
        </p:nvSpPr>
        <p:spPr>
          <a:xfrm>
            <a:off x="6185916" y="1536192"/>
            <a:ext cx="5545836" cy="2395728"/>
          </a:xfrm>
          <a:prstGeom prst="rect">
            <a:avLst/>
          </a:prstGeom>
          <a:solidFill>
            <a:schemeClr val="bg2"/>
          </a:solidFill>
          <a:ln/>
        </p:spPr>
      </p:sp>
      <p:sp>
        <p:nvSpPr>
          <p:cNvPr id="108" name="txt-19"/>
          <p:cNvSpPr txBox="1"/>
          <p:nvPr/>
        </p:nvSpPr>
        <p:spPr>
          <a:xfrm>
            <a:off x="6387084" y="1673351"/>
            <a:ext cx="5143500" cy="329184"/>
          </a:xfrm>
          <a:prstGeom prst="rect">
            <a:avLst/>
          </a:prstGeom>
          <a:noFill/>
          <a:ln/>
        </p:spPr>
        <p:txBody>
          <a:bodyPr wrap="square" lIns="0" tIns="0" rIns="0" bIns="0" rtlCol="0" anchor="t"/>
          <a:lstStyle/>
          <a:p>
            <a:pPr indent="0" marL="0">
              <a:buNone/>
            </a:pPr>
            <a:r>
              <a:rPr lang="en-US" sz="1500" b="1" dirty="0">
                <a:solidFill>
                  <a:schemeClr val="tx2"/>
                </a:solidFill>
              </a:rPr>
              <a:t>②　配分権の帰属</a:t>
            </a:r>
            <a:endParaRPr lang="en-US" sz="1500" dirty="0"/>
          </a:p>
        </p:txBody>
      </p:sp>
      <p:sp>
        <p:nvSpPr>
          <p:cNvPr id="109" name="txt-20"/>
          <p:cNvSpPr txBox="1"/>
          <p:nvPr/>
        </p:nvSpPr>
        <p:spPr>
          <a:xfrm>
            <a:off x="6387084" y="2020824"/>
            <a:ext cx="5143500" cy="274320"/>
          </a:xfrm>
          <a:prstGeom prst="rect">
            <a:avLst/>
          </a:prstGeom>
          <a:noFill/>
          <a:ln/>
        </p:spPr>
        <p:txBody>
          <a:bodyPr wrap="square" lIns="0" tIns="0" rIns="0" bIns="0" rtlCol="0" anchor="t"/>
          <a:lstStyle/>
          <a:p>
            <a:pPr indent="0" marL="0">
              <a:buNone/>
            </a:pPr>
            <a:r>
              <a:rPr lang="en-US" sz="1200" b="1" dirty="0">
                <a:solidFill>
                  <a:schemeClr val="accent2"/>
                </a:solidFill>
              </a:rPr>
              <a:t>枠は全社で決め、枠の中の優先順位は事業側が決める</a:t>
            </a:r>
            <a:endParaRPr lang="en-US" sz="1100" dirty="0"/>
          </a:p>
        </p:txBody>
      </p:sp>
      <p:sp>
        <p:nvSpPr>
          <p:cNvPr id="110" name="txt-21"/>
          <p:cNvSpPr txBox="1"/>
          <p:nvPr/>
        </p:nvSpPr>
        <p:spPr>
          <a:xfrm>
            <a:off x="6387084" y="2377440"/>
            <a:ext cx="5143500" cy="148132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部門ごとの予算の枠と投資の決裁は、新しいITガバナンス（Tier）で決める</a:t>
            </a:r>
            <a:endParaRPr lang="en-US" sz="1100" dirty="0"/>
          </a:p>
          <a:p>
            <a:pPr marL="152400" indent="-152400">
              <a:spcAft>
                <a:spcPts val="300"/>
              </a:spcAft>
              <a:buSzPct val="100000"/>
              <a:buChar char="•"/>
            </a:pPr>
            <a:r>
              <a:rPr lang="en-US" sz="1200" dirty="0">
                <a:solidFill>
                  <a:schemeClr val="tx1"/>
                </a:solidFill>
              </a:rPr>
              <a:t>枠の中でどの案件を優先するかは、ビジネスオーナー（BO）が決める</a:t>
            </a:r>
            <a:endParaRPr lang="en-US" sz="1100" dirty="0"/>
          </a:p>
          <a:p>
            <a:pPr marL="152400" indent="-152400">
              <a:spcAft>
                <a:spcPts val="300"/>
              </a:spcAft>
              <a:buSzPct val="100000"/>
              <a:buChar char="•"/>
            </a:pPr>
            <a:r>
              <a:rPr lang="en-US" sz="1200" dirty="0">
                <a:solidFill>
                  <a:schemeClr val="tx1"/>
                </a:solidFill>
              </a:rPr>
              <a:t>IT部門（SO）は費用の妥当性と既存システムとの整合を評価し、異を唱える。合意できなければ Tier に上げる（IT部門が単独で止めない）</a:t>
            </a:r>
            <a:endParaRPr lang="en-US" sz="1100" dirty="0"/>
          </a:p>
        </p:txBody>
      </p:sp>
      <p:sp>
        <p:nvSpPr>
          <p:cNvPr id="111" name="box-18"/>
          <p:cNvSpPr/>
          <p:nvPr/>
        </p:nvSpPr>
        <p:spPr>
          <a:xfrm>
            <a:off x="457200" y="4069080"/>
            <a:ext cx="5545836" cy="2395728"/>
          </a:xfrm>
          <a:prstGeom prst="rect">
            <a:avLst/>
          </a:prstGeom>
          <a:solidFill>
            <a:schemeClr val="bg2"/>
          </a:solidFill>
          <a:ln/>
        </p:spPr>
      </p:sp>
      <p:sp>
        <p:nvSpPr>
          <p:cNvPr id="112" name="txt-19"/>
          <p:cNvSpPr txBox="1"/>
          <p:nvPr/>
        </p:nvSpPr>
        <p:spPr>
          <a:xfrm>
            <a:off x="658368" y="4206240"/>
            <a:ext cx="5143500" cy="329184"/>
          </a:xfrm>
          <a:prstGeom prst="rect">
            <a:avLst/>
          </a:prstGeom>
          <a:noFill/>
          <a:ln/>
        </p:spPr>
        <p:txBody>
          <a:bodyPr wrap="square" lIns="0" tIns="0" rIns="0" bIns="0" rtlCol="0" anchor="t"/>
          <a:lstStyle/>
          <a:p>
            <a:pPr indent="0" marL="0">
              <a:buNone/>
            </a:pPr>
            <a:r>
              <a:rPr lang="en-US" sz="1500" b="1" dirty="0">
                <a:solidFill>
                  <a:schemeClr val="tx2"/>
                </a:solidFill>
              </a:rPr>
              <a:t>③　コスト意識の歯止め</a:t>
            </a:r>
            <a:endParaRPr lang="en-US" sz="1500" dirty="0"/>
          </a:p>
        </p:txBody>
      </p:sp>
      <p:sp>
        <p:nvSpPr>
          <p:cNvPr id="113" name="txt-20"/>
          <p:cNvSpPr txBox="1"/>
          <p:nvPr/>
        </p:nvSpPr>
        <p:spPr>
          <a:xfrm>
            <a:off x="658368" y="4553712"/>
            <a:ext cx="5143500" cy="274320"/>
          </a:xfrm>
          <a:prstGeom prst="rect">
            <a:avLst/>
          </a:prstGeom>
          <a:noFill/>
          <a:ln/>
        </p:spPr>
        <p:txBody>
          <a:bodyPr wrap="square" lIns="0" tIns="0" rIns="0" bIns="0" rtlCol="0" anchor="t"/>
          <a:lstStyle/>
          <a:p>
            <a:pPr indent="0" marL="0">
              <a:buNone/>
            </a:pPr>
            <a:r>
              <a:rPr lang="en-US" sz="1200" b="1" dirty="0">
                <a:solidFill>
                  <a:schemeClr val="accent2"/>
                </a:solidFill>
              </a:rPr>
              <a:t>払わなくなっても、使った費用は部門に見せる</a:t>
            </a:r>
            <a:endParaRPr lang="en-US" sz="1100" dirty="0"/>
          </a:p>
        </p:txBody>
      </p:sp>
      <p:sp>
        <p:nvSpPr>
          <p:cNvPr id="114" name="txt-21"/>
          <p:cNvSpPr txBox="1"/>
          <p:nvPr/>
        </p:nvSpPr>
        <p:spPr>
          <a:xfrm>
            <a:off x="658368" y="4910328"/>
            <a:ext cx="5143500" cy="148132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移管した費用を、部門別・案件別に毎期示す（単価と内訳の開示）</a:t>
            </a:r>
            <a:endParaRPr lang="en-US" sz="1100" dirty="0"/>
          </a:p>
          <a:p>
            <a:pPr marL="152400" indent="-152400">
              <a:spcAft>
                <a:spcPts val="300"/>
              </a:spcAft>
              <a:buSzPct val="100000"/>
              <a:buChar char="•"/>
            </a:pPr>
            <a:r>
              <a:rPr lang="en-US" sz="1200" dirty="0">
                <a:solidFill>
                  <a:schemeClr val="tx1"/>
                </a:solidFill>
              </a:rPr>
              <a:t>削減した費用の一部を部門に返す（比率は未定）</a:t>
            </a:r>
            <a:endParaRPr lang="en-US" sz="1100" dirty="0"/>
          </a:p>
          <a:p>
            <a:pPr marL="152400" indent="-152400">
              <a:spcAft>
                <a:spcPts val="300"/>
              </a:spcAft>
              <a:buSzPct val="100000"/>
              <a:buChar char="•"/>
            </a:pPr>
            <a:r>
              <a:rPr lang="en-US" sz="1200" dirty="0">
                <a:solidFill>
                  <a:schemeClr val="tx1"/>
                </a:solidFill>
              </a:rPr>
              <a:t>配賦・チャージバックに進むかは、1年分の実績を見て判断する</a:t>
            </a:r>
            <a:endParaRPr lang="en-US" sz="1100" dirty="0"/>
          </a:p>
        </p:txBody>
      </p:sp>
      <p:sp>
        <p:nvSpPr>
          <p:cNvPr id="115" name="box-18"/>
          <p:cNvSpPr/>
          <p:nvPr/>
        </p:nvSpPr>
        <p:spPr>
          <a:xfrm>
            <a:off x="6185916" y="4069080"/>
            <a:ext cx="5545836" cy="2395728"/>
          </a:xfrm>
          <a:prstGeom prst="rect">
            <a:avLst/>
          </a:prstGeom>
          <a:solidFill>
            <a:schemeClr val="bg2"/>
          </a:solidFill>
          <a:ln/>
        </p:spPr>
      </p:sp>
      <p:sp>
        <p:nvSpPr>
          <p:cNvPr id="116" name="txt-19"/>
          <p:cNvSpPr txBox="1"/>
          <p:nvPr/>
        </p:nvSpPr>
        <p:spPr>
          <a:xfrm>
            <a:off x="6387084" y="4206240"/>
            <a:ext cx="5143500" cy="329184"/>
          </a:xfrm>
          <a:prstGeom prst="rect">
            <a:avLst/>
          </a:prstGeom>
          <a:noFill/>
          <a:ln/>
        </p:spPr>
        <p:txBody>
          <a:bodyPr wrap="square" lIns="0" tIns="0" rIns="0" bIns="0" rtlCol="0" anchor="t"/>
          <a:lstStyle/>
          <a:p>
            <a:pPr indent="0" marL="0">
              <a:buNone/>
            </a:pPr>
            <a:r>
              <a:rPr lang="en-US" sz="1500" b="1" dirty="0">
                <a:solidFill>
                  <a:schemeClr val="tx2"/>
                </a:solidFill>
              </a:rPr>
              <a:t>④　中間層の移行期限</a:t>
            </a:r>
            <a:endParaRPr lang="en-US" sz="1500" dirty="0"/>
          </a:p>
        </p:txBody>
      </p:sp>
      <p:sp>
        <p:nvSpPr>
          <p:cNvPr id="117" name="txt-20"/>
          <p:cNvSpPr txBox="1"/>
          <p:nvPr/>
        </p:nvSpPr>
        <p:spPr>
          <a:xfrm>
            <a:off x="6387084" y="4553712"/>
            <a:ext cx="5143500" cy="274320"/>
          </a:xfrm>
          <a:prstGeom prst="rect">
            <a:avLst/>
          </a:prstGeom>
          <a:noFill/>
          <a:ln/>
        </p:spPr>
        <p:txBody>
          <a:bodyPr wrap="square" lIns="0" tIns="0" rIns="0" bIns="0" rtlCol="0" anchor="t"/>
          <a:lstStyle/>
          <a:p>
            <a:pPr indent="0" marL="0">
              <a:buNone/>
            </a:pPr>
            <a:r>
              <a:rPr lang="en-US" sz="1200" b="1" dirty="0">
                <a:solidFill>
                  <a:schemeClr val="accent2"/>
                </a:solidFill>
              </a:rPr>
              <a:t>IT関連業務の R は、期限を切って IT部門に移す</a:t>
            </a:r>
            <a:endParaRPr lang="en-US" sz="1100" dirty="0"/>
          </a:p>
        </p:txBody>
      </p:sp>
      <p:sp>
        <p:nvSpPr>
          <p:cNvPr id="118" name="txt-21"/>
          <p:cNvSpPr txBox="1"/>
          <p:nvPr/>
        </p:nvSpPr>
        <p:spPr>
          <a:xfrm>
            <a:off x="6387084" y="4910328"/>
            <a:ext cx="5143500" cy="1481328"/>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SO が R を持ち始める時期に上限を置く（例：次回の契約更新、遅くとも2027年度末）</a:t>
            </a:r>
            <a:endParaRPr lang="en-US" sz="1100" dirty="0"/>
          </a:p>
          <a:p>
            <a:pPr marL="152400" indent="-152400">
              <a:spcAft>
                <a:spcPts val="300"/>
              </a:spcAft>
              <a:buSzPct val="100000"/>
              <a:buChar char="•"/>
            </a:pPr>
            <a:r>
              <a:rPr lang="en-US" sz="1200" dirty="0">
                <a:solidFill>
                  <a:schemeClr val="tx1"/>
                </a:solidFill>
              </a:rPr>
              <a:t>上限を越えて Before のまま残す業務は、理由を合意文書に書き、進行役が横並びで確かめる</a:t>
            </a:r>
            <a:endParaRPr lang="en-US" sz="1100" dirty="0"/>
          </a:p>
          <a:p>
            <a:pPr marL="152400" indent="-152400">
              <a:spcAft>
                <a:spcPts val="300"/>
              </a:spcAft>
              <a:buSzPct val="100000"/>
              <a:buChar char="•"/>
            </a:pPr>
            <a:r>
              <a:rPr lang="en-US" sz="1200" dirty="0">
                <a:solidFill>
                  <a:schemeClr val="tx1"/>
                </a:solidFill>
              </a:rPr>
              <a:t>上限がないと、移るのは帳簿と事務だけになり、統制の目的を果たせない</a:t>
            </a:r>
            <a:endParaRPr lang="en-US" sz="1100" dirty="0"/>
          </a:p>
        </p:txBody>
      </p:sp>
      <p:sp>
        <p:nvSpPr>
          <p:cNvPr id="119"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BTR Kickoff">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IT予算移管 キックオフ</dc:title>
  <dc:subject>PptxGenJS Presentation</dc:subject>
  <dc:creator>予算移管事務局</dc:creator>
  <cp:lastModifiedBy>予算移管事務局</cp:lastModifiedBy>
  <cp:revision>1</cp:revision>
  <dcterms:created xsi:type="dcterms:W3CDTF">2026-10-12T04:49:20Z</dcterms:created>
  <dcterms:modified xsi:type="dcterms:W3CDTF">2026-10-12T04:49:20Z</dcterms:modified>
</cp:coreProperties>
</file>