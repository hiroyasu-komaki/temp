
<file path=[Content_Types].xml><?xml version="1.0" encoding="utf-8"?>
<Types xmlns="http://schemas.openxmlformats.org/package/2006/content-types">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4"/>
  </p:sldMasterIdLst>
  <p:notesMasterIdLst>
    <p:notesMasterId r:id="rId5"/>
  </p:notesMasterIdLst>
  <p:sldIdLst>
    <p:sldId id="256" r:id="rId6"/>
    <p:sldId id="282" r:id="rId117"/>
    <p:sldId id="283" r:id="rId118"/>
    <p:sldId id="258" r:id="rId8"/>
    <p:sldId id="259" r:id="rId9"/>
    <p:sldId id="261" r:id="rId11"/>
    <p:sldId id="267" r:id="rId102"/>
    <p:sldId id="284" r:id="rId1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表紙" id="{409EA2B5-F2A7-4CB5-82BA-641B7F0CD0B6}">
          <p14:sldIdLst>
            <p14:sldId id="256"/>
            <p14:sldId id="282"/>
            <p14:sldId id="283"/>
          </p14:sldIdLst>
        </p14:section>
        <p14:section name="予算移管の方針と進め方" id="{21F2759C-30DB-4622-835D-072BEE233D36}">
          <p14:sldIdLst>
            <p14:sldId id="258"/>
            <p14:sldId id="259"/>
          </p14:sldIdLst>
        </p14:section>
        <p14:section name="移管後の役割" id="{3B745467-87E7-42D2-8B4B-1BA428B43514}">
          <p14:sldIdLst>
            <p14:sldId id="261"/>
          </p14:sldIdLst>
        </p14:section>
        <p14:section name="IT資産管理" id="{7F319247-5CD6-4AF9-B288-B32F66FBC758}">
          <p14:sldIdLst>
            <p14:sldId id="267"/>
            <p14:sldId id="284"/>
          </p14:sldIdLst>
        </p14:section>
      </p14:section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8A727C-A965-479B-B08A-54D43AD2AD89}">
  <a:tblStyle styleId="{578A727C-A965-479B-B08A-54D43AD2AD8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5.xml"/><Relationship Id="rId9" Type="http://schemas.openxmlformats.org/officeDocument/2006/relationships/slide" Target="slides/slide6.xml"/><Relationship Id="rId11" Type="http://schemas.openxmlformats.org/officeDocument/2006/relationships/slide" Target="slides/slide8.xml"/><Relationship Id="rId15" Type="http://schemas.openxmlformats.org/officeDocument/2006/relationships/slide" Target="slides/slide10.xml"/><Relationship Id="rId102" Type="http://schemas.openxmlformats.org/officeDocument/2006/relationships/slide" Target="slides/slide9.xml"/><Relationship Id="rId117" Type="http://schemas.openxmlformats.org/officeDocument/2006/relationships/slide" Target="slides/slide2.xml"/><Relationship Id="rId11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This document is a supplement to the IT Department Budget Guidelines. It is the reference for GDS teams carrying out the IT budget transfer, starting with next fiscal year's budget, as part of their day-to-day work. The budget transfer is not a project, and no dedicated organization will be set up. Follow the company-wide policy that has been decided; agree everything else with your counterpart Function.</a:t>
            </a:r>
          </a:p>
        </p:txBody>
      </p:sp>
      <p:sp>
        <p:nvSpPr>
          <p:cNvPr id="21" name="Google Shape;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This term's goal is to have the transfer approval granted by the end of December. Creating value from the transfer will be considered next term. Budgets are split into three groups by when they move: operating expense budgets move together on January 1; budgets for IT investment projects starting next year are held by GDS from next year's budget; and for IT investment projects continuing from this year, the timing is agreed case by case. For the goal, check separately what must be done by the end of December and what will be handled step by step after the transfer.</a:t>
            </a:r>
          </a:p>
        </p:txBody>
      </p:sp>
      <p:sp>
        <p:nvSpPr>
          <p:cNvPr id="49" name="Google Shape;4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This is the indicative schedule for November and December. The assigned BP agrees with the transferring Function based on the interview sheet, takes over the work based on work manuals, contracts and past records, and reports completion when the approval request is submitted. Throughout the period, keep the progress tracker up to date, and report and consult whenever a problem occurs or is foreseen. The goal for S&amp;G is that the transfer approval is granted; the goal for the assigned BP is being ready to start the work after the transfer. Both require the materials needed to reach that state.</a:t>
            </a:r>
          </a:p>
        </p:txBody>
      </p:sp>
      <p:sp>
        <p:nvSpPr>
          <p:cNvPr id="71" name="Google Shape;7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This is the division of roles after the transfer. Boxes are domains; the labels on the arrows are actions. The Functions clarify needs from the business strategy, define business requirements, and evaluate acceptance and benefit results to review the strategy. GDS leads, and decides with the Functions' advice, on: developing the IT strategy from the business strategy, applying its policy to solutions, setting non-functional requirements, setting the sourcing policy for vendors, requirements definition, solution selection and vendor selection. Systems specific to one Function with no impact on others are an exception. GDS is responsible for IT financial management, contract management and service quality management. Confirm the details and the timing of GDS taking over in the agreement document for each case.</a:t>
            </a:r>
          </a:p>
        </p:txBody>
      </p:sp>
      <p:sp>
        <p:nvSpPr>
          <p:cNvPr id="201" name="Google Shape;20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After the kickoff, please start with three things: begin agreeing with the transferring Function based on the interview sheet; fill in your row of the progress tracker so you can update the transfer status; and identify IT investment projects continuing from this year and set up a check with Finance. The final deadline is December 31: approval of the transfer.</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rgbClr val="EEEFEF"/>
        </a:solidFill>
        <a:effectLst/>
      </p:bgPr>
    </p:bg>
    <p:spTree>
      <p:nvGrpSpPr>
        <p:cNvPr id="11" name="Shape 11"/>
        <p:cNvGrpSpPr/>
        <p:nvPr/>
      </p:nvGrpSpPr>
      <p:grpSpPr>
        <a:xfrm>
          <a:off x="0" y="0"/>
          <a:ext cx="0" cy="0"/>
          <a:chOff x="0" y="0"/>
          <a:chExt cx="0" cy="0"/>
        </a:xfrm>
      </p:grpSpPr>
      <p:sp>
        <p:nvSpPr>
          <p:cNvPr id="901" name="Arc TL"/>
          <p:cNvSpPr/>
          <p:nvPr userDrawn="1"/>
        </p:nvSpPr>
        <p:spPr>
          <a:xfrm>
            <a:off x="-609600" y="-609600"/>
            <a:ext cx="1117600" cy="1117600"/>
          </a:xfrm>
          <a:prstGeom prst="ellipse">
            <a:avLst/>
          </a:prstGeom>
          <a:noFill/>
          <a:ln w="114300">
            <a:solidFill>
              <a:srgbClr val="DEDEDF"/>
            </a:solidFill>
          </a:ln>
        </p:spPr>
        <p:txBody>
          <a:bodyPr/>
          <a:lstStyle/>
          <a:p>
            <a:endParaRPr lang="en-US"/>
          </a:p>
        </p:txBody>
      </p:sp>
      <p:sp>
        <p:nvSpPr>
          <p:cNvPr id="902" name="Arc BR"/>
          <p:cNvSpPr/>
          <p:nvPr userDrawn="1"/>
        </p:nvSpPr>
        <p:spPr>
          <a:xfrm>
            <a:off x="9652000" y="4318000"/>
            <a:ext cx="5080000" cy="5080000"/>
          </a:xfrm>
          <a:prstGeom prst="ellipse">
            <a:avLst/>
          </a:prstGeom>
          <a:noFill/>
          <a:ln w="279400">
            <a:solidFill>
              <a:srgbClr val="DEDEDF"/>
            </a:solidFill>
          </a:ln>
        </p:spPr>
        <p:txBody>
          <a:bodyPr/>
          <a:lstStyle/>
          <a:p>
            <a:endParaRPr lang="en-US"/>
          </a:p>
        </p:txBody>
      </p:sp>
      <p:sp>
        <p:nvSpPr>
          <p:cNvPr id="12" name="Google Shape;12;p2"/>
          <p:cNvSpPr txBox="1"/>
          <p:nvPr>
            <p:ph type="title"/>
          </p:nvPr>
        </p:nvSpPr>
        <p:spPr>
          <a:xfrm>
            <a:off x="731520" y="2286000"/>
            <a:ext cx="10698480" cy="914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404040"/>
              </a:buClr>
              <a:buSzPts val="3600"/>
              <a:buFont typeface="Arial"/>
              <a:buNone/>
              <a:defRPr b="1" i="0" sz="3600" u="none" cap="none" strike="noStrike">
                <a:solidFill>
                  <a:srgbClr val="40404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
          <p:cNvSpPr txBox="1"/>
          <p:nvPr>
            <p:ph idx="1" type="body"/>
          </p:nvPr>
        </p:nvSpPr>
        <p:spPr>
          <a:xfrm>
            <a:off x="731520" y="3383280"/>
            <a:ext cx="10698480" cy="109728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rgbClr val="404040"/>
              </a:buClr>
              <a:buSzPts val="1600"/>
              <a:buFont typeface="Arial"/>
              <a:buNone/>
              <a:defRPr b="0" i="0" sz="1600" u="none" cap="none" strike="noStrike">
                <a:solidFill>
                  <a:srgbClr val="404040"/>
                </a:solidFill>
                <a:latin typeface="Arial"/>
                <a:ea typeface="Arial"/>
                <a:cs typeface="Arial"/>
                <a:sym typeface="Arial"/>
              </a:defRPr>
            </a:lvl1pPr>
            <a:lvl2pPr indent="-406400" lvl="1" marL="914400" marR="0" rtl="0" algn="l">
              <a:spcBef>
                <a:spcPts val="560"/>
              </a:spcBef>
              <a:spcAft>
                <a:spcPts val="0"/>
              </a:spcAft>
              <a:buClr>
                <a:srgbClr val="404040"/>
              </a:buClr>
              <a:buSzPts val="2800"/>
              <a:buFont typeface="Arial"/>
              <a:buChar char="–"/>
              <a:defRPr b="0" i="0" sz="2800" u="none" cap="none" strike="noStrike">
                <a:solidFill>
                  <a:srgbClr val="404040"/>
                </a:solidFill>
                <a:latin typeface="Arial"/>
                <a:ea typeface="Arial"/>
                <a:cs typeface="Arial"/>
                <a:sym typeface="Arial"/>
              </a:defRPr>
            </a:lvl2pPr>
            <a:lvl3pPr indent="-381000" lvl="2" marL="1371600" marR="0" rtl="0" algn="l">
              <a:spcBef>
                <a:spcPts val="480"/>
              </a:spcBef>
              <a:spcAft>
                <a:spcPts val="0"/>
              </a:spcAft>
              <a:buClr>
                <a:srgbClr val="404040"/>
              </a:buClr>
              <a:buSzPts val="2400"/>
              <a:buFont typeface="Arial"/>
              <a:buChar char="•"/>
              <a:defRPr b="0" i="0" sz="2400" u="none" cap="none" strike="noStrike">
                <a:solidFill>
                  <a:srgbClr val="404040"/>
                </a:solidFill>
                <a:latin typeface="Arial"/>
                <a:ea typeface="Arial"/>
                <a:cs typeface="Arial"/>
                <a:sym typeface="Arial"/>
              </a:defRPr>
            </a:lvl3pPr>
            <a:lvl4pPr indent="-355600" lvl="3" marL="18288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4pPr>
            <a:lvl5pPr indent="-355600" lvl="4" marL="22860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5pPr>
            <a:lvl6pPr indent="-355600" lvl="5" marL="27432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6pPr>
            <a:lvl7pPr indent="-355600" lvl="6" marL="32004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7pPr>
            <a:lvl8pPr indent="-355600" lvl="7" marL="36576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8pPr>
            <a:lvl9pPr indent="-355600" lvl="8" marL="4114800" marR="0" rtl="0" algn="l">
              <a:spcBef>
                <a:spcPts val="400"/>
              </a:spcBef>
              <a:spcAft>
                <a:spcPts val="0"/>
              </a:spcAft>
              <a:buClr>
                <a:srgbClr val="404040"/>
              </a:buClr>
              <a:buSzPts val="2000"/>
              <a:buFont typeface="Arial"/>
              <a:buChar char="•"/>
              <a:defRPr b="0" i="0" sz="2000" u="none" cap="none" strike="noStrike">
                <a:solidFill>
                  <a:srgbClr val="40404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4" name="Shape 14"/>
        <p:cNvGrpSpPr/>
        <p:nvPr/>
      </p:nvGrpSpPr>
      <p:grpSpPr>
        <a:xfrm>
          <a:off x="0" y="0"/>
          <a:ext cx="0" cy="0"/>
          <a:chOff x="0" y="0"/>
          <a:chExt cx="0" cy="0"/>
        </a:xfrm>
      </p:grpSpPr>
      <p:sp>
        <p:nvSpPr>
          <p:cNvPr id="901" name="Arc TL"/>
          <p:cNvSpPr/>
          <p:nvPr userDrawn="1"/>
        </p:nvSpPr>
        <p:spPr>
          <a:xfrm>
            <a:off x="-609600" y="-609600"/>
            <a:ext cx="1117600" cy="1117600"/>
          </a:xfrm>
          <a:prstGeom prst="ellipse">
            <a:avLst/>
          </a:prstGeom>
          <a:noFill/>
          <a:ln w="114300">
            <a:solidFill>
              <a:srgbClr val="DEDEDF"/>
            </a:solidFill>
          </a:ln>
        </p:spPr>
        <p:txBody>
          <a:bodyPr/>
          <a:lstStyle/>
          <a:p>
            <a:endParaRPr lang="en-US"/>
          </a:p>
        </p:txBody>
      </p:sp>
      <p:sp>
        <p:nvSpPr>
          <p:cNvPr id="902" name="Arc BR"/>
          <p:cNvSpPr/>
          <p:nvPr userDrawn="1"/>
        </p:nvSpPr>
        <p:spPr>
          <a:xfrm>
            <a:off x="11684000" y="6350000"/>
            <a:ext cx="1117600" cy="1117600"/>
          </a:xfrm>
          <a:prstGeom prst="ellipse">
            <a:avLst/>
          </a:prstGeom>
          <a:noFill/>
          <a:ln w="114300">
            <a:solidFill>
              <a:srgbClr val="DEDEDF"/>
            </a:solidFill>
          </a:ln>
        </p:spPr>
        <p:txBody>
          <a:bodyPr/>
          <a:lstStyle/>
          <a:p>
            <a:endParaRPr lang="en-US"/>
          </a:p>
        </p:txBody>
      </p:sp>
      <p:sp>
        <p:nvSpPr>
          <p:cNvPr id="15" name="Google Shape;15;p3"/>
          <p:cNvSpPr txBox="1"/>
          <p:nvPr>
            <p:ph type="title"/>
          </p:nvPr>
        </p:nvSpPr>
        <p:spPr>
          <a:xfrm>
            <a:off x="635000" y="406400"/>
            <a:ext cx="10922000" cy="4318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23323B"/>
              </a:buClr>
              <a:buSzPts val="2600"/>
              <a:buFont typeface="Arial"/>
              <a:buNone/>
              <a:defRPr b="1" i="0" sz="2600" u="none" cap="none" strike="noStrike">
                <a:solidFill>
                  <a:srgbClr val="23323B"/>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3"/>
          <p:cNvSpPr txBox="1"/>
          <p:nvPr>
            <p:ph idx="12" type="sldNum"/>
          </p:nvPr>
        </p:nvSpPr>
        <p:spPr>
          <a:xfrm>
            <a:off x="10795000" y="6527800"/>
            <a:ext cx="762000" cy="1524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00" u="none" cap="none" strike="noStrike">
                <a:solidFill>
                  <a:srgbClr val="7F7F7F"/>
                </a:solidFill>
                <a:latin typeface="Arial"/>
                <a:ea typeface="Arial"/>
                <a:cs typeface="Arial"/>
                <a:sym typeface="Arial"/>
              </a:defRPr>
            </a:lvl1pPr>
            <a:lvl2pPr indent="0" lvl="1" marL="0" marR="0" algn="r">
              <a:spcBef>
                <a:spcPts val="0"/>
              </a:spcBef>
              <a:buNone/>
              <a:defRPr b="0" i="0" sz="900" u="none" cap="none" strike="noStrike">
                <a:solidFill>
                  <a:srgbClr val="7F7F7F"/>
                </a:solidFill>
                <a:latin typeface="Arial"/>
                <a:ea typeface="Arial"/>
                <a:cs typeface="Arial"/>
                <a:sym typeface="Arial"/>
              </a:defRPr>
            </a:lvl2pPr>
            <a:lvl3pPr indent="0" lvl="2" marL="0" marR="0" algn="r">
              <a:spcBef>
                <a:spcPts val="0"/>
              </a:spcBef>
              <a:buNone/>
              <a:defRPr b="0" i="0" sz="900" u="none" cap="none" strike="noStrike">
                <a:solidFill>
                  <a:srgbClr val="7F7F7F"/>
                </a:solidFill>
                <a:latin typeface="Arial"/>
                <a:ea typeface="Arial"/>
                <a:cs typeface="Arial"/>
                <a:sym typeface="Arial"/>
              </a:defRPr>
            </a:lvl3pPr>
            <a:lvl4pPr indent="0" lvl="3" marL="0" marR="0" algn="r">
              <a:spcBef>
                <a:spcPts val="0"/>
              </a:spcBef>
              <a:buNone/>
              <a:defRPr b="0" i="0" sz="900" u="none" cap="none" strike="noStrike">
                <a:solidFill>
                  <a:srgbClr val="7F7F7F"/>
                </a:solidFill>
                <a:latin typeface="Arial"/>
                <a:ea typeface="Arial"/>
                <a:cs typeface="Arial"/>
                <a:sym typeface="Arial"/>
              </a:defRPr>
            </a:lvl4pPr>
            <a:lvl5pPr indent="0" lvl="4" marL="0" marR="0" algn="r">
              <a:spcBef>
                <a:spcPts val="0"/>
              </a:spcBef>
              <a:buNone/>
              <a:defRPr b="0" i="0" sz="900" u="none" cap="none" strike="noStrike">
                <a:solidFill>
                  <a:srgbClr val="7F7F7F"/>
                </a:solidFill>
                <a:latin typeface="Arial"/>
                <a:ea typeface="Arial"/>
                <a:cs typeface="Arial"/>
                <a:sym typeface="Arial"/>
              </a:defRPr>
            </a:lvl5pPr>
            <a:lvl6pPr indent="0" lvl="5" marL="0" marR="0" algn="r">
              <a:spcBef>
                <a:spcPts val="0"/>
              </a:spcBef>
              <a:buNone/>
              <a:defRPr b="0" i="0" sz="900" u="none" cap="none" strike="noStrike">
                <a:solidFill>
                  <a:srgbClr val="7F7F7F"/>
                </a:solidFill>
                <a:latin typeface="Arial"/>
                <a:ea typeface="Arial"/>
                <a:cs typeface="Arial"/>
                <a:sym typeface="Arial"/>
              </a:defRPr>
            </a:lvl6pPr>
            <a:lvl7pPr indent="0" lvl="6" marL="0" marR="0" algn="r">
              <a:spcBef>
                <a:spcPts val="0"/>
              </a:spcBef>
              <a:buNone/>
              <a:defRPr b="0" i="0" sz="900" u="none" cap="none" strike="noStrike">
                <a:solidFill>
                  <a:srgbClr val="7F7F7F"/>
                </a:solidFill>
                <a:latin typeface="Arial"/>
                <a:ea typeface="Arial"/>
                <a:cs typeface="Arial"/>
                <a:sym typeface="Arial"/>
              </a:defRPr>
            </a:lvl7pPr>
            <a:lvl8pPr indent="0" lvl="7" marL="0" marR="0" algn="r">
              <a:spcBef>
                <a:spcPts val="0"/>
              </a:spcBef>
              <a:buNone/>
              <a:defRPr b="0" i="0" sz="900" u="none" cap="none" strike="noStrike">
                <a:solidFill>
                  <a:srgbClr val="7F7F7F"/>
                </a:solidFill>
                <a:latin typeface="Arial"/>
                <a:ea typeface="Arial"/>
                <a:cs typeface="Arial"/>
                <a:sym typeface="Arial"/>
              </a:defRPr>
            </a:lvl8pPr>
            <a:lvl9pPr indent="0" lvl="8" marL="0" marR="0" algn="r">
              <a:spcBef>
                <a:spcPts val="0"/>
              </a:spcBef>
              <a:buNone/>
              <a:defRPr b="0" i="0" sz="9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903" name="Footer"/>
          <p:cNvSpPr txBox="1"/>
          <p:nvPr userDrawn="1"/>
        </p:nvSpPr>
        <p:spPr>
          <a:xfrm>
            <a:off x="635000" y="6527800"/>
            <a:ext cx="3810000" cy="152400"/>
          </a:xfrm>
          <a:prstGeom prst="rect">
            <a:avLst/>
          </a:prstGeom>
          <a:noFill/>
        </p:spPr>
        <p:txBody>
          <a:bodyPr wrap="none" lIns="0" tIns="0" rIns="0" bIns="0" anchor="b"/>
          <a:lstStyle/>
          <a:p>
            <a:pPr algn="l"/>
            <a:r>
              <a:rPr lang="en-US" sz="1000">
                <a:solidFill>
                  <a:srgbClr val="7F7F7F"/>
                </a:solidFill>
                <a:latin typeface="Arial"/>
                <a:ea typeface="Meiryo UI"/>
              </a:rPr>
              <a:t>Budget Guidelines Supplement | IT Budget Transfer Essentials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rgbClr val="FFFFFF"/>
        </a:solidFill>
      </p:bgPr>
    </p:bg>
    <p:spTree>
      <p:nvGrpSpPr>
        <p:cNvPr id="17" name="Shape 17"/>
        <p:cNvGrpSpPr/>
        <p:nvPr/>
      </p:nvGrpSpPr>
      <p:grpSpPr>
        <a:xfrm>
          <a:off x="0" y="0"/>
          <a:ext cx="0" cy="0"/>
          <a:chOff x="0" y="0"/>
          <a:chExt cx="0" cy="0"/>
        </a:xfrm>
      </p:grpSpPr>
      <p:sp>
        <p:nvSpPr>
          <p:cNvPr id="901" name="Arc TL"/>
          <p:cNvSpPr/>
          <p:nvPr userDrawn="1"/>
        </p:nvSpPr>
        <p:spPr>
          <a:xfrm>
            <a:off x="-609600" y="-609600"/>
            <a:ext cx="1117600" cy="1117600"/>
          </a:xfrm>
          <a:prstGeom prst="ellipse">
            <a:avLst/>
          </a:prstGeom>
          <a:noFill/>
          <a:ln w="114300">
            <a:solidFill>
              <a:srgbClr val="DEDEDF"/>
            </a:solidFill>
          </a:ln>
        </p:spPr>
        <p:txBody>
          <a:bodyPr/>
          <a:lstStyle/>
          <a:p>
            <a:endParaRPr lang="en-US"/>
          </a:p>
        </p:txBody>
      </p:sp>
      <p:sp>
        <p:nvSpPr>
          <p:cNvPr id="902" name="Arc BR"/>
          <p:cNvSpPr/>
          <p:nvPr userDrawn="1"/>
        </p:nvSpPr>
        <p:spPr>
          <a:xfrm>
            <a:off x="11684000" y="6350000"/>
            <a:ext cx="1117600" cy="1117600"/>
          </a:xfrm>
          <a:prstGeom prst="ellipse">
            <a:avLst/>
          </a:prstGeom>
          <a:noFill/>
          <a:ln w="114300">
            <a:solidFill>
              <a:srgbClr val="DEDEDF"/>
            </a:solidFill>
          </a:ln>
        </p:spPr>
        <p:txBody>
          <a:bodyPr/>
          <a:lstStyle/>
          <a:p>
            <a:endParaRPr lang="en-US"/>
          </a:p>
        </p:txBody>
      </p:sp>
      <p:sp>
        <p:nvSpPr>
          <p:cNvPr id="903" name="Footer"/>
          <p:cNvSpPr txBox="1"/>
          <p:nvPr userDrawn="1"/>
        </p:nvSpPr>
        <p:spPr>
          <a:xfrm>
            <a:off x="635000" y="6527800"/>
            <a:ext cx="3810000" cy="152400"/>
          </a:xfrm>
          <a:prstGeom prst="rect">
            <a:avLst/>
          </a:prstGeom>
          <a:noFill/>
        </p:spPr>
        <p:txBody>
          <a:bodyPr wrap="none" lIns="0" tIns="0" rIns="0" bIns="0" anchor="b"/>
          <a:lstStyle/>
          <a:p>
            <a:pPr algn="l"/>
            <a:r>
              <a:rPr lang="en-US" sz="1000">
                <a:solidFill>
                  <a:srgbClr val="7F7F7F"/>
                </a:solidFill>
                <a:latin typeface="Arial"/>
                <a:ea typeface="Meiryo UI"/>
              </a:rPr>
              <a:t>Budget Guidelines Supplement | IT Budget Transfer Essentials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ONLY">
    <p:bg>
      <p:bgPr>
        <a:solidFill>
          <a:srgbClr val="FFFFFF"/>
        </a:solidFill>
      </p:bgPr>
    </p:bg>
    <p:spTree>
      <p:nvGrpSpPr>
        <p:cNvPr id="1" name=""/>
        <p:cNvGrpSpPr/>
        <p:nvPr/>
      </p:nvGrpSpPr>
      <p:grpSpPr>
        <a:xfrm>
          <a:off x="0" y="0"/>
          <a:ext cx="0" cy="0"/>
          <a:chOff x="0" y="0"/>
          <a:chExt cx="0" cy="0"/>
        </a:xfrm>
      </p:grpSpPr>
      <p:sp>
        <p:nvSpPr>
          <p:cNvPr id="901" name="Arc TL"/>
          <p:cNvSpPr/>
          <p:nvPr userDrawn="1"/>
        </p:nvSpPr>
        <p:spPr>
          <a:xfrm>
            <a:off x="-609600" y="-609600"/>
            <a:ext cx="1117600" cy="1117600"/>
          </a:xfrm>
          <a:prstGeom prst="ellipse">
            <a:avLst/>
          </a:prstGeom>
          <a:noFill/>
          <a:ln w="114300">
            <a:solidFill>
              <a:srgbClr val="DEDEDF"/>
            </a:solidFill>
          </a:ln>
        </p:spPr>
        <p:txBody>
          <a:bodyPr/>
          <a:lstStyle/>
          <a:p>
            <a:endParaRPr lang="en-US"/>
          </a:p>
        </p:txBody>
      </p:sp>
      <p:sp>
        <p:nvSpPr>
          <p:cNvPr id="902" name="Arc BR"/>
          <p:cNvSpPr/>
          <p:nvPr userDrawn="1"/>
        </p:nvSpPr>
        <p:spPr>
          <a:xfrm>
            <a:off x="11684000" y="6350000"/>
            <a:ext cx="1117600" cy="1117600"/>
          </a:xfrm>
          <a:prstGeom prst="ellipse">
            <a:avLst/>
          </a:prstGeom>
          <a:noFill/>
          <a:ln w="114300">
            <a:solidFill>
              <a:srgbClr val="DEDEDF"/>
            </a:solidFill>
          </a:ln>
        </p:spPr>
        <p:txBody>
          <a:bodyPr/>
          <a:lstStyle/>
          <a:p>
            <a:endParaRPr lang="en-US"/>
          </a:p>
        </p:txBody>
      </p:sp>
      <p:sp>
        <p:nvSpPr>
          <p:cNvPr id="2" name="Text 0"/>
          <p:cNvSpPr/>
          <p:nvPr>
            <p:ph idx="100" type="title" hasCustomPrompt="1"/>
          </p:nvPr>
        </p:nvSpPr>
        <p:spPr>
          <a:xfrm>
            <a:off x="635000" y="406400"/>
            <a:ext cx="10922000" cy="431800"/>
          </a:xfrm>
          <a:prstGeom prst="rect">
            <a:avLst/>
          </a:prstGeom>
          <a:noFill/>
          <a:ln/>
        </p:spPr>
        <p:txBody>
          <a:bodyPr wrap="square" rtlCol="0"/>
          <a:lstStyle>
            <a:lvl1pPr algn="l" indent="0" marL="0">
              <a:buNone/>
              <a:defRPr lang="en-US" sz="2600" b="1" dirty="0">
                <a:solidFill>
                  <a:srgbClr val="23323B"/>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3" name="Text 0"/>
          <p:cNvSpPr/>
          <p:nvPr>
            <p:ph idx="101" type="body" hasCustomPrompt="1"/>
          </p:nvPr>
        </p:nvSpPr>
        <p:spPr>
          <a:xfrm>
            <a:off x="635000" y="889000"/>
            <a:ext cx="10922000" cy="304800"/>
          </a:xfrm>
          <a:prstGeom prst="rect">
            <a:avLst/>
          </a:prstGeom>
          <a:noFill/>
          <a:ln/>
        </p:spPr>
        <p:txBody>
          <a:bodyPr wrap="square" rtlCol="0"/>
          <a:lstStyle>
            <a:lvl1pPr indent="0" marL="0">
              <a:buNone/>
              <a:defRPr lang="en-US" sz="1400" dirty="0">
                <a:solidFill>
                  <a:srgbClr val="404040"/>
                </a:solidFill>
                <a:latin typeface="Arial" pitchFamily="34" charset="0"/>
                <a:ea typeface="Arial" pitchFamily="34" charset="-122"/>
                <a:cs typeface="Arial" pitchFamily="34" charset="-120"/>
              </a:defRPr>
            </a:lvl1pPr>
          </a:lstStyle>
          <a:p>
            <a:pPr indent="0" marL="0">
              <a:buNone/>
            </a:pPr>
            <a:endParaRPr lang="en-US" sz="1400" dirty="0"/>
          </a:p>
        </p:txBody>
      </p:sp>
      <p:sp>
        <p:nvSpPr>
          <p:cNvPr id="25" name="Slide Number Placeholder 0"/>
          <p:cNvSpPr>
            <a:spLocks noGrp="1"/>
          </p:cNvSpPr>
          <p:nvPr>
            <p:ph type="sldNum" sz="quarter" idx="4294967295"/>
          </p:nvPr>
        </p:nvSpPr>
        <p:spPr>
          <a:xfrm>
            <a:off x="10795000" y="6527800"/>
            <a:ext cx="762000" cy="152400"/>
          </a:xfrm>
          <a:prstGeom prst="rect">
            <a:avLst/>
          </a:prstGeom>
          <a:extLst>
            <a:ext uri="{C572A759-6A51-4108-AA02-DFA0A04FC94B}">
              <ma14:wrappingTextBoxFlag xmlns:ma14="http://schemas.microsoft.com/office/mac/drawingml/2011/main" val="0"/>
            </a:ext>
          </a:extLst>
        </p:spPr>
        <p:txBody>
          <a:bodyPr/>
          <a:lstStyle>
            <a:lvl1pPr>
              <a:defRPr sz="900">
                <a:solidFill>
                  <a:srgbClr val="7F7F7F"/>
                </a:solidFill>
              </a:defRPr>
            </a:lvl1pPr>
          </a:lstStyle>
          <a:p>
            <a:pPr algn="r"/>
            <a:fld id="{F7021451-1387-4CA6-816F-3879F97B5CBC}" type="slidenum">
              <a:rPr b="0" lang="en-US"/>
              <a:t>1002</a:t>
            </a:fld>
            <a:endParaRPr lang="en-US"/>
          </a:p>
        </p:txBody>
      </p:sp>
      <p:sp>
        <p:nvSpPr>
          <p:cNvPr id="903" name="Footer"/>
          <p:cNvSpPr txBox="1"/>
          <p:nvPr userDrawn="1"/>
        </p:nvSpPr>
        <p:spPr>
          <a:xfrm>
            <a:off x="635000" y="6527800"/>
            <a:ext cx="3810000" cy="152400"/>
          </a:xfrm>
          <a:prstGeom prst="rect">
            <a:avLst/>
          </a:prstGeom>
          <a:noFill/>
        </p:spPr>
        <p:txBody>
          <a:bodyPr wrap="none" lIns="0" tIns="0" rIns="0" bIns="0" anchor="b"/>
          <a:lstStyle/>
          <a:p>
            <a:pPr algn="l"/>
            <a:r>
              <a:rPr lang="en-US" sz="1000">
                <a:solidFill>
                  <a:srgbClr val="7F7F7F"/>
                </a:solidFill>
                <a:latin typeface="Arial"/>
                <a:ea typeface="Meiryo UI"/>
              </a:rPr>
              <a:t>Budget Guidelines Supplement | IT Budget Transfer Essentials</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0795000" y="6527800"/>
            <a:ext cx="762000" cy="1524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900" u="none" cap="none" strike="noStrike">
                <a:solidFill>
                  <a:srgbClr val="7F7F7F"/>
                </a:solidFill>
                <a:latin typeface="Arial"/>
                <a:ea typeface="Arial"/>
                <a:cs typeface="Arial"/>
                <a:sym typeface="Arial"/>
              </a:defRPr>
            </a:lvl1pPr>
            <a:lvl2pPr indent="0" lvl="1" marL="0" marR="0" rtl="0" algn="r">
              <a:spcBef>
                <a:spcPts val="0"/>
              </a:spcBef>
              <a:buNone/>
              <a:defRPr b="0" i="0" sz="900" u="none" cap="none" strike="noStrike">
                <a:solidFill>
                  <a:srgbClr val="7F7F7F"/>
                </a:solidFill>
                <a:latin typeface="Arial"/>
                <a:ea typeface="Arial"/>
                <a:cs typeface="Arial"/>
                <a:sym typeface="Arial"/>
              </a:defRPr>
            </a:lvl2pPr>
            <a:lvl3pPr indent="0" lvl="2" marL="0" marR="0" rtl="0" algn="r">
              <a:spcBef>
                <a:spcPts val="0"/>
              </a:spcBef>
              <a:buNone/>
              <a:defRPr b="0" i="0" sz="900" u="none" cap="none" strike="noStrike">
                <a:solidFill>
                  <a:srgbClr val="7F7F7F"/>
                </a:solidFill>
                <a:latin typeface="Arial"/>
                <a:ea typeface="Arial"/>
                <a:cs typeface="Arial"/>
                <a:sym typeface="Arial"/>
              </a:defRPr>
            </a:lvl3pPr>
            <a:lvl4pPr indent="0" lvl="3" marL="0" marR="0" rtl="0" algn="r">
              <a:spcBef>
                <a:spcPts val="0"/>
              </a:spcBef>
              <a:buNone/>
              <a:defRPr b="0" i="0" sz="900" u="none" cap="none" strike="noStrike">
                <a:solidFill>
                  <a:srgbClr val="7F7F7F"/>
                </a:solidFill>
                <a:latin typeface="Arial"/>
                <a:ea typeface="Arial"/>
                <a:cs typeface="Arial"/>
                <a:sym typeface="Arial"/>
              </a:defRPr>
            </a:lvl4pPr>
            <a:lvl5pPr indent="0" lvl="4" marL="0" marR="0" rtl="0" algn="r">
              <a:spcBef>
                <a:spcPts val="0"/>
              </a:spcBef>
              <a:buNone/>
              <a:defRPr b="0" i="0" sz="900" u="none" cap="none" strike="noStrike">
                <a:solidFill>
                  <a:srgbClr val="7F7F7F"/>
                </a:solidFill>
                <a:latin typeface="Arial"/>
                <a:ea typeface="Arial"/>
                <a:cs typeface="Arial"/>
                <a:sym typeface="Arial"/>
              </a:defRPr>
            </a:lvl5pPr>
            <a:lvl6pPr indent="0" lvl="5" marL="0" marR="0" rtl="0" algn="r">
              <a:spcBef>
                <a:spcPts val="0"/>
              </a:spcBef>
              <a:buNone/>
              <a:defRPr b="0" i="0" sz="900" u="none" cap="none" strike="noStrike">
                <a:solidFill>
                  <a:srgbClr val="7F7F7F"/>
                </a:solidFill>
                <a:latin typeface="Arial"/>
                <a:ea typeface="Arial"/>
                <a:cs typeface="Arial"/>
                <a:sym typeface="Arial"/>
              </a:defRPr>
            </a:lvl6pPr>
            <a:lvl7pPr indent="0" lvl="6" marL="0" marR="0" rtl="0" algn="r">
              <a:spcBef>
                <a:spcPts val="0"/>
              </a:spcBef>
              <a:buNone/>
              <a:defRPr b="0" i="0" sz="900" u="none" cap="none" strike="noStrike">
                <a:solidFill>
                  <a:srgbClr val="7F7F7F"/>
                </a:solidFill>
                <a:latin typeface="Arial"/>
                <a:ea typeface="Arial"/>
                <a:cs typeface="Arial"/>
                <a:sym typeface="Arial"/>
              </a:defRPr>
            </a:lvl7pPr>
            <a:lvl8pPr indent="0" lvl="7" marL="0" marR="0" rtl="0" algn="r">
              <a:spcBef>
                <a:spcPts val="0"/>
              </a:spcBef>
              <a:buNone/>
              <a:defRPr b="0" i="0" sz="900" u="none" cap="none" strike="noStrike">
                <a:solidFill>
                  <a:srgbClr val="7F7F7F"/>
                </a:solidFill>
                <a:latin typeface="Arial"/>
                <a:ea typeface="Arial"/>
                <a:cs typeface="Arial"/>
                <a:sym typeface="Arial"/>
              </a:defRPr>
            </a:lvl8pPr>
            <a:lvl9pPr indent="0" lvl="8" marL="0" marR="0" rtl="0" algn="r">
              <a:spcBef>
                <a:spcPts val="0"/>
              </a:spcBef>
              <a:buNone/>
              <a:defRPr b="0" i="0" sz="9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5"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ED5604"/>
        </a:solidFill>
        <a:effectLst/>
      </p:bgPr>
    </p:bg>
    <p:spTree>
      <p:nvGrpSpPr>
        <p:cNvPr id="22" name="Shape 22"/>
        <p:cNvGrpSpPr/>
        <p:nvPr/>
      </p:nvGrpSpPr>
      <p:grpSpPr>
        <a:xfrm>
          <a:off x="0" y="0"/>
          <a:ext cx="0" cy="0"/>
          <a:chOff x="0" y="0"/>
          <a:chExt cx="0" cy="0"/>
        </a:xfrm>
      </p:grpSpPr>
      <p:sp>
        <p:nvSpPr>
          <p:cNvPr id="950" name="Cover Arc"/>
          <p:cNvSpPr/>
          <p:nvPr userDrawn="1"/>
        </p:nvSpPr>
        <p:spPr>
          <a:xfrm>
            <a:off x="9017000" y="3937000"/>
            <a:ext cx="6350000" cy="6350000"/>
          </a:xfrm>
          <a:prstGeom prst="ellipse">
            <a:avLst/>
          </a:prstGeom>
          <a:noFill/>
          <a:ln w="381000">
            <a:solidFill>
              <a:srgbClr val="FFFFFF"/>
            </a:solidFill>
          </a:ln>
        </p:spPr>
        <p:txBody>
          <a:bodyPr/>
          <a:lstStyle/>
          <a:p>
            <a:endParaRPr lang="en-US"/>
          </a:p>
        </p:txBody>
      </p:sp>
      <p:sp>
        <p:nvSpPr>
          <p:cNvPr id="23" name="Google Shape;23;p5"/>
          <p:cNvSpPr txBox="1"/>
          <p:nvPr>
            <p:ph type="title"/>
          </p:nvPr>
        </p:nvSpPr>
        <p:spPr>
          <a:xfrm>
            <a:off x="635000" y="2377440"/>
            <a:ext cx="9326880" cy="73152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rgbClr val="FFFFFF"/>
              </a:buClr>
              <a:buSzPts val="3600"/>
              <a:buFont typeface="Arial"/>
              <a:buNone/>
            </a:pPr>
            <a:r>
              <a:rPr b="1" lang="en-US" sz="3000">
                <a:solidFill>
                  <a:srgbClr val="FFFFFF"/>
                </a:solidFill>
              </a:rPr>
              <a:t>IT Department Budget Guidelines: Supplement</a:t>
            </a:r>
            <a:endParaRPr sz="4300" b="1">
              <a:solidFill>
                <a:srgbClr val="FFFFFF"/>
              </a:solidFill>
            </a:endParaRPr>
          </a:p>
        </p:txBody>
      </p:sp>
      <p:sp>
        <p:nvSpPr>
          <p:cNvPr id="24" name="Google Shape;24;p5"/>
          <p:cNvSpPr txBox="1"/>
          <p:nvPr>
            <p:ph idx="1" type="body"/>
          </p:nvPr>
        </p:nvSpPr>
        <p:spPr>
          <a:xfrm>
            <a:off x="635000" y="3611880"/>
            <a:ext cx="8128000" cy="762000"/>
          </a:xfrm>
          <a:prstGeom prst="rect">
            <a:avLst/>
          </a:prstGeom>
          <a:noFill/>
          <a:ln>
            <a:noFill/>
          </a:ln>
        </p:spPr>
        <p:txBody>
          <a:bodyPr anchorCtr="0" anchor="t" bIns="0" lIns="0" spcFirstLastPara="1" rIns="0" wrap="square" tIns="0">
            <a:noAutofit/>
          </a:bodyPr>
          <a:lstStyle/>
          <a:p>
            <a:pPr indent="0" lvl="0" marL="0" rtl="0" algn="l">
              <a:buClr>
                <a:srgbClr val="DDE5F2"/>
              </a:buClr>
              <a:buSzPts val="1600"/>
              <a:buNone/>
              <a:spcAft>
                <a:spcPts val="600"/>
              </a:spcAft>
            </a:pPr>
            <a:r>
              <a:rPr lang="en-US" sz="1800" b="1">
                <a:solidFill>
                  <a:srgbClr val="FFFFFF"/>
                </a:solidFill>
              </a:rPr>
              <a:t>IT Budget Transfer Essentials</a:t>
            </a:r>
            <a:endParaRPr sz="1800" b="1">
              <a:solidFill>
                <a:srgbClr val="FFFFFF"/>
              </a:solidFill>
            </a:endParaRPr>
          </a:p>
          <a:p>
            <a:pPr indent="0" lvl="0" marL="0" rtl="0" algn="l">
              <a:buClr>
                <a:srgbClr val="DDE5F2"/>
              </a:buClr>
              <a:buSzPts val="1600"/>
              <a:buNone/>
              <a:spcAft>
                <a:spcPts val="600"/>
              </a:spcAft>
            </a:pPr>
            <a:r>
              <a:rPr lang="en-US" sz="1800" b="1">
                <a:solidFill>
                  <a:srgbClr val="FFFFFF"/>
                </a:solidFill>
              </a:rPr>
              <a:t>November 2026 Kickoff</a:t>
            </a:r>
            <a:endParaRPr sz="1800" b="1">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ph type="title"/>
          </p:nvPr>
        </p:nvSpPr>
        <p:spPr>
          <a:xfrm>
            <a:off x="635000" y="406400"/>
            <a:ext cx="10922000" cy="431800"/>
          </a:xfrm>
          <a:prstGeom prst="rect">
            <a:avLst/>
          </a:prstGeom>
          <a:noFill/>
          <a:ln>
            <a:noFill/>
          </a:ln>
        </p:spPr>
        <p:txBody>
          <a:bodyPr anchor="t" lIns="0" tIns="0" rIns="0" bIns="0" wrap="square">
            <a:noAutofit/>
          </a:bodyPr>
          <a:lstStyle/>
          <a:p>
            <a:pPr algn="l" marL="0" indent="0">
              <a:buNone/>
            </a:pPr>
            <a:r>
              <a:rPr lang="en-US" sz="2400" b="1">
                <a:solidFill>
                  <a:srgbClr val="23323B"/>
                </a:solidFill>
                <a:latin typeface="Arial"/>
                <a:ea typeface="Arial"/>
                <a:cs typeface="Arial"/>
              </a:rPr>
              <a:t>Where This Document Fits</a:t>
            </a:r>
          </a:p>
        </p:txBody>
      </p:sp>
      <p:sp>
        <p:nvSpPr>
          <p:cNvPr id="4" name="Shape 4"/>
          <p:cNvSpPr txBox="1"/>
          <p:nvPr/>
        </p:nvSpPr>
        <p:spPr>
          <a:xfrm>
            <a:off x="635000" y="889000"/>
            <a:ext cx="10922000" cy="304800"/>
          </a:xfrm>
          <a:prstGeom prst="rect">
            <a:avLst/>
          </a:prstGeom>
          <a:noFill/>
          <a:ln>
            <a:noFill/>
          </a:ln>
        </p:spPr>
        <p:txBody>
          <a:bodyPr wrap="square" lIns="0" tIns="0" rIns="0" bIns="0" anchor="t" rtlCol="0">
            <a:noAutofit/>
          </a:bodyPr>
          <a:lstStyle/>
          <a:p>
            <a:pPr algn="l" marL="0" indent="0">
              <a:spcBef>
                <a:spcPts val="0"/>
              </a:spcBef>
              <a:buNone/>
            </a:pPr>
            <a:r>
              <a:rPr lang="en-US" sz="1600" b="1">
                <a:solidFill>
                  <a:srgbClr val="404040"/>
                </a:solidFill>
                <a:latin typeface="Arial"/>
                <a:ea typeface="Arial"/>
                <a:cs typeface="Arial"/>
              </a:rPr>
              <a:t>Supplements the IT Department Budget Guidelines only where the IT budget transfer needs it</a:t>
            </a:r>
          </a:p>
        </p:txBody>
      </p:sp>
      <p:sp>
        <p:nvSpPr>
          <p:cNvPr id="5" name="Shape 5"/>
          <p:cNvSpPr/>
          <p:nvPr/>
        </p:nvSpPr>
        <p:spPr>
          <a:xfrm>
            <a:off x="2051908" y="1463040"/>
            <a:ext cx="5136291" cy="959122"/>
          </a:xfrm>
          <a:prstGeom prst="rect">
            <a:avLst/>
          </a:prstGeom>
          <a:solidFill>
            <a:srgbClr val="F2F2F2"/>
          </a:solidFill>
          <a:ln w="9525">
            <a:solidFill>
              <a:srgbClr val="D9D9D9"/>
            </a:solidFill>
          </a:ln>
        </p:spPr>
        <p:txBody>
          <a:bodyPr wrap="square" lIns="182880" tIns="182880" rIns="182880" bIns="182880" anchor="ctr" rtlCol="0">
            <a:noAutofit/>
          </a:bodyPr>
          <a:lstStyle/>
          <a:p>
            <a:pPr algn="l" marL="0" indent="0">
              <a:spcBef>
                <a:spcPts val="0"/>
              </a:spcBef>
              <a:buNone/>
            </a:pPr>
            <a:r>
              <a:rPr lang="en-US" sz="1400" b="1">
                <a:solidFill>
                  <a:srgbClr val="23323B"/>
                </a:solidFill>
                <a:latin typeface="Arial"/>
                <a:ea typeface="Arial"/>
                <a:cs typeface="Arial"/>
              </a:rPr>
              <a:t>Company-wide Budgeting Guidelines</a:t>
            </a:r>
          </a:p>
          <a:p>
            <a:pPr algn="l" marL="0" indent="0">
              <a:spcBef>
                <a:spcPts val="0"/>
              </a:spcBef>
              <a:buNone/>
            </a:pPr>
            <a:r>
              <a:rPr lang="en-US" sz="1400" b="0">
                <a:solidFill>
                  <a:srgbClr val="404040"/>
                </a:solidFill>
                <a:latin typeface="Arial"/>
                <a:ea typeface="Arial"/>
                <a:cs typeface="Arial"/>
              </a:rPr>
              <a:t>Company-wide</a:t>
            </a:r>
          </a:p>
        </p:txBody>
      </p:sp>
      <p:sp>
        <p:nvSpPr>
          <p:cNvPr id="6" name="Shape 6"/>
          <p:cNvSpPr txBox="1"/>
          <p:nvPr/>
        </p:nvSpPr>
        <p:spPr>
          <a:xfrm>
            <a:off x="7453870" y="1463040"/>
            <a:ext cx="4102834" cy="959122"/>
          </a:xfrm>
          <a:prstGeom prst="rect">
            <a:avLst/>
          </a:prstGeom>
          <a:noFill/>
          <a:ln>
            <a:noFill/>
          </a:ln>
        </p:spPr>
        <p:txBody>
          <a:bodyPr wrap="square" lIns="0" tIns="0" rIns="0" bIns="0" anchor="ctr" rtlCol="0">
            <a:noAutofit/>
          </a:bodyPr>
          <a:lstStyle/>
          <a:p>
            <a:pPr algn="l" marL="0" indent="0">
              <a:spcBef>
                <a:spcPts val="0"/>
              </a:spcBef>
              <a:buNone/>
            </a:pPr>
            <a:r>
              <a:rPr lang="en-US" sz="1250" b="0">
                <a:solidFill>
                  <a:srgbClr val="000000"/>
                </a:solidFill>
                <a:latin typeface="Arial"/>
                <a:ea typeface="Arial"/>
                <a:cs typeface="Arial"/>
              </a:rPr>
              <a:t>Company-wide budgeting rules. The IT budget transfer was decided here</a:t>
            </a:r>
          </a:p>
        </p:txBody>
      </p:sp>
      <p:sp>
        <p:nvSpPr>
          <p:cNvPr id="7" name="Shape 7"/>
          <p:cNvSpPr/>
          <p:nvPr/>
        </p:nvSpPr>
        <p:spPr>
          <a:xfrm>
            <a:off x="1432010" y="2623122"/>
            <a:ext cx="5756189" cy="959122"/>
          </a:xfrm>
          <a:prstGeom prst="rect">
            <a:avLst/>
          </a:prstGeom>
          <a:solidFill>
            <a:srgbClr val="FEE8DB"/>
          </a:solidFill>
          <a:ln w="9525">
            <a:solidFill>
              <a:srgbClr val="D9D9D9"/>
            </a:solidFill>
          </a:ln>
        </p:spPr>
        <p:txBody>
          <a:bodyPr wrap="square" lIns="182880" tIns="182880" rIns="182880" bIns="182880" anchor="ctr" rtlCol="0">
            <a:noAutofit/>
          </a:bodyPr>
          <a:lstStyle/>
          <a:p>
            <a:pPr algn="l" marL="0" indent="0">
              <a:spcBef>
                <a:spcPts val="0"/>
              </a:spcBef>
              <a:buNone/>
            </a:pPr>
            <a:r>
              <a:rPr lang="en-US" sz="1400" b="1">
                <a:solidFill>
                  <a:srgbClr val="23323B"/>
                </a:solidFill>
                <a:latin typeface="Arial"/>
                <a:ea typeface="Arial"/>
                <a:cs typeface="Arial"/>
              </a:rPr>
              <a:t>IT Department Budget Guidelines</a:t>
            </a:r>
          </a:p>
          <a:p>
            <a:pPr algn="l" marL="0" indent="0">
              <a:spcBef>
                <a:spcPts val="0"/>
              </a:spcBef>
              <a:buNone/>
            </a:pPr>
            <a:r>
              <a:rPr lang="en-US" sz="1400" b="0">
                <a:solidFill>
                  <a:srgbClr val="404040"/>
                </a:solidFill>
                <a:latin typeface="Arial"/>
                <a:ea typeface="Arial"/>
                <a:cs typeface="Arial"/>
              </a:rPr>
              <a:t>GDS</a:t>
            </a:r>
          </a:p>
        </p:txBody>
      </p:sp>
      <p:sp>
        <p:nvSpPr>
          <p:cNvPr id="8" name="Shape 8"/>
          <p:cNvSpPr txBox="1"/>
          <p:nvPr/>
        </p:nvSpPr>
        <p:spPr>
          <a:xfrm>
            <a:off x="7453870" y="2623122"/>
            <a:ext cx="4102834" cy="959122"/>
          </a:xfrm>
          <a:prstGeom prst="rect">
            <a:avLst/>
          </a:prstGeom>
          <a:noFill/>
          <a:ln>
            <a:noFill/>
          </a:ln>
        </p:spPr>
        <p:txBody>
          <a:bodyPr wrap="square" lIns="0" tIns="0" rIns="0" bIns="0" anchor="ctr" rtlCol="0">
            <a:noAutofit/>
          </a:bodyPr>
          <a:lstStyle/>
          <a:p>
            <a:pPr algn="l" marL="0" indent="0">
              <a:spcBef>
                <a:spcPts val="0"/>
              </a:spcBef>
              <a:buNone/>
            </a:pPr>
            <a:r>
              <a:rPr lang="en-US" sz="1250" b="0">
                <a:solidFill>
                  <a:srgbClr val="000000"/>
                </a:solidFill>
                <a:latin typeface="Arial"/>
                <a:ea typeface="Arial"/>
                <a:cs typeface="Arial"/>
              </a:rPr>
              <a:t>GDS budgeting principles and operations</a:t>
            </a:r>
          </a:p>
        </p:txBody>
      </p:sp>
      <p:sp>
        <p:nvSpPr>
          <p:cNvPr id="9" name="Shape 9"/>
          <p:cNvSpPr/>
          <p:nvPr/>
        </p:nvSpPr>
        <p:spPr>
          <a:xfrm>
            <a:off x="812113" y="3783204"/>
            <a:ext cx="6376086" cy="959122"/>
          </a:xfrm>
          <a:prstGeom prst="rect">
            <a:avLst/>
          </a:prstGeom>
          <a:solidFill>
            <a:srgbClr val="FEDCCA"/>
          </a:solidFill>
          <a:ln>
            <a:noFill/>
          </a:ln>
        </p:spPr>
        <p:txBody>
          <a:bodyPr wrap="square" lIns="182880" tIns="182880" rIns="182880" bIns="182880" anchor="ctr" rtlCol="0">
            <a:noAutofit/>
          </a:bodyPr>
          <a:lstStyle/>
          <a:p>
            <a:pPr algn="l" marL="0" indent="0">
              <a:spcBef>
                <a:spcPts val="0"/>
              </a:spcBef>
              <a:buNone/>
            </a:pPr>
            <a:r>
              <a:rPr lang="en-US" sz="1400" b="1">
                <a:solidFill>
                  <a:srgbClr val="23323B"/>
                </a:solidFill>
                <a:latin typeface="Arial"/>
                <a:ea typeface="Arial"/>
                <a:cs typeface="Arial"/>
              </a:rPr>
              <a:t>This document: Supplement (IT Budget Transfer Essentials)</a:t>
            </a:r>
          </a:p>
          <a:p>
            <a:pPr algn="l" marL="0" indent="0">
              <a:spcBef>
                <a:spcPts val="0"/>
              </a:spcBef>
              <a:buNone/>
            </a:pPr>
            <a:r>
              <a:rPr lang="en-US" sz="1400" b="0">
                <a:solidFill>
                  <a:srgbClr val="404040"/>
                </a:solidFill>
                <a:latin typeface="Arial"/>
                <a:ea typeface="Arial"/>
                <a:cs typeface="Arial"/>
              </a:rPr>
              <a:t>GDS teams</a:t>
            </a:r>
          </a:p>
        </p:txBody>
      </p:sp>
      <p:sp>
        <p:nvSpPr>
          <p:cNvPr id="10" name="Shape 10"/>
          <p:cNvSpPr txBox="1"/>
          <p:nvPr/>
        </p:nvSpPr>
        <p:spPr>
          <a:xfrm>
            <a:off x="7453870" y="3783204"/>
            <a:ext cx="4102834" cy="959122"/>
          </a:xfrm>
          <a:prstGeom prst="rect">
            <a:avLst/>
          </a:prstGeom>
          <a:noFill/>
          <a:ln>
            <a:noFill/>
          </a:ln>
        </p:spPr>
        <p:txBody>
          <a:bodyPr wrap="square" lIns="0" tIns="0" rIns="0" bIns="0" anchor="ctr" rtlCol="0">
            <a:noAutofit/>
          </a:bodyPr>
          <a:lstStyle/>
          <a:p>
            <a:pPr algn="l" marL="0" indent="0">
              <a:spcBef>
                <a:spcPts val="0"/>
              </a:spcBef>
              <a:buNone/>
            </a:pPr>
            <a:r>
              <a:rPr lang="en-US" sz="1250" b="0">
                <a:solidFill>
                  <a:srgbClr val="000000"/>
                </a:solidFill>
                <a:latin typeface="Arial"/>
                <a:ea typeface="Arial"/>
                <a:cs typeface="Arial"/>
              </a:rPr>
              <a:t>Transfer policy, approach and role template. Anything beyond the policy is agreed with each Function</a:t>
            </a:r>
          </a:p>
        </p:txBody>
      </p:sp>
      <p:sp>
        <p:nvSpPr>
          <p:cNvPr id="11" name="Shape 11"/>
          <p:cNvSpPr/>
          <p:nvPr/>
        </p:nvSpPr>
        <p:spPr>
          <a:xfrm>
            <a:off x="635000" y="4988958"/>
            <a:ext cx="10921704" cy="1361041"/>
          </a:xfrm>
          <a:prstGeom prst="rect">
            <a:avLst/>
          </a:prstGeom>
          <a:solidFill>
            <a:srgbClr val="F2F2F2"/>
          </a:solidFill>
          <a:ln>
            <a:noFill/>
          </a:ln>
        </p:spPr>
        <p:txBody>
          <a:bodyPr wrap="square" lIns="0" tIns="0" rIns="0" bIns="0" anchor="t" rtlCol="0">
            <a:noAutofit/>
          </a:bodyPr>
          <a:lstStyle/>
          <a:p>
            <a:endParaRPr lang="en-US"/>
          </a:p>
        </p:txBody>
      </p:sp>
      <p:sp>
        <p:nvSpPr>
          <p:cNvPr id="12" name="Shape 12"/>
          <p:cNvSpPr txBox="1"/>
          <p:nvPr/>
        </p:nvSpPr>
        <p:spPr>
          <a:xfrm>
            <a:off x="856391" y="5098572"/>
            <a:ext cx="10449697" cy="328842"/>
          </a:xfrm>
          <a:prstGeom prst="rect">
            <a:avLst/>
          </a:prstGeom>
          <a:noFill/>
          <a:ln>
            <a:noFill/>
          </a:ln>
        </p:spPr>
        <p:txBody>
          <a:bodyPr wrap="square" lIns="0" tIns="0" rIns="0" bIns="0" anchor="ctr" rtlCol="0">
            <a:noAutofit/>
          </a:bodyPr>
          <a:lstStyle/>
          <a:p>
            <a:pPr algn="l" marL="0" indent="0">
              <a:spcBef>
                <a:spcPts val="0"/>
              </a:spcBef>
              <a:buNone/>
            </a:pPr>
            <a:r>
              <a:rPr lang="en-US" sz="1350" b="1">
                <a:solidFill>
                  <a:srgbClr val="23323B"/>
                </a:solidFill>
                <a:latin typeface="Arial"/>
                <a:ea typeface="Arial"/>
                <a:cs typeface="Arial"/>
              </a:rPr>
              <a:t>Rules for using this document</a:t>
            </a:r>
          </a:p>
        </p:txBody>
      </p:sp>
      <p:sp>
        <p:nvSpPr>
          <p:cNvPr id="13" name="Shape 13"/>
          <p:cNvSpPr txBox="1"/>
          <p:nvPr/>
        </p:nvSpPr>
        <p:spPr>
          <a:xfrm>
            <a:off x="856391" y="5445684"/>
            <a:ext cx="10449697" cy="812970"/>
          </a:xfrm>
          <a:prstGeom prst="rect">
            <a:avLst/>
          </a:prstGeom>
          <a:noFill/>
          <a:ln>
            <a:noFill/>
          </a:ln>
        </p:spPr>
        <p:txBody>
          <a:bodyPr wrap="square" lIns="0" tIns="0" rIns="0" bIns="0" anchor="t" rtlCol="0">
            <a:noAutofit/>
          </a:bodyPr>
          <a:lstStyle/>
          <a:p>
            <a:pPr algn="l" marL="171450" indent="-171450">
              <a:spcBef>
                <a:spcPts val="400"/>
              </a:spcBef>
              <a:buFont typeface="Arial"/>
              <a:buChar char="•"/>
            </a:pPr>
            <a:r>
              <a:rPr lang="en-US" sz="1250" b="0">
                <a:solidFill>
                  <a:srgbClr val="000000"/>
                </a:solidFill>
                <a:latin typeface="Arial"/>
                <a:ea typeface="Arial"/>
                <a:cs typeface="Arial"/>
              </a:rPr>
              <a:t>If this document conflicts with the Guidelines, the Guidelines prevail</a:t>
            </a:r>
          </a:p>
          <a:p>
            <a:pPr algn="l" marL="171450" indent="-171450">
              <a:spcBef>
                <a:spcPts val="400"/>
              </a:spcBef>
              <a:buFont typeface="Arial"/>
              <a:buChar char="•"/>
            </a:pPr>
            <a:r>
              <a:rPr lang="en-US" sz="1250" b="0">
                <a:solidFill>
                  <a:srgbClr val="000000"/>
                </a:solidFill>
                <a:latin typeface="Arial"/>
                <a:ea typeface="Arial"/>
                <a:cs typeface="Arial"/>
              </a:rPr>
              <a:t>For GxP work, the SOPs and procedures set by Quality Assurance prevail. Use the roles in this document as a template</a:t>
            </a:r>
          </a:p>
          <a:p>
            <a:pPr algn="l" marL="171450" indent="-171450">
              <a:spcBef>
                <a:spcPts val="400"/>
              </a:spcBef>
              <a:buFont typeface="Arial"/>
              <a:buChar char="•"/>
            </a:pPr>
            <a:r>
              <a:rPr lang="en-US" sz="1250" b="0">
                <a:solidFill>
                  <a:srgbClr val="000000"/>
                </a:solidFill>
                <a:latin typeface="Arial"/>
                <a:ea typeface="Arial"/>
                <a:cs typeface="Arial"/>
              </a:rPr>
              <a:t>Below this document: the charter, runbook and budget transfer sheet. Record agreements in the agreement document</a:t>
            </a:r>
          </a:p>
        </p:txBody>
      </p:sp>
      <p:sp>
        <p:nvSpPr>
          <p:cNvPr id="14" name="Google Shape;45;p6"/>
          <p:cNvSpPr txBox="1"/>
          <p:nvPr>
            <p:ph idx="4294967295" type="sldNum"/>
          </p:nvPr>
        </p:nvSpPr>
        <p:spPr>
          <a:xfrm>
            <a:off x="10795000" y="6527800"/>
            <a:ext cx="762000" cy="15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7F7F7F"/>
                </a:solidFill>
                <a:latin typeface="Arial"/>
                <a:ea typeface="Arial"/>
                <a:cs typeface="Arial"/>
                <a:sym typeface="Arial"/>
              </a:rPr>
              <a:t>‹#›</a:t>
            </a:fld>
            <a:endParaRPr b="0" i="0" sz="1000" u="none" cap="none" strike="noStrike">
              <a:solidFill>
                <a:srgbClr val="7F7F7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txBox="1"/>
          <p:nvPr>
            <p:ph type="title"/>
          </p:nvPr>
        </p:nvSpPr>
        <p:spPr>
          <a:xfrm>
            <a:off x="635000" y="406400"/>
            <a:ext cx="10922000" cy="431800"/>
          </a:xfrm>
          <a:prstGeom prst="rect">
            <a:avLst/>
          </a:prstGeom>
          <a:noFill/>
          <a:ln>
            <a:noFill/>
          </a:ln>
        </p:spPr>
        <p:txBody>
          <a:bodyPr anchor="t" lIns="0" tIns="0" rIns="0" bIns="0" wrap="square">
            <a:noAutofit/>
          </a:bodyPr>
          <a:lstStyle/>
          <a:p>
            <a:pPr algn="l" marL="0" indent="0">
              <a:buNone/>
            </a:pPr>
            <a:r>
              <a:rPr lang="en-US" sz="2400" b="1">
                <a:solidFill>
                  <a:srgbClr val="23323B"/>
                </a:solidFill>
                <a:latin typeface="Arial"/>
                <a:ea typeface="Arial"/>
                <a:cs typeface="Arial"/>
              </a:rPr>
              <a:t>What This Document Covers</a:t>
            </a:r>
          </a:p>
        </p:txBody>
      </p:sp>
      <p:sp>
        <p:nvSpPr>
          <p:cNvPr id="4" name="Shape 4"/>
          <p:cNvSpPr txBox="1"/>
          <p:nvPr/>
        </p:nvSpPr>
        <p:spPr>
          <a:xfrm>
            <a:off x="635000" y="889000"/>
            <a:ext cx="10922000" cy="304800"/>
          </a:xfrm>
          <a:prstGeom prst="rect">
            <a:avLst/>
          </a:prstGeom>
          <a:noFill/>
          <a:ln>
            <a:noFill/>
          </a:ln>
        </p:spPr>
        <p:txBody>
          <a:bodyPr wrap="square" lIns="0" tIns="0" rIns="0" bIns="0" anchor="t" rtlCol="0">
            <a:noAutofit/>
          </a:bodyPr>
          <a:lstStyle/>
          <a:p>
            <a:pPr algn="l" marL="0" indent="0">
              <a:spcBef>
                <a:spcPts val="0"/>
              </a:spcBef>
              <a:buNone/>
            </a:pPr>
            <a:r>
              <a:rPr lang="en-US" sz="1600" b="1">
                <a:solidFill>
                  <a:srgbClr val="404040"/>
                </a:solidFill>
                <a:latin typeface="Arial"/>
                <a:ea typeface="Arial"/>
                <a:cs typeface="Arial"/>
              </a:rPr>
              <a:t>Three things each team needs to know to carry out the budget transfer</a:t>
            </a:r>
          </a:p>
        </p:txBody>
      </p:sp>
      <p:sp>
        <p:nvSpPr>
          <p:cNvPr id="5" name="Shape 5"/>
          <p:cNvSpPr/>
          <p:nvPr/>
        </p:nvSpPr>
        <p:spPr>
          <a:xfrm>
            <a:off x="635000" y="1600200"/>
            <a:ext cx="10921704" cy="1188720"/>
          </a:xfrm>
          <a:prstGeom prst="rect">
            <a:avLst/>
          </a:prstGeom>
          <a:solidFill>
            <a:srgbClr val="F2F2F2"/>
          </a:solidFill>
          <a:ln>
            <a:noFill/>
          </a:ln>
        </p:spPr>
        <p:txBody>
          <a:bodyPr wrap="square" lIns="0" tIns="0" rIns="0" bIns="0" anchor="t" rtlCol="0">
            <a:noAutofit/>
          </a:bodyPr>
          <a:lstStyle/>
          <a:p>
            <a:endParaRPr lang="en-US"/>
          </a:p>
        </p:txBody>
      </p:sp>
      <p:sp>
        <p:nvSpPr>
          <p:cNvPr id="6" name="Shape 6"/>
          <p:cNvSpPr/>
          <p:nvPr/>
        </p:nvSpPr>
        <p:spPr>
          <a:xfrm>
            <a:off x="944948" y="1828800"/>
            <a:ext cx="708454" cy="731520"/>
          </a:xfrm>
          <a:prstGeom prst="ellipse">
            <a:avLst/>
          </a:prstGeom>
          <a:solidFill>
            <a:srgbClr val="ED5604"/>
          </a:solidFill>
          <a:ln>
            <a:noFill/>
          </a:ln>
        </p:spPr>
        <p:txBody>
          <a:bodyPr wrap="square" lIns="0" tIns="0" rIns="0" bIns="0" anchor="ctr" rtlCol="0">
            <a:noAutofit/>
          </a:bodyPr>
          <a:lstStyle/>
          <a:p>
            <a:pPr algn="ctr" marL="0" indent="0">
              <a:spcBef>
                <a:spcPts val="0"/>
              </a:spcBef>
              <a:buNone/>
            </a:pPr>
            <a:r>
              <a:rPr lang="en-US" sz="2600" b="1">
                <a:solidFill>
                  <a:srgbClr val="FFFFFF"/>
                </a:solidFill>
                <a:latin typeface="Arial"/>
                <a:ea typeface="Arial"/>
                <a:cs typeface="Arial"/>
              </a:rPr>
              <a:t>1</a:t>
            </a:r>
          </a:p>
        </p:txBody>
      </p:sp>
      <p:sp>
        <p:nvSpPr>
          <p:cNvPr id="7" name="Shape 7"/>
          <p:cNvSpPr txBox="1"/>
          <p:nvPr/>
        </p:nvSpPr>
        <p:spPr>
          <a:xfrm>
            <a:off x="1963351" y="1755648"/>
            <a:ext cx="7881551" cy="566928"/>
          </a:xfrm>
          <a:prstGeom prst="rect">
            <a:avLst/>
          </a:prstGeom>
          <a:noFill/>
          <a:ln>
            <a:noFill/>
          </a:ln>
        </p:spPr>
        <p:txBody>
          <a:bodyPr wrap="square" lIns="0" tIns="0" rIns="0" bIns="0" anchor="ctr" rtlCol="0">
            <a:noAutofit/>
          </a:bodyPr>
          <a:lstStyle/>
          <a:p>
            <a:pPr algn="l" marL="0" indent="0">
              <a:spcBef>
                <a:spcPts val="0"/>
              </a:spcBef>
              <a:buNone/>
            </a:pPr>
            <a:r>
              <a:rPr lang="en-US" sz="2800" b="1">
                <a:solidFill>
                  <a:srgbClr val="23323B"/>
                </a:solidFill>
                <a:latin typeface="Arial"/>
                <a:ea typeface="Arial"/>
                <a:cs typeface="Arial"/>
              </a:rPr>
              <a:t>Understand this term's goal</a:t>
            </a:r>
          </a:p>
        </p:txBody>
      </p:sp>
      <p:sp>
        <p:nvSpPr>
          <p:cNvPr id="8" name="Shape 8"/>
          <p:cNvSpPr txBox="1"/>
          <p:nvPr/>
        </p:nvSpPr>
        <p:spPr>
          <a:xfrm>
            <a:off x="1963351" y="2313432"/>
            <a:ext cx="7881551" cy="365760"/>
          </a:xfrm>
          <a:prstGeom prst="rect">
            <a:avLst/>
          </a:prstGeom>
          <a:noFill/>
          <a:ln>
            <a:noFill/>
          </a:ln>
        </p:spPr>
        <p:txBody>
          <a:bodyPr wrap="square" lIns="0" tIns="0" rIns="0" bIns="0" anchor="ctr" rtlCol="0">
            <a:noAutofit/>
          </a:bodyPr>
          <a:lstStyle/>
          <a:p>
            <a:pPr algn="l" marL="0" indent="0">
              <a:spcBef>
                <a:spcPts val="0"/>
              </a:spcBef>
              <a:buNone/>
            </a:pPr>
            <a:r>
              <a:rPr lang="en-US" sz="1500" b="0">
                <a:solidFill>
                  <a:srgbClr val="000000"/>
                </a:solidFill>
                <a:latin typeface="Arial"/>
                <a:ea typeface="Arial"/>
                <a:cs typeface="Arial"/>
              </a:rPr>
              <a:t>Transfer approval granted by end of December, and how to get there</a:t>
            </a:r>
          </a:p>
        </p:txBody>
      </p:sp>
      <p:sp>
        <p:nvSpPr>
          <p:cNvPr id="10" name="Shape 10"/>
          <p:cNvSpPr/>
          <p:nvPr/>
        </p:nvSpPr>
        <p:spPr>
          <a:xfrm>
            <a:off x="635000" y="3017520"/>
            <a:ext cx="10921704" cy="1188720"/>
          </a:xfrm>
          <a:prstGeom prst="rect">
            <a:avLst/>
          </a:prstGeom>
          <a:solidFill>
            <a:srgbClr val="F2F2F2"/>
          </a:solidFill>
          <a:ln>
            <a:noFill/>
          </a:ln>
        </p:spPr>
        <p:txBody>
          <a:bodyPr wrap="square" lIns="0" tIns="0" rIns="0" bIns="0" anchor="t" rtlCol="0">
            <a:noAutofit/>
          </a:bodyPr>
          <a:lstStyle/>
          <a:p>
            <a:endParaRPr lang="en-US"/>
          </a:p>
        </p:txBody>
      </p:sp>
      <p:sp>
        <p:nvSpPr>
          <p:cNvPr id="11" name="Shape 11"/>
          <p:cNvSpPr/>
          <p:nvPr/>
        </p:nvSpPr>
        <p:spPr>
          <a:xfrm>
            <a:off x="944948" y="3246120"/>
            <a:ext cx="708454" cy="731520"/>
          </a:xfrm>
          <a:prstGeom prst="ellipse">
            <a:avLst/>
          </a:prstGeom>
          <a:solidFill>
            <a:srgbClr val="ED5604"/>
          </a:solidFill>
          <a:ln>
            <a:noFill/>
          </a:ln>
        </p:spPr>
        <p:txBody>
          <a:bodyPr wrap="square" lIns="0" tIns="0" rIns="0" bIns="0" anchor="ctr" rtlCol="0">
            <a:noAutofit/>
          </a:bodyPr>
          <a:lstStyle/>
          <a:p>
            <a:pPr algn="ctr" marL="0" indent="0">
              <a:spcBef>
                <a:spcPts val="0"/>
              </a:spcBef>
              <a:buNone/>
            </a:pPr>
            <a:r>
              <a:rPr lang="en-US" sz="2600" b="1">
                <a:solidFill>
                  <a:srgbClr val="FFFFFF"/>
                </a:solidFill>
                <a:latin typeface="Arial"/>
                <a:ea typeface="Arial"/>
                <a:cs typeface="Arial"/>
              </a:rPr>
              <a:t>2</a:t>
            </a:r>
          </a:p>
        </p:txBody>
      </p:sp>
      <p:sp>
        <p:nvSpPr>
          <p:cNvPr id="12" name="Shape 12"/>
          <p:cNvSpPr txBox="1"/>
          <p:nvPr/>
        </p:nvSpPr>
        <p:spPr>
          <a:xfrm>
            <a:off x="1963351" y="3172968"/>
            <a:ext cx="7881551" cy="566928"/>
          </a:xfrm>
          <a:prstGeom prst="rect">
            <a:avLst/>
          </a:prstGeom>
          <a:noFill/>
          <a:ln>
            <a:noFill/>
          </a:ln>
        </p:spPr>
        <p:txBody>
          <a:bodyPr wrap="square" lIns="0" tIns="0" rIns="0" bIns="0" anchor="ctr" rtlCol="0">
            <a:noAutofit/>
          </a:bodyPr>
          <a:lstStyle/>
          <a:p>
            <a:pPr algn="l" marL="0" indent="0">
              <a:spcBef>
                <a:spcPts val="0"/>
              </a:spcBef>
              <a:buNone/>
            </a:pPr>
            <a:r>
              <a:rPr lang="en-US" sz="2800" b="1">
                <a:solidFill>
                  <a:srgbClr val="23323B"/>
                </a:solidFill>
                <a:latin typeface="Arial"/>
                <a:ea typeface="Arial"/>
                <a:cs typeface="Arial"/>
              </a:rPr>
              <a:t>Changes in roles after the transfer</a:t>
            </a:r>
          </a:p>
        </p:txBody>
      </p:sp>
      <p:sp>
        <p:nvSpPr>
          <p:cNvPr id="13" name="Shape 13"/>
          <p:cNvSpPr txBox="1"/>
          <p:nvPr/>
        </p:nvSpPr>
        <p:spPr>
          <a:xfrm>
            <a:off x="1963351" y="3730752"/>
            <a:ext cx="7881551" cy="365760"/>
          </a:xfrm>
          <a:prstGeom prst="rect">
            <a:avLst/>
          </a:prstGeom>
          <a:noFill/>
          <a:ln>
            <a:noFill/>
          </a:ln>
        </p:spPr>
        <p:txBody>
          <a:bodyPr wrap="square" lIns="0" tIns="0" rIns="0" bIns="0" anchor="ctr" rtlCol="0">
            <a:noAutofit/>
          </a:bodyPr>
          <a:lstStyle/>
          <a:p>
            <a:pPr algn="l" marL="0" indent="0">
              <a:spcBef>
                <a:spcPts val="0"/>
              </a:spcBef>
              <a:buNone/>
            </a:pPr>
            <a:r>
              <a:rPr lang="en-US" sz="1500" b="0">
                <a:solidFill>
                  <a:srgbClr val="000000"/>
                </a:solidFill>
                <a:latin typeface="Arial"/>
                <a:ea typeface="Arial"/>
                <a:cs typeface="Arial"/>
              </a:rPr>
              <a:t>Division of roles between the Functions and GDS (RACI)</a:t>
            </a:r>
          </a:p>
        </p:txBody>
      </p:sp>
      <p:sp>
        <p:nvSpPr>
          <p:cNvPr id="15" name="Shape 15"/>
          <p:cNvSpPr/>
          <p:nvPr/>
        </p:nvSpPr>
        <p:spPr>
          <a:xfrm>
            <a:off x="635000" y="4434840"/>
            <a:ext cx="10921704" cy="1188720"/>
          </a:xfrm>
          <a:prstGeom prst="rect">
            <a:avLst/>
          </a:prstGeom>
          <a:solidFill>
            <a:srgbClr val="F2F2F2"/>
          </a:solidFill>
          <a:ln>
            <a:noFill/>
          </a:ln>
        </p:spPr>
        <p:txBody>
          <a:bodyPr wrap="square" lIns="0" tIns="0" rIns="0" bIns="0" anchor="t" rtlCol="0">
            <a:noAutofit/>
          </a:bodyPr>
          <a:lstStyle/>
          <a:p>
            <a:endParaRPr lang="en-US"/>
          </a:p>
        </p:txBody>
      </p:sp>
      <p:sp>
        <p:nvSpPr>
          <p:cNvPr id="16" name="Shape 16"/>
          <p:cNvSpPr/>
          <p:nvPr/>
        </p:nvSpPr>
        <p:spPr>
          <a:xfrm>
            <a:off x="944948" y="4663440"/>
            <a:ext cx="708454" cy="731520"/>
          </a:xfrm>
          <a:prstGeom prst="ellipse">
            <a:avLst/>
          </a:prstGeom>
          <a:solidFill>
            <a:srgbClr val="ED5604"/>
          </a:solidFill>
          <a:ln>
            <a:noFill/>
          </a:ln>
        </p:spPr>
        <p:txBody>
          <a:bodyPr wrap="square" lIns="0" tIns="0" rIns="0" bIns="0" anchor="ctr" rtlCol="0">
            <a:noAutofit/>
          </a:bodyPr>
          <a:lstStyle/>
          <a:p>
            <a:pPr algn="ctr" marL="0" indent="0">
              <a:spcBef>
                <a:spcPts val="0"/>
              </a:spcBef>
              <a:buNone/>
            </a:pPr>
            <a:r>
              <a:rPr lang="en-US" sz="2600" b="1">
                <a:solidFill>
                  <a:srgbClr val="FFFFFF"/>
                </a:solidFill>
                <a:latin typeface="Arial"/>
                <a:ea typeface="Arial"/>
                <a:cs typeface="Arial"/>
              </a:rPr>
              <a:t>3</a:t>
            </a:r>
          </a:p>
        </p:txBody>
      </p:sp>
      <p:sp>
        <p:nvSpPr>
          <p:cNvPr id="17" name="Shape 17"/>
          <p:cNvSpPr txBox="1"/>
          <p:nvPr/>
        </p:nvSpPr>
        <p:spPr>
          <a:xfrm>
            <a:off x="1963351" y="4590288"/>
            <a:ext cx="7881551" cy="566928"/>
          </a:xfrm>
          <a:prstGeom prst="rect">
            <a:avLst/>
          </a:prstGeom>
          <a:noFill/>
          <a:ln>
            <a:noFill/>
          </a:ln>
        </p:spPr>
        <p:txBody>
          <a:bodyPr wrap="square" lIns="0" tIns="0" rIns="0" bIns="0" anchor="ctr" rtlCol="0">
            <a:noAutofit/>
          </a:bodyPr>
          <a:lstStyle/>
          <a:p>
            <a:pPr algn="l" marL="0" indent="0">
              <a:spcBef>
                <a:spcPts val="0"/>
              </a:spcBef>
              <a:buNone/>
            </a:pPr>
            <a:r>
              <a:rPr lang="en-US" sz="2800" b="1">
                <a:solidFill>
                  <a:srgbClr val="23323B"/>
                </a:solidFill>
                <a:latin typeface="Arial"/>
                <a:ea typeface="Arial"/>
                <a:cs typeface="Arial"/>
              </a:rPr>
              <a:t>IT asset management</a:t>
            </a:r>
          </a:p>
        </p:txBody>
      </p:sp>
      <p:sp>
        <p:nvSpPr>
          <p:cNvPr id="18" name="Shape 18"/>
          <p:cNvSpPr txBox="1"/>
          <p:nvPr/>
        </p:nvSpPr>
        <p:spPr>
          <a:xfrm>
            <a:off x="1963351" y="5148072"/>
            <a:ext cx="7881551" cy="365760"/>
          </a:xfrm>
          <a:prstGeom prst="rect">
            <a:avLst/>
          </a:prstGeom>
          <a:noFill/>
          <a:ln>
            <a:noFill/>
          </a:ln>
        </p:spPr>
        <p:txBody>
          <a:bodyPr wrap="square" lIns="0" tIns="0" rIns="0" bIns="0" anchor="ctr" rtlCol="0">
            <a:noAutofit/>
          </a:bodyPr>
          <a:lstStyle/>
          <a:p>
            <a:pPr algn="l" marL="0" indent="0">
              <a:spcBef>
                <a:spcPts val="0"/>
              </a:spcBef>
              <a:buNone/>
            </a:pPr>
            <a:r>
              <a:rPr lang="en-US" sz="1500" b="0">
                <a:solidFill>
                  <a:srgbClr val="000000"/>
                </a:solidFill>
                <a:latin typeface="Arial"/>
                <a:ea typeface="Arial"/>
                <a:cs typeface="Arial"/>
              </a:rPr>
              <a:t>Ownership of fixed assets and depreciation (held by GDS, which holds the budget)</a:t>
            </a:r>
          </a:p>
        </p:txBody>
      </p:sp>
      <p:sp>
        <p:nvSpPr>
          <p:cNvPr id="21" name="Google Shape;45;p6"/>
          <p:cNvSpPr txBox="1"/>
          <p:nvPr>
            <p:ph idx="4294967295" type="sldNum"/>
          </p:nvPr>
        </p:nvSpPr>
        <p:spPr>
          <a:xfrm>
            <a:off x="10795000" y="6527800"/>
            <a:ext cx="762000" cy="15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7F7F7F"/>
                </a:solidFill>
                <a:latin typeface="Arial"/>
                <a:ea typeface="Arial"/>
                <a:cs typeface="Arial"/>
                <a:sym typeface="Arial"/>
              </a:rPr>
              <a:t>‹#›</a:t>
            </a:fld>
            <a:endParaRPr b="0" i="0" sz="1000" u="none" cap="none" strike="noStrike">
              <a:solidFill>
                <a:srgbClr val="7F7F7F"/>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7"/>
          <p:cNvSpPr txBox="1"/>
          <p:nvPr>
            <p:ph type="title"/>
          </p:nvPr>
        </p:nvSpPr>
        <p:spPr>
          <a:xfrm>
            <a:off x="635000" y="406400"/>
            <a:ext cx="10922000" cy="4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3323B"/>
              </a:buClr>
              <a:buSzPts val="2600"/>
              <a:buFont typeface="Arial"/>
              <a:buNone/>
            </a:pPr>
            <a:r>
              <a:rPr b="1" lang="en-US" sz="2400">
                <a:solidFill>
                  <a:srgbClr val="23323B"/>
                </a:solidFill>
              </a:rPr>
              <a:t>This Term's Goal</a:t>
            </a:r>
            <a:endParaRPr sz="2400" b="1">
              <a:solidFill>
                <a:srgbClr val="23323B"/>
              </a:solidFill>
            </a:endParaRPr>
          </a:p>
        </p:txBody>
      </p:sp>
      <p:sp>
        <p:nvSpPr>
          <p:cNvPr id="67" name="Google Shape;67;p7"/>
          <p:cNvSpPr txBox="1"/>
          <p:nvPr>
            <p:ph idx="4294967295" type="sldNum"/>
          </p:nvPr>
        </p:nvSpPr>
        <p:spPr>
          <a:xfrm>
            <a:off x="10795000" y="6527800"/>
            <a:ext cx="762000" cy="15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7F7F7F"/>
                </a:solidFill>
                <a:latin typeface="Arial"/>
                <a:ea typeface="Arial"/>
                <a:cs typeface="Arial"/>
                <a:sym typeface="Arial"/>
              </a:rPr>
              <a:t>‹#›</a:t>
            </a:fld>
            <a:endParaRPr b="0" i="0" sz="1000" u="none" cap="none" strike="noStrike">
              <a:solidFill>
                <a:srgbClr val="7F7F7F"/>
              </a:solidFill>
              <a:latin typeface="Arial"/>
              <a:ea typeface="Arial"/>
              <a:cs typeface="Arial"/>
              <a:sym typeface="Arial"/>
            </a:endParaRPr>
          </a:p>
        </p:txBody>
      </p:sp>
      <p:sp>
        <p:nvSpPr>
          <p:cNvPr id="68" name="TextBox 67"/>
          <p:cNvSpPr txBox="1"/>
          <p:nvPr/>
        </p:nvSpPr>
        <p:spPr>
          <a:xfrm>
            <a:off x="630936" y="886968"/>
            <a:ext cx="10917936" cy="283464"/>
          </a:xfrm>
          <a:prstGeom prst="rect">
            <a:avLst/>
          </a:prstGeom>
          <a:noFill/>
        </p:spPr>
        <p:txBody>
          <a:bodyPr wrap="square" lIns="0" rIns="0" tIns="0" bIns="0" anchor="t">
            <a:spAutoFit/>
          </a:bodyPr>
          <a:lstStyle/>
          <a:p>
            <a:pPr algn="l"/>
            <a:r>
              <a:rPr sz="1400" b="1">
                <a:solidFill>
                  <a:srgbClr val="404040"/>
                </a:solidFill>
                <a:latin typeface="Arial"/>
                <a:ea typeface="Arial"/>
              </a:rPr>
              <a:t>This term we aim for approval by end of December. Creating value from the transfer will be considered next term</a:t>
            </a:r>
          </a:p>
        </p:txBody>
      </p:sp>
      <p:sp>
        <p:nvSpPr>
          <p:cNvPr id="69" name="premise"/>
          <p:cNvSpPr/>
          <p:nvPr/>
        </p:nvSpPr>
        <p:spPr>
          <a:xfrm>
            <a:off x="630936" y="1417320"/>
            <a:ext cx="3017520" cy="3063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22960" y="1554480"/>
            <a:ext cx="2651760" cy="320040"/>
          </a:xfrm>
          <a:prstGeom prst="rect">
            <a:avLst/>
          </a:prstGeom>
          <a:noFill/>
        </p:spPr>
        <p:txBody>
          <a:bodyPr wrap="square" lIns="0" rIns="0" tIns="0" bIns="0" anchor="t">
            <a:spAutoFit/>
          </a:bodyPr>
          <a:lstStyle/>
          <a:p>
            <a:pPr algn="l"/>
            <a:r>
              <a:rPr sz="1500" b="1">
                <a:solidFill>
                  <a:srgbClr val="23323B"/>
                </a:solidFill>
                <a:latin typeface="Arial"/>
                <a:ea typeface="Arial"/>
              </a:rPr>
              <a:t>Premises</a:t>
            </a:r>
          </a:p>
        </p:txBody>
      </p:sp>
      <p:sp>
        <p:nvSpPr>
          <p:cNvPr id="71" name="TextBox 70"/>
          <p:cNvSpPr txBox="1"/>
          <p:nvPr/>
        </p:nvSpPr>
        <p:spPr>
          <a:xfrm>
            <a:off x="822960" y="1892807"/>
            <a:ext cx="2651760" cy="228600"/>
          </a:xfrm>
          <a:prstGeom prst="rect">
            <a:avLst/>
          </a:prstGeom>
          <a:noFill/>
        </p:spPr>
        <p:txBody>
          <a:bodyPr wrap="square" lIns="0" rIns="0" tIns="0" bIns="0" anchor="t">
            <a:spAutoFit/>
          </a:bodyPr>
          <a:lstStyle/>
          <a:p>
            <a:pPr algn="l"/>
            <a:r>
              <a:rPr sz="1050" b="1">
                <a:solidFill>
                  <a:srgbClr val="7F7F7F"/>
                </a:solidFill>
                <a:latin typeface="Arial"/>
                <a:ea typeface="Arial"/>
              </a:rPr>
              <a:t>Decided as company-wide policy</a:t>
            </a:r>
          </a:p>
        </p:txBody>
      </p:sp>
      <p:sp>
        <p:nvSpPr>
          <p:cNvPr id="72" name="TextBox 71"/>
          <p:cNvSpPr txBox="1"/>
          <p:nvPr/>
        </p:nvSpPr>
        <p:spPr>
          <a:xfrm>
            <a:off x="822960" y="2240280"/>
            <a:ext cx="2651760" cy="2103120"/>
          </a:xfrm>
          <a:prstGeom prst="rect">
            <a:avLst/>
          </a:prstGeom>
          <a:noFill/>
        </p:spPr>
        <p:txBody>
          <a:bodyPr wrap="square" lIns="0" rIns="0" tIns="0" bIns="0" anchor="t">
            <a:spAutoFit/>
          </a:bodyPr>
          <a:lstStyle/>
          <a:p>
            <a:pPr algn="l" marL="171450" indent="-171450">
              <a:spcAft>
                <a:spcPts val="600"/>
              </a:spcAft>
              <a:buChar char="•"/>
            </a:pPr>
            <a:r>
              <a:rPr sz="1100" b="0">
                <a:solidFill>
                  <a:srgbClr val="23323B"/>
                </a:solidFill>
                <a:latin typeface="Arial"/>
                <a:ea typeface="Arial"/>
              </a:rPr>
              <a:t>Decided by management and stated in the company-wide budgeting guidelines</a:t>
            </a:r>
          </a:p>
          <a:p>
            <a:pPr algn="l" marL="171450" indent="-171450">
              <a:spcAft>
                <a:spcPts val="600"/>
              </a:spcAft>
              <a:buChar char="•"/>
            </a:pPr>
            <a:r>
              <a:rPr sz="1100" b="0">
                <a:solidFill>
                  <a:srgbClr val="23323B"/>
                </a:solidFill>
                <a:latin typeface="Arial"/>
                <a:ea typeface="Arial"/>
              </a:rPr>
              <a:t>Covers all departments except Sales (incl. HR, GA and Finance). All have been informed</a:t>
            </a:r>
          </a:p>
          <a:p>
            <a:pPr algn="l" marL="171450" indent="-171450">
              <a:spcAft>
                <a:spcPts val="600"/>
              </a:spcAft>
              <a:buChar char="•"/>
            </a:pPr>
            <a:r>
              <a:rPr sz="1100" b="0">
                <a:solidFill>
                  <a:srgbClr val="23323B"/>
                </a:solidFill>
                <a:latin typeface="Arial"/>
                <a:ea typeface="Arial"/>
              </a:rPr>
              <a:t>Scope: budgets, contracts and admin work for business applications and related tools</a:t>
            </a:r>
          </a:p>
        </p:txBody>
      </p:sp>
      <p:sp>
        <p:nvSpPr>
          <p:cNvPr id="73" name="policy"/>
          <p:cNvSpPr/>
          <p:nvPr/>
        </p:nvSpPr>
        <p:spPr>
          <a:xfrm>
            <a:off x="3831336" y="1417320"/>
            <a:ext cx="7717536" cy="3063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023360" y="1554480"/>
            <a:ext cx="1828800" cy="320040"/>
          </a:xfrm>
          <a:prstGeom prst="rect">
            <a:avLst/>
          </a:prstGeom>
          <a:noFill/>
        </p:spPr>
        <p:txBody>
          <a:bodyPr wrap="square" lIns="0" rIns="0" tIns="0" bIns="0" anchor="t">
            <a:spAutoFit/>
          </a:bodyPr>
          <a:lstStyle/>
          <a:p>
            <a:pPr algn="l"/>
            <a:r>
              <a:rPr sz="1500" b="1">
                <a:solidFill>
                  <a:srgbClr val="23323B"/>
                </a:solidFill>
                <a:latin typeface="Arial"/>
                <a:ea typeface="Arial"/>
              </a:rPr>
              <a:t>Policy</a:t>
            </a:r>
          </a:p>
        </p:txBody>
      </p:sp>
      <p:sp>
        <p:nvSpPr>
          <p:cNvPr id="75" name="TextBox 74"/>
          <p:cNvSpPr txBox="1"/>
          <p:nvPr/>
        </p:nvSpPr>
        <p:spPr>
          <a:xfrm>
            <a:off x="4023360" y="1892807"/>
            <a:ext cx="5486400" cy="228600"/>
          </a:xfrm>
          <a:prstGeom prst="rect">
            <a:avLst/>
          </a:prstGeom>
          <a:noFill/>
        </p:spPr>
        <p:txBody>
          <a:bodyPr wrap="square" lIns="0" rIns="0" tIns="0" bIns="0" anchor="t">
            <a:spAutoFit/>
          </a:bodyPr>
          <a:lstStyle/>
          <a:p>
            <a:pPr algn="l"/>
            <a:r>
              <a:rPr sz="1050" b="1">
                <a:solidFill>
                  <a:srgbClr val="7F7F7F"/>
                </a:solidFill>
                <a:latin typeface="Arial"/>
                <a:ea typeface="Arial"/>
              </a:rPr>
              <a:t>Budgets fall into three groups by timing</a:t>
            </a:r>
          </a:p>
        </p:txBody>
      </p:sp>
      <p:sp>
        <p:nvSpPr>
          <p:cNvPr id="76" name="policy-1"/>
          <p:cNvSpPr/>
          <p:nvPr/>
        </p:nvSpPr>
        <p:spPr>
          <a:xfrm>
            <a:off x="4023360" y="2240280"/>
            <a:ext cx="2322575" cy="132588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151376" y="2331720"/>
            <a:ext cx="2066543" cy="274320"/>
          </a:xfrm>
          <a:prstGeom prst="rect">
            <a:avLst/>
          </a:prstGeom>
          <a:noFill/>
        </p:spPr>
        <p:txBody>
          <a:bodyPr wrap="square" lIns="0" rIns="0" tIns="0" bIns="0" anchor="t">
            <a:spAutoFit/>
          </a:bodyPr>
          <a:lstStyle/>
          <a:p>
            <a:pPr algn="l"/>
            <a:r>
              <a:rPr sz="1100" b="1">
                <a:solidFill>
                  <a:srgbClr val="23323B"/>
                </a:solidFill>
                <a:latin typeface="Arial"/>
                <a:ea typeface="Arial"/>
              </a:rPr>
              <a:t>Move together on Jan 1, 2027</a:t>
            </a:r>
          </a:p>
        </p:txBody>
      </p:sp>
      <p:sp>
        <p:nvSpPr>
          <p:cNvPr id="78" name="TextBox 77"/>
          <p:cNvSpPr txBox="1"/>
          <p:nvPr/>
        </p:nvSpPr>
        <p:spPr>
          <a:xfrm>
            <a:off x="4151376" y="2651760"/>
            <a:ext cx="2066543" cy="868680"/>
          </a:xfrm>
          <a:prstGeom prst="rect">
            <a:avLst/>
          </a:prstGeom>
          <a:noFill/>
        </p:spPr>
        <p:txBody>
          <a:bodyPr wrap="square" lIns="0" rIns="0" tIns="0" bIns="0" anchor="t">
            <a:spAutoFit/>
          </a:bodyPr>
          <a:lstStyle/>
          <a:p>
            <a:pPr algn="l"/>
            <a:r>
              <a:rPr sz="1000" b="0">
                <a:solidFill>
                  <a:srgbClr val="404040"/>
                </a:solidFill>
                <a:latin typeface="Arial"/>
                <a:ea typeface="Arial"/>
              </a:rPr>
              <a:t>Operating expense budgets (maintenance, licenses, cloud fees, outsourcing)</a:t>
            </a:r>
          </a:p>
        </p:txBody>
      </p:sp>
      <p:cxnSp>
        <p:nvCxnSpPr>
          <p:cNvPr id="79" name="Connector 78"/>
          <p:cNvCxnSpPr/>
          <p:nvPr/>
        </p:nvCxnSpPr>
        <p:spPr>
          <a:xfrm>
            <a:off x="5184648" y="3566160"/>
            <a:ext cx="0" cy="32004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policy-2"/>
          <p:cNvSpPr/>
          <p:nvPr/>
        </p:nvSpPr>
        <p:spPr>
          <a:xfrm>
            <a:off x="6528816" y="2240280"/>
            <a:ext cx="2322575" cy="132588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656832" y="2331720"/>
            <a:ext cx="2066543" cy="274320"/>
          </a:xfrm>
          <a:prstGeom prst="rect">
            <a:avLst/>
          </a:prstGeom>
          <a:noFill/>
        </p:spPr>
        <p:txBody>
          <a:bodyPr wrap="square" lIns="0" rIns="0" tIns="0" bIns="0" anchor="t">
            <a:spAutoFit/>
          </a:bodyPr>
          <a:lstStyle/>
          <a:p>
            <a:pPr algn="l"/>
            <a:r>
              <a:rPr sz="1100" b="1">
                <a:solidFill>
                  <a:srgbClr val="23323B"/>
                </a:solidFill>
                <a:latin typeface="Arial"/>
                <a:ea typeface="Arial"/>
              </a:rPr>
              <a:t>Held by GDS from next FY</a:t>
            </a:r>
          </a:p>
        </p:txBody>
      </p:sp>
      <p:sp>
        <p:nvSpPr>
          <p:cNvPr id="82" name="TextBox 81"/>
          <p:cNvSpPr txBox="1"/>
          <p:nvPr/>
        </p:nvSpPr>
        <p:spPr>
          <a:xfrm>
            <a:off x="6656832" y="2651760"/>
            <a:ext cx="2066543" cy="868680"/>
          </a:xfrm>
          <a:prstGeom prst="rect">
            <a:avLst/>
          </a:prstGeom>
          <a:noFill/>
        </p:spPr>
        <p:txBody>
          <a:bodyPr wrap="square" lIns="0" rIns="0" tIns="0" bIns="0" anchor="t">
            <a:spAutoFit/>
          </a:bodyPr>
          <a:lstStyle/>
          <a:p>
            <a:pPr algn="l"/>
            <a:r>
              <a:rPr sz="1000" b="0">
                <a:solidFill>
                  <a:srgbClr val="404040"/>
                </a:solidFill>
                <a:latin typeface="Arial"/>
                <a:ea typeface="Arial"/>
              </a:rPr>
              <a:t>Budgets for IT investment projects starting next year</a:t>
            </a:r>
          </a:p>
        </p:txBody>
      </p:sp>
      <p:cxnSp>
        <p:nvCxnSpPr>
          <p:cNvPr id="83" name="Connector 82"/>
          <p:cNvCxnSpPr/>
          <p:nvPr/>
        </p:nvCxnSpPr>
        <p:spPr>
          <a:xfrm>
            <a:off x="7690104" y="3566160"/>
            <a:ext cx="0" cy="32004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4" name="policy-3"/>
          <p:cNvSpPr/>
          <p:nvPr/>
        </p:nvSpPr>
        <p:spPr>
          <a:xfrm>
            <a:off x="9034272" y="2240280"/>
            <a:ext cx="2322575" cy="132588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62288" y="2331720"/>
            <a:ext cx="2066543" cy="274320"/>
          </a:xfrm>
          <a:prstGeom prst="rect">
            <a:avLst/>
          </a:prstGeom>
          <a:noFill/>
        </p:spPr>
        <p:txBody>
          <a:bodyPr wrap="square" lIns="0" rIns="0" tIns="0" bIns="0" anchor="t">
            <a:spAutoFit/>
          </a:bodyPr>
          <a:lstStyle/>
          <a:p>
            <a:pPr algn="l"/>
            <a:r>
              <a:rPr sz="1100" b="1">
                <a:solidFill>
                  <a:srgbClr val="23323B"/>
                </a:solidFill>
                <a:latin typeface="Arial"/>
                <a:ea typeface="Arial"/>
              </a:rPr>
              <a:t>Timing agreed case by case</a:t>
            </a:r>
          </a:p>
        </p:txBody>
      </p:sp>
      <p:sp>
        <p:nvSpPr>
          <p:cNvPr id="86" name="TextBox 85"/>
          <p:cNvSpPr txBox="1"/>
          <p:nvPr/>
        </p:nvSpPr>
        <p:spPr>
          <a:xfrm>
            <a:off x="9162288" y="2651760"/>
            <a:ext cx="2066543" cy="868680"/>
          </a:xfrm>
          <a:prstGeom prst="rect">
            <a:avLst/>
          </a:prstGeom>
          <a:noFill/>
        </p:spPr>
        <p:txBody>
          <a:bodyPr wrap="square" lIns="0" rIns="0" tIns="0" bIns="0" anchor="t">
            <a:spAutoFit/>
          </a:bodyPr>
          <a:lstStyle/>
          <a:p>
            <a:pPr algn="l"/>
            <a:r>
              <a:rPr sz="1000" b="0">
                <a:solidFill>
                  <a:srgbClr val="404040"/>
                </a:solidFill>
                <a:latin typeface="Arial"/>
                <a:ea typeface="Arial"/>
              </a:rPr>
              <a:t>IT investment projects continuing from this year (acquired assets, CIP, started work). Confirm with Finance (slide 7)</a:t>
            </a:r>
          </a:p>
        </p:txBody>
      </p:sp>
      <p:cxnSp>
        <p:nvCxnSpPr>
          <p:cNvPr id="87" name="Connector 86"/>
          <p:cNvCxnSpPr/>
          <p:nvPr/>
        </p:nvCxnSpPr>
        <p:spPr>
          <a:xfrm>
            <a:off x="10195559" y="3566160"/>
            <a:ext cx="0" cy="32004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8" name="policy-gds"/>
          <p:cNvSpPr/>
          <p:nvPr/>
        </p:nvSpPr>
        <p:spPr>
          <a:xfrm>
            <a:off x="4023360" y="3886200"/>
            <a:ext cx="7333488" cy="384048"/>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023360" y="3886200"/>
            <a:ext cx="7333488" cy="384048"/>
          </a:xfrm>
          <a:prstGeom prst="rect">
            <a:avLst/>
          </a:prstGeom>
          <a:noFill/>
        </p:spPr>
        <p:txBody>
          <a:bodyPr wrap="square" lIns="0" rIns="0" tIns="0" bIns="0" anchor="ctr">
            <a:spAutoFit/>
          </a:bodyPr>
          <a:lstStyle/>
          <a:p>
            <a:pPr algn="ctr"/>
            <a:r>
              <a:rPr sz="1300" b="1">
                <a:solidFill>
                  <a:srgbClr val="FFFFFF"/>
                </a:solidFill>
                <a:latin typeface="Arial"/>
                <a:ea typeface="Arial"/>
              </a:rPr>
              <a:t>GDS</a:t>
            </a:r>
          </a:p>
        </p:txBody>
      </p:sp>
      <p:sp>
        <p:nvSpPr>
          <p:cNvPr id="90" name="post-transfer"/>
          <p:cNvSpPr/>
          <p:nvPr/>
        </p:nvSpPr>
        <p:spPr>
          <a:xfrm>
            <a:off x="630936" y="4617720"/>
            <a:ext cx="10917936" cy="8229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22960" y="4709160"/>
            <a:ext cx="2377440" cy="640080"/>
          </a:xfrm>
          <a:prstGeom prst="rect">
            <a:avLst/>
          </a:prstGeom>
          <a:noFill/>
        </p:spPr>
        <p:txBody>
          <a:bodyPr wrap="square" lIns="0" rIns="0" tIns="0" bIns="0" anchor="ctr">
            <a:spAutoFit/>
          </a:bodyPr>
          <a:lstStyle/>
          <a:p>
            <a:pPr algn="l"/>
            <a:r>
              <a:rPr sz="1200" b="1">
                <a:solidFill>
                  <a:srgbClr val="23323B"/>
                </a:solidFill>
                <a:latin typeface="Arial"/>
                <a:ea typeface="Arial"/>
              </a:rPr>
              <a:t>After the transfer,</a:t>
            </a:r>
          </a:p>
          <a:p>
            <a:pPr algn="l"/>
            <a:r>
              <a:rPr sz="1200" b="1">
                <a:solidFill>
                  <a:srgbClr val="23323B"/>
                </a:solidFill>
                <a:latin typeface="Arial"/>
                <a:ea typeface="Arial"/>
              </a:rPr>
              <a:t>handle step by step</a:t>
            </a:r>
          </a:p>
        </p:txBody>
      </p:sp>
      <p:sp>
        <p:nvSpPr>
          <p:cNvPr id="92" name="TextBox 91"/>
          <p:cNvSpPr txBox="1"/>
          <p:nvPr/>
        </p:nvSpPr>
        <p:spPr>
          <a:xfrm>
            <a:off x="3200400" y="4709160"/>
            <a:ext cx="4023360" cy="658368"/>
          </a:xfrm>
          <a:prstGeom prst="rect">
            <a:avLst/>
          </a:prstGeom>
          <a:noFill/>
        </p:spPr>
        <p:txBody>
          <a:bodyPr wrap="square" lIns="0" rIns="0" tIns="0" bIns="0" anchor="ctr">
            <a:spAutoFit/>
          </a:bodyPr>
          <a:lstStyle/>
          <a:p>
            <a:pPr algn="l"/>
            <a:r>
              <a:rPr sz="1000" b="1">
                <a:solidFill>
                  <a:srgbClr val="23323B"/>
                </a:solidFill>
                <a:latin typeface="Arial"/>
                <a:ea typeface="Arial"/>
              </a:rPr>
              <a:t>Transitional: </a:t>
            </a:r>
            <a:r>
              <a:rPr sz="1000" b="0">
                <a:solidFill>
                  <a:srgbClr val="23323B"/>
                </a:solidFill>
                <a:latin typeface="Arial"/>
                <a:ea typeface="Arial"/>
              </a:rPr>
              <a:t>Work needing a formal procedure to change owners (SOP revision, GxP change control) stays with the current owner until done. Record it and its due date in the agreement</a:t>
            </a:r>
          </a:p>
        </p:txBody>
      </p:sp>
      <p:sp>
        <p:nvSpPr>
          <p:cNvPr id="93" name="TextBox 92"/>
          <p:cNvSpPr txBox="1"/>
          <p:nvPr/>
        </p:nvSpPr>
        <p:spPr>
          <a:xfrm>
            <a:off x="7498079" y="4709160"/>
            <a:ext cx="3886200" cy="658368"/>
          </a:xfrm>
          <a:prstGeom prst="rect">
            <a:avLst/>
          </a:prstGeom>
          <a:noFill/>
        </p:spPr>
        <p:txBody>
          <a:bodyPr wrap="square" lIns="0" rIns="0" tIns="0" bIns="0" anchor="ctr">
            <a:spAutoFit/>
          </a:bodyPr>
          <a:lstStyle/>
          <a:p>
            <a:pPr algn="l"/>
            <a:r>
              <a:rPr sz="1000" b="1">
                <a:solidFill>
                  <a:srgbClr val="23323B"/>
                </a:solidFill>
                <a:latin typeface="Arial"/>
                <a:ea typeface="Arial"/>
              </a:rPr>
              <a:t>Contracts: </a:t>
            </a:r>
            <a:r>
              <a:rPr sz="1000" b="0">
                <a:solidFill>
                  <a:srgbClr val="23323B"/>
                </a:solidFill>
                <a:latin typeface="Arial"/>
                <a:ea typeface="Arial"/>
              </a:rPr>
              <a:t>Signatory changes to GDS at next renewal. Notify suppliers of the new invoice addressee by early February</a:t>
            </a:r>
          </a:p>
        </p:txBody>
      </p:sp>
      <p:sp>
        <p:nvSpPr>
          <p:cNvPr id="94" name="goal-band"/>
          <p:cNvSpPr/>
          <p:nvPr/>
        </p:nvSpPr>
        <p:spPr>
          <a:xfrm>
            <a:off x="630936" y="5596128"/>
            <a:ext cx="10917936" cy="530352"/>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68680" y="5596128"/>
            <a:ext cx="10515600" cy="530352"/>
          </a:xfrm>
          <a:prstGeom prst="rect">
            <a:avLst/>
          </a:prstGeom>
          <a:noFill/>
        </p:spPr>
        <p:txBody>
          <a:bodyPr wrap="square" lIns="0" rIns="0" tIns="0" bIns="0" anchor="ctr">
            <a:spAutoFit/>
          </a:bodyPr>
          <a:lstStyle/>
          <a:p>
            <a:pPr algn="l"/>
            <a:r>
              <a:rPr sz="1700" b="1">
                <a:solidFill>
                  <a:srgbClr val="FFFFFF"/>
                </a:solidFill>
                <a:latin typeface="Arial"/>
                <a:ea typeface="Arial"/>
              </a:rPr>
              <a:t>Goal: transfer approval granted by end of December</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8"/>
          <p:cNvSpPr txBox="1"/>
          <p:nvPr>
            <p:ph type="title"/>
          </p:nvPr>
        </p:nvSpPr>
        <p:spPr>
          <a:xfrm>
            <a:off x="635000" y="406400"/>
            <a:ext cx="10922000" cy="4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3323B"/>
              </a:buClr>
              <a:buSzPts val="2600"/>
              <a:buFont typeface="Arial"/>
              <a:buNone/>
            </a:pPr>
            <a:r>
              <a:rPr b="1" lang="en-US" sz="2400">
                <a:solidFill>
                  <a:srgbClr val="23323B"/>
                </a:solidFill>
              </a:rPr>
              <a:t>November–December Schedule (Indicative)</a:t>
            </a:r>
            <a:endParaRPr sz="2400" b="1">
              <a:solidFill>
                <a:srgbClr val="23323B"/>
              </a:solidFill>
            </a:endParaRPr>
          </a:p>
        </p:txBody>
      </p:sp>
      <p:sp>
        <p:nvSpPr>
          <p:cNvPr id="74" name="Google Shape;74;p8"/>
          <p:cNvSpPr/>
          <p:nvPr/>
        </p:nvSpPr>
        <p:spPr>
          <a:xfrm>
            <a:off x="4664332" y="1143000"/>
            <a:ext cx="2641521" cy="265663"/>
          </a:xfrm>
          <a:prstGeom prst="rect">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txBox="1"/>
          <p:nvPr/>
        </p:nvSpPr>
        <p:spPr>
          <a:xfrm>
            <a:off x="4664332" y="1143000"/>
            <a:ext cx="2641521"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November</a:t>
            </a:r>
            <a:endParaRPr b="0" i="0" sz="1100" u="none" cap="none" strike="noStrike">
              <a:solidFill>
                <a:srgbClr val="000000"/>
              </a:solidFill>
              <a:latin typeface="Arial"/>
              <a:ea typeface="Arial"/>
              <a:cs typeface="Arial"/>
              <a:sym typeface="Arial"/>
            </a:endParaRPr>
          </a:p>
        </p:txBody>
      </p:sp>
      <p:sp>
        <p:nvSpPr>
          <p:cNvPr id="76" name="Google Shape;76;p8"/>
          <p:cNvSpPr/>
          <p:nvPr/>
        </p:nvSpPr>
        <p:spPr>
          <a:xfrm>
            <a:off x="7305854" y="1143000"/>
            <a:ext cx="2823695" cy="265663"/>
          </a:xfrm>
          <a:prstGeom prst="rect">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txBox="1"/>
          <p:nvPr/>
        </p:nvSpPr>
        <p:spPr>
          <a:xfrm>
            <a:off x="7305854" y="1143000"/>
            <a:ext cx="2823695"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December</a:t>
            </a:r>
            <a:endParaRPr b="0" i="0" sz="1100" u="none" cap="none" strike="noStrike">
              <a:solidFill>
                <a:srgbClr val="000000"/>
              </a:solidFill>
              <a:latin typeface="Arial"/>
              <a:ea typeface="Arial"/>
              <a:cs typeface="Arial"/>
              <a:sym typeface="Arial"/>
            </a:endParaRPr>
          </a:p>
        </p:txBody>
      </p:sp>
      <p:sp>
        <p:nvSpPr>
          <p:cNvPr id="78" name="Google Shape;78;p8"/>
          <p:cNvSpPr/>
          <p:nvPr/>
        </p:nvSpPr>
        <p:spPr>
          <a:xfrm>
            <a:off x="10129549" y="1143000"/>
            <a:ext cx="1424498" cy="265663"/>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txBox="1"/>
          <p:nvPr/>
        </p:nvSpPr>
        <p:spPr>
          <a:xfrm>
            <a:off x="10129549" y="1143000"/>
            <a:ext cx="142449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1100"/>
              <a:buFont typeface="Arial"/>
              <a:buNone/>
            </a:pPr>
            <a:r>
              <a:rPr b="1" i="0" lang="en-US" sz="1100" u="none" cap="none" strike="noStrike">
                <a:solidFill>
                  <a:srgbClr val="404040"/>
                </a:solidFill>
                <a:latin typeface="Arial"/>
                <a:ea typeface="Arial"/>
                <a:cs typeface="Arial"/>
                <a:sym typeface="Arial"/>
              </a:rPr>
              <a:t>January onward</a:t>
            </a:r>
            <a:endParaRPr b="0" i="0" sz="1100" u="none" cap="none" strike="noStrike">
              <a:solidFill>
                <a:srgbClr val="000000"/>
              </a:solidFill>
              <a:latin typeface="Arial"/>
              <a:ea typeface="Arial"/>
              <a:cs typeface="Arial"/>
              <a:sym typeface="Arial"/>
            </a:endParaRPr>
          </a:p>
        </p:txBody>
      </p:sp>
      <p:sp>
        <p:nvSpPr>
          <p:cNvPr id="80" name="Google Shape;80;p8"/>
          <p:cNvSpPr txBox="1"/>
          <p:nvPr/>
        </p:nvSpPr>
        <p:spPr>
          <a:xfrm>
            <a:off x="4664332"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11/2</a:t>
            </a:r>
            <a:endParaRPr b="0" i="0" sz="950" u="none" cap="none" strike="noStrike">
              <a:solidFill>
                <a:srgbClr val="000000"/>
              </a:solidFill>
              <a:latin typeface="Arial"/>
              <a:ea typeface="Arial"/>
              <a:cs typeface="Arial"/>
              <a:sym typeface="Arial"/>
            </a:endParaRPr>
          </a:p>
        </p:txBody>
      </p:sp>
      <p:sp>
        <p:nvSpPr>
          <p:cNvPr id="81" name="Google Shape;81;p8"/>
          <p:cNvSpPr txBox="1"/>
          <p:nvPr/>
        </p:nvSpPr>
        <p:spPr>
          <a:xfrm>
            <a:off x="5301941"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11/9</a:t>
            </a:r>
            <a:endParaRPr b="0" i="0" sz="950" u="none" cap="none" strike="noStrike">
              <a:solidFill>
                <a:srgbClr val="000000"/>
              </a:solidFill>
              <a:latin typeface="Arial"/>
              <a:ea typeface="Arial"/>
              <a:cs typeface="Arial"/>
              <a:sym typeface="Arial"/>
            </a:endParaRPr>
          </a:p>
        </p:txBody>
      </p:sp>
      <p:sp>
        <p:nvSpPr>
          <p:cNvPr id="82" name="Google Shape;82;p8"/>
          <p:cNvSpPr txBox="1"/>
          <p:nvPr/>
        </p:nvSpPr>
        <p:spPr>
          <a:xfrm>
            <a:off x="5939549"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11/16</a:t>
            </a:r>
            <a:endParaRPr b="0" i="0" sz="950" u="none" cap="none" strike="noStrike">
              <a:solidFill>
                <a:srgbClr val="000000"/>
              </a:solidFill>
              <a:latin typeface="Arial"/>
              <a:ea typeface="Arial"/>
              <a:cs typeface="Arial"/>
              <a:sym typeface="Arial"/>
            </a:endParaRPr>
          </a:p>
        </p:txBody>
      </p:sp>
      <p:sp>
        <p:nvSpPr>
          <p:cNvPr id="83" name="Google Shape;83;p8"/>
          <p:cNvSpPr txBox="1"/>
          <p:nvPr/>
        </p:nvSpPr>
        <p:spPr>
          <a:xfrm>
            <a:off x="6577158"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11/23</a:t>
            </a:r>
            <a:endParaRPr b="0" i="0" sz="950" u="none" cap="none" strike="noStrike">
              <a:solidFill>
                <a:srgbClr val="000000"/>
              </a:solidFill>
              <a:latin typeface="Arial"/>
              <a:ea typeface="Arial"/>
              <a:cs typeface="Arial"/>
              <a:sym typeface="Arial"/>
            </a:endParaRPr>
          </a:p>
        </p:txBody>
      </p:sp>
      <p:sp>
        <p:nvSpPr>
          <p:cNvPr id="84" name="Google Shape;84;p8"/>
          <p:cNvSpPr txBox="1"/>
          <p:nvPr/>
        </p:nvSpPr>
        <p:spPr>
          <a:xfrm>
            <a:off x="7214767"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11/30</a:t>
            </a:r>
            <a:endParaRPr b="0" i="0" sz="950" u="none" cap="none" strike="noStrike">
              <a:solidFill>
                <a:srgbClr val="000000"/>
              </a:solidFill>
              <a:latin typeface="Arial"/>
              <a:ea typeface="Arial"/>
              <a:cs typeface="Arial"/>
              <a:sym typeface="Arial"/>
            </a:endParaRPr>
          </a:p>
        </p:txBody>
      </p:sp>
      <p:sp>
        <p:nvSpPr>
          <p:cNvPr id="85" name="Google Shape;85;p8"/>
          <p:cNvSpPr txBox="1"/>
          <p:nvPr/>
        </p:nvSpPr>
        <p:spPr>
          <a:xfrm>
            <a:off x="7852375"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12/7</a:t>
            </a:r>
            <a:endParaRPr b="0" i="0" sz="950" u="none" cap="none" strike="noStrike">
              <a:solidFill>
                <a:srgbClr val="000000"/>
              </a:solidFill>
              <a:latin typeface="Arial"/>
              <a:ea typeface="Arial"/>
              <a:cs typeface="Arial"/>
              <a:sym typeface="Arial"/>
            </a:endParaRPr>
          </a:p>
        </p:txBody>
      </p:sp>
      <p:sp>
        <p:nvSpPr>
          <p:cNvPr id="86" name="Google Shape;86;p8"/>
          <p:cNvSpPr txBox="1"/>
          <p:nvPr/>
        </p:nvSpPr>
        <p:spPr>
          <a:xfrm>
            <a:off x="8489984"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12/14</a:t>
            </a:r>
            <a:endParaRPr b="0" i="0" sz="950" u="none" cap="none" strike="noStrike">
              <a:solidFill>
                <a:srgbClr val="000000"/>
              </a:solidFill>
              <a:latin typeface="Arial"/>
              <a:ea typeface="Arial"/>
              <a:cs typeface="Arial"/>
              <a:sym typeface="Arial"/>
            </a:endParaRPr>
          </a:p>
        </p:txBody>
      </p:sp>
      <p:sp>
        <p:nvSpPr>
          <p:cNvPr id="87" name="Google Shape;87;p8"/>
          <p:cNvSpPr txBox="1"/>
          <p:nvPr/>
        </p:nvSpPr>
        <p:spPr>
          <a:xfrm>
            <a:off x="9127592"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12/21</a:t>
            </a:r>
            <a:endParaRPr b="0" i="0" sz="950" u="none" cap="none" strike="noStrike">
              <a:solidFill>
                <a:srgbClr val="000000"/>
              </a:solidFill>
              <a:latin typeface="Arial"/>
              <a:ea typeface="Arial"/>
              <a:cs typeface="Arial"/>
              <a:sym typeface="Arial"/>
            </a:endParaRPr>
          </a:p>
        </p:txBody>
      </p:sp>
      <p:sp>
        <p:nvSpPr>
          <p:cNvPr id="88" name="Google Shape;88;p8"/>
          <p:cNvSpPr txBox="1"/>
          <p:nvPr/>
        </p:nvSpPr>
        <p:spPr>
          <a:xfrm>
            <a:off x="9765201" y="1408663"/>
            <a:ext cx="63760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12/28</a:t>
            </a:r>
            <a:endParaRPr b="0" i="0" sz="950" u="none" cap="none" strike="noStrike">
              <a:solidFill>
                <a:srgbClr val="000000"/>
              </a:solidFill>
              <a:latin typeface="Arial"/>
              <a:ea typeface="Arial"/>
              <a:cs typeface="Arial"/>
              <a:sym typeface="Arial"/>
            </a:endParaRPr>
          </a:p>
        </p:txBody>
      </p:sp>
      <p:sp>
        <p:nvSpPr>
          <p:cNvPr id="89" name="Google Shape;89;p8"/>
          <p:cNvSpPr txBox="1"/>
          <p:nvPr/>
        </p:nvSpPr>
        <p:spPr>
          <a:xfrm>
            <a:off x="10129549" y="1408663"/>
            <a:ext cx="1424498" cy="265663"/>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950"/>
              <a:buFont typeface="Arial"/>
              <a:buNone/>
            </a:pPr>
            <a:r>
              <a:rPr b="0" i="0" lang="en-US" sz="950" u="none" cap="none" strike="noStrike">
                <a:solidFill>
                  <a:srgbClr val="404040"/>
                </a:solidFill>
                <a:latin typeface="Arial"/>
                <a:ea typeface="Arial"/>
                <a:cs typeface="Arial"/>
                <a:sym typeface="Arial"/>
              </a:rPr>
              <a:t>1/1 onward</a:t>
            </a:r>
            <a:endParaRPr b="0" i="0" sz="950" u="none" cap="none" strike="noStrike">
              <a:solidFill>
                <a:srgbClr val="000000"/>
              </a:solidFill>
              <a:latin typeface="Arial"/>
              <a:ea typeface="Arial"/>
              <a:cs typeface="Arial"/>
              <a:sym typeface="Arial"/>
            </a:endParaRPr>
          </a:p>
        </p:txBody>
      </p:sp>
      <p:sp>
        <p:nvSpPr>
          <p:cNvPr id="90" name="Google Shape;90;p8"/>
          <p:cNvSpPr txBox="1"/>
          <p:nvPr/>
        </p:nvSpPr>
        <p:spPr>
          <a:xfrm>
            <a:off x="723556" y="1727459"/>
            <a:ext cx="3852218" cy="48704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323B"/>
              </a:buClr>
              <a:buSzPts val="1100"/>
              <a:buFont typeface="Arial"/>
              <a:buNone/>
            </a:pPr>
            <a:r>
              <a:rPr b="1" i="0" lang="en-US" sz="1100" u="none" cap="none" strike="noStrike">
                <a:solidFill>
                  <a:srgbClr val="23323B"/>
                </a:solidFill>
                <a:latin typeface="Arial"/>
                <a:ea typeface="Arial"/>
                <a:cs typeface="Arial"/>
                <a:sym typeface="Arial"/>
              </a:rPr>
              <a:t>Milestones</a:t>
            </a:r>
            <a:endParaRPr b="0" i="0" sz="1100" u="none" cap="none" strike="noStrike">
              <a:solidFill>
                <a:srgbClr val="000000"/>
              </a:solidFill>
              <a:latin typeface="Arial"/>
              <a:ea typeface="Arial"/>
              <a:cs typeface="Arial"/>
              <a:sym typeface="Arial"/>
            </a:endParaRPr>
          </a:p>
        </p:txBody>
      </p:sp>
      <p:sp>
        <p:nvSpPr>
          <p:cNvPr id="91" name="Google Shape;91;p8"/>
          <p:cNvSpPr/>
          <p:nvPr/>
        </p:nvSpPr>
        <p:spPr>
          <a:xfrm>
            <a:off x="4630174" y="1771736"/>
            <a:ext cx="159402" cy="159397"/>
          </a:xfrm>
          <a:prstGeom prst="diamond">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txBox="1"/>
          <p:nvPr/>
        </p:nvSpPr>
        <p:spPr>
          <a:xfrm>
            <a:off x="4267091" y="1939989"/>
            <a:ext cx="885567" cy="28337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3323B"/>
              </a:buClr>
              <a:buSzPts val="850"/>
              <a:buFont typeface="Arial"/>
              <a:buNone/>
            </a:pPr>
            <a:r>
              <a:rPr b="0" i="0" lang="en-US" sz="850" u="none" cap="none" strike="noStrike">
                <a:solidFill>
                  <a:srgbClr val="23323B"/>
                </a:solidFill>
                <a:latin typeface="Arial"/>
                <a:ea typeface="Arial"/>
                <a:cs typeface="Arial"/>
                <a:sym typeface="Arial"/>
              </a:rPr>
              <a:t>November</a:t>
            </a:r>
            <a:endParaRPr b="0" i="0" sz="850" u="none" cap="none" strike="noStrike">
              <a:solidFill>
                <a:srgbClr val="000000"/>
              </a:solidFill>
              <a:latin typeface="Arial"/>
              <a:ea typeface="Arial"/>
              <a:cs typeface="Arial"/>
              <a:sym typeface="Arial"/>
            </a:endParaRPr>
          </a:p>
          <a:p>
            <a:pPr indent="0" lvl="0" marL="0" marR="0" rtl="0" algn="ctr">
              <a:spcBef>
                <a:spcPts val="0"/>
              </a:spcBef>
              <a:spcAft>
                <a:spcPts val="0"/>
              </a:spcAft>
              <a:buClr>
                <a:srgbClr val="23323B"/>
              </a:buClr>
              <a:buSzPts val="850"/>
              <a:buFont typeface="Arial"/>
              <a:buNone/>
            </a:pPr>
            <a:r>
              <a:rPr b="0" i="0" lang="en-US" sz="850" u="none" cap="none" strike="noStrike">
                <a:solidFill>
                  <a:srgbClr val="23323B"/>
                </a:solidFill>
                <a:latin typeface="Arial"/>
                <a:ea typeface="Arial"/>
                <a:cs typeface="Arial"/>
                <a:sym typeface="Arial"/>
              </a:rPr>
              <a:t>Kickoff</a:t>
            </a:r>
            <a:endParaRPr b="0" i="0" sz="850" u="none" cap="none" strike="noStrike">
              <a:solidFill>
                <a:srgbClr val="000000"/>
              </a:solidFill>
              <a:latin typeface="Arial"/>
              <a:ea typeface="Arial"/>
              <a:cs typeface="Arial"/>
              <a:sym typeface="Arial"/>
            </a:endParaRPr>
          </a:p>
        </p:txBody>
      </p:sp>
      <p:sp>
        <p:nvSpPr>
          <p:cNvPr id="93" name="Google Shape;93;p8"/>
          <p:cNvSpPr/>
          <p:nvPr/>
        </p:nvSpPr>
        <p:spPr>
          <a:xfrm>
            <a:off x="8182566" y="1771736"/>
            <a:ext cx="159402" cy="159397"/>
          </a:xfrm>
          <a:prstGeom prst="diamond">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txBox="1"/>
          <p:nvPr/>
        </p:nvSpPr>
        <p:spPr>
          <a:xfrm>
            <a:off x="7819483" y="1939989"/>
            <a:ext cx="885567" cy="28337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3323B"/>
              </a:buClr>
              <a:buSzPts val="850"/>
              <a:buFont typeface="Arial"/>
              <a:buNone/>
            </a:pPr>
            <a:r>
              <a:rPr b="0" i="0" lang="en-US" sz="850" u="none" cap="none" strike="noStrike">
                <a:solidFill>
                  <a:srgbClr val="23323B"/>
                </a:solidFill>
                <a:latin typeface="Arial"/>
                <a:ea typeface="Arial"/>
                <a:cs typeface="Arial"/>
                <a:sym typeface="Arial"/>
              </a:rPr>
              <a:t>12/11</a:t>
            </a:r>
            <a:endParaRPr b="0" i="0" sz="850" u="none" cap="none" strike="noStrike">
              <a:solidFill>
                <a:srgbClr val="000000"/>
              </a:solidFill>
              <a:latin typeface="Arial"/>
              <a:ea typeface="Arial"/>
              <a:cs typeface="Arial"/>
              <a:sym typeface="Arial"/>
            </a:endParaRPr>
          </a:p>
          <a:p>
            <a:pPr indent="0" lvl="0" marL="0" marR="0" rtl="0" algn="ctr">
              <a:spcBef>
                <a:spcPts val="0"/>
              </a:spcBef>
              <a:spcAft>
                <a:spcPts val="0"/>
              </a:spcAft>
              <a:buClr>
                <a:srgbClr val="23323B"/>
              </a:buClr>
              <a:buSzPts val="850"/>
              <a:buFont typeface="Arial"/>
              <a:buNone/>
            </a:pPr>
            <a:r>
              <a:rPr b="0" i="0" lang="en-US" sz="850" u="none" cap="none" strike="noStrike">
                <a:solidFill>
                  <a:srgbClr val="23323B"/>
                </a:solidFill>
                <a:latin typeface="Arial"/>
                <a:ea typeface="Arial"/>
                <a:cs typeface="Arial"/>
                <a:sym typeface="Arial"/>
              </a:rPr>
              <a:t>Agreement</a:t>
            </a:r>
            <a:endParaRPr b="0" i="0" sz="850" u="none" cap="none" strike="noStrike">
              <a:solidFill>
                <a:srgbClr val="000000"/>
              </a:solidFill>
              <a:latin typeface="Arial"/>
              <a:ea typeface="Arial"/>
              <a:cs typeface="Arial"/>
              <a:sym typeface="Arial"/>
            </a:endParaRPr>
          </a:p>
        </p:txBody>
      </p:sp>
      <p:sp>
        <p:nvSpPr>
          <p:cNvPr id="95" name="Google Shape;95;p8"/>
          <p:cNvSpPr/>
          <p:nvPr/>
        </p:nvSpPr>
        <p:spPr>
          <a:xfrm>
            <a:off x="8820174" y="1771736"/>
            <a:ext cx="159402" cy="159397"/>
          </a:xfrm>
          <a:prstGeom prst="diamond">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txBox="1"/>
          <p:nvPr/>
        </p:nvSpPr>
        <p:spPr>
          <a:xfrm>
            <a:off x="8457092" y="1939989"/>
            <a:ext cx="885567" cy="283374"/>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3323B"/>
              </a:buClr>
              <a:buSzPts val="850"/>
              <a:buFont typeface="Arial"/>
              <a:buNone/>
            </a:pPr>
            <a:r>
              <a:rPr b="0" i="0" lang="en-US" sz="850" u="none" cap="none" strike="noStrike">
                <a:solidFill>
                  <a:srgbClr val="23323B"/>
                </a:solidFill>
                <a:latin typeface="Arial"/>
                <a:ea typeface="Arial"/>
                <a:cs typeface="Arial"/>
                <a:sym typeface="Arial"/>
              </a:rPr>
              <a:t>12/18</a:t>
            </a:r>
            <a:endParaRPr b="0" i="0" sz="850" u="none" cap="none" strike="noStrike">
              <a:solidFill>
                <a:srgbClr val="000000"/>
              </a:solidFill>
              <a:latin typeface="Arial"/>
              <a:ea typeface="Arial"/>
              <a:cs typeface="Arial"/>
              <a:sym typeface="Arial"/>
            </a:endParaRPr>
          </a:p>
          <a:p>
            <a:pPr indent="0" lvl="0" marL="0" marR="0" rtl="0" algn="ctr">
              <a:spcBef>
                <a:spcPts val="0"/>
              </a:spcBef>
              <a:spcAft>
                <a:spcPts val="0"/>
              </a:spcAft>
              <a:buClr>
                <a:srgbClr val="23323B"/>
              </a:buClr>
              <a:buSzPts val="850"/>
              <a:buFont typeface="Arial"/>
              <a:buNone/>
            </a:pPr>
            <a:r>
              <a:rPr b="0" i="0" lang="en-US" sz="850" u="none" cap="none" strike="noStrike">
                <a:solidFill>
                  <a:srgbClr val="23323B"/>
                </a:solidFill>
                <a:latin typeface="Arial"/>
                <a:ea typeface="Arial"/>
                <a:cs typeface="Arial"/>
                <a:sym typeface="Arial"/>
              </a:rPr>
              <a:t>Ready</a:t>
            </a:r>
            <a:endParaRPr b="0" i="0" sz="850" u="none" cap="none" strike="noStrike">
              <a:solidFill>
                <a:srgbClr val="000000"/>
              </a:solidFill>
              <a:latin typeface="Arial"/>
              <a:ea typeface="Arial"/>
              <a:cs typeface="Arial"/>
              <a:sym typeface="Arial"/>
            </a:endParaRPr>
          </a:p>
        </p:txBody>
      </p:sp>
      <p:sp>
        <p:nvSpPr>
          <p:cNvPr id="97" name="Google Shape;97;p8"/>
          <p:cNvSpPr/>
          <p:nvPr/>
        </p:nvSpPr>
        <p:spPr>
          <a:xfrm>
            <a:off x="10049848" y="1771736"/>
            <a:ext cx="159402" cy="159397"/>
          </a:xfrm>
          <a:prstGeom prst="diamond">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txBox="1"/>
          <p:nvPr/>
        </p:nvSpPr>
        <p:spPr>
          <a:xfrm>
            <a:off x="9226270" y="1939989"/>
            <a:ext cx="885567" cy="283374"/>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3323B"/>
              </a:buClr>
              <a:buSzPts val="850"/>
              <a:buFont typeface="Arial"/>
              <a:buNone/>
            </a:pPr>
            <a:r>
              <a:rPr b="1" i="0" lang="en-US" sz="850" u="none" cap="none" strike="noStrike">
                <a:solidFill>
                  <a:srgbClr val="B42318"/>
                </a:solidFill>
                <a:latin typeface="Arial"/>
                <a:ea typeface="Arial"/>
                <a:cs typeface="Arial"/>
                <a:sym typeface="Arial"/>
              </a:rPr>
              <a:t>12/31</a:t>
            </a:r>
            <a:endParaRPr b="0" i="0" sz="850" u="none" cap="none" strike="noStrike">
              <a:solidFill>
                <a:srgbClr val="000000"/>
              </a:solidFill>
              <a:latin typeface="Arial"/>
              <a:ea typeface="Arial"/>
              <a:cs typeface="Arial"/>
              <a:sym typeface="Arial"/>
            </a:endParaRPr>
          </a:p>
          <a:p>
            <a:pPr indent="0" lvl="0" marL="0" marR="0" rtl="0" algn="r">
              <a:spcBef>
                <a:spcPts val="0"/>
              </a:spcBef>
              <a:spcAft>
                <a:spcPts val="0"/>
              </a:spcAft>
              <a:buClr>
                <a:srgbClr val="23323B"/>
              </a:buClr>
              <a:buSzPts val="850"/>
              <a:buFont typeface="Arial"/>
              <a:buNone/>
            </a:pPr>
            <a:r>
              <a:rPr b="1" i="0" lang="en-US" sz="850" u="none" cap="none" strike="noStrike">
                <a:solidFill>
                  <a:srgbClr val="B42318"/>
                </a:solidFill>
                <a:latin typeface="Arial"/>
                <a:ea typeface="Arial"/>
                <a:cs typeface="Arial"/>
                <a:sym typeface="Arial"/>
              </a:rPr>
              <a:t>Approval</a:t>
            </a:r>
            <a:endParaRPr b="0" i="0" sz="850" u="none" cap="none" strike="noStrike">
              <a:solidFill>
                <a:srgbClr val="000000"/>
              </a:solidFill>
              <a:latin typeface="Arial"/>
              <a:ea typeface="Arial"/>
              <a:cs typeface="Arial"/>
              <a:sym typeface="Arial"/>
            </a:endParaRPr>
          </a:p>
        </p:txBody>
      </p:sp>
      <p:sp>
        <p:nvSpPr>
          <p:cNvPr id="99" name="Google Shape;99;p8"/>
          <p:cNvSpPr/>
          <p:nvPr/>
        </p:nvSpPr>
        <p:spPr>
          <a:xfrm>
            <a:off x="10235817" y="1771736"/>
            <a:ext cx="159402" cy="159397"/>
          </a:xfrm>
          <a:prstGeom prst="diamond">
            <a:avLst/>
          </a:prstGeom>
          <a:solidFill>
            <a:srgbClr val="7F7F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txBox="1"/>
          <p:nvPr/>
        </p:nvSpPr>
        <p:spPr>
          <a:xfrm>
            <a:off x="10235817" y="1939989"/>
            <a:ext cx="1300519" cy="28337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4040"/>
              </a:buClr>
              <a:buSzPts val="850"/>
              <a:buFont typeface="Arial"/>
              <a:buNone/>
            </a:pPr>
            <a:r>
              <a:rPr b="0" i="0" lang="en-US" sz="850" u="none" cap="none" strike="noStrike">
                <a:solidFill>
                  <a:srgbClr val="404040"/>
                </a:solidFill>
                <a:latin typeface="Arial"/>
                <a:ea typeface="Arial"/>
                <a:cs typeface="Arial"/>
                <a:sym typeface="Arial"/>
              </a:rPr>
              <a:t>1/1</a:t>
            </a:r>
            <a:endParaRPr b="0" i="0" sz="850" u="none" cap="none" strike="noStrike">
              <a:solidFill>
                <a:srgbClr val="000000"/>
              </a:solidFill>
              <a:latin typeface="Arial"/>
              <a:ea typeface="Arial"/>
              <a:cs typeface="Arial"/>
              <a:sym typeface="Arial"/>
            </a:endParaRPr>
          </a:p>
          <a:p>
            <a:pPr indent="0" lvl="0" marL="0" marR="0" rtl="0" algn="l">
              <a:spcBef>
                <a:spcPts val="0"/>
              </a:spcBef>
              <a:spcAft>
                <a:spcPts val="0"/>
              </a:spcAft>
              <a:buClr>
                <a:srgbClr val="404040"/>
              </a:buClr>
              <a:buSzPts val="850"/>
              <a:buFont typeface="Arial"/>
              <a:buNone/>
            </a:pPr>
            <a:r>
              <a:rPr b="0" i="0" lang="en-US" sz="850" u="none" cap="none" strike="noStrike">
                <a:solidFill>
                  <a:srgbClr val="404040"/>
                </a:solidFill>
                <a:latin typeface="Arial"/>
                <a:ea typeface="Arial"/>
                <a:cs typeface="Arial"/>
                <a:sym typeface="Arial"/>
              </a:rPr>
              <a:t>Transfer</a:t>
            </a:r>
            <a:endParaRPr b="0" i="0" sz="850" u="none" cap="none" strike="noStrike">
              <a:solidFill>
                <a:srgbClr val="000000"/>
              </a:solidFill>
              <a:latin typeface="Arial"/>
              <a:ea typeface="Arial"/>
              <a:cs typeface="Arial"/>
              <a:sym typeface="Arial"/>
            </a:endParaRPr>
          </a:p>
        </p:txBody>
      </p:sp>
      <p:sp>
        <p:nvSpPr>
          <p:cNvPr id="101" name="Google Shape;101;p8"/>
          <p:cNvSpPr/>
          <p:nvPr/>
        </p:nvSpPr>
        <p:spPr>
          <a:xfrm>
            <a:off x="635000" y="2214508"/>
            <a:ext cx="10919048" cy="230241"/>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8"/>
          <p:cNvSpPr txBox="1"/>
          <p:nvPr/>
        </p:nvSpPr>
        <p:spPr>
          <a:xfrm>
            <a:off x="723556" y="2214508"/>
            <a:ext cx="2656702" cy="2302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323B"/>
              </a:buClr>
              <a:buSzPts val="1100"/>
              <a:buFont typeface="Arial"/>
              <a:buNone/>
            </a:pPr>
            <a:r>
              <a:rPr b="1" i="0" lang="en-US" sz="1100" u="none" cap="none" strike="noStrike">
                <a:solidFill>
                  <a:srgbClr val="23323B"/>
                </a:solidFill>
                <a:latin typeface="Arial"/>
                <a:ea typeface="Arial"/>
                <a:cs typeface="Arial"/>
                <a:sym typeface="Arial"/>
              </a:rPr>
              <a:t>S&amp;G</a:t>
            </a:r>
            <a:endParaRPr b="0" i="0" sz="1100" u="none" cap="none" strike="noStrike">
              <a:solidFill>
                <a:srgbClr val="000000"/>
              </a:solidFill>
              <a:latin typeface="Arial"/>
              <a:ea typeface="Arial"/>
              <a:cs typeface="Arial"/>
              <a:sym typeface="Arial"/>
            </a:endParaRPr>
          </a:p>
        </p:txBody>
      </p:sp>
      <p:sp>
        <p:nvSpPr>
          <p:cNvPr id="103" name="Google Shape;103;p8"/>
          <p:cNvSpPr txBox="1"/>
          <p:nvPr/>
        </p:nvSpPr>
        <p:spPr>
          <a:xfrm>
            <a:off x="723556" y="2444750"/>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Publish and explain the supplement</a:t>
            </a:r>
            <a:endParaRPr b="0" i="0" sz="1050" u="none" cap="none" strike="noStrike">
              <a:solidFill>
                <a:srgbClr val="000000"/>
              </a:solidFill>
              <a:latin typeface="Arial"/>
              <a:ea typeface="Arial"/>
              <a:cs typeface="Arial"/>
              <a:sym typeface="Arial"/>
            </a:endParaRPr>
          </a:p>
        </p:txBody>
      </p:sp>
      <p:cxnSp>
        <p:nvCxnSpPr>
          <p:cNvPr id="104" name="Google Shape;104;p8"/>
          <p:cNvCxnSpPr/>
          <p:nvPr/>
        </p:nvCxnSpPr>
        <p:spPr>
          <a:xfrm>
            <a:off x="635000" y="2701557"/>
            <a:ext cx="10919048" cy="0"/>
          </a:xfrm>
          <a:prstGeom prst="straightConnector1">
            <a:avLst/>
          </a:prstGeom>
          <a:noFill/>
          <a:ln cap="flat" cmpd="sng" w="9525">
            <a:solidFill>
              <a:srgbClr val="F2F2F2"/>
            </a:solidFill>
            <a:prstDash val="solid"/>
            <a:round/>
            <a:headEnd len="sm" w="sm" type="none"/>
            <a:tailEnd len="sm" w="sm" type="none"/>
          </a:ln>
        </p:spPr>
      </p:cxnSp>
      <p:sp>
        <p:nvSpPr>
          <p:cNvPr id="105" name="Google Shape;105;p8"/>
          <p:cNvSpPr/>
          <p:nvPr/>
        </p:nvSpPr>
        <p:spPr>
          <a:xfrm>
            <a:off x="4664332" y="2497882"/>
            <a:ext cx="168257" cy="168253"/>
          </a:xfrm>
          <a:prstGeom prst="diamond">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p:cNvSpPr txBox="1"/>
          <p:nvPr/>
        </p:nvSpPr>
        <p:spPr>
          <a:xfrm>
            <a:off x="723556" y="2701557"/>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Check transfer status and progress (daily)</a:t>
            </a:r>
            <a:endParaRPr b="0" i="0" sz="1050" u="none" cap="none" strike="noStrike">
              <a:solidFill>
                <a:srgbClr val="000000"/>
              </a:solidFill>
              <a:latin typeface="Arial"/>
              <a:ea typeface="Arial"/>
              <a:cs typeface="Arial"/>
              <a:sym typeface="Arial"/>
            </a:endParaRPr>
          </a:p>
        </p:txBody>
      </p:sp>
      <p:cxnSp>
        <p:nvCxnSpPr>
          <p:cNvPr id="107" name="Google Shape;107;p8"/>
          <p:cNvCxnSpPr/>
          <p:nvPr/>
        </p:nvCxnSpPr>
        <p:spPr>
          <a:xfrm>
            <a:off x="635000" y="2958365"/>
            <a:ext cx="10919048" cy="0"/>
          </a:xfrm>
          <a:prstGeom prst="straightConnector1">
            <a:avLst/>
          </a:prstGeom>
          <a:noFill/>
          <a:ln cap="flat" cmpd="sng" w="9525">
            <a:solidFill>
              <a:srgbClr val="F2F2F2"/>
            </a:solidFill>
            <a:prstDash val="solid"/>
            <a:round/>
            <a:headEnd len="sm" w="sm" type="none"/>
            <a:tailEnd len="sm" w="sm" type="none"/>
          </a:ln>
        </p:spPr>
      </p:cxnSp>
      <p:sp>
        <p:nvSpPr>
          <p:cNvPr id="108" name="Google Shape;108;p8"/>
          <p:cNvSpPr/>
          <p:nvPr/>
        </p:nvSpPr>
        <p:spPr>
          <a:xfrm>
            <a:off x="4664332" y="2763545"/>
            <a:ext cx="5465216" cy="132831"/>
          </a:xfrm>
          <a:prstGeom prst="rect">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txBox="1"/>
          <p:nvPr/>
        </p:nvSpPr>
        <p:spPr>
          <a:xfrm>
            <a:off x="723556" y="2958365"/>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Cross-check agreement documents</a:t>
            </a:r>
            <a:endParaRPr b="0" i="0" sz="1050" u="none" cap="none" strike="noStrike">
              <a:solidFill>
                <a:srgbClr val="000000"/>
              </a:solidFill>
              <a:latin typeface="Arial"/>
              <a:ea typeface="Arial"/>
              <a:cs typeface="Arial"/>
              <a:sym typeface="Arial"/>
            </a:endParaRPr>
          </a:p>
        </p:txBody>
      </p:sp>
      <p:cxnSp>
        <p:nvCxnSpPr>
          <p:cNvPr id="110" name="Google Shape;110;p8"/>
          <p:cNvCxnSpPr/>
          <p:nvPr/>
        </p:nvCxnSpPr>
        <p:spPr>
          <a:xfrm>
            <a:off x="635000" y="3215173"/>
            <a:ext cx="10919048" cy="0"/>
          </a:xfrm>
          <a:prstGeom prst="straightConnector1">
            <a:avLst/>
          </a:prstGeom>
          <a:noFill/>
          <a:ln cap="flat" cmpd="sng" w="9525">
            <a:solidFill>
              <a:srgbClr val="F2F2F2"/>
            </a:solidFill>
            <a:prstDash val="solid"/>
            <a:round/>
            <a:headEnd len="sm" w="sm" type="none"/>
            <a:tailEnd len="sm" w="sm" type="none"/>
          </a:ln>
        </p:spPr>
      </p:cxnSp>
      <p:sp>
        <p:nvSpPr>
          <p:cNvPr id="111" name="Google Shape;111;p8"/>
          <p:cNvSpPr/>
          <p:nvPr/>
        </p:nvSpPr>
        <p:spPr>
          <a:xfrm>
            <a:off x="7214767" y="3020353"/>
            <a:ext cx="1093043" cy="132831"/>
          </a:xfrm>
          <a:prstGeom prst="rect">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8"/>
          <p:cNvSpPr txBox="1"/>
          <p:nvPr/>
        </p:nvSpPr>
        <p:spPr>
          <a:xfrm>
            <a:off x="723556" y="3215173"/>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Draft and approve the transfer request (per Function)</a:t>
            </a:r>
            <a:endParaRPr b="0" i="0" sz="1050" u="none" cap="none" strike="noStrike">
              <a:solidFill>
                <a:srgbClr val="000000"/>
              </a:solidFill>
              <a:latin typeface="Arial"/>
              <a:ea typeface="Arial"/>
              <a:cs typeface="Arial"/>
              <a:sym typeface="Arial"/>
            </a:endParaRPr>
          </a:p>
        </p:txBody>
      </p:sp>
      <p:cxnSp>
        <p:nvCxnSpPr>
          <p:cNvPr id="113" name="Google Shape;113;p8"/>
          <p:cNvCxnSpPr/>
          <p:nvPr/>
        </p:nvCxnSpPr>
        <p:spPr>
          <a:xfrm>
            <a:off x="635000" y="3471981"/>
            <a:ext cx="10919048" cy="0"/>
          </a:xfrm>
          <a:prstGeom prst="straightConnector1">
            <a:avLst/>
          </a:prstGeom>
          <a:noFill/>
          <a:ln cap="flat" cmpd="sng" w="9525">
            <a:solidFill>
              <a:srgbClr val="F2F2F2"/>
            </a:solidFill>
            <a:prstDash val="solid"/>
            <a:round/>
            <a:headEnd len="sm" w="sm" type="none"/>
            <a:tailEnd len="sm" w="sm" type="none"/>
          </a:ln>
        </p:spPr>
      </p:cxnSp>
      <p:sp>
        <p:nvSpPr>
          <p:cNvPr id="114" name="Google Shape;114;p8"/>
          <p:cNvSpPr/>
          <p:nvPr/>
        </p:nvSpPr>
        <p:spPr>
          <a:xfrm>
            <a:off x="7852375" y="3277161"/>
            <a:ext cx="2277173" cy="132831"/>
          </a:xfrm>
          <a:prstGeom prst="rect">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635000" y="3471981"/>
            <a:ext cx="10919048" cy="230241"/>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txBox="1"/>
          <p:nvPr/>
        </p:nvSpPr>
        <p:spPr>
          <a:xfrm>
            <a:off x="723556" y="3471981"/>
            <a:ext cx="2656702" cy="23024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3323B"/>
              </a:buClr>
              <a:buSzPts val="1100"/>
              <a:buFont typeface="Arial"/>
              <a:buNone/>
            </a:pPr>
            <a:r>
              <a:rPr b="1" i="0" lang="en-US" sz="1100" u="none" cap="none" strike="noStrike">
                <a:solidFill>
                  <a:srgbClr val="23323B"/>
                </a:solidFill>
                <a:latin typeface="Arial"/>
                <a:ea typeface="Arial"/>
                <a:cs typeface="Arial"/>
                <a:sym typeface="Arial"/>
              </a:rPr>
              <a:t>Assigned BP</a:t>
            </a:r>
            <a:endParaRPr b="0" i="0" sz="1100" u="none" cap="none" strike="noStrike">
              <a:solidFill>
                <a:srgbClr val="000000"/>
              </a:solidFill>
              <a:latin typeface="Arial"/>
              <a:ea typeface="Arial"/>
              <a:cs typeface="Arial"/>
              <a:sym typeface="Arial"/>
            </a:endParaRPr>
          </a:p>
        </p:txBody>
      </p:sp>
      <p:sp>
        <p:nvSpPr>
          <p:cNvPr id="117" name="Google Shape;117;p8"/>
          <p:cNvSpPr txBox="1"/>
          <p:nvPr/>
        </p:nvSpPr>
        <p:spPr>
          <a:xfrm>
            <a:off x="723556" y="3702222"/>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①  Agree with the Function (interview sheet → agreement)</a:t>
            </a:r>
            <a:endParaRPr b="0" i="0" sz="1050" u="none" cap="none" strike="noStrike">
              <a:solidFill>
                <a:srgbClr val="000000"/>
              </a:solidFill>
              <a:latin typeface="Arial"/>
              <a:ea typeface="Arial"/>
              <a:cs typeface="Arial"/>
              <a:sym typeface="Arial"/>
            </a:endParaRPr>
          </a:p>
        </p:txBody>
      </p:sp>
      <p:cxnSp>
        <p:nvCxnSpPr>
          <p:cNvPr id="118" name="Google Shape;118;p8"/>
          <p:cNvCxnSpPr/>
          <p:nvPr/>
        </p:nvCxnSpPr>
        <p:spPr>
          <a:xfrm>
            <a:off x="635000" y="3959030"/>
            <a:ext cx="10919048" cy="0"/>
          </a:xfrm>
          <a:prstGeom prst="straightConnector1">
            <a:avLst/>
          </a:prstGeom>
          <a:noFill/>
          <a:ln cap="flat" cmpd="sng" w="9525">
            <a:solidFill>
              <a:srgbClr val="F2F2F2"/>
            </a:solidFill>
            <a:prstDash val="solid"/>
            <a:round/>
            <a:headEnd len="sm" w="sm" type="none"/>
            <a:tailEnd len="sm" w="sm" type="none"/>
          </a:ln>
        </p:spPr>
      </p:cxnSp>
      <p:sp>
        <p:nvSpPr>
          <p:cNvPr id="119" name="Google Shape;119;p8"/>
          <p:cNvSpPr/>
          <p:nvPr/>
        </p:nvSpPr>
        <p:spPr>
          <a:xfrm>
            <a:off x="4663440" y="3764210"/>
            <a:ext cx="3648456" cy="132831"/>
          </a:xfrm>
          <a:prstGeom prst="rect">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txBox="1"/>
          <p:nvPr/>
        </p:nvSpPr>
        <p:spPr>
          <a:xfrm>
            <a:off x="723556" y="3959030"/>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②  Take over (manuals, contracts, past records)</a:t>
            </a:r>
            <a:endParaRPr b="0" i="0" sz="1050" u="none" cap="none" strike="noStrike">
              <a:solidFill>
                <a:srgbClr val="000000"/>
              </a:solidFill>
              <a:latin typeface="Arial"/>
              <a:ea typeface="Arial"/>
              <a:cs typeface="Arial"/>
              <a:sym typeface="Arial"/>
            </a:endParaRPr>
          </a:p>
        </p:txBody>
      </p:sp>
      <p:cxnSp>
        <p:nvCxnSpPr>
          <p:cNvPr id="121" name="Google Shape;121;p8"/>
          <p:cNvCxnSpPr/>
          <p:nvPr/>
        </p:nvCxnSpPr>
        <p:spPr>
          <a:xfrm>
            <a:off x="635000" y="4215838"/>
            <a:ext cx="10919048" cy="0"/>
          </a:xfrm>
          <a:prstGeom prst="straightConnector1">
            <a:avLst/>
          </a:prstGeom>
          <a:noFill/>
          <a:ln cap="flat" cmpd="sng" w="9525">
            <a:solidFill>
              <a:srgbClr val="F2F2F2"/>
            </a:solidFill>
            <a:prstDash val="solid"/>
            <a:round/>
            <a:headEnd len="sm" w="sm" type="none"/>
            <a:tailEnd len="sm" w="sm" type="none"/>
          </a:ln>
        </p:spPr>
      </p:cxnSp>
      <p:sp>
        <p:nvSpPr>
          <p:cNvPr id="122" name="Google Shape;122;p8"/>
          <p:cNvSpPr/>
          <p:nvPr/>
        </p:nvSpPr>
        <p:spPr>
          <a:xfrm>
            <a:off x="7214616" y="4021018"/>
            <a:ext cx="1728216" cy="132831"/>
          </a:xfrm>
          <a:prstGeom prst="rect">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txBox="1"/>
          <p:nvPr/>
        </p:nvSpPr>
        <p:spPr>
          <a:xfrm>
            <a:off x="723556" y="4215838"/>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③  Report completion (at approval request)</a:t>
            </a:r>
            <a:endParaRPr b="0" i="0" sz="1050" u="none" cap="none" strike="noStrike">
              <a:solidFill>
                <a:srgbClr val="000000"/>
              </a:solidFill>
              <a:latin typeface="Arial"/>
              <a:ea typeface="Arial"/>
              <a:cs typeface="Arial"/>
              <a:sym typeface="Arial"/>
            </a:endParaRPr>
          </a:p>
        </p:txBody>
      </p:sp>
      <p:cxnSp>
        <p:nvCxnSpPr>
          <p:cNvPr id="124" name="Google Shape;124;p8"/>
          <p:cNvCxnSpPr/>
          <p:nvPr/>
        </p:nvCxnSpPr>
        <p:spPr>
          <a:xfrm>
            <a:off x="635000" y="4472646"/>
            <a:ext cx="10919048" cy="0"/>
          </a:xfrm>
          <a:prstGeom prst="straightConnector1">
            <a:avLst/>
          </a:prstGeom>
          <a:noFill/>
          <a:ln cap="flat" cmpd="sng" w="9525">
            <a:solidFill>
              <a:srgbClr val="F2F2F2"/>
            </a:solidFill>
            <a:prstDash val="solid"/>
            <a:round/>
            <a:headEnd len="sm" w="sm" type="none"/>
            <a:tailEnd len="sm" w="sm" type="none"/>
          </a:ln>
        </p:spPr>
      </p:cxnSp>
      <p:sp>
        <p:nvSpPr>
          <p:cNvPr id="125" name="Google Shape;125;p8"/>
          <p:cNvSpPr/>
          <p:nvPr/>
        </p:nvSpPr>
        <p:spPr>
          <a:xfrm>
            <a:off x="8485632" y="4277826"/>
            <a:ext cx="457200" cy="132831"/>
          </a:xfrm>
          <a:prstGeom prst="rect">
            <a:avLst/>
          </a:prstGeom>
          <a:solidFill>
            <a:srgbClr val="5D616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txBox="1"/>
          <p:nvPr/>
        </p:nvSpPr>
        <p:spPr>
          <a:xfrm>
            <a:off x="723556" y="4472646"/>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Update the progress tracker (ongoing)</a:t>
            </a:r>
            <a:endParaRPr b="0" i="0" sz="1050" u="none" cap="none" strike="noStrike">
              <a:solidFill>
                <a:srgbClr val="000000"/>
              </a:solidFill>
              <a:latin typeface="Arial"/>
              <a:ea typeface="Arial"/>
              <a:cs typeface="Arial"/>
              <a:sym typeface="Arial"/>
            </a:endParaRPr>
          </a:p>
        </p:txBody>
      </p:sp>
      <p:cxnSp>
        <p:nvCxnSpPr>
          <p:cNvPr id="127" name="Google Shape;127;p8"/>
          <p:cNvCxnSpPr/>
          <p:nvPr/>
        </p:nvCxnSpPr>
        <p:spPr>
          <a:xfrm>
            <a:off x="635000" y="4729454"/>
            <a:ext cx="10919048" cy="0"/>
          </a:xfrm>
          <a:prstGeom prst="straightConnector1">
            <a:avLst/>
          </a:prstGeom>
          <a:noFill/>
          <a:ln cap="flat" cmpd="sng" w="9525">
            <a:solidFill>
              <a:srgbClr val="F2F2F2"/>
            </a:solidFill>
            <a:prstDash val="solid"/>
            <a:round/>
            <a:headEnd len="sm" w="sm" type="none"/>
            <a:tailEnd len="sm" w="sm" type="none"/>
          </a:ln>
        </p:spPr>
      </p:cxnSp>
      <p:sp>
        <p:nvSpPr>
          <p:cNvPr id="128" name="Google Shape;128;p8"/>
          <p:cNvSpPr/>
          <p:nvPr/>
        </p:nvSpPr>
        <p:spPr>
          <a:xfrm>
            <a:off x="4663440" y="4534634"/>
            <a:ext cx="5468112" cy="132831"/>
          </a:xfrm>
          <a:prstGeom prst="rect">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txBox="1"/>
          <p:nvPr/>
        </p:nvSpPr>
        <p:spPr>
          <a:xfrm>
            <a:off x="723556" y="4729454"/>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Report and consult on issues (ongoing)</a:t>
            </a:r>
            <a:endParaRPr b="0" i="0" sz="1050" u="none" cap="none" strike="noStrike">
              <a:solidFill>
                <a:srgbClr val="000000"/>
              </a:solidFill>
              <a:latin typeface="Arial"/>
              <a:ea typeface="Arial"/>
              <a:cs typeface="Arial"/>
              <a:sym typeface="Arial"/>
            </a:endParaRPr>
          </a:p>
        </p:txBody>
      </p:sp>
      <p:cxnSp>
        <p:nvCxnSpPr>
          <p:cNvPr id="130" name="Google Shape;130;p8"/>
          <p:cNvCxnSpPr/>
          <p:nvPr/>
        </p:nvCxnSpPr>
        <p:spPr>
          <a:xfrm>
            <a:off x="635000" y="4986261"/>
            <a:ext cx="10919048" cy="0"/>
          </a:xfrm>
          <a:prstGeom prst="straightConnector1">
            <a:avLst/>
          </a:prstGeom>
          <a:noFill/>
          <a:ln cap="flat" cmpd="sng" w="9525">
            <a:solidFill>
              <a:srgbClr val="F2F2F2"/>
            </a:solidFill>
            <a:prstDash val="solid"/>
            <a:round/>
            <a:headEnd len="sm" w="sm" type="none"/>
            <a:tailEnd len="sm" w="sm" type="none"/>
          </a:ln>
        </p:spPr>
      </p:cxnSp>
      <p:sp>
        <p:nvSpPr>
          <p:cNvPr id="131" name="Google Shape;131;p8"/>
          <p:cNvSpPr/>
          <p:nvPr/>
        </p:nvSpPr>
        <p:spPr>
          <a:xfrm>
            <a:off x="4664332" y="4791442"/>
            <a:ext cx="5465216" cy="132831"/>
          </a:xfrm>
          <a:prstGeom prst="rect">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txBox="1"/>
          <p:nvPr/>
        </p:nvSpPr>
        <p:spPr>
          <a:xfrm>
            <a:off x="723556" y="4986261"/>
            <a:ext cx="3896497" cy="2568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050"/>
              <a:buFont typeface="Arial"/>
              <a:buNone/>
            </a:pPr>
            <a:r>
              <a:rPr b="0" i="0" lang="en-US" sz="1050" u="none" cap="none" strike="noStrike">
                <a:solidFill>
                  <a:srgbClr val="000000"/>
                </a:solidFill>
                <a:latin typeface="Arial"/>
                <a:ea typeface="Arial"/>
                <a:cs typeface="Arial"/>
                <a:sym typeface="Arial"/>
              </a:rPr>
              <a:t>Change owner of transitional work (after procedure)</a:t>
            </a:r>
            <a:endParaRPr b="0" i="0" sz="1050" u="none" cap="none" strike="noStrike">
              <a:solidFill>
                <a:srgbClr val="000000"/>
              </a:solidFill>
              <a:latin typeface="Arial"/>
              <a:ea typeface="Arial"/>
              <a:cs typeface="Arial"/>
              <a:sym typeface="Arial"/>
            </a:endParaRPr>
          </a:p>
        </p:txBody>
      </p:sp>
      <p:cxnSp>
        <p:nvCxnSpPr>
          <p:cNvPr id="133" name="Google Shape;133;p8"/>
          <p:cNvCxnSpPr/>
          <p:nvPr/>
        </p:nvCxnSpPr>
        <p:spPr>
          <a:xfrm>
            <a:off x="635000" y="5243069"/>
            <a:ext cx="10919048" cy="0"/>
          </a:xfrm>
          <a:prstGeom prst="straightConnector1">
            <a:avLst/>
          </a:prstGeom>
          <a:noFill/>
          <a:ln cap="flat" cmpd="sng" w="9525">
            <a:solidFill>
              <a:srgbClr val="F2F2F2"/>
            </a:solidFill>
            <a:prstDash val="solid"/>
            <a:round/>
            <a:headEnd len="sm" w="sm" type="none"/>
            <a:tailEnd len="sm" w="sm" type="none"/>
          </a:ln>
        </p:spPr>
      </p:cxnSp>
      <p:sp>
        <p:nvSpPr>
          <p:cNvPr id="134" name="Google Shape;134;p8"/>
          <p:cNvSpPr/>
          <p:nvPr/>
        </p:nvSpPr>
        <p:spPr>
          <a:xfrm>
            <a:off x="10182683" y="5048250"/>
            <a:ext cx="1318230" cy="132831"/>
          </a:xfrm>
          <a:prstGeom prst="rect">
            <a:avLst/>
          </a:prstGeom>
          <a:solidFill>
            <a:srgbClr val="F2F2F2"/>
          </a:solidFill>
          <a:ln cap="flat" cmpd="sng" w="9525">
            <a:solidFill>
              <a:srgbClr val="D9D9D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txBox="1"/>
          <p:nvPr/>
        </p:nvSpPr>
        <p:spPr>
          <a:xfrm>
            <a:off x="10182683" y="5048250"/>
            <a:ext cx="1318230" cy="13283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4040"/>
              </a:buClr>
              <a:buSzPts val="850"/>
              <a:buFont typeface="Arial"/>
              <a:buNone/>
            </a:pPr>
            <a:r>
              <a:rPr b="0" i="0" lang="en-US" sz="850" u="none" cap="none" strike="noStrike">
                <a:solidFill>
                  <a:srgbClr val="404040"/>
                </a:solidFill>
                <a:latin typeface="Arial"/>
                <a:ea typeface="Arial"/>
                <a:cs typeface="Arial"/>
                <a:sym typeface="Arial"/>
              </a:rPr>
              <a:t>Per due dates</a:t>
            </a:r>
            <a:endParaRPr b="0" i="0" sz="850" u="none" cap="none" strike="noStrike">
              <a:solidFill>
                <a:srgbClr val="000000"/>
              </a:solidFill>
              <a:latin typeface="Arial"/>
              <a:ea typeface="Arial"/>
              <a:cs typeface="Arial"/>
              <a:sym typeface="Arial"/>
            </a:endParaRPr>
          </a:p>
        </p:txBody>
      </p:sp>
      <p:cxnSp>
        <p:nvCxnSpPr>
          <p:cNvPr id="136" name="Google Shape;136;p8"/>
          <p:cNvCxnSpPr/>
          <p:nvPr/>
        </p:nvCxnSpPr>
        <p:spPr>
          <a:xfrm>
            <a:off x="7305854" y="1727459"/>
            <a:ext cx="0" cy="3515610"/>
          </a:xfrm>
          <a:prstGeom prst="straightConnector1">
            <a:avLst/>
          </a:prstGeom>
          <a:noFill/>
          <a:ln cap="flat" cmpd="sng" w="9525">
            <a:solidFill>
              <a:srgbClr val="D9D9D9"/>
            </a:solidFill>
            <a:prstDash val="solid"/>
            <a:round/>
            <a:headEnd len="sm" w="sm" type="none"/>
            <a:tailEnd len="sm" w="sm" type="none"/>
          </a:ln>
        </p:spPr>
      </p:cxnSp>
      <p:cxnSp>
        <p:nvCxnSpPr>
          <p:cNvPr id="137" name="Google Shape;137;p8"/>
          <p:cNvCxnSpPr/>
          <p:nvPr/>
        </p:nvCxnSpPr>
        <p:spPr>
          <a:xfrm>
            <a:off x="8307810" y="1727459"/>
            <a:ext cx="0" cy="3515610"/>
          </a:xfrm>
          <a:prstGeom prst="straightConnector1">
            <a:avLst/>
          </a:prstGeom>
          <a:noFill/>
          <a:ln cap="flat" cmpd="sng" w="9525">
            <a:solidFill>
              <a:srgbClr val="D9D9D9"/>
            </a:solidFill>
            <a:prstDash val="dash"/>
            <a:round/>
            <a:headEnd len="sm" w="sm" type="none"/>
            <a:tailEnd len="sm" w="sm" type="none"/>
          </a:ln>
        </p:spPr>
      </p:cxnSp>
      <p:cxnSp>
        <p:nvCxnSpPr>
          <p:cNvPr id="138" name="Google Shape;138;p8"/>
          <p:cNvCxnSpPr/>
          <p:nvPr/>
        </p:nvCxnSpPr>
        <p:spPr>
          <a:xfrm>
            <a:off x="8945419" y="1727459"/>
            <a:ext cx="0" cy="3515610"/>
          </a:xfrm>
          <a:prstGeom prst="straightConnector1">
            <a:avLst/>
          </a:prstGeom>
          <a:noFill/>
          <a:ln cap="flat" cmpd="sng" w="9525">
            <a:solidFill>
              <a:srgbClr val="D9D9D9"/>
            </a:solidFill>
            <a:prstDash val="dash"/>
            <a:round/>
            <a:headEnd len="sm" w="sm" type="none"/>
            <a:tailEnd len="sm" w="sm" type="none"/>
          </a:ln>
        </p:spPr>
      </p:cxnSp>
      <p:cxnSp>
        <p:nvCxnSpPr>
          <p:cNvPr id="139" name="Google Shape;139;p8"/>
          <p:cNvCxnSpPr/>
          <p:nvPr/>
        </p:nvCxnSpPr>
        <p:spPr>
          <a:xfrm>
            <a:off x="10129549" y="1727459"/>
            <a:ext cx="0" cy="3515610"/>
          </a:xfrm>
          <a:prstGeom prst="straightConnector1">
            <a:avLst/>
          </a:prstGeom>
          <a:noFill/>
          <a:ln cap="flat" cmpd="sng" w="25400">
            <a:solidFill>
              <a:srgbClr val="B42318"/>
            </a:solidFill>
            <a:prstDash val="solid"/>
            <a:round/>
            <a:headEnd len="sm" w="sm" type="none"/>
            <a:tailEnd len="sm" w="sm" type="none"/>
          </a:ln>
        </p:spPr>
      </p:cxnSp>
      <p:sp>
        <p:nvSpPr>
          <p:cNvPr id="140" name="Google Shape;140;p8"/>
          <p:cNvSpPr/>
          <p:nvPr/>
        </p:nvSpPr>
        <p:spPr>
          <a:xfrm>
            <a:off x="635000" y="5376672"/>
            <a:ext cx="5379822" cy="1024128"/>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txBox="1"/>
          <p:nvPr/>
        </p:nvSpPr>
        <p:spPr>
          <a:xfrm>
            <a:off x="794402" y="5440680"/>
            <a:ext cx="5061018" cy="2656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323B"/>
              </a:buClr>
              <a:buSzPts val="1200"/>
              <a:buFont typeface="Arial"/>
              <a:buNone/>
            </a:pPr>
            <a:r>
              <a:rPr b="1" i="0" lang="en-US" sz="1200" u="none" cap="none" strike="noStrike">
                <a:solidFill>
                  <a:srgbClr val="23323B"/>
                </a:solidFill>
                <a:latin typeface="Arial"/>
                <a:ea typeface="Arial"/>
                <a:cs typeface="Arial"/>
                <a:sym typeface="Arial"/>
              </a:rPr>
              <a:t>S&amp;G: transfer approval is granted</a:t>
            </a:r>
            <a:endParaRPr b="0" i="0" sz="1200" u="none" cap="none" strike="noStrike">
              <a:solidFill>
                <a:srgbClr val="000000"/>
              </a:solidFill>
              <a:latin typeface="Arial"/>
              <a:ea typeface="Arial"/>
              <a:cs typeface="Arial"/>
              <a:sym typeface="Arial"/>
            </a:endParaRPr>
          </a:p>
        </p:txBody>
      </p:sp>
      <p:sp>
        <p:nvSpPr>
          <p:cNvPr id="142" name="Google Shape;142;p8"/>
          <p:cNvSpPr txBox="1"/>
          <p:nvPr/>
        </p:nvSpPr>
        <p:spPr>
          <a:xfrm>
            <a:off x="794402" y="5705856"/>
            <a:ext cx="5061018" cy="658368"/>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ED5604"/>
              </a:buClr>
              <a:buFont typeface="Arial"/>
              <a:buChar char="✓"/>
            </a:pPr>
            <a:r>
              <a:rPr b="0" i="0" lang="en-US" sz="1050" u="none" cap="none" strike="noStrike">
                <a:solidFill>
                  <a:srgbClr val="000000"/>
                </a:solidFill>
                <a:latin typeface="Arial"/>
                <a:ea typeface="Arial"/>
                <a:cs typeface="Arial"/>
                <a:sym typeface="Arial"/>
              </a:rPr>
              <a:t>Agreements and completion reports for all cases are in</a:t>
            </a:r>
            <a:endParaRPr b="0" i="0" sz="1000" u="none" cap="none" strike="noStrike">
              <a:solidFill>
                <a:srgbClr val="000000"/>
              </a:solidFill>
              <a:latin typeface="Arial"/>
              <a:ea typeface="Arial"/>
              <a:cs typeface="Arial"/>
              <a:sym typeface="Arial"/>
            </a:endParaRPr>
          </a:p>
          <a:p>
            <a:pPr indent="-228600" lvl="0" marL="228600" marR="0" rtl="0" algn="l">
              <a:spcBef>
                <a:spcPts val="0"/>
              </a:spcBef>
              <a:spcAft>
                <a:spcPts val="0"/>
              </a:spcAft>
              <a:buClr>
                <a:srgbClr val="ED5604"/>
              </a:buClr>
              <a:buFont typeface="Arial"/>
              <a:buChar char="✓"/>
            </a:pPr>
            <a:r>
              <a:rPr b="0" i="0" lang="en-US" sz="1050" u="none" cap="none" strike="noStrike">
                <a:solidFill>
                  <a:srgbClr val="000000"/>
                </a:solidFill>
                <a:latin typeface="Arial"/>
                <a:ea typeface="Arial"/>
                <a:cs typeface="Arial"/>
                <a:sym typeface="Arial"/>
              </a:rPr>
              <a:t>The progress tracker (transfer status) is up to date</a:t>
            </a:r>
            <a:endParaRPr b="0" i="0" sz="1000" u="none" cap="none" strike="noStrike">
              <a:solidFill>
                <a:srgbClr val="000000"/>
              </a:solidFill>
              <a:latin typeface="Arial"/>
              <a:ea typeface="Arial"/>
              <a:cs typeface="Arial"/>
              <a:sym typeface="Arial"/>
            </a:endParaRPr>
          </a:p>
          <a:p>
            <a:pPr indent="-228600" lvl="0" marL="228600" marR="0" rtl="0" algn="l">
              <a:spcBef>
                <a:spcPts val="0"/>
              </a:spcBef>
              <a:spcAft>
                <a:spcPts val="0"/>
              </a:spcAft>
              <a:buClr>
                <a:srgbClr val="ED5604"/>
              </a:buClr>
              <a:buFont typeface="Arial"/>
              <a:buChar char="✓"/>
            </a:pPr>
            <a:r>
              <a:rPr b="0" i="0" lang="en-US" sz="1050" u="none" cap="none" strike="noStrike">
                <a:solidFill>
                  <a:srgbClr val="000000"/>
                </a:solidFill>
                <a:latin typeface="Arial"/>
                <a:ea typeface="Arial"/>
                <a:cs typeface="Arial"/>
                <a:sym typeface="Arial"/>
              </a:rPr>
              <a:t>Approval information (budgets and contracts, next year's budget) is in order</a:t>
            </a:r>
            <a:endParaRPr b="0" i="0" sz="1000" u="none" cap="none" strike="noStrike">
              <a:solidFill>
                <a:srgbClr val="000000"/>
              </a:solidFill>
              <a:latin typeface="Arial"/>
              <a:ea typeface="Arial"/>
              <a:cs typeface="Arial"/>
              <a:sym typeface="Arial"/>
            </a:endParaRPr>
          </a:p>
        </p:txBody>
      </p:sp>
      <p:sp>
        <p:nvSpPr>
          <p:cNvPr id="143" name="Google Shape;143;p8"/>
          <p:cNvSpPr/>
          <p:nvPr/>
        </p:nvSpPr>
        <p:spPr>
          <a:xfrm>
            <a:off x="6174225" y="5376672"/>
            <a:ext cx="5379822" cy="1024128"/>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txBox="1"/>
          <p:nvPr/>
        </p:nvSpPr>
        <p:spPr>
          <a:xfrm>
            <a:off x="6333627" y="5440680"/>
            <a:ext cx="5061018" cy="2656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323B"/>
              </a:buClr>
              <a:buSzPts val="1200"/>
              <a:buFont typeface="Arial"/>
              <a:buNone/>
            </a:pPr>
            <a:r>
              <a:rPr b="1" i="0" lang="en-US" sz="1200" u="none" cap="none" strike="noStrike">
                <a:solidFill>
                  <a:srgbClr val="23323B"/>
                </a:solidFill>
                <a:latin typeface="Arial"/>
                <a:ea typeface="Arial"/>
                <a:cs typeface="Arial"/>
                <a:sym typeface="Arial"/>
              </a:rPr>
              <a:t>Assigned BP: ready to start the work after the transfer</a:t>
            </a:r>
            <a:endParaRPr b="0" i="0" sz="1200" u="none" cap="none" strike="noStrike">
              <a:solidFill>
                <a:srgbClr val="000000"/>
              </a:solidFill>
              <a:latin typeface="Arial"/>
              <a:ea typeface="Arial"/>
              <a:cs typeface="Arial"/>
              <a:sym typeface="Arial"/>
            </a:endParaRPr>
          </a:p>
        </p:txBody>
      </p:sp>
      <p:sp>
        <p:nvSpPr>
          <p:cNvPr id="145" name="Google Shape;145;p8"/>
          <p:cNvSpPr txBox="1"/>
          <p:nvPr/>
        </p:nvSpPr>
        <p:spPr>
          <a:xfrm>
            <a:off x="6333627" y="5705856"/>
            <a:ext cx="5061018" cy="658368"/>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ED5604"/>
              </a:buClr>
              <a:buFont typeface="Arial"/>
              <a:buChar char="✓"/>
            </a:pPr>
            <a:r>
              <a:rPr b="0" i="0" lang="en-US" sz="1050" u="none" cap="none" strike="noStrike">
                <a:solidFill>
                  <a:srgbClr val="000000"/>
                </a:solidFill>
                <a:latin typeface="Arial"/>
                <a:ea typeface="Arial"/>
                <a:cs typeface="Arial"/>
                <a:sym typeface="Arial"/>
              </a:rPr>
              <a:t>An approved agreement (budgets and contracts, work to take over, reporting route, timing)</a:t>
            </a:r>
            <a:endParaRPr b="0" i="0" sz="1000" u="none" cap="none" strike="noStrike">
              <a:solidFill>
                <a:srgbClr val="000000"/>
              </a:solidFill>
              <a:latin typeface="Arial"/>
              <a:ea typeface="Arial"/>
              <a:cs typeface="Arial"/>
              <a:sym typeface="Arial"/>
            </a:endParaRPr>
          </a:p>
          <a:p>
            <a:pPr indent="-228600" lvl="0" marL="228600" marR="0" rtl="0" algn="l">
              <a:spcBef>
                <a:spcPts val="0"/>
              </a:spcBef>
              <a:spcAft>
                <a:spcPts val="0"/>
              </a:spcAft>
              <a:buClr>
                <a:srgbClr val="ED5604"/>
              </a:buClr>
              <a:buFont typeface="Arial"/>
              <a:buChar char="✓"/>
            </a:pPr>
            <a:r>
              <a:rPr b="0" i="0" lang="en-US" sz="1050" u="none" cap="none" strike="noStrike">
                <a:solidFill>
                  <a:srgbClr val="000000"/>
                </a:solidFill>
                <a:latin typeface="Arial"/>
                <a:ea typeface="Arial"/>
                <a:cs typeface="Arial"/>
                <a:sym typeface="Arial"/>
              </a:rPr>
              <a:t>Manuals, contracts and past records have been taken over</a:t>
            </a:r>
            <a:endParaRPr b="0" i="0" sz="1000" u="none" cap="none" strike="noStrike">
              <a:solidFill>
                <a:srgbClr val="000000"/>
              </a:solidFill>
              <a:latin typeface="Arial"/>
              <a:ea typeface="Arial"/>
              <a:cs typeface="Arial"/>
              <a:sym typeface="Arial"/>
            </a:endParaRPr>
          </a:p>
          <a:p>
            <a:pPr indent="-228600" lvl="0" marL="228600" marR="0" rtl="0" algn="l">
              <a:spcBef>
                <a:spcPts val="0"/>
              </a:spcBef>
              <a:spcAft>
                <a:spcPts val="0"/>
              </a:spcAft>
              <a:buClr>
                <a:srgbClr val="ED5604"/>
              </a:buClr>
              <a:buFont typeface="Arial"/>
              <a:buChar char="✓"/>
            </a:pPr>
            <a:r>
              <a:rPr b="0" i="0" lang="en-US" sz="1050" u="none" cap="none" strike="noStrike">
                <a:solidFill>
                  <a:srgbClr val="000000"/>
                </a:solidFill>
                <a:latin typeface="Arial"/>
                <a:ea typeface="Arial"/>
                <a:cs typeface="Arial"/>
                <a:sym typeface="Arial"/>
              </a:rPr>
              <a:t>GDS can manage contracts and pay from January</a:t>
            </a:r>
            <a:endParaRPr b="0" i="0" sz="1000" u="none" cap="none" strike="noStrike">
              <a:solidFill>
                <a:srgbClr val="000000"/>
              </a:solidFill>
              <a:latin typeface="Arial"/>
              <a:ea typeface="Arial"/>
              <a:cs typeface="Arial"/>
              <a:sym typeface="Arial"/>
            </a:endParaRPr>
          </a:p>
        </p:txBody>
      </p:sp>
      <p:sp>
        <p:nvSpPr>
          <p:cNvPr id="146" name="Google Shape;146;p8"/>
          <p:cNvSpPr txBox="1"/>
          <p:nvPr>
            <p:ph idx="4294967295" type="sldNum"/>
          </p:nvPr>
        </p:nvSpPr>
        <p:spPr>
          <a:xfrm>
            <a:off x="10795000" y="6527800"/>
            <a:ext cx="762000" cy="15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7F7F7F"/>
                </a:solidFill>
                <a:latin typeface="Arial"/>
                <a:ea typeface="Arial"/>
                <a:cs typeface="Arial"/>
                <a:sym typeface="Arial"/>
              </a:rPr>
              <a:t>‹#›</a:t>
            </a:fld>
            <a:endParaRPr b="0" i="0" sz="1000" u="none" cap="none" strike="noStrike">
              <a:solidFill>
                <a:srgbClr val="7F7F7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0"/>
          <p:cNvSpPr txBox="1"/>
          <p:nvPr>
            <p:ph type="title"/>
          </p:nvPr>
        </p:nvSpPr>
        <p:spPr>
          <a:xfrm>
            <a:off x="635000" y="406400"/>
            <a:ext cx="10922000" cy="431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23323B"/>
              </a:buClr>
              <a:buSzPts val="2600"/>
              <a:buFont typeface="Arial"/>
              <a:buNone/>
            </a:pPr>
            <a:r>
              <a:rPr b="1" lang="en-US" sz="2400">
                <a:solidFill>
                  <a:srgbClr val="23323B"/>
                </a:solidFill>
              </a:rPr>
              <a:t>Roles After the Transfer (RACI)</a:t>
            </a:r>
            <a:endParaRPr sz="2400" b="1">
              <a:solidFill>
                <a:srgbClr val="23323B"/>
              </a:solidFill>
            </a:endParaRPr>
          </a:p>
        </p:txBody>
      </p:sp>
      <p:sp>
        <p:nvSpPr>
          <p:cNvPr id="204" name="Google Shape;204;p10"/>
          <p:cNvSpPr txBox="1"/>
          <p:nvPr/>
        </p:nvSpPr>
        <p:spPr>
          <a:xfrm>
            <a:off x="635000" y="889000"/>
            <a:ext cx="1092200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323B"/>
              </a:buClr>
              <a:buSzPts val="1400"/>
              <a:buFont typeface="Arial"/>
              <a:buNone/>
            </a:pPr>
            <a:r>
              <a:rPr b="1" i="0" lang="en-US" sz="1400" u="none" cap="none" strike="noStrike">
                <a:solidFill>
                  <a:srgbClr val="404040"/>
                </a:solidFill>
                <a:latin typeface="Arial"/>
                <a:ea typeface="Arial"/>
                <a:cs typeface="Arial"/>
                <a:sym typeface="Arial"/>
              </a:rPr>
              <a:t>In IT-led domains, GDS leads (R) and decides (A) with the Functions' advice (C)</a:t>
            </a:r>
            <a:endParaRPr b="1" i="0" sz="1400" u="none" cap="none" strike="noStrike">
              <a:solidFill>
                <a:srgbClr val="404040"/>
              </a:solidFill>
              <a:latin typeface="Arial"/>
              <a:ea typeface="Arial"/>
              <a:cs typeface="Arial"/>
              <a:sym typeface="Arial"/>
            </a:endParaRPr>
          </a:p>
          <a:p>
            <a:pPr indent="0" lvl="0" marL="0" marR="0" rtl="0" algn="l">
              <a:spcBef>
                <a:spcPts val="0"/>
              </a:spcBef>
              <a:spcAft>
                <a:spcPts val="0"/>
              </a:spcAft>
              <a:buClr>
                <a:srgbClr val="23323B"/>
              </a:buClr>
              <a:buSzPts val="1400"/>
              <a:buFont typeface="Arial"/>
              <a:buNone/>
            </a:pPr>
            <a:r>
              <a:rPr b="1" i="0" lang="en-US" sz="1400" u="none" cap="none" strike="noStrike">
                <a:solidFill>
                  <a:srgbClr val="404040"/>
                </a:solidFill>
                <a:latin typeface="Arial"/>
                <a:ea typeface="Arial"/>
                <a:cs typeface="Arial"/>
                <a:sym typeface="Arial"/>
              </a:rPr>
              <a:t>Exception: systems specific to one Function with no impact on others</a:t>
            </a:r>
            <a:endParaRPr b="1" i="0" sz="1400" u="none" cap="none" strike="noStrike">
              <a:solidFill>
                <a:srgbClr val="404040"/>
              </a:solidFill>
              <a:latin typeface="Arial"/>
              <a:ea typeface="Arial"/>
              <a:cs typeface="Arial"/>
              <a:sym typeface="Arial"/>
            </a:endParaRPr>
          </a:p>
        </p:txBody>
      </p:sp>
      <p:sp>
        <p:nvSpPr>
          <p:cNvPr id="249" name="Google Shape;249;p10"/>
          <p:cNvSpPr txBox="1"/>
          <p:nvPr>
            <p:ph idx="4294967295" type="sldNum"/>
          </p:nvPr>
        </p:nvSpPr>
        <p:spPr>
          <a:xfrm>
            <a:off x="10795000" y="6527800"/>
            <a:ext cx="762000" cy="15240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7F7F7F"/>
                </a:solidFill>
                <a:latin typeface="Arial"/>
                <a:ea typeface="Arial"/>
                <a:cs typeface="Arial"/>
                <a:sym typeface="Arial"/>
              </a:rPr>
              <a:t>‹#›</a:t>
            </a:fld>
            <a:endParaRPr b="0" i="0" sz="1000" u="none" cap="none" strike="noStrike">
              <a:solidFill>
                <a:srgbClr val="7F7F7F"/>
              </a:solidFill>
              <a:latin typeface="Arial"/>
              <a:ea typeface="Arial"/>
              <a:cs typeface="Arial"/>
              <a:sym typeface="Arial"/>
            </a:endParaRPr>
          </a:p>
        </p:txBody>
      </p:sp>
      <p:sp>
        <p:nvSpPr>
          <p:cNvPr id="250" name="act-req-arc"/>
          <p:cNvSpPr/>
          <p:nvPr/>
        </p:nvSpPr>
        <p:spPr>
          <a:xfrm>
            <a:off x="694943" y="1901951"/>
            <a:ext cx="7863840" cy="4059936"/>
          </a:xfrm>
          <a:prstGeom prst="arc">
            <a:avLst>
              <a:gd name="adj1" fmla="val 9780079"/>
              <a:gd name="adj2" fmla="val 16200000"/>
            </a:avLst>
          </a:prstGeom>
          <a:noFill/>
          <a:ln w="19050">
            <a:solidFill>
              <a:srgbClr val="7F7F7F"/>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act-review-arc"/>
          <p:cNvSpPr/>
          <p:nvPr/>
        </p:nvSpPr>
        <p:spPr>
          <a:xfrm>
            <a:off x="3621024" y="1901951"/>
            <a:ext cx="7863840" cy="4059936"/>
          </a:xfrm>
          <a:prstGeom prst="arc">
            <a:avLst>
              <a:gd name="adj1" fmla="val 16200000"/>
              <a:gd name="adj2" fmla="val 1019921"/>
            </a:avLst>
          </a:prstGeom>
          <a:noFill/>
          <a:ln w="19050">
            <a:solidFill>
              <a:srgbClr val="7F7F7F"/>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 name="act-itstrategy"/>
          <p:cNvCxnSpPr/>
          <p:nvPr/>
        </p:nvCxnSpPr>
        <p:spPr>
          <a:xfrm>
            <a:off x="6089904" y="2267712"/>
            <a:ext cx="0" cy="32004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3" name="act-policy"/>
          <p:cNvCxnSpPr/>
          <p:nvPr/>
        </p:nvCxnSpPr>
        <p:spPr>
          <a:xfrm>
            <a:off x="6089904" y="3319272"/>
            <a:ext cx="0" cy="32004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4" name="act-reqdef"/>
          <p:cNvCxnSpPr/>
          <p:nvPr/>
        </p:nvCxnSpPr>
        <p:spPr>
          <a:xfrm flipV="1">
            <a:off x="2478024" y="4370832"/>
            <a:ext cx="0" cy="36576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5" name="act-solution"/>
          <p:cNvCxnSpPr/>
          <p:nvPr/>
        </p:nvCxnSpPr>
        <p:spPr>
          <a:xfrm>
            <a:off x="3712464" y="4005072"/>
            <a:ext cx="1143000" cy="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6" name="act-vendor"/>
          <p:cNvCxnSpPr/>
          <p:nvPr/>
        </p:nvCxnSpPr>
        <p:spPr>
          <a:xfrm>
            <a:off x="7324344" y="4005072"/>
            <a:ext cx="1143000" cy="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7" name="act-benefit"/>
          <p:cNvCxnSpPr/>
          <p:nvPr/>
        </p:nvCxnSpPr>
        <p:spPr>
          <a:xfrm>
            <a:off x="9701784" y="4370832"/>
            <a:ext cx="0" cy="365760"/>
          </a:xfrm>
          <a:prstGeom prst="line">
            <a:avLst/>
          </a:prstGeom>
          <a:ln w="1905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8" name="act-nfr"/>
          <p:cNvSpPr/>
          <p:nvPr/>
        </p:nvSpPr>
        <p:spPr>
          <a:xfrm>
            <a:off x="2926080" y="2953512"/>
            <a:ext cx="3401567" cy="1371600"/>
          </a:xfrm>
          <a:prstGeom prst="arc">
            <a:avLst>
              <a:gd name="adj1" fmla="val 10800000"/>
              <a:gd name="adj2" fmla="val 16200000"/>
            </a:avLst>
          </a:prstGeom>
          <a:noFill/>
          <a:ln w="19050">
            <a:solidFill>
              <a:srgbClr val="7F7F7F"/>
            </a:solidFill>
            <a:head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act-sourcing"/>
          <p:cNvSpPr/>
          <p:nvPr/>
        </p:nvSpPr>
        <p:spPr>
          <a:xfrm>
            <a:off x="5852160" y="2953512"/>
            <a:ext cx="3401567" cy="1371600"/>
          </a:xfrm>
          <a:prstGeom prst="arc">
            <a:avLst>
              <a:gd name="adj1" fmla="val 16200000"/>
              <a:gd name="adj2" fmla="val 21600000"/>
            </a:avLst>
          </a:prstGeom>
          <a:noFill/>
          <a:ln w="19050">
            <a:solidFill>
              <a:srgbClr val="7F7F7F"/>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PO-Strategy"/>
          <p:cNvSpPr/>
          <p:nvPr/>
        </p:nvSpPr>
        <p:spPr>
          <a:xfrm>
            <a:off x="4626864" y="1536192"/>
            <a:ext cx="29260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4754879" y="1618488"/>
            <a:ext cx="2103120" cy="237744"/>
          </a:xfrm>
          <a:prstGeom prst="rect">
            <a:avLst/>
          </a:prstGeom>
          <a:noFill/>
        </p:spPr>
        <p:txBody>
          <a:bodyPr wrap="square" lIns="0" rIns="0" tIns="0" bIns="0" anchor="t">
            <a:spAutoFit/>
          </a:bodyPr>
          <a:lstStyle/>
          <a:p>
            <a:pPr algn="l"/>
            <a:r>
              <a:rPr sz="1150" b="1">
                <a:solidFill>
                  <a:srgbClr val="23323B"/>
                </a:solidFill>
                <a:latin typeface="Arial"/>
                <a:ea typeface="Arial"/>
              </a:rPr>
              <a:t>Business strategy</a:t>
            </a:r>
          </a:p>
        </p:txBody>
      </p:sp>
      <p:sp>
        <p:nvSpPr>
          <p:cNvPr id="262" name="Rounded Rectangle 261"/>
          <p:cNvSpPr/>
          <p:nvPr/>
        </p:nvSpPr>
        <p:spPr>
          <a:xfrm>
            <a:off x="6912863" y="1636776"/>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Business</a:t>
            </a:r>
          </a:p>
        </p:txBody>
      </p:sp>
      <p:sp>
        <p:nvSpPr>
          <p:cNvPr id="263" name="TextBox 262"/>
          <p:cNvSpPr txBox="1"/>
          <p:nvPr/>
        </p:nvSpPr>
        <p:spPr>
          <a:xfrm>
            <a:off x="4754879" y="1892807"/>
            <a:ext cx="2670048" cy="292608"/>
          </a:xfrm>
          <a:prstGeom prst="rect">
            <a:avLst/>
          </a:prstGeom>
          <a:noFill/>
        </p:spPr>
        <p:txBody>
          <a:bodyPr wrap="square" lIns="0" rIns="0" tIns="0" bIns="0" anchor="t">
            <a:spAutoFit/>
          </a:bodyPr>
          <a:lstStyle/>
          <a:p>
            <a:pPr algn="l"/>
            <a:r>
              <a:rPr sz="850" b="0">
                <a:solidFill>
                  <a:srgbClr val="404040"/>
                </a:solidFill>
                <a:latin typeface="Arial"/>
                <a:ea typeface="Arial"/>
              </a:rPr>
              <a:t>Business direction (create, grow, sustain, shrink/exit), business issues and expectations of IT</a:t>
            </a:r>
          </a:p>
        </p:txBody>
      </p:sp>
      <p:sp>
        <p:nvSpPr>
          <p:cNvPr id="264" name="SO-Strategy"/>
          <p:cNvSpPr/>
          <p:nvPr/>
        </p:nvSpPr>
        <p:spPr>
          <a:xfrm>
            <a:off x="4626864" y="2587752"/>
            <a:ext cx="29260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4754879" y="2670048"/>
            <a:ext cx="2103120" cy="237744"/>
          </a:xfrm>
          <a:prstGeom prst="rect">
            <a:avLst/>
          </a:prstGeom>
          <a:noFill/>
        </p:spPr>
        <p:txBody>
          <a:bodyPr wrap="square" lIns="0" rIns="0" tIns="0" bIns="0" anchor="t">
            <a:spAutoFit/>
          </a:bodyPr>
          <a:lstStyle/>
          <a:p>
            <a:pPr algn="l"/>
            <a:r>
              <a:rPr sz="1150" b="1">
                <a:solidFill>
                  <a:srgbClr val="FFFFFF"/>
                </a:solidFill>
                <a:latin typeface="Arial"/>
                <a:ea typeface="Arial"/>
              </a:rPr>
              <a:t>IT strategy</a:t>
            </a:r>
          </a:p>
        </p:txBody>
      </p:sp>
      <p:sp>
        <p:nvSpPr>
          <p:cNvPr id="266" name="Rounded Rectangle 265"/>
          <p:cNvSpPr/>
          <p:nvPr/>
        </p:nvSpPr>
        <p:spPr>
          <a:xfrm>
            <a:off x="6912863" y="2688336"/>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IT-led</a:t>
            </a:r>
          </a:p>
        </p:txBody>
      </p:sp>
      <p:sp>
        <p:nvSpPr>
          <p:cNvPr id="267" name="TextBox 266"/>
          <p:cNvSpPr txBox="1"/>
          <p:nvPr/>
        </p:nvSpPr>
        <p:spPr>
          <a:xfrm>
            <a:off x="4754879" y="2944368"/>
            <a:ext cx="2670048" cy="292608"/>
          </a:xfrm>
          <a:prstGeom prst="rect">
            <a:avLst/>
          </a:prstGeom>
          <a:noFill/>
        </p:spPr>
        <p:txBody>
          <a:bodyPr wrap="square" lIns="0" rIns="0" tIns="0" bIns="0" anchor="t">
            <a:spAutoFit/>
          </a:bodyPr>
          <a:lstStyle/>
          <a:p>
            <a:pPr algn="l"/>
            <a:r>
              <a:rPr sz="850" b="0">
                <a:solidFill>
                  <a:srgbClr val="FFFFFF"/>
                </a:solidFill>
                <a:latin typeface="Arial"/>
                <a:ea typeface="Arial"/>
              </a:rPr>
              <a:t>IT investment policy, enterprise architecture and shared platforms, technology choices and sourcing direction</a:t>
            </a:r>
          </a:p>
        </p:txBody>
      </p:sp>
      <p:sp>
        <p:nvSpPr>
          <p:cNvPr id="268" name="SO-SysReq"/>
          <p:cNvSpPr/>
          <p:nvPr/>
        </p:nvSpPr>
        <p:spPr>
          <a:xfrm>
            <a:off x="1243584" y="3639312"/>
            <a:ext cx="24688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1371600" y="3721608"/>
            <a:ext cx="1645920" cy="237744"/>
          </a:xfrm>
          <a:prstGeom prst="rect">
            <a:avLst/>
          </a:prstGeom>
          <a:noFill/>
        </p:spPr>
        <p:txBody>
          <a:bodyPr wrap="square" lIns="0" rIns="0" tIns="0" bIns="0" anchor="t">
            <a:spAutoFit/>
          </a:bodyPr>
          <a:lstStyle/>
          <a:p>
            <a:pPr algn="l"/>
            <a:r>
              <a:rPr sz="1150" b="1">
                <a:solidFill>
                  <a:srgbClr val="FFFFFF"/>
                </a:solidFill>
                <a:latin typeface="Arial"/>
                <a:ea typeface="Arial"/>
              </a:rPr>
              <a:t>System requirements</a:t>
            </a:r>
          </a:p>
        </p:txBody>
      </p:sp>
      <p:sp>
        <p:nvSpPr>
          <p:cNvPr id="270" name="Rounded Rectangle 269"/>
          <p:cNvSpPr/>
          <p:nvPr/>
        </p:nvSpPr>
        <p:spPr>
          <a:xfrm>
            <a:off x="3072384" y="3739896"/>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IT-led</a:t>
            </a:r>
          </a:p>
        </p:txBody>
      </p:sp>
      <p:sp>
        <p:nvSpPr>
          <p:cNvPr id="271" name="TextBox 270"/>
          <p:cNvSpPr txBox="1"/>
          <p:nvPr/>
        </p:nvSpPr>
        <p:spPr>
          <a:xfrm>
            <a:off x="1371600" y="3995928"/>
            <a:ext cx="2212848" cy="292608"/>
          </a:xfrm>
          <a:prstGeom prst="rect">
            <a:avLst/>
          </a:prstGeom>
          <a:noFill/>
        </p:spPr>
        <p:txBody>
          <a:bodyPr wrap="square" lIns="0" rIns="0" tIns="0" bIns="0" anchor="t">
            <a:spAutoFit/>
          </a:bodyPr>
          <a:lstStyle/>
          <a:p>
            <a:pPr algn="l"/>
            <a:r>
              <a:rPr sz="850" b="0">
                <a:solidFill>
                  <a:srgbClr val="FFFFFF"/>
                </a:solidFill>
                <a:latin typeface="Arial"/>
                <a:ea typeface="Arial"/>
              </a:rPr>
              <a:t>Functional, non-functional and transition requirements</a:t>
            </a:r>
          </a:p>
        </p:txBody>
      </p:sp>
      <p:sp>
        <p:nvSpPr>
          <p:cNvPr id="272" name="SO-Solution"/>
          <p:cNvSpPr/>
          <p:nvPr/>
        </p:nvSpPr>
        <p:spPr>
          <a:xfrm>
            <a:off x="4855464" y="3639312"/>
            <a:ext cx="24688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4983479" y="3721608"/>
            <a:ext cx="1645920" cy="237744"/>
          </a:xfrm>
          <a:prstGeom prst="rect">
            <a:avLst/>
          </a:prstGeom>
          <a:noFill/>
        </p:spPr>
        <p:txBody>
          <a:bodyPr wrap="square" lIns="0" rIns="0" tIns="0" bIns="0" anchor="t">
            <a:spAutoFit/>
          </a:bodyPr>
          <a:lstStyle/>
          <a:p>
            <a:pPr algn="l"/>
            <a:r>
              <a:rPr sz="1150" b="1">
                <a:solidFill>
                  <a:srgbClr val="FFFFFF"/>
                </a:solidFill>
                <a:latin typeface="Arial"/>
                <a:ea typeface="Arial"/>
              </a:rPr>
              <a:t>Solution</a:t>
            </a:r>
          </a:p>
        </p:txBody>
      </p:sp>
      <p:sp>
        <p:nvSpPr>
          <p:cNvPr id="274" name="Rounded Rectangle 273"/>
          <p:cNvSpPr/>
          <p:nvPr/>
        </p:nvSpPr>
        <p:spPr>
          <a:xfrm>
            <a:off x="6684264" y="3739896"/>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IT-led</a:t>
            </a:r>
          </a:p>
        </p:txBody>
      </p:sp>
      <p:sp>
        <p:nvSpPr>
          <p:cNvPr id="275" name="TextBox 274"/>
          <p:cNvSpPr txBox="1"/>
          <p:nvPr/>
        </p:nvSpPr>
        <p:spPr>
          <a:xfrm>
            <a:off x="4983479" y="3995928"/>
            <a:ext cx="2212848" cy="292608"/>
          </a:xfrm>
          <a:prstGeom prst="rect">
            <a:avLst/>
          </a:prstGeom>
          <a:noFill/>
        </p:spPr>
        <p:txBody>
          <a:bodyPr wrap="square" lIns="0" rIns="0" tIns="0" bIns="0" anchor="t">
            <a:spAutoFit/>
          </a:bodyPr>
          <a:lstStyle/>
          <a:p>
            <a:pPr algn="l"/>
            <a:r>
              <a:rPr sz="850" b="0">
                <a:solidFill>
                  <a:srgbClr val="FFFFFF"/>
                </a:solidFill>
                <a:latin typeface="Arial"/>
                <a:ea typeface="Arial"/>
              </a:rPr>
              <a:t>SaaS, package or custom build; lifecycle to retirement</a:t>
            </a:r>
          </a:p>
        </p:txBody>
      </p:sp>
      <p:sp>
        <p:nvSpPr>
          <p:cNvPr id="276" name="SO-Vendor"/>
          <p:cNvSpPr/>
          <p:nvPr/>
        </p:nvSpPr>
        <p:spPr>
          <a:xfrm>
            <a:off x="8467344" y="3639312"/>
            <a:ext cx="2468880" cy="73152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8595360" y="3721608"/>
            <a:ext cx="1645920" cy="237744"/>
          </a:xfrm>
          <a:prstGeom prst="rect">
            <a:avLst/>
          </a:prstGeom>
          <a:noFill/>
        </p:spPr>
        <p:txBody>
          <a:bodyPr wrap="square" lIns="0" rIns="0" tIns="0" bIns="0" anchor="t">
            <a:spAutoFit/>
          </a:bodyPr>
          <a:lstStyle/>
          <a:p>
            <a:pPr algn="l"/>
            <a:r>
              <a:rPr sz="1150" b="1">
                <a:solidFill>
                  <a:srgbClr val="FFFFFF"/>
                </a:solidFill>
                <a:latin typeface="Arial"/>
                <a:ea typeface="Arial"/>
              </a:rPr>
              <a:t>Vendor</a:t>
            </a:r>
          </a:p>
        </p:txBody>
      </p:sp>
      <p:sp>
        <p:nvSpPr>
          <p:cNvPr id="278" name="Rounded Rectangle 277"/>
          <p:cNvSpPr/>
          <p:nvPr/>
        </p:nvSpPr>
        <p:spPr>
          <a:xfrm>
            <a:off x="10296144" y="3739896"/>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IT-led</a:t>
            </a:r>
          </a:p>
        </p:txBody>
      </p:sp>
      <p:sp>
        <p:nvSpPr>
          <p:cNvPr id="279" name="TextBox 278"/>
          <p:cNvSpPr txBox="1"/>
          <p:nvPr/>
        </p:nvSpPr>
        <p:spPr>
          <a:xfrm>
            <a:off x="8595360" y="3995928"/>
            <a:ext cx="2212848" cy="292608"/>
          </a:xfrm>
          <a:prstGeom prst="rect">
            <a:avLst/>
          </a:prstGeom>
          <a:noFill/>
        </p:spPr>
        <p:txBody>
          <a:bodyPr wrap="square" lIns="0" rIns="0" tIns="0" bIns="0" anchor="t">
            <a:spAutoFit/>
          </a:bodyPr>
          <a:lstStyle/>
          <a:p>
            <a:pPr algn="l"/>
            <a:r>
              <a:rPr sz="850" b="0">
                <a:solidFill>
                  <a:srgbClr val="FFFFFF"/>
                </a:solidFill>
                <a:latin typeface="Arial"/>
                <a:ea typeface="Arial"/>
              </a:rPr>
              <a:t>Suppliers, proposals and terms; performance and risk</a:t>
            </a:r>
          </a:p>
        </p:txBody>
      </p:sp>
      <p:sp>
        <p:nvSpPr>
          <p:cNvPr id="280" name="PO-BizReq"/>
          <p:cNvSpPr/>
          <p:nvPr/>
        </p:nvSpPr>
        <p:spPr>
          <a:xfrm>
            <a:off x="1243584" y="4736592"/>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1371600" y="4818888"/>
            <a:ext cx="1645920" cy="237744"/>
          </a:xfrm>
          <a:prstGeom prst="rect">
            <a:avLst/>
          </a:prstGeom>
          <a:noFill/>
        </p:spPr>
        <p:txBody>
          <a:bodyPr wrap="square" lIns="0" rIns="0" tIns="0" bIns="0" anchor="t">
            <a:spAutoFit/>
          </a:bodyPr>
          <a:lstStyle/>
          <a:p>
            <a:pPr algn="l"/>
            <a:r>
              <a:rPr sz="1150" b="1">
                <a:solidFill>
                  <a:srgbClr val="23323B"/>
                </a:solidFill>
                <a:latin typeface="Arial"/>
                <a:ea typeface="Arial"/>
              </a:rPr>
              <a:t>Business requirements</a:t>
            </a:r>
          </a:p>
        </p:txBody>
      </p:sp>
      <p:sp>
        <p:nvSpPr>
          <p:cNvPr id="282" name="Rounded Rectangle 281"/>
          <p:cNvSpPr/>
          <p:nvPr/>
        </p:nvSpPr>
        <p:spPr>
          <a:xfrm>
            <a:off x="3072384" y="4837176"/>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Business</a:t>
            </a:r>
          </a:p>
        </p:txBody>
      </p:sp>
      <p:sp>
        <p:nvSpPr>
          <p:cNvPr id="283" name="TextBox 282"/>
          <p:cNvSpPr txBox="1"/>
          <p:nvPr/>
        </p:nvSpPr>
        <p:spPr>
          <a:xfrm>
            <a:off x="1371600" y="5093207"/>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Purpose and outcomes of change; business needs and priorities</a:t>
            </a:r>
          </a:p>
        </p:txBody>
      </p:sp>
      <p:sp>
        <p:nvSpPr>
          <p:cNvPr id="284" name="PO-Benefits"/>
          <p:cNvSpPr/>
          <p:nvPr/>
        </p:nvSpPr>
        <p:spPr>
          <a:xfrm>
            <a:off x="8467344" y="4736592"/>
            <a:ext cx="2468880" cy="731520"/>
          </a:xfrm>
          <a:prstGeom prst="rect">
            <a:avLst/>
          </a:prstGeom>
          <a:solidFill>
            <a:srgbClr val="EC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8595360" y="4818888"/>
            <a:ext cx="1645920" cy="237744"/>
          </a:xfrm>
          <a:prstGeom prst="rect">
            <a:avLst/>
          </a:prstGeom>
          <a:noFill/>
        </p:spPr>
        <p:txBody>
          <a:bodyPr wrap="square" lIns="0" rIns="0" tIns="0" bIns="0" anchor="t">
            <a:spAutoFit/>
          </a:bodyPr>
          <a:lstStyle/>
          <a:p>
            <a:pPr algn="l"/>
            <a:r>
              <a:rPr sz="1150" b="1">
                <a:solidFill>
                  <a:srgbClr val="23323B"/>
                </a:solidFill>
                <a:latin typeface="Arial"/>
                <a:ea typeface="Arial"/>
              </a:rPr>
              <a:t>Business benefits</a:t>
            </a:r>
          </a:p>
        </p:txBody>
      </p:sp>
      <p:sp>
        <p:nvSpPr>
          <p:cNvPr id="286" name="Rounded Rectangle 285"/>
          <p:cNvSpPr/>
          <p:nvPr/>
        </p:nvSpPr>
        <p:spPr>
          <a:xfrm>
            <a:off x="10296144" y="4837176"/>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Business</a:t>
            </a:r>
          </a:p>
        </p:txBody>
      </p:sp>
      <p:sp>
        <p:nvSpPr>
          <p:cNvPr id="287" name="TextBox 286"/>
          <p:cNvSpPr txBox="1"/>
          <p:nvPr/>
        </p:nvSpPr>
        <p:spPr>
          <a:xfrm>
            <a:off x="8595360" y="5093207"/>
            <a:ext cx="2212848" cy="292608"/>
          </a:xfrm>
          <a:prstGeom prst="rect">
            <a:avLst/>
          </a:prstGeom>
          <a:noFill/>
        </p:spPr>
        <p:txBody>
          <a:bodyPr wrap="square" lIns="0" rIns="0" tIns="0" bIns="0" anchor="t">
            <a:spAutoFit/>
          </a:bodyPr>
          <a:lstStyle/>
          <a:p>
            <a:pPr algn="l"/>
            <a:r>
              <a:rPr sz="850" b="0">
                <a:solidFill>
                  <a:srgbClr val="404040"/>
                </a:solidFill>
                <a:latin typeface="Arial"/>
                <a:ea typeface="Arial"/>
              </a:rPr>
              <a:t>Actual investment returns (KPIs) and factors limiting value</a:t>
            </a:r>
          </a:p>
        </p:txBody>
      </p:sp>
      <p:sp>
        <p:nvSpPr>
          <p:cNvPr id="288" name="lbl-req"/>
          <p:cNvSpPr/>
          <p:nvPr/>
        </p:nvSpPr>
        <p:spPr>
          <a:xfrm>
            <a:off x="675628" y="2982578"/>
            <a:ext cx="775411"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Clarify needs</a:t>
            </a:r>
          </a:p>
        </p:txBody>
      </p:sp>
      <p:sp>
        <p:nvSpPr>
          <p:cNvPr id="289" name="lbl-review"/>
          <p:cNvSpPr/>
          <p:nvPr/>
        </p:nvSpPr>
        <p:spPr>
          <a:xfrm>
            <a:off x="10728768" y="2982578"/>
            <a:ext cx="775411"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Evaluate / review</a:t>
            </a:r>
          </a:p>
        </p:txBody>
      </p:sp>
      <p:sp>
        <p:nvSpPr>
          <p:cNvPr id="290" name="lbl-itstrategy"/>
          <p:cNvSpPr/>
          <p:nvPr/>
        </p:nvSpPr>
        <p:spPr>
          <a:xfrm>
            <a:off x="5696803" y="2336292"/>
            <a:ext cx="786201"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Develop IT strategy</a:t>
            </a:r>
          </a:p>
        </p:txBody>
      </p:sp>
      <p:sp>
        <p:nvSpPr>
          <p:cNvPr id="291" name="lbl-policy"/>
          <p:cNvSpPr/>
          <p:nvPr/>
        </p:nvSpPr>
        <p:spPr>
          <a:xfrm>
            <a:off x="5756148" y="3387851"/>
            <a:ext cx="667512"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Apply policy</a:t>
            </a:r>
          </a:p>
        </p:txBody>
      </p:sp>
      <p:sp>
        <p:nvSpPr>
          <p:cNvPr id="292" name="lbl-reqdef"/>
          <p:cNvSpPr/>
          <p:nvPr/>
        </p:nvSpPr>
        <p:spPr>
          <a:xfrm>
            <a:off x="2198217" y="4462272"/>
            <a:ext cx="559612"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Requirements definition</a:t>
            </a:r>
          </a:p>
        </p:txBody>
      </p:sp>
      <p:sp>
        <p:nvSpPr>
          <p:cNvPr id="293" name="lbl-solution"/>
          <p:cNvSpPr/>
          <p:nvPr/>
        </p:nvSpPr>
        <p:spPr>
          <a:xfrm>
            <a:off x="3734409" y="3913632"/>
            <a:ext cx="1099108"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Solution selection</a:t>
            </a:r>
          </a:p>
        </p:txBody>
      </p:sp>
      <p:sp>
        <p:nvSpPr>
          <p:cNvPr id="294" name="lbl-vendor"/>
          <p:cNvSpPr/>
          <p:nvPr/>
        </p:nvSpPr>
        <p:spPr>
          <a:xfrm>
            <a:off x="7508138" y="3913632"/>
            <a:ext cx="775411"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Vendor selection</a:t>
            </a:r>
          </a:p>
        </p:txBody>
      </p:sp>
      <p:sp>
        <p:nvSpPr>
          <p:cNvPr id="295" name="lbl-benefit"/>
          <p:cNvSpPr/>
          <p:nvPr/>
        </p:nvSpPr>
        <p:spPr>
          <a:xfrm>
            <a:off x="9152229" y="4462272"/>
            <a:ext cx="1099108"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Accept / measure benefits</a:t>
            </a:r>
          </a:p>
        </p:txBody>
      </p:sp>
      <p:sp>
        <p:nvSpPr>
          <p:cNvPr id="296" name="lbl-nfr"/>
          <p:cNvSpPr/>
          <p:nvPr/>
        </p:nvSpPr>
        <p:spPr>
          <a:xfrm>
            <a:off x="3090472" y="3062938"/>
            <a:ext cx="667512"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Non-functional reqs</a:t>
            </a:r>
          </a:p>
        </p:txBody>
      </p:sp>
      <p:sp>
        <p:nvSpPr>
          <p:cNvPr id="297" name="lbl-sourcing"/>
          <p:cNvSpPr/>
          <p:nvPr/>
        </p:nvSpPr>
        <p:spPr>
          <a:xfrm>
            <a:off x="8421823" y="3062938"/>
            <a:ext cx="667512" cy="182880"/>
          </a:xfrm>
          <a:prstGeom prst="rect">
            <a:avLst/>
          </a:prstGeom>
          <a:solidFill>
            <a:srgbClr val="FFFFFF"/>
          </a:solidFill>
          <a:ln>
            <a:noFill/>
          </a:ln>
          <a:effectLst/>
        </p:spPr>
        <p:txBody>
          <a:bodyPr rtlCol="0" anchor="ctr" lIns="0" rIns="0" tIns="0" bIns="0" wrap="none"/>
          <a:lstStyle/>
          <a:p>
            <a:pPr algn="ctr"/>
            <a:r>
              <a:rPr sz="850" b="1">
                <a:solidFill>
                  <a:srgbClr val="23323B"/>
                </a:solidFill>
                <a:latin typeface="Arial"/>
                <a:ea typeface="Arial"/>
              </a:rPr>
              <a:t>Sourcing</a:t>
            </a:r>
          </a:p>
        </p:txBody>
      </p:sp>
      <p:sp>
        <p:nvSpPr>
          <p:cNvPr id="298" name="Rounded Rectangle 297"/>
          <p:cNvSpPr/>
          <p:nvPr/>
        </p:nvSpPr>
        <p:spPr>
          <a:xfrm>
            <a:off x="630936" y="1572768"/>
            <a:ext cx="512064" cy="182880"/>
          </a:xfrm>
          <a:prstGeom prst="roundRect">
            <a:avLst/>
          </a:prstGeom>
          <a:solidFill>
            <a:srgbClr val="ED56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FFFFFF"/>
                </a:solidFill>
                <a:latin typeface="Arial"/>
                <a:ea typeface="Arial"/>
              </a:rPr>
              <a:t>Business</a:t>
            </a:r>
          </a:p>
        </p:txBody>
      </p:sp>
      <p:sp>
        <p:nvSpPr>
          <p:cNvPr id="299" name="TextBox 298"/>
          <p:cNvSpPr txBox="1"/>
          <p:nvPr/>
        </p:nvSpPr>
        <p:spPr>
          <a:xfrm>
            <a:off x="1216152" y="1572768"/>
            <a:ext cx="2377440" cy="182880"/>
          </a:xfrm>
          <a:prstGeom prst="rect">
            <a:avLst/>
          </a:prstGeom>
          <a:noFill/>
        </p:spPr>
        <p:txBody>
          <a:bodyPr wrap="square" lIns="0" rIns="0" tIns="0" bIns="0" anchor="ctr">
            <a:spAutoFit/>
          </a:bodyPr>
          <a:lstStyle/>
          <a:p>
            <a:pPr algn="l"/>
            <a:r>
              <a:rPr sz="900" b="0">
                <a:solidFill>
                  <a:srgbClr val="404040"/>
                </a:solidFill>
                <a:latin typeface="Arial"/>
                <a:ea typeface="Arial"/>
              </a:rPr>
              <a:t>R, A: Functions</a:t>
            </a:r>
          </a:p>
        </p:txBody>
      </p:sp>
      <p:sp>
        <p:nvSpPr>
          <p:cNvPr id="300" name="Rounded Rectangle 299"/>
          <p:cNvSpPr/>
          <p:nvPr/>
        </p:nvSpPr>
        <p:spPr>
          <a:xfrm>
            <a:off x="630936" y="1801368"/>
            <a:ext cx="512064" cy="182880"/>
          </a:xfrm>
          <a:prstGeom prst="roundRect">
            <a:avLst/>
          </a:prstGeom>
          <a:solidFill>
            <a:srgbClr val="D0D5D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b="1">
                <a:solidFill>
                  <a:srgbClr val="23323B"/>
                </a:solidFill>
                <a:latin typeface="Arial"/>
                <a:ea typeface="Arial"/>
              </a:rPr>
              <a:t>IT-led</a:t>
            </a:r>
          </a:p>
        </p:txBody>
      </p:sp>
      <p:sp>
        <p:nvSpPr>
          <p:cNvPr id="301" name="TextBox 300"/>
          <p:cNvSpPr txBox="1"/>
          <p:nvPr/>
        </p:nvSpPr>
        <p:spPr>
          <a:xfrm>
            <a:off x="1216152" y="1801368"/>
            <a:ext cx="2377440" cy="182880"/>
          </a:xfrm>
          <a:prstGeom prst="rect">
            <a:avLst/>
          </a:prstGeom>
          <a:noFill/>
        </p:spPr>
        <p:txBody>
          <a:bodyPr wrap="square" lIns="0" rIns="0" tIns="0" bIns="0" anchor="ctr">
            <a:spAutoFit/>
          </a:bodyPr>
          <a:lstStyle/>
          <a:p>
            <a:pPr algn="l"/>
            <a:r>
              <a:rPr sz="900" b="0">
                <a:solidFill>
                  <a:srgbClr val="404040"/>
                </a:solidFill>
                <a:latin typeface="Arial"/>
                <a:ea typeface="Arial"/>
              </a:rPr>
              <a:t>R, A: GDS   C: Functions</a:t>
            </a:r>
          </a:p>
        </p:txBody>
      </p:sp>
      <p:sp>
        <p:nvSpPr>
          <p:cNvPr id="302" name="ITM-Label"/>
          <p:cNvSpPr/>
          <p:nvPr/>
        </p:nvSpPr>
        <p:spPr>
          <a:xfrm>
            <a:off x="630936" y="5596128"/>
            <a:ext cx="1417320" cy="713232"/>
          </a:xfrm>
          <a:prstGeom prst="rect">
            <a:avLst/>
          </a:prstGeom>
          <a:solidFill>
            <a:srgbClr val="5D61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685800" y="5724144"/>
            <a:ext cx="1307592" cy="566928"/>
          </a:xfrm>
          <a:prstGeom prst="rect">
            <a:avLst/>
          </a:prstGeom>
          <a:noFill/>
        </p:spPr>
        <p:txBody>
          <a:bodyPr wrap="square" lIns="0" rIns="0" tIns="0" bIns="0" anchor="t">
            <a:spAutoFit/>
          </a:bodyPr>
          <a:lstStyle/>
          <a:p>
            <a:pPr algn="ctr"/>
            <a:r>
              <a:rPr sz="1000" b="1">
                <a:solidFill>
                  <a:srgbClr val="FFFFFF"/>
                </a:solidFill>
                <a:latin typeface="Arial"/>
                <a:ea typeface="Arial"/>
              </a:rPr>
              <a:t>GDS</a:t>
            </a:r>
          </a:p>
          <a:p>
            <a:pPr algn="ctr"/>
            <a:r>
              <a:rPr sz="1000" b="1">
                <a:solidFill>
                  <a:srgbClr val="FFFFFF"/>
                </a:solidFill>
                <a:latin typeface="Arial"/>
                <a:ea typeface="Arial"/>
              </a:rPr>
              <a:t>management</a:t>
            </a:r>
          </a:p>
          <a:p>
            <a:pPr algn="ctr"/>
            <a:r>
              <a:rPr sz="1000" b="0">
                <a:solidFill>
                  <a:srgbClr val="FFFFFF"/>
                </a:solidFill>
                <a:latin typeface="Arial"/>
                <a:ea typeface="Arial"/>
              </a:rPr>
              <a:t>(A, R)</a:t>
            </a:r>
          </a:p>
        </p:txBody>
      </p:sp>
      <p:sp>
        <p:nvSpPr>
          <p:cNvPr id="304" name="ITM-0"/>
          <p:cNvSpPr/>
          <p:nvPr/>
        </p:nvSpPr>
        <p:spPr>
          <a:xfrm>
            <a:off x="2139696" y="5596128"/>
            <a:ext cx="3075432"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TextBox 304"/>
          <p:cNvSpPr txBox="1"/>
          <p:nvPr/>
        </p:nvSpPr>
        <p:spPr>
          <a:xfrm>
            <a:off x="2267712" y="5678424"/>
            <a:ext cx="2819400" cy="219456"/>
          </a:xfrm>
          <a:prstGeom prst="rect">
            <a:avLst/>
          </a:prstGeom>
          <a:noFill/>
        </p:spPr>
        <p:txBody>
          <a:bodyPr wrap="square" lIns="0" rIns="0" tIns="0" bIns="0" anchor="t">
            <a:spAutoFit/>
          </a:bodyPr>
          <a:lstStyle/>
          <a:p>
            <a:pPr algn="l"/>
            <a:r>
              <a:rPr sz="1050" b="1">
                <a:solidFill>
                  <a:srgbClr val="23323B"/>
                </a:solidFill>
                <a:latin typeface="Arial"/>
                <a:ea typeface="Arial"/>
              </a:rPr>
              <a:t>IT financial management</a:t>
            </a:r>
          </a:p>
        </p:txBody>
      </p:sp>
      <p:sp>
        <p:nvSpPr>
          <p:cNvPr id="306" name="TextBox 305"/>
          <p:cNvSpPr txBox="1"/>
          <p:nvPr/>
        </p:nvSpPr>
        <p:spPr>
          <a:xfrm>
            <a:off x="2267712" y="5943600"/>
            <a:ext cx="2819400" cy="438912"/>
          </a:xfrm>
          <a:prstGeom prst="rect">
            <a:avLst/>
          </a:prstGeom>
          <a:noFill/>
        </p:spPr>
        <p:txBody>
          <a:bodyPr wrap="square" lIns="0" rIns="0" tIns="0" bIns="0" anchor="t">
            <a:spAutoFit/>
          </a:bodyPr>
          <a:lstStyle/>
          <a:p>
            <a:pPr algn="l"/>
            <a:r>
              <a:rPr sz="850" b="0">
                <a:solidFill>
                  <a:srgbClr val="404040"/>
                </a:solidFill>
                <a:latin typeface="Arial"/>
                <a:ea typeface="Arial"/>
              </a:rPr>
              <a:t>Budget planning and execution, cost visibility by Function and project, comparing investment benefits with costs</a:t>
            </a:r>
          </a:p>
        </p:txBody>
      </p:sp>
      <p:sp>
        <p:nvSpPr>
          <p:cNvPr id="307" name="ITM-1"/>
          <p:cNvSpPr/>
          <p:nvPr/>
        </p:nvSpPr>
        <p:spPr>
          <a:xfrm>
            <a:off x="5306568" y="5596128"/>
            <a:ext cx="3075432"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TextBox 307"/>
          <p:cNvSpPr txBox="1"/>
          <p:nvPr/>
        </p:nvSpPr>
        <p:spPr>
          <a:xfrm>
            <a:off x="5434584" y="5678424"/>
            <a:ext cx="2819400" cy="219456"/>
          </a:xfrm>
          <a:prstGeom prst="rect">
            <a:avLst/>
          </a:prstGeom>
          <a:noFill/>
        </p:spPr>
        <p:txBody>
          <a:bodyPr wrap="square" lIns="0" rIns="0" tIns="0" bIns="0" anchor="t">
            <a:spAutoFit/>
          </a:bodyPr>
          <a:lstStyle/>
          <a:p>
            <a:pPr algn="l"/>
            <a:r>
              <a:rPr sz="1050" b="1">
                <a:solidFill>
                  <a:srgbClr val="23323B"/>
                </a:solidFill>
                <a:latin typeface="Arial"/>
                <a:ea typeface="Arial"/>
              </a:rPr>
              <a:t>Contract management</a:t>
            </a:r>
          </a:p>
        </p:txBody>
      </p:sp>
      <p:sp>
        <p:nvSpPr>
          <p:cNvPr id="309" name="TextBox 308"/>
          <p:cNvSpPr txBox="1"/>
          <p:nvPr/>
        </p:nvSpPr>
        <p:spPr>
          <a:xfrm>
            <a:off x="5434584" y="5943600"/>
            <a:ext cx="2819400" cy="438912"/>
          </a:xfrm>
          <a:prstGeom prst="rect">
            <a:avLst/>
          </a:prstGeom>
          <a:noFill/>
        </p:spPr>
        <p:txBody>
          <a:bodyPr wrap="square" lIns="0" rIns="0" tIns="0" bIns="0" anchor="t">
            <a:spAutoFit/>
          </a:bodyPr>
          <a:lstStyle/>
          <a:p>
            <a:pPr algn="l"/>
            <a:r>
              <a:rPr sz="850" b="0">
                <a:solidFill>
                  <a:srgbClr val="404040"/>
                </a:solidFill>
                <a:latin typeface="Arial"/>
                <a:ea typeface="Arial"/>
              </a:rPr>
              <a:t>Agreeing and revising terms for licenses, cloud, maintenance and outsourcing</a:t>
            </a:r>
          </a:p>
        </p:txBody>
      </p:sp>
      <p:sp>
        <p:nvSpPr>
          <p:cNvPr id="310" name="ITM-2"/>
          <p:cNvSpPr/>
          <p:nvPr/>
        </p:nvSpPr>
        <p:spPr>
          <a:xfrm>
            <a:off x="8473440" y="5596128"/>
            <a:ext cx="3075432"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8601456" y="5678424"/>
            <a:ext cx="2819400" cy="219456"/>
          </a:xfrm>
          <a:prstGeom prst="rect">
            <a:avLst/>
          </a:prstGeom>
          <a:noFill/>
        </p:spPr>
        <p:txBody>
          <a:bodyPr wrap="square" lIns="0" rIns="0" tIns="0" bIns="0" anchor="t">
            <a:spAutoFit/>
          </a:bodyPr>
          <a:lstStyle/>
          <a:p>
            <a:pPr algn="l"/>
            <a:r>
              <a:rPr sz="1050" b="1">
                <a:solidFill>
                  <a:srgbClr val="23323B"/>
                </a:solidFill>
                <a:latin typeface="Arial"/>
                <a:ea typeface="Arial"/>
              </a:rPr>
              <a:t>Service quality management</a:t>
            </a:r>
          </a:p>
        </p:txBody>
      </p:sp>
      <p:sp>
        <p:nvSpPr>
          <p:cNvPr id="312" name="TextBox 311"/>
          <p:cNvSpPr txBox="1"/>
          <p:nvPr/>
        </p:nvSpPr>
        <p:spPr>
          <a:xfrm>
            <a:off x="8601456" y="5943600"/>
            <a:ext cx="2819400" cy="438912"/>
          </a:xfrm>
          <a:prstGeom prst="rect">
            <a:avLst/>
          </a:prstGeom>
          <a:noFill/>
        </p:spPr>
        <p:txBody>
          <a:bodyPr wrap="square" lIns="0" rIns="0" tIns="0" bIns="0" anchor="t">
            <a:spAutoFit/>
          </a:bodyPr>
          <a:lstStyle/>
          <a:p>
            <a:pPr algn="l"/>
            <a:r>
              <a:rPr sz="850" b="0">
                <a:solidFill>
                  <a:srgbClr val="404040"/>
                </a:solidFill>
                <a:latin typeface="Arial"/>
                <a:ea typeface="Arial"/>
              </a:rPr>
              <a:t>Agreeing and monitoring service levels, validation, and change control (incl. GxP)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35000" y="406400"/>
            <a:ext cx="10922000" cy="431800"/>
          </a:xfrm>
          <a:prstGeom prst="rect">
            <a:avLst/>
          </a:prstGeom>
          <a:noFill/>
          <a:ln/>
        </p:spPr>
        <p:txBody>
          <a:bodyPr wrap="square" lIns="0" tIns="0" rIns="0" bIns="0" rtlCol="0" anchor="t"/>
          <a:lstStyle/>
          <a:p>
            <a:pPr algn="l" indent="0" marL="0">
              <a:buNone/>
            </a:pPr>
            <a:r>
              <a:rPr lang="en-US" sz="2400" b="1" dirty="0">
                <a:solidFill>
                  <a:srgbClr val="23323B"/>
                </a:solidFill>
                <a:latin typeface="Arial" pitchFamily="34" charset="0"/>
                <a:ea typeface="Arial" pitchFamily="34" charset="-122"/>
                <a:cs typeface="Arial" pitchFamily="34" charset="-120"/>
              </a:rPr>
              <a:t>Fixed Assets Are Held by GDS, Which Holds the Budget</a:t>
            </a:r>
            <a:endParaRPr lang="en-US" sz="2400" dirty="0" b="1">
              <a:solidFill>
                <a:srgbClr val="23323B"/>
              </a:solidFill>
            </a:endParaRPr>
          </a:p>
        </p:txBody>
      </p:sp>
      <p:sp>
        <p:nvSpPr>
          <p:cNvPr id="3" name="Text 0"/>
          <p:cNvSpPr/>
          <p:nvPr>
            <p:ph idx="101" type="body" hasCustomPrompt="1"/>
          </p:nvPr>
        </p:nvSpPr>
        <p:spPr>
          <a:xfrm>
            <a:off x="635000" y="889000"/>
            <a:ext cx="10922000" cy="279400"/>
          </a:xfrm>
          <a:prstGeom prst="rect">
            <a:avLst/>
          </a:prstGeom>
          <a:noFill/>
          <a:ln/>
        </p:spPr>
        <p:txBody>
          <a:bodyPr wrap="square" lIns="0" tIns="0" rIns="0" bIns="0" rtlCol="0" anchor="t"/>
          <a:lstStyle/>
          <a:p>
            <a:pPr indent="0" marL="0">
              <a:buNone/>
            </a:pPr>
            <a:r>
              <a:rPr lang="en-US" sz="1400" dirty="0" b="1">
                <a:solidFill>
                  <a:srgbClr val="404040"/>
                </a:solidFill>
                <a:latin typeface="Arial" pitchFamily="34" charset="0"/>
                <a:ea typeface="Arial" pitchFamily="34" charset="-122"/>
                <a:cs typeface="Arial" pitchFamily="34" charset="-120"/>
              </a:rPr>
              <a:t>GDS also manages assets and depreciation; R&amp;D and manufacturing costs are allocated to the benefiting Function</a:t>
            </a:r>
            <a:endParaRPr lang="en-US" sz="1400" dirty="0" b="1">
              <a:solidFill>
                <a:srgbClr val="404040"/>
              </a:solidFill>
            </a:endParaRPr>
          </a:p>
        </p:txBody>
      </p:sp>
      <p:graphicFrame>
        <p:nvGraphicFramePr>
          <p:cNvPr id="3" name="asset-table"/>
          <p:cNvGraphicFramePr>
            <a:graphicFrameLocks noGrp="1"/>
          </p:cNvGraphicFramePr>
          <p:nvPr>
            <p:extLst>
              <p:ext uri="{D42A27DB-BD31-4B8C-83A1-F6EECF244321}">
                <p14:modId xmlns:p14="http://schemas.microsoft.com/office/powerpoint/2010/main" val="1579011935"/>
              </p:ext>
            </p:extLst>
          </p:nvPr>
        </p:nvGraphicFramePr>
        <p:xfrm>
          <a:off x="635000" y="1481328"/>
          <a:ext cx="10919048" cy="2962656"/>
        </p:xfrm>
        <a:graphic>
          <a:graphicData uri="http://schemas.openxmlformats.org/drawingml/2006/table">
            <a:tbl>
              <a:tblPr/>
              <a:tblGrid>
                <a:gridCol w="4011621"/>
                <a:gridCol w="1062681"/>
                <a:gridCol w="1948248"/>
                <a:gridCol w="1948248"/>
                <a:gridCol w="1948248"/>
              </a:tblGrid>
              <a:tr h="329184">
                <a:tc rowSpan="2">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Type of IT investment</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D6164"/>
                    </a:solidFill>
                  </a:tcPr>
                </a:tc>
                <a:tc rowSpan="2">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CIP</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D6164"/>
                    </a:solidFill>
                  </a:tcPr>
                </a:tc>
                <a:tc gridSpan="3">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Fixed asset account (asset owner = bears depreciation)</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D6164"/>
                    </a:solidFill>
                  </a:tcPr>
                </a:tc>
                <a:tc hMerge="1">
                  <a:txBody>
                    <a:bodyPr/>
                    <a:p/>
                  </a:txBody>
                  <a:tcPr/>
                </a:tc>
                <a:tc hMerge="1">
                  <a:txBody>
                    <a:bodyPr/>
                    <a:p/>
                  </a:txBody>
                  <a:tcPr/>
                </a:tc>
              </a:tr>
              <a:tr h="329184">
                <a:tc vMerge="1">
                  <a:txBody>
                    <a:bodyPr/>
                    <a:p/>
                  </a:txBody>
                  <a:tcPr/>
                </a:tc>
                <a:tc vMerge="1">
                  <a:txBody>
                    <a:bodyPr/>
                    <a:p/>
                  </a:txBody>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Single Function</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D6164"/>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Shared (multiple)</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D6164"/>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Enterprise-wide</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5D6164"/>
                    </a:solidFill>
                  </a:tcPr>
                </a:tc>
              </a:tr>
              <a:tr h="384048">
                <a:tc>
                  <a:txBody>
                    <a:bodyPr/>
                    <a:lstStyle/>
                    <a:p>
                      <a:pPr algn="l" indent="0" marL="0">
                        <a:buNone/>
                      </a:pPr>
                      <a:r>
                        <a:rPr lang="en-US" sz="1200" b="1" dirty="0">
                          <a:solidFill>
                            <a:srgbClr val="000000"/>
                          </a:solidFill>
                          <a:latin typeface="Arial" pitchFamily="34" charset="0"/>
                          <a:ea typeface="Arial" pitchFamily="34" charset="-122"/>
                          <a:cs typeface="Arial" pitchFamily="34" charset="-120"/>
                        </a:rPr>
                        <a:t>① New business app (package, configured)</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7F7F7F"/>
                          </a:solidFill>
                          <a:latin typeface="Arial" pitchFamily="34" charset="0"/>
                          <a:ea typeface="Arial" pitchFamily="34" charset="-122"/>
                          <a:cs typeface="Arial" pitchFamily="34" charset="-120"/>
                        </a:rPr>
                        <a:t>N/A</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algn="l" indent="0" marL="0">
                        <a:buNone/>
                      </a:pPr>
                      <a:r>
                        <a:rPr lang="en-US" sz="1200" b="1" dirty="0">
                          <a:solidFill>
                            <a:srgbClr val="000000"/>
                          </a:solidFill>
                          <a:latin typeface="Arial" pitchFamily="34" charset="0"/>
                          <a:ea typeface="Arial" pitchFamily="34" charset="-122"/>
                          <a:cs typeface="Arial" pitchFamily="34" charset="-120"/>
                        </a:rPr>
                        <a:t>② Custom business app / add-on</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7F7F7F"/>
                          </a:solidFill>
                          <a:latin typeface="Arial" pitchFamily="34" charset="0"/>
                          <a:ea typeface="Arial" pitchFamily="34" charset="-122"/>
                          <a:cs typeface="Arial" pitchFamily="34" charset="-120"/>
                        </a:rPr>
                        <a:t>N/A</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algn="l" indent="0" marL="0">
                        <a:buNone/>
                      </a:pPr>
                      <a:r>
                        <a:rPr lang="en-US" sz="1200" b="1" dirty="0">
                          <a:solidFill>
                            <a:srgbClr val="000000"/>
                          </a:solidFill>
                          <a:latin typeface="Arial" pitchFamily="34" charset="0"/>
                          <a:ea typeface="Arial" pitchFamily="34" charset="-122"/>
                          <a:cs typeface="Arial" pitchFamily="34" charset="-120"/>
                        </a:rPr>
                        <a:t>③ Upgrade of existing asset (capex)</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algn="l" indent="0" marL="0">
                        <a:buNone/>
                      </a:pPr>
                      <a:r>
                        <a:rPr lang="en-US" sz="1200" b="1" dirty="0">
                          <a:solidFill>
                            <a:srgbClr val="000000"/>
                          </a:solidFill>
                          <a:latin typeface="Arial" pitchFamily="34" charset="0"/>
                          <a:ea typeface="Arial" pitchFamily="34" charset="-122"/>
                          <a:cs typeface="Arial" pitchFamily="34" charset="-120"/>
                        </a:rPr>
                        <a:t>④ Perpetual software license</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None</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algn="l" indent="0" marL="0">
                        <a:buNone/>
                      </a:pPr>
                      <a:r>
                        <a:rPr lang="en-US" sz="1200" b="1" dirty="0">
                          <a:solidFill>
                            <a:srgbClr val="000000"/>
                          </a:solidFill>
                          <a:latin typeface="Arial" pitchFamily="34" charset="0"/>
                          <a:ea typeface="Arial" pitchFamily="34" charset="-122"/>
                          <a:cs typeface="Arial" pitchFamily="34" charset="-120"/>
                        </a:rPr>
                        <a:t>⑤ Hardware and equipment</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None</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pPr algn="ctr" indent="0" marL="0">
                        <a:buNone/>
                      </a:pP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algn="l" indent="0" marL="0">
                        <a:buNone/>
                      </a:pPr>
                      <a:r>
                        <a:rPr lang="en-US" sz="1200" b="1" dirty="0">
                          <a:solidFill>
                            <a:srgbClr val="000000"/>
                          </a:solidFill>
                          <a:latin typeface="Arial" pitchFamily="34" charset="0"/>
                          <a:ea typeface="Arial" pitchFamily="34" charset="-122"/>
                          <a:cs typeface="Arial" pitchFamily="34" charset="-120"/>
                        </a:rPr>
                        <a:t>⑥ Platforms and shared services (cloud, data)</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ctr" indent="0" marL="0">
                        <a:buNone/>
                      </a:pPr>
                      <a:r>
                        <a:rPr lang="en-US" sz="1200" dirty="0">
                          <a:solidFill>
                            <a:srgbClr val="7F7F7F"/>
                          </a:solidFill>
                          <a:latin typeface="Arial" pitchFamily="34" charset="0"/>
                          <a:ea typeface="Arial" pitchFamily="34" charset="-122"/>
                          <a:cs typeface="Arial" pitchFamily="34" charset="-120"/>
                        </a:rPr>
                        <a:t>N/A</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200" dirty="0">
                          <a:solidFill>
                            <a:srgbClr val="000000"/>
                          </a:solidFill>
                          <a:latin typeface="Arial" pitchFamily="34" charset="0"/>
                          <a:ea typeface="Arial" pitchFamily="34" charset="-122"/>
                          <a:cs typeface="Arial" pitchFamily="34" charset="-120"/>
                        </a:rPr>
                        <a:t>GDS (not in scope)</a:t>
                      </a:r>
                      <a:endParaRPr lang="en-US" sz="1200" dirty="0">
                        <a:latin typeface="Arial" charset="0"/>
                        <a:ea typeface="Arial" charset="0"/>
                        <a:cs typeface="Arial" charset="0"/>
                      </a:endParaRPr>
                    </a:p>
                  </a:txBody>
                  <a:tcPr marL="91440" marR="91440"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795000" y="6527800"/>
            <a:ext cx="762000" cy="152400"/>
          </a:xfrm>
          <a:prstGeom prst="rect">
            <a:avLst/>
          </a:prstGeom>
          <a:extLst>
            <a:ext uri="{C572A759-6A51-4108-AA02-DFA0A04FC94B}">
              <ma14:wrappingTextBoxFlag xmlns:ma14="http://schemas.microsoft.com/office/mac/drawingml/2011/main" val="0"/>
            </a:ext>
          </a:extLst>
        </p:spPr>
        <p:txBody>
          <a:bodyPr anchor="b" lIns="0" tIns="0" rIns="0" bIns="0"/>
          <a:lstStyle>
            <a:lvl1pPr>
              <a:defRPr sz="900">
                <a:solidFill>
                  <a:srgbClr val="7F7F7F"/>
                </a:solidFill>
              </a:defRPr>
            </a:lvl1pPr>
          </a:lstStyle>
          <a:p>
            <a:pPr algn="r"/>
            <a:fld id="{F7021451-1387-4CA6-816F-3879F97B5CBC}" type="slidenum">
              <a:rPr b="0" lang="en-US" sz="1000">
                <a:solidFill>
                  <a:srgbClr val="7F7F7F"/>
                </a:solidFill>
              </a:rPr>
              <a:t>2</a:t>
            </a:fld>
            <a:endParaRPr lang="en-US" sz="1000" b="0">
              <a:solidFill>
                <a:srgbClr val="7F7F7F"/>
              </a:solidFill>
            </a:endParaRPr>
          </a:p>
        </p:txBody>
      </p:sp>
      <p:sp>
        <p:nvSpPr>
          <p:cNvPr id="26" name="TextBox 25"/>
          <p:cNvSpPr txBox="1"/>
          <p:nvPr/>
        </p:nvSpPr>
        <p:spPr>
          <a:xfrm>
            <a:off x="630936" y="4626864"/>
            <a:ext cx="10917936" cy="219456"/>
          </a:xfrm>
          <a:prstGeom prst="rect">
            <a:avLst/>
          </a:prstGeom>
          <a:noFill/>
        </p:spPr>
        <p:txBody>
          <a:bodyPr wrap="square" lIns="0" rIns="0" tIns="0" bIns="0" anchor="t">
            <a:spAutoFit/>
          </a:bodyPr>
          <a:lstStyle/>
          <a:p>
            <a:pPr algn="l"/>
            <a:r>
              <a:rPr sz="1100" b="1">
                <a:solidFill>
                  <a:srgbClr val="23323B"/>
                </a:solidFill>
                <a:latin typeface="Arial"/>
                <a:ea typeface="Arial"/>
              </a:rPr>
              <a:t>Assets held or in progress at the time of transfer</a:t>
            </a:r>
          </a:p>
        </p:txBody>
      </p:sp>
      <p:sp>
        <p:nvSpPr>
          <p:cNvPr id="27" name="asset-case-1"/>
          <p:cNvSpPr/>
          <p:nvPr/>
        </p:nvSpPr>
        <p:spPr>
          <a:xfrm>
            <a:off x="630936" y="4937759"/>
            <a:ext cx="3578352"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029200"/>
            <a:ext cx="3285744" cy="201168"/>
          </a:xfrm>
          <a:prstGeom prst="rect">
            <a:avLst/>
          </a:prstGeom>
          <a:noFill/>
        </p:spPr>
        <p:txBody>
          <a:bodyPr wrap="square" lIns="0" rIns="0" tIns="0" bIns="0" anchor="t">
            <a:spAutoFit/>
          </a:bodyPr>
          <a:lstStyle/>
          <a:p>
            <a:pPr algn="l"/>
            <a:r>
              <a:rPr sz="1050" b="1">
                <a:solidFill>
                  <a:srgbClr val="23323B"/>
                </a:solidFill>
                <a:latin typeface="Arial"/>
                <a:ea typeface="Arial"/>
              </a:rPr>
              <a:t>① Acquired assets</a:t>
            </a:r>
          </a:p>
        </p:txBody>
      </p:sp>
      <p:sp>
        <p:nvSpPr>
          <p:cNvPr id="29" name="TextBox 28"/>
          <p:cNvSpPr txBox="1"/>
          <p:nvPr/>
        </p:nvSpPr>
        <p:spPr>
          <a:xfrm>
            <a:off x="777240" y="5285231"/>
            <a:ext cx="3285744" cy="329184"/>
          </a:xfrm>
          <a:prstGeom prst="rect">
            <a:avLst/>
          </a:prstGeom>
          <a:noFill/>
        </p:spPr>
        <p:txBody>
          <a:bodyPr wrap="square" lIns="0" rIns="0" tIns="0" bIns="0" anchor="t">
            <a:spAutoFit/>
          </a:bodyPr>
          <a:lstStyle/>
          <a:p>
            <a:pPr algn="l"/>
            <a:r>
              <a:rPr sz="900" b="0">
                <a:solidFill>
                  <a:srgbClr val="404040"/>
                </a:solidFill>
                <a:latin typeface="Arial"/>
                <a:ea typeface="Arial"/>
              </a:rPr>
              <a:t>Capitalized at transfer, with depreciation started</a:t>
            </a:r>
          </a:p>
        </p:txBody>
      </p:sp>
      <p:sp>
        <p:nvSpPr>
          <p:cNvPr id="30" name="asset-case-2"/>
          <p:cNvSpPr/>
          <p:nvPr/>
        </p:nvSpPr>
        <p:spPr>
          <a:xfrm>
            <a:off x="4300728" y="4937759"/>
            <a:ext cx="3578352"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47032" y="5029200"/>
            <a:ext cx="3285744" cy="201168"/>
          </a:xfrm>
          <a:prstGeom prst="rect">
            <a:avLst/>
          </a:prstGeom>
          <a:noFill/>
        </p:spPr>
        <p:txBody>
          <a:bodyPr wrap="square" lIns="0" rIns="0" tIns="0" bIns="0" anchor="t">
            <a:spAutoFit/>
          </a:bodyPr>
          <a:lstStyle/>
          <a:p>
            <a:pPr algn="l"/>
            <a:r>
              <a:rPr sz="1050" b="1">
                <a:solidFill>
                  <a:srgbClr val="23323B"/>
                </a:solidFill>
                <a:latin typeface="Arial"/>
                <a:ea typeface="Arial"/>
              </a:rPr>
              <a:t>② Construction in progress (CIP)</a:t>
            </a:r>
          </a:p>
        </p:txBody>
      </p:sp>
      <p:sp>
        <p:nvSpPr>
          <p:cNvPr id="32" name="TextBox 31"/>
          <p:cNvSpPr txBox="1"/>
          <p:nvPr/>
        </p:nvSpPr>
        <p:spPr>
          <a:xfrm>
            <a:off x="4447032" y="5285231"/>
            <a:ext cx="3285744" cy="329184"/>
          </a:xfrm>
          <a:prstGeom prst="rect">
            <a:avLst/>
          </a:prstGeom>
          <a:noFill/>
        </p:spPr>
        <p:txBody>
          <a:bodyPr wrap="square" lIns="0" rIns="0" tIns="0" bIns="0" anchor="t">
            <a:spAutoFit/>
          </a:bodyPr>
          <a:lstStyle/>
          <a:p>
            <a:pPr algn="l"/>
            <a:r>
              <a:rPr sz="900" b="0">
                <a:solidFill>
                  <a:srgbClr val="404040"/>
                </a:solidFill>
                <a:latin typeface="Arial"/>
                <a:ea typeface="Arial"/>
              </a:rPr>
              <a:t>Recorded as CIP at transfer, to be capitalized next year</a:t>
            </a:r>
          </a:p>
        </p:txBody>
      </p:sp>
      <p:sp>
        <p:nvSpPr>
          <p:cNvPr id="33" name="asset-case-3"/>
          <p:cNvSpPr/>
          <p:nvPr/>
        </p:nvSpPr>
        <p:spPr>
          <a:xfrm>
            <a:off x="7970520" y="4937759"/>
            <a:ext cx="3578352"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16824" y="5029200"/>
            <a:ext cx="3285744" cy="201168"/>
          </a:xfrm>
          <a:prstGeom prst="rect">
            <a:avLst/>
          </a:prstGeom>
          <a:noFill/>
        </p:spPr>
        <p:txBody>
          <a:bodyPr wrap="square" lIns="0" rIns="0" tIns="0" bIns="0" anchor="t">
            <a:spAutoFit/>
          </a:bodyPr>
          <a:lstStyle/>
          <a:p>
            <a:pPr algn="l"/>
            <a:r>
              <a:rPr sz="1050" b="1">
                <a:solidFill>
                  <a:srgbClr val="23323B"/>
                </a:solidFill>
                <a:latin typeface="Arial"/>
                <a:ea typeface="Arial"/>
              </a:rPr>
              <a:t>③ Started, not yet in CIP</a:t>
            </a:r>
          </a:p>
        </p:txBody>
      </p:sp>
      <p:sp>
        <p:nvSpPr>
          <p:cNvPr id="35" name="TextBox 34"/>
          <p:cNvSpPr txBox="1"/>
          <p:nvPr/>
        </p:nvSpPr>
        <p:spPr>
          <a:xfrm>
            <a:off x="8116824" y="5285231"/>
            <a:ext cx="3285744" cy="329184"/>
          </a:xfrm>
          <a:prstGeom prst="rect">
            <a:avLst/>
          </a:prstGeom>
          <a:noFill/>
        </p:spPr>
        <p:txBody>
          <a:bodyPr wrap="square" lIns="0" rIns="0" tIns="0" bIns="0" anchor="t">
            <a:spAutoFit/>
          </a:bodyPr>
          <a:lstStyle/>
          <a:p>
            <a:pPr algn="l"/>
            <a:r>
              <a:rPr sz="900" b="0">
                <a:solidFill>
                  <a:srgbClr val="404040"/>
                </a:solidFill>
                <a:latin typeface="Arial"/>
                <a:ea typeface="Arial"/>
              </a:rPr>
              <a:t>Work started but nothing yet recorded as CIP</a:t>
            </a:r>
          </a:p>
        </p:txBody>
      </p:sp>
      <p:sp>
        <p:nvSpPr>
          <p:cNvPr id="36" name="asset-key-message"/>
          <p:cNvSpPr/>
          <p:nvPr/>
        </p:nvSpPr>
        <p:spPr>
          <a:xfrm>
            <a:off x="630936" y="5742431"/>
            <a:ext cx="10917936" cy="457200"/>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3816" y="5742431"/>
            <a:ext cx="10552176" cy="457200"/>
          </a:xfrm>
          <a:prstGeom prst="rect">
            <a:avLst/>
          </a:prstGeom>
          <a:noFill/>
        </p:spPr>
        <p:txBody>
          <a:bodyPr wrap="square" lIns="0" rIns="0" tIns="0" bIns="0" anchor="ctr">
            <a:spAutoFit/>
          </a:bodyPr>
          <a:lstStyle/>
          <a:p>
            <a:pPr algn="l"/>
            <a:r>
              <a:rPr sz="1250" b="1">
                <a:solidFill>
                  <a:srgbClr val="FFFFFF"/>
                </a:solidFill>
                <a:latin typeface="Arial"/>
                <a:ea typeface="Arial"/>
              </a:rPr>
              <a:t>All move to GDS. </a:t>
            </a:r>
            <a:r>
              <a:rPr sz="1250" b="1">
                <a:solidFill>
                  <a:srgbClr val="FFFFFF"/>
                </a:solidFill>
                <a:latin typeface="Arial"/>
                <a:ea typeface="Arial"/>
              </a:rPr>
              <a:t>Agree the timing with the transferring Function and confirm with Finance so the accounting is handled correctly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635000" y="406400"/>
            <a:ext cx="10922000" cy="431800"/>
          </a:xfrm>
          <a:prstGeom prst="rect">
            <a:avLst/>
          </a:prstGeom>
          <a:noFill/>
          <a:ln/>
        </p:spPr>
        <p:txBody>
          <a:bodyPr wrap="square" lIns="0" tIns="0" rIns="0" bIns="0" rtlCol="0" anchor="t"/>
          <a:lstStyle/>
          <a:p>
            <a:pPr algn="l" indent="0" marL="0">
              <a:buNone/>
            </a:pPr>
            <a:r>
              <a:rPr lang="en-US" sz="2400" b="1" dirty="0">
                <a:solidFill>
                  <a:srgbClr val="23323B"/>
                </a:solidFill>
                <a:latin typeface="Arial" pitchFamily="34" charset="0"/>
                <a:ea typeface="Arial" pitchFamily="34" charset="-122"/>
                <a:cs typeface="Arial" pitchFamily="34" charset="-120"/>
              </a:rPr>
              <a:t>Next Actions (November)</a:t>
            </a:r>
            <a:endParaRPr lang="en-US" sz="2400" dirty="0" b="1">
              <a:solidFill>
                <a:srgbClr val="23323B"/>
              </a:solidFill>
            </a:endParaRPr>
          </a:p>
        </p:txBody>
      </p:sp>
      <p:sp>
        <p:nvSpPr>
          <p:cNvPr id="25" name="Slide Number Placeholder 0"/>
          <p:cNvSpPr>
            <a:spLocks noGrp="1"/>
          </p:cNvSpPr>
          <p:nvPr>
            <p:ph type="sldNum" sz="quarter" idx="4294967295"/>
          </p:nvPr>
        </p:nvSpPr>
        <p:spPr>
          <a:xfrm>
            <a:off x="10795000" y="6527800"/>
            <a:ext cx="762000" cy="152400"/>
          </a:xfrm>
          <a:prstGeom prst="rect">
            <a:avLst/>
          </a:prstGeom>
          <a:extLst>
            <a:ext uri="{C572A759-6A51-4108-AA02-DFA0A04FC94B}">
              <ma14:wrappingTextBoxFlag xmlns:ma14="http://schemas.microsoft.com/office/mac/drawingml/2011/main" val="0"/>
            </a:ext>
          </a:extLst>
        </p:spPr>
        <p:txBody>
          <a:bodyPr anchor="b" lIns="0" tIns="0" rIns="0" bIns="0"/>
          <a:lstStyle>
            <a:lvl1pPr>
              <a:defRPr sz="900">
                <a:solidFill>
                  <a:srgbClr val="7F7F7F"/>
                </a:solidFill>
              </a:defRPr>
            </a:lvl1pPr>
          </a:lstStyle>
          <a:p>
            <a:pPr algn="r"/>
            <a:fld id="{F7021451-1387-4CA6-816F-3879F97B5CBC}" type="slidenum">
              <a:rPr b="0" lang="en-US" sz="1000">
                <a:solidFill>
                  <a:srgbClr val="7F7F7F"/>
                </a:solidFill>
              </a:rPr>
              <a:t>2</a:t>
            </a:fld>
            <a:endParaRPr lang="en-US" sz="1000" b="0">
              <a:solidFill>
                <a:srgbClr val="7F7F7F"/>
              </a:solidFill>
            </a:endParaRPr>
          </a:p>
        </p:txBody>
      </p:sp>
      <p:sp>
        <p:nvSpPr>
          <p:cNvPr id="26" name="TextBox 25"/>
          <p:cNvSpPr txBox="1"/>
          <p:nvPr/>
        </p:nvSpPr>
        <p:spPr>
          <a:xfrm>
            <a:off x="630936" y="886968"/>
            <a:ext cx="10917936" cy="283464"/>
          </a:xfrm>
          <a:prstGeom prst="rect">
            <a:avLst/>
          </a:prstGeom>
          <a:noFill/>
        </p:spPr>
        <p:txBody>
          <a:bodyPr wrap="square" lIns="0" rIns="0" tIns="0" bIns="0" anchor="t">
            <a:spAutoFit/>
          </a:bodyPr>
          <a:lstStyle/>
          <a:p>
            <a:pPr algn="l"/>
            <a:r>
              <a:rPr sz="1400" b="1">
                <a:solidFill>
                  <a:srgbClr val="404040"/>
                </a:solidFill>
                <a:latin typeface="Arial"/>
                <a:ea typeface="Arial"/>
              </a:rPr>
              <a:t>After the kickoff, start with these three things</a:t>
            </a:r>
          </a:p>
        </p:txBody>
      </p:sp>
      <p:sp>
        <p:nvSpPr>
          <p:cNvPr id="27" name="action-1"/>
          <p:cNvSpPr/>
          <p:nvPr/>
        </p:nvSpPr>
        <p:spPr>
          <a:xfrm>
            <a:off x="630936" y="1554480"/>
            <a:ext cx="10917936" cy="89611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heck-1"/>
          <p:cNvSpPr/>
          <p:nvPr/>
        </p:nvSpPr>
        <p:spPr>
          <a:xfrm>
            <a:off x="914400" y="1792224"/>
            <a:ext cx="420624" cy="420624"/>
          </a:xfrm>
          <a:prstGeom prst="rect">
            <a:avLst/>
          </a:prstGeom>
          <a:solidFill>
            <a:srgbClr val="FFFFFF"/>
          </a:solidFill>
          <a:ln w="19050">
            <a:solidFill>
              <a:srgbClr val="23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45920" y="1554480"/>
            <a:ext cx="1463040" cy="896112"/>
          </a:xfrm>
          <a:prstGeom prst="rect">
            <a:avLst/>
          </a:prstGeom>
          <a:noFill/>
        </p:spPr>
        <p:txBody>
          <a:bodyPr wrap="square" lIns="0" rIns="0" tIns="0" bIns="0" anchor="ctr">
            <a:spAutoFit/>
          </a:bodyPr>
          <a:lstStyle/>
          <a:p>
            <a:pPr algn="l"/>
            <a:r>
              <a:rPr sz="1100" b="1">
                <a:solidFill>
                  <a:srgbClr val="7F7F7F"/>
                </a:solidFill>
                <a:latin typeface="Arial"/>
                <a:ea typeface="Arial"/>
              </a:rPr>
              <a:t>Assigned BP</a:t>
            </a:r>
          </a:p>
        </p:txBody>
      </p:sp>
      <p:sp>
        <p:nvSpPr>
          <p:cNvPr id="30" name="TextBox 29"/>
          <p:cNvSpPr txBox="1"/>
          <p:nvPr/>
        </p:nvSpPr>
        <p:spPr>
          <a:xfrm>
            <a:off x="3017520" y="1554480"/>
            <a:ext cx="8321040" cy="896112"/>
          </a:xfrm>
          <a:prstGeom prst="rect">
            <a:avLst/>
          </a:prstGeom>
          <a:noFill/>
        </p:spPr>
        <p:txBody>
          <a:bodyPr wrap="square" lIns="0" rIns="0" tIns="0" bIns="0" anchor="ctr">
            <a:spAutoFit/>
          </a:bodyPr>
          <a:lstStyle/>
          <a:p>
            <a:pPr algn="l"/>
            <a:r>
              <a:rPr sz="1600" b="1">
                <a:solidFill>
                  <a:srgbClr val="23323B"/>
                </a:solidFill>
                <a:latin typeface="Arial"/>
                <a:ea typeface="Arial"/>
              </a:rPr>
              <a:t>Start agreeing with the transferring Function using the interview sheet</a:t>
            </a:r>
          </a:p>
        </p:txBody>
      </p:sp>
      <p:sp>
        <p:nvSpPr>
          <p:cNvPr id="31" name="action-2"/>
          <p:cNvSpPr/>
          <p:nvPr/>
        </p:nvSpPr>
        <p:spPr>
          <a:xfrm>
            <a:off x="630936" y="2651760"/>
            <a:ext cx="10917936" cy="89611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heck-2"/>
          <p:cNvSpPr/>
          <p:nvPr/>
        </p:nvSpPr>
        <p:spPr>
          <a:xfrm>
            <a:off x="914400" y="2889504"/>
            <a:ext cx="420624" cy="420624"/>
          </a:xfrm>
          <a:prstGeom prst="rect">
            <a:avLst/>
          </a:prstGeom>
          <a:solidFill>
            <a:srgbClr val="FFFFFF"/>
          </a:solidFill>
          <a:ln w="19050">
            <a:solidFill>
              <a:srgbClr val="23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645920" y="2651760"/>
            <a:ext cx="1463040" cy="896112"/>
          </a:xfrm>
          <a:prstGeom prst="rect">
            <a:avLst/>
          </a:prstGeom>
          <a:noFill/>
        </p:spPr>
        <p:txBody>
          <a:bodyPr wrap="square" lIns="0" rIns="0" tIns="0" bIns="0" anchor="ctr">
            <a:spAutoFit/>
          </a:bodyPr>
          <a:lstStyle/>
          <a:p>
            <a:pPr algn="l"/>
            <a:r>
              <a:rPr sz="1100" b="1">
                <a:solidFill>
                  <a:srgbClr val="7F7F7F"/>
                </a:solidFill>
                <a:latin typeface="Arial"/>
                <a:ea typeface="Arial"/>
              </a:rPr>
              <a:t>Assigned BP</a:t>
            </a:r>
          </a:p>
        </p:txBody>
      </p:sp>
      <p:sp>
        <p:nvSpPr>
          <p:cNvPr id="34" name="TextBox 33"/>
          <p:cNvSpPr txBox="1"/>
          <p:nvPr/>
        </p:nvSpPr>
        <p:spPr>
          <a:xfrm>
            <a:off x="3017520" y="2651760"/>
            <a:ext cx="8321040" cy="896112"/>
          </a:xfrm>
          <a:prstGeom prst="rect">
            <a:avLst/>
          </a:prstGeom>
          <a:noFill/>
        </p:spPr>
        <p:txBody>
          <a:bodyPr wrap="square" lIns="0" rIns="0" tIns="0" bIns="0" anchor="ctr">
            <a:spAutoFit/>
          </a:bodyPr>
          <a:lstStyle/>
          <a:p>
            <a:pPr algn="l"/>
            <a:r>
              <a:rPr sz="1600" b="1">
                <a:solidFill>
                  <a:srgbClr val="23323B"/>
                </a:solidFill>
                <a:latin typeface="Arial"/>
                <a:ea typeface="Arial"/>
              </a:rPr>
              <a:t>Fill in your row of the progress tracker so you can update the transfer status</a:t>
            </a:r>
          </a:p>
        </p:txBody>
      </p:sp>
      <p:sp>
        <p:nvSpPr>
          <p:cNvPr id="35" name="action-3"/>
          <p:cNvSpPr/>
          <p:nvPr/>
        </p:nvSpPr>
        <p:spPr>
          <a:xfrm>
            <a:off x="630936" y="3749039"/>
            <a:ext cx="10917936" cy="89611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heck-3"/>
          <p:cNvSpPr/>
          <p:nvPr/>
        </p:nvSpPr>
        <p:spPr>
          <a:xfrm>
            <a:off x="914400" y="3986783"/>
            <a:ext cx="420624" cy="420624"/>
          </a:xfrm>
          <a:prstGeom prst="rect">
            <a:avLst/>
          </a:prstGeom>
          <a:solidFill>
            <a:srgbClr val="FFFFFF"/>
          </a:solidFill>
          <a:ln w="19050">
            <a:solidFill>
              <a:srgbClr val="2332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45920" y="3749039"/>
            <a:ext cx="1463040" cy="896112"/>
          </a:xfrm>
          <a:prstGeom prst="rect">
            <a:avLst/>
          </a:prstGeom>
          <a:noFill/>
        </p:spPr>
        <p:txBody>
          <a:bodyPr wrap="square" lIns="0" rIns="0" tIns="0" bIns="0" anchor="ctr">
            <a:spAutoFit/>
          </a:bodyPr>
          <a:lstStyle/>
          <a:p>
            <a:pPr algn="l"/>
            <a:r>
              <a:rPr sz="1100" b="1">
                <a:solidFill>
                  <a:srgbClr val="7F7F7F"/>
                </a:solidFill>
                <a:latin typeface="Arial"/>
                <a:ea typeface="Arial"/>
              </a:rPr>
              <a:t>Assigned BP</a:t>
            </a:r>
          </a:p>
        </p:txBody>
      </p:sp>
      <p:sp>
        <p:nvSpPr>
          <p:cNvPr id="38" name="TextBox 37"/>
          <p:cNvSpPr txBox="1"/>
          <p:nvPr/>
        </p:nvSpPr>
        <p:spPr>
          <a:xfrm>
            <a:off x="3017520" y="3749039"/>
            <a:ext cx="8321040" cy="896112"/>
          </a:xfrm>
          <a:prstGeom prst="rect">
            <a:avLst/>
          </a:prstGeom>
          <a:noFill/>
        </p:spPr>
        <p:txBody>
          <a:bodyPr wrap="square" lIns="0" rIns="0" tIns="0" bIns="0" anchor="ctr">
            <a:spAutoFit/>
          </a:bodyPr>
          <a:lstStyle/>
          <a:p>
            <a:pPr algn="l"/>
            <a:r>
              <a:rPr sz="1600" b="1">
                <a:solidFill>
                  <a:srgbClr val="23323B"/>
                </a:solidFill>
                <a:latin typeface="Arial"/>
                <a:ea typeface="Arial"/>
              </a:rPr>
              <a:t>List IT investment projects continuing from this year (acquired, CIP, started) and set up a check with Finance</a:t>
            </a:r>
          </a:p>
        </p:txBody>
      </p:sp>
      <p:sp>
        <p:nvSpPr>
          <p:cNvPr id="39" name="deadline-band"/>
          <p:cNvSpPr/>
          <p:nvPr/>
        </p:nvSpPr>
        <p:spPr>
          <a:xfrm>
            <a:off x="630936" y="5029200"/>
            <a:ext cx="10917936" cy="566928"/>
          </a:xfrm>
          <a:prstGeom prst="rect">
            <a:avLst/>
          </a:prstGeom>
          <a:solidFill>
            <a:srgbClr val="233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8680" y="5029200"/>
            <a:ext cx="10515600" cy="566928"/>
          </a:xfrm>
          <a:prstGeom prst="rect">
            <a:avLst/>
          </a:prstGeom>
          <a:noFill/>
        </p:spPr>
        <p:txBody>
          <a:bodyPr wrap="square" lIns="0" rIns="0" tIns="0" bIns="0" anchor="ctr">
            <a:spAutoFit/>
          </a:bodyPr>
          <a:lstStyle/>
          <a:p>
            <a:pPr algn="l"/>
            <a:r>
              <a:rPr sz="1800" b="1">
                <a:solidFill>
                  <a:srgbClr val="FFFFFF"/>
                </a:solidFill>
                <a:latin typeface="Arial"/>
                <a:ea typeface="Arial"/>
              </a:rPr>
              <a:t>Final deadline: December 31 — transfer approval</a:t>
            </a:r>
          </a:p>
        </p:txBody>
      </p:sp>
    </p:spTree>
  </p:cSld>
  <p:clrMapOvr>
    <a:masterClrMapping/>
  </p:clrMapOvr>
</p:sld>
</file>

<file path=ppt/theme/theme1.xml><?xml version="1.0" encoding="utf-8"?>
<a:theme xmlns:a="http://schemas.openxmlformats.org/drawingml/2006/main" xmlns:r="http://schemas.openxmlformats.org/officeDocument/2006/relationships" name="BTR Kickoff">
  <a:themeElements>
    <a:clrScheme name="BTR Kickoff">
      <a:dk1>
        <a:srgbClr val="000000"/>
      </a:dk1>
      <a:lt1>
        <a:srgbClr val="FFFFFF"/>
      </a:lt1>
      <a:dk2>
        <a:srgbClr val="23323B"/>
      </a:dk2>
      <a:lt2>
        <a:srgbClr val="EEEFEF"/>
      </a:lt2>
      <a:accent1>
        <a:srgbClr val="ED5604"/>
      </a:accent1>
      <a:accent2>
        <a:srgbClr val="404040"/>
      </a:accent2>
      <a:accent3>
        <a:srgbClr val="7F7F7F"/>
      </a:accent3>
      <a:accent4>
        <a:srgbClr val="FEE8DB"/>
      </a:accent4>
      <a:accent5>
        <a:srgbClr val="5D6164"/>
      </a:accent5>
      <a:accent6>
        <a:srgbClr val="D9D9D9"/>
      </a:accent6>
      <a:hlink>
        <a:srgbClr val="23323B"/>
      </a:hlink>
      <a:folHlink>
        <a:srgbClr val="404040"/>
      </a:folHlink>
    </a:clrScheme>
    <a:fontScheme name="Office">
      <a:majorFont>
        <a:latin typeface="Arial"/>
        <a:ea typeface="Meiryo UI"/>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eiryo UI"/>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TR Kickoff">
  <a:themeElements>
    <a:clrScheme name="BTR Kickoff">
      <a:dk1>
        <a:srgbClr val="222B38"/>
      </a:dk1>
      <a:lt1>
        <a:srgbClr val="FFFFFF"/>
      </a:lt1>
      <a:dk2>
        <a:srgbClr val="1C2B45"/>
      </a:dk2>
      <a:lt2>
        <a:srgbClr val="F4F6F9"/>
      </a:lt2>
      <a:accent1>
        <a:srgbClr val="1C2B45"/>
      </a:accent1>
      <a:accent2>
        <a:srgbClr val="5E7391"/>
      </a:accent2>
      <a:accent3>
        <a:srgbClr val="9AA5B5"/>
      </a:accent3>
      <a:accent4>
        <a:srgbClr val="DDE5F2"/>
      </a:accent4>
      <a:accent5>
        <a:srgbClr val="3F4F6A"/>
      </a:accent5>
      <a:accent6>
        <a:srgbClr val="999999"/>
      </a:accent6>
      <a:hlink>
        <a:srgbClr val="1C2B45"/>
      </a:hlink>
      <a:folHlink>
        <a:srgbClr val="5E73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IT Budget Transfer Essentials (Supplement to the IT Department Budget Guidelines)</dc:title>
  <cp:lastModifiedBy>python-pptx</cp:lastModifiedBy>
  <cp:revision>1</cp:revision>
  <dcterms:modified xsi:type="dcterms:W3CDTF">2026-10-20T12:06:36Z</dcterms:modified>
</cp:coreProperties>
</file>