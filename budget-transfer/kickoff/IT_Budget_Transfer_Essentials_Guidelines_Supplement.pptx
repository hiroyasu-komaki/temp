
<file path=[Content_Types].xml><?xml version="1.0" encoding="utf-8"?>
<Types xmlns="http://schemas.openxmlformats.org/package/2006/content-types">
  <Default Extension="rels" ContentType="application/vnd.openxmlformats-package.relationships+xml"/>
  <Default Extension="xml" ContentType="application/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2.xml" ContentType="application/vnd.openxmlformats-officedocument.presentationml.notesSlide+xml"/>
  <Override PartName="/ppt/notesSlides/notesSlide4.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1" r:id="rId4"/>
  </p:sldMasterIdLst>
  <p:notesMasterIdLst>
    <p:notesMasterId r:id="rId5"/>
  </p:notesMasterIdLst>
  <p:sldIdLst>
    <p:sldId id="256" r:id="rId6"/>
    <p:sldId id="286" r:id="rId10"/>
    <p:sldId id="287" r:id="rId12"/>
    <p:sldId id="288" r:id="rId13"/>
    <p:sldId id="259" r:id="rId9"/>
    <p:sldId id="261" r:id="rId11"/>
    <p:sldId id="285" r:id="rId14"/>
    <p:sldId id="267" r:id="rId102"/>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表紙" id="{409EA2B5-F2A7-4CB5-82BA-641B7F0CD0B6}">
          <p14:sldIdLst>
            <p14:sldId id="256"/>
            <p14:sldId id="282"/>
            <p14:sldId id="283"/>
          </p14:sldIdLst>
        </p14:section>
        <p14:section name="予算移管の方針と進め方" id="{21F2759C-30DB-4622-835D-072BEE233D36}">
          <p14:sldIdLst>
            <p14:sldId id="258"/>
            <p14:sldId id="259"/>
          </p14:sldIdLst>
        </p14:section>
        <p14:section name="移管後の役割" id="{3B745467-87E7-42D2-8B4B-1BA428B43514}">
          <p14:sldIdLst>
            <p14:sldId id="261"/>
          </p14:sldIdLst>
        </p14:section>
        <p14:section name="IT資産管理" id="{7F319247-5CD6-4AF9-B288-B32F66FBC758}">
          <p14:sldIdLst>
            <p14:sldId id="267"/>
            <p14:sldId id="284"/>
          </p14:sldIdLst>
        </p14:section>
      </p14:section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78A727C-A965-479B-B08A-54D43AD2AD89}">
  <a:tblStyle styleId="{578A727C-A965-479B-B08A-54D43AD2AD89}"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9" Type="http://schemas.openxmlformats.org/officeDocument/2006/relationships/slide" Target="slides/slide5.xml"/><Relationship Id="rId10" Type="http://schemas.openxmlformats.org/officeDocument/2006/relationships/slide" Target="slides/slide2.xml"/><Relationship Id="rId11" Type="http://schemas.openxmlformats.org/officeDocument/2006/relationships/slide" Target="slides/slide6.xml"/><Relationship Id="rId12" Type="http://schemas.openxmlformats.org/officeDocument/2006/relationships/slide" Target="slides/slide3.xml"/><Relationship Id="rId13" Type="http://schemas.openxmlformats.org/officeDocument/2006/relationships/slide" Target="slides/slide4.xml"/><Relationship Id="rId14" Type="http://schemas.openxmlformats.org/officeDocument/2006/relationships/slide" Target="slides/slide7.xml"/><Relationship Id="rId102"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 name="Shape 18"/>
        <p:cNvGrpSpPr/>
        <p:nvPr/>
      </p:nvGrpSpPr>
      <p:grpSpPr>
        <a:xfrm>
          <a:off x="0" y="0"/>
          <a:ext cx="0" cy="0"/>
          <a:chOff x="0" y="0"/>
          <a:chExt cx="0" cy="0"/>
        </a:xfrm>
      </p:grpSpPr>
      <p:sp>
        <p:nvSpPr>
          <p:cNvPr id="19" name="Google Shape;19;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 name="Google Shape;20;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この資料は「IT部門向け予算ガイドライン」の追補で、来年度予算からの IT予算移管を、GDSの各チームが普段の業務の中で進めるときの拠り所です。予算移管はプロジェクトではなく、専用の体制も作りません。全社で決まっている方針は守り、それ以外の進め方は、カウンターパートの各ファンクションと合意して決めてください。</a:t>
            </a:r>
          </a:p>
        </p:txBody>
      </p:sp>
      <p:sp>
        <p:nvSpPr>
          <p:cNvPr id="21" name="Google Shape;21;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 name="Google Shape;70;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11月と12月の進め方の目安です。担当BPは、ヒアリングシートを基に移管元と合意し、業務マニュアルや契約書、過去の記録を基に引き継ぎ、稟議申請の時点で完了を報告します。期間を通して、進捗管理表を随時更新し、問題が起きたとき、または起きそうなときは報告・相談してください。ゴールは、S&amp;Gにとっては移管の稟議が承認されていること、担当BPにとっては移管後の業務を開始できる状態にあることです。どちらも、その状態に行くための材料がそろっている必要があります。</a:t>
            </a:r>
          </a:p>
        </p:txBody>
      </p:sp>
      <p:sp>
        <p:nvSpPr>
          <p:cNvPr id="71" name="Google Shape;71;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0" name="Google Shape;200;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移管後の役割分担です。箱は領域、矢印の上に書いたのが行為です。ビジネス戦略から要求を明確にしてビジネス要件を定め、受け入れと効果測定の結果を評価して戦略を見直すのは各ファンクションです。ビジネス戦略を受けて IT戦略を策定し、その方針をソリューションに適用すること、非機能要件をシステム要件に示すこと、ソーシングの方針をベンダーに示すこと、ビジネス要件をシステム要件に落とす要件定義、ソリューション選定、ベンダー選定は、GDSがリードし、各ファンクションの助言のもとで GDSが決定します。ただし、ある部門に固有で、他への影響が一切ないシステムは、この限りではありません。IT財務管理、契約管理、サービス品質管理は GDSが担います。分担の細部と GDSが担い始める時期は、案件ごとに合意文書で確定してください。</a:t>
            </a:r>
          </a:p>
        </p:txBody>
      </p:sp>
      <p:sp>
        <p:nvSpPr>
          <p:cNvPr id="201" name="Google Shape;201;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itle">
  <p:cSld name="TITLE">
    <p:bg>
      <p:bgPr>
        <a:solidFill>
          <a:srgbClr val="EEEFEF"/>
        </a:solidFill>
        <a:effectLst/>
      </p:bgPr>
    </p:bg>
    <p:spTree>
      <p:nvGrpSpPr>
        <p:cNvPr id="11" name="Shape 11"/>
        <p:cNvGrpSpPr/>
        <p:nvPr/>
      </p:nvGrpSpPr>
      <p:grpSpPr>
        <a:xfrm>
          <a:off x="0" y="0"/>
          <a:ext cx="0" cy="0"/>
          <a:chOff x="0" y="0"/>
          <a:chExt cx="0" cy="0"/>
        </a:xfrm>
      </p:grpSpPr>
      <p:sp>
        <p:nvSpPr>
          <p:cNvPr id="901" name="Arc TL"/>
          <p:cNvSpPr/>
          <p:nvPr userDrawn="1"/>
        </p:nvSpPr>
        <p:spPr>
          <a:xfrm>
            <a:off x="-609600" y="-609600"/>
            <a:ext cx="1117600" cy="1117600"/>
          </a:xfrm>
          <a:prstGeom prst="ellipse">
            <a:avLst/>
          </a:prstGeom>
          <a:noFill/>
          <a:ln w="114300">
            <a:solidFill>
              <a:srgbClr val="DEDEDF"/>
            </a:solidFill>
          </a:ln>
        </p:spPr>
        <p:txBody>
          <a:bodyPr/>
          <a:lstStyle/>
          <a:p>
            <a:endParaRPr lang="ja-JP"/>
          </a:p>
        </p:txBody>
      </p:sp>
      <p:sp>
        <p:nvSpPr>
          <p:cNvPr id="902" name="Arc BR"/>
          <p:cNvSpPr/>
          <p:nvPr userDrawn="1"/>
        </p:nvSpPr>
        <p:spPr>
          <a:xfrm>
            <a:off x="9652000" y="4318000"/>
            <a:ext cx="5080000" cy="5080000"/>
          </a:xfrm>
          <a:prstGeom prst="ellipse">
            <a:avLst/>
          </a:prstGeom>
          <a:noFill/>
          <a:ln w="279400">
            <a:solidFill>
              <a:srgbClr val="DEDEDF"/>
            </a:solidFill>
          </a:ln>
        </p:spPr>
        <p:txBody>
          <a:bodyPr/>
          <a:lstStyle/>
          <a:p>
            <a:endParaRPr lang="ja-JP"/>
          </a:p>
        </p:txBody>
      </p:sp>
      <p:sp>
        <p:nvSpPr>
          <p:cNvPr id="12" name="Google Shape;12;p2"/>
          <p:cNvSpPr txBox="1"/>
          <p:nvPr>
            <p:ph type="title"/>
          </p:nvPr>
        </p:nvSpPr>
        <p:spPr>
          <a:xfrm>
            <a:off x="731520" y="2286000"/>
            <a:ext cx="10698480" cy="9144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rgbClr val="404040"/>
              </a:buClr>
              <a:buSzPts val="3600"/>
              <a:buFont typeface="Arial"/>
              <a:buNone/>
              <a:defRPr b="1" i="0" sz="3600" u="none" cap="none" strike="noStrike">
                <a:solidFill>
                  <a:srgbClr val="404040"/>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3" name="Google Shape;13;p2"/>
          <p:cNvSpPr txBox="1"/>
          <p:nvPr>
            <p:ph idx="1" type="body"/>
          </p:nvPr>
        </p:nvSpPr>
        <p:spPr>
          <a:xfrm>
            <a:off x="731520" y="3383280"/>
            <a:ext cx="10698480" cy="109728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320"/>
              </a:spcBef>
              <a:spcAft>
                <a:spcPts val="0"/>
              </a:spcAft>
              <a:buClr>
                <a:srgbClr val="404040"/>
              </a:buClr>
              <a:buSzPts val="1600"/>
              <a:buFont typeface="Arial"/>
              <a:buNone/>
              <a:defRPr b="0" i="0" sz="1600" u="none" cap="none" strike="noStrike">
                <a:solidFill>
                  <a:srgbClr val="404040"/>
                </a:solidFill>
                <a:latin typeface="Arial"/>
                <a:ea typeface="Arial"/>
                <a:cs typeface="Arial"/>
                <a:sym typeface="Arial"/>
              </a:defRPr>
            </a:lvl1pPr>
            <a:lvl2pPr indent="-406400" lvl="1" marL="914400" marR="0" rtl="0" algn="l">
              <a:spcBef>
                <a:spcPts val="560"/>
              </a:spcBef>
              <a:spcAft>
                <a:spcPts val="0"/>
              </a:spcAft>
              <a:buClr>
                <a:srgbClr val="404040"/>
              </a:buClr>
              <a:buSzPts val="2800"/>
              <a:buFont typeface="Arial"/>
              <a:buChar char="–"/>
              <a:defRPr b="0" i="0" sz="2800" u="none" cap="none" strike="noStrike">
                <a:solidFill>
                  <a:srgbClr val="404040"/>
                </a:solidFill>
                <a:latin typeface="Arial"/>
                <a:ea typeface="Arial"/>
                <a:cs typeface="Arial"/>
                <a:sym typeface="Arial"/>
              </a:defRPr>
            </a:lvl2pPr>
            <a:lvl3pPr indent="-381000" lvl="2" marL="1371600" marR="0" rtl="0" algn="l">
              <a:spcBef>
                <a:spcPts val="480"/>
              </a:spcBef>
              <a:spcAft>
                <a:spcPts val="0"/>
              </a:spcAft>
              <a:buClr>
                <a:srgbClr val="404040"/>
              </a:buClr>
              <a:buSzPts val="2400"/>
              <a:buFont typeface="Arial"/>
              <a:buChar char="•"/>
              <a:defRPr b="0" i="0" sz="2400" u="none" cap="none" strike="noStrike">
                <a:solidFill>
                  <a:srgbClr val="404040"/>
                </a:solidFill>
                <a:latin typeface="Arial"/>
                <a:ea typeface="Arial"/>
                <a:cs typeface="Arial"/>
                <a:sym typeface="Arial"/>
              </a:defRPr>
            </a:lvl3pPr>
            <a:lvl4pPr indent="-355600" lvl="3" marL="1828800" marR="0" rtl="0" algn="l">
              <a:spcBef>
                <a:spcPts val="400"/>
              </a:spcBef>
              <a:spcAft>
                <a:spcPts val="0"/>
              </a:spcAft>
              <a:buClr>
                <a:srgbClr val="404040"/>
              </a:buClr>
              <a:buSzPts val="2000"/>
              <a:buFont typeface="Arial"/>
              <a:buChar char="–"/>
              <a:defRPr b="0" i="0" sz="2000" u="none" cap="none" strike="noStrike">
                <a:solidFill>
                  <a:srgbClr val="404040"/>
                </a:solidFill>
                <a:latin typeface="Arial"/>
                <a:ea typeface="Arial"/>
                <a:cs typeface="Arial"/>
                <a:sym typeface="Arial"/>
              </a:defRPr>
            </a:lvl4pPr>
            <a:lvl5pPr indent="-355600" lvl="4" marL="2286000" marR="0" rtl="0" algn="l">
              <a:spcBef>
                <a:spcPts val="400"/>
              </a:spcBef>
              <a:spcAft>
                <a:spcPts val="0"/>
              </a:spcAft>
              <a:buClr>
                <a:srgbClr val="404040"/>
              </a:buClr>
              <a:buSzPts val="2000"/>
              <a:buFont typeface="Arial"/>
              <a:buChar char="»"/>
              <a:defRPr b="0" i="0" sz="2000" u="none" cap="none" strike="noStrike">
                <a:solidFill>
                  <a:srgbClr val="404040"/>
                </a:solidFill>
                <a:latin typeface="Arial"/>
                <a:ea typeface="Arial"/>
                <a:cs typeface="Arial"/>
                <a:sym typeface="Arial"/>
              </a:defRPr>
            </a:lvl5pPr>
            <a:lvl6pPr indent="-355600" lvl="5" marL="2743200" marR="0" rtl="0" algn="l">
              <a:spcBef>
                <a:spcPts val="400"/>
              </a:spcBef>
              <a:spcAft>
                <a:spcPts val="0"/>
              </a:spcAft>
              <a:buClr>
                <a:srgbClr val="404040"/>
              </a:buClr>
              <a:buSzPts val="2000"/>
              <a:buFont typeface="Arial"/>
              <a:buChar char="•"/>
              <a:defRPr b="0" i="0" sz="2000" u="none" cap="none" strike="noStrike">
                <a:solidFill>
                  <a:srgbClr val="404040"/>
                </a:solidFill>
                <a:latin typeface="Arial"/>
                <a:ea typeface="Arial"/>
                <a:cs typeface="Arial"/>
                <a:sym typeface="Arial"/>
              </a:defRPr>
            </a:lvl6pPr>
            <a:lvl7pPr indent="-355600" lvl="6" marL="3200400" marR="0" rtl="0" algn="l">
              <a:spcBef>
                <a:spcPts val="400"/>
              </a:spcBef>
              <a:spcAft>
                <a:spcPts val="0"/>
              </a:spcAft>
              <a:buClr>
                <a:srgbClr val="404040"/>
              </a:buClr>
              <a:buSzPts val="2000"/>
              <a:buFont typeface="Arial"/>
              <a:buChar char="•"/>
              <a:defRPr b="0" i="0" sz="2000" u="none" cap="none" strike="noStrike">
                <a:solidFill>
                  <a:srgbClr val="404040"/>
                </a:solidFill>
                <a:latin typeface="Arial"/>
                <a:ea typeface="Arial"/>
                <a:cs typeface="Arial"/>
                <a:sym typeface="Arial"/>
              </a:defRPr>
            </a:lvl7pPr>
            <a:lvl8pPr indent="-355600" lvl="7" marL="3657600" marR="0" rtl="0" algn="l">
              <a:spcBef>
                <a:spcPts val="400"/>
              </a:spcBef>
              <a:spcAft>
                <a:spcPts val="0"/>
              </a:spcAft>
              <a:buClr>
                <a:srgbClr val="404040"/>
              </a:buClr>
              <a:buSzPts val="2000"/>
              <a:buFont typeface="Arial"/>
              <a:buChar char="•"/>
              <a:defRPr b="0" i="0" sz="2000" u="none" cap="none" strike="noStrike">
                <a:solidFill>
                  <a:srgbClr val="404040"/>
                </a:solidFill>
                <a:latin typeface="Arial"/>
                <a:ea typeface="Arial"/>
                <a:cs typeface="Arial"/>
                <a:sym typeface="Arial"/>
              </a:defRPr>
            </a:lvl8pPr>
            <a:lvl9pPr indent="-355600" lvl="8" marL="4114800" marR="0" rtl="0" algn="l">
              <a:spcBef>
                <a:spcPts val="400"/>
              </a:spcBef>
              <a:spcAft>
                <a:spcPts val="0"/>
              </a:spcAft>
              <a:buClr>
                <a:srgbClr val="404040"/>
              </a:buClr>
              <a:buSzPts val="2000"/>
              <a:buFont typeface="Arial"/>
              <a:buChar char="•"/>
              <a:defRPr b="0" i="0" sz="2000" u="none" cap="none" strike="noStrike">
                <a:solidFill>
                  <a:srgbClr val="404040"/>
                </a:solidFill>
                <a:latin typeface="Arial"/>
                <a:ea typeface="Arial"/>
                <a:cs typeface="Arial"/>
                <a:sym typeface="Aria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p:cSld name="CONTENT">
    <p:bg>
      <p:bgPr>
        <a:solidFill>
          <a:srgbClr val="FFFFFF"/>
        </a:solidFill>
      </p:bgPr>
    </p:bg>
    <p:spTree>
      <p:nvGrpSpPr>
        <p:cNvPr id="14" name="Shape 14"/>
        <p:cNvGrpSpPr/>
        <p:nvPr/>
      </p:nvGrpSpPr>
      <p:grpSpPr>
        <a:xfrm>
          <a:off x="0" y="0"/>
          <a:ext cx="0" cy="0"/>
          <a:chOff x="0" y="0"/>
          <a:chExt cx="0" cy="0"/>
        </a:xfrm>
      </p:grpSpPr>
      <p:sp>
        <p:nvSpPr>
          <p:cNvPr id="901" name="Arc TL"/>
          <p:cNvSpPr/>
          <p:nvPr userDrawn="1"/>
        </p:nvSpPr>
        <p:spPr>
          <a:xfrm>
            <a:off x="-609600" y="-609600"/>
            <a:ext cx="1117600" cy="1117600"/>
          </a:xfrm>
          <a:prstGeom prst="ellipse">
            <a:avLst/>
          </a:prstGeom>
          <a:noFill/>
          <a:ln w="114300">
            <a:solidFill>
              <a:srgbClr val="DEDEDF"/>
            </a:solidFill>
          </a:ln>
        </p:spPr>
        <p:txBody>
          <a:bodyPr/>
          <a:lstStyle/>
          <a:p>
            <a:endParaRPr lang="ja-JP"/>
          </a:p>
        </p:txBody>
      </p:sp>
      <p:sp>
        <p:nvSpPr>
          <p:cNvPr id="902" name="Arc BR"/>
          <p:cNvSpPr/>
          <p:nvPr userDrawn="1"/>
        </p:nvSpPr>
        <p:spPr>
          <a:xfrm>
            <a:off x="11684000" y="6350000"/>
            <a:ext cx="1117600" cy="1117600"/>
          </a:xfrm>
          <a:prstGeom prst="ellipse">
            <a:avLst/>
          </a:prstGeom>
          <a:noFill/>
          <a:ln w="114300">
            <a:solidFill>
              <a:srgbClr val="DEDEDF"/>
            </a:solidFill>
          </a:ln>
        </p:spPr>
        <p:txBody>
          <a:bodyPr/>
          <a:lstStyle/>
          <a:p>
            <a:endParaRPr lang="ja-JP"/>
          </a:p>
        </p:txBody>
      </p:sp>
      <p:sp>
        <p:nvSpPr>
          <p:cNvPr id="15" name="Google Shape;15;p3"/>
          <p:cNvSpPr txBox="1"/>
          <p:nvPr>
            <p:ph type="title"/>
          </p:nvPr>
        </p:nvSpPr>
        <p:spPr>
          <a:xfrm>
            <a:off x="635000" y="406400"/>
            <a:ext cx="10922000" cy="4318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rgbClr val="23323B"/>
              </a:buClr>
              <a:buSzPts val="2600"/>
              <a:buFont typeface="Arial"/>
              <a:buNone/>
              <a:defRPr b="1" i="0" sz="2600" u="none" cap="none" strike="noStrike">
                <a:solidFill>
                  <a:srgbClr val="23323B"/>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6" name="Google Shape;16;p3"/>
          <p:cNvSpPr txBox="1"/>
          <p:nvPr>
            <p:ph idx="12" type="sldNum"/>
          </p:nvPr>
        </p:nvSpPr>
        <p:spPr>
          <a:xfrm>
            <a:off x="10795000" y="6527800"/>
            <a:ext cx="762000" cy="152400"/>
          </a:xfrm>
          <a:prstGeom prst="rect">
            <a:avLst/>
          </a:prstGeom>
          <a:noFill/>
          <a:ln>
            <a:noFill/>
          </a:ln>
        </p:spPr>
        <p:txBody>
          <a:bodyPr anchorCtr="0" anchor="t" bIns="45700" lIns="91425" spcFirstLastPara="1" rIns="91425" wrap="square" tIns="45700">
            <a:noAutofit/>
          </a:bodyPr>
          <a:lstStyle>
            <a:lvl1pPr indent="0" lvl="0" marL="0" marR="0" algn="r">
              <a:spcBef>
                <a:spcPts val="0"/>
              </a:spcBef>
              <a:buNone/>
              <a:defRPr b="0" i="0" sz="900" u="none" cap="none" strike="noStrike">
                <a:solidFill>
                  <a:srgbClr val="7F7F7F"/>
                </a:solidFill>
                <a:latin typeface="Arial"/>
                <a:ea typeface="Arial"/>
                <a:cs typeface="Arial"/>
                <a:sym typeface="Arial"/>
              </a:defRPr>
            </a:lvl1pPr>
            <a:lvl2pPr indent="0" lvl="1" marL="0" marR="0" algn="r">
              <a:spcBef>
                <a:spcPts val="0"/>
              </a:spcBef>
              <a:buNone/>
              <a:defRPr b="0" i="0" sz="900" u="none" cap="none" strike="noStrike">
                <a:solidFill>
                  <a:srgbClr val="7F7F7F"/>
                </a:solidFill>
                <a:latin typeface="Arial"/>
                <a:ea typeface="Arial"/>
                <a:cs typeface="Arial"/>
                <a:sym typeface="Arial"/>
              </a:defRPr>
            </a:lvl2pPr>
            <a:lvl3pPr indent="0" lvl="2" marL="0" marR="0" algn="r">
              <a:spcBef>
                <a:spcPts val="0"/>
              </a:spcBef>
              <a:buNone/>
              <a:defRPr b="0" i="0" sz="900" u="none" cap="none" strike="noStrike">
                <a:solidFill>
                  <a:srgbClr val="7F7F7F"/>
                </a:solidFill>
                <a:latin typeface="Arial"/>
                <a:ea typeface="Arial"/>
                <a:cs typeface="Arial"/>
                <a:sym typeface="Arial"/>
              </a:defRPr>
            </a:lvl3pPr>
            <a:lvl4pPr indent="0" lvl="3" marL="0" marR="0" algn="r">
              <a:spcBef>
                <a:spcPts val="0"/>
              </a:spcBef>
              <a:buNone/>
              <a:defRPr b="0" i="0" sz="900" u="none" cap="none" strike="noStrike">
                <a:solidFill>
                  <a:srgbClr val="7F7F7F"/>
                </a:solidFill>
                <a:latin typeface="Arial"/>
                <a:ea typeface="Arial"/>
                <a:cs typeface="Arial"/>
                <a:sym typeface="Arial"/>
              </a:defRPr>
            </a:lvl4pPr>
            <a:lvl5pPr indent="0" lvl="4" marL="0" marR="0" algn="r">
              <a:spcBef>
                <a:spcPts val="0"/>
              </a:spcBef>
              <a:buNone/>
              <a:defRPr b="0" i="0" sz="900" u="none" cap="none" strike="noStrike">
                <a:solidFill>
                  <a:srgbClr val="7F7F7F"/>
                </a:solidFill>
                <a:latin typeface="Arial"/>
                <a:ea typeface="Arial"/>
                <a:cs typeface="Arial"/>
                <a:sym typeface="Arial"/>
              </a:defRPr>
            </a:lvl5pPr>
            <a:lvl6pPr indent="0" lvl="5" marL="0" marR="0" algn="r">
              <a:spcBef>
                <a:spcPts val="0"/>
              </a:spcBef>
              <a:buNone/>
              <a:defRPr b="0" i="0" sz="900" u="none" cap="none" strike="noStrike">
                <a:solidFill>
                  <a:srgbClr val="7F7F7F"/>
                </a:solidFill>
                <a:latin typeface="Arial"/>
                <a:ea typeface="Arial"/>
                <a:cs typeface="Arial"/>
                <a:sym typeface="Arial"/>
              </a:defRPr>
            </a:lvl6pPr>
            <a:lvl7pPr indent="0" lvl="6" marL="0" marR="0" algn="r">
              <a:spcBef>
                <a:spcPts val="0"/>
              </a:spcBef>
              <a:buNone/>
              <a:defRPr b="0" i="0" sz="900" u="none" cap="none" strike="noStrike">
                <a:solidFill>
                  <a:srgbClr val="7F7F7F"/>
                </a:solidFill>
                <a:latin typeface="Arial"/>
                <a:ea typeface="Arial"/>
                <a:cs typeface="Arial"/>
                <a:sym typeface="Arial"/>
              </a:defRPr>
            </a:lvl7pPr>
            <a:lvl8pPr indent="0" lvl="7" marL="0" marR="0" algn="r">
              <a:spcBef>
                <a:spcPts val="0"/>
              </a:spcBef>
              <a:buNone/>
              <a:defRPr b="0" i="0" sz="900" u="none" cap="none" strike="noStrike">
                <a:solidFill>
                  <a:srgbClr val="7F7F7F"/>
                </a:solidFill>
                <a:latin typeface="Arial"/>
                <a:ea typeface="Arial"/>
                <a:cs typeface="Arial"/>
                <a:sym typeface="Arial"/>
              </a:defRPr>
            </a:lvl8pPr>
            <a:lvl9pPr indent="0" lvl="8" marL="0" marR="0" algn="r">
              <a:spcBef>
                <a:spcPts val="0"/>
              </a:spcBef>
              <a:buNone/>
              <a:defRPr b="0" i="0" sz="900" u="none" cap="none" strike="noStrike">
                <a:solidFill>
                  <a:srgbClr val="7F7F7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903" name="Footer"/>
          <p:cNvSpPr txBox="1"/>
          <p:nvPr userDrawn="1"/>
        </p:nvSpPr>
        <p:spPr>
          <a:xfrm>
            <a:off x="635000" y="6527800"/>
            <a:ext cx="3810000" cy="152400"/>
          </a:xfrm>
          <a:prstGeom prst="rect">
            <a:avLst/>
          </a:prstGeom>
          <a:noFill/>
        </p:spPr>
        <p:txBody>
          <a:bodyPr wrap="none" lIns="0" tIns="0" rIns="0" bIns="0" anchor="b"/>
          <a:lstStyle/>
          <a:p>
            <a:pPr algn="l"/>
            <a:r>
              <a:rPr lang="ja-JP" sz="1000">
                <a:solidFill>
                  <a:srgbClr val="7F7F7F"/>
                </a:solidFill>
                <a:latin typeface="Arial"/>
                <a:ea typeface="Meiryo UI"/>
              </a:rPr>
              <a:t>Budget Guidelines Supplement | IT Budget Transfer Essentials</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rgbClr val="FFFFFF"/>
        </a:solidFill>
      </p:bgPr>
    </p:bg>
    <p:spTree>
      <p:nvGrpSpPr>
        <p:cNvPr id="17" name="Shape 17"/>
        <p:cNvGrpSpPr/>
        <p:nvPr/>
      </p:nvGrpSpPr>
      <p:grpSpPr>
        <a:xfrm>
          <a:off x="0" y="0"/>
          <a:ext cx="0" cy="0"/>
          <a:chOff x="0" y="0"/>
          <a:chExt cx="0" cy="0"/>
        </a:xfrm>
      </p:grpSpPr>
      <p:sp>
        <p:nvSpPr>
          <p:cNvPr id="901" name="Arc TL"/>
          <p:cNvSpPr/>
          <p:nvPr userDrawn="1"/>
        </p:nvSpPr>
        <p:spPr>
          <a:xfrm>
            <a:off x="-609600" y="-609600"/>
            <a:ext cx="1117600" cy="1117600"/>
          </a:xfrm>
          <a:prstGeom prst="ellipse">
            <a:avLst/>
          </a:prstGeom>
          <a:noFill/>
          <a:ln w="114300">
            <a:solidFill>
              <a:srgbClr val="DEDEDF"/>
            </a:solidFill>
          </a:ln>
        </p:spPr>
        <p:txBody>
          <a:bodyPr/>
          <a:lstStyle/>
          <a:p>
            <a:endParaRPr lang="ja-JP"/>
          </a:p>
        </p:txBody>
      </p:sp>
      <p:sp>
        <p:nvSpPr>
          <p:cNvPr id="902" name="Arc BR"/>
          <p:cNvSpPr/>
          <p:nvPr userDrawn="1"/>
        </p:nvSpPr>
        <p:spPr>
          <a:xfrm>
            <a:off x="11684000" y="6350000"/>
            <a:ext cx="1117600" cy="1117600"/>
          </a:xfrm>
          <a:prstGeom prst="ellipse">
            <a:avLst/>
          </a:prstGeom>
          <a:noFill/>
          <a:ln w="114300">
            <a:solidFill>
              <a:srgbClr val="DEDEDF"/>
            </a:solidFill>
          </a:ln>
        </p:spPr>
        <p:txBody>
          <a:bodyPr/>
          <a:lstStyle/>
          <a:p>
            <a:endParaRPr lang="ja-JP"/>
          </a:p>
        </p:txBody>
      </p:sp>
      <p:sp>
        <p:nvSpPr>
          <p:cNvPr id="903" name="Footer"/>
          <p:cNvSpPr txBox="1"/>
          <p:nvPr userDrawn="1"/>
        </p:nvSpPr>
        <p:spPr>
          <a:xfrm>
            <a:off x="635000" y="6527800"/>
            <a:ext cx="3810000" cy="152400"/>
          </a:xfrm>
          <a:prstGeom prst="rect">
            <a:avLst/>
          </a:prstGeom>
          <a:noFill/>
        </p:spPr>
        <p:txBody>
          <a:bodyPr wrap="none" lIns="0" tIns="0" rIns="0" bIns="0" anchor="b"/>
          <a:lstStyle/>
          <a:p>
            <a:pPr algn="l"/>
            <a:r>
              <a:rPr lang="ja-JP" sz="1000">
                <a:solidFill>
                  <a:srgbClr val="7F7F7F"/>
                </a:solidFill>
                <a:latin typeface="Arial"/>
                <a:ea typeface="Meiryo UI"/>
              </a:rPr>
              <a:t>Budget Guidelines Supplement | IT Budget Transfer Essentials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_ONLY">
    <p:bg>
      <p:bgPr>
        <a:solidFill>
          <a:srgbClr val="FFFFFF"/>
        </a:solidFill>
      </p:bgPr>
    </p:bg>
    <p:spTree>
      <p:nvGrpSpPr>
        <p:cNvPr id="1" name=""/>
        <p:cNvGrpSpPr/>
        <p:nvPr/>
      </p:nvGrpSpPr>
      <p:grpSpPr>
        <a:xfrm>
          <a:off x="0" y="0"/>
          <a:ext cx="0" cy="0"/>
          <a:chOff x="0" y="0"/>
          <a:chExt cx="0" cy="0"/>
        </a:xfrm>
      </p:grpSpPr>
      <p:sp>
        <p:nvSpPr>
          <p:cNvPr id="901" name="Arc TL"/>
          <p:cNvSpPr/>
          <p:nvPr userDrawn="1"/>
        </p:nvSpPr>
        <p:spPr>
          <a:xfrm>
            <a:off x="-609600" y="-609600"/>
            <a:ext cx="1117600" cy="1117600"/>
          </a:xfrm>
          <a:prstGeom prst="ellipse">
            <a:avLst/>
          </a:prstGeom>
          <a:noFill/>
          <a:ln w="114300">
            <a:solidFill>
              <a:srgbClr val="DEDEDF"/>
            </a:solidFill>
          </a:ln>
        </p:spPr>
        <p:txBody>
          <a:bodyPr/>
          <a:lstStyle/>
          <a:p>
            <a:endParaRPr lang="ja-JP"/>
          </a:p>
        </p:txBody>
      </p:sp>
      <p:sp>
        <p:nvSpPr>
          <p:cNvPr id="902" name="Arc BR"/>
          <p:cNvSpPr/>
          <p:nvPr userDrawn="1"/>
        </p:nvSpPr>
        <p:spPr>
          <a:xfrm>
            <a:off x="11684000" y="6350000"/>
            <a:ext cx="1117600" cy="1117600"/>
          </a:xfrm>
          <a:prstGeom prst="ellipse">
            <a:avLst/>
          </a:prstGeom>
          <a:noFill/>
          <a:ln w="114300">
            <a:solidFill>
              <a:srgbClr val="DEDEDF"/>
            </a:solidFill>
          </a:ln>
        </p:spPr>
        <p:txBody>
          <a:bodyPr/>
          <a:lstStyle/>
          <a:p>
            <a:endParaRPr lang="ja-JP"/>
          </a:p>
        </p:txBody>
      </p:sp>
      <p:sp>
        <p:nvSpPr>
          <p:cNvPr id="2" name="Text 0"/>
          <p:cNvSpPr/>
          <p:nvPr>
            <p:ph idx="100" type="title" hasCustomPrompt="1"/>
          </p:nvPr>
        </p:nvSpPr>
        <p:spPr>
          <a:xfrm>
            <a:off x="635000" y="406400"/>
            <a:ext cx="10922000" cy="431800"/>
          </a:xfrm>
          <a:prstGeom prst="rect">
            <a:avLst/>
          </a:prstGeom>
          <a:noFill/>
          <a:ln/>
        </p:spPr>
        <p:txBody>
          <a:bodyPr wrap="square" rtlCol="0"/>
          <a:lstStyle>
            <a:lvl1pPr algn="l" indent="0" marL="0">
              <a:buNone/>
              <a:defRPr lang="en-US" sz="2600" b="1" dirty="0">
                <a:solidFill>
                  <a:srgbClr val="23323B"/>
                </a:solidFill>
                <a:latin typeface="Arial" pitchFamily="34" charset="0"/>
                <a:ea typeface="Arial" pitchFamily="34" charset="-122"/>
                <a:cs typeface="Arial" pitchFamily="34" charset="-120"/>
              </a:defRPr>
            </a:lvl1pPr>
          </a:lstStyle>
          <a:p>
            <a:pPr algn="l" indent="0" marL="0">
              <a:buNone/>
            </a:pPr>
            <a:endParaRPr lang="en-US" sz="2600" dirty="0"/>
          </a:p>
        </p:txBody>
      </p:sp>
      <p:sp>
        <p:nvSpPr>
          <p:cNvPr id="3" name="Text 0"/>
          <p:cNvSpPr/>
          <p:nvPr>
            <p:ph idx="101" type="body" hasCustomPrompt="1"/>
          </p:nvPr>
        </p:nvSpPr>
        <p:spPr>
          <a:xfrm>
            <a:off x="635000" y="889000"/>
            <a:ext cx="10922000" cy="304800"/>
          </a:xfrm>
          <a:prstGeom prst="rect">
            <a:avLst/>
          </a:prstGeom>
          <a:noFill/>
          <a:ln/>
        </p:spPr>
        <p:txBody>
          <a:bodyPr wrap="square" rtlCol="0"/>
          <a:lstStyle>
            <a:lvl1pPr indent="0" marL="0">
              <a:buNone/>
              <a:defRPr lang="en-US" sz="1400" dirty="0">
                <a:solidFill>
                  <a:srgbClr val="404040"/>
                </a:solidFill>
                <a:latin typeface="Arial" pitchFamily="34" charset="0"/>
                <a:ea typeface="Arial" pitchFamily="34" charset="-122"/>
                <a:cs typeface="Arial" pitchFamily="34" charset="-120"/>
              </a:defRPr>
            </a:lvl1pPr>
          </a:lstStyle>
          <a:p>
            <a:pPr indent="0" marL="0">
              <a:buNone/>
            </a:pPr>
            <a:endParaRPr lang="en-US" sz="1400" dirty="0"/>
          </a:p>
        </p:txBody>
      </p:sp>
      <p:sp>
        <p:nvSpPr>
          <p:cNvPr id="25" name="Slide Number Placeholder 0"/>
          <p:cNvSpPr>
            <a:spLocks noGrp="1"/>
          </p:cNvSpPr>
          <p:nvPr>
            <p:ph type="sldNum" sz="quarter" idx="4294967295"/>
          </p:nvPr>
        </p:nvSpPr>
        <p:spPr>
          <a:xfrm>
            <a:off x="10795000" y="6527800"/>
            <a:ext cx="762000" cy="152400"/>
          </a:xfrm>
          <a:prstGeom prst="rect">
            <a:avLst/>
          </a:prstGeom>
          <a:extLst>
            <a:ext uri="{C572A759-6A51-4108-AA02-DFA0A04FC94B}">
              <ma14:wrappingTextBoxFlag xmlns:ma14="http://schemas.microsoft.com/office/mac/drawingml/2011/main" val="0"/>
            </a:ext>
          </a:extLst>
        </p:spPr>
        <p:txBody>
          <a:bodyPr/>
          <a:lstStyle>
            <a:lvl1pPr>
              <a:defRPr sz="900">
                <a:solidFill>
                  <a:srgbClr val="7F7F7F"/>
                </a:solidFill>
              </a:defRPr>
            </a:lvl1pPr>
          </a:lstStyle>
          <a:p>
            <a:pPr algn="r"/>
            <a:fld id="{F7021451-1387-4CA6-816F-3879F97B5CBC}" type="slidenum">
              <a:rPr b="0" lang="en-US"/>
              <a:t>1002</a:t>
            </a:fld>
            <a:endParaRPr lang="en-US"/>
          </a:p>
        </p:txBody>
      </p:sp>
      <p:sp>
        <p:nvSpPr>
          <p:cNvPr id="903" name="Footer"/>
          <p:cNvSpPr txBox="1"/>
          <p:nvPr userDrawn="1"/>
        </p:nvSpPr>
        <p:spPr>
          <a:xfrm>
            <a:off x="635000" y="6527800"/>
            <a:ext cx="3810000" cy="152400"/>
          </a:xfrm>
          <a:prstGeom prst="rect">
            <a:avLst/>
          </a:prstGeom>
          <a:noFill/>
        </p:spPr>
        <p:txBody>
          <a:bodyPr wrap="none" lIns="0" tIns="0" rIns="0" bIns="0" anchor="b"/>
          <a:lstStyle/>
          <a:p>
            <a:pPr algn="l"/>
            <a:r>
              <a:rPr lang="ja-JP" sz="1000">
                <a:solidFill>
                  <a:srgbClr val="7F7F7F"/>
                </a:solidFill>
                <a:latin typeface="Arial"/>
                <a:ea typeface="Meiryo UI"/>
              </a:rPr>
              <a:t>Budget Guidelines Supplement | IT Budget Transfer Essentials</a:t>
            </a: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
        <p:nvSpPr>
          <p:cNvPr id="10" name="Google Shape;10;p1"/>
          <p:cNvSpPr txBox="1"/>
          <p:nvPr>
            <p:ph idx="12" type="sldNum"/>
          </p:nvPr>
        </p:nvSpPr>
        <p:spPr>
          <a:xfrm>
            <a:off x="10795000" y="6527800"/>
            <a:ext cx="762000" cy="152400"/>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900" u="none" cap="none" strike="noStrike">
                <a:solidFill>
                  <a:srgbClr val="7F7F7F"/>
                </a:solidFill>
                <a:latin typeface="Arial"/>
                <a:ea typeface="Arial"/>
                <a:cs typeface="Arial"/>
                <a:sym typeface="Arial"/>
              </a:defRPr>
            </a:lvl1pPr>
            <a:lvl2pPr indent="0" lvl="1" marL="0" marR="0" rtl="0" algn="r">
              <a:spcBef>
                <a:spcPts val="0"/>
              </a:spcBef>
              <a:buNone/>
              <a:defRPr b="0" i="0" sz="900" u="none" cap="none" strike="noStrike">
                <a:solidFill>
                  <a:srgbClr val="7F7F7F"/>
                </a:solidFill>
                <a:latin typeface="Arial"/>
                <a:ea typeface="Arial"/>
                <a:cs typeface="Arial"/>
                <a:sym typeface="Arial"/>
              </a:defRPr>
            </a:lvl2pPr>
            <a:lvl3pPr indent="0" lvl="2" marL="0" marR="0" rtl="0" algn="r">
              <a:spcBef>
                <a:spcPts val="0"/>
              </a:spcBef>
              <a:buNone/>
              <a:defRPr b="0" i="0" sz="900" u="none" cap="none" strike="noStrike">
                <a:solidFill>
                  <a:srgbClr val="7F7F7F"/>
                </a:solidFill>
                <a:latin typeface="Arial"/>
                <a:ea typeface="Arial"/>
                <a:cs typeface="Arial"/>
                <a:sym typeface="Arial"/>
              </a:defRPr>
            </a:lvl3pPr>
            <a:lvl4pPr indent="0" lvl="3" marL="0" marR="0" rtl="0" algn="r">
              <a:spcBef>
                <a:spcPts val="0"/>
              </a:spcBef>
              <a:buNone/>
              <a:defRPr b="0" i="0" sz="900" u="none" cap="none" strike="noStrike">
                <a:solidFill>
                  <a:srgbClr val="7F7F7F"/>
                </a:solidFill>
                <a:latin typeface="Arial"/>
                <a:ea typeface="Arial"/>
                <a:cs typeface="Arial"/>
                <a:sym typeface="Arial"/>
              </a:defRPr>
            </a:lvl4pPr>
            <a:lvl5pPr indent="0" lvl="4" marL="0" marR="0" rtl="0" algn="r">
              <a:spcBef>
                <a:spcPts val="0"/>
              </a:spcBef>
              <a:buNone/>
              <a:defRPr b="0" i="0" sz="900" u="none" cap="none" strike="noStrike">
                <a:solidFill>
                  <a:srgbClr val="7F7F7F"/>
                </a:solidFill>
                <a:latin typeface="Arial"/>
                <a:ea typeface="Arial"/>
                <a:cs typeface="Arial"/>
                <a:sym typeface="Arial"/>
              </a:defRPr>
            </a:lvl5pPr>
            <a:lvl6pPr indent="0" lvl="5" marL="0" marR="0" rtl="0" algn="r">
              <a:spcBef>
                <a:spcPts val="0"/>
              </a:spcBef>
              <a:buNone/>
              <a:defRPr b="0" i="0" sz="900" u="none" cap="none" strike="noStrike">
                <a:solidFill>
                  <a:srgbClr val="7F7F7F"/>
                </a:solidFill>
                <a:latin typeface="Arial"/>
                <a:ea typeface="Arial"/>
                <a:cs typeface="Arial"/>
                <a:sym typeface="Arial"/>
              </a:defRPr>
            </a:lvl6pPr>
            <a:lvl7pPr indent="0" lvl="6" marL="0" marR="0" rtl="0" algn="r">
              <a:spcBef>
                <a:spcPts val="0"/>
              </a:spcBef>
              <a:buNone/>
              <a:defRPr b="0" i="0" sz="900" u="none" cap="none" strike="noStrike">
                <a:solidFill>
                  <a:srgbClr val="7F7F7F"/>
                </a:solidFill>
                <a:latin typeface="Arial"/>
                <a:ea typeface="Arial"/>
                <a:cs typeface="Arial"/>
                <a:sym typeface="Arial"/>
              </a:defRPr>
            </a:lvl7pPr>
            <a:lvl8pPr indent="0" lvl="7" marL="0" marR="0" rtl="0" algn="r">
              <a:spcBef>
                <a:spcPts val="0"/>
              </a:spcBef>
              <a:buNone/>
              <a:defRPr b="0" i="0" sz="900" u="none" cap="none" strike="noStrike">
                <a:solidFill>
                  <a:srgbClr val="7F7F7F"/>
                </a:solidFill>
                <a:latin typeface="Arial"/>
                <a:ea typeface="Arial"/>
                <a:cs typeface="Arial"/>
                <a:sym typeface="Arial"/>
              </a:defRPr>
            </a:lvl8pPr>
            <a:lvl9pPr indent="0" lvl="8" marL="0" marR="0" rtl="0" algn="r">
              <a:spcBef>
                <a:spcPts val="0"/>
              </a:spcBef>
              <a:buNone/>
              <a:defRPr b="0" i="0" sz="900" u="none" cap="none" strike="noStrike">
                <a:solidFill>
                  <a:srgbClr val="7F7F7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5"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ED5604"/>
        </a:solidFill>
        <a:effectLst/>
      </p:bgPr>
    </p:bg>
    <p:spTree>
      <p:nvGrpSpPr>
        <p:cNvPr id="22" name="Shape 22"/>
        <p:cNvGrpSpPr/>
        <p:nvPr/>
      </p:nvGrpSpPr>
      <p:grpSpPr>
        <a:xfrm>
          <a:off x="0" y="0"/>
          <a:ext cx="0" cy="0"/>
          <a:chOff x="0" y="0"/>
          <a:chExt cx="0" cy="0"/>
        </a:xfrm>
      </p:grpSpPr>
      <p:sp>
        <p:nvSpPr>
          <p:cNvPr id="950" name="Cover Arc"/>
          <p:cNvSpPr/>
          <p:nvPr userDrawn="1"/>
        </p:nvSpPr>
        <p:spPr>
          <a:xfrm>
            <a:off x="9017000" y="3937000"/>
            <a:ext cx="6350000" cy="6350000"/>
          </a:xfrm>
          <a:prstGeom prst="ellipse">
            <a:avLst/>
          </a:prstGeom>
          <a:noFill/>
          <a:ln w="381000">
            <a:solidFill>
              <a:srgbClr val="FFFFFF"/>
            </a:solidFill>
          </a:ln>
        </p:spPr>
        <p:txBody>
          <a:bodyPr/>
          <a:lstStyle/>
          <a:p>
            <a:endParaRPr lang="ja-JP"/>
          </a:p>
        </p:txBody>
      </p:sp>
      <p:sp>
        <p:nvSpPr>
          <p:cNvPr id="23" name="Google Shape;23;p5"/>
          <p:cNvSpPr txBox="1"/>
          <p:nvPr>
            <p:ph type="title"/>
          </p:nvPr>
        </p:nvSpPr>
        <p:spPr>
          <a:xfrm>
            <a:off x="635000" y="2377440"/>
            <a:ext cx="9326880" cy="73152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Clr>
                <a:srgbClr val="FFFFFF"/>
              </a:buClr>
              <a:buSzPts val="3600"/>
              <a:buFont typeface="Arial"/>
              <a:buNone/>
            </a:pPr>
            <a:r>
              <a:rPr b="1" lang="en-US" sz="3400">
                <a:solidFill>
                  <a:srgbClr val="FFFFFF"/>
                </a:solidFill>
              </a:rPr>
              <a:t>IT Department Budget Guidelines: Supplement</a:t>
            </a:r>
            <a:endParaRPr sz="4300" b="1">
              <a:solidFill>
                <a:srgbClr val="FFFFFF"/>
              </a:solidFill>
            </a:endParaRPr>
          </a:p>
        </p:txBody>
      </p:sp>
      <p:sp>
        <p:nvSpPr>
          <p:cNvPr id="24" name="Google Shape;24;p5"/>
          <p:cNvSpPr txBox="1"/>
          <p:nvPr>
            <p:ph idx="1" type="body"/>
          </p:nvPr>
        </p:nvSpPr>
        <p:spPr>
          <a:xfrm>
            <a:off x="635000" y="3611880"/>
            <a:ext cx="8128000" cy="762000"/>
          </a:xfrm>
          <a:prstGeom prst="rect">
            <a:avLst/>
          </a:prstGeom>
          <a:noFill/>
          <a:ln>
            <a:noFill/>
          </a:ln>
        </p:spPr>
        <p:txBody>
          <a:bodyPr anchorCtr="0" anchor="t" bIns="0" lIns="0" spcFirstLastPara="1" rIns="0" wrap="square" tIns="0">
            <a:noAutofit/>
          </a:bodyPr>
          <a:lstStyle/>
          <a:p>
            <a:pPr indent="0" lvl="0" marL="0" rtl="0" algn="l">
              <a:buClr>
                <a:srgbClr val="DDE5F2"/>
              </a:buClr>
              <a:buSzPts val="1600"/>
              <a:buNone/>
              <a:spcAft>
                <a:spcPts val="600"/>
              </a:spcAft>
            </a:pPr>
            <a:r>
              <a:rPr lang="en-US" sz="1800" b="1">
                <a:solidFill>
                  <a:srgbClr val="FFFFFF"/>
                </a:solidFill>
              </a:rPr>
              <a:t>IT Budget Transfer Essentials</a:t>
            </a:r>
            <a:endParaRPr sz="1800" b="1">
              <a:solidFill>
                <a:srgbClr val="FFFFFF"/>
              </a:solidFill>
            </a:endParaRPr>
          </a:p>
          <a:p>
            <a:pPr indent="0" lvl="0" marL="0" rtl="0" algn="l">
              <a:buClr>
                <a:srgbClr val="DDE5F2"/>
              </a:buClr>
              <a:buSzPts val="1600"/>
              <a:buNone/>
              <a:spcAft>
                <a:spcPts val="600"/>
              </a:spcAft>
            </a:pPr>
            <a:r>
              <a:rPr lang="en-US" sz="1800" b="1">
                <a:solidFill>
                  <a:srgbClr val="FFFFFF"/>
                </a:solidFill>
              </a:rPr>
              <a:t>November 2026 Kickoff</a:t>
            </a:r>
            <a:endParaRPr sz="1800" b="1">
              <a:solidFill>
                <a:srgbClr val="FFFFFF"/>
              </a:solidFill>
            </a:endParaRP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635000" y="406400"/>
            <a:ext cx="10922000" cy="431800"/>
          </a:xfrm>
          <a:prstGeom prst="rect">
            <a:avLst/>
          </a:prstGeom>
          <a:noFill/>
          <a:ln/>
        </p:spPr>
        <p:txBody>
          <a:bodyPr wrap="square" lIns="0" tIns="0" rIns="0" bIns="0" rtlCol="0" anchor="t"/>
          <a:lstStyle/>
          <a:p>
            <a:pPr algn="l" indent="0" marL="0">
              <a:buNone/>
            </a:pPr>
            <a:r>
              <a:rPr lang="en-US" sz="2400" b="1" dirty="0">
                <a:solidFill>
                  <a:srgbClr val="23323B"/>
                </a:solidFill>
                <a:latin typeface="Arial" pitchFamily="34" charset="0"/>
                <a:ea typeface="Arial" pitchFamily="34" charset="-122"/>
                <a:cs typeface="Arial" pitchFamily="34" charset="-120"/>
              </a:rPr>
              <a:t>About This Document</a:t>
            </a:r>
            <a:endParaRPr lang="en-US" sz="2400" dirty="0" b="1">
              <a:solidFill>
                <a:srgbClr val="23323B"/>
              </a:solidFill>
            </a:endParaRPr>
          </a:p>
        </p:txBody>
      </p:sp>
      <p:sp>
        <p:nvSpPr>
          <p:cNvPr id="3" name="Text 0"/>
          <p:cNvSpPr/>
          <p:nvPr>
            <p:ph idx="101" type="body" hasCustomPrompt="1"/>
          </p:nvPr>
        </p:nvSpPr>
        <p:spPr>
          <a:xfrm>
            <a:off x="635000" y="889000"/>
            <a:ext cx="10922000" cy="560000"/>
          </a:xfrm>
          <a:prstGeom prst="rect">
            <a:avLst/>
          </a:prstGeom>
          <a:noFill/>
          <a:ln/>
        </p:spPr>
        <p:txBody>
          <a:bodyPr wrap="square" lIns="0" tIns="0" rIns="0" bIns="0" rtlCol="0" anchor="t"/>
          <a:lstStyle/>
          <a:p>
            <a:pPr indent="0" marL="0">
              <a:buNone/>
            </a:pPr>
            <a:r>
              <a:rPr lang="en-US" sz="1400" dirty="0" b="1">
                <a:solidFill>
                  <a:srgbClr val="404040"/>
                </a:solidFill>
                <a:latin typeface="Arial" pitchFamily="34" charset="0"/>
                <a:ea typeface="Arial" pitchFamily="34" charset="-122"/>
                <a:cs typeface="Arial" pitchFamily="34" charset="-120"/>
              </a:rPr>
              <a:t>Explains the approach and handling of frequently asked topics on the budget transfer, clearly and without misunderstanding</a:t>
            </a:r>
            <a:endParaRPr lang="en-US" sz="1400" dirty="0" b="1">
              <a:solidFill>
                <a:srgbClr val="404040"/>
              </a:solidFill>
            </a:endParaRPr>
          </a:p>
        </p:txBody>
      </p:sp>
      <p:sp>
        <p:nvSpPr>
          <p:cNvPr id="25" name="Slide Number Placeholder 0"/>
          <p:cNvSpPr>
            <a:spLocks noGrp="1"/>
          </p:cNvSpPr>
          <p:nvPr>
            <p:ph type="sldNum" sz="quarter" idx="4294967295"/>
          </p:nvPr>
        </p:nvSpPr>
        <p:spPr>
          <a:xfrm>
            <a:off x="10795000" y="6527800"/>
            <a:ext cx="762000" cy="152400"/>
          </a:xfrm>
          <a:prstGeom prst="rect">
            <a:avLst/>
          </a:prstGeom>
          <a:extLst>
            <a:ext uri="{C572A759-6A51-4108-AA02-DFA0A04FC94B}">
              <ma14:wrappingTextBoxFlag xmlns:ma14="http://schemas.microsoft.com/office/mac/drawingml/2011/main" val="0"/>
            </a:ext>
          </a:extLst>
        </p:spPr>
        <p:txBody>
          <a:bodyPr anchor="b" lIns="0" tIns="0" rIns="0" bIns="0"/>
          <a:lstStyle>
            <a:lvl1pPr>
              <a:defRPr sz="900">
                <a:solidFill>
                  <a:srgbClr val="7F7F7F"/>
                </a:solidFill>
              </a:defRPr>
            </a:lvl1pPr>
          </a:lstStyle>
          <a:p>
            <a:pPr algn="r"/>
            <a:fld id="{F7021451-1387-4CA6-816F-3879F97B5CBC}" type="slidenum">
              <a:rPr b="0" lang="en-US" sz="1000">
                <a:solidFill>
                  <a:srgbClr val="7F7F7F"/>
                </a:solidFill>
              </a:rPr>
              <a:t>2</a:t>
            </a:fld>
            <a:endParaRPr lang="en-US" sz="1000" b="0">
              <a:solidFill>
                <a:srgbClr val="7F7F7F"/>
              </a:solidFill>
            </a:endParaRPr>
          </a:p>
        </p:txBody>
      </p:sp>
      <p:sp>
        <p:nvSpPr>
          <p:cNvPr id="26" name="Rectangle 25"/>
          <p:cNvSpPr/>
          <p:nvPr/>
        </p:nvSpPr>
        <p:spPr>
          <a:xfrm>
            <a:off x="635000" y="1554480"/>
            <a:ext cx="2286000" cy="1005840"/>
          </a:xfrm>
          <a:prstGeom prst="rect">
            <a:avLst/>
          </a:prstGeom>
          <a:solidFill>
            <a:srgbClr val="23323B"/>
          </a:solidFill>
          <a:ln>
            <a:noFill/>
          </a:ln>
        </p:spPr>
        <p:style>
          <a:lnRef idx="1">
            <a:schemeClr val="accent1"/>
          </a:lnRef>
          <a:fillRef idx="3">
            <a:schemeClr val="accent1"/>
          </a:fillRef>
          <a:effectRef idx="0">
            <a:schemeClr val="accent1"/>
          </a:effectRef>
          <a:fontRef idx="minor">
            <a:schemeClr val="lt1"/>
          </a:fontRef>
        </p:style>
        <p:txBody>
          <a:bodyPr rtlCol="0" anchor="ctr" wrap="square" lIns="182880" rIns="0" tIns="0" bIns="0"/>
          <a:lstStyle/>
          <a:p>
            <a:pPr algn="l">
              <a:spcAft>
                <a:spcPts val="400"/>
              </a:spcAft>
            </a:pPr>
            <a:r>
              <a:rPr sz="1600" b="1">
                <a:solidFill>
                  <a:srgbClr val="FFFFFF"/>
                </a:solidFill>
                <a:latin typeface="Arial"/>
                <a:ea typeface="Arial"/>
              </a:rPr>
              <a:t>Purpose</a:t>
            </a:r>
          </a:p>
        </p:txBody>
      </p:sp>
      <p:sp>
        <p:nvSpPr>
          <p:cNvPr id="27" name="Rectangle 26"/>
          <p:cNvSpPr/>
          <p:nvPr/>
        </p:nvSpPr>
        <p:spPr>
          <a:xfrm>
            <a:off x="2921000" y="1554480"/>
            <a:ext cx="8636000" cy="1005840"/>
          </a:xfrm>
          <a:prstGeom prst="rect">
            <a:avLst/>
          </a:prstGeom>
          <a:solidFill>
            <a:srgbClr val="F2F2F2"/>
          </a:solidFill>
          <a:ln>
            <a:noFill/>
          </a:ln>
        </p:spPr>
        <p:style>
          <a:lnRef idx="1">
            <a:schemeClr val="accent1"/>
          </a:lnRef>
          <a:fillRef idx="3">
            <a:schemeClr val="accent1"/>
          </a:fillRef>
          <a:effectRef idx="0">
            <a:schemeClr val="accent1"/>
          </a:effectRef>
          <a:fontRef idx="minor">
            <a:schemeClr val="lt1"/>
          </a:fontRef>
        </p:style>
        <p:txBody>
          <a:bodyPr rtlCol="0" anchor="ctr" wrap="square" lIns="274320" rIns="274320" tIns="0" bIns="0"/>
          <a:lstStyle/>
          <a:p>
            <a:pPr algn="l">
              <a:spcAft>
                <a:spcPts val="400"/>
              </a:spcAft>
            </a:pPr>
            <a:r>
              <a:rPr sz="1400" b="0">
                <a:solidFill>
                  <a:srgbClr val="404040"/>
                </a:solidFill>
                <a:latin typeface="Arial"/>
                <a:ea typeface="Arial"/>
              </a:rPr>
              <a:t>This document illustrates the approach and handling of topics often raised about the budget transfer. It adds the background that individual answers cannot easily convey, so that everyone understands it correctly.</a:t>
            </a:r>
          </a:p>
        </p:txBody>
      </p:sp>
      <p:sp>
        <p:nvSpPr>
          <p:cNvPr id="28" name="Rectangle 27"/>
          <p:cNvSpPr/>
          <p:nvPr/>
        </p:nvSpPr>
        <p:spPr>
          <a:xfrm>
            <a:off x="635000" y="2651760"/>
            <a:ext cx="2286000" cy="1005840"/>
          </a:xfrm>
          <a:prstGeom prst="rect">
            <a:avLst/>
          </a:prstGeom>
          <a:solidFill>
            <a:srgbClr val="23323B"/>
          </a:solidFill>
          <a:ln>
            <a:noFill/>
          </a:ln>
        </p:spPr>
        <p:style>
          <a:lnRef idx="1">
            <a:schemeClr val="accent1"/>
          </a:lnRef>
          <a:fillRef idx="3">
            <a:schemeClr val="accent1"/>
          </a:fillRef>
          <a:effectRef idx="0">
            <a:schemeClr val="accent1"/>
          </a:effectRef>
          <a:fontRef idx="minor">
            <a:schemeClr val="lt1"/>
          </a:fontRef>
        </p:style>
        <p:txBody>
          <a:bodyPr rtlCol="0" anchor="ctr" wrap="square" lIns="182880" rIns="0" tIns="0" bIns="0"/>
          <a:lstStyle/>
          <a:p>
            <a:pPr algn="l">
              <a:spcAft>
                <a:spcPts val="400"/>
              </a:spcAft>
            </a:pPr>
            <a:r>
              <a:rPr sz="1600" b="1">
                <a:solidFill>
                  <a:srgbClr val="FFFFFF"/>
                </a:solidFill>
                <a:latin typeface="Arial"/>
                <a:ea typeface="Arial"/>
              </a:rPr>
              <a:t>Relation to Q&amp;A list</a:t>
            </a:r>
          </a:p>
        </p:txBody>
      </p:sp>
      <p:sp>
        <p:nvSpPr>
          <p:cNvPr id="29" name="Rectangle 28"/>
          <p:cNvSpPr/>
          <p:nvPr/>
        </p:nvSpPr>
        <p:spPr>
          <a:xfrm>
            <a:off x="2921000" y="2651760"/>
            <a:ext cx="8636000" cy="1005840"/>
          </a:xfrm>
          <a:prstGeom prst="rect">
            <a:avLst/>
          </a:prstGeom>
          <a:solidFill>
            <a:srgbClr val="F2F2F2"/>
          </a:solidFill>
          <a:ln>
            <a:noFill/>
          </a:ln>
        </p:spPr>
        <p:style>
          <a:lnRef idx="1">
            <a:schemeClr val="accent1"/>
          </a:lnRef>
          <a:fillRef idx="3">
            <a:schemeClr val="accent1"/>
          </a:fillRef>
          <a:effectRef idx="0">
            <a:schemeClr val="accent1"/>
          </a:effectRef>
          <a:fontRef idx="minor">
            <a:schemeClr val="lt1"/>
          </a:fontRef>
        </p:style>
        <p:txBody>
          <a:bodyPr rtlCol="0" anchor="ctr" wrap="square" lIns="274320" rIns="274320" tIns="0" bIns="0"/>
          <a:lstStyle/>
          <a:p>
            <a:pPr algn="l">
              <a:spcAft>
                <a:spcPts val="400"/>
              </a:spcAft>
            </a:pPr>
            <a:r>
              <a:rPr sz="1400" b="0">
                <a:solidFill>
                  <a:srgbClr val="404040"/>
                </a:solidFill>
                <a:latin typeface="Arial"/>
                <a:ea typeface="Arial"/>
              </a:rPr>
              <a:t>Individual questions and answers are kept in the Q&amp;A list. This document sets out the thinking behind them. Please refer to both as needed.</a:t>
            </a:r>
          </a:p>
        </p:txBody>
      </p:sp>
      <p:sp>
        <p:nvSpPr>
          <p:cNvPr id="30" name="Rectangle 29"/>
          <p:cNvSpPr/>
          <p:nvPr/>
        </p:nvSpPr>
        <p:spPr>
          <a:xfrm>
            <a:off x="635000" y="3749040"/>
            <a:ext cx="2286000" cy="1005840"/>
          </a:xfrm>
          <a:prstGeom prst="rect">
            <a:avLst/>
          </a:prstGeom>
          <a:solidFill>
            <a:srgbClr val="23323B"/>
          </a:solidFill>
          <a:ln>
            <a:noFill/>
          </a:ln>
        </p:spPr>
        <p:style>
          <a:lnRef idx="1">
            <a:schemeClr val="accent1"/>
          </a:lnRef>
          <a:fillRef idx="3">
            <a:schemeClr val="accent1"/>
          </a:fillRef>
          <a:effectRef idx="0">
            <a:schemeClr val="accent1"/>
          </a:effectRef>
          <a:fontRef idx="minor">
            <a:schemeClr val="lt1"/>
          </a:fontRef>
        </p:style>
        <p:txBody>
          <a:bodyPr rtlCol="0" anchor="ctr" wrap="square" lIns="182880" rIns="0" tIns="0" bIns="0"/>
          <a:lstStyle/>
          <a:p>
            <a:pPr algn="l">
              <a:spcAft>
                <a:spcPts val="400"/>
              </a:spcAft>
            </a:pPr>
            <a:r>
              <a:rPr sz="1600" b="1">
                <a:solidFill>
                  <a:srgbClr val="FFFFFF"/>
                </a:solidFill>
                <a:latin typeface="Arial"/>
                <a:ea typeface="Arial"/>
              </a:rPr>
              <a:t>How to use</a:t>
            </a:r>
          </a:p>
        </p:txBody>
      </p:sp>
      <p:sp>
        <p:nvSpPr>
          <p:cNvPr id="31" name="Rectangle 30"/>
          <p:cNvSpPr/>
          <p:nvPr/>
        </p:nvSpPr>
        <p:spPr>
          <a:xfrm>
            <a:off x="2921000" y="3749040"/>
            <a:ext cx="8636000" cy="1005840"/>
          </a:xfrm>
          <a:prstGeom prst="rect">
            <a:avLst/>
          </a:prstGeom>
          <a:solidFill>
            <a:srgbClr val="F2F2F2"/>
          </a:solidFill>
          <a:ln>
            <a:noFill/>
          </a:ln>
        </p:spPr>
        <p:style>
          <a:lnRef idx="1">
            <a:schemeClr val="accent1"/>
          </a:lnRef>
          <a:fillRef idx="3">
            <a:schemeClr val="accent1"/>
          </a:fillRef>
          <a:effectRef idx="0">
            <a:schemeClr val="accent1"/>
          </a:effectRef>
          <a:fontRef idx="minor">
            <a:schemeClr val="lt1"/>
          </a:fontRef>
        </p:style>
        <p:txBody>
          <a:bodyPr rtlCol="0" anchor="ctr" wrap="square" lIns="274320" rIns="274320" tIns="0" bIns="0"/>
          <a:lstStyle/>
          <a:p>
            <a:pPr algn="l">
              <a:spcAft>
                <a:spcPts val="400"/>
              </a:spcAft>
            </a:pPr>
            <a:r>
              <a:rPr sz="1400" b="0">
                <a:solidFill>
                  <a:srgbClr val="404040"/>
                </a:solidFill>
                <a:latin typeface="Arial"/>
                <a:ea typeface="Arial"/>
              </a:rPr>
              <a:t>GDS transfer leads can use it when talking with their business counterparts, so both sides look at the same picture and align. It can also help you check your own understanding.</a:t>
            </a:r>
          </a:p>
        </p:txBody>
      </p:sp>
      <p:sp>
        <p:nvSpPr>
          <p:cNvPr id="32" name="Rectangle 31"/>
          <p:cNvSpPr/>
          <p:nvPr/>
        </p:nvSpPr>
        <p:spPr>
          <a:xfrm>
            <a:off x="635000" y="4846320"/>
            <a:ext cx="2286000" cy="1005840"/>
          </a:xfrm>
          <a:prstGeom prst="rect">
            <a:avLst/>
          </a:prstGeom>
          <a:solidFill>
            <a:srgbClr val="23323B"/>
          </a:solidFill>
          <a:ln>
            <a:noFill/>
          </a:ln>
        </p:spPr>
        <p:style>
          <a:lnRef idx="1">
            <a:schemeClr val="accent1"/>
          </a:lnRef>
          <a:fillRef idx="3">
            <a:schemeClr val="accent1"/>
          </a:fillRef>
          <a:effectRef idx="0">
            <a:schemeClr val="accent1"/>
          </a:effectRef>
          <a:fontRef idx="minor">
            <a:schemeClr val="lt1"/>
          </a:fontRef>
        </p:style>
        <p:txBody>
          <a:bodyPr rtlCol="0" anchor="ctr" wrap="square" lIns="182880" rIns="0" tIns="0" bIns="0"/>
          <a:lstStyle/>
          <a:p>
            <a:pPr algn="l">
              <a:spcAft>
                <a:spcPts val="400"/>
              </a:spcAft>
            </a:pPr>
            <a:r>
              <a:rPr sz="1600" b="1">
                <a:solidFill>
                  <a:srgbClr val="FFFFFF"/>
                </a:solidFill>
                <a:latin typeface="Arial"/>
                <a:ea typeface="Arial"/>
              </a:rPr>
              <a:t>Updates</a:t>
            </a:r>
          </a:p>
        </p:txBody>
      </p:sp>
      <p:sp>
        <p:nvSpPr>
          <p:cNvPr id="33" name="Rectangle 32"/>
          <p:cNvSpPr/>
          <p:nvPr/>
        </p:nvSpPr>
        <p:spPr>
          <a:xfrm>
            <a:off x="2921000" y="4846320"/>
            <a:ext cx="8636000" cy="1005840"/>
          </a:xfrm>
          <a:prstGeom prst="rect">
            <a:avLst/>
          </a:prstGeom>
          <a:solidFill>
            <a:srgbClr val="F2F2F2"/>
          </a:solidFill>
          <a:ln>
            <a:noFill/>
          </a:ln>
        </p:spPr>
        <p:style>
          <a:lnRef idx="1">
            <a:schemeClr val="accent1"/>
          </a:lnRef>
          <a:fillRef idx="3">
            <a:schemeClr val="accent1"/>
          </a:fillRef>
          <a:effectRef idx="0">
            <a:schemeClr val="accent1"/>
          </a:effectRef>
          <a:fontRef idx="minor">
            <a:schemeClr val="lt1"/>
          </a:fontRef>
        </p:style>
        <p:txBody>
          <a:bodyPr rtlCol="0" anchor="ctr" wrap="square" lIns="274320" rIns="274320" tIns="0" bIns="0"/>
          <a:lstStyle/>
          <a:p>
            <a:pPr algn="l">
              <a:spcAft>
                <a:spcPts val="400"/>
              </a:spcAft>
            </a:pPr>
            <a:r>
              <a:rPr sz="1400" b="0">
                <a:solidFill>
                  <a:srgbClr val="404040"/>
                </a:solidFill>
                <a:latin typeface="Arial"/>
                <a:ea typeface="Arial"/>
              </a:rPr>
              <a:t>We will add to and update this document as questions come in. Please see the revision history for changes.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635000" y="406400"/>
            <a:ext cx="10922000" cy="431800"/>
          </a:xfrm>
          <a:prstGeom prst="rect">
            <a:avLst/>
          </a:prstGeom>
          <a:noFill/>
          <a:ln/>
        </p:spPr>
        <p:txBody>
          <a:bodyPr wrap="square" lIns="0" tIns="0" rIns="0" bIns="0" rtlCol="0" anchor="t"/>
          <a:lstStyle/>
          <a:p>
            <a:pPr algn="l" indent="0" marL="0">
              <a:buNone/>
            </a:pPr>
            <a:r>
              <a:rPr lang="en-US" sz="2400" b="1" dirty="0">
                <a:solidFill>
                  <a:srgbClr val="23323B"/>
                </a:solidFill>
                <a:latin typeface="Arial" pitchFamily="34" charset="0"/>
                <a:ea typeface="Arial" pitchFamily="34" charset="-122"/>
                <a:cs typeface="Arial" pitchFamily="34" charset="-120"/>
              </a:rPr>
              <a:t>Revision History</a:t>
            </a:r>
            <a:endParaRPr lang="en-US" sz="2400" dirty="0" b="1">
              <a:solidFill>
                <a:srgbClr val="23323B"/>
              </a:solidFill>
            </a:endParaRPr>
          </a:p>
        </p:txBody>
      </p:sp>
      <p:sp>
        <p:nvSpPr>
          <p:cNvPr id="25" name="Slide Number Placeholder 0"/>
          <p:cNvSpPr>
            <a:spLocks noGrp="1"/>
          </p:cNvSpPr>
          <p:nvPr>
            <p:ph type="sldNum" sz="quarter" idx="4294967295"/>
          </p:nvPr>
        </p:nvSpPr>
        <p:spPr>
          <a:xfrm>
            <a:off x="10795000" y="6527800"/>
            <a:ext cx="762000" cy="152400"/>
          </a:xfrm>
          <a:prstGeom prst="rect">
            <a:avLst/>
          </a:prstGeom>
          <a:extLst>
            <a:ext uri="{C572A759-6A51-4108-AA02-DFA0A04FC94B}">
              <ma14:wrappingTextBoxFlag xmlns:ma14="http://schemas.microsoft.com/office/mac/drawingml/2011/main" val="0"/>
            </a:ext>
          </a:extLst>
        </p:spPr>
        <p:txBody>
          <a:bodyPr anchor="b" lIns="0" tIns="0" rIns="0" bIns="0"/>
          <a:lstStyle>
            <a:lvl1pPr>
              <a:defRPr sz="900">
                <a:solidFill>
                  <a:srgbClr val="7F7F7F"/>
                </a:solidFill>
              </a:defRPr>
            </a:lvl1pPr>
          </a:lstStyle>
          <a:p>
            <a:pPr algn="r"/>
            <a:fld id="{F7021451-1387-4CA6-816F-3879F97B5CBC}" type="slidenum">
              <a:rPr b="0" lang="en-US" sz="1000">
                <a:solidFill>
                  <a:srgbClr val="7F7F7F"/>
                </a:solidFill>
              </a:rPr>
              <a:t>2</a:t>
            </a:fld>
            <a:endParaRPr lang="en-US" sz="1000" b="0">
              <a:solidFill>
                <a:srgbClr val="7F7F7F"/>
              </a:solidFill>
            </a:endParaRPr>
          </a:p>
        </p:txBody>
      </p:sp>
      <p:graphicFrame>
        <p:nvGraphicFramePr>
          <p:cNvPr id="26" name="Table 25"/>
          <p:cNvGraphicFramePr>
            <a:graphicFrameLocks noGrp="1"/>
          </p:cNvGraphicFramePr>
          <p:nvPr/>
        </p:nvGraphicFramePr>
        <p:xfrm>
          <a:off x="635000" y="1188720"/>
          <a:ext cx="10922000" cy="3291840"/>
        </p:xfrm>
        <a:graphic>
          <a:graphicData uri="http://schemas.openxmlformats.org/drawingml/2006/table">
            <a:tbl>
              <a:tblPr firstRow="0" bandRow="0">
                <a:tableStyleId>{5C22544A-7EE6-4342-B048-85BDC9FD1C3A}</a:tableStyleId>
              </a:tblPr>
              <a:tblGrid>
                <a:gridCol w="2194560"/>
                <a:gridCol w="8727440"/>
              </a:tblGrid>
              <a:tr h="365760">
                <a:tc>
                  <a:txBody>
                    <a:bodyPr/>
                    <a:lstStyle/>
                    <a:p>
                      <a:r>
                        <a:rPr sz="1100" b="1">
                          <a:solidFill>
                            <a:srgbClr val="FFFFFF"/>
                          </a:solidFill>
                          <a:latin typeface="Arial"/>
                        </a:rPr>
                        <a:t>Date</a:t>
                      </a:r>
                    </a:p>
                  </a:txBody>
                  <a:tcPr anchor="ctr" marL="91440">
                    <a:solidFill>
                      <a:srgbClr val="23323B"/>
                    </a:solidFill>
                    <a:lnL w="3175">
                      <a:solidFill>
                        <a:srgbClr val="D9D9D9"/>
                      </a:solidFill>
                    </a:lnL>
                    <a:lnR w="3175">
                      <a:solidFill>
                        <a:srgbClr val="D9D9D9"/>
                      </a:solidFill>
                    </a:lnR>
                    <a:lnT w="3175">
                      <a:solidFill>
                        <a:srgbClr val="D9D9D9"/>
                      </a:solidFill>
                    </a:lnT>
                    <a:lnB w="3175">
                      <a:solidFill>
                        <a:srgbClr val="D9D9D9"/>
                      </a:solidFill>
                    </a:lnB>
                  </a:tcPr>
                </a:tc>
                <a:tc>
                  <a:txBody>
                    <a:bodyPr/>
                    <a:lstStyle/>
                    <a:p>
                      <a:r>
                        <a:rPr sz="1100" b="1">
                          <a:solidFill>
                            <a:srgbClr val="FFFFFF"/>
                          </a:solidFill>
                          <a:latin typeface="Arial"/>
                        </a:rPr>
                        <a:t>Changes</a:t>
                      </a:r>
                    </a:p>
                  </a:txBody>
                  <a:tcPr anchor="ctr" marL="91440">
                    <a:solidFill>
                      <a:srgbClr val="23323B"/>
                    </a:solidFill>
                    <a:lnL w="3175">
                      <a:solidFill>
                        <a:srgbClr val="D9D9D9"/>
                      </a:solidFill>
                    </a:lnL>
                    <a:lnR w="3175">
                      <a:solidFill>
                        <a:srgbClr val="D9D9D9"/>
                      </a:solidFill>
                    </a:lnR>
                    <a:lnT w="3175">
                      <a:solidFill>
                        <a:srgbClr val="D9D9D9"/>
                      </a:solidFill>
                    </a:lnT>
                    <a:lnB w="3175">
                      <a:solidFill>
                        <a:srgbClr val="D9D9D9"/>
                      </a:solidFill>
                    </a:lnB>
                  </a:tcPr>
                </a:tc>
              </a:tr>
              <a:tr h="365760">
                <a:tc>
                  <a:txBody>
                    <a:bodyPr/>
                    <a:lstStyle/>
                    <a:p>
                      <a:r>
                        <a:rPr sz="1100" b="0">
                          <a:solidFill>
                            <a:srgbClr val="404040"/>
                          </a:solidFill>
                          <a:latin typeface="Arial"/>
                        </a:rPr>
                        <a:t>2026/11/02</a:t>
                      </a:r>
                    </a:p>
                  </a:txBody>
                  <a:tcPr anchor="ctr" marL="91440">
                    <a:solidFill>
                      <a:srgbClr val="FFFFFF"/>
                    </a:solidFill>
                    <a:lnL w="3175">
                      <a:solidFill>
                        <a:srgbClr val="D9D9D9"/>
                      </a:solidFill>
                    </a:lnL>
                    <a:lnR w="3175">
                      <a:solidFill>
                        <a:srgbClr val="D9D9D9"/>
                      </a:solidFill>
                    </a:lnR>
                    <a:lnT w="3175">
                      <a:solidFill>
                        <a:srgbClr val="D9D9D9"/>
                      </a:solidFill>
                    </a:lnT>
                    <a:lnB w="3175">
                      <a:solidFill>
                        <a:srgbClr val="D9D9D9"/>
                      </a:solidFill>
                    </a:lnB>
                  </a:tcPr>
                </a:tc>
                <a:tc>
                  <a:txBody>
                    <a:bodyPr/>
                    <a:lstStyle/>
                    <a:p>
                      <a:r>
                        <a:rPr sz="1100" b="0">
                          <a:solidFill>
                            <a:srgbClr val="404040"/>
                          </a:solidFill>
                          <a:latin typeface="Arial"/>
                        </a:rPr>
                        <a:t>First edition published</a:t>
                      </a:r>
                    </a:p>
                  </a:txBody>
                  <a:tcPr anchor="ctr" marL="91440">
                    <a:solidFill>
                      <a:srgbClr val="FFFFFF"/>
                    </a:solidFill>
                    <a:lnL w="3175">
                      <a:solidFill>
                        <a:srgbClr val="D9D9D9"/>
                      </a:solidFill>
                    </a:lnL>
                    <a:lnR w="3175">
                      <a:solidFill>
                        <a:srgbClr val="D9D9D9"/>
                      </a:solidFill>
                    </a:lnR>
                    <a:lnT w="3175">
                      <a:solidFill>
                        <a:srgbClr val="D9D9D9"/>
                      </a:solidFill>
                    </a:lnT>
                    <a:lnB w="3175">
                      <a:solidFill>
                        <a:srgbClr val="D9D9D9"/>
                      </a:solidFill>
                    </a:lnB>
                  </a:tcPr>
                </a:tc>
              </a:tr>
              <a:tr h="365760">
                <a:tc>
                  <a:txBody>
                    <a:bodyPr/>
                    <a:lstStyle/>
                    <a:p>
                      <a:r>
                        <a:rPr sz="1100" b="0">
                          <a:solidFill>
                            <a:srgbClr val="404040"/>
                          </a:solidFill>
                          <a:latin typeface="Arial"/>
                        </a:rPr>
                        <a:t/>
                      </a:r>
                    </a:p>
                  </a:txBody>
                  <a:tcPr anchor="ctr" marL="91440">
                    <a:solidFill>
                      <a:srgbClr val="FFFFFF"/>
                    </a:solidFill>
                    <a:lnL w="3175">
                      <a:solidFill>
                        <a:srgbClr val="D9D9D9"/>
                      </a:solidFill>
                    </a:lnL>
                    <a:lnR w="3175">
                      <a:solidFill>
                        <a:srgbClr val="D9D9D9"/>
                      </a:solidFill>
                    </a:lnR>
                    <a:lnT w="3175">
                      <a:solidFill>
                        <a:srgbClr val="D9D9D9"/>
                      </a:solidFill>
                    </a:lnT>
                    <a:lnB w="3175">
                      <a:solidFill>
                        <a:srgbClr val="D9D9D9"/>
                      </a:solidFill>
                    </a:lnB>
                  </a:tcPr>
                </a:tc>
                <a:tc>
                  <a:txBody>
                    <a:bodyPr/>
                    <a:lstStyle/>
                    <a:p>
                      <a:r>
                        <a:rPr sz="1100" b="0">
                          <a:solidFill>
                            <a:srgbClr val="404040"/>
                          </a:solidFill>
                          <a:latin typeface="Arial"/>
                        </a:rPr>
                        <a:t/>
                      </a:r>
                    </a:p>
                  </a:txBody>
                  <a:tcPr anchor="ctr" marL="91440">
                    <a:solidFill>
                      <a:srgbClr val="FFFFFF"/>
                    </a:solidFill>
                    <a:lnL w="3175">
                      <a:solidFill>
                        <a:srgbClr val="D9D9D9"/>
                      </a:solidFill>
                    </a:lnL>
                    <a:lnR w="3175">
                      <a:solidFill>
                        <a:srgbClr val="D9D9D9"/>
                      </a:solidFill>
                    </a:lnR>
                    <a:lnT w="3175">
                      <a:solidFill>
                        <a:srgbClr val="D9D9D9"/>
                      </a:solidFill>
                    </a:lnT>
                    <a:lnB w="3175">
                      <a:solidFill>
                        <a:srgbClr val="D9D9D9"/>
                      </a:solidFill>
                    </a:lnB>
                  </a:tcPr>
                </a:tc>
              </a:tr>
              <a:tr h="365760">
                <a:tc>
                  <a:txBody>
                    <a:bodyPr/>
                    <a:lstStyle/>
                    <a:p>
                      <a:r>
                        <a:rPr sz="1100" b="0">
                          <a:solidFill>
                            <a:srgbClr val="404040"/>
                          </a:solidFill>
                          <a:latin typeface="Arial"/>
                        </a:rPr>
                        <a:t/>
                      </a:r>
                    </a:p>
                  </a:txBody>
                  <a:tcPr anchor="ctr" marL="91440">
                    <a:solidFill>
                      <a:srgbClr val="FFFFFF"/>
                    </a:solidFill>
                    <a:lnL w="3175">
                      <a:solidFill>
                        <a:srgbClr val="D9D9D9"/>
                      </a:solidFill>
                    </a:lnL>
                    <a:lnR w="3175">
                      <a:solidFill>
                        <a:srgbClr val="D9D9D9"/>
                      </a:solidFill>
                    </a:lnR>
                    <a:lnT w="3175">
                      <a:solidFill>
                        <a:srgbClr val="D9D9D9"/>
                      </a:solidFill>
                    </a:lnT>
                    <a:lnB w="3175">
                      <a:solidFill>
                        <a:srgbClr val="D9D9D9"/>
                      </a:solidFill>
                    </a:lnB>
                  </a:tcPr>
                </a:tc>
                <a:tc>
                  <a:txBody>
                    <a:bodyPr/>
                    <a:lstStyle/>
                    <a:p>
                      <a:r>
                        <a:rPr sz="1100" b="0">
                          <a:solidFill>
                            <a:srgbClr val="404040"/>
                          </a:solidFill>
                          <a:latin typeface="Arial"/>
                        </a:rPr>
                        <a:t/>
                      </a:r>
                    </a:p>
                  </a:txBody>
                  <a:tcPr anchor="ctr" marL="91440">
                    <a:solidFill>
                      <a:srgbClr val="FFFFFF"/>
                    </a:solidFill>
                    <a:lnL w="3175">
                      <a:solidFill>
                        <a:srgbClr val="D9D9D9"/>
                      </a:solidFill>
                    </a:lnL>
                    <a:lnR w="3175">
                      <a:solidFill>
                        <a:srgbClr val="D9D9D9"/>
                      </a:solidFill>
                    </a:lnR>
                    <a:lnT w="3175">
                      <a:solidFill>
                        <a:srgbClr val="D9D9D9"/>
                      </a:solidFill>
                    </a:lnT>
                    <a:lnB w="3175">
                      <a:solidFill>
                        <a:srgbClr val="D9D9D9"/>
                      </a:solidFill>
                    </a:lnB>
                  </a:tcPr>
                </a:tc>
              </a:tr>
              <a:tr h="365760">
                <a:tc>
                  <a:txBody>
                    <a:bodyPr/>
                    <a:lstStyle/>
                    <a:p>
                      <a:r>
                        <a:rPr sz="1100" b="0">
                          <a:solidFill>
                            <a:srgbClr val="404040"/>
                          </a:solidFill>
                          <a:latin typeface="Arial"/>
                        </a:rPr>
                        <a:t/>
                      </a:r>
                    </a:p>
                  </a:txBody>
                  <a:tcPr anchor="ctr" marL="91440">
                    <a:solidFill>
                      <a:srgbClr val="FFFFFF"/>
                    </a:solidFill>
                    <a:lnL w="3175">
                      <a:solidFill>
                        <a:srgbClr val="D9D9D9"/>
                      </a:solidFill>
                    </a:lnL>
                    <a:lnR w="3175">
                      <a:solidFill>
                        <a:srgbClr val="D9D9D9"/>
                      </a:solidFill>
                    </a:lnR>
                    <a:lnT w="3175">
                      <a:solidFill>
                        <a:srgbClr val="D9D9D9"/>
                      </a:solidFill>
                    </a:lnT>
                    <a:lnB w="3175">
                      <a:solidFill>
                        <a:srgbClr val="D9D9D9"/>
                      </a:solidFill>
                    </a:lnB>
                  </a:tcPr>
                </a:tc>
                <a:tc>
                  <a:txBody>
                    <a:bodyPr/>
                    <a:lstStyle/>
                    <a:p>
                      <a:r>
                        <a:rPr sz="1100" b="0">
                          <a:solidFill>
                            <a:srgbClr val="404040"/>
                          </a:solidFill>
                          <a:latin typeface="Arial"/>
                        </a:rPr>
                        <a:t/>
                      </a:r>
                    </a:p>
                  </a:txBody>
                  <a:tcPr anchor="ctr" marL="91440">
                    <a:solidFill>
                      <a:srgbClr val="FFFFFF"/>
                    </a:solidFill>
                    <a:lnL w="3175">
                      <a:solidFill>
                        <a:srgbClr val="D9D9D9"/>
                      </a:solidFill>
                    </a:lnL>
                    <a:lnR w="3175">
                      <a:solidFill>
                        <a:srgbClr val="D9D9D9"/>
                      </a:solidFill>
                    </a:lnR>
                    <a:lnT w="3175">
                      <a:solidFill>
                        <a:srgbClr val="D9D9D9"/>
                      </a:solidFill>
                    </a:lnT>
                    <a:lnB w="3175">
                      <a:solidFill>
                        <a:srgbClr val="D9D9D9"/>
                      </a:solidFill>
                    </a:lnB>
                  </a:tcPr>
                </a:tc>
              </a:tr>
              <a:tr h="365760">
                <a:tc>
                  <a:txBody>
                    <a:bodyPr/>
                    <a:lstStyle/>
                    <a:p>
                      <a:r>
                        <a:rPr sz="1100" b="0">
                          <a:solidFill>
                            <a:srgbClr val="404040"/>
                          </a:solidFill>
                          <a:latin typeface="Arial"/>
                        </a:rPr>
                        <a:t/>
                      </a:r>
                    </a:p>
                  </a:txBody>
                  <a:tcPr anchor="ctr" marL="91440">
                    <a:solidFill>
                      <a:srgbClr val="FFFFFF"/>
                    </a:solidFill>
                    <a:lnL w="3175">
                      <a:solidFill>
                        <a:srgbClr val="D9D9D9"/>
                      </a:solidFill>
                    </a:lnL>
                    <a:lnR w="3175">
                      <a:solidFill>
                        <a:srgbClr val="D9D9D9"/>
                      </a:solidFill>
                    </a:lnR>
                    <a:lnT w="3175">
                      <a:solidFill>
                        <a:srgbClr val="D9D9D9"/>
                      </a:solidFill>
                    </a:lnT>
                    <a:lnB w="3175">
                      <a:solidFill>
                        <a:srgbClr val="D9D9D9"/>
                      </a:solidFill>
                    </a:lnB>
                  </a:tcPr>
                </a:tc>
                <a:tc>
                  <a:txBody>
                    <a:bodyPr/>
                    <a:lstStyle/>
                    <a:p>
                      <a:r>
                        <a:rPr sz="1100" b="0">
                          <a:solidFill>
                            <a:srgbClr val="404040"/>
                          </a:solidFill>
                          <a:latin typeface="Arial"/>
                        </a:rPr>
                        <a:t/>
                      </a:r>
                    </a:p>
                  </a:txBody>
                  <a:tcPr anchor="ctr" marL="91440">
                    <a:solidFill>
                      <a:srgbClr val="FFFFFF"/>
                    </a:solidFill>
                    <a:lnL w="3175">
                      <a:solidFill>
                        <a:srgbClr val="D9D9D9"/>
                      </a:solidFill>
                    </a:lnL>
                    <a:lnR w="3175">
                      <a:solidFill>
                        <a:srgbClr val="D9D9D9"/>
                      </a:solidFill>
                    </a:lnR>
                    <a:lnT w="3175">
                      <a:solidFill>
                        <a:srgbClr val="D9D9D9"/>
                      </a:solidFill>
                    </a:lnT>
                    <a:lnB w="3175">
                      <a:solidFill>
                        <a:srgbClr val="D9D9D9"/>
                      </a:solidFill>
                    </a:lnB>
                  </a:tcPr>
                </a:tc>
              </a:tr>
              <a:tr h="365760">
                <a:tc>
                  <a:txBody>
                    <a:bodyPr/>
                    <a:lstStyle/>
                    <a:p>
                      <a:r>
                        <a:rPr sz="1100" b="0">
                          <a:solidFill>
                            <a:srgbClr val="404040"/>
                          </a:solidFill>
                          <a:latin typeface="Arial"/>
                        </a:rPr>
                        <a:t/>
                      </a:r>
                    </a:p>
                  </a:txBody>
                  <a:tcPr anchor="ctr" marL="91440">
                    <a:solidFill>
                      <a:srgbClr val="FFFFFF"/>
                    </a:solidFill>
                    <a:lnL w="3175">
                      <a:solidFill>
                        <a:srgbClr val="D9D9D9"/>
                      </a:solidFill>
                    </a:lnL>
                    <a:lnR w="3175">
                      <a:solidFill>
                        <a:srgbClr val="D9D9D9"/>
                      </a:solidFill>
                    </a:lnR>
                    <a:lnT w="3175">
                      <a:solidFill>
                        <a:srgbClr val="D9D9D9"/>
                      </a:solidFill>
                    </a:lnT>
                    <a:lnB w="3175">
                      <a:solidFill>
                        <a:srgbClr val="D9D9D9"/>
                      </a:solidFill>
                    </a:lnB>
                  </a:tcPr>
                </a:tc>
                <a:tc>
                  <a:txBody>
                    <a:bodyPr/>
                    <a:lstStyle/>
                    <a:p>
                      <a:r>
                        <a:rPr sz="1100" b="0">
                          <a:solidFill>
                            <a:srgbClr val="404040"/>
                          </a:solidFill>
                          <a:latin typeface="Arial"/>
                        </a:rPr>
                        <a:t/>
                      </a:r>
                    </a:p>
                  </a:txBody>
                  <a:tcPr anchor="ctr" marL="91440">
                    <a:solidFill>
                      <a:srgbClr val="FFFFFF"/>
                    </a:solidFill>
                    <a:lnL w="3175">
                      <a:solidFill>
                        <a:srgbClr val="D9D9D9"/>
                      </a:solidFill>
                    </a:lnL>
                    <a:lnR w="3175">
                      <a:solidFill>
                        <a:srgbClr val="D9D9D9"/>
                      </a:solidFill>
                    </a:lnR>
                    <a:lnT w="3175">
                      <a:solidFill>
                        <a:srgbClr val="D9D9D9"/>
                      </a:solidFill>
                    </a:lnT>
                    <a:lnB w="3175">
                      <a:solidFill>
                        <a:srgbClr val="D9D9D9"/>
                      </a:solidFill>
                    </a:lnB>
                  </a:tcPr>
                </a:tc>
              </a:tr>
              <a:tr h="365760">
                <a:tc>
                  <a:txBody>
                    <a:bodyPr/>
                    <a:lstStyle/>
                    <a:p>
                      <a:r>
                        <a:rPr sz="1100" b="0">
                          <a:solidFill>
                            <a:srgbClr val="404040"/>
                          </a:solidFill>
                          <a:latin typeface="Arial"/>
                        </a:rPr>
                        <a:t/>
                      </a:r>
                    </a:p>
                  </a:txBody>
                  <a:tcPr anchor="ctr" marL="91440">
                    <a:solidFill>
                      <a:srgbClr val="FFFFFF"/>
                    </a:solidFill>
                    <a:lnL w="3175">
                      <a:solidFill>
                        <a:srgbClr val="D9D9D9"/>
                      </a:solidFill>
                    </a:lnL>
                    <a:lnR w="3175">
                      <a:solidFill>
                        <a:srgbClr val="D9D9D9"/>
                      </a:solidFill>
                    </a:lnR>
                    <a:lnT w="3175">
                      <a:solidFill>
                        <a:srgbClr val="D9D9D9"/>
                      </a:solidFill>
                    </a:lnT>
                    <a:lnB w="3175">
                      <a:solidFill>
                        <a:srgbClr val="D9D9D9"/>
                      </a:solidFill>
                    </a:lnB>
                  </a:tcPr>
                </a:tc>
                <a:tc>
                  <a:txBody>
                    <a:bodyPr/>
                    <a:lstStyle/>
                    <a:p>
                      <a:r>
                        <a:rPr sz="1100" b="0">
                          <a:solidFill>
                            <a:srgbClr val="404040"/>
                          </a:solidFill>
                          <a:latin typeface="Arial"/>
                        </a:rPr>
                        <a:t/>
                      </a:r>
                    </a:p>
                  </a:txBody>
                  <a:tcPr anchor="ctr" marL="91440">
                    <a:solidFill>
                      <a:srgbClr val="FFFFFF"/>
                    </a:solidFill>
                    <a:lnL w="3175">
                      <a:solidFill>
                        <a:srgbClr val="D9D9D9"/>
                      </a:solidFill>
                    </a:lnL>
                    <a:lnR w="3175">
                      <a:solidFill>
                        <a:srgbClr val="D9D9D9"/>
                      </a:solidFill>
                    </a:lnR>
                    <a:lnT w="3175">
                      <a:solidFill>
                        <a:srgbClr val="D9D9D9"/>
                      </a:solidFill>
                    </a:lnT>
                    <a:lnB w="3175">
                      <a:solidFill>
                        <a:srgbClr val="D9D9D9"/>
                      </a:solidFill>
                    </a:lnB>
                  </a:tcPr>
                </a:tc>
              </a:tr>
              <a:tr h="365760">
                <a:tc>
                  <a:txBody>
                    <a:bodyPr/>
                    <a:lstStyle/>
                    <a:p>
                      <a:r>
                        <a:rPr sz="1100" b="0">
                          <a:solidFill>
                            <a:srgbClr val="404040"/>
                          </a:solidFill>
                          <a:latin typeface="Arial"/>
                        </a:rPr>
                        <a:t/>
                      </a:r>
                    </a:p>
                  </a:txBody>
                  <a:tcPr anchor="ctr" marL="91440">
                    <a:solidFill>
                      <a:srgbClr val="FFFFFF"/>
                    </a:solidFill>
                    <a:lnL w="3175">
                      <a:solidFill>
                        <a:srgbClr val="D9D9D9"/>
                      </a:solidFill>
                    </a:lnL>
                    <a:lnR w="3175">
                      <a:solidFill>
                        <a:srgbClr val="D9D9D9"/>
                      </a:solidFill>
                    </a:lnR>
                    <a:lnT w="3175">
                      <a:solidFill>
                        <a:srgbClr val="D9D9D9"/>
                      </a:solidFill>
                    </a:lnT>
                    <a:lnB w="3175">
                      <a:solidFill>
                        <a:srgbClr val="D9D9D9"/>
                      </a:solidFill>
                    </a:lnB>
                  </a:tcPr>
                </a:tc>
                <a:tc>
                  <a:txBody>
                    <a:bodyPr/>
                    <a:lstStyle/>
                    <a:p>
                      <a:r>
                        <a:rPr sz="1100" b="0">
                          <a:solidFill>
                            <a:srgbClr val="404040"/>
                          </a:solidFill>
                          <a:latin typeface="Arial"/>
                        </a:rPr>
                        <a:t/>
                      </a:r>
                    </a:p>
                  </a:txBody>
                  <a:tcPr anchor="ctr" marL="91440">
                    <a:solidFill>
                      <a:srgbClr val="FFFFFF"/>
                    </a:solidFill>
                    <a:lnL w="3175">
                      <a:solidFill>
                        <a:srgbClr val="D9D9D9"/>
                      </a:solidFill>
                    </a:lnL>
                    <a:lnR w="3175">
                      <a:solidFill>
                        <a:srgbClr val="D9D9D9"/>
                      </a:solidFill>
                    </a:lnR>
                    <a:lnT w="3175">
                      <a:solidFill>
                        <a:srgbClr val="D9D9D9"/>
                      </a:solidFill>
                    </a:lnT>
                    <a:lnB w="3175">
                      <a:solidFill>
                        <a:srgbClr val="D9D9D9"/>
                      </a:solidFill>
                    </a:lnB>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635000" y="406400"/>
            <a:ext cx="10922000" cy="431800"/>
          </a:xfrm>
          <a:prstGeom prst="rect">
            <a:avLst/>
          </a:prstGeom>
          <a:noFill/>
          <a:ln/>
        </p:spPr>
        <p:txBody>
          <a:bodyPr wrap="square" lIns="0" tIns="0" rIns="0" bIns="0" rtlCol="0" anchor="t"/>
          <a:lstStyle/>
          <a:p>
            <a:pPr algn="l" indent="0" marL="0">
              <a:buNone/>
            </a:pPr>
            <a:r>
              <a:rPr lang="en-US" sz="2400" b="1" dirty="0">
                <a:solidFill>
                  <a:srgbClr val="23323B"/>
                </a:solidFill>
                <a:latin typeface="Arial" pitchFamily="34" charset="0"/>
                <a:ea typeface="Arial" pitchFamily="34" charset="-122"/>
                <a:cs typeface="Arial" pitchFamily="34" charset="-120"/>
              </a:rPr>
              <a:t>Contents</a:t>
            </a:r>
            <a:endParaRPr lang="en-US" sz="2400" dirty="0" b="1">
              <a:solidFill>
                <a:srgbClr val="23323B"/>
              </a:solidFill>
            </a:endParaRPr>
          </a:p>
        </p:txBody>
      </p:sp>
      <p:sp>
        <p:nvSpPr>
          <p:cNvPr id="25" name="Slide Number Placeholder 0"/>
          <p:cNvSpPr>
            <a:spLocks noGrp="1"/>
          </p:cNvSpPr>
          <p:nvPr>
            <p:ph type="sldNum" sz="quarter" idx="4294967295"/>
          </p:nvPr>
        </p:nvSpPr>
        <p:spPr>
          <a:xfrm>
            <a:off x="10795000" y="6527800"/>
            <a:ext cx="762000" cy="152400"/>
          </a:xfrm>
          <a:prstGeom prst="rect">
            <a:avLst/>
          </a:prstGeom>
          <a:extLst>
            <a:ext uri="{C572A759-6A51-4108-AA02-DFA0A04FC94B}">
              <ma14:wrappingTextBoxFlag xmlns:ma14="http://schemas.microsoft.com/office/mac/drawingml/2011/main" val="0"/>
            </a:ext>
          </a:extLst>
        </p:spPr>
        <p:txBody>
          <a:bodyPr anchor="b" lIns="0" tIns="0" rIns="0" bIns="0"/>
          <a:lstStyle>
            <a:lvl1pPr>
              <a:defRPr sz="900">
                <a:solidFill>
                  <a:srgbClr val="7F7F7F"/>
                </a:solidFill>
              </a:defRPr>
            </a:lvl1pPr>
          </a:lstStyle>
          <a:p>
            <a:pPr algn="r"/>
            <a:fld id="{F7021451-1387-4CA6-816F-3879F97B5CBC}" type="slidenum">
              <a:rPr b="0" lang="en-US" sz="1000">
                <a:solidFill>
                  <a:srgbClr val="7F7F7F"/>
                </a:solidFill>
              </a:rPr>
              <a:t>2</a:t>
            </a:fld>
            <a:endParaRPr lang="en-US" sz="1000" b="0">
              <a:solidFill>
                <a:srgbClr val="7F7F7F"/>
              </a:solidFill>
            </a:endParaRPr>
          </a:p>
        </p:txBody>
      </p:sp>
      <p:graphicFrame>
        <p:nvGraphicFramePr>
          <p:cNvPr id="26" name="Table 25"/>
          <p:cNvGraphicFramePr>
            <a:graphicFrameLocks noGrp="1"/>
          </p:cNvGraphicFramePr>
          <p:nvPr/>
        </p:nvGraphicFramePr>
        <p:xfrm>
          <a:off x="635000" y="1188720"/>
          <a:ext cx="10922000" cy="1828800"/>
        </p:xfrm>
        <a:graphic>
          <a:graphicData uri="http://schemas.openxmlformats.org/drawingml/2006/table">
            <a:tbl>
              <a:tblPr firstRow="0" bandRow="0">
                <a:tableStyleId>{5C22544A-7EE6-4342-B048-85BDC9FD1C3A}</a:tableStyleId>
              </a:tblPr>
              <a:tblGrid>
                <a:gridCol w="1097280"/>
                <a:gridCol w="4023360"/>
                <a:gridCol w="5801360"/>
              </a:tblGrid>
              <a:tr h="365760">
                <a:tc>
                  <a:txBody>
                    <a:bodyPr/>
                    <a:lstStyle/>
                    <a:p>
                      <a:r>
                        <a:rPr sz="1100" b="1">
                          <a:solidFill>
                            <a:srgbClr val="FFFFFF"/>
                          </a:solidFill>
                          <a:latin typeface="Arial"/>
                        </a:rPr>
                        <a:t>Page</a:t>
                      </a:r>
                    </a:p>
                  </a:txBody>
                  <a:tcPr anchor="ctr" marL="91440">
                    <a:solidFill>
                      <a:srgbClr val="23323B"/>
                    </a:solidFill>
                    <a:lnL w="3175">
                      <a:solidFill>
                        <a:srgbClr val="D9D9D9"/>
                      </a:solidFill>
                    </a:lnL>
                    <a:lnR w="3175">
                      <a:solidFill>
                        <a:srgbClr val="D9D9D9"/>
                      </a:solidFill>
                    </a:lnR>
                    <a:lnT w="3175">
                      <a:solidFill>
                        <a:srgbClr val="D9D9D9"/>
                      </a:solidFill>
                    </a:lnT>
                    <a:lnB w="3175">
                      <a:solidFill>
                        <a:srgbClr val="D9D9D9"/>
                      </a:solidFill>
                    </a:lnB>
                  </a:tcPr>
                </a:tc>
                <a:tc>
                  <a:txBody>
                    <a:bodyPr/>
                    <a:lstStyle/>
                    <a:p>
                      <a:r>
                        <a:rPr sz="1100" b="1">
                          <a:solidFill>
                            <a:srgbClr val="FFFFFF"/>
                          </a:solidFill>
                          <a:latin typeface="Arial"/>
                        </a:rPr>
                        <a:t>Topic</a:t>
                      </a:r>
                    </a:p>
                  </a:txBody>
                  <a:tcPr anchor="ctr" marL="91440">
                    <a:solidFill>
                      <a:srgbClr val="23323B"/>
                    </a:solidFill>
                    <a:lnL w="3175">
                      <a:solidFill>
                        <a:srgbClr val="D9D9D9"/>
                      </a:solidFill>
                    </a:lnL>
                    <a:lnR w="3175">
                      <a:solidFill>
                        <a:srgbClr val="D9D9D9"/>
                      </a:solidFill>
                    </a:lnR>
                    <a:lnT w="3175">
                      <a:solidFill>
                        <a:srgbClr val="D9D9D9"/>
                      </a:solidFill>
                    </a:lnT>
                    <a:lnB w="3175">
                      <a:solidFill>
                        <a:srgbClr val="D9D9D9"/>
                      </a:solidFill>
                    </a:lnB>
                  </a:tcPr>
                </a:tc>
                <a:tc>
                  <a:txBody>
                    <a:bodyPr/>
                    <a:lstStyle/>
                    <a:p>
                      <a:r>
                        <a:rPr sz="1100" b="1">
                          <a:solidFill>
                            <a:srgbClr val="FFFFFF"/>
                          </a:solidFill>
                          <a:latin typeface="Arial"/>
                        </a:rPr>
                        <a:t>Summary</a:t>
                      </a:r>
                    </a:p>
                  </a:txBody>
                  <a:tcPr anchor="ctr" marL="91440">
                    <a:solidFill>
                      <a:srgbClr val="23323B"/>
                    </a:solidFill>
                    <a:lnL w="3175">
                      <a:solidFill>
                        <a:srgbClr val="D9D9D9"/>
                      </a:solidFill>
                    </a:lnL>
                    <a:lnR w="3175">
                      <a:solidFill>
                        <a:srgbClr val="D9D9D9"/>
                      </a:solidFill>
                    </a:lnR>
                    <a:lnT w="3175">
                      <a:solidFill>
                        <a:srgbClr val="D9D9D9"/>
                      </a:solidFill>
                    </a:lnT>
                    <a:lnB w="3175">
                      <a:solidFill>
                        <a:srgbClr val="D9D9D9"/>
                      </a:solidFill>
                    </a:lnB>
                  </a:tcPr>
                </a:tc>
              </a:tr>
              <a:tr h="365760">
                <a:tc>
                  <a:txBody>
                    <a:bodyPr/>
                    <a:lstStyle/>
                    <a:p>
                      <a:r>
                        <a:rPr sz="1100" b="0">
                          <a:solidFill>
                            <a:srgbClr val="404040"/>
                          </a:solidFill>
                          <a:latin typeface="Arial"/>
                        </a:rPr>
                        <a:t>p.5</a:t>
                      </a:r>
                    </a:p>
                  </a:txBody>
                  <a:tcPr anchor="ctr" marL="91440">
                    <a:solidFill>
                      <a:srgbClr val="FFFFFF"/>
                    </a:solidFill>
                    <a:lnL w="3175">
                      <a:solidFill>
                        <a:srgbClr val="D9D9D9"/>
                      </a:solidFill>
                    </a:lnL>
                    <a:lnR w="3175">
                      <a:solidFill>
                        <a:srgbClr val="D9D9D9"/>
                      </a:solidFill>
                    </a:lnR>
                    <a:lnT w="3175">
                      <a:solidFill>
                        <a:srgbClr val="D9D9D9"/>
                      </a:solidFill>
                    </a:lnT>
                    <a:lnB w="3175">
                      <a:solidFill>
                        <a:srgbClr val="D9D9D9"/>
                      </a:solidFill>
                    </a:lnB>
                  </a:tcPr>
                </a:tc>
                <a:tc>
                  <a:txBody>
                    <a:bodyPr/>
                    <a:lstStyle/>
                    <a:p>
                      <a:r>
                        <a:rPr sz="1100" b="0">
                          <a:solidFill>
                            <a:srgbClr val="404040"/>
                          </a:solidFill>
                          <a:latin typeface="Arial"/>
                        </a:rPr>
                        <a:t>November–December Schedule</a:t>
                      </a:r>
                    </a:p>
                  </a:txBody>
                  <a:tcPr anchor="ctr" marL="91440">
                    <a:solidFill>
                      <a:srgbClr val="FFFFFF"/>
                    </a:solidFill>
                    <a:lnL w="3175">
                      <a:solidFill>
                        <a:srgbClr val="D9D9D9"/>
                      </a:solidFill>
                    </a:lnL>
                    <a:lnR w="3175">
                      <a:solidFill>
                        <a:srgbClr val="D9D9D9"/>
                      </a:solidFill>
                    </a:lnR>
                    <a:lnT w="3175">
                      <a:solidFill>
                        <a:srgbClr val="D9D9D9"/>
                      </a:solidFill>
                    </a:lnT>
                    <a:lnB w="3175">
                      <a:solidFill>
                        <a:srgbClr val="D9D9D9"/>
                      </a:solidFill>
                    </a:lnB>
                  </a:tcPr>
                </a:tc>
                <a:tc>
                  <a:txBody>
                    <a:bodyPr/>
                    <a:lstStyle/>
                    <a:p>
                      <a:r>
                        <a:rPr sz="1100" b="0">
                          <a:solidFill>
                            <a:srgbClr val="404040"/>
                          </a:solidFill>
                          <a:latin typeface="Arial"/>
                        </a:rPr>
                        <a:t>Tasks for Assigned BPs and S&amp;G (FinanceBP), milestones and definitions of done</a:t>
                      </a:r>
                    </a:p>
                  </a:txBody>
                  <a:tcPr anchor="ctr" marL="91440">
                    <a:solidFill>
                      <a:srgbClr val="FFFFFF"/>
                    </a:solidFill>
                    <a:lnL w="3175">
                      <a:solidFill>
                        <a:srgbClr val="D9D9D9"/>
                      </a:solidFill>
                    </a:lnL>
                    <a:lnR w="3175">
                      <a:solidFill>
                        <a:srgbClr val="D9D9D9"/>
                      </a:solidFill>
                    </a:lnR>
                    <a:lnT w="3175">
                      <a:solidFill>
                        <a:srgbClr val="D9D9D9"/>
                      </a:solidFill>
                    </a:lnT>
                    <a:lnB w="3175">
                      <a:solidFill>
                        <a:srgbClr val="D9D9D9"/>
                      </a:solidFill>
                    </a:lnB>
                  </a:tcPr>
                </a:tc>
              </a:tr>
              <a:tr h="365760">
                <a:tc>
                  <a:txBody>
                    <a:bodyPr/>
                    <a:lstStyle/>
                    <a:p>
                      <a:r>
                        <a:rPr sz="1100" b="0">
                          <a:solidFill>
                            <a:srgbClr val="404040"/>
                          </a:solidFill>
                          <a:latin typeface="Arial"/>
                        </a:rPr>
                        <a:t>p.6</a:t>
                      </a:r>
                    </a:p>
                  </a:txBody>
                  <a:tcPr anchor="ctr" marL="91440">
                    <a:solidFill>
                      <a:srgbClr val="FFFFFF"/>
                    </a:solidFill>
                    <a:lnL w="3175">
                      <a:solidFill>
                        <a:srgbClr val="D9D9D9"/>
                      </a:solidFill>
                    </a:lnL>
                    <a:lnR w="3175">
                      <a:solidFill>
                        <a:srgbClr val="D9D9D9"/>
                      </a:solidFill>
                    </a:lnR>
                    <a:lnT w="3175">
                      <a:solidFill>
                        <a:srgbClr val="D9D9D9"/>
                      </a:solidFill>
                    </a:lnT>
                    <a:lnB w="3175">
                      <a:solidFill>
                        <a:srgbClr val="D9D9D9"/>
                      </a:solidFill>
                    </a:lnB>
                  </a:tcPr>
                </a:tc>
                <a:tc>
                  <a:txBody>
                    <a:bodyPr/>
                    <a:lstStyle/>
                    <a:p>
                      <a:r>
                        <a:rPr sz="1100" b="0">
                          <a:solidFill>
                            <a:srgbClr val="404040"/>
                          </a:solidFill>
                          <a:latin typeface="Arial"/>
                        </a:rPr>
                        <a:t>Roles After the Transfer (RACI)</a:t>
                      </a:r>
                    </a:p>
                  </a:txBody>
                  <a:tcPr anchor="ctr" marL="91440">
                    <a:solidFill>
                      <a:srgbClr val="FFFFFF"/>
                    </a:solidFill>
                    <a:lnL w="3175">
                      <a:solidFill>
                        <a:srgbClr val="D9D9D9"/>
                      </a:solidFill>
                    </a:lnL>
                    <a:lnR w="3175">
                      <a:solidFill>
                        <a:srgbClr val="D9D9D9"/>
                      </a:solidFill>
                    </a:lnR>
                    <a:lnT w="3175">
                      <a:solidFill>
                        <a:srgbClr val="D9D9D9"/>
                      </a:solidFill>
                    </a:lnT>
                    <a:lnB w="3175">
                      <a:solidFill>
                        <a:srgbClr val="D9D9D9"/>
                      </a:solidFill>
                    </a:lnB>
                  </a:tcPr>
                </a:tc>
                <a:tc>
                  <a:txBody>
                    <a:bodyPr/>
                    <a:lstStyle/>
                    <a:p>
                      <a:r>
                        <a:rPr sz="1100" b="0">
                          <a:solidFill>
                            <a:srgbClr val="404040"/>
                          </a:solidFill>
                          <a:latin typeface="Arial"/>
                        </a:rPr>
                        <a:t>Roles of GDS and the Functions in the IT domain</a:t>
                      </a:r>
                    </a:p>
                  </a:txBody>
                  <a:tcPr anchor="ctr" marL="91440">
                    <a:solidFill>
                      <a:srgbClr val="FFFFFF"/>
                    </a:solidFill>
                    <a:lnL w="3175">
                      <a:solidFill>
                        <a:srgbClr val="D9D9D9"/>
                      </a:solidFill>
                    </a:lnL>
                    <a:lnR w="3175">
                      <a:solidFill>
                        <a:srgbClr val="D9D9D9"/>
                      </a:solidFill>
                    </a:lnR>
                    <a:lnT w="3175">
                      <a:solidFill>
                        <a:srgbClr val="D9D9D9"/>
                      </a:solidFill>
                    </a:lnT>
                    <a:lnB w="3175">
                      <a:solidFill>
                        <a:srgbClr val="D9D9D9"/>
                      </a:solidFill>
                    </a:lnB>
                  </a:tcPr>
                </a:tc>
              </a:tr>
              <a:tr h="365760">
                <a:tc>
                  <a:txBody>
                    <a:bodyPr/>
                    <a:lstStyle/>
                    <a:p>
                      <a:r>
                        <a:rPr sz="1100" b="0">
                          <a:solidFill>
                            <a:srgbClr val="404040"/>
                          </a:solidFill>
                          <a:latin typeface="Arial"/>
                        </a:rPr>
                        <a:t>p.7</a:t>
                      </a:r>
                    </a:p>
                  </a:txBody>
                  <a:tcPr anchor="ctr" marL="91440">
                    <a:solidFill>
                      <a:srgbClr val="FFFFFF"/>
                    </a:solidFill>
                    <a:lnL w="3175">
                      <a:solidFill>
                        <a:srgbClr val="D9D9D9"/>
                      </a:solidFill>
                    </a:lnL>
                    <a:lnR w="3175">
                      <a:solidFill>
                        <a:srgbClr val="D9D9D9"/>
                      </a:solidFill>
                    </a:lnR>
                    <a:lnT w="3175">
                      <a:solidFill>
                        <a:srgbClr val="D9D9D9"/>
                      </a:solidFill>
                    </a:lnT>
                    <a:lnB w="3175">
                      <a:solidFill>
                        <a:srgbClr val="D9D9D9"/>
                      </a:solidFill>
                    </a:lnB>
                  </a:tcPr>
                </a:tc>
                <a:tc>
                  <a:txBody>
                    <a:bodyPr/>
                    <a:lstStyle/>
                    <a:p>
                      <a:r>
                        <a:rPr sz="1100" b="0">
                          <a:solidFill>
                            <a:srgbClr val="404040"/>
                          </a:solidFill>
                          <a:latin typeface="Arial"/>
                        </a:rPr>
                        <a:t>Alternative: Roles for Function-Specific Cases</a:t>
                      </a:r>
                    </a:p>
                  </a:txBody>
                  <a:tcPr anchor="ctr" marL="91440">
                    <a:solidFill>
                      <a:srgbClr val="FFFFFF"/>
                    </a:solidFill>
                    <a:lnL w="3175">
                      <a:solidFill>
                        <a:srgbClr val="D9D9D9"/>
                      </a:solidFill>
                    </a:lnL>
                    <a:lnR w="3175">
                      <a:solidFill>
                        <a:srgbClr val="D9D9D9"/>
                      </a:solidFill>
                    </a:lnR>
                    <a:lnT w="3175">
                      <a:solidFill>
                        <a:srgbClr val="D9D9D9"/>
                      </a:solidFill>
                    </a:lnT>
                    <a:lnB w="3175">
                      <a:solidFill>
                        <a:srgbClr val="D9D9D9"/>
                      </a:solidFill>
                    </a:lnB>
                  </a:tcPr>
                </a:tc>
                <a:tc>
                  <a:txBody>
                    <a:bodyPr/>
                    <a:lstStyle/>
                    <a:p>
                      <a:r>
                        <a:rPr sz="1100" b="0">
                          <a:solidFill>
                            <a:srgbClr val="404040"/>
                          </a:solidFill>
                          <a:latin typeface="Arial"/>
                        </a:rPr>
                        <a:t>When roles switch for cases confined to one Function</a:t>
                      </a:r>
                    </a:p>
                  </a:txBody>
                  <a:tcPr anchor="ctr" marL="91440">
                    <a:solidFill>
                      <a:srgbClr val="FFFFFF"/>
                    </a:solidFill>
                    <a:lnL w="3175">
                      <a:solidFill>
                        <a:srgbClr val="D9D9D9"/>
                      </a:solidFill>
                    </a:lnL>
                    <a:lnR w="3175">
                      <a:solidFill>
                        <a:srgbClr val="D9D9D9"/>
                      </a:solidFill>
                    </a:lnR>
                    <a:lnT w="3175">
                      <a:solidFill>
                        <a:srgbClr val="D9D9D9"/>
                      </a:solidFill>
                    </a:lnT>
                    <a:lnB w="3175">
                      <a:solidFill>
                        <a:srgbClr val="D9D9D9"/>
                      </a:solidFill>
                    </a:lnB>
                  </a:tcPr>
                </a:tc>
              </a:tr>
              <a:tr h="365760">
                <a:tc>
                  <a:txBody>
                    <a:bodyPr/>
                    <a:lstStyle/>
                    <a:p>
                      <a:r>
                        <a:rPr sz="1100" b="0">
                          <a:solidFill>
                            <a:srgbClr val="404040"/>
                          </a:solidFill>
                          <a:latin typeface="Arial"/>
                        </a:rPr>
                        <a:t>p.8</a:t>
                      </a:r>
                    </a:p>
                  </a:txBody>
                  <a:tcPr anchor="ctr" marL="91440">
                    <a:solidFill>
                      <a:srgbClr val="FFFFFF"/>
                    </a:solidFill>
                    <a:lnL w="3175">
                      <a:solidFill>
                        <a:srgbClr val="D9D9D9"/>
                      </a:solidFill>
                    </a:lnL>
                    <a:lnR w="3175">
                      <a:solidFill>
                        <a:srgbClr val="D9D9D9"/>
                      </a:solidFill>
                    </a:lnR>
                    <a:lnT w="3175">
                      <a:solidFill>
                        <a:srgbClr val="D9D9D9"/>
                      </a:solidFill>
                    </a:lnT>
                    <a:lnB w="3175">
                      <a:solidFill>
                        <a:srgbClr val="D9D9D9"/>
                      </a:solidFill>
                    </a:lnB>
                  </a:tcPr>
                </a:tc>
                <a:tc>
                  <a:txBody>
                    <a:bodyPr/>
                    <a:lstStyle/>
                    <a:p>
                      <a:r>
                        <a:rPr sz="1100" b="0">
                          <a:solidFill>
                            <a:srgbClr val="404040"/>
                          </a:solidFill>
                          <a:latin typeface="Arial"/>
                        </a:rPr>
                        <a:t>Fixed Assets Move to GDS</a:t>
                      </a:r>
                    </a:p>
                  </a:txBody>
                  <a:tcPr anchor="ctr" marL="91440">
                    <a:solidFill>
                      <a:srgbClr val="FFFFFF"/>
                    </a:solidFill>
                    <a:lnL w="3175">
                      <a:solidFill>
                        <a:srgbClr val="D9D9D9"/>
                      </a:solidFill>
                    </a:lnL>
                    <a:lnR w="3175">
                      <a:solidFill>
                        <a:srgbClr val="D9D9D9"/>
                      </a:solidFill>
                    </a:lnR>
                    <a:lnT w="3175">
                      <a:solidFill>
                        <a:srgbClr val="D9D9D9"/>
                      </a:solidFill>
                    </a:lnT>
                    <a:lnB w="3175">
                      <a:solidFill>
                        <a:srgbClr val="D9D9D9"/>
                      </a:solidFill>
                    </a:lnB>
                  </a:tcPr>
                </a:tc>
                <a:tc>
                  <a:txBody>
                    <a:bodyPr/>
                    <a:lstStyle/>
                    <a:p>
                      <a:r>
                        <a:rPr sz="1100" b="0">
                          <a:solidFill>
                            <a:srgbClr val="404040"/>
                          </a:solidFill>
                          <a:latin typeface="Arial"/>
                        </a:rPr>
                        <a:t>Transfer timing and approach by asset status</a:t>
                      </a:r>
                    </a:p>
                  </a:txBody>
                  <a:tcPr anchor="ctr" marL="91440">
                    <a:solidFill>
                      <a:srgbClr val="FFFFFF"/>
                    </a:solidFill>
                    <a:lnL w="3175">
                      <a:solidFill>
                        <a:srgbClr val="D9D9D9"/>
                      </a:solidFill>
                    </a:lnL>
                    <a:lnR w="3175">
                      <a:solidFill>
                        <a:srgbClr val="D9D9D9"/>
                      </a:solidFill>
                    </a:lnR>
                    <a:lnT w="3175">
                      <a:solidFill>
                        <a:srgbClr val="D9D9D9"/>
                      </a:solidFill>
                    </a:lnT>
                    <a:lnB w="3175">
                      <a:solidFill>
                        <a:srgbClr val="D9D9D9"/>
                      </a:solidFill>
                    </a:lnB>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cxnSp>
        <p:nvCxnSpPr>
          <p:cNvPr id="203" name="Connector 202"/>
          <p:cNvCxnSpPr/>
          <p:nvPr/>
        </p:nvCxnSpPr>
        <p:spPr>
          <a:xfrm>
            <a:off x="10129549" y="1783080"/>
            <a:ext cx="0" cy="4274760"/>
          </a:xfrm>
          <a:prstGeom prst="line">
            <a:avLst/>
          </a:prstGeom>
          <a:ln w="9525">
            <a:solidFill>
              <a:srgbClr val="B4BEC6"/>
            </a:solidFill>
            <a:prstDash val="lgDash"/>
          </a:ln>
        </p:spPr>
        <p:style>
          <a:lnRef idx="2">
            <a:schemeClr val="accent1"/>
          </a:lnRef>
          <a:fillRef idx="0">
            <a:schemeClr val="accent1"/>
          </a:fillRef>
          <a:effectRef idx="0">
            <a:schemeClr val="accent1"/>
          </a:effectRef>
          <a:fontRef idx="minor">
            <a:schemeClr val="tx1"/>
          </a:fontRef>
        </p:style>
      </p:cxnSp>
      <p:cxnSp>
        <p:nvCxnSpPr>
          <p:cNvPr id="202" name="Connector 201"/>
          <p:cNvCxnSpPr/>
          <p:nvPr/>
        </p:nvCxnSpPr>
        <p:spPr>
          <a:xfrm>
            <a:off x="7305850" y="1783080"/>
            <a:ext cx="0" cy="4274760"/>
          </a:xfrm>
          <a:prstGeom prst="line">
            <a:avLst/>
          </a:prstGeom>
          <a:ln w="9525">
            <a:solidFill>
              <a:srgbClr val="B4BEC6"/>
            </a:solidFill>
            <a:prstDash val="lgDash"/>
          </a:ln>
        </p:spPr>
        <p:style>
          <a:lnRef idx="2">
            <a:schemeClr val="accent1"/>
          </a:lnRef>
          <a:fillRef idx="0">
            <a:schemeClr val="accent1"/>
          </a:fillRef>
          <a:effectRef idx="0">
            <a:schemeClr val="accent1"/>
          </a:effectRef>
          <a:fontRef idx="minor">
            <a:schemeClr val="tx1"/>
          </a:fontRef>
        </p:style>
      </p:cxnSp>
      <p:sp>
        <p:nvSpPr>
          <p:cNvPr id="73" name="Google Shape;73;p8"/>
          <p:cNvSpPr txBox="1"/>
          <p:nvPr>
            <p:ph type="title"/>
          </p:nvPr>
        </p:nvSpPr>
        <p:spPr>
          <a:xfrm>
            <a:off x="635000" y="406400"/>
            <a:ext cx="10922000" cy="43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23323B"/>
              </a:buClr>
              <a:buSzPts val="2600"/>
              <a:buFont typeface="Arial"/>
              <a:buNone/>
            </a:pPr>
            <a:r>
              <a:rPr b="1" lang="en-US" sz="2400">
                <a:solidFill>
                  <a:srgbClr val="23323B"/>
                </a:solidFill>
              </a:rPr>
              <a:t>November–December Schedule (Indicative)</a:t>
            </a:r>
            <a:endParaRPr sz="2400" b="1">
              <a:solidFill>
                <a:srgbClr val="23323B"/>
              </a:solidFill>
            </a:endParaRPr>
          </a:p>
        </p:txBody>
      </p:sp>
      <p:sp>
        <p:nvSpPr>
          <p:cNvPr id="146" name="Google Shape;146;p8"/>
          <p:cNvSpPr txBox="1"/>
          <p:nvPr>
            <p:ph idx="4294967295" type="sldNum"/>
          </p:nvPr>
        </p:nvSpPr>
        <p:spPr>
          <a:xfrm>
            <a:off x="10795000" y="6527800"/>
            <a:ext cx="762000" cy="152400"/>
          </a:xfrm>
          <a:prstGeom prst="rect">
            <a:avLst/>
          </a:prstGeom>
          <a:noFill/>
          <a:ln>
            <a:noFill/>
          </a:ln>
        </p:spPr>
        <p:txBody>
          <a:bodyPr anchorCtr="0" anchor="b" bIns="0" lIns="0" spcFirstLastPara="1" rIns="0" wrap="square" tIns="0">
            <a:noAutofit/>
          </a:bodyPr>
          <a:lstStyle/>
          <a:p>
            <a:pPr indent="0" lvl="0" marL="0" marR="0" rtl="0" algn="r">
              <a:spcBef>
                <a:spcPts val="0"/>
              </a:spcBef>
              <a:spcAft>
                <a:spcPts val="0"/>
              </a:spcAft>
              <a:buNone/>
            </a:pPr>
            <a:fld id="{00000000-1234-1234-1234-123412341234}" type="slidenum">
              <a:rPr b="0" i="0" lang="en-US" sz="1000" u="none" cap="none" strike="noStrike">
                <a:solidFill>
                  <a:srgbClr val="7F7F7F"/>
                </a:solidFill>
                <a:latin typeface="Arial"/>
                <a:ea typeface="Arial"/>
                <a:cs typeface="Arial"/>
                <a:sym typeface="Arial"/>
              </a:rPr>
              <a:t>‹#›</a:t>
            </a:fld>
            <a:endParaRPr b="0" i="0" sz="1000" u="none" cap="none" strike="noStrike">
              <a:solidFill>
                <a:srgbClr val="7F7F7F"/>
              </a:solidFill>
              <a:latin typeface="Arial"/>
              <a:ea typeface="Arial"/>
              <a:cs typeface="Arial"/>
              <a:sym typeface="Arial"/>
            </a:endParaRPr>
          </a:p>
        </p:txBody>
      </p:sp>
      <p:sp>
        <p:nvSpPr>
          <p:cNvPr id="147" name="Rectangle 146"/>
          <p:cNvSpPr/>
          <p:nvPr/>
        </p:nvSpPr>
        <p:spPr>
          <a:xfrm>
            <a:off x="4664332" y="1554480"/>
            <a:ext cx="2632374" cy="228600"/>
          </a:xfrm>
          <a:prstGeom prst="rect">
            <a:avLst/>
          </a:prstGeom>
          <a:solidFill>
            <a:srgbClr val="23323B"/>
          </a:solidFill>
          <a:ln>
            <a:noFill/>
          </a:ln>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a:r>
              <a:rPr sz="950" b="1">
                <a:solidFill>
                  <a:srgbClr val="FFFFFF"/>
                </a:solidFill>
                <a:latin typeface="Arial"/>
                <a:ea typeface="Arial"/>
              </a:rPr>
              <a:t>November</a:t>
            </a:r>
          </a:p>
        </p:txBody>
      </p:sp>
      <p:sp>
        <p:nvSpPr>
          <p:cNvPr id="148" name="Rectangle 147"/>
          <p:cNvSpPr/>
          <p:nvPr/>
        </p:nvSpPr>
        <p:spPr>
          <a:xfrm>
            <a:off x="7305850" y="1554480"/>
            <a:ext cx="2814554" cy="228600"/>
          </a:xfrm>
          <a:prstGeom prst="rect">
            <a:avLst/>
          </a:prstGeom>
          <a:solidFill>
            <a:srgbClr val="23323B"/>
          </a:solidFill>
          <a:ln>
            <a:noFill/>
          </a:ln>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a:r>
              <a:rPr sz="950" b="1">
                <a:solidFill>
                  <a:srgbClr val="FFFFFF"/>
                </a:solidFill>
                <a:latin typeface="Arial"/>
                <a:ea typeface="Arial"/>
              </a:rPr>
              <a:t>December</a:t>
            </a:r>
          </a:p>
        </p:txBody>
      </p:sp>
      <p:sp>
        <p:nvSpPr>
          <p:cNvPr id="149" name="Rectangle 148"/>
          <p:cNvSpPr/>
          <p:nvPr/>
        </p:nvSpPr>
        <p:spPr>
          <a:xfrm>
            <a:off x="10129549" y="1554480"/>
            <a:ext cx="1415354" cy="228600"/>
          </a:xfrm>
          <a:prstGeom prst="rect">
            <a:avLst/>
          </a:prstGeom>
          <a:solidFill>
            <a:srgbClr val="23323B"/>
          </a:solidFill>
          <a:ln>
            <a:noFill/>
          </a:ln>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a:r>
              <a:rPr sz="950" b="1">
                <a:solidFill>
                  <a:srgbClr val="FFFFFF"/>
                </a:solidFill>
                <a:latin typeface="Arial"/>
                <a:ea typeface="Arial"/>
              </a:rPr>
              <a:t>January onward</a:t>
            </a:r>
          </a:p>
        </p:txBody>
      </p:sp>
      <p:sp>
        <p:nvSpPr>
          <p:cNvPr id="150" name="TextBox 149"/>
          <p:cNvSpPr txBox="1"/>
          <p:nvPr/>
        </p:nvSpPr>
        <p:spPr>
          <a:xfrm>
            <a:off x="635000" y="1843080"/>
            <a:ext cx="3937892" cy="420000"/>
          </a:xfrm>
          <a:prstGeom prst="rect">
            <a:avLst/>
          </a:prstGeom>
          <a:noFill/>
        </p:spPr>
        <p:txBody>
          <a:bodyPr wrap="square" anchor="ctr" lIns="0" rIns="0" tIns="0" bIns="0">
            <a:spAutoFit/>
          </a:bodyPr>
          <a:lstStyle/>
          <a:p>
            <a:pPr algn="l"/>
            <a:r>
              <a:rPr sz="950" b="1">
                <a:solidFill>
                  <a:srgbClr val="23323B"/>
                </a:solidFill>
                <a:latin typeface="Arial"/>
                <a:ea typeface="Arial"/>
              </a:rPr>
              <a:t>Milestones</a:t>
            </a:r>
          </a:p>
        </p:txBody>
      </p:sp>
      <p:sp>
        <p:nvSpPr>
          <p:cNvPr id="151" name="Diamond 150"/>
          <p:cNvSpPr/>
          <p:nvPr/>
        </p:nvSpPr>
        <p:spPr>
          <a:xfrm>
            <a:off x="4594332" y="1883080"/>
            <a:ext cx="140000" cy="140000"/>
          </a:xfrm>
          <a:prstGeom prst="diamond">
            <a:avLst/>
          </a:prstGeom>
          <a:solidFill>
            <a:srgbClr val="23323B"/>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2" name="TextBox 151"/>
          <p:cNvSpPr txBox="1"/>
          <p:nvPr/>
        </p:nvSpPr>
        <p:spPr>
          <a:xfrm>
            <a:off x="4684332" y="2043080"/>
            <a:ext cx="1300000" cy="240000"/>
          </a:xfrm>
          <a:prstGeom prst="rect">
            <a:avLst/>
          </a:prstGeom>
          <a:noFill/>
        </p:spPr>
        <p:txBody>
          <a:bodyPr wrap="square" anchor="t" lIns="0" rIns="0" tIns="0" bIns="0">
            <a:spAutoFit/>
          </a:bodyPr>
          <a:lstStyle/>
          <a:p>
            <a:pPr algn="l"/>
            <a:r>
              <a:rPr sz="800" b="1">
                <a:solidFill>
                  <a:srgbClr val="23323B"/>
                </a:solidFill>
                <a:latin typeface="Arial"/>
                <a:ea typeface="Arial"/>
              </a:rPr>
              <a:t>Start</a:t>
            </a:r>
          </a:p>
        </p:txBody>
      </p:sp>
      <p:sp>
        <p:nvSpPr>
          <p:cNvPr id="153" name="Diamond 152"/>
          <p:cNvSpPr/>
          <p:nvPr/>
        </p:nvSpPr>
        <p:spPr>
          <a:xfrm>
            <a:off x="7144764" y="1883080"/>
            <a:ext cx="140000" cy="140000"/>
          </a:xfrm>
          <a:prstGeom prst="diamond">
            <a:avLst/>
          </a:prstGeom>
          <a:solidFill>
            <a:srgbClr val="23323B"/>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4" name="TextBox 153"/>
          <p:cNvSpPr txBox="1"/>
          <p:nvPr/>
        </p:nvSpPr>
        <p:spPr>
          <a:xfrm>
            <a:off x="5894764" y="2043080"/>
            <a:ext cx="1300000" cy="240000"/>
          </a:xfrm>
          <a:prstGeom prst="rect">
            <a:avLst/>
          </a:prstGeom>
          <a:noFill/>
        </p:spPr>
        <p:txBody>
          <a:bodyPr wrap="square" anchor="t" lIns="0" rIns="0" tIns="0" bIns="0">
            <a:spAutoFit/>
          </a:bodyPr>
          <a:lstStyle/>
          <a:p>
            <a:pPr algn="r"/>
            <a:r>
              <a:rPr sz="800" b="1">
                <a:solidFill>
                  <a:srgbClr val="23323B"/>
                </a:solidFill>
                <a:latin typeface="Arial"/>
                <a:ea typeface="Arial"/>
              </a:rPr>
              <a:t>Outlook report</a:t>
            </a:r>
          </a:p>
        </p:txBody>
      </p:sp>
      <p:sp>
        <p:nvSpPr>
          <p:cNvPr id="155" name="Diamond 154"/>
          <p:cNvSpPr/>
          <p:nvPr/>
        </p:nvSpPr>
        <p:spPr>
          <a:xfrm>
            <a:off x="7509111" y="1883080"/>
            <a:ext cx="140000" cy="140000"/>
          </a:xfrm>
          <a:prstGeom prst="diamond">
            <a:avLst/>
          </a:prstGeom>
          <a:solidFill>
            <a:srgbClr val="23323B"/>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6" name="TextBox 155"/>
          <p:cNvSpPr txBox="1"/>
          <p:nvPr/>
        </p:nvSpPr>
        <p:spPr>
          <a:xfrm>
            <a:off x="7599111" y="2043080"/>
            <a:ext cx="1300000" cy="240000"/>
          </a:xfrm>
          <a:prstGeom prst="rect">
            <a:avLst/>
          </a:prstGeom>
          <a:noFill/>
        </p:spPr>
        <p:txBody>
          <a:bodyPr wrap="square" anchor="t" lIns="0" rIns="0" tIns="0" bIns="0">
            <a:spAutoFit/>
          </a:bodyPr>
          <a:lstStyle/>
          <a:p>
            <a:pPr algn="l"/>
            <a:r>
              <a:rPr sz="800" b="1">
                <a:solidFill>
                  <a:srgbClr val="23323B"/>
                </a:solidFill>
                <a:latin typeface="Arial"/>
                <a:ea typeface="Arial"/>
              </a:rPr>
              <a:t>Work complete</a:t>
            </a:r>
          </a:p>
        </p:txBody>
      </p:sp>
      <p:sp>
        <p:nvSpPr>
          <p:cNvPr id="157" name="Diamond 156"/>
          <p:cNvSpPr/>
          <p:nvPr/>
        </p:nvSpPr>
        <p:spPr>
          <a:xfrm>
            <a:off x="8511066" y="1883080"/>
            <a:ext cx="140000" cy="140000"/>
          </a:xfrm>
          <a:prstGeom prst="diamond">
            <a:avLst/>
          </a:prstGeom>
          <a:solidFill>
            <a:srgbClr val="23323B"/>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8" name="TextBox 157"/>
          <p:cNvSpPr txBox="1"/>
          <p:nvPr/>
        </p:nvSpPr>
        <p:spPr>
          <a:xfrm>
            <a:off x="7931066" y="2043080"/>
            <a:ext cx="1300000" cy="240000"/>
          </a:xfrm>
          <a:prstGeom prst="rect">
            <a:avLst/>
          </a:prstGeom>
          <a:noFill/>
        </p:spPr>
        <p:txBody>
          <a:bodyPr wrap="square" anchor="t" lIns="0" rIns="0" tIns="0" bIns="0">
            <a:spAutoFit/>
          </a:bodyPr>
          <a:lstStyle/>
          <a:p>
            <a:pPr algn="ctr"/>
            <a:r>
              <a:rPr sz="800" b="1">
                <a:solidFill>
                  <a:srgbClr val="23323B"/>
                </a:solidFill>
                <a:latin typeface="Arial"/>
                <a:ea typeface="Arial"/>
              </a:rPr>
              <a:t>Approval</a:t>
            </a:r>
          </a:p>
        </p:txBody>
      </p:sp>
      <p:sp>
        <p:nvSpPr>
          <p:cNvPr id="159" name="Diamond 158"/>
          <p:cNvSpPr/>
          <p:nvPr/>
        </p:nvSpPr>
        <p:spPr>
          <a:xfrm>
            <a:off x="10219549" y="1883080"/>
            <a:ext cx="140000" cy="140000"/>
          </a:xfrm>
          <a:prstGeom prst="diamond">
            <a:avLst/>
          </a:prstGeom>
          <a:solidFill>
            <a:srgbClr val="23323B"/>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0" name="TextBox 159"/>
          <p:cNvSpPr txBox="1"/>
          <p:nvPr/>
        </p:nvSpPr>
        <p:spPr>
          <a:xfrm>
            <a:off x="10309549" y="2043080"/>
            <a:ext cx="1200000" cy="240000"/>
          </a:xfrm>
          <a:prstGeom prst="rect">
            <a:avLst/>
          </a:prstGeom>
          <a:noFill/>
        </p:spPr>
        <p:txBody>
          <a:bodyPr wrap="square" anchor="t" lIns="0" rIns="0" tIns="0" bIns="0">
            <a:spAutoFit/>
          </a:bodyPr>
          <a:lstStyle/>
          <a:p>
            <a:pPr algn="l"/>
            <a:r>
              <a:rPr sz="800" b="1">
                <a:solidFill>
                  <a:srgbClr val="23323B"/>
                </a:solidFill>
                <a:latin typeface="Arial"/>
                <a:ea typeface="Arial"/>
              </a:rPr>
              <a:t>Transfer</a:t>
            </a:r>
          </a:p>
        </p:txBody>
      </p:sp>
      <p:sp>
        <p:nvSpPr>
          <p:cNvPr id="161" name="Rectangle 160"/>
          <p:cNvSpPr/>
          <p:nvPr/>
        </p:nvSpPr>
        <p:spPr>
          <a:xfrm>
            <a:off x="635000" y="2308800"/>
            <a:ext cx="10919047" cy="228600"/>
          </a:xfrm>
          <a:prstGeom prst="rect">
            <a:avLst/>
          </a:prstGeom>
          <a:solidFill>
            <a:srgbClr val="23323B"/>
          </a:solidFill>
          <a:ln>
            <a:noFill/>
          </a:ln>
        </p:spPr>
        <p:style>
          <a:lnRef idx="1">
            <a:schemeClr val="accent1"/>
          </a:lnRef>
          <a:fillRef idx="3">
            <a:schemeClr val="accent1"/>
          </a:fillRef>
          <a:effectRef idx="0">
            <a:schemeClr val="accent1"/>
          </a:effectRef>
          <a:fontRef idx="minor">
            <a:schemeClr val="lt1"/>
          </a:fontRef>
        </p:style>
        <p:txBody>
          <a:bodyPr rtlCol="0" anchor="ctr" wrap="square" rIns="0" tIns="0" bIns="0"/>
          <a:lstStyle/>
          <a:p>
            <a:pPr algn="l"/>
            <a:r>
              <a:rPr sz="950" b="1">
                <a:solidFill>
                  <a:srgbClr val="FFFFFF"/>
                </a:solidFill>
                <a:latin typeface="Arial"/>
                <a:ea typeface="Arial"/>
              </a:rPr>
              <a:t>Assigned BP</a:t>
            </a:r>
          </a:p>
        </p:txBody>
      </p:sp>
      <p:sp>
        <p:nvSpPr>
          <p:cNvPr id="162" name="Rectangle 161"/>
          <p:cNvSpPr/>
          <p:nvPr/>
        </p:nvSpPr>
        <p:spPr>
          <a:xfrm>
            <a:off x="635000" y="2537400"/>
            <a:ext cx="10919047" cy="228600"/>
          </a:xfrm>
          <a:prstGeom prst="rect">
            <a:avLst/>
          </a:prstGeom>
          <a:solidFill>
            <a:srgbClr val="F2F2F2"/>
          </a:solidFill>
          <a:ln>
            <a:noFill/>
          </a:ln>
        </p:spPr>
        <p:style>
          <a:lnRef idx="1">
            <a:schemeClr val="accent1"/>
          </a:lnRef>
          <a:fillRef idx="3">
            <a:schemeClr val="accent1"/>
          </a:fillRef>
          <a:effectRef idx="0">
            <a:schemeClr val="accent1"/>
          </a:effectRef>
          <a:fontRef idx="minor">
            <a:schemeClr val="lt1"/>
          </a:fontRef>
        </p:style>
        <p:txBody>
          <a:bodyPr rtlCol="0" anchor="ctr" wrap="square" rIns="0" tIns="0" bIns="0"/>
          <a:lstStyle/>
          <a:p>
            <a:pPr algn="l"/>
            <a:r>
              <a:rPr sz="900" b="1">
                <a:solidFill>
                  <a:srgbClr val="23323B"/>
                </a:solidFill>
                <a:latin typeface="Arial"/>
                <a:ea typeface="Arial"/>
              </a:rPr>
              <a:t>Operating expense budget transfer</a:t>
            </a:r>
          </a:p>
        </p:txBody>
      </p:sp>
      <p:sp>
        <p:nvSpPr>
          <p:cNvPr id="163" name="TextBox 162"/>
          <p:cNvSpPr txBox="1"/>
          <p:nvPr/>
        </p:nvSpPr>
        <p:spPr>
          <a:xfrm>
            <a:off x="726440" y="2766000"/>
            <a:ext cx="3889332" cy="228600"/>
          </a:xfrm>
          <a:prstGeom prst="rect">
            <a:avLst/>
          </a:prstGeom>
          <a:noFill/>
        </p:spPr>
        <p:txBody>
          <a:bodyPr wrap="square" anchor="ctr" lIns="0" rIns="0" tIns="0" bIns="0">
            <a:spAutoFit/>
          </a:bodyPr>
          <a:lstStyle/>
          <a:p>
            <a:pPr algn="l"/>
            <a:r>
              <a:rPr sz="850" b="0">
                <a:solidFill>
                  <a:srgbClr val="404040"/>
                </a:solidFill>
                <a:latin typeface="Arial"/>
                <a:ea typeface="Arial"/>
              </a:rPr>
              <a:t>① Identify budgets to transfer, using the interview sheet</a:t>
            </a:r>
          </a:p>
        </p:txBody>
      </p:sp>
      <p:sp>
        <p:nvSpPr>
          <p:cNvPr id="164" name="Rectangle 163"/>
          <p:cNvSpPr/>
          <p:nvPr/>
        </p:nvSpPr>
        <p:spPr>
          <a:xfrm>
            <a:off x="4664332" y="2816000"/>
            <a:ext cx="3005866" cy="128600"/>
          </a:xfrm>
          <a:prstGeom prst="rect">
            <a:avLst/>
          </a:prstGeom>
          <a:solidFill>
            <a:srgbClr val="23323B"/>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65" name="Connector 164"/>
          <p:cNvCxnSpPr/>
          <p:nvPr/>
        </p:nvCxnSpPr>
        <p:spPr>
          <a:xfrm>
            <a:off x="635000" y="2994600"/>
            <a:ext cx="10919047" cy="0"/>
          </a:xfrm>
          <a:prstGeom prst="line">
            <a:avLst/>
          </a:prstGeom>
          <a:ln w="3175">
            <a:solidFill>
              <a:srgbClr val="D9D9D9"/>
            </a:solidFill>
          </a:ln>
        </p:spPr>
        <p:style>
          <a:lnRef idx="2">
            <a:schemeClr val="accent1"/>
          </a:lnRef>
          <a:fillRef idx="0">
            <a:schemeClr val="accent1"/>
          </a:fillRef>
          <a:effectRef idx="0">
            <a:schemeClr val="accent1"/>
          </a:effectRef>
          <a:fontRef idx="minor">
            <a:schemeClr val="tx1"/>
          </a:fontRef>
        </p:style>
      </p:cxnSp>
      <p:sp>
        <p:nvSpPr>
          <p:cNvPr id="166" name="TextBox 165"/>
          <p:cNvSpPr txBox="1"/>
          <p:nvPr/>
        </p:nvSpPr>
        <p:spPr>
          <a:xfrm>
            <a:off x="726440" y="2994600"/>
            <a:ext cx="3889332" cy="228600"/>
          </a:xfrm>
          <a:prstGeom prst="rect">
            <a:avLst/>
          </a:prstGeom>
          <a:noFill/>
        </p:spPr>
        <p:txBody>
          <a:bodyPr wrap="square" anchor="ctr" lIns="0" rIns="0" tIns="0" bIns="0">
            <a:spAutoFit/>
          </a:bodyPr>
          <a:lstStyle/>
          <a:p>
            <a:pPr algn="l"/>
            <a:r>
              <a:rPr sz="850" b="0">
                <a:solidFill>
                  <a:srgbClr val="404040"/>
                </a:solidFill>
                <a:latin typeface="Arial"/>
                <a:ea typeface="Arial"/>
              </a:rPr>
              <a:t>② Enter them in the budget sheet (remove out-of-scope, add missing)</a:t>
            </a:r>
          </a:p>
        </p:txBody>
      </p:sp>
      <p:sp>
        <p:nvSpPr>
          <p:cNvPr id="167" name="Rectangle 166"/>
          <p:cNvSpPr/>
          <p:nvPr/>
        </p:nvSpPr>
        <p:spPr>
          <a:xfrm>
            <a:off x="4664332" y="3044600"/>
            <a:ext cx="3005866" cy="128600"/>
          </a:xfrm>
          <a:prstGeom prst="rect">
            <a:avLst/>
          </a:prstGeom>
          <a:solidFill>
            <a:srgbClr val="23323B"/>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68" name="Connector 167"/>
          <p:cNvCxnSpPr/>
          <p:nvPr/>
        </p:nvCxnSpPr>
        <p:spPr>
          <a:xfrm>
            <a:off x="635000" y="3223200"/>
            <a:ext cx="10919047" cy="0"/>
          </a:xfrm>
          <a:prstGeom prst="line">
            <a:avLst/>
          </a:prstGeom>
          <a:ln w="3175">
            <a:solidFill>
              <a:srgbClr val="D9D9D9"/>
            </a:solidFill>
          </a:ln>
        </p:spPr>
        <p:style>
          <a:lnRef idx="2">
            <a:schemeClr val="accent1"/>
          </a:lnRef>
          <a:fillRef idx="0">
            <a:schemeClr val="accent1"/>
          </a:fillRef>
          <a:effectRef idx="0">
            <a:schemeClr val="accent1"/>
          </a:effectRef>
          <a:fontRef idx="minor">
            <a:schemeClr val="tx1"/>
          </a:fontRef>
        </p:style>
      </p:cxnSp>
      <p:sp>
        <p:nvSpPr>
          <p:cNvPr id="169" name="TextBox 168"/>
          <p:cNvSpPr txBox="1"/>
          <p:nvPr/>
        </p:nvSpPr>
        <p:spPr>
          <a:xfrm>
            <a:off x="726440" y="3223200"/>
            <a:ext cx="3889332" cy="228600"/>
          </a:xfrm>
          <a:prstGeom prst="rect">
            <a:avLst/>
          </a:prstGeom>
          <a:noFill/>
        </p:spPr>
        <p:txBody>
          <a:bodyPr wrap="square" anchor="ctr" lIns="0" rIns="0" tIns="0" bIns="0">
            <a:spAutoFit/>
          </a:bodyPr>
          <a:lstStyle/>
          <a:p>
            <a:pPr algn="l"/>
            <a:r>
              <a:rPr sz="850" b="0">
                <a:solidFill>
                  <a:srgbClr val="404040"/>
                </a:solidFill>
                <a:latin typeface="Arial"/>
                <a:ea typeface="Arial"/>
              </a:rPr>
              <a:t>③ Keep status updated; report completion outlook at end of Nov</a:t>
            </a:r>
          </a:p>
        </p:txBody>
      </p:sp>
      <p:sp>
        <p:nvSpPr>
          <p:cNvPr id="170" name="Rectangle 169"/>
          <p:cNvSpPr/>
          <p:nvPr/>
        </p:nvSpPr>
        <p:spPr>
          <a:xfrm>
            <a:off x="4664332" y="3273200"/>
            <a:ext cx="3005866" cy="128600"/>
          </a:xfrm>
          <a:prstGeom prst="rect">
            <a:avLst/>
          </a:prstGeom>
          <a:solidFill>
            <a:srgbClr val="23323B"/>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1" name="Diamond 170"/>
          <p:cNvSpPr/>
          <p:nvPr/>
        </p:nvSpPr>
        <p:spPr>
          <a:xfrm>
            <a:off x="7134764" y="3257500"/>
            <a:ext cx="160000" cy="160000"/>
          </a:xfrm>
          <a:prstGeom prst="diamond">
            <a:avLst/>
          </a:prstGeom>
          <a:solidFill>
            <a:srgbClr val="FFFFFF"/>
          </a:solidFill>
          <a:ln w="9525">
            <a:solidFill>
              <a:srgbClr val="23323B"/>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72" name="Connector 171"/>
          <p:cNvCxnSpPr/>
          <p:nvPr/>
        </p:nvCxnSpPr>
        <p:spPr>
          <a:xfrm>
            <a:off x="635000" y="3451800"/>
            <a:ext cx="10919047" cy="0"/>
          </a:xfrm>
          <a:prstGeom prst="line">
            <a:avLst/>
          </a:prstGeom>
          <a:ln w="3175">
            <a:solidFill>
              <a:srgbClr val="D9D9D9"/>
            </a:solidFill>
          </a:ln>
        </p:spPr>
        <p:style>
          <a:lnRef idx="2">
            <a:schemeClr val="accent1"/>
          </a:lnRef>
          <a:fillRef idx="0">
            <a:schemeClr val="accent1"/>
          </a:fillRef>
          <a:effectRef idx="0">
            <a:schemeClr val="accent1"/>
          </a:effectRef>
          <a:fontRef idx="minor">
            <a:schemeClr val="tx1"/>
          </a:fontRef>
        </p:style>
      </p:cxnSp>
      <p:sp>
        <p:nvSpPr>
          <p:cNvPr id="173" name="TextBox 172"/>
          <p:cNvSpPr txBox="1"/>
          <p:nvPr/>
        </p:nvSpPr>
        <p:spPr>
          <a:xfrm>
            <a:off x="726440" y="3451800"/>
            <a:ext cx="3889332" cy="228600"/>
          </a:xfrm>
          <a:prstGeom prst="rect">
            <a:avLst/>
          </a:prstGeom>
          <a:noFill/>
        </p:spPr>
        <p:txBody>
          <a:bodyPr wrap="square" anchor="ctr" lIns="0" rIns="0" tIns="0" bIns="0">
            <a:spAutoFit/>
          </a:bodyPr>
          <a:lstStyle/>
          <a:p>
            <a:pPr algn="l"/>
            <a:r>
              <a:rPr sz="850" b="0">
                <a:solidFill>
                  <a:srgbClr val="404040"/>
                </a:solidFill>
                <a:latin typeface="Arial"/>
                <a:ea typeface="Arial"/>
              </a:rPr>
              <a:t>④ Take over contracts, ordering, etc. (start agreed with counterpart)</a:t>
            </a:r>
          </a:p>
        </p:txBody>
      </p:sp>
      <p:sp>
        <p:nvSpPr>
          <p:cNvPr id="174" name="Rectangle 173"/>
          <p:cNvSpPr/>
          <p:nvPr/>
        </p:nvSpPr>
        <p:spPr>
          <a:xfrm>
            <a:off x="4664332" y="3501800"/>
            <a:ext cx="3005866" cy="128600"/>
          </a:xfrm>
          <a:prstGeom prst="rect">
            <a:avLst/>
          </a:prstGeom>
          <a:solidFill>
            <a:srgbClr val="23323B"/>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75" name="Connector 174"/>
          <p:cNvCxnSpPr/>
          <p:nvPr/>
        </p:nvCxnSpPr>
        <p:spPr>
          <a:xfrm>
            <a:off x="635000" y="3680400"/>
            <a:ext cx="10919047" cy="0"/>
          </a:xfrm>
          <a:prstGeom prst="line">
            <a:avLst/>
          </a:prstGeom>
          <a:ln w="3175">
            <a:solidFill>
              <a:srgbClr val="D9D9D9"/>
            </a:solidFill>
          </a:ln>
        </p:spPr>
        <p:style>
          <a:lnRef idx="2">
            <a:schemeClr val="accent1"/>
          </a:lnRef>
          <a:fillRef idx="0">
            <a:schemeClr val="accent1"/>
          </a:fillRef>
          <a:effectRef idx="0">
            <a:schemeClr val="accent1"/>
          </a:effectRef>
          <a:fontRef idx="minor">
            <a:schemeClr val="tx1"/>
          </a:fontRef>
        </p:style>
      </p:cxnSp>
      <p:sp>
        <p:nvSpPr>
          <p:cNvPr id="176" name="Rectangle 175"/>
          <p:cNvSpPr/>
          <p:nvPr/>
        </p:nvSpPr>
        <p:spPr>
          <a:xfrm>
            <a:off x="635000" y="3680400"/>
            <a:ext cx="10919047" cy="228600"/>
          </a:xfrm>
          <a:prstGeom prst="rect">
            <a:avLst/>
          </a:prstGeom>
          <a:solidFill>
            <a:srgbClr val="F2F2F2"/>
          </a:solidFill>
          <a:ln>
            <a:noFill/>
          </a:ln>
        </p:spPr>
        <p:style>
          <a:lnRef idx="1">
            <a:schemeClr val="accent1"/>
          </a:lnRef>
          <a:fillRef idx="3">
            <a:schemeClr val="accent1"/>
          </a:fillRef>
          <a:effectRef idx="0">
            <a:schemeClr val="accent1"/>
          </a:effectRef>
          <a:fontRef idx="minor">
            <a:schemeClr val="lt1"/>
          </a:fontRef>
        </p:style>
        <p:txBody>
          <a:bodyPr rtlCol="0" anchor="ctr" wrap="square" rIns="0" tIns="0" bIns="0"/>
          <a:lstStyle/>
          <a:p>
            <a:pPr algn="l"/>
            <a:r>
              <a:rPr sz="900" b="1">
                <a:solidFill>
                  <a:srgbClr val="23323B"/>
                </a:solidFill>
                <a:latin typeface="Arial"/>
                <a:ea typeface="Arial"/>
              </a:rPr>
              <a:t>Fixed asset transfer</a:t>
            </a:r>
          </a:p>
        </p:txBody>
      </p:sp>
      <p:sp>
        <p:nvSpPr>
          <p:cNvPr id="177" name="TextBox 176"/>
          <p:cNvSpPr txBox="1"/>
          <p:nvPr/>
        </p:nvSpPr>
        <p:spPr>
          <a:xfrm>
            <a:off x="726440" y="3909000"/>
            <a:ext cx="3889332" cy="228600"/>
          </a:xfrm>
          <a:prstGeom prst="rect">
            <a:avLst/>
          </a:prstGeom>
          <a:noFill/>
        </p:spPr>
        <p:txBody>
          <a:bodyPr wrap="square" anchor="ctr" lIns="0" rIns="0" tIns="0" bIns="0">
            <a:spAutoFit/>
          </a:bodyPr>
          <a:lstStyle/>
          <a:p>
            <a:pPr algn="l"/>
            <a:r>
              <a:rPr sz="850" b="0">
                <a:solidFill>
                  <a:srgbClr val="404040"/>
                </a:solidFill>
                <a:latin typeface="Arial"/>
                <a:ea typeface="Arial"/>
              </a:rPr>
              <a:t>① Review the asset register; set timing (with transfer / later)</a:t>
            </a:r>
          </a:p>
        </p:txBody>
      </p:sp>
      <p:sp>
        <p:nvSpPr>
          <p:cNvPr id="178" name="Rectangle 177"/>
          <p:cNvSpPr/>
          <p:nvPr/>
        </p:nvSpPr>
        <p:spPr>
          <a:xfrm>
            <a:off x="5301940" y="3959000"/>
            <a:ext cx="2368258" cy="128600"/>
          </a:xfrm>
          <a:prstGeom prst="rect">
            <a:avLst/>
          </a:prstGeom>
          <a:solidFill>
            <a:srgbClr val="23323B"/>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79" name="Connector 178"/>
          <p:cNvCxnSpPr/>
          <p:nvPr/>
        </p:nvCxnSpPr>
        <p:spPr>
          <a:xfrm>
            <a:off x="635000" y="4137600"/>
            <a:ext cx="10919047" cy="0"/>
          </a:xfrm>
          <a:prstGeom prst="line">
            <a:avLst/>
          </a:prstGeom>
          <a:ln w="3175">
            <a:solidFill>
              <a:srgbClr val="D9D9D9"/>
            </a:solidFill>
          </a:ln>
        </p:spPr>
        <p:style>
          <a:lnRef idx="2">
            <a:schemeClr val="accent1"/>
          </a:lnRef>
          <a:fillRef idx="0">
            <a:schemeClr val="accent1"/>
          </a:fillRef>
          <a:effectRef idx="0">
            <a:schemeClr val="accent1"/>
          </a:effectRef>
          <a:fontRef idx="minor">
            <a:schemeClr val="tx1"/>
          </a:fontRef>
        </p:style>
      </p:cxnSp>
      <p:sp>
        <p:nvSpPr>
          <p:cNvPr id="180" name="TextBox 179"/>
          <p:cNvSpPr txBox="1"/>
          <p:nvPr/>
        </p:nvSpPr>
        <p:spPr>
          <a:xfrm>
            <a:off x="726440" y="4137600"/>
            <a:ext cx="3889332" cy="228600"/>
          </a:xfrm>
          <a:prstGeom prst="rect">
            <a:avLst/>
          </a:prstGeom>
          <a:noFill/>
        </p:spPr>
        <p:txBody>
          <a:bodyPr wrap="square" anchor="ctr" lIns="0" rIns="0" tIns="0" bIns="0">
            <a:spAutoFit/>
          </a:bodyPr>
          <a:lstStyle/>
          <a:p>
            <a:pPr algn="l"/>
            <a:r>
              <a:rPr sz="850" b="0">
                <a:solidFill>
                  <a:srgbClr val="404040"/>
                </a:solidFill>
                <a:latin typeface="Arial"/>
                <a:ea typeface="Arial"/>
              </a:rPr>
              <a:t>② Update the review status in the register</a:t>
            </a:r>
          </a:p>
        </p:txBody>
      </p:sp>
      <p:sp>
        <p:nvSpPr>
          <p:cNvPr id="181" name="Rectangle 180"/>
          <p:cNvSpPr/>
          <p:nvPr/>
        </p:nvSpPr>
        <p:spPr>
          <a:xfrm>
            <a:off x="5301940" y="4187600"/>
            <a:ext cx="2368258" cy="128600"/>
          </a:xfrm>
          <a:prstGeom prst="rect">
            <a:avLst/>
          </a:prstGeom>
          <a:solidFill>
            <a:srgbClr val="23323B"/>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82" name="Connector 181"/>
          <p:cNvCxnSpPr/>
          <p:nvPr/>
        </p:nvCxnSpPr>
        <p:spPr>
          <a:xfrm>
            <a:off x="635000" y="4366200"/>
            <a:ext cx="10919047" cy="0"/>
          </a:xfrm>
          <a:prstGeom prst="line">
            <a:avLst/>
          </a:prstGeom>
          <a:ln w="3175">
            <a:solidFill>
              <a:srgbClr val="D9D9D9"/>
            </a:solidFill>
          </a:ln>
        </p:spPr>
        <p:style>
          <a:lnRef idx="2">
            <a:schemeClr val="accent1"/>
          </a:lnRef>
          <a:fillRef idx="0">
            <a:schemeClr val="accent1"/>
          </a:fillRef>
          <a:effectRef idx="0">
            <a:schemeClr val="accent1"/>
          </a:effectRef>
          <a:fontRef idx="minor">
            <a:schemeClr val="tx1"/>
          </a:fontRef>
        </p:style>
      </p:cxnSp>
      <p:sp>
        <p:nvSpPr>
          <p:cNvPr id="183" name="Rectangle 182"/>
          <p:cNvSpPr/>
          <p:nvPr/>
        </p:nvSpPr>
        <p:spPr>
          <a:xfrm>
            <a:off x="635000" y="4457640"/>
            <a:ext cx="10919047" cy="228600"/>
          </a:xfrm>
          <a:prstGeom prst="rect">
            <a:avLst/>
          </a:prstGeom>
          <a:solidFill>
            <a:srgbClr val="23323B"/>
          </a:solidFill>
          <a:ln>
            <a:noFill/>
          </a:ln>
        </p:spPr>
        <p:style>
          <a:lnRef idx="1">
            <a:schemeClr val="accent1"/>
          </a:lnRef>
          <a:fillRef idx="3">
            <a:schemeClr val="accent1"/>
          </a:fillRef>
          <a:effectRef idx="0">
            <a:schemeClr val="accent1"/>
          </a:effectRef>
          <a:fontRef idx="minor">
            <a:schemeClr val="lt1"/>
          </a:fontRef>
        </p:style>
        <p:txBody>
          <a:bodyPr rtlCol="0" anchor="ctr" wrap="square" rIns="0" tIns="0" bIns="0"/>
          <a:lstStyle/>
          <a:p>
            <a:pPr algn="l"/>
            <a:r>
              <a:rPr sz="950" b="1">
                <a:solidFill>
                  <a:srgbClr val="FFFFFF"/>
                </a:solidFill>
                <a:latin typeface="Arial"/>
                <a:ea typeface="Arial"/>
              </a:rPr>
              <a:t>S&amp;G (FinanceBP)</a:t>
            </a:r>
          </a:p>
        </p:txBody>
      </p:sp>
      <p:sp>
        <p:nvSpPr>
          <p:cNvPr id="184" name="TextBox 183"/>
          <p:cNvSpPr txBox="1"/>
          <p:nvPr/>
        </p:nvSpPr>
        <p:spPr>
          <a:xfrm>
            <a:off x="726440" y="4686240"/>
            <a:ext cx="3889332" cy="228600"/>
          </a:xfrm>
          <a:prstGeom prst="rect">
            <a:avLst/>
          </a:prstGeom>
          <a:noFill/>
        </p:spPr>
        <p:txBody>
          <a:bodyPr wrap="square" anchor="ctr" lIns="0" rIns="0" tIns="0" bIns="0">
            <a:spAutoFit/>
          </a:bodyPr>
          <a:lstStyle/>
          <a:p>
            <a:pPr algn="l"/>
            <a:r>
              <a:rPr sz="850" b="0">
                <a:solidFill>
                  <a:srgbClr val="404040"/>
                </a:solidFill>
                <a:latin typeface="Arial"/>
                <a:ea typeface="Arial"/>
              </a:rPr>
              <a:t>Provide the fixed asset register to Assigned BPs</a:t>
            </a:r>
          </a:p>
        </p:txBody>
      </p:sp>
      <p:sp>
        <p:nvSpPr>
          <p:cNvPr id="185" name="Rectangle 184"/>
          <p:cNvSpPr/>
          <p:nvPr/>
        </p:nvSpPr>
        <p:spPr>
          <a:xfrm>
            <a:off x="4664332" y="4736240"/>
            <a:ext cx="455434" cy="128600"/>
          </a:xfrm>
          <a:prstGeom prst="rect">
            <a:avLst/>
          </a:prstGeom>
          <a:solidFill>
            <a:srgbClr val="23323B"/>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86" name="Connector 185"/>
          <p:cNvCxnSpPr/>
          <p:nvPr/>
        </p:nvCxnSpPr>
        <p:spPr>
          <a:xfrm>
            <a:off x="635000" y="4914840"/>
            <a:ext cx="10919047" cy="0"/>
          </a:xfrm>
          <a:prstGeom prst="line">
            <a:avLst/>
          </a:prstGeom>
          <a:ln w="3175">
            <a:solidFill>
              <a:srgbClr val="D9D9D9"/>
            </a:solidFill>
          </a:ln>
        </p:spPr>
        <p:style>
          <a:lnRef idx="2">
            <a:schemeClr val="accent1"/>
          </a:lnRef>
          <a:fillRef idx="0">
            <a:schemeClr val="accent1"/>
          </a:fillRef>
          <a:effectRef idx="0">
            <a:schemeClr val="accent1"/>
          </a:effectRef>
          <a:fontRef idx="minor">
            <a:schemeClr val="tx1"/>
          </a:fontRef>
        </p:style>
      </p:cxnSp>
      <p:sp>
        <p:nvSpPr>
          <p:cNvPr id="187" name="TextBox 186"/>
          <p:cNvSpPr txBox="1"/>
          <p:nvPr/>
        </p:nvSpPr>
        <p:spPr>
          <a:xfrm>
            <a:off x="726440" y="4914840"/>
            <a:ext cx="3889332" cy="228600"/>
          </a:xfrm>
          <a:prstGeom prst="rect">
            <a:avLst/>
          </a:prstGeom>
          <a:noFill/>
        </p:spPr>
        <p:txBody>
          <a:bodyPr wrap="square" anchor="ctr" lIns="0" rIns="0" tIns="0" bIns="0">
            <a:spAutoFit/>
          </a:bodyPr>
          <a:lstStyle/>
          <a:p>
            <a:pPr algn="l"/>
            <a:r>
              <a:rPr sz="850" b="0">
                <a:solidFill>
                  <a:srgbClr val="404040"/>
                </a:solidFill>
                <a:latin typeface="Arial"/>
                <a:ea typeface="Arial"/>
              </a:rPr>
              <a:t>Track overall progress via budget sheet and register status (ongoing)</a:t>
            </a:r>
          </a:p>
        </p:txBody>
      </p:sp>
      <p:sp>
        <p:nvSpPr>
          <p:cNvPr id="188" name="Rectangle 187"/>
          <p:cNvSpPr/>
          <p:nvPr/>
        </p:nvSpPr>
        <p:spPr>
          <a:xfrm>
            <a:off x="4664332" y="4964840"/>
            <a:ext cx="4007821" cy="128600"/>
          </a:xfrm>
          <a:prstGeom prst="rect">
            <a:avLst/>
          </a:prstGeom>
          <a:solidFill>
            <a:srgbClr val="B4BEC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89" name="Connector 188"/>
          <p:cNvCxnSpPr/>
          <p:nvPr/>
        </p:nvCxnSpPr>
        <p:spPr>
          <a:xfrm>
            <a:off x="635000" y="5143440"/>
            <a:ext cx="10919047" cy="0"/>
          </a:xfrm>
          <a:prstGeom prst="line">
            <a:avLst/>
          </a:prstGeom>
          <a:ln w="3175">
            <a:solidFill>
              <a:srgbClr val="D9D9D9"/>
            </a:solidFill>
          </a:ln>
        </p:spPr>
        <p:style>
          <a:lnRef idx="2">
            <a:schemeClr val="accent1"/>
          </a:lnRef>
          <a:fillRef idx="0">
            <a:schemeClr val="accent1"/>
          </a:fillRef>
          <a:effectRef idx="0">
            <a:schemeClr val="accent1"/>
          </a:effectRef>
          <a:fontRef idx="minor">
            <a:schemeClr val="tx1"/>
          </a:fontRef>
        </p:style>
      </p:cxnSp>
      <p:sp>
        <p:nvSpPr>
          <p:cNvPr id="190" name="TextBox 189"/>
          <p:cNvSpPr txBox="1"/>
          <p:nvPr/>
        </p:nvSpPr>
        <p:spPr>
          <a:xfrm>
            <a:off x="726440" y="5143440"/>
            <a:ext cx="3889332" cy="228600"/>
          </a:xfrm>
          <a:prstGeom prst="rect">
            <a:avLst/>
          </a:prstGeom>
          <a:noFill/>
        </p:spPr>
        <p:txBody>
          <a:bodyPr wrap="square" anchor="ctr" lIns="0" rIns="0" tIns="0" bIns="0">
            <a:spAutoFit/>
          </a:bodyPr>
          <a:lstStyle/>
          <a:p>
            <a:pPr algn="l"/>
            <a:r>
              <a:rPr sz="850" b="0">
                <a:solidFill>
                  <a:srgbClr val="404040"/>
                </a:solidFill>
                <a:latin typeface="Arial"/>
                <a:ea typeface="Arial"/>
              </a:rPr>
              <a:t>Report transfer scope based on end-of-Nov outlook</a:t>
            </a:r>
          </a:p>
        </p:txBody>
      </p:sp>
      <p:sp>
        <p:nvSpPr>
          <p:cNvPr id="191" name="Diamond 190"/>
          <p:cNvSpPr/>
          <p:nvPr/>
        </p:nvSpPr>
        <p:spPr>
          <a:xfrm>
            <a:off x="7316937" y="5177740"/>
            <a:ext cx="160000" cy="160000"/>
          </a:xfrm>
          <a:prstGeom prst="diamond">
            <a:avLst/>
          </a:prstGeom>
          <a:solidFill>
            <a:srgbClr val="23323B"/>
          </a:solidFill>
          <a:ln w="9525">
            <a:solidFill>
              <a:srgbClr val="23323B"/>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92" name="Connector 191"/>
          <p:cNvCxnSpPr/>
          <p:nvPr/>
        </p:nvCxnSpPr>
        <p:spPr>
          <a:xfrm>
            <a:off x="635000" y="5372040"/>
            <a:ext cx="10919047" cy="0"/>
          </a:xfrm>
          <a:prstGeom prst="line">
            <a:avLst/>
          </a:prstGeom>
          <a:ln w="3175">
            <a:solidFill>
              <a:srgbClr val="D9D9D9"/>
            </a:solidFill>
          </a:ln>
        </p:spPr>
        <p:style>
          <a:lnRef idx="2">
            <a:schemeClr val="accent1"/>
          </a:lnRef>
          <a:fillRef idx="0">
            <a:schemeClr val="accent1"/>
          </a:fillRef>
          <a:effectRef idx="0">
            <a:schemeClr val="accent1"/>
          </a:effectRef>
          <a:fontRef idx="minor">
            <a:schemeClr val="tx1"/>
          </a:fontRef>
        </p:style>
      </p:cxnSp>
      <p:sp>
        <p:nvSpPr>
          <p:cNvPr id="193" name="TextBox 192"/>
          <p:cNvSpPr txBox="1"/>
          <p:nvPr/>
        </p:nvSpPr>
        <p:spPr>
          <a:xfrm>
            <a:off x="726440" y="5372040"/>
            <a:ext cx="3889332" cy="228600"/>
          </a:xfrm>
          <a:prstGeom prst="rect">
            <a:avLst/>
          </a:prstGeom>
          <a:noFill/>
        </p:spPr>
        <p:txBody>
          <a:bodyPr wrap="square" anchor="ctr" lIns="0" rIns="0" tIns="0" bIns="0">
            <a:spAutoFit/>
          </a:bodyPr>
          <a:lstStyle/>
          <a:p>
            <a:pPr algn="l"/>
            <a:r>
              <a:rPr sz="850" b="0">
                <a:solidFill>
                  <a:srgbClr val="404040"/>
                </a:solidFill>
                <a:latin typeface="Arial"/>
                <a:ea typeface="Arial"/>
              </a:rPr>
              <a:t>Prepare approval request (units, pre-approvals, stakeholders)</a:t>
            </a:r>
          </a:p>
        </p:txBody>
      </p:sp>
      <p:sp>
        <p:nvSpPr>
          <p:cNvPr id="194" name="Rectangle 193"/>
          <p:cNvSpPr/>
          <p:nvPr/>
        </p:nvSpPr>
        <p:spPr>
          <a:xfrm>
            <a:off x="7396937" y="5422040"/>
            <a:ext cx="910868" cy="128600"/>
          </a:xfrm>
          <a:prstGeom prst="rect">
            <a:avLst/>
          </a:prstGeom>
          <a:solidFill>
            <a:srgbClr val="23323B"/>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95" name="Connector 194"/>
          <p:cNvCxnSpPr/>
          <p:nvPr/>
        </p:nvCxnSpPr>
        <p:spPr>
          <a:xfrm>
            <a:off x="635000" y="5600640"/>
            <a:ext cx="10919047" cy="0"/>
          </a:xfrm>
          <a:prstGeom prst="line">
            <a:avLst/>
          </a:prstGeom>
          <a:ln w="3175">
            <a:solidFill>
              <a:srgbClr val="D9D9D9"/>
            </a:solidFill>
          </a:ln>
        </p:spPr>
        <p:style>
          <a:lnRef idx="2">
            <a:schemeClr val="accent1"/>
          </a:lnRef>
          <a:fillRef idx="0">
            <a:schemeClr val="accent1"/>
          </a:fillRef>
          <a:effectRef idx="0">
            <a:schemeClr val="accent1"/>
          </a:effectRef>
          <a:fontRef idx="minor">
            <a:schemeClr val="tx1"/>
          </a:fontRef>
        </p:style>
      </p:cxnSp>
      <p:sp>
        <p:nvSpPr>
          <p:cNvPr id="196" name="TextBox 195"/>
          <p:cNvSpPr txBox="1"/>
          <p:nvPr/>
        </p:nvSpPr>
        <p:spPr>
          <a:xfrm>
            <a:off x="726440" y="5600640"/>
            <a:ext cx="3889332" cy="228600"/>
          </a:xfrm>
          <a:prstGeom prst="rect">
            <a:avLst/>
          </a:prstGeom>
          <a:noFill/>
        </p:spPr>
        <p:txBody>
          <a:bodyPr wrap="square" anchor="ctr" lIns="0" rIns="0" tIns="0" bIns="0">
            <a:spAutoFit/>
          </a:bodyPr>
          <a:lstStyle/>
          <a:p>
            <a:pPr algn="l"/>
            <a:r>
              <a:rPr sz="850" b="0">
                <a:solidFill>
                  <a:srgbClr val="404040"/>
                </a:solidFill>
                <a:latin typeface="Arial"/>
                <a:ea typeface="Arial"/>
              </a:rPr>
              <a:t>Submit approval request; share result with Assigned BPs</a:t>
            </a:r>
          </a:p>
        </p:txBody>
      </p:sp>
      <p:sp>
        <p:nvSpPr>
          <p:cNvPr id="197" name="Rectangle 196"/>
          <p:cNvSpPr/>
          <p:nvPr/>
        </p:nvSpPr>
        <p:spPr>
          <a:xfrm>
            <a:off x="8489980" y="5650640"/>
            <a:ext cx="182173" cy="128600"/>
          </a:xfrm>
          <a:prstGeom prst="rect">
            <a:avLst/>
          </a:prstGeom>
          <a:solidFill>
            <a:srgbClr val="23323B"/>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98" name="Connector 197"/>
          <p:cNvCxnSpPr/>
          <p:nvPr/>
        </p:nvCxnSpPr>
        <p:spPr>
          <a:xfrm>
            <a:off x="635000" y="5829240"/>
            <a:ext cx="10919047" cy="0"/>
          </a:xfrm>
          <a:prstGeom prst="line">
            <a:avLst/>
          </a:prstGeom>
          <a:ln w="3175">
            <a:solidFill>
              <a:srgbClr val="D9D9D9"/>
            </a:solidFill>
          </a:ln>
        </p:spPr>
        <p:style>
          <a:lnRef idx="2">
            <a:schemeClr val="accent1"/>
          </a:lnRef>
          <a:fillRef idx="0">
            <a:schemeClr val="accent1"/>
          </a:fillRef>
          <a:effectRef idx="0">
            <a:schemeClr val="accent1"/>
          </a:effectRef>
          <a:fontRef idx="minor">
            <a:schemeClr val="tx1"/>
          </a:fontRef>
        </p:style>
      </p:cxnSp>
      <p:sp>
        <p:nvSpPr>
          <p:cNvPr id="199" name="TextBox 198"/>
          <p:cNvSpPr txBox="1"/>
          <p:nvPr/>
        </p:nvSpPr>
        <p:spPr>
          <a:xfrm>
            <a:off x="726440" y="5829240"/>
            <a:ext cx="3889332" cy="228600"/>
          </a:xfrm>
          <a:prstGeom prst="rect">
            <a:avLst/>
          </a:prstGeom>
          <a:noFill/>
        </p:spPr>
        <p:txBody>
          <a:bodyPr wrap="square" anchor="ctr" lIns="0" rIns="0" tIns="0" bIns="0">
            <a:spAutoFit/>
          </a:bodyPr>
          <a:lstStyle/>
          <a:p>
            <a:pPr algn="l"/>
            <a:r>
              <a:rPr sz="850" b="0">
                <a:solidFill>
                  <a:srgbClr val="404040"/>
                </a:solidFill>
                <a:latin typeface="Arial"/>
                <a:ea typeface="Arial"/>
              </a:rPr>
              <a:t>Transfer fixed assets and depreciation step by step</a:t>
            </a:r>
          </a:p>
        </p:txBody>
      </p:sp>
      <p:sp>
        <p:nvSpPr>
          <p:cNvPr id="200" name="Rectangle 199"/>
          <p:cNvSpPr/>
          <p:nvPr/>
        </p:nvSpPr>
        <p:spPr>
          <a:xfrm>
            <a:off x="7852372" y="5879240"/>
            <a:ext cx="3701675" cy="128600"/>
          </a:xfrm>
          <a:prstGeom prst="rect">
            <a:avLst/>
          </a:prstGeom>
          <a:solidFill>
            <a:srgbClr val="23323B"/>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01" name="Connector 200"/>
          <p:cNvCxnSpPr/>
          <p:nvPr/>
        </p:nvCxnSpPr>
        <p:spPr>
          <a:xfrm>
            <a:off x="635000" y="6057840"/>
            <a:ext cx="10919047" cy="0"/>
          </a:xfrm>
          <a:prstGeom prst="line">
            <a:avLst/>
          </a:prstGeom>
          <a:ln w="3175">
            <a:solidFill>
              <a:srgbClr val="D9D9D9"/>
            </a:solidFill>
          </a:ln>
        </p:spPr>
        <p:style>
          <a:lnRef idx="2">
            <a:schemeClr val="accent1"/>
          </a:lnRef>
          <a:fillRef idx="0">
            <a:schemeClr val="accent1"/>
          </a:fillRef>
          <a:effectRef idx="0">
            <a:schemeClr val="accent1"/>
          </a:effectRef>
          <a:fontRef idx="minor">
            <a:schemeClr val="tx1"/>
          </a:fontRef>
        </p:style>
      </p:cxnSp>
      <p:sp>
        <p:nvSpPr>
          <p:cNvPr id="204" name="Rectangle 203"/>
          <p:cNvSpPr/>
          <p:nvPr/>
        </p:nvSpPr>
        <p:spPr>
          <a:xfrm>
            <a:off x="8034545" y="2811720"/>
            <a:ext cx="3519501" cy="822960"/>
          </a:xfrm>
          <a:prstGeom prst="rect">
            <a:avLst/>
          </a:prstGeom>
          <a:solidFill>
            <a:srgbClr val="FFFFFF"/>
          </a:solidFill>
          <a:ln w="9525">
            <a:solidFill>
              <a:srgbClr val="23323B"/>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5" name="TextBox 204"/>
          <p:cNvSpPr txBox="1"/>
          <p:nvPr/>
        </p:nvSpPr>
        <p:spPr>
          <a:xfrm>
            <a:off x="8125985" y="2857440"/>
            <a:ext cx="3336621" cy="731520"/>
          </a:xfrm>
          <a:prstGeom prst="rect">
            <a:avLst/>
          </a:prstGeom>
          <a:noFill/>
        </p:spPr>
        <p:txBody>
          <a:bodyPr wrap="square" lIns="0" rIns="0" tIns="0" bIns="0">
            <a:spAutoFit/>
          </a:bodyPr>
          <a:lstStyle/>
          <a:p>
            <a:pPr>
              <a:spcAft>
                <a:spcPts val="200"/>
              </a:spcAft>
            </a:pPr>
            <a:r>
              <a:rPr sz="900" b="1">
                <a:solidFill>
                  <a:srgbClr val="23323B"/>
                </a:solidFill>
                <a:latin typeface="Arial"/>
                <a:ea typeface="Arial"/>
              </a:rPr>
              <a:t>Definition of done (end of December)</a:t>
            </a:r>
          </a:p>
          <a:p>
            <a:pPr>
              <a:spcAft>
                <a:spcPts val="200"/>
              </a:spcAft>
            </a:pPr>
            <a:r>
              <a:rPr sz="850" b="0">
                <a:solidFill>
                  <a:srgbClr val="404040"/>
                </a:solidFill>
                <a:latin typeface="Arial"/>
                <a:ea typeface="Arial"/>
              </a:rPr>
              <a:t>① Budgets to transfer are agreed with the current owner</a:t>
            </a:r>
          </a:p>
          <a:p>
            <a:pPr>
              <a:spcAft>
                <a:spcPts val="200"/>
              </a:spcAft>
            </a:pPr>
            <a:r>
              <a:rPr sz="850" b="0">
                <a:solidFill>
                  <a:srgbClr val="404040"/>
                </a:solidFill>
                <a:latin typeface="Arial"/>
                <a:ea typeface="Arial"/>
              </a:rPr>
              <a:t>② Budgets to transfer are fully listed in the budget sheet</a:t>
            </a:r>
          </a:p>
          <a:p>
            <a:pPr>
              <a:spcAft>
                <a:spcPts val="200"/>
              </a:spcAft>
            </a:pPr>
            <a:r>
              <a:rPr sz="850" b="0">
                <a:solidFill>
                  <a:srgbClr val="404040"/>
                </a:solidFill>
                <a:latin typeface="Arial"/>
                <a:ea typeface="Arial"/>
              </a:rPr>
              <a:t>③ Handover of the related work has started</a:t>
            </a:r>
          </a:p>
        </p:txBody>
      </p:sp>
      <p:sp>
        <p:nvSpPr>
          <p:cNvPr id="206" name="Rectangle 205"/>
          <p:cNvSpPr/>
          <p:nvPr/>
        </p:nvSpPr>
        <p:spPr>
          <a:xfrm>
            <a:off x="8034545" y="3726120"/>
            <a:ext cx="3519501" cy="594360"/>
          </a:xfrm>
          <a:prstGeom prst="rect">
            <a:avLst/>
          </a:prstGeom>
          <a:solidFill>
            <a:srgbClr val="FFFFFF"/>
          </a:solidFill>
          <a:ln w="9525">
            <a:solidFill>
              <a:srgbClr val="23323B"/>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7" name="TextBox 206"/>
          <p:cNvSpPr txBox="1"/>
          <p:nvPr/>
        </p:nvSpPr>
        <p:spPr>
          <a:xfrm>
            <a:off x="8125985" y="3771840"/>
            <a:ext cx="3336621" cy="502920"/>
          </a:xfrm>
          <a:prstGeom prst="rect">
            <a:avLst/>
          </a:prstGeom>
          <a:noFill/>
        </p:spPr>
        <p:txBody>
          <a:bodyPr wrap="square" lIns="0" rIns="0" tIns="0" bIns="0">
            <a:spAutoFit/>
          </a:bodyPr>
          <a:lstStyle/>
          <a:p>
            <a:pPr>
              <a:spcAft>
                <a:spcPts val="200"/>
              </a:spcAft>
            </a:pPr>
            <a:r>
              <a:rPr sz="900" b="1">
                <a:solidFill>
                  <a:srgbClr val="23323B"/>
                </a:solidFill>
                <a:latin typeface="Arial"/>
                <a:ea typeface="Arial"/>
              </a:rPr>
              <a:t>Definition of done (end of December)</a:t>
            </a:r>
          </a:p>
          <a:p>
            <a:pPr>
              <a:spcAft>
                <a:spcPts val="200"/>
              </a:spcAft>
            </a:pPr>
            <a:r>
              <a:rPr sz="850" b="0">
                <a:solidFill>
                  <a:srgbClr val="404040"/>
                </a:solidFill>
                <a:latin typeface="Arial"/>
                <a:ea typeface="Arial"/>
              </a:rPr>
              <a:t>① Assets to transfer and their timing are identified</a:t>
            </a:r>
          </a:p>
          <a:p>
            <a:pPr>
              <a:spcAft>
                <a:spcPts val="200"/>
              </a:spcAft>
            </a:pPr>
            <a:r>
              <a:rPr sz="850" b="0">
                <a:solidFill>
                  <a:srgbClr val="404040"/>
                </a:solidFill>
                <a:latin typeface="Arial"/>
                <a:ea typeface="Arial"/>
              </a:rPr>
              <a:t>② Treatment of these assets from next year is understood</a:t>
            </a:r>
          </a:p>
        </p:txBody>
      </p:sp>
      <p:sp>
        <p:nvSpPr>
          <p:cNvPr id="208" name="Rectangle 207"/>
          <p:cNvSpPr/>
          <p:nvPr/>
        </p:nvSpPr>
        <p:spPr>
          <a:xfrm>
            <a:off x="8854327" y="4731960"/>
            <a:ext cx="2699719" cy="1051560"/>
          </a:xfrm>
          <a:prstGeom prst="rect">
            <a:avLst/>
          </a:prstGeom>
          <a:solidFill>
            <a:srgbClr val="FFFFFF"/>
          </a:solidFill>
          <a:ln w="9525">
            <a:solidFill>
              <a:srgbClr val="23323B"/>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9" name="TextBox 208"/>
          <p:cNvSpPr txBox="1"/>
          <p:nvPr/>
        </p:nvSpPr>
        <p:spPr>
          <a:xfrm>
            <a:off x="8945767" y="4777680"/>
            <a:ext cx="2516839" cy="960120"/>
          </a:xfrm>
          <a:prstGeom prst="rect">
            <a:avLst/>
          </a:prstGeom>
          <a:noFill/>
        </p:spPr>
        <p:txBody>
          <a:bodyPr wrap="square" lIns="0" rIns="0" tIns="0" bIns="0">
            <a:spAutoFit/>
          </a:bodyPr>
          <a:lstStyle/>
          <a:p>
            <a:pPr>
              <a:spcAft>
                <a:spcPts val="200"/>
              </a:spcAft>
            </a:pPr>
            <a:r>
              <a:rPr sz="900" b="1">
                <a:solidFill>
                  <a:srgbClr val="23323B"/>
                </a:solidFill>
                <a:latin typeface="Arial"/>
                <a:ea typeface="Arial"/>
              </a:rPr>
              <a:t>Definition of done (end of December)</a:t>
            </a:r>
          </a:p>
          <a:p>
            <a:pPr>
              <a:spcAft>
                <a:spcPts val="200"/>
              </a:spcAft>
            </a:pPr>
            <a:r>
              <a:rPr sz="850" b="0">
                <a:solidFill>
                  <a:srgbClr val="404040"/>
                </a:solidFill>
                <a:latin typeface="Arial"/>
                <a:ea typeface="Arial"/>
              </a:rPr>
              <a:t>① Transfer approval is granted</a:t>
            </a:r>
          </a:p>
          <a:p>
            <a:pPr>
              <a:spcAft>
                <a:spcPts val="200"/>
              </a:spcAft>
            </a:pPr>
            <a:r>
              <a:rPr sz="850" b="0">
                <a:solidFill>
                  <a:srgbClr val="404040"/>
                </a:solidFill>
                <a:latin typeface="Arial"/>
                <a:ea typeface="Arial"/>
              </a:rPr>
              <a:t>② Result is shared with Assigned BPs</a:t>
            </a:r>
          </a:p>
          <a:p>
            <a:pPr>
              <a:spcAft>
                <a:spcPts val="200"/>
              </a:spcAft>
            </a:pPr>
            <a:r>
              <a:rPr sz="850" b="0">
                <a:solidFill>
                  <a:srgbClr val="404040"/>
                </a:solidFill>
                <a:latin typeface="Arial"/>
                <a:ea typeface="Arial"/>
              </a:rPr>
              <a:t>③ Fixed asset transfer has started</a:t>
            </a:r>
          </a:p>
        </p:txBody>
      </p:sp>
      <p:sp>
        <p:nvSpPr>
          <p:cNvPr id="210" name="TextBox 209"/>
          <p:cNvSpPr txBox="1"/>
          <p:nvPr/>
        </p:nvSpPr>
        <p:spPr>
          <a:xfrm>
            <a:off x="635000" y="889000"/>
            <a:ext cx="10922000" cy="560000"/>
          </a:xfrm>
          <a:prstGeom prst="rect">
            <a:avLst/>
          </a:prstGeom>
          <a:noFill/>
        </p:spPr>
        <p:txBody>
          <a:bodyPr wrap="square" lIns="0" rIns="0" tIns="0" bIns="0">
            <a:spAutoFit/>
          </a:bodyPr>
          <a:lstStyle/>
          <a:p>
            <a:r>
              <a:rPr sz="1400" b="1">
                <a:solidFill>
                  <a:srgbClr val="404040"/>
                </a:solidFill>
                <a:latin typeface="Arial"/>
                <a:ea typeface="Arial"/>
              </a:rPr>
              <a:t>Orders needed this year can proceed where possible, without waiting for the transfer</a:t>
            </a:r>
          </a:p>
          <a:p>
            <a:r>
              <a:rPr sz="1400" b="1">
                <a:solidFill>
                  <a:srgbClr val="404040"/>
                </a:solidFill>
                <a:latin typeface="Arial"/>
                <a:ea typeface="Arial"/>
              </a:rPr>
              <a:t>Contract name changes can be made at a suitable time; they need not coincide with the transfer</a:t>
            </a: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302" name="it-region"/>
          <p:cNvSpPr/>
          <p:nvPr/>
        </p:nvSpPr>
        <p:spPr>
          <a:xfrm>
            <a:off x="1060704" y="2600528"/>
            <a:ext cx="10058400" cy="2105856"/>
          </a:xfrm>
          <a:prstGeom prst="roundRect">
            <a:avLst>
              <a:gd name="adj" fmla="val 6000"/>
            </a:avLst>
          </a:prstGeom>
          <a:solidFill>
            <a:srgbClr val="D3DFEA"/>
          </a:solidFill>
          <a:ln w="12700">
            <a:solidFill>
              <a:srgbClr val="23323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3" name="Google Shape;203;p10"/>
          <p:cNvSpPr txBox="1"/>
          <p:nvPr>
            <p:ph type="title"/>
          </p:nvPr>
        </p:nvSpPr>
        <p:spPr>
          <a:xfrm>
            <a:off x="635000" y="406400"/>
            <a:ext cx="10922000" cy="43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23323B"/>
              </a:buClr>
              <a:buSzPts val="2600"/>
              <a:buFont typeface="Arial"/>
              <a:buNone/>
            </a:pPr>
            <a:r>
              <a:rPr b="1" lang="en-US" sz="2400">
                <a:solidFill>
                  <a:srgbClr val="23323B"/>
                </a:solidFill>
              </a:rPr>
              <a:t>Roles After the Transfer (RACI)</a:t>
            </a:r>
            <a:endParaRPr sz="2400" b="1">
              <a:solidFill>
                <a:srgbClr val="23323B"/>
              </a:solidFill>
            </a:endParaRPr>
          </a:p>
        </p:txBody>
      </p:sp>
      <p:sp>
        <p:nvSpPr>
          <p:cNvPr id="204" name="Google Shape;204;p10"/>
          <p:cNvSpPr txBox="1"/>
          <p:nvPr/>
        </p:nvSpPr>
        <p:spPr>
          <a:xfrm>
            <a:off x="635000" y="889000"/>
            <a:ext cx="10922000"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3323B"/>
              </a:buClr>
              <a:buSzPts val="1400"/>
              <a:buFont typeface="Arial"/>
              <a:buNone/>
            </a:pPr>
            <a:r>
              <a:rPr b="1" i="0" lang="en-US" sz="1400" u="none" cap="none" strike="noStrike">
                <a:solidFill>
                  <a:srgbClr val="404040"/>
                </a:solidFill>
                <a:latin typeface="Arial"/>
                <a:ea typeface="Arial"/>
                <a:cs typeface="Arial"/>
                <a:sym typeface="Arial"/>
              </a:rPr>
              <a:t>In the IT domain, GDS and the Functions work together, with GDS leading to balance enterprise-wide and local needs</a:t>
            </a:r>
            <a:endParaRPr b="1" i="0" sz="1400" u="none" cap="none" strike="noStrike">
              <a:solidFill>
                <a:srgbClr val="404040"/>
              </a:solidFill>
              <a:latin typeface="Arial"/>
              <a:ea typeface="Arial"/>
              <a:cs typeface="Arial"/>
              <a:sym typeface="Arial"/>
            </a:endParaRPr>
          </a:p>
          <a:p>
            <a:pPr indent="0" lvl="0" marL="0" marR="0" rtl="0" algn="l">
              <a:spcBef>
                <a:spcPts val="0"/>
              </a:spcBef>
              <a:spcAft>
                <a:spcPts val="0"/>
              </a:spcAft>
              <a:buClr>
                <a:srgbClr val="23323B"/>
              </a:buClr>
              <a:buSzPts val="1400"/>
              <a:buFont typeface="Arial"/>
              <a:buNone/>
            </a:pPr>
            <a:r>
              <a:rPr b="0" i="0" lang="en-US" sz="1200" u="none" cap="none" strike="noStrike">
                <a:solidFill>
                  <a:srgbClr val="404040"/>
                </a:solidFill>
                <a:latin typeface="Arial"/>
                <a:ea typeface="Arial"/>
                <a:cs typeface="Arial"/>
                <a:sym typeface="Arial"/>
              </a:rPr>
              <a:t>Cases confined to one Function continue to be led by that Function, with GDS in support</a:t>
            </a:r>
            <a:endParaRPr b="1" i="0" sz="1400" u="none" cap="none" strike="noStrike">
              <a:solidFill>
                <a:srgbClr val="404040"/>
              </a:solidFill>
              <a:latin typeface="Arial"/>
              <a:ea typeface="Arial"/>
              <a:cs typeface="Arial"/>
              <a:sym typeface="Arial"/>
            </a:endParaRPr>
          </a:p>
        </p:txBody>
      </p:sp>
      <p:sp>
        <p:nvSpPr>
          <p:cNvPr id="249" name="Google Shape;249;p10"/>
          <p:cNvSpPr txBox="1"/>
          <p:nvPr>
            <p:ph idx="4294967295" type="sldNum"/>
          </p:nvPr>
        </p:nvSpPr>
        <p:spPr>
          <a:xfrm>
            <a:off x="10795000" y="6527800"/>
            <a:ext cx="762000" cy="152400"/>
          </a:xfrm>
          <a:prstGeom prst="rect">
            <a:avLst/>
          </a:prstGeom>
          <a:noFill/>
          <a:ln>
            <a:noFill/>
          </a:ln>
        </p:spPr>
        <p:txBody>
          <a:bodyPr anchorCtr="0" anchor="b" bIns="0" lIns="0" spcFirstLastPara="1" rIns="0" wrap="square" tIns="0">
            <a:noAutofit/>
          </a:bodyPr>
          <a:lstStyle/>
          <a:p>
            <a:pPr indent="0" lvl="0" marL="0" marR="0" rtl="0" algn="r">
              <a:spcBef>
                <a:spcPts val="0"/>
              </a:spcBef>
              <a:spcAft>
                <a:spcPts val="0"/>
              </a:spcAft>
              <a:buNone/>
            </a:pPr>
            <a:fld id="{00000000-1234-1234-1234-123412341234}" type="slidenum">
              <a:rPr b="0" i="0" lang="en-US" sz="1000" u="none" cap="none" strike="noStrike">
                <a:solidFill>
                  <a:srgbClr val="7F7F7F"/>
                </a:solidFill>
                <a:latin typeface="Arial"/>
                <a:ea typeface="Arial"/>
                <a:cs typeface="Arial"/>
                <a:sym typeface="Arial"/>
              </a:rPr>
              <a:t>‹#›</a:t>
            </a:fld>
            <a:endParaRPr b="0" i="0" sz="1000" u="none" cap="none" strike="noStrike">
              <a:solidFill>
                <a:srgbClr val="7F7F7F"/>
              </a:solidFill>
              <a:latin typeface="Arial"/>
              <a:ea typeface="Arial"/>
              <a:cs typeface="Arial"/>
              <a:sym typeface="Arial"/>
            </a:endParaRPr>
          </a:p>
        </p:txBody>
      </p:sp>
      <p:sp>
        <p:nvSpPr>
          <p:cNvPr id="250" name="act-req-arc"/>
          <p:cNvSpPr/>
          <p:nvPr/>
        </p:nvSpPr>
        <p:spPr>
          <a:xfrm>
            <a:off x="694943" y="1901951"/>
            <a:ext cx="7863840" cy="4352544"/>
          </a:xfrm>
          <a:prstGeom prst="arc">
            <a:avLst>
              <a:gd name="adj1" fmla="val 9780079"/>
              <a:gd name="adj2" fmla="val 16200000"/>
            </a:avLst>
          </a:prstGeom>
          <a:noFill/>
          <a:ln w="19050">
            <a:solidFill>
              <a:srgbClr val="7F7F7F"/>
            </a:solidFill>
            <a:head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 name="act-review-arc"/>
          <p:cNvSpPr/>
          <p:nvPr/>
        </p:nvSpPr>
        <p:spPr>
          <a:xfrm>
            <a:off x="3621024" y="1901951"/>
            <a:ext cx="7863840" cy="4352544"/>
          </a:xfrm>
          <a:prstGeom prst="arc">
            <a:avLst>
              <a:gd name="adj1" fmla="val 16200000"/>
              <a:gd name="adj2" fmla="val 1019921"/>
            </a:avLst>
          </a:prstGeom>
          <a:noFill/>
          <a:ln w="19050">
            <a:solidFill>
              <a:srgbClr val="7F7F7F"/>
            </a:solidFill>
            <a:head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52" name="act-itstrategy"/>
          <p:cNvCxnSpPr/>
          <p:nvPr/>
        </p:nvCxnSpPr>
        <p:spPr>
          <a:xfrm>
            <a:off x="6089904" y="2267712"/>
            <a:ext cx="0" cy="432816"/>
          </a:xfrm>
          <a:prstGeom prst="line">
            <a:avLst/>
          </a:prstGeom>
          <a:ln w="1905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53" name="act-policy"/>
          <p:cNvCxnSpPr/>
          <p:nvPr/>
        </p:nvCxnSpPr>
        <p:spPr>
          <a:xfrm>
            <a:off x="6089904" y="3432048"/>
            <a:ext cx="0" cy="432816"/>
          </a:xfrm>
          <a:prstGeom prst="line">
            <a:avLst/>
          </a:prstGeom>
          <a:ln w="1905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54" name="act-reqdef"/>
          <p:cNvCxnSpPr/>
          <p:nvPr/>
        </p:nvCxnSpPr>
        <p:spPr>
          <a:xfrm flipV="1">
            <a:off x="2478024" y="4596384"/>
            <a:ext cx="0" cy="432816"/>
          </a:xfrm>
          <a:prstGeom prst="line">
            <a:avLst/>
          </a:prstGeom>
          <a:ln w="1905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55" name="act-solution"/>
          <p:cNvCxnSpPr/>
          <p:nvPr/>
        </p:nvCxnSpPr>
        <p:spPr>
          <a:xfrm>
            <a:off x="3712464" y="4230624"/>
            <a:ext cx="1143000" cy="0"/>
          </a:xfrm>
          <a:prstGeom prst="line">
            <a:avLst/>
          </a:prstGeom>
          <a:ln w="1905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56" name="act-vendor"/>
          <p:cNvCxnSpPr/>
          <p:nvPr/>
        </p:nvCxnSpPr>
        <p:spPr>
          <a:xfrm>
            <a:off x="7324344" y="4230624"/>
            <a:ext cx="1143000" cy="0"/>
          </a:xfrm>
          <a:prstGeom prst="line">
            <a:avLst/>
          </a:prstGeom>
          <a:ln w="1905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57" name="act-benefit"/>
          <p:cNvCxnSpPr/>
          <p:nvPr/>
        </p:nvCxnSpPr>
        <p:spPr>
          <a:xfrm>
            <a:off x="9701784" y="4596384"/>
            <a:ext cx="0" cy="432816"/>
          </a:xfrm>
          <a:prstGeom prst="line">
            <a:avLst/>
          </a:prstGeom>
          <a:ln w="1905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8" name="act-nfr"/>
          <p:cNvSpPr/>
          <p:nvPr/>
        </p:nvSpPr>
        <p:spPr>
          <a:xfrm>
            <a:off x="2926080" y="3066288"/>
            <a:ext cx="3401567" cy="1484376"/>
          </a:xfrm>
          <a:prstGeom prst="arc">
            <a:avLst>
              <a:gd name="adj1" fmla="val 10800000"/>
              <a:gd name="adj2" fmla="val 16200000"/>
            </a:avLst>
          </a:prstGeom>
          <a:noFill/>
          <a:ln w="19050">
            <a:solidFill>
              <a:srgbClr val="7F7F7F"/>
            </a:solidFill>
            <a:head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9" name="act-sourcing"/>
          <p:cNvSpPr/>
          <p:nvPr/>
        </p:nvSpPr>
        <p:spPr>
          <a:xfrm>
            <a:off x="5852160" y="3066288"/>
            <a:ext cx="3401567" cy="1484376"/>
          </a:xfrm>
          <a:prstGeom prst="arc">
            <a:avLst>
              <a:gd name="adj1" fmla="val 16200000"/>
              <a:gd name="adj2" fmla="val 21600000"/>
            </a:avLst>
          </a:prstGeom>
          <a:noFill/>
          <a:ln w="19050">
            <a:solidFill>
              <a:srgbClr val="7F7F7F"/>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0" name="PO-Strategy"/>
          <p:cNvSpPr/>
          <p:nvPr/>
        </p:nvSpPr>
        <p:spPr>
          <a:xfrm>
            <a:off x="4626864" y="1536192"/>
            <a:ext cx="2926080" cy="731520"/>
          </a:xfrm>
          <a:prstGeom prst="rect">
            <a:avLst/>
          </a:prstGeom>
          <a:solidFill>
            <a:srgbClr val="EC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1" name="TextBox 260"/>
          <p:cNvSpPr txBox="1"/>
          <p:nvPr/>
        </p:nvSpPr>
        <p:spPr>
          <a:xfrm>
            <a:off x="4754879" y="1618488"/>
            <a:ext cx="2103120" cy="237744"/>
          </a:xfrm>
          <a:prstGeom prst="rect">
            <a:avLst/>
          </a:prstGeom>
          <a:noFill/>
        </p:spPr>
        <p:txBody>
          <a:bodyPr wrap="square" lIns="0" rIns="0" tIns="0" bIns="0" anchor="t">
            <a:spAutoFit/>
          </a:bodyPr>
          <a:lstStyle/>
          <a:p>
            <a:pPr algn="l"/>
            <a:r>
              <a:rPr sz="1150" b="1">
                <a:solidFill>
                  <a:srgbClr val="23323B"/>
                </a:solidFill>
                <a:latin typeface="Arial"/>
                <a:ea typeface="Arial"/>
              </a:rPr>
              <a:t>Business strategy</a:t>
            </a:r>
          </a:p>
        </p:txBody>
      </p:sp>
      <p:sp>
        <p:nvSpPr>
          <p:cNvPr id="262" name="Rounded Rectangle 261"/>
          <p:cNvSpPr/>
          <p:nvPr/>
        </p:nvSpPr>
        <p:spPr>
          <a:xfrm>
            <a:off x="6912863" y="1636776"/>
            <a:ext cx="512064" cy="182880"/>
          </a:xfrm>
          <a:prstGeom prst="roundRect">
            <a:avLst/>
          </a:prstGeom>
          <a:solidFill>
            <a:srgbClr val="ED560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b="1">
                <a:solidFill>
                  <a:srgbClr val="FFFFFF"/>
                </a:solidFill>
                <a:latin typeface="Arial"/>
                <a:ea typeface="Arial"/>
              </a:rPr>
              <a:t>Business</a:t>
            </a:r>
          </a:p>
        </p:txBody>
      </p:sp>
      <p:sp>
        <p:nvSpPr>
          <p:cNvPr id="263" name="TextBox 262"/>
          <p:cNvSpPr txBox="1"/>
          <p:nvPr/>
        </p:nvSpPr>
        <p:spPr>
          <a:xfrm>
            <a:off x="4754879" y="1892807"/>
            <a:ext cx="2670048" cy="292608"/>
          </a:xfrm>
          <a:prstGeom prst="rect">
            <a:avLst/>
          </a:prstGeom>
          <a:noFill/>
        </p:spPr>
        <p:txBody>
          <a:bodyPr wrap="square" lIns="0" rIns="0" tIns="0" bIns="0" anchor="t">
            <a:spAutoFit/>
          </a:bodyPr>
          <a:lstStyle/>
          <a:p>
            <a:pPr algn="l"/>
            <a:r>
              <a:rPr sz="850" b="0">
                <a:solidFill>
                  <a:srgbClr val="404040"/>
                </a:solidFill>
                <a:latin typeface="Arial"/>
                <a:ea typeface="Arial"/>
              </a:rPr>
              <a:t>Set business direction and state what IT should deliver to achieve it</a:t>
            </a:r>
          </a:p>
        </p:txBody>
      </p:sp>
      <p:sp>
        <p:nvSpPr>
          <p:cNvPr id="264" name="SO-Strategy"/>
          <p:cNvSpPr/>
          <p:nvPr/>
        </p:nvSpPr>
        <p:spPr>
          <a:xfrm>
            <a:off x="4626864" y="2700528"/>
            <a:ext cx="2926080" cy="731520"/>
          </a:xfrm>
          <a:prstGeom prst="rect">
            <a:avLst/>
          </a:prstGeom>
          <a:solidFill>
            <a:srgbClr val="2332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5" name="TextBox 264"/>
          <p:cNvSpPr txBox="1"/>
          <p:nvPr/>
        </p:nvSpPr>
        <p:spPr>
          <a:xfrm>
            <a:off x="4754879" y="2782824"/>
            <a:ext cx="2103120" cy="237744"/>
          </a:xfrm>
          <a:prstGeom prst="rect">
            <a:avLst/>
          </a:prstGeom>
          <a:noFill/>
        </p:spPr>
        <p:txBody>
          <a:bodyPr wrap="square" lIns="0" rIns="0" tIns="0" bIns="0" anchor="t">
            <a:spAutoFit/>
          </a:bodyPr>
          <a:lstStyle/>
          <a:p>
            <a:pPr algn="l"/>
            <a:r>
              <a:rPr sz="1150" b="1">
                <a:solidFill>
                  <a:srgbClr val="FFFFFF"/>
                </a:solidFill>
                <a:latin typeface="Arial"/>
                <a:ea typeface="Arial"/>
              </a:rPr>
              <a:t>IT strategy</a:t>
            </a:r>
          </a:p>
        </p:txBody>
      </p:sp>
      <p:sp>
        <p:nvSpPr>
          <p:cNvPr id="266" name="Rounded Rectangle 265"/>
          <p:cNvSpPr/>
          <p:nvPr/>
        </p:nvSpPr>
        <p:spPr>
          <a:xfrm>
            <a:off x="6912863" y="2801112"/>
            <a:ext cx="512064" cy="182880"/>
          </a:xfrm>
          <a:prstGeom prst="roundRect">
            <a:avLst/>
          </a:prstGeom>
          <a:solidFill>
            <a:srgbClr val="D0D5D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b="1">
                <a:solidFill>
                  <a:srgbClr val="23323B"/>
                </a:solidFill>
                <a:latin typeface="Arial"/>
                <a:ea typeface="Arial"/>
              </a:rPr>
              <a:t>IT-led</a:t>
            </a:r>
          </a:p>
        </p:txBody>
      </p:sp>
      <p:sp>
        <p:nvSpPr>
          <p:cNvPr id="267" name="TextBox 266"/>
          <p:cNvSpPr txBox="1"/>
          <p:nvPr/>
        </p:nvSpPr>
        <p:spPr>
          <a:xfrm>
            <a:off x="4754879" y="3057144"/>
            <a:ext cx="2670048" cy="292608"/>
          </a:xfrm>
          <a:prstGeom prst="rect">
            <a:avLst/>
          </a:prstGeom>
          <a:noFill/>
        </p:spPr>
        <p:txBody>
          <a:bodyPr wrap="square" lIns="0" rIns="0" tIns="0" bIns="0" anchor="t">
            <a:spAutoFit/>
          </a:bodyPr>
          <a:lstStyle/>
          <a:p>
            <a:pPr algn="l"/>
            <a:r>
              <a:rPr sz="850" b="0">
                <a:solidFill>
                  <a:srgbClr val="FFFFFF"/>
                </a:solidFill>
                <a:latin typeface="Arial"/>
                <a:ea typeface="Arial"/>
              </a:rPr>
              <a:t>Set IT investment policy and enterprise platforms to realize the business direction</a:t>
            </a:r>
          </a:p>
        </p:txBody>
      </p:sp>
      <p:sp>
        <p:nvSpPr>
          <p:cNvPr id="268" name="SO-SysReq"/>
          <p:cNvSpPr/>
          <p:nvPr/>
        </p:nvSpPr>
        <p:spPr>
          <a:xfrm>
            <a:off x="1243584" y="3864864"/>
            <a:ext cx="2468880" cy="731520"/>
          </a:xfrm>
          <a:prstGeom prst="rect">
            <a:avLst/>
          </a:prstGeom>
          <a:solidFill>
            <a:srgbClr val="2332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9" name="TextBox 268"/>
          <p:cNvSpPr txBox="1"/>
          <p:nvPr/>
        </p:nvSpPr>
        <p:spPr>
          <a:xfrm>
            <a:off x="1371600" y="3947160"/>
            <a:ext cx="1645920" cy="237744"/>
          </a:xfrm>
          <a:prstGeom prst="rect">
            <a:avLst/>
          </a:prstGeom>
          <a:noFill/>
        </p:spPr>
        <p:txBody>
          <a:bodyPr wrap="none" lIns="0" rIns="0" tIns="0" bIns="0" anchor="t">
            <a:spAutoFit/>
          </a:bodyPr>
          <a:lstStyle/>
          <a:p>
            <a:pPr algn="l"/>
            <a:r>
              <a:rPr sz="1150" b="1">
                <a:solidFill>
                  <a:srgbClr val="FFFFFF"/>
                </a:solidFill>
                <a:latin typeface="Arial"/>
                <a:ea typeface="Arial"/>
              </a:rPr>
              <a:t>System requirements</a:t>
            </a:r>
          </a:p>
        </p:txBody>
      </p:sp>
      <p:sp>
        <p:nvSpPr>
          <p:cNvPr id="270" name="Rounded Rectangle 269"/>
          <p:cNvSpPr/>
          <p:nvPr/>
        </p:nvSpPr>
        <p:spPr>
          <a:xfrm>
            <a:off x="3072384" y="3965448"/>
            <a:ext cx="512064" cy="182880"/>
          </a:xfrm>
          <a:prstGeom prst="roundRect">
            <a:avLst/>
          </a:prstGeom>
          <a:solidFill>
            <a:srgbClr val="D0D5D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b="1">
                <a:solidFill>
                  <a:srgbClr val="23323B"/>
                </a:solidFill>
                <a:latin typeface="Arial"/>
                <a:ea typeface="Arial"/>
              </a:rPr>
              <a:t>IT-led</a:t>
            </a:r>
          </a:p>
        </p:txBody>
      </p:sp>
      <p:sp>
        <p:nvSpPr>
          <p:cNvPr id="271" name="TextBox 270"/>
          <p:cNvSpPr txBox="1"/>
          <p:nvPr/>
        </p:nvSpPr>
        <p:spPr>
          <a:xfrm>
            <a:off x="1371600" y="4221480"/>
            <a:ext cx="2212848" cy="292608"/>
          </a:xfrm>
          <a:prstGeom prst="rect">
            <a:avLst/>
          </a:prstGeom>
          <a:noFill/>
        </p:spPr>
        <p:txBody>
          <a:bodyPr wrap="square" lIns="0" rIns="0" tIns="0" bIns="0" anchor="t">
            <a:spAutoFit/>
          </a:bodyPr>
          <a:lstStyle/>
          <a:p>
            <a:pPr algn="l"/>
            <a:r>
              <a:rPr sz="850" b="0">
                <a:solidFill>
                  <a:srgbClr val="FFFFFF"/>
                </a:solidFill>
                <a:latin typeface="Arial"/>
                <a:ea typeface="Arial"/>
              </a:rPr>
              <a:t>Define functional, non-functional and transition requirements</a:t>
            </a:r>
          </a:p>
        </p:txBody>
      </p:sp>
      <p:sp>
        <p:nvSpPr>
          <p:cNvPr id="272" name="SO-Solution"/>
          <p:cNvSpPr/>
          <p:nvPr/>
        </p:nvSpPr>
        <p:spPr>
          <a:xfrm>
            <a:off x="4855464" y="3864864"/>
            <a:ext cx="2468880" cy="731520"/>
          </a:xfrm>
          <a:prstGeom prst="rect">
            <a:avLst/>
          </a:prstGeom>
          <a:solidFill>
            <a:srgbClr val="2332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3" name="TextBox 272"/>
          <p:cNvSpPr txBox="1"/>
          <p:nvPr/>
        </p:nvSpPr>
        <p:spPr>
          <a:xfrm>
            <a:off x="4983479" y="3947160"/>
            <a:ext cx="1645920" cy="237744"/>
          </a:xfrm>
          <a:prstGeom prst="rect">
            <a:avLst/>
          </a:prstGeom>
          <a:noFill/>
        </p:spPr>
        <p:txBody>
          <a:bodyPr wrap="square" lIns="0" rIns="0" tIns="0" bIns="0" anchor="t">
            <a:spAutoFit/>
          </a:bodyPr>
          <a:lstStyle/>
          <a:p>
            <a:pPr algn="l"/>
            <a:r>
              <a:rPr sz="1150" b="1">
                <a:solidFill>
                  <a:srgbClr val="FFFFFF"/>
                </a:solidFill>
                <a:latin typeface="Arial"/>
                <a:ea typeface="Arial"/>
              </a:rPr>
              <a:t>Solution</a:t>
            </a:r>
          </a:p>
        </p:txBody>
      </p:sp>
      <p:sp>
        <p:nvSpPr>
          <p:cNvPr id="274" name="Rounded Rectangle 273"/>
          <p:cNvSpPr/>
          <p:nvPr/>
        </p:nvSpPr>
        <p:spPr>
          <a:xfrm>
            <a:off x="6684264" y="3965448"/>
            <a:ext cx="512064" cy="182880"/>
          </a:xfrm>
          <a:prstGeom prst="roundRect">
            <a:avLst/>
          </a:prstGeom>
          <a:solidFill>
            <a:srgbClr val="D0D5D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b="1">
                <a:solidFill>
                  <a:srgbClr val="23323B"/>
                </a:solidFill>
                <a:latin typeface="Arial"/>
                <a:ea typeface="Arial"/>
              </a:rPr>
              <a:t>IT-led</a:t>
            </a:r>
          </a:p>
        </p:txBody>
      </p:sp>
      <p:sp>
        <p:nvSpPr>
          <p:cNvPr id="275" name="TextBox 274"/>
          <p:cNvSpPr txBox="1"/>
          <p:nvPr/>
        </p:nvSpPr>
        <p:spPr>
          <a:xfrm>
            <a:off x="4983479" y="4221480"/>
            <a:ext cx="2212848" cy="292608"/>
          </a:xfrm>
          <a:prstGeom prst="rect">
            <a:avLst/>
          </a:prstGeom>
          <a:noFill/>
        </p:spPr>
        <p:txBody>
          <a:bodyPr wrap="square" lIns="0" rIns="0" tIns="0" bIns="0" anchor="t">
            <a:spAutoFit/>
          </a:bodyPr>
          <a:lstStyle/>
          <a:p>
            <a:pPr algn="l"/>
            <a:r>
              <a:rPr sz="850" b="0">
                <a:solidFill>
                  <a:srgbClr val="FFFFFF"/>
                </a:solidFill>
                <a:latin typeface="Arial"/>
                <a:ea typeface="Arial"/>
              </a:rPr>
              <a:t>Choose the means (SaaS, package, custom build) that fits requirements and policy</a:t>
            </a:r>
          </a:p>
        </p:txBody>
      </p:sp>
      <p:sp>
        <p:nvSpPr>
          <p:cNvPr id="276" name="SO-Vendor"/>
          <p:cNvSpPr/>
          <p:nvPr/>
        </p:nvSpPr>
        <p:spPr>
          <a:xfrm>
            <a:off x="8467344" y="3864864"/>
            <a:ext cx="2468880" cy="731520"/>
          </a:xfrm>
          <a:prstGeom prst="rect">
            <a:avLst/>
          </a:prstGeom>
          <a:solidFill>
            <a:srgbClr val="2332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7" name="TextBox 276"/>
          <p:cNvSpPr txBox="1"/>
          <p:nvPr/>
        </p:nvSpPr>
        <p:spPr>
          <a:xfrm>
            <a:off x="8595360" y="3947160"/>
            <a:ext cx="1645920" cy="237744"/>
          </a:xfrm>
          <a:prstGeom prst="rect">
            <a:avLst/>
          </a:prstGeom>
          <a:noFill/>
        </p:spPr>
        <p:txBody>
          <a:bodyPr wrap="square" lIns="0" rIns="0" tIns="0" bIns="0" anchor="t">
            <a:spAutoFit/>
          </a:bodyPr>
          <a:lstStyle/>
          <a:p>
            <a:pPr algn="l"/>
            <a:r>
              <a:rPr sz="1150" b="1">
                <a:solidFill>
                  <a:srgbClr val="FFFFFF"/>
                </a:solidFill>
                <a:latin typeface="Arial"/>
                <a:ea typeface="Arial"/>
              </a:rPr>
              <a:t>Vendor</a:t>
            </a:r>
          </a:p>
        </p:txBody>
      </p:sp>
      <p:sp>
        <p:nvSpPr>
          <p:cNvPr id="278" name="Rounded Rectangle 277"/>
          <p:cNvSpPr/>
          <p:nvPr/>
        </p:nvSpPr>
        <p:spPr>
          <a:xfrm>
            <a:off x="10296144" y="3965448"/>
            <a:ext cx="512064" cy="182880"/>
          </a:xfrm>
          <a:prstGeom prst="roundRect">
            <a:avLst/>
          </a:prstGeom>
          <a:solidFill>
            <a:srgbClr val="D0D5D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b="1">
                <a:solidFill>
                  <a:srgbClr val="23323B"/>
                </a:solidFill>
                <a:latin typeface="Arial"/>
                <a:ea typeface="Arial"/>
              </a:rPr>
              <a:t>IT-led</a:t>
            </a:r>
          </a:p>
        </p:txBody>
      </p:sp>
      <p:sp>
        <p:nvSpPr>
          <p:cNvPr id="279" name="TextBox 278"/>
          <p:cNvSpPr txBox="1"/>
          <p:nvPr/>
        </p:nvSpPr>
        <p:spPr>
          <a:xfrm>
            <a:off x="8595360" y="4221480"/>
            <a:ext cx="2212848" cy="292608"/>
          </a:xfrm>
          <a:prstGeom prst="rect">
            <a:avLst/>
          </a:prstGeom>
          <a:noFill/>
        </p:spPr>
        <p:txBody>
          <a:bodyPr wrap="square" lIns="0" rIns="0" tIns="0" bIns="0" anchor="t">
            <a:spAutoFit/>
          </a:bodyPr>
          <a:lstStyle/>
          <a:p>
            <a:pPr algn="l"/>
            <a:r>
              <a:rPr sz="850" b="0">
                <a:solidFill>
                  <a:srgbClr val="FFFFFF"/>
                </a:solidFill>
                <a:latin typeface="Arial"/>
                <a:ea typeface="Arial"/>
              </a:rPr>
              <a:t>Compare proposals and quotes to choose suppliers; manage performance and risk</a:t>
            </a:r>
          </a:p>
        </p:txBody>
      </p:sp>
      <p:sp>
        <p:nvSpPr>
          <p:cNvPr id="280" name="PO-BizReq"/>
          <p:cNvSpPr/>
          <p:nvPr/>
        </p:nvSpPr>
        <p:spPr>
          <a:xfrm>
            <a:off x="1243584" y="5029200"/>
            <a:ext cx="2468880" cy="731520"/>
          </a:xfrm>
          <a:prstGeom prst="rect">
            <a:avLst/>
          </a:prstGeom>
          <a:solidFill>
            <a:srgbClr val="EC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1" name="TextBox 280"/>
          <p:cNvSpPr txBox="1"/>
          <p:nvPr/>
        </p:nvSpPr>
        <p:spPr>
          <a:xfrm>
            <a:off x="1371600" y="5111496"/>
            <a:ext cx="1645920" cy="237744"/>
          </a:xfrm>
          <a:prstGeom prst="rect">
            <a:avLst/>
          </a:prstGeom>
          <a:noFill/>
        </p:spPr>
        <p:txBody>
          <a:bodyPr wrap="none" lIns="0" rIns="0" tIns="0" bIns="0" anchor="t">
            <a:spAutoFit/>
          </a:bodyPr>
          <a:lstStyle/>
          <a:p>
            <a:pPr algn="l"/>
            <a:r>
              <a:rPr sz="1150" b="1">
                <a:solidFill>
                  <a:srgbClr val="23323B"/>
                </a:solidFill>
                <a:latin typeface="Arial"/>
                <a:ea typeface="Arial"/>
              </a:rPr>
              <a:t>Business requirements</a:t>
            </a:r>
          </a:p>
        </p:txBody>
      </p:sp>
      <p:sp>
        <p:nvSpPr>
          <p:cNvPr id="282" name="Rounded Rectangle 281"/>
          <p:cNvSpPr/>
          <p:nvPr/>
        </p:nvSpPr>
        <p:spPr>
          <a:xfrm>
            <a:off x="3072384" y="5129784"/>
            <a:ext cx="512064" cy="182880"/>
          </a:xfrm>
          <a:prstGeom prst="roundRect">
            <a:avLst/>
          </a:prstGeom>
          <a:solidFill>
            <a:srgbClr val="ED560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b="1">
                <a:solidFill>
                  <a:srgbClr val="FFFFFF"/>
                </a:solidFill>
                <a:latin typeface="Arial"/>
                <a:ea typeface="Arial"/>
              </a:rPr>
              <a:t>Business</a:t>
            </a:r>
          </a:p>
        </p:txBody>
      </p:sp>
      <p:sp>
        <p:nvSpPr>
          <p:cNvPr id="283" name="TextBox 282"/>
          <p:cNvSpPr txBox="1"/>
          <p:nvPr/>
        </p:nvSpPr>
        <p:spPr>
          <a:xfrm>
            <a:off x="1371600" y="5385815"/>
            <a:ext cx="2212848" cy="292608"/>
          </a:xfrm>
          <a:prstGeom prst="rect">
            <a:avLst/>
          </a:prstGeom>
          <a:noFill/>
        </p:spPr>
        <p:txBody>
          <a:bodyPr wrap="square" lIns="0" rIns="0" tIns="0" bIns="0" anchor="t">
            <a:spAutoFit/>
          </a:bodyPr>
          <a:lstStyle/>
          <a:p>
            <a:pPr algn="l"/>
            <a:r>
              <a:rPr sz="850" b="0">
                <a:solidFill>
                  <a:srgbClr val="404040"/>
                </a:solidFill>
                <a:latin typeface="Arial"/>
                <a:ea typeface="Arial"/>
              </a:rPr>
              <a:t>Clarify desired business outcomes; set requirements and priorities</a:t>
            </a:r>
          </a:p>
        </p:txBody>
      </p:sp>
      <p:sp>
        <p:nvSpPr>
          <p:cNvPr id="284" name="PO-Benefits"/>
          <p:cNvSpPr/>
          <p:nvPr/>
        </p:nvSpPr>
        <p:spPr>
          <a:xfrm>
            <a:off x="8467344" y="5029200"/>
            <a:ext cx="2468880" cy="731520"/>
          </a:xfrm>
          <a:prstGeom prst="rect">
            <a:avLst/>
          </a:prstGeom>
          <a:solidFill>
            <a:srgbClr val="EC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5" name="TextBox 284"/>
          <p:cNvSpPr txBox="1"/>
          <p:nvPr/>
        </p:nvSpPr>
        <p:spPr>
          <a:xfrm>
            <a:off x="8595360" y="5111496"/>
            <a:ext cx="1645920" cy="237744"/>
          </a:xfrm>
          <a:prstGeom prst="rect">
            <a:avLst/>
          </a:prstGeom>
          <a:noFill/>
        </p:spPr>
        <p:txBody>
          <a:bodyPr wrap="square" lIns="0" rIns="0" tIns="0" bIns="0" anchor="t">
            <a:spAutoFit/>
          </a:bodyPr>
          <a:lstStyle/>
          <a:p>
            <a:pPr algn="l"/>
            <a:r>
              <a:rPr sz="1150" b="1">
                <a:solidFill>
                  <a:srgbClr val="23323B"/>
                </a:solidFill>
                <a:latin typeface="Arial"/>
                <a:ea typeface="Arial"/>
              </a:rPr>
              <a:t>Business benefits</a:t>
            </a:r>
          </a:p>
        </p:txBody>
      </p:sp>
      <p:sp>
        <p:nvSpPr>
          <p:cNvPr id="286" name="Rounded Rectangle 285"/>
          <p:cNvSpPr/>
          <p:nvPr/>
        </p:nvSpPr>
        <p:spPr>
          <a:xfrm>
            <a:off x="10296144" y="5129784"/>
            <a:ext cx="512064" cy="182880"/>
          </a:xfrm>
          <a:prstGeom prst="roundRect">
            <a:avLst/>
          </a:prstGeom>
          <a:solidFill>
            <a:srgbClr val="ED560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b="1">
                <a:solidFill>
                  <a:srgbClr val="FFFFFF"/>
                </a:solidFill>
                <a:latin typeface="Arial"/>
                <a:ea typeface="Arial"/>
              </a:rPr>
              <a:t>Business</a:t>
            </a:r>
          </a:p>
        </p:txBody>
      </p:sp>
      <p:sp>
        <p:nvSpPr>
          <p:cNvPr id="287" name="TextBox 286"/>
          <p:cNvSpPr txBox="1"/>
          <p:nvPr/>
        </p:nvSpPr>
        <p:spPr>
          <a:xfrm>
            <a:off x="8595360" y="5385815"/>
            <a:ext cx="2212848" cy="292608"/>
          </a:xfrm>
          <a:prstGeom prst="rect">
            <a:avLst/>
          </a:prstGeom>
          <a:noFill/>
        </p:spPr>
        <p:txBody>
          <a:bodyPr wrap="square" lIns="0" rIns="0" tIns="0" bIns="0" anchor="t">
            <a:spAutoFit/>
          </a:bodyPr>
          <a:lstStyle/>
          <a:p>
            <a:pPr algn="l"/>
            <a:r>
              <a:rPr sz="850" b="0">
                <a:solidFill>
                  <a:srgbClr val="404040"/>
                </a:solidFill>
                <a:latin typeface="Arial"/>
                <a:ea typeface="Arial"/>
              </a:rPr>
              <a:t>Measure KPI results to confirm benefits and identify blockers</a:t>
            </a:r>
          </a:p>
        </p:txBody>
      </p:sp>
      <p:sp>
        <p:nvSpPr>
          <p:cNvPr id="288" name="lbl-req"/>
          <p:cNvSpPr/>
          <p:nvPr/>
        </p:nvSpPr>
        <p:spPr>
          <a:xfrm>
            <a:off x="210000" y="4738560"/>
            <a:ext cx="1100000" cy="182880"/>
          </a:xfrm>
          <a:prstGeom prst="rect">
            <a:avLst/>
          </a:prstGeom>
          <a:solidFill>
            <a:srgbClr val="FFFFFF"/>
          </a:solidFill>
          <a:ln>
            <a:noFill/>
          </a:ln>
          <a:effectLst/>
        </p:spPr>
        <p:txBody>
          <a:bodyPr rtlCol="0" anchor="ctr" lIns="0" rIns="0" tIns="0" bIns="0" wrap="none"/>
          <a:lstStyle/>
          <a:p>
            <a:pPr algn="ctr"/>
            <a:r>
              <a:rPr sz="850" b="1">
                <a:solidFill>
                  <a:srgbClr val="23323B"/>
                </a:solidFill>
                <a:latin typeface="Arial"/>
                <a:ea typeface="Arial"/>
              </a:rPr>
              <a:t>Direction &amp; issues</a:t>
            </a:r>
          </a:p>
        </p:txBody>
      </p:sp>
      <p:sp>
        <p:nvSpPr>
          <p:cNvPr id="289" name="lbl-review"/>
          <p:cNvSpPr/>
          <p:nvPr/>
        </p:nvSpPr>
        <p:spPr>
          <a:xfrm>
            <a:off x="11120000" y="4738560"/>
            <a:ext cx="660000" cy="182880"/>
          </a:xfrm>
          <a:prstGeom prst="rect">
            <a:avLst/>
          </a:prstGeom>
          <a:solidFill>
            <a:srgbClr val="FFFFFF"/>
          </a:solidFill>
          <a:ln>
            <a:noFill/>
          </a:ln>
          <a:effectLst/>
        </p:spPr>
        <p:txBody>
          <a:bodyPr rtlCol="0" anchor="ctr" lIns="0" rIns="0" tIns="0" bIns="0" wrap="none"/>
          <a:lstStyle/>
          <a:p>
            <a:pPr algn="ctr"/>
            <a:r>
              <a:rPr sz="850" b="1">
                <a:solidFill>
                  <a:srgbClr val="23323B"/>
                </a:solidFill>
                <a:latin typeface="Arial"/>
                <a:ea typeface="Arial"/>
              </a:rPr>
              <a:t>KPI results</a:t>
            </a:r>
          </a:p>
        </p:txBody>
      </p:sp>
      <p:sp>
        <p:nvSpPr>
          <p:cNvPr id="290" name="lbl-itstrategy"/>
          <p:cNvSpPr/>
          <p:nvPr/>
        </p:nvSpPr>
        <p:spPr>
          <a:xfrm>
            <a:off x="5729903" y="2392680"/>
            <a:ext cx="720000" cy="182880"/>
          </a:xfrm>
          <a:prstGeom prst="rect">
            <a:avLst/>
          </a:prstGeom>
          <a:solidFill>
            <a:srgbClr val="FFFFFF"/>
          </a:solidFill>
          <a:ln>
            <a:noFill/>
          </a:ln>
          <a:effectLst/>
        </p:spPr>
        <p:txBody>
          <a:bodyPr rtlCol="0" anchor="ctr" lIns="0" rIns="0" tIns="0" bIns="0" wrap="none"/>
          <a:lstStyle/>
          <a:p>
            <a:pPr algn="ctr"/>
            <a:r>
              <a:rPr sz="850" b="1">
                <a:solidFill>
                  <a:srgbClr val="23323B"/>
                </a:solidFill>
                <a:latin typeface="Arial"/>
                <a:ea typeface="Arial"/>
              </a:rPr>
              <a:t>Expectations of IT</a:t>
            </a:r>
          </a:p>
        </p:txBody>
      </p:sp>
      <p:sp>
        <p:nvSpPr>
          <p:cNvPr id="291" name="lbl-policy"/>
          <p:cNvSpPr/>
          <p:nvPr/>
        </p:nvSpPr>
        <p:spPr>
          <a:xfrm>
            <a:off x="4824904" y="3478454"/>
            <a:ext cx="2530000" cy="340000"/>
          </a:xfrm>
          <a:prstGeom prst="rect">
            <a:avLst/>
          </a:prstGeom>
          <a:solidFill>
            <a:srgbClr val="D3DFEA"/>
          </a:solidFill>
          <a:ln>
            <a:noFill/>
          </a:ln>
          <a:effectLst/>
        </p:spPr>
        <p:txBody>
          <a:bodyPr rtlCol="0" anchor="ctr" lIns="0" rIns="0" tIns="0" bIns="0" wrap="none"/>
          <a:lstStyle/>
          <a:p>
            <a:pPr algn="ctr"/>
            <a:r>
              <a:rPr sz="850" b="1">
                <a:solidFill>
                  <a:srgbClr val="23323B"/>
                </a:solidFill>
                <a:latin typeface="Arial"/>
                <a:ea typeface="Arial"/>
              </a:rPr>
              <a:t>Architecture policy</a:t>
            </a:r>
          </a:p>
          <a:p>
            <a:pPr algn="ctr"/>
            <a:r>
              <a:rPr sz="850" b="1">
                <a:solidFill>
                  <a:srgbClr val="23323B"/>
                </a:solidFill>
                <a:latin typeface="Arial"/>
                <a:ea typeface="Arial"/>
              </a:rPr>
              <a:t>(technology, data, security)</a:t>
            </a:r>
          </a:p>
        </p:txBody>
      </p:sp>
      <p:sp>
        <p:nvSpPr>
          <p:cNvPr id="292" name="lbl-reqdef"/>
          <p:cNvSpPr/>
          <p:nvPr/>
        </p:nvSpPr>
        <p:spPr>
          <a:xfrm>
            <a:off x="1863023" y="4721352"/>
            <a:ext cx="1230000" cy="182880"/>
          </a:xfrm>
          <a:prstGeom prst="rect">
            <a:avLst/>
          </a:prstGeom>
          <a:solidFill>
            <a:srgbClr val="FFFFFF"/>
          </a:solidFill>
          <a:ln>
            <a:noFill/>
          </a:ln>
          <a:effectLst/>
        </p:spPr>
        <p:txBody>
          <a:bodyPr rtlCol="0" anchor="ctr" lIns="0" rIns="0" tIns="0" bIns="0" wrap="none"/>
          <a:lstStyle/>
          <a:p>
            <a:pPr algn="ctr"/>
            <a:r>
              <a:rPr sz="850" b="1">
                <a:solidFill>
                  <a:srgbClr val="23323B"/>
                </a:solidFill>
                <a:latin typeface="Arial"/>
                <a:ea typeface="Arial"/>
              </a:rPr>
              <a:t>Requirements &amp; priorities</a:t>
            </a:r>
          </a:p>
        </p:txBody>
      </p:sp>
      <p:sp>
        <p:nvSpPr>
          <p:cNvPr id="293" name="lbl-solution"/>
          <p:cNvSpPr/>
          <p:nvPr/>
        </p:nvSpPr>
        <p:spPr>
          <a:xfrm>
            <a:off x="3928963" y="4139184"/>
            <a:ext cx="710000" cy="182880"/>
          </a:xfrm>
          <a:prstGeom prst="rect">
            <a:avLst/>
          </a:prstGeom>
          <a:solidFill>
            <a:srgbClr val="D3DFEA"/>
          </a:solidFill>
          <a:ln>
            <a:noFill/>
          </a:ln>
          <a:effectLst/>
        </p:spPr>
        <p:txBody>
          <a:bodyPr rtlCol="0" anchor="ctr" lIns="0" rIns="0" tIns="0" bIns="0" wrap="none"/>
          <a:lstStyle/>
          <a:p>
            <a:pPr algn="ctr"/>
            <a:r>
              <a:rPr sz="850" b="1">
                <a:solidFill>
                  <a:srgbClr val="23323B"/>
                </a:solidFill>
                <a:latin typeface="Arial"/>
                <a:ea typeface="Arial"/>
              </a:rPr>
              <a:t>Specs</a:t>
            </a:r>
          </a:p>
        </p:txBody>
      </p:sp>
      <p:sp>
        <p:nvSpPr>
          <p:cNvPr id="294" name="lbl-vendor"/>
          <p:cNvSpPr/>
          <p:nvPr/>
        </p:nvSpPr>
        <p:spPr>
          <a:xfrm>
            <a:off x="7540843" y="4139184"/>
            <a:ext cx="710000" cy="182880"/>
          </a:xfrm>
          <a:prstGeom prst="rect">
            <a:avLst/>
          </a:prstGeom>
          <a:solidFill>
            <a:srgbClr val="D3DFEA"/>
          </a:solidFill>
          <a:ln>
            <a:noFill/>
          </a:ln>
          <a:effectLst/>
        </p:spPr>
        <p:txBody>
          <a:bodyPr rtlCol="0" anchor="ctr" lIns="0" rIns="0" tIns="0" bIns="0" wrap="none"/>
          <a:lstStyle/>
          <a:p>
            <a:pPr algn="ctr"/>
            <a:r>
              <a:rPr sz="850" b="1">
                <a:solidFill>
                  <a:srgbClr val="23323B"/>
                </a:solidFill>
                <a:latin typeface="Arial"/>
                <a:ea typeface="Arial"/>
              </a:rPr>
              <a:t>RFP</a:t>
            </a:r>
          </a:p>
        </p:txBody>
      </p:sp>
      <p:sp>
        <p:nvSpPr>
          <p:cNvPr id="295" name="lbl-benefit"/>
          <p:cNvSpPr/>
          <p:nvPr/>
        </p:nvSpPr>
        <p:spPr>
          <a:xfrm>
            <a:off x="9151783" y="4721352"/>
            <a:ext cx="1100000" cy="182880"/>
          </a:xfrm>
          <a:prstGeom prst="rect">
            <a:avLst/>
          </a:prstGeom>
          <a:solidFill>
            <a:srgbClr val="FFFFFF"/>
          </a:solidFill>
          <a:ln>
            <a:noFill/>
          </a:ln>
          <a:effectLst/>
        </p:spPr>
        <p:txBody>
          <a:bodyPr rtlCol="0" anchor="ctr" lIns="0" rIns="0" tIns="0" bIns="0" wrap="none"/>
          <a:lstStyle/>
          <a:p>
            <a:pPr algn="ctr"/>
            <a:r>
              <a:rPr sz="850" b="1">
                <a:solidFill>
                  <a:srgbClr val="23323B"/>
                </a:solidFill>
                <a:latin typeface="Arial"/>
                <a:ea typeface="Arial"/>
              </a:rPr>
              <a:t>Live system</a:t>
            </a:r>
          </a:p>
        </p:txBody>
      </p:sp>
      <p:sp>
        <p:nvSpPr>
          <p:cNvPr id="296" name="lbl-nfr"/>
          <p:cNvSpPr/>
          <p:nvPr/>
        </p:nvSpPr>
        <p:spPr>
          <a:xfrm>
            <a:off x="2954228" y="3097154"/>
            <a:ext cx="940000" cy="340000"/>
          </a:xfrm>
          <a:prstGeom prst="rect">
            <a:avLst/>
          </a:prstGeom>
          <a:solidFill>
            <a:srgbClr val="D3DFEA"/>
          </a:solidFill>
          <a:ln>
            <a:noFill/>
          </a:ln>
          <a:effectLst/>
        </p:spPr>
        <p:txBody>
          <a:bodyPr rtlCol="0" anchor="ctr" lIns="0" rIns="0" tIns="0" bIns="0" wrap="none"/>
          <a:lstStyle/>
          <a:p>
            <a:pPr algn="ctr"/>
            <a:r>
              <a:rPr sz="850" b="1">
                <a:solidFill>
                  <a:srgbClr val="23323B"/>
                </a:solidFill>
                <a:latin typeface="Arial"/>
                <a:ea typeface="Arial"/>
              </a:rPr>
              <a:t>Development standards</a:t>
            </a:r>
          </a:p>
          <a:p>
            <a:pPr algn="ctr"/>
            <a:r>
              <a:rPr sz="850" b="1">
                <a:solidFill>
                  <a:srgbClr val="23323B"/>
                </a:solidFill>
                <a:latin typeface="Arial"/>
                <a:ea typeface="Arial"/>
              </a:rPr>
              <a:t>(SDLC, CSV)</a:t>
            </a:r>
          </a:p>
        </p:txBody>
      </p:sp>
      <p:sp>
        <p:nvSpPr>
          <p:cNvPr id="297" name="lbl-sourcing"/>
          <p:cNvSpPr/>
          <p:nvPr/>
        </p:nvSpPr>
        <p:spPr>
          <a:xfrm>
            <a:off x="7650000" y="3097154"/>
            <a:ext cx="2530000" cy="340000"/>
          </a:xfrm>
          <a:prstGeom prst="rect">
            <a:avLst/>
          </a:prstGeom>
          <a:solidFill>
            <a:srgbClr val="D3DFEA"/>
          </a:solidFill>
          <a:ln>
            <a:noFill/>
          </a:ln>
          <a:effectLst/>
        </p:spPr>
        <p:txBody>
          <a:bodyPr rtlCol="0" anchor="ctr" lIns="0" rIns="0" tIns="0" bIns="0" wrap="none"/>
          <a:lstStyle/>
          <a:p>
            <a:pPr algn="ctr"/>
            <a:r>
              <a:rPr sz="850" b="1">
                <a:solidFill>
                  <a:srgbClr val="23323B"/>
                </a:solidFill>
                <a:latin typeface="Arial"/>
                <a:ea typeface="Arial"/>
              </a:rPr>
              <a:t>Sourcing policy</a:t>
            </a:r>
          </a:p>
          <a:p>
            <a:pPr algn="ctr"/>
            <a:r>
              <a:rPr sz="850" b="1">
                <a:solidFill>
                  <a:srgbClr val="23323B"/>
                </a:solidFill>
                <a:latin typeface="Arial"/>
                <a:ea typeface="Arial"/>
              </a:rPr>
              <a:t>(in-house, outsourced, offshore/nearshore)</a:t>
            </a:r>
          </a:p>
        </p:txBody>
      </p:sp>
      <p:sp>
        <p:nvSpPr>
          <p:cNvPr id="298" name="Rounded Rectangle 297"/>
          <p:cNvSpPr/>
          <p:nvPr/>
        </p:nvSpPr>
        <p:spPr>
          <a:xfrm>
            <a:off x="630936" y="1572768"/>
            <a:ext cx="512064" cy="182880"/>
          </a:xfrm>
          <a:prstGeom prst="roundRect">
            <a:avLst/>
          </a:prstGeom>
          <a:solidFill>
            <a:srgbClr val="ED560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b="1">
                <a:solidFill>
                  <a:srgbClr val="FFFFFF"/>
                </a:solidFill>
                <a:latin typeface="Arial"/>
                <a:ea typeface="Arial"/>
              </a:rPr>
              <a:t>Business</a:t>
            </a:r>
          </a:p>
        </p:txBody>
      </p:sp>
      <p:sp>
        <p:nvSpPr>
          <p:cNvPr id="299" name="TextBox 298"/>
          <p:cNvSpPr txBox="1"/>
          <p:nvPr/>
        </p:nvSpPr>
        <p:spPr>
          <a:xfrm>
            <a:off x="1216152" y="1572768"/>
            <a:ext cx="2377440" cy="182880"/>
          </a:xfrm>
          <a:prstGeom prst="rect">
            <a:avLst/>
          </a:prstGeom>
          <a:noFill/>
        </p:spPr>
        <p:txBody>
          <a:bodyPr wrap="square" lIns="0" rIns="0" tIns="0" bIns="0" anchor="ctr">
            <a:spAutoFit/>
          </a:bodyPr>
          <a:lstStyle/>
          <a:p>
            <a:pPr algn="l"/>
            <a:r>
              <a:rPr sz="900" b="0">
                <a:solidFill>
                  <a:srgbClr val="404040"/>
                </a:solidFill>
                <a:latin typeface="Arial"/>
                <a:ea typeface="Arial"/>
              </a:rPr>
              <a:t>R, A: Functions</a:t>
            </a:r>
          </a:p>
        </p:txBody>
      </p:sp>
      <p:sp>
        <p:nvSpPr>
          <p:cNvPr id="300" name="Rounded Rectangle 299"/>
          <p:cNvSpPr/>
          <p:nvPr/>
        </p:nvSpPr>
        <p:spPr>
          <a:xfrm>
            <a:off x="630936" y="1801368"/>
            <a:ext cx="512064" cy="182880"/>
          </a:xfrm>
          <a:prstGeom prst="roundRect">
            <a:avLst/>
          </a:prstGeom>
          <a:solidFill>
            <a:srgbClr val="D0D5D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b="1">
                <a:solidFill>
                  <a:srgbClr val="23323B"/>
                </a:solidFill>
                <a:latin typeface="Arial"/>
                <a:ea typeface="Arial"/>
              </a:rPr>
              <a:t>IT-led</a:t>
            </a:r>
          </a:p>
        </p:txBody>
      </p:sp>
      <p:sp>
        <p:nvSpPr>
          <p:cNvPr id="301" name="TextBox 300"/>
          <p:cNvSpPr txBox="1"/>
          <p:nvPr/>
        </p:nvSpPr>
        <p:spPr>
          <a:xfrm>
            <a:off x="1216152" y="1801368"/>
            <a:ext cx="2377440" cy="182880"/>
          </a:xfrm>
          <a:prstGeom prst="rect">
            <a:avLst/>
          </a:prstGeom>
          <a:noFill/>
        </p:spPr>
        <p:txBody>
          <a:bodyPr wrap="square" lIns="0" rIns="0" tIns="0" bIns="0" anchor="ctr">
            <a:spAutoFit/>
          </a:bodyPr>
          <a:lstStyle/>
          <a:p>
            <a:pPr algn="l"/>
            <a:r>
              <a:rPr sz="900" b="0">
                <a:solidFill>
                  <a:srgbClr val="404040"/>
                </a:solidFill>
                <a:latin typeface="Arial"/>
                <a:ea typeface="Arial"/>
              </a:rPr>
              <a:t>R, A: GDS   C: Functions</a:t>
            </a:r>
          </a:p>
        </p:txBody>
      </p:sp>
      <p:sp>
        <p:nvSpPr>
          <p:cNvPr id="303" name="it-region-cap"/>
          <p:cNvSpPr txBox="1"/>
          <p:nvPr/>
        </p:nvSpPr>
        <p:spPr>
          <a:xfrm>
            <a:off x="2560320" y="2691968"/>
            <a:ext cx="1600000" cy="182880"/>
          </a:xfrm>
          <a:prstGeom prst="rect">
            <a:avLst/>
          </a:prstGeom>
          <a:noFill/>
        </p:spPr>
        <p:txBody>
          <a:bodyPr wrap="none" lIns="0" tIns="0" rIns="0" bIns="0">
            <a:spAutoFit/>
          </a:bodyPr>
          <a:lstStyle/>
          <a:p>
            <a:r>
              <a:rPr sz="900" b="1">
                <a:solidFill>
                  <a:srgbClr val="23323B"/>
                </a:solidFill>
                <a:latin typeface="Arial"/>
              </a:rPr>
              <a:t>IT-led domain</a:t>
            </a:r>
          </a:p>
        </p:txBody>
      </p:sp>
      <p:sp>
        <p:nvSpPr>
          <p:cNvPr id="304" name="Rectangle 303"/>
          <p:cNvSpPr/>
          <p:nvPr/>
        </p:nvSpPr>
        <p:spPr>
          <a:xfrm>
            <a:off x="630936" y="5943600"/>
            <a:ext cx="10917936" cy="420624"/>
          </a:xfrm>
          <a:prstGeom prst="rect">
            <a:avLst/>
          </a:prstGeom>
          <a:solidFill>
            <a:srgbClr val="23323B"/>
          </a:solidFill>
          <a:ln>
            <a:noFill/>
          </a:ln>
          <a:effectLst/>
        </p:spPr>
        <p:style>
          <a:lnRef idx="1">
            <a:schemeClr val="accent1"/>
          </a:lnRef>
          <a:fillRef idx="3">
            <a:schemeClr val="accent1"/>
          </a:fillRef>
          <a:effectRef idx="0">
            <a:schemeClr val="accent1"/>
          </a:effectRef>
          <a:fontRef idx="minor">
            <a:schemeClr val="lt1"/>
          </a:fontRef>
        </p:style>
        <p:txBody>
          <a:bodyPr rtlCol="0" anchor="ctr" lIns="182880"/>
          <a:lstStyle/>
          <a:p>
            <a:pPr algn="l"/>
            <a:r>
              <a:rPr sz="1250" b="1">
                <a:solidFill>
                  <a:srgbClr val="FFFFFF"/>
                </a:solidFill>
                <a:latin typeface="Arial"/>
                <a:ea typeface="Arial"/>
              </a:rPr>
              <a:t>GDS is responsible for the indirect work tied to transferred budgets (budget, contracts, ordering and payment)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02" name="it-region"/>
          <p:cNvSpPr/>
          <p:nvPr/>
        </p:nvSpPr>
        <p:spPr>
          <a:xfrm>
            <a:off x="1060704" y="3394824"/>
            <a:ext cx="10058400" cy="991520"/>
          </a:xfrm>
          <a:prstGeom prst="roundRect">
            <a:avLst>
              <a:gd name="adj" fmla="val 6000"/>
            </a:avLst>
          </a:prstGeom>
          <a:solidFill>
            <a:srgbClr val="FBE3D3"/>
          </a:solidFill>
          <a:ln w="12700">
            <a:solidFill>
              <a:srgbClr val="ED560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3" name="Google Shape;203;p10"/>
          <p:cNvSpPr txBox="1"/>
          <p:nvPr>
            <p:ph type="title"/>
          </p:nvPr>
        </p:nvSpPr>
        <p:spPr>
          <a:xfrm>
            <a:off x="635000" y="406400"/>
            <a:ext cx="10922000" cy="43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23323B"/>
              </a:buClr>
              <a:buSzPts val="2600"/>
              <a:buFont typeface="Arial"/>
              <a:buNone/>
            </a:pPr>
            <a:r>
              <a:rPr b="1" lang="en-US" sz="2400">
                <a:solidFill>
                  <a:srgbClr val="23323B"/>
                </a:solidFill>
              </a:rPr>
              <a:t>Alternative: Roles for Function-Specific Cases (RACI)</a:t>
            </a:r>
            <a:endParaRPr sz="2400" b="1">
              <a:solidFill>
                <a:srgbClr val="23323B"/>
              </a:solidFill>
            </a:endParaRPr>
          </a:p>
        </p:txBody>
      </p:sp>
      <p:sp>
        <p:nvSpPr>
          <p:cNvPr id="249" name="Google Shape;249;p10"/>
          <p:cNvSpPr txBox="1"/>
          <p:nvPr>
            <p:ph idx="4294967295" type="sldNum"/>
          </p:nvPr>
        </p:nvSpPr>
        <p:spPr>
          <a:xfrm>
            <a:off x="10795000" y="6527800"/>
            <a:ext cx="762000" cy="152400"/>
          </a:xfrm>
          <a:prstGeom prst="rect">
            <a:avLst/>
          </a:prstGeom>
          <a:noFill/>
          <a:ln>
            <a:noFill/>
          </a:ln>
        </p:spPr>
        <p:txBody>
          <a:bodyPr anchorCtr="0" anchor="b" bIns="0" lIns="0" spcFirstLastPara="1" rIns="0" wrap="square" tIns="0">
            <a:noAutofit/>
          </a:bodyPr>
          <a:lstStyle/>
          <a:p>
            <a:pPr indent="0" lvl="0" marL="0" marR="0" rtl="0" algn="r">
              <a:spcBef>
                <a:spcPts val="0"/>
              </a:spcBef>
              <a:spcAft>
                <a:spcPts val="0"/>
              </a:spcAft>
              <a:buNone/>
            </a:pPr>
            <a:fld id="{00000000-1234-1234-1234-123412341234}" type="slidenum">
              <a:rPr b="0" i="0" lang="en-US" sz="1000" u="none" cap="none" strike="noStrike">
                <a:solidFill>
                  <a:srgbClr val="7F7F7F"/>
                </a:solidFill>
                <a:latin typeface="Arial"/>
                <a:ea typeface="Arial"/>
                <a:cs typeface="Arial"/>
                <a:sym typeface="Arial"/>
              </a:rPr>
              <a:t>‹#›</a:t>
            </a:fld>
            <a:endParaRPr b="0" i="0" sz="1000" u="none" cap="none" strike="noStrike">
              <a:solidFill>
                <a:srgbClr val="7F7F7F"/>
              </a:solidFill>
              <a:latin typeface="Arial"/>
              <a:ea typeface="Arial"/>
              <a:cs typeface="Arial"/>
              <a:sym typeface="Arial"/>
            </a:endParaRPr>
          </a:p>
        </p:txBody>
      </p:sp>
      <p:sp>
        <p:nvSpPr>
          <p:cNvPr id="250" name="act-req-arc"/>
          <p:cNvSpPr/>
          <p:nvPr/>
        </p:nvSpPr>
        <p:spPr>
          <a:xfrm>
            <a:off x="694943" y="1581911"/>
            <a:ext cx="7863840" cy="4352544"/>
          </a:xfrm>
          <a:prstGeom prst="arc">
            <a:avLst>
              <a:gd name="adj1" fmla="val 9780079"/>
              <a:gd name="adj2" fmla="val 16200000"/>
            </a:avLst>
          </a:prstGeom>
          <a:noFill/>
          <a:ln w="19050">
            <a:solidFill>
              <a:srgbClr val="7F7F7F"/>
            </a:solidFill>
            <a:head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 name="act-review-arc"/>
          <p:cNvSpPr/>
          <p:nvPr/>
        </p:nvSpPr>
        <p:spPr>
          <a:xfrm>
            <a:off x="3621024" y="1581911"/>
            <a:ext cx="7863840" cy="4352544"/>
          </a:xfrm>
          <a:prstGeom prst="arc">
            <a:avLst>
              <a:gd name="adj1" fmla="val 16200000"/>
              <a:gd name="adj2" fmla="val 1019921"/>
            </a:avLst>
          </a:prstGeom>
          <a:noFill/>
          <a:ln w="19050">
            <a:solidFill>
              <a:srgbClr val="7F7F7F"/>
            </a:solidFill>
            <a:head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52" name="act-itstrategy"/>
          <p:cNvCxnSpPr/>
          <p:nvPr/>
        </p:nvCxnSpPr>
        <p:spPr>
          <a:xfrm>
            <a:off x="6089904" y="1947672"/>
            <a:ext cx="0" cy="432816"/>
          </a:xfrm>
          <a:prstGeom prst="line">
            <a:avLst/>
          </a:prstGeom>
          <a:ln w="1905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53" name="act-policy"/>
          <p:cNvCxnSpPr/>
          <p:nvPr/>
        </p:nvCxnSpPr>
        <p:spPr>
          <a:xfrm>
            <a:off x="6089904" y="3112008"/>
            <a:ext cx="0" cy="432816"/>
          </a:xfrm>
          <a:prstGeom prst="line">
            <a:avLst/>
          </a:prstGeom>
          <a:ln w="19050">
            <a:solidFill>
              <a:srgbClr val="C8CCD0"/>
            </a:solidFill>
            <a:prstDash val="lgDash"/>
            <a:tailEnd type="triangle" w="med" len="med"/>
          </a:ln>
        </p:spPr>
        <p:style>
          <a:lnRef idx="2">
            <a:schemeClr val="accent1"/>
          </a:lnRef>
          <a:fillRef idx="0">
            <a:schemeClr val="accent1"/>
          </a:fillRef>
          <a:effectRef idx="1">
            <a:schemeClr val="accent1"/>
          </a:effectRef>
          <a:fontRef idx="minor">
            <a:schemeClr val="tx1"/>
          </a:fontRef>
        </p:style>
      </p:cxnSp>
      <p:cxnSp>
        <p:nvCxnSpPr>
          <p:cNvPr id="254" name="act-reqdef"/>
          <p:cNvCxnSpPr/>
          <p:nvPr/>
        </p:nvCxnSpPr>
        <p:spPr>
          <a:xfrm flipV="1">
            <a:off x="2478024" y="4276344"/>
            <a:ext cx="0" cy="432816"/>
          </a:xfrm>
          <a:prstGeom prst="line">
            <a:avLst/>
          </a:prstGeom>
          <a:ln w="1905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55" name="act-solution"/>
          <p:cNvCxnSpPr/>
          <p:nvPr/>
        </p:nvCxnSpPr>
        <p:spPr>
          <a:xfrm>
            <a:off x="3712464" y="3910584"/>
            <a:ext cx="1143000" cy="0"/>
          </a:xfrm>
          <a:prstGeom prst="line">
            <a:avLst/>
          </a:prstGeom>
          <a:ln w="1905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56" name="act-vendor"/>
          <p:cNvCxnSpPr/>
          <p:nvPr/>
        </p:nvCxnSpPr>
        <p:spPr>
          <a:xfrm>
            <a:off x="7324344" y="3910584"/>
            <a:ext cx="1143000" cy="0"/>
          </a:xfrm>
          <a:prstGeom prst="line">
            <a:avLst/>
          </a:prstGeom>
          <a:ln w="1905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57" name="act-benefit"/>
          <p:cNvCxnSpPr/>
          <p:nvPr/>
        </p:nvCxnSpPr>
        <p:spPr>
          <a:xfrm>
            <a:off x="9701784" y="4276344"/>
            <a:ext cx="0" cy="432816"/>
          </a:xfrm>
          <a:prstGeom prst="line">
            <a:avLst/>
          </a:prstGeom>
          <a:ln w="1905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8" name="act-nfr"/>
          <p:cNvSpPr/>
          <p:nvPr/>
        </p:nvSpPr>
        <p:spPr>
          <a:xfrm>
            <a:off x="2926080" y="2746248"/>
            <a:ext cx="3401567" cy="1484376"/>
          </a:xfrm>
          <a:prstGeom prst="arc">
            <a:avLst>
              <a:gd name="adj1" fmla="val 10800000"/>
              <a:gd name="adj2" fmla="val 16200000"/>
            </a:avLst>
          </a:prstGeom>
          <a:noFill/>
          <a:ln w="19050">
            <a:solidFill>
              <a:srgbClr val="C8CCD0"/>
            </a:solidFill>
            <a:prstDash val="lgDash"/>
            <a:head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9" name="act-sourcing"/>
          <p:cNvSpPr/>
          <p:nvPr/>
        </p:nvSpPr>
        <p:spPr>
          <a:xfrm>
            <a:off x="5852160" y="2746248"/>
            <a:ext cx="3401567" cy="1484376"/>
          </a:xfrm>
          <a:prstGeom prst="arc">
            <a:avLst>
              <a:gd name="adj1" fmla="val 16200000"/>
              <a:gd name="adj2" fmla="val 21600000"/>
            </a:avLst>
          </a:prstGeom>
          <a:noFill/>
          <a:ln w="19050">
            <a:solidFill>
              <a:srgbClr val="C8CCD0"/>
            </a:solidFill>
            <a:prstDash val="lgDash"/>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0" name="PO-Strategy"/>
          <p:cNvSpPr/>
          <p:nvPr/>
        </p:nvSpPr>
        <p:spPr>
          <a:xfrm>
            <a:off x="4626864" y="1216152"/>
            <a:ext cx="2926080" cy="731520"/>
          </a:xfrm>
          <a:prstGeom prst="rect">
            <a:avLst/>
          </a:prstGeom>
          <a:solidFill>
            <a:srgbClr val="EC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1" name="TextBox 260"/>
          <p:cNvSpPr txBox="1"/>
          <p:nvPr/>
        </p:nvSpPr>
        <p:spPr>
          <a:xfrm>
            <a:off x="4754879" y="1298448"/>
            <a:ext cx="2103120" cy="237744"/>
          </a:xfrm>
          <a:prstGeom prst="rect">
            <a:avLst/>
          </a:prstGeom>
          <a:noFill/>
        </p:spPr>
        <p:txBody>
          <a:bodyPr wrap="square" lIns="0" rIns="0" tIns="0" bIns="0" anchor="t">
            <a:spAutoFit/>
          </a:bodyPr>
          <a:lstStyle/>
          <a:p>
            <a:pPr algn="l"/>
            <a:r>
              <a:rPr sz="1150" b="1">
                <a:solidFill>
                  <a:srgbClr val="23323B"/>
                </a:solidFill>
                <a:latin typeface="Arial"/>
                <a:ea typeface="Arial"/>
              </a:rPr>
              <a:t>Business strategy</a:t>
            </a:r>
          </a:p>
        </p:txBody>
      </p:sp>
      <p:sp>
        <p:nvSpPr>
          <p:cNvPr id="262" name="Rounded Rectangle 261"/>
          <p:cNvSpPr/>
          <p:nvPr/>
        </p:nvSpPr>
        <p:spPr>
          <a:xfrm>
            <a:off x="6912863" y="1316736"/>
            <a:ext cx="512064" cy="182880"/>
          </a:xfrm>
          <a:prstGeom prst="roundRect">
            <a:avLst/>
          </a:prstGeom>
          <a:solidFill>
            <a:srgbClr val="ED560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b="1">
                <a:solidFill>
                  <a:srgbClr val="FFFFFF"/>
                </a:solidFill>
                <a:latin typeface="Arial"/>
                <a:ea typeface="Arial"/>
              </a:rPr>
              <a:t>Business</a:t>
            </a:r>
          </a:p>
        </p:txBody>
      </p:sp>
      <p:sp>
        <p:nvSpPr>
          <p:cNvPr id="263" name="TextBox 262"/>
          <p:cNvSpPr txBox="1"/>
          <p:nvPr/>
        </p:nvSpPr>
        <p:spPr>
          <a:xfrm>
            <a:off x="4754879" y="1572767"/>
            <a:ext cx="2670048" cy="292608"/>
          </a:xfrm>
          <a:prstGeom prst="rect">
            <a:avLst/>
          </a:prstGeom>
          <a:noFill/>
        </p:spPr>
        <p:txBody>
          <a:bodyPr wrap="square" lIns="0" rIns="0" tIns="0" bIns="0" anchor="t">
            <a:spAutoFit/>
          </a:bodyPr>
          <a:lstStyle/>
          <a:p>
            <a:pPr algn="l"/>
            <a:r>
              <a:rPr sz="850" b="0">
                <a:solidFill>
                  <a:srgbClr val="404040"/>
                </a:solidFill>
                <a:latin typeface="Arial"/>
                <a:ea typeface="Arial"/>
              </a:rPr>
              <a:t>Set business direction and state what IT should deliver to achieve it</a:t>
            </a:r>
          </a:p>
        </p:txBody>
      </p:sp>
      <p:sp>
        <p:nvSpPr>
          <p:cNvPr id="264" name="SO-Strategy"/>
          <p:cNvSpPr/>
          <p:nvPr/>
        </p:nvSpPr>
        <p:spPr>
          <a:xfrm>
            <a:off x="4626864" y="2380488"/>
            <a:ext cx="2926080" cy="731520"/>
          </a:xfrm>
          <a:prstGeom prst="rect">
            <a:avLst/>
          </a:prstGeom>
          <a:solidFill>
            <a:srgbClr val="2332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5" name="TextBox 264"/>
          <p:cNvSpPr txBox="1"/>
          <p:nvPr/>
        </p:nvSpPr>
        <p:spPr>
          <a:xfrm>
            <a:off x="4754879" y="2462784"/>
            <a:ext cx="2103120" cy="237744"/>
          </a:xfrm>
          <a:prstGeom prst="rect">
            <a:avLst/>
          </a:prstGeom>
          <a:noFill/>
        </p:spPr>
        <p:txBody>
          <a:bodyPr wrap="square" lIns="0" rIns="0" tIns="0" bIns="0" anchor="t">
            <a:spAutoFit/>
          </a:bodyPr>
          <a:lstStyle/>
          <a:p>
            <a:pPr algn="l"/>
            <a:r>
              <a:rPr sz="1150" b="1">
                <a:solidFill>
                  <a:srgbClr val="FFFFFF"/>
                </a:solidFill>
                <a:latin typeface="Arial"/>
                <a:ea typeface="Arial"/>
              </a:rPr>
              <a:t>IT strategy</a:t>
            </a:r>
          </a:p>
        </p:txBody>
      </p:sp>
      <p:sp>
        <p:nvSpPr>
          <p:cNvPr id="266" name="Rounded Rectangle 265"/>
          <p:cNvSpPr/>
          <p:nvPr/>
        </p:nvSpPr>
        <p:spPr>
          <a:xfrm>
            <a:off x="6912863" y="2481072"/>
            <a:ext cx="512064" cy="182880"/>
          </a:xfrm>
          <a:prstGeom prst="roundRect">
            <a:avLst/>
          </a:prstGeom>
          <a:solidFill>
            <a:srgbClr val="D0D5D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b="1">
                <a:solidFill>
                  <a:srgbClr val="23323B"/>
                </a:solidFill>
                <a:latin typeface="Arial"/>
                <a:ea typeface="Arial"/>
              </a:rPr>
              <a:t>IT-led</a:t>
            </a:r>
          </a:p>
        </p:txBody>
      </p:sp>
      <p:sp>
        <p:nvSpPr>
          <p:cNvPr id="267" name="TextBox 266"/>
          <p:cNvSpPr txBox="1"/>
          <p:nvPr/>
        </p:nvSpPr>
        <p:spPr>
          <a:xfrm>
            <a:off x="4754879" y="2737104"/>
            <a:ext cx="2670048" cy="292608"/>
          </a:xfrm>
          <a:prstGeom prst="rect">
            <a:avLst/>
          </a:prstGeom>
          <a:noFill/>
        </p:spPr>
        <p:txBody>
          <a:bodyPr wrap="square" lIns="0" rIns="0" tIns="0" bIns="0" anchor="t">
            <a:spAutoFit/>
          </a:bodyPr>
          <a:lstStyle/>
          <a:p>
            <a:pPr algn="l"/>
            <a:r>
              <a:rPr sz="850" b="0">
                <a:solidFill>
                  <a:srgbClr val="FFFFFF"/>
                </a:solidFill>
                <a:latin typeface="Arial"/>
                <a:ea typeface="Arial"/>
              </a:rPr>
              <a:t>Set IT investment policy and enterprise platforms to realize the business direction</a:t>
            </a:r>
          </a:p>
        </p:txBody>
      </p:sp>
      <p:sp>
        <p:nvSpPr>
          <p:cNvPr id="268" name="SO-SysReq"/>
          <p:cNvSpPr/>
          <p:nvPr/>
        </p:nvSpPr>
        <p:spPr>
          <a:xfrm>
            <a:off x="1243584" y="3544824"/>
            <a:ext cx="2468880" cy="731520"/>
          </a:xfrm>
          <a:prstGeom prst="rect">
            <a:avLst/>
          </a:prstGeom>
          <a:solidFill>
            <a:srgbClr val="EC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9" name="TextBox 268"/>
          <p:cNvSpPr txBox="1"/>
          <p:nvPr/>
        </p:nvSpPr>
        <p:spPr>
          <a:xfrm>
            <a:off x="1371600" y="3627120"/>
            <a:ext cx="1645920" cy="237744"/>
          </a:xfrm>
          <a:prstGeom prst="rect">
            <a:avLst/>
          </a:prstGeom>
          <a:noFill/>
        </p:spPr>
        <p:txBody>
          <a:bodyPr wrap="none" lIns="0" rIns="0" tIns="0" bIns="0" anchor="t">
            <a:spAutoFit/>
          </a:bodyPr>
          <a:lstStyle/>
          <a:p>
            <a:pPr algn="l"/>
            <a:r>
              <a:rPr sz="1150" b="1">
                <a:solidFill>
                  <a:srgbClr val="23323B"/>
                </a:solidFill>
                <a:latin typeface="Arial"/>
                <a:ea typeface="Arial"/>
              </a:rPr>
              <a:t>System requirements</a:t>
            </a:r>
          </a:p>
        </p:txBody>
      </p:sp>
      <p:sp>
        <p:nvSpPr>
          <p:cNvPr id="270" name="Rounded Rectangle 269"/>
          <p:cNvSpPr/>
          <p:nvPr/>
        </p:nvSpPr>
        <p:spPr>
          <a:xfrm>
            <a:off x="2962656" y="3645408"/>
            <a:ext cx="621792" cy="182880"/>
          </a:xfrm>
          <a:prstGeom prst="roundRect">
            <a:avLst/>
          </a:prstGeom>
          <a:solidFill>
            <a:srgbClr val="FBE3D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50" b="1">
                <a:solidFill>
                  <a:srgbClr val="ED5604"/>
                </a:solidFill>
                <a:latin typeface="Arial"/>
                <a:ea typeface="Arial"/>
              </a:rPr>
              <a:t>Business-led</a:t>
            </a:r>
          </a:p>
        </p:txBody>
      </p:sp>
      <p:sp>
        <p:nvSpPr>
          <p:cNvPr id="271" name="TextBox 270"/>
          <p:cNvSpPr txBox="1"/>
          <p:nvPr/>
        </p:nvSpPr>
        <p:spPr>
          <a:xfrm>
            <a:off x="1371600" y="3901440"/>
            <a:ext cx="2212848" cy="292608"/>
          </a:xfrm>
          <a:prstGeom prst="rect">
            <a:avLst/>
          </a:prstGeom>
          <a:noFill/>
        </p:spPr>
        <p:txBody>
          <a:bodyPr wrap="square" lIns="0" rIns="0" tIns="0" bIns="0" anchor="t">
            <a:spAutoFit/>
          </a:bodyPr>
          <a:lstStyle/>
          <a:p>
            <a:pPr algn="l"/>
            <a:r>
              <a:rPr sz="850" b="0">
                <a:solidFill>
                  <a:srgbClr val="404040"/>
                </a:solidFill>
                <a:latin typeface="Arial"/>
                <a:ea typeface="Arial"/>
              </a:rPr>
              <a:t>Define functional, non-functional and transition requirements</a:t>
            </a:r>
          </a:p>
        </p:txBody>
      </p:sp>
      <p:sp>
        <p:nvSpPr>
          <p:cNvPr id="272" name="SO-Solution"/>
          <p:cNvSpPr/>
          <p:nvPr/>
        </p:nvSpPr>
        <p:spPr>
          <a:xfrm>
            <a:off x="4855464" y="3544824"/>
            <a:ext cx="2468880" cy="731520"/>
          </a:xfrm>
          <a:prstGeom prst="rect">
            <a:avLst/>
          </a:prstGeom>
          <a:solidFill>
            <a:srgbClr val="EC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3" name="TextBox 272"/>
          <p:cNvSpPr txBox="1"/>
          <p:nvPr/>
        </p:nvSpPr>
        <p:spPr>
          <a:xfrm>
            <a:off x="4983479" y="3627120"/>
            <a:ext cx="1645920" cy="237744"/>
          </a:xfrm>
          <a:prstGeom prst="rect">
            <a:avLst/>
          </a:prstGeom>
          <a:noFill/>
        </p:spPr>
        <p:txBody>
          <a:bodyPr wrap="square" lIns="0" rIns="0" tIns="0" bIns="0" anchor="t">
            <a:spAutoFit/>
          </a:bodyPr>
          <a:lstStyle/>
          <a:p>
            <a:pPr algn="l"/>
            <a:r>
              <a:rPr sz="1150" b="1">
                <a:solidFill>
                  <a:srgbClr val="23323B"/>
                </a:solidFill>
                <a:latin typeface="Arial"/>
                <a:ea typeface="Arial"/>
              </a:rPr>
              <a:t>Solution</a:t>
            </a:r>
          </a:p>
        </p:txBody>
      </p:sp>
      <p:sp>
        <p:nvSpPr>
          <p:cNvPr id="274" name="Rounded Rectangle 273"/>
          <p:cNvSpPr/>
          <p:nvPr/>
        </p:nvSpPr>
        <p:spPr>
          <a:xfrm>
            <a:off x="6574536" y="3645408"/>
            <a:ext cx="621792" cy="182880"/>
          </a:xfrm>
          <a:prstGeom prst="roundRect">
            <a:avLst/>
          </a:prstGeom>
          <a:solidFill>
            <a:srgbClr val="FBE3D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50" b="1">
                <a:solidFill>
                  <a:srgbClr val="ED5604"/>
                </a:solidFill>
                <a:latin typeface="Arial"/>
                <a:ea typeface="Arial"/>
              </a:rPr>
              <a:t>Business-led</a:t>
            </a:r>
          </a:p>
        </p:txBody>
      </p:sp>
      <p:sp>
        <p:nvSpPr>
          <p:cNvPr id="275" name="TextBox 274"/>
          <p:cNvSpPr txBox="1"/>
          <p:nvPr/>
        </p:nvSpPr>
        <p:spPr>
          <a:xfrm>
            <a:off x="4983479" y="3901440"/>
            <a:ext cx="2212848" cy="292608"/>
          </a:xfrm>
          <a:prstGeom prst="rect">
            <a:avLst/>
          </a:prstGeom>
          <a:noFill/>
        </p:spPr>
        <p:txBody>
          <a:bodyPr wrap="square" lIns="0" rIns="0" tIns="0" bIns="0" anchor="t">
            <a:spAutoFit/>
          </a:bodyPr>
          <a:lstStyle/>
          <a:p>
            <a:pPr algn="l"/>
            <a:r>
              <a:rPr sz="850" b="0">
                <a:solidFill>
                  <a:srgbClr val="404040"/>
                </a:solidFill>
                <a:latin typeface="Arial"/>
                <a:ea typeface="Arial"/>
              </a:rPr>
              <a:t>Choose the means (SaaS, package, custom build) that fits requirements and policy</a:t>
            </a:r>
          </a:p>
        </p:txBody>
      </p:sp>
      <p:sp>
        <p:nvSpPr>
          <p:cNvPr id="276" name="SO-Vendor"/>
          <p:cNvSpPr/>
          <p:nvPr/>
        </p:nvSpPr>
        <p:spPr>
          <a:xfrm>
            <a:off x="8467344" y="3544824"/>
            <a:ext cx="2468880" cy="731520"/>
          </a:xfrm>
          <a:prstGeom prst="rect">
            <a:avLst/>
          </a:prstGeom>
          <a:solidFill>
            <a:srgbClr val="EC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7" name="TextBox 276"/>
          <p:cNvSpPr txBox="1"/>
          <p:nvPr/>
        </p:nvSpPr>
        <p:spPr>
          <a:xfrm>
            <a:off x="8595360" y="3627120"/>
            <a:ext cx="1645920" cy="237744"/>
          </a:xfrm>
          <a:prstGeom prst="rect">
            <a:avLst/>
          </a:prstGeom>
          <a:noFill/>
        </p:spPr>
        <p:txBody>
          <a:bodyPr wrap="square" lIns="0" rIns="0" tIns="0" bIns="0" anchor="t">
            <a:spAutoFit/>
          </a:bodyPr>
          <a:lstStyle/>
          <a:p>
            <a:pPr algn="l"/>
            <a:r>
              <a:rPr sz="1150" b="1">
                <a:solidFill>
                  <a:srgbClr val="23323B"/>
                </a:solidFill>
                <a:latin typeface="Arial"/>
                <a:ea typeface="Arial"/>
              </a:rPr>
              <a:t>Vendor</a:t>
            </a:r>
          </a:p>
        </p:txBody>
      </p:sp>
      <p:sp>
        <p:nvSpPr>
          <p:cNvPr id="278" name="Rounded Rectangle 277"/>
          <p:cNvSpPr/>
          <p:nvPr/>
        </p:nvSpPr>
        <p:spPr>
          <a:xfrm>
            <a:off x="10186416" y="3645408"/>
            <a:ext cx="621792" cy="182880"/>
          </a:xfrm>
          <a:prstGeom prst="roundRect">
            <a:avLst/>
          </a:prstGeom>
          <a:solidFill>
            <a:srgbClr val="FBE3D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50" b="1">
                <a:solidFill>
                  <a:srgbClr val="ED5604"/>
                </a:solidFill>
                <a:latin typeface="Arial"/>
                <a:ea typeface="Arial"/>
              </a:rPr>
              <a:t>Business-led</a:t>
            </a:r>
          </a:p>
        </p:txBody>
      </p:sp>
      <p:sp>
        <p:nvSpPr>
          <p:cNvPr id="279" name="TextBox 278"/>
          <p:cNvSpPr txBox="1"/>
          <p:nvPr/>
        </p:nvSpPr>
        <p:spPr>
          <a:xfrm>
            <a:off x="8595360" y="3901440"/>
            <a:ext cx="2212848" cy="292608"/>
          </a:xfrm>
          <a:prstGeom prst="rect">
            <a:avLst/>
          </a:prstGeom>
          <a:noFill/>
        </p:spPr>
        <p:txBody>
          <a:bodyPr wrap="square" lIns="0" rIns="0" tIns="0" bIns="0" anchor="t">
            <a:spAutoFit/>
          </a:bodyPr>
          <a:lstStyle/>
          <a:p>
            <a:pPr algn="l"/>
            <a:r>
              <a:rPr sz="850" b="0">
                <a:solidFill>
                  <a:srgbClr val="404040"/>
                </a:solidFill>
                <a:latin typeface="Arial"/>
                <a:ea typeface="Arial"/>
              </a:rPr>
              <a:t>Compare proposals and quotes to choose suppliers; manage performance and risk</a:t>
            </a:r>
          </a:p>
        </p:txBody>
      </p:sp>
      <p:sp>
        <p:nvSpPr>
          <p:cNvPr id="280" name="PO-BizReq"/>
          <p:cNvSpPr/>
          <p:nvPr/>
        </p:nvSpPr>
        <p:spPr>
          <a:xfrm>
            <a:off x="1243584" y="4709160"/>
            <a:ext cx="2468880" cy="731520"/>
          </a:xfrm>
          <a:prstGeom prst="rect">
            <a:avLst/>
          </a:prstGeom>
          <a:solidFill>
            <a:srgbClr val="EC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1" name="TextBox 280"/>
          <p:cNvSpPr txBox="1"/>
          <p:nvPr/>
        </p:nvSpPr>
        <p:spPr>
          <a:xfrm>
            <a:off x="1371600" y="4791456"/>
            <a:ext cx="1645920" cy="237744"/>
          </a:xfrm>
          <a:prstGeom prst="rect">
            <a:avLst/>
          </a:prstGeom>
          <a:noFill/>
        </p:spPr>
        <p:txBody>
          <a:bodyPr wrap="none" lIns="0" rIns="0" tIns="0" bIns="0" anchor="t">
            <a:spAutoFit/>
          </a:bodyPr>
          <a:lstStyle/>
          <a:p>
            <a:pPr algn="l"/>
            <a:r>
              <a:rPr sz="1150" b="1">
                <a:solidFill>
                  <a:srgbClr val="23323B"/>
                </a:solidFill>
                <a:latin typeface="Arial"/>
                <a:ea typeface="Arial"/>
              </a:rPr>
              <a:t>Business requirements</a:t>
            </a:r>
          </a:p>
        </p:txBody>
      </p:sp>
      <p:sp>
        <p:nvSpPr>
          <p:cNvPr id="282" name="Rounded Rectangle 281"/>
          <p:cNvSpPr/>
          <p:nvPr/>
        </p:nvSpPr>
        <p:spPr>
          <a:xfrm>
            <a:off x="3072384" y="4809744"/>
            <a:ext cx="512064" cy="182880"/>
          </a:xfrm>
          <a:prstGeom prst="roundRect">
            <a:avLst/>
          </a:prstGeom>
          <a:solidFill>
            <a:srgbClr val="ED560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b="1">
                <a:solidFill>
                  <a:srgbClr val="FFFFFF"/>
                </a:solidFill>
                <a:latin typeface="Arial"/>
                <a:ea typeface="Arial"/>
              </a:rPr>
              <a:t>Business</a:t>
            </a:r>
          </a:p>
        </p:txBody>
      </p:sp>
      <p:sp>
        <p:nvSpPr>
          <p:cNvPr id="283" name="TextBox 282"/>
          <p:cNvSpPr txBox="1"/>
          <p:nvPr/>
        </p:nvSpPr>
        <p:spPr>
          <a:xfrm>
            <a:off x="1371600" y="5065775"/>
            <a:ext cx="2212848" cy="292608"/>
          </a:xfrm>
          <a:prstGeom prst="rect">
            <a:avLst/>
          </a:prstGeom>
          <a:noFill/>
        </p:spPr>
        <p:txBody>
          <a:bodyPr wrap="square" lIns="0" rIns="0" tIns="0" bIns="0" anchor="t">
            <a:spAutoFit/>
          </a:bodyPr>
          <a:lstStyle/>
          <a:p>
            <a:pPr algn="l"/>
            <a:r>
              <a:rPr sz="850" b="0">
                <a:solidFill>
                  <a:srgbClr val="404040"/>
                </a:solidFill>
                <a:latin typeface="Arial"/>
                <a:ea typeface="Arial"/>
              </a:rPr>
              <a:t>Clarify desired business outcomes; set requirements and priorities</a:t>
            </a:r>
          </a:p>
        </p:txBody>
      </p:sp>
      <p:sp>
        <p:nvSpPr>
          <p:cNvPr id="284" name="PO-Benefits"/>
          <p:cNvSpPr/>
          <p:nvPr/>
        </p:nvSpPr>
        <p:spPr>
          <a:xfrm>
            <a:off x="8467344" y="4709160"/>
            <a:ext cx="2468880" cy="731520"/>
          </a:xfrm>
          <a:prstGeom prst="rect">
            <a:avLst/>
          </a:prstGeom>
          <a:solidFill>
            <a:srgbClr val="EC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5" name="TextBox 284"/>
          <p:cNvSpPr txBox="1"/>
          <p:nvPr/>
        </p:nvSpPr>
        <p:spPr>
          <a:xfrm>
            <a:off x="8595360" y="4791456"/>
            <a:ext cx="1645920" cy="237744"/>
          </a:xfrm>
          <a:prstGeom prst="rect">
            <a:avLst/>
          </a:prstGeom>
          <a:noFill/>
        </p:spPr>
        <p:txBody>
          <a:bodyPr wrap="square" lIns="0" rIns="0" tIns="0" bIns="0" anchor="t">
            <a:spAutoFit/>
          </a:bodyPr>
          <a:lstStyle/>
          <a:p>
            <a:pPr algn="l"/>
            <a:r>
              <a:rPr sz="1150" b="1">
                <a:solidFill>
                  <a:srgbClr val="23323B"/>
                </a:solidFill>
                <a:latin typeface="Arial"/>
                <a:ea typeface="Arial"/>
              </a:rPr>
              <a:t>Business benefits</a:t>
            </a:r>
          </a:p>
        </p:txBody>
      </p:sp>
      <p:sp>
        <p:nvSpPr>
          <p:cNvPr id="286" name="Rounded Rectangle 285"/>
          <p:cNvSpPr/>
          <p:nvPr/>
        </p:nvSpPr>
        <p:spPr>
          <a:xfrm>
            <a:off x="10296144" y="4809744"/>
            <a:ext cx="512064" cy="182880"/>
          </a:xfrm>
          <a:prstGeom prst="roundRect">
            <a:avLst/>
          </a:prstGeom>
          <a:solidFill>
            <a:srgbClr val="ED560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b="1">
                <a:solidFill>
                  <a:srgbClr val="FFFFFF"/>
                </a:solidFill>
                <a:latin typeface="Arial"/>
                <a:ea typeface="Arial"/>
              </a:rPr>
              <a:t>Business</a:t>
            </a:r>
          </a:p>
        </p:txBody>
      </p:sp>
      <p:sp>
        <p:nvSpPr>
          <p:cNvPr id="287" name="TextBox 286"/>
          <p:cNvSpPr txBox="1"/>
          <p:nvPr/>
        </p:nvSpPr>
        <p:spPr>
          <a:xfrm>
            <a:off x="8595360" y="5065775"/>
            <a:ext cx="2212848" cy="292608"/>
          </a:xfrm>
          <a:prstGeom prst="rect">
            <a:avLst/>
          </a:prstGeom>
          <a:noFill/>
        </p:spPr>
        <p:txBody>
          <a:bodyPr wrap="square" lIns="0" rIns="0" tIns="0" bIns="0" anchor="t">
            <a:spAutoFit/>
          </a:bodyPr>
          <a:lstStyle/>
          <a:p>
            <a:pPr algn="l"/>
            <a:r>
              <a:rPr sz="850" b="0">
                <a:solidFill>
                  <a:srgbClr val="404040"/>
                </a:solidFill>
                <a:latin typeface="Arial"/>
                <a:ea typeface="Arial"/>
              </a:rPr>
              <a:t>Measure KPI results to confirm benefits and identify blockers</a:t>
            </a:r>
          </a:p>
        </p:txBody>
      </p:sp>
      <p:sp>
        <p:nvSpPr>
          <p:cNvPr id="288" name="lbl-req"/>
          <p:cNvSpPr/>
          <p:nvPr/>
        </p:nvSpPr>
        <p:spPr>
          <a:xfrm>
            <a:off x="210000" y="4418520"/>
            <a:ext cx="1100000" cy="182880"/>
          </a:xfrm>
          <a:prstGeom prst="rect">
            <a:avLst/>
          </a:prstGeom>
          <a:solidFill>
            <a:srgbClr val="FFFFFF"/>
          </a:solidFill>
          <a:ln>
            <a:noFill/>
          </a:ln>
          <a:effectLst/>
        </p:spPr>
        <p:txBody>
          <a:bodyPr rtlCol="0" anchor="ctr" lIns="0" rIns="0" tIns="0" bIns="0" wrap="none"/>
          <a:lstStyle/>
          <a:p>
            <a:pPr algn="ctr"/>
            <a:r>
              <a:rPr sz="850" b="1">
                <a:solidFill>
                  <a:srgbClr val="23323B"/>
                </a:solidFill>
                <a:latin typeface="Arial"/>
                <a:ea typeface="Arial"/>
              </a:rPr>
              <a:t>Direction &amp; issues</a:t>
            </a:r>
          </a:p>
        </p:txBody>
      </p:sp>
      <p:sp>
        <p:nvSpPr>
          <p:cNvPr id="289" name="lbl-review"/>
          <p:cNvSpPr/>
          <p:nvPr/>
        </p:nvSpPr>
        <p:spPr>
          <a:xfrm>
            <a:off x="11120000" y="4418520"/>
            <a:ext cx="660000" cy="182880"/>
          </a:xfrm>
          <a:prstGeom prst="rect">
            <a:avLst/>
          </a:prstGeom>
          <a:solidFill>
            <a:srgbClr val="FFFFFF"/>
          </a:solidFill>
          <a:ln>
            <a:noFill/>
          </a:ln>
          <a:effectLst/>
        </p:spPr>
        <p:txBody>
          <a:bodyPr rtlCol="0" anchor="ctr" lIns="0" rIns="0" tIns="0" bIns="0" wrap="none"/>
          <a:lstStyle/>
          <a:p>
            <a:pPr algn="ctr"/>
            <a:r>
              <a:rPr sz="850" b="1">
                <a:solidFill>
                  <a:srgbClr val="23323B"/>
                </a:solidFill>
                <a:latin typeface="Arial"/>
                <a:ea typeface="Arial"/>
              </a:rPr>
              <a:t>KPI results</a:t>
            </a:r>
          </a:p>
        </p:txBody>
      </p:sp>
      <p:sp>
        <p:nvSpPr>
          <p:cNvPr id="290" name="lbl-itstrategy"/>
          <p:cNvSpPr/>
          <p:nvPr/>
        </p:nvSpPr>
        <p:spPr>
          <a:xfrm>
            <a:off x="5729903" y="2072640"/>
            <a:ext cx="720000" cy="182880"/>
          </a:xfrm>
          <a:prstGeom prst="rect">
            <a:avLst/>
          </a:prstGeom>
          <a:solidFill>
            <a:srgbClr val="FFFFFF"/>
          </a:solidFill>
          <a:ln>
            <a:noFill/>
          </a:ln>
          <a:effectLst/>
        </p:spPr>
        <p:txBody>
          <a:bodyPr rtlCol="0" anchor="ctr" lIns="0" rIns="0" tIns="0" bIns="0" wrap="none"/>
          <a:lstStyle/>
          <a:p>
            <a:pPr algn="ctr"/>
            <a:r>
              <a:rPr sz="850" b="1">
                <a:solidFill>
                  <a:srgbClr val="23323B"/>
                </a:solidFill>
                <a:latin typeface="Arial"/>
                <a:ea typeface="Arial"/>
              </a:rPr>
              <a:t>Expectations of IT</a:t>
            </a:r>
          </a:p>
        </p:txBody>
      </p:sp>
      <p:sp>
        <p:nvSpPr>
          <p:cNvPr id="291" name="lbl-policy"/>
          <p:cNvSpPr/>
          <p:nvPr/>
        </p:nvSpPr>
        <p:spPr>
          <a:xfrm>
            <a:off x="4824904" y="3088414"/>
            <a:ext cx="2530000" cy="340000"/>
          </a:xfrm>
          <a:prstGeom prst="rect">
            <a:avLst/>
          </a:prstGeom>
          <a:solidFill>
            <a:srgbClr val="FFFFFF"/>
          </a:solidFill>
          <a:ln>
            <a:noFill/>
          </a:ln>
          <a:effectLst/>
        </p:spPr>
        <p:txBody>
          <a:bodyPr rtlCol="0" anchor="ctr" lIns="0" rIns="0" tIns="0" bIns="0" wrap="none"/>
          <a:lstStyle/>
          <a:p>
            <a:pPr algn="ctr"/>
            <a:r>
              <a:rPr sz="850" b="1">
                <a:solidFill>
                  <a:srgbClr val="C8CCD0"/>
                </a:solidFill>
                <a:latin typeface="Arial"/>
                <a:ea typeface="Arial"/>
              </a:rPr>
              <a:t>Architecture policy</a:t>
            </a:r>
          </a:p>
          <a:p>
            <a:pPr algn="ctr"/>
            <a:r>
              <a:rPr sz="850" b="1">
                <a:solidFill>
                  <a:srgbClr val="C8CCD0"/>
                </a:solidFill>
                <a:latin typeface="Arial"/>
                <a:ea typeface="Arial"/>
              </a:rPr>
              <a:t>(technology, data, security)</a:t>
            </a:r>
          </a:p>
        </p:txBody>
      </p:sp>
      <p:sp>
        <p:nvSpPr>
          <p:cNvPr id="292" name="lbl-reqdef"/>
          <p:cNvSpPr/>
          <p:nvPr/>
        </p:nvSpPr>
        <p:spPr>
          <a:xfrm>
            <a:off x="1863023" y="4401312"/>
            <a:ext cx="1230000" cy="182880"/>
          </a:xfrm>
          <a:prstGeom prst="rect">
            <a:avLst/>
          </a:prstGeom>
          <a:solidFill>
            <a:srgbClr val="FFFFFF"/>
          </a:solidFill>
          <a:ln>
            <a:noFill/>
          </a:ln>
          <a:effectLst/>
        </p:spPr>
        <p:txBody>
          <a:bodyPr rtlCol="0" anchor="ctr" lIns="0" rIns="0" tIns="0" bIns="0" wrap="none"/>
          <a:lstStyle/>
          <a:p>
            <a:pPr algn="ctr"/>
            <a:r>
              <a:rPr sz="850" b="1">
                <a:solidFill>
                  <a:srgbClr val="23323B"/>
                </a:solidFill>
                <a:latin typeface="Arial"/>
                <a:ea typeface="Arial"/>
              </a:rPr>
              <a:t>Requirements &amp; priorities</a:t>
            </a:r>
          </a:p>
        </p:txBody>
      </p:sp>
      <p:sp>
        <p:nvSpPr>
          <p:cNvPr id="293" name="lbl-solution"/>
          <p:cNvSpPr/>
          <p:nvPr/>
        </p:nvSpPr>
        <p:spPr>
          <a:xfrm>
            <a:off x="3928963" y="3819144"/>
            <a:ext cx="710000" cy="182880"/>
          </a:xfrm>
          <a:prstGeom prst="rect">
            <a:avLst/>
          </a:prstGeom>
          <a:solidFill>
            <a:srgbClr val="FBE3D3"/>
          </a:solidFill>
          <a:ln>
            <a:noFill/>
          </a:ln>
          <a:effectLst/>
        </p:spPr>
        <p:txBody>
          <a:bodyPr rtlCol="0" anchor="ctr" lIns="0" rIns="0" tIns="0" bIns="0" wrap="none"/>
          <a:lstStyle/>
          <a:p>
            <a:pPr algn="ctr"/>
            <a:r>
              <a:rPr sz="850" b="1">
                <a:solidFill>
                  <a:srgbClr val="23323B"/>
                </a:solidFill>
                <a:latin typeface="Arial"/>
                <a:ea typeface="Arial"/>
              </a:rPr>
              <a:t>Specs</a:t>
            </a:r>
          </a:p>
        </p:txBody>
      </p:sp>
      <p:sp>
        <p:nvSpPr>
          <p:cNvPr id="294" name="lbl-vendor"/>
          <p:cNvSpPr/>
          <p:nvPr/>
        </p:nvSpPr>
        <p:spPr>
          <a:xfrm>
            <a:off x="7540843" y="3819144"/>
            <a:ext cx="710000" cy="182880"/>
          </a:xfrm>
          <a:prstGeom prst="rect">
            <a:avLst/>
          </a:prstGeom>
          <a:solidFill>
            <a:srgbClr val="FBE3D3"/>
          </a:solidFill>
          <a:ln>
            <a:noFill/>
          </a:ln>
          <a:effectLst/>
        </p:spPr>
        <p:txBody>
          <a:bodyPr rtlCol="0" anchor="ctr" lIns="0" rIns="0" tIns="0" bIns="0" wrap="none"/>
          <a:lstStyle/>
          <a:p>
            <a:pPr algn="ctr"/>
            <a:r>
              <a:rPr sz="850" b="1">
                <a:solidFill>
                  <a:srgbClr val="23323B"/>
                </a:solidFill>
                <a:latin typeface="Arial"/>
                <a:ea typeface="Arial"/>
              </a:rPr>
              <a:t>RFP</a:t>
            </a:r>
          </a:p>
        </p:txBody>
      </p:sp>
      <p:sp>
        <p:nvSpPr>
          <p:cNvPr id="295" name="lbl-benefit"/>
          <p:cNvSpPr/>
          <p:nvPr/>
        </p:nvSpPr>
        <p:spPr>
          <a:xfrm>
            <a:off x="9151783" y="4401312"/>
            <a:ext cx="1100000" cy="182880"/>
          </a:xfrm>
          <a:prstGeom prst="rect">
            <a:avLst/>
          </a:prstGeom>
          <a:solidFill>
            <a:srgbClr val="FFFFFF"/>
          </a:solidFill>
          <a:ln>
            <a:noFill/>
          </a:ln>
          <a:effectLst/>
        </p:spPr>
        <p:txBody>
          <a:bodyPr rtlCol="0" anchor="ctr" lIns="0" rIns="0" tIns="0" bIns="0" wrap="none"/>
          <a:lstStyle/>
          <a:p>
            <a:pPr algn="ctr"/>
            <a:r>
              <a:rPr sz="850" b="1">
                <a:solidFill>
                  <a:srgbClr val="23323B"/>
                </a:solidFill>
                <a:latin typeface="Arial"/>
                <a:ea typeface="Arial"/>
              </a:rPr>
              <a:t>Live system</a:t>
            </a:r>
          </a:p>
        </p:txBody>
      </p:sp>
      <p:sp>
        <p:nvSpPr>
          <p:cNvPr id="296" name="lbl-nfr"/>
          <p:cNvSpPr/>
          <p:nvPr/>
        </p:nvSpPr>
        <p:spPr>
          <a:xfrm>
            <a:off x="2954228" y="2777114"/>
            <a:ext cx="940000" cy="340000"/>
          </a:xfrm>
          <a:prstGeom prst="rect">
            <a:avLst/>
          </a:prstGeom>
          <a:solidFill>
            <a:srgbClr val="FFFFFF"/>
          </a:solidFill>
          <a:ln>
            <a:noFill/>
          </a:ln>
          <a:effectLst/>
        </p:spPr>
        <p:txBody>
          <a:bodyPr rtlCol="0" anchor="ctr" lIns="0" rIns="0" tIns="0" bIns="0" wrap="none"/>
          <a:lstStyle/>
          <a:p>
            <a:pPr algn="ctr"/>
            <a:r>
              <a:rPr sz="850" b="1">
                <a:solidFill>
                  <a:srgbClr val="C8CCD0"/>
                </a:solidFill>
                <a:latin typeface="Arial"/>
                <a:ea typeface="Arial"/>
              </a:rPr>
              <a:t>Development standards</a:t>
            </a:r>
          </a:p>
          <a:p>
            <a:pPr algn="ctr"/>
            <a:r>
              <a:rPr sz="850" b="1">
                <a:solidFill>
                  <a:srgbClr val="C8CCD0"/>
                </a:solidFill>
                <a:latin typeface="Arial"/>
                <a:ea typeface="Arial"/>
              </a:rPr>
              <a:t>(SDLC, CSV)</a:t>
            </a:r>
          </a:p>
        </p:txBody>
      </p:sp>
      <p:sp>
        <p:nvSpPr>
          <p:cNvPr id="297" name="lbl-sourcing"/>
          <p:cNvSpPr/>
          <p:nvPr/>
        </p:nvSpPr>
        <p:spPr>
          <a:xfrm>
            <a:off x="7650000" y="2777114"/>
            <a:ext cx="2530000" cy="340000"/>
          </a:xfrm>
          <a:prstGeom prst="rect">
            <a:avLst/>
          </a:prstGeom>
          <a:solidFill>
            <a:srgbClr val="FFFFFF"/>
          </a:solidFill>
          <a:ln>
            <a:noFill/>
          </a:ln>
          <a:effectLst/>
        </p:spPr>
        <p:txBody>
          <a:bodyPr rtlCol="0" anchor="ctr" lIns="0" rIns="0" tIns="0" bIns="0" wrap="none"/>
          <a:lstStyle/>
          <a:p>
            <a:pPr algn="ctr"/>
            <a:r>
              <a:rPr sz="850" b="1">
                <a:solidFill>
                  <a:srgbClr val="C8CCD0"/>
                </a:solidFill>
                <a:latin typeface="Arial"/>
                <a:ea typeface="Arial"/>
              </a:rPr>
              <a:t>Sourcing policy</a:t>
            </a:r>
          </a:p>
          <a:p>
            <a:pPr algn="ctr"/>
            <a:r>
              <a:rPr sz="850" b="1">
                <a:solidFill>
                  <a:srgbClr val="C8CCD0"/>
                </a:solidFill>
                <a:latin typeface="Arial"/>
                <a:ea typeface="Arial"/>
              </a:rPr>
              <a:t>(in-house, outsourced, offshore/nearshore)</a:t>
            </a:r>
          </a:p>
        </p:txBody>
      </p:sp>
      <p:sp>
        <p:nvSpPr>
          <p:cNvPr id="298" name="Rounded Rectangle 297"/>
          <p:cNvSpPr/>
          <p:nvPr/>
        </p:nvSpPr>
        <p:spPr>
          <a:xfrm>
            <a:off x="630936" y="1252728"/>
            <a:ext cx="512064" cy="182880"/>
          </a:xfrm>
          <a:prstGeom prst="roundRect">
            <a:avLst/>
          </a:prstGeom>
          <a:solidFill>
            <a:srgbClr val="ED560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b="1">
                <a:solidFill>
                  <a:srgbClr val="FFFFFF"/>
                </a:solidFill>
                <a:latin typeface="Arial"/>
                <a:ea typeface="Arial"/>
              </a:rPr>
              <a:t>Business</a:t>
            </a:r>
          </a:p>
        </p:txBody>
      </p:sp>
      <p:sp>
        <p:nvSpPr>
          <p:cNvPr id="299" name="TextBox 298"/>
          <p:cNvSpPr txBox="1"/>
          <p:nvPr/>
        </p:nvSpPr>
        <p:spPr>
          <a:xfrm>
            <a:off x="1216152" y="1252728"/>
            <a:ext cx="2377440" cy="182880"/>
          </a:xfrm>
          <a:prstGeom prst="rect">
            <a:avLst/>
          </a:prstGeom>
          <a:noFill/>
        </p:spPr>
        <p:txBody>
          <a:bodyPr wrap="square" lIns="0" rIns="0" tIns="0" bIns="0" anchor="ctr">
            <a:spAutoFit/>
          </a:bodyPr>
          <a:lstStyle/>
          <a:p>
            <a:pPr algn="l"/>
            <a:r>
              <a:rPr sz="900" b="0">
                <a:solidFill>
                  <a:srgbClr val="404040"/>
                </a:solidFill>
                <a:latin typeface="Arial"/>
                <a:ea typeface="Arial"/>
              </a:rPr>
              <a:t>R, A: Functions</a:t>
            </a:r>
          </a:p>
        </p:txBody>
      </p:sp>
      <p:sp>
        <p:nvSpPr>
          <p:cNvPr id="300" name="Rounded Rectangle 299"/>
          <p:cNvSpPr/>
          <p:nvPr/>
        </p:nvSpPr>
        <p:spPr>
          <a:xfrm>
            <a:off x="630936" y="1481328"/>
            <a:ext cx="512064" cy="182880"/>
          </a:xfrm>
          <a:prstGeom prst="roundRect">
            <a:avLst/>
          </a:prstGeom>
          <a:solidFill>
            <a:srgbClr val="D0D5D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b="1">
                <a:solidFill>
                  <a:srgbClr val="23323B"/>
                </a:solidFill>
                <a:latin typeface="Arial"/>
                <a:ea typeface="Arial"/>
              </a:rPr>
              <a:t>IT-led</a:t>
            </a:r>
          </a:p>
        </p:txBody>
      </p:sp>
      <p:sp>
        <p:nvSpPr>
          <p:cNvPr id="301" name="TextBox 300"/>
          <p:cNvSpPr txBox="1"/>
          <p:nvPr/>
        </p:nvSpPr>
        <p:spPr>
          <a:xfrm>
            <a:off x="1216152" y="1481328"/>
            <a:ext cx="2377440" cy="182880"/>
          </a:xfrm>
          <a:prstGeom prst="rect">
            <a:avLst/>
          </a:prstGeom>
          <a:noFill/>
        </p:spPr>
        <p:txBody>
          <a:bodyPr wrap="square" lIns="0" rIns="0" tIns="0" bIns="0" anchor="ctr">
            <a:spAutoFit/>
          </a:bodyPr>
          <a:lstStyle/>
          <a:p>
            <a:pPr algn="l"/>
            <a:r>
              <a:rPr sz="900" b="0">
                <a:solidFill>
                  <a:srgbClr val="404040"/>
                </a:solidFill>
                <a:latin typeface="Arial"/>
                <a:ea typeface="Arial"/>
              </a:rPr>
              <a:t>R, A: GDS   C: Functions</a:t>
            </a:r>
          </a:p>
        </p:txBody>
      </p:sp>
      <p:sp>
        <p:nvSpPr>
          <p:cNvPr id="303" name="it-region-cap"/>
          <p:cNvSpPr txBox="1"/>
          <p:nvPr/>
        </p:nvSpPr>
        <p:spPr>
          <a:xfrm>
            <a:off x="1152144" y="3164824"/>
            <a:ext cx="1600000" cy="182880"/>
          </a:xfrm>
          <a:prstGeom prst="rect">
            <a:avLst/>
          </a:prstGeom>
          <a:noFill/>
        </p:spPr>
        <p:txBody>
          <a:bodyPr wrap="none" lIns="0" tIns="0" rIns="0" bIns="0">
            <a:spAutoFit/>
          </a:bodyPr>
          <a:lstStyle/>
          <a:p>
            <a:r>
              <a:rPr sz="900" b="1">
                <a:solidFill>
                  <a:srgbClr val="ED5604"/>
                </a:solidFill>
                <a:latin typeface="Arial"/>
              </a:rPr>
              <a:t>Function-led domain</a:t>
            </a:r>
          </a:p>
        </p:txBody>
      </p:sp>
      <p:sp>
        <p:nvSpPr>
          <p:cNvPr id="304" name="Rectangle 303"/>
          <p:cNvSpPr/>
          <p:nvPr/>
        </p:nvSpPr>
        <p:spPr>
          <a:xfrm>
            <a:off x="630936" y="5577840"/>
            <a:ext cx="10917936" cy="685800"/>
          </a:xfrm>
          <a:prstGeom prst="rect">
            <a:avLst/>
          </a:prstGeom>
          <a:solidFill>
            <a:srgbClr val="ED5604"/>
          </a:solidFill>
          <a:ln>
            <a:noFill/>
          </a:ln>
          <a:effectLst/>
        </p:spPr>
        <p:style>
          <a:lnRef idx="1">
            <a:schemeClr val="accent1"/>
          </a:lnRef>
          <a:fillRef idx="3">
            <a:schemeClr val="accent1"/>
          </a:fillRef>
          <a:effectRef idx="0">
            <a:schemeClr val="accent1"/>
          </a:effectRef>
          <a:fontRef idx="minor">
            <a:schemeClr val="lt1"/>
          </a:fontRef>
        </p:style>
        <p:txBody>
          <a:bodyPr rtlCol="0" anchor="ctr" lIns="182880"/>
          <a:lstStyle/>
          <a:p>
            <a:pPr algn="l"/>
            <a:r>
              <a:rPr sz="1250" b="1">
                <a:solidFill>
                  <a:srgbClr val="FFFFFF"/>
                </a:solidFill>
                <a:latin typeface="Arial"/>
                <a:ea typeface="Arial"/>
              </a:rPr>
              <a:t>Where Function-led work runs more smoothly, carry on as before, but keep looking through the system lens</a:t>
            </a:r>
          </a:p>
          <a:p>
            <a:pPr algn="l"/>
            <a:r>
              <a:rPr sz="1150" b="0">
                <a:solidFill>
                  <a:srgbClr val="FFFFFF"/>
                </a:solidFill>
                <a:latin typeface="Arial"/>
                <a:ea typeface="Arial"/>
              </a:rPr>
              <a:t>Is the same data entered twice?   Are reports or data from elsewhere checked or fixed by hand?   Does another Function contract the same tool?</a:t>
            </a:r>
          </a:p>
        </p:txBody>
      </p:sp>
      <p:sp>
        <p:nvSpPr>
          <p:cNvPr id="300" name="Rounded Rectangle 299"/>
          <p:cNvSpPr/>
          <p:nvPr/>
        </p:nvSpPr>
        <p:spPr>
          <a:xfrm>
            <a:off x="630936" y="1709928"/>
            <a:ext cx="742064" cy="182880"/>
          </a:xfrm>
          <a:prstGeom prst="roundRect">
            <a:avLst/>
          </a:prstGeom>
          <a:solidFill>
            <a:srgbClr val="FBE3D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b="1">
                <a:solidFill>
                  <a:srgbClr val="ED5604"/>
                </a:solidFill>
                <a:latin typeface="Arial"/>
                <a:ea typeface="Arial"/>
              </a:rPr>
              <a:t>Business-led</a:t>
            </a:r>
          </a:p>
        </p:txBody>
      </p:sp>
      <p:sp>
        <p:nvSpPr>
          <p:cNvPr id="301" name="TextBox 300"/>
          <p:cNvSpPr txBox="1"/>
          <p:nvPr/>
        </p:nvSpPr>
        <p:spPr>
          <a:xfrm>
            <a:off x="1446152" y="1709928"/>
            <a:ext cx="2400000" cy="182880"/>
          </a:xfrm>
          <a:prstGeom prst="rect">
            <a:avLst/>
          </a:prstGeom>
          <a:solidFill>
            <a:srgbClr val="FFFFFF"/>
          </a:solidFill>
        </p:spPr>
        <p:txBody>
          <a:bodyPr wrap="square" lIns="0" rIns="0" tIns="0" bIns="0" anchor="ctr">
            <a:spAutoFit/>
          </a:bodyPr>
          <a:lstStyle/>
          <a:p>
            <a:pPr algn="l"/>
            <a:r>
              <a:rPr sz="900" b="0">
                <a:solidFill>
                  <a:srgbClr val="404040"/>
                </a:solidFill>
                <a:latin typeface="Arial"/>
                <a:ea typeface="Arial"/>
              </a:rPr>
              <a:t>R, A: Functions   C: GDS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635000" y="406400"/>
            <a:ext cx="10922000" cy="431800"/>
          </a:xfrm>
          <a:prstGeom prst="rect">
            <a:avLst/>
          </a:prstGeom>
          <a:noFill/>
          <a:ln/>
        </p:spPr>
        <p:txBody>
          <a:bodyPr wrap="square" lIns="0" tIns="0" rIns="0" bIns="0" rtlCol="0" anchor="t"/>
          <a:lstStyle/>
          <a:p>
            <a:pPr algn="l" indent="0" marL="0">
              <a:buNone/>
            </a:pPr>
            <a:r>
              <a:rPr lang="en-US" sz="2400" b="1" dirty="0">
                <a:solidFill>
                  <a:srgbClr val="23323B"/>
                </a:solidFill>
                <a:latin typeface="Arial" pitchFamily="34" charset="0"/>
                <a:ea typeface="Arial" pitchFamily="34" charset="-122"/>
                <a:cs typeface="Arial" pitchFamily="34" charset="-120"/>
              </a:rPr>
              <a:t>Fixed Assets Move to GDS</a:t>
            </a:r>
            <a:endParaRPr lang="en-US" sz="2400" dirty="0" b="1">
              <a:solidFill>
                <a:srgbClr val="23323B"/>
              </a:solidFill>
            </a:endParaRPr>
          </a:p>
        </p:txBody>
      </p:sp>
      <p:sp>
        <p:nvSpPr>
          <p:cNvPr id="3" name="Text 0"/>
          <p:cNvSpPr/>
          <p:nvPr>
            <p:ph idx="101" type="body" hasCustomPrompt="1"/>
          </p:nvPr>
        </p:nvSpPr>
        <p:spPr>
          <a:xfrm>
            <a:off x="635000" y="889000"/>
            <a:ext cx="10922000" cy="560000"/>
          </a:xfrm>
          <a:prstGeom prst="rect">
            <a:avLst/>
          </a:prstGeom>
          <a:noFill/>
          <a:ln/>
        </p:spPr>
        <p:txBody>
          <a:bodyPr wrap="square" lIns="0" tIns="0" rIns="0" bIns="0" rtlCol="0" anchor="t"/>
          <a:lstStyle/>
          <a:p>
            <a:pPr indent="0" marL="0">
              <a:buNone/>
            </a:pPr>
            <a:r>
              <a:rPr lang="en-US" sz="1400" dirty="0" b="1">
                <a:solidFill>
                  <a:srgbClr val="404040"/>
                </a:solidFill>
                <a:latin typeface="Arial" pitchFamily="34" charset="0"/>
                <a:ea typeface="Arial" pitchFamily="34" charset="-122"/>
                <a:cs typeface="Arial" pitchFamily="34" charset="-120"/>
              </a:rPr>
              <a:t>All fixed assets from in-scope IT investments move to GDS. Timing depends on each asset's status at transfer</a:t>
            </a:r>
            <a:endParaRPr lang="en-US" sz="1400" dirty="0" b="1">
              <a:solidFill>
                <a:srgbClr val="404040"/>
              </a:solidFill>
            </a:endParaRPr>
          </a:p>
          <a:p>
            <a:pPr indent="0" marL="0">
              <a:buNone/>
            </a:pPr>
            <a:r>
              <a:rPr lang="en-US" sz="1400" dirty="0" b="1">
                <a:solidFill>
                  <a:srgbClr val="404040"/>
                </a:solidFill>
                <a:latin typeface="Arial" pitchFamily="34" charset="0"/>
                <a:ea typeface="Arial" pitchFamily="34" charset="-122"/>
                <a:cs typeface="Arial" pitchFamily="34" charset="-120"/>
              </a:rPr>
              <a:t>FinanceBP reassigns the depreciation budget with the assets; after transfer, depreciation is booked to GDS</a:t>
            </a:r>
            <a:endParaRPr lang="en-US" sz="1400" dirty="0" b="1">
              <a:solidFill>
                <a:srgbClr val="404040"/>
              </a:solidFill>
            </a:endParaRPr>
          </a:p>
        </p:txBody>
      </p:sp>
      <p:sp>
        <p:nvSpPr>
          <p:cNvPr id="25" name="Slide Number Placeholder 0"/>
          <p:cNvSpPr>
            <a:spLocks noGrp="1"/>
          </p:cNvSpPr>
          <p:nvPr>
            <p:ph type="sldNum" sz="quarter" idx="4294967295"/>
          </p:nvPr>
        </p:nvSpPr>
        <p:spPr>
          <a:xfrm>
            <a:off x="10795000" y="6527800"/>
            <a:ext cx="762000" cy="152400"/>
          </a:xfrm>
          <a:prstGeom prst="rect">
            <a:avLst/>
          </a:prstGeom>
          <a:extLst>
            <a:ext uri="{C572A759-6A51-4108-AA02-DFA0A04FC94B}">
              <ma14:wrappingTextBoxFlag xmlns:ma14="http://schemas.microsoft.com/office/mac/drawingml/2011/main" val="0"/>
            </a:ext>
          </a:extLst>
        </p:spPr>
        <p:txBody>
          <a:bodyPr anchor="b" lIns="0" tIns="0" rIns="0" bIns="0"/>
          <a:lstStyle>
            <a:lvl1pPr>
              <a:defRPr sz="900">
                <a:solidFill>
                  <a:srgbClr val="7F7F7F"/>
                </a:solidFill>
              </a:defRPr>
            </a:lvl1pPr>
          </a:lstStyle>
          <a:p>
            <a:pPr algn="r"/>
            <a:fld id="{F7021451-1387-4CA6-816F-3879F97B5CBC}" type="slidenum">
              <a:rPr b="0" lang="en-US" sz="1000">
                <a:solidFill>
                  <a:srgbClr val="7F7F7F"/>
                </a:solidFill>
              </a:rPr>
              <a:t>2</a:t>
            </a:fld>
            <a:endParaRPr lang="en-US" sz="1000" b="0">
              <a:solidFill>
                <a:srgbClr val="7F7F7F"/>
              </a:solidFill>
            </a:endParaRPr>
          </a:p>
        </p:txBody>
      </p:sp>
      <p:sp>
        <p:nvSpPr>
          <p:cNvPr id="26" name="TextBox 25"/>
          <p:cNvSpPr txBox="1"/>
          <p:nvPr/>
        </p:nvSpPr>
        <p:spPr>
          <a:xfrm>
            <a:off x="635000" y="1600200"/>
            <a:ext cx="2964040" cy="274320"/>
          </a:xfrm>
          <a:prstGeom prst="rect">
            <a:avLst/>
          </a:prstGeom>
          <a:noFill/>
        </p:spPr>
        <p:txBody>
          <a:bodyPr wrap="square" rIns="0" tIns="0" bIns="0" lIns="0" anchor="ctr">
            <a:spAutoFit/>
          </a:bodyPr>
          <a:lstStyle/>
          <a:p>
            <a:pPr algn="l"/>
            <a:r>
              <a:rPr sz="1050" b="1">
                <a:solidFill>
                  <a:srgbClr val="23323B"/>
                </a:solidFill>
                <a:latin typeface="Arial"/>
                <a:ea typeface="Arial"/>
              </a:rPr>
              <a:t>Asset status</a:t>
            </a:r>
          </a:p>
        </p:txBody>
      </p:sp>
      <p:sp>
        <p:nvSpPr>
          <p:cNvPr id="27" name="Rectangle 26"/>
          <p:cNvSpPr/>
          <p:nvPr/>
        </p:nvSpPr>
        <p:spPr>
          <a:xfrm>
            <a:off x="3749040" y="1600200"/>
            <a:ext cx="2560320" cy="274320"/>
          </a:xfrm>
          <a:prstGeom prst="rect">
            <a:avLst/>
          </a:prstGeom>
          <a:solidFill>
            <a:srgbClr val="F2F2F2"/>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rIns="0" tIns="0" bIns="0" lIns="0"/>
          <a:lstStyle/>
          <a:p>
            <a:pPr algn="ctr"/>
            <a:r>
              <a:rPr sz="1050" b="1">
                <a:solidFill>
                  <a:srgbClr val="23323B"/>
                </a:solidFill>
                <a:latin typeface="Arial"/>
                <a:ea typeface="Arial"/>
              </a:rPr>
              <a:t>To Dec 2026 (before transfer)</a:t>
            </a:r>
          </a:p>
        </p:txBody>
      </p:sp>
      <p:sp>
        <p:nvSpPr>
          <p:cNvPr id="28" name="Rectangle 27"/>
          <p:cNvSpPr/>
          <p:nvPr/>
        </p:nvSpPr>
        <p:spPr>
          <a:xfrm>
            <a:off x="6309360" y="1600200"/>
            <a:ext cx="5247640" cy="274320"/>
          </a:xfrm>
          <a:prstGeom prst="rect">
            <a:avLst/>
          </a:prstGeom>
          <a:solidFill>
            <a:srgbClr val="F2F2F2"/>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rIns="0" tIns="0" bIns="0" lIns="0"/>
          <a:lstStyle/>
          <a:p>
            <a:pPr algn="ctr"/>
            <a:r>
              <a:rPr sz="1050" b="1">
                <a:solidFill>
                  <a:srgbClr val="23323B"/>
                </a:solidFill>
                <a:latin typeface="Arial"/>
                <a:ea typeface="Arial"/>
              </a:rPr>
              <a:t>From Jan 1, 2027 (after transfer)</a:t>
            </a:r>
          </a:p>
        </p:txBody>
      </p:sp>
      <p:cxnSp>
        <p:nvCxnSpPr>
          <p:cNvPr id="29" name="Connector 28"/>
          <p:cNvCxnSpPr/>
          <p:nvPr/>
        </p:nvCxnSpPr>
        <p:spPr>
          <a:xfrm>
            <a:off x="635000" y="2606040"/>
            <a:ext cx="10922000" cy="0"/>
          </a:xfrm>
          <a:prstGeom prst="line">
            <a:avLst/>
          </a:prstGeom>
          <a:ln w="9525">
            <a:solidFill>
              <a:srgbClr val="D9D9D9"/>
            </a:solidFill>
          </a:ln>
        </p:spPr>
        <p:style>
          <a:lnRef idx="2">
            <a:schemeClr val="accent1"/>
          </a:lnRef>
          <a:fillRef idx="0">
            <a:schemeClr val="accent1"/>
          </a:fillRef>
          <a:effectRef idx="0">
            <a:schemeClr val="accent1"/>
          </a:effectRef>
          <a:fontRef idx="minor">
            <a:schemeClr val="tx1"/>
          </a:fontRef>
        </p:style>
      </p:cxnSp>
      <p:sp>
        <p:nvSpPr>
          <p:cNvPr id="30" name="TextBox 29"/>
          <p:cNvSpPr txBox="1"/>
          <p:nvPr/>
        </p:nvSpPr>
        <p:spPr>
          <a:xfrm>
            <a:off x="635000" y="2070240"/>
            <a:ext cx="2914040" cy="485800"/>
          </a:xfrm>
          <a:prstGeom prst="rect">
            <a:avLst/>
          </a:prstGeom>
          <a:noFill/>
        </p:spPr>
        <p:txBody>
          <a:bodyPr wrap="square" rIns="0" tIns="0" bIns="0" lIns="0" anchor="t">
            <a:spAutoFit/>
          </a:bodyPr>
          <a:lstStyle/>
          <a:p>
            <a:pPr algn="l"/>
            <a:r>
              <a:rPr sz="1100" b="1">
                <a:solidFill>
                  <a:srgbClr val="23323B"/>
                </a:solidFill>
                <a:latin typeface="Arial"/>
                <a:ea typeface="Arial"/>
              </a:rPr>
              <a:t>① Existing assets</a:t>
            </a:r>
          </a:p>
          <a:p>
            <a:pPr algn="l"/>
            <a:r>
              <a:rPr sz="900" b="0">
                <a:solidFill>
                  <a:srgbClr val="404040"/>
                </a:solidFill>
                <a:latin typeface="Arial"/>
                <a:ea typeface="Arial"/>
              </a:rPr>
              <a:t>Acquired and being depreciated (incl. zero book value)</a:t>
            </a:r>
          </a:p>
        </p:txBody>
      </p:sp>
      <p:cxnSp>
        <p:nvCxnSpPr>
          <p:cNvPr id="31" name="Connector 30"/>
          <p:cNvCxnSpPr/>
          <p:nvPr/>
        </p:nvCxnSpPr>
        <p:spPr>
          <a:xfrm>
            <a:off x="635000" y="3291840"/>
            <a:ext cx="10922000" cy="0"/>
          </a:xfrm>
          <a:prstGeom prst="line">
            <a:avLst/>
          </a:prstGeom>
          <a:ln w="9525">
            <a:solidFill>
              <a:srgbClr val="D9D9D9"/>
            </a:solidFill>
          </a:ln>
        </p:spPr>
        <p:style>
          <a:lnRef idx="2">
            <a:schemeClr val="accent1"/>
          </a:lnRef>
          <a:fillRef idx="0">
            <a:schemeClr val="accent1"/>
          </a:fillRef>
          <a:effectRef idx="0">
            <a:schemeClr val="accent1"/>
          </a:effectRef>
          <a:fontRef idx="minor">
            <a:schemeClr val="tx1"/>
          </a:fontRef>
        </p:style>
      </p:cxnSp>
      <p:sp>
        <p:nvSpPr>
          <p:cNvPr id="32" name="TextBox 31"/>
          <p:cNvSpPr txBox="1"/>
          <p:nvPr/>
        </p:nvSpPr>
        <p:spPr>
          <a:xfrm>
            <a:off x="635000" y="2756040"/>
            <a:ext cx="2914040" cy="485800"/>
          </a:xfrm>
          <a:prstGeom prst="rect">
            <a:avLst/>
          </a:prstGeom>
          <a:noFill/>
        </p:spPr>
        <p:txBody>
          <a:bodyPr wrap="square" rIns="0" tIns="0" bIns="0" lIns="0" anchor="t">
            <a:spAutoFit/>
          </a:bodyPr>
          <a:lstStyle/>
          <a:p>
            <a:pPr algn="l"/>
            <a:r>
              <a:rPr sz="1100" b="1">
                <a:solidFill>
                  <a:srgbClr val="23323B"/>
                </a:solidFill>
                <a:latin typeface="Arial"/>
                <a:ea typeface="Arial"/>
              </a:rPr>
              <a:t>② To be acquired</a:t>
            </a:r>
          </a:p>
          <a:p>
            <a:pPr algn="l"/>
            <a:r>
              <a:rPr sz="900" b="0">
                <a:solidFill>
                  <a:srgbClr val="404040"/>
                </a:solidFill>
                <a:latin typeface="Arial"/>
                <a:ea typeface="Arial"/>
              </a:rPr>
              <a:t>Under construction; capitalized after transfer (with or without CIP)</a:t>
            </a:r>
          </a:p>
        </p:txBody>
      </p:sp>
      <p:cxnSp>
        <p:nvCxnSpPr>
          <p:cNvPr id="33" name="Connector 32"/>
          <p:cNvCxnSpPr/>
          <p:nvPr/>
        </p:nvCxnSpPr>
        <p:spPr>
          <a:xfrm>
            <a:off x="635000" y="3977640"/>
            <a:ext cx="10922000" cy="0"/>
          </a:xfrm>
          <a:prstGeom prst="line">
            <a:avLst/>
          </a:prstGeom>
          <a:ln w="9525">
            <a:solidFill>
              <a:srgbClr val="D9D9D9"/>
            </a:solidFill>
          </a:ln>
        </p:spPr>
        <p:style>
          <a:lnRef idx="2">
            <a:schemeClr val="accent1"/>
          </a:lnRef>
          <a:fillRef idx="0">
            <a:schemeClr val="accent1"/>
          </a:fillRef>
          <a:effectRef idx="0">
            <a:schemeClr val="accent1"/>
          </a:effectRef>
          <a:fontRef idx="minor">
            <a:schemeClr val="tx1"/>
          </a:fontRef>
        </p:style>
      </p:cxnSp>
      <p:sp>
        <p:nvSpPr>
          <p:cNvPr id="34" name="TextBox 33"/>
          <p:cNvSpPr txBox="1"/>
          <p:nvPr/>
        </p:nvSpPr>
        <p:spPr>
          <a:xfrm>
            <a:off x="635000" y="3441840"/>
            <a:ext cx="2914040" cy="485800"/>
          </a:xfrm>
          <a:prstGeom prst="rect">
            <a:avLst/>
          </a:prstGeom>
          <a:noFill/>
        </p:spPr>
        <p:txBody>
          <a:bodyPr wrap="square" rIns="0" tIns="0" bIns="0" lIns="0" anchor="t">
            <a:spAutoFit/>
          </a:bodyPr>
          <a:lstStyle/>
          <a:p>
            <a:pPr algn="l"/>
            <a:r>
              <a:rPr sz="1100" b="1">
                <a:solidFill>
                  <a:srgbClr val="23323B"/>
                </a:solidFill>
                <a:latin typeface="Arial"/>
                <a:ea typeface="Arial"/>
              </a:rPr>
              <a:t>③ Future assets</a:t>
            </a:r>
          </a:p>
          <a:p>
            <a:pPr algn="l"/>
            <a:r>
              <a:rPr sz="900" b="0">
                <a:solidFill>
                  <a:srgbClr val="404040"/>
                </a:solidFill>
                <a:latin typeface="Arial"/>
                <a:ea typeface="Arial"/>
              </a:rPr>
              <a:t>Budgeted or expected; started after transfer</a:t>
            </a:r>
          </a:p>
        </p:txBody>
      </p:sp>
      <p:cxnSp>
        <p:nvCxnSpPr>
          <p:cNvPr id="35" name="Connector 34"/>
          <p:cNvCxnSpPr/>
          <p:nvPr/>
        </p:nvCxnSpPr>
        <p:spPr>
          <a:xfrm>
            <a:off x="635000" y="4754880"/>
            <a:ext cx="10922000" cy="0"/>
          </a:xfrm>
          <a:prstGeom prst="line">
            <a:avLst/>
          </a:prstGeom>
          <a:ln w="9525">
            <a:solidFill>
              <a:srgbClr val="D9D9D9"/>
            </a:solidFill>
          </a:ln>
        </p:spPr>
        <p:style>
          <a:lnRef idx="2">
            <a:schemeClr val="accent1"/>
          </a:lnRef>
          <a:fillRef idx="0">
            <a:schemeClr val="accent1"/>
          </a:fillRef>
          <a:effectRef idx="0">
            <a:schemeClr val="accent1"/>
          </a:effectRef>
          <a:fontRef idx="minor">
            <a:schemeClr val="tx1"/>
          </a:fontRef>
        </p:style>
      </p:cxnSp>
      <p:sp>
        <p:nvSpPr>
          <p:cNvPr id="36" name="TextBox 35"/>
          <p:cNvSpPr txBox="1"/>
          <p:nvPr/>
        </p:nvSpPr>
        <p:spPr>
          <a:xfrm>
            <a:off x="635000" y="4127640"/>
            <a:ext cx="2914040" cy="577240"/>
          </a:xfrm>
          <a:prstGeom prst="rect">
            <a:avLst/>
          </a:prstGeom>
          <a:noFill/>
        </p:spPr>
        <p:txBody>
          <a:bodyPr wrap="square" rIns="0" tIns="0" bIns="0" lIns="0" anchor="t">
            <a:spAutoFit/>
          </a:bodyPr>
          <a:lstStyle/>
          <a:p>
            <a:pPr algn="l"/>
            <a:r>
              <a:rPr sz="1100" b="1">
                <a:solidFill>
                  <a:srgbClr val="23323B"/>
                </a:solidFill>
                <a:latin typeface="Arial"/>
                <a:ea typeface="Arial"/>
              </a:rPr>
              <a:t>④ Existing + upgrade</a:t>
            </a:r>
          </a:p>
          <a:p>
            <a:pPr algn="l"/>
            <a:r>
              <a:rPr sz="900" b="0">
                <a:solidFill>
                  <a:srgbClr val="404040"/>
                </a:solidFill>
                <a:latin typeface="Arial"/>
                <a:ea typeface="Arial"/>
              </a:rPr>
              <a:t>Existing asset being upgraded; upgrade capitalized after transfer</a:t>
            </a:r>
          </a:p>
        </p:txBody>
      </p:sp>
      <p:cxnSp>
        <p:nvCxnSpPr>
          <p:cNvPr id="37" name="Connector 36"/>
          <p:cNvCxnSpPr/>
          <p:nvPr/>
        </p:nvCxnSpPr>
        <p:spPr>
          <a:xfrm>
            <a:off x="635000" y="5532120"/>
            <a:ext cx="10922000" cy="0"/>
          </a:xfrm>
          <a:prstGeom prst="line">
            <a:avLst/>
          </a:prstGeom>
          <a:ln w="9525">
            <a:solidFill>
              <a:srgbClr val="D9D9D9"/>
            </a:solidFill>
          </a:ln>
        </p:spPr>
        <p:style>
          <a:lnRef idx="2">
            <a:schemeClr val="accent1"/>
          </a:lnRef>
          <a:fillRef idx="0">
            <a:schemeClr val="accent1"/>
          </a:fillRef>
          <a:effectRef idx="0">
            <a:schemeClr val="accent1"/>
          </a:effectRef>
          <a:fontRef idx="minor">
            <a:schemeClr val="tx1"/>
          </a:fontRef>
        </p:style>
      </p:cxnSp>
      <p:sp>
        <p:nvSpPr>
          <p:cNvPr id="38" name="TextBox 37"/>
          <p:cNvSpPr txBox="1"/>
          <p:nvPr/>
        </p:nvSpPr>
        <p:spPr>
          <a:xfrm>
            <a:off x="635000" y="4904880"/>
            <a:ext cx="2914040" cy="577240"/>
          </a:xfrm>
          <a:prstGeom prst="rect">
            <a:avLst/>
          </a:prstGeom>
          <a:noFill/>
        </p:spPr>
        <p:txBody>
          <a:bodyPr wrap="square" rIns="0" tIns="0" bIns="0" lIns="0" anchor="t">
            <a:spAutoFit/>
          </a:bodyPr>
          <a:lstStyle/>
          <a:p>
            <a:pPr algn="l"/>
            <a:r>
              <a:rPr sz="1100" b="1">
                <a:solidFill>
                  <a:srgbClr val="23323B"/>
                </a:solidFill>
                <a:latin typeface="Arial"/>
                <a:ea typeface="Arial"/>
              </a:rPr>
              <a:t>⑤ Planned disposal/impairment</a:t>
            </a:r>
          </a:p>
          <a:p>
            <a:pPr algn="l"/>
            <a:r>
              <a:rPr sz="900" b="0">
                <a:solidFill>
                  <a:srgbClr val="404040"/>
                </a:solidFill>
                <a:latin typeface="Arial"/>
                <a:ea typeface="Arial"/>
              </a:rPr>
              <a:t>Assets planned for disposal or impairment</a:t>
            </a:r>
          </a:p>
        </p:txBody>
      </p:sp>
      <p:cxnSp>
        <p:nvCxnSpPr>
          <p:cNvPr id="39" name="Connector 38"/>
          <p:cNvCxnSpPr/>
          <p:nvPr/>
        </p:nvCxnSpPr>
        <p:spPr>
          <a:xfrm>
            <a:off x="6309360" y="1874520"/>
            <a:ext cx="0" cy="3657600"/>
          </a:xfrm>
          <a:prstGeom prst="line">
            <a:avLst/>
          </a:prstGeom>
          <a:ln w="12700">
            <a:solidFill>
              <a:srgbClr val="23323B"/>
            </a:solidFill>
            <a:prstDash val="lgDash"/>
          </a:ln>
        </p:spPr>
        <p:style>
          <a:lnRef idx="2">
            <a:schemeClr val="accent1"/>
          </a:lnRef>
          <a:fillRef idx="0">
            <a:schemeClr val="accent1"/>
          </a:fillRef>
          <a:effectRef idx="0">
            <a:schemeClr val="accent1"/>
          </a:effectRef>
          <a:fontRef idx="minor">
            <a:schemeClr val="tx1"/>
          </a:fontRef>
        </p:style>
      </p:cxnSp>
      <p:sp>
        <p:nvSpPr>
          <p:cNvPr id="40" name="Rectangle 39"/>
          <p:cNvSpPr/>
          <p:nvPr/>
        </p:nvSpPr>
        <p:spPr>
          <a:xfrm>
            <a:off x="3749040" y="2300240"/>
            <a:ext cx="2560320" cy="228600"/>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rIns="0" tIns="0" bIns="0"/>
          <a:lstStyle/>
          <a:p>
            <a:pPr algn="l"/>
            <a:r>
              <a:rPr sz="900" b="1">
                <a:solidFill>
                  <a:srgbClr val="404040"/>
                </a:solidFill>
                <a:latin typeface="Arial"/>
                <a:ea typeface="Arial"/>
              </a:rPr>
              <a:t>Current owner</a:t>
            </a:r>
          </a:p>
        </p:txBody>
      </p:sp>
      <p:sp>
        <p:nvSpPr>
          <p:cNvPr id="41" name="Rectangle 40"/>
          <p:cNvSpPr/>
          <p:nvPr/>
        </p:nvSpPr>
        <p:spPr>
          <a:xfrm>
            <a:off x="6309360" y="2300240"/>
            <a:ext cx="5247640" cy="228600"/>
          </a:xfrm>
          <a:prstGeom prst="rect">
            <a:avLst/>
          </a:prstGeom>
          <a:solidFill>
            <a:srgbClr val="23323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rIns="0" tIns="0" bIns="0"/>
          <a:lstStyle/>
          <a:p>
            <a:pPr algn="l"/>
            <a:r>
              <a:rPr sz="900" b="1">
                <a:solidFill>
                  <a:srgbClr val="FFFFFF"/>
                </a:solidFill>
                <a:latin typeface="Arial"/>
                <a:ea typeface="Arial"/>
              </a:rPr>
              <a:t>GDS</a:t>
            </a:r>
          </a:p>
        </p:txBody>
      </p:sp>
      <p:sp>
        <p:nvSpPr>
          <p:cNvPr id="42" name="Isosceles Triangle 41"/>
          <p:cNvSpPr/>
          <p:nvPr/>
        </p:nvSpPr>
        <p:spPr>
          <a:xfrm rot="10800000">
            <a:off x="6249360" y="2190240"/>
            <a:ext cx="120000" cy="100000"/>
          </a:xfrm>
          <a:prstGeom prst="triangle">
            <a:avLst/>
          </a:prstGeom>
          <a:solidFill>
            <a:srgbClr val="2332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TextBox 42"/>
          <p:cNvSpPr txBox="1"/>
          <p:nvPr/>
        </p:nvSpPr>
        <p:spPr>
          <a:xfrm>
            <a:off x="6419360" y="2050240"/>
            <a:ext cx="2200000" cy="180000"/>
          </a:xfrm>
          <a:prstGeom prst="rect">
            <a:avLst/>
          </a:prstGeom>
          <a:noFill/>
        </p:spPr>
        <p:txBody>
          <a:bodyPr wrap="square" rIns="0" tIns="0" bIns="0" lIns="0" anchor="t">
            <a:spAutoFit/>
          </a:bodyPr>
          <a:lstStyle/>
          <a:p>
            <a:pPr algn="l"/>
            <a:r>
              <a:rPr sz="900" b="1">
                <a:solidFill>
                  <a:srgbClr val="23323B"/>
                </a:solidFill>
                <a:latin typeface="Arial"/>
                <a:ea typeface="Arial"/>
              </a:rPr>
              <a:t>Move on transfer date</a:t>
            </a:r>
          </a:p>
        </p:txBody>
      </p:sp>
      <p:sp>
        <p:nvSpPr>
          <p:cNvPr id="44" name="Rectangle 43"/>
          <p:cNvSpPr/>
          <p:nvPr/>
        </p:nvSpPr>
        <p:spPr>
          <a:xfrm>
            <a:off x="3749040" y="2986040"/>
            <a:ext cx="3870960" cy="228600"/>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rIns="0" tIns="0" bIns="0"/>
          <a:lstStyle/>
          <a:p>
            <a:pPr algn="l"/>
            <a:r>
              <a:rPr sz="900" b="1">
                <a:solidFill>
                  <a:srgbClr val="404040"/>
                </a:solidFill>
                <a:latin typeface="Arial"/>
                <a:ea typeface="Arial"/>
              </a:rPr>
              <a:t>Current owner (project continues)</a:t>
            </a:r>
          </a:p>
        </p:txBody>
      </p:sp>
      <p:sp>
        <p:nvSpPr>
          <p:cNvPr id="45" name="Rectangle 44"/>
          <p:cNvSpPr/>
          <p:nvPr/>
        </p:nvSpPr>
        <p:spPr>
          <a:xfrm>
            <a:off x="7620000" y="2986040"/>
            <a:ext cx="3937000" cy="228600"/>
          </a:xfrm>
          <a:prstGeom prst="rect">
            <a:avLst/>
          </a:prstGeom>
          <a:solidFill>
            <a:srgbClr val="23323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rIns="0" tIns="0" bIns="0"/>
          <a:lstStyle/>
          <a:p>
            <a:pPr algn="l"/>
            <a:r>
              <a:rPr sz="900" b="1">
                <a:solidFill>
                  <a:srgbClr val="FFFFFF"/>
                </a:solidFill>
                <a:latin typeface="Arial"/>
                <a:ea typeface="Arial"/>
              </a:rPr>
              <a:t>GDS</a:t>
            </a:r>
          </a:p>
        </p:txBody>
      </p:sp>
      <p:sp>
        <p:nvSpPr>
          <p:cNvPr id="46" name="Isosceles Triangle 45"/>
          <p:cNvSpPr/>
          <p:nvPr/>
        </p:nvSpPr>
        <p:spPr>
          <a:xfrm rot="10800000">
            <a:off x="7560000" y="2876040"/>
            <a:ext cx="120000" cy="100000"/>
          </a:xfrm>
          <a:prstGeom prst="triangle">
            <a:avLst/>
          </a:prstGeom>
          <a:solidFill>
            <a:srgbClr val="2332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 name="TextBox 46"/>
          <p:cNvSpPr txBox="1"/>
          <p:nvPr/>
        </p:nvSpPr>
        <p:spPr>
          <a:xfrm>
            <a:off x="7730000" y="2736040"/>
            <a:ext cx="2200000" cy="180000"/>
          </a:xfrm>
          <a:prstGeom prst="rect">
            <a:avLst/>
          </a:prstGeom>
          <a:noFill/>
        </p:spPr>
        <p:txBody>
          <a:bodyPr wrap="square" rIns="0" tIns="0" bIns="0" lIns="0" anchor="t">
            <a:spAutoFit/>
          </a:bodyPr>
          <a:lstStyle/>
          <a:p>
            <a:pPr algn="l"/>
            <a:r>
              <a:rPr sz="900" b="1">
                <a:solidFill>
                  <a:srgbClr val="23323B"/>
                </a:solidFill>
                <a:latin typeface="Arial"/>
                <a:ea typeface="Arial"/>
              </a:rPr>
              <a:t>Move when capitalized</a:t>
            </a:r>
          </a:p>
        </p:txBody>
      </p:sp>
      <p:sp>
        <p:nvSpPr>
          <p:cNvPr id="48" name="Rectangle 47"/>
          <p:cNvSpPr/>
          <p:nvPr/>
        </p:nvSpPr>
        <p:spPr>
          <a:xfrm>
            <a:off x="3749040" y="3671840"/>
            <a:ext cx="2560320" cy="228600"/>
          </a:xfrm>
          <a:prstGeom prst="rect">
            <a:avLst/>
          </a:prstGeom>
          <a:noFill/>
          <a:ln w="9525">
            <a:solidFill>
              <a:srgbClr val="D9D9D9"/>
            </a:solidFill>
            <a:prstDash val="lgDash"/>
          </a:ln>
          <a:effectLst/>
        </p:spPr>
        <p:style>
          <a:lnRef idx="1">
            <a:schemeClr val="accent1"/>
          </a:lnRef>
          <a:fillRef idx="3">
            <a:schemeClr val="accent1"/>
          </a:fillRef>
          <a:effectRef idx="0">
            <a:schemeClr val="accent1"/>
          </a:effectRef>
          <a:fontRef idx="minor">
            <a:schemeClr val="lt1"/>
          </a:fontRef>
        </p:style>
        <p:txBody>
          <a:bodyPr rtlCol="0" anchor="ctr" wrap="square" rIns="0" tIns="0" bIns="0"/>
          <a:lstStyle/>
          <a:p>
            <a:pPr algn="l"/>
            <a:r>
              <a:rPr sz="900" b="0">
                <a:solidFill>
                  <a:srgbClr val="404040"/>
                </a:solidFill>
                <a:latin typeface="Arial"/>
                <a:ea typeface="Arial"/>
              </a:rPr>
              <a:t>Budget: current owner</a:t>
            </a:r>
          </a:p>
        </p:txBody>
      </p:sp>
      <p:sp>
        <p:nvSpPr>
          <p:cNvPr id="49" name="Rectangle 48"/>
          <p:cNvSpPr/>
          <p:nvPr/>
        </p:nvSpPr>
        <p:spPr>
          <a:xfrm>
            <a:off x="6309360" y="3671840"/>
            <a:ext cx="3063240" cy="228600"/>
          </a:xfrm>
          <a:prstGeom prst="rect">
            <a:avLst/>
          </a:prstGeom>
          <a:noFill/>
          <a:ln w="9525">
            <a:solidFill>
              <a:srgbClr val="23323B"/>
            </a:solidFill>
            <a:prstDash val="lgDash"/>
          </a:ln>
          <a:effectLst/>
        </p:spPr>
        <p:style>
          <a:lnRef idx="1">
            <a:schemeClr val="accent1"/>
          </a:lnRef>
          <a:fillRef idx="3">
            <a:schemeClr val="accent1"/>
          </a:fillRef>
          <a:effectRef idx="0">
            <a:schemeClr val="accent1"/>
          </a:effectRef>
          <a:fontRef idx="minor">
            <a:schemeClr val="lt1"/>
          </a:fontRef>
        </p:style>
        <p:txBody>
          <a:bodyPr rtlCol="0" anchor="ctr" wrap="square" rIns="0" tIns="0" bIns="0"/>
          <a:lstStyle/>
          <a:p>
            <a:pPr algn="l"/>
            <a:r>
              <a:rPr sz="900" b="0">
                <a:solidFill>
                  <a:srgbClr val="23323B"/>
                </a:solidFill>
                <a:latin typeface="Arial"/>
                <a:ea typeface="Arial"/>
              </a:rPr>
              <a:t>Budget: GDS</a:t>
            </a:r>
          </a:p>
        </p:txBody>
      </p:sp>
      <p:sp>
        <p:nvSpPr>
          <p:cNvPr id="50" name="Isosceles Triangle 49"/>
          <p:cNvSpPr/>
          <p:nvPr/>
        </p:nvSpPr>
        <p:spPr>
          <a:xfrm rot="10800000">
            <a:off x="6249360" y="3561840"/>
            <a:ext cx="120000" cy="100000"/>
          </a:xfrm>
          <a:prstGeom prst="triangle">
            <a:avLst/>
          </a:prstGeom>
          <a:solidFill>
            <a:srgbClr val="2332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 name="TextBox 50"/>
          <p:cNvSpPr txBox="1"/>
          <p:nvPr/>
        </p:nvSpPr>
        <p:spPr>
          <a:xfrm>
            <a:off x="6419360" y="3421840"/>
            <a:ext cx="2200000" cy="180000"/>
          </a:xfrm>
          <a:prstGeom prst="rect">
            <a:avLst/>
          </a:prstGeom>
          <a:noFill/>
        </p:spPr>
        <p:txBody>
          <a:bodyPr wrap="square" rIns="0" tIns="0" bIns="0" lIns="0" anchor="t">
            <a:spAutoFit/>
          </a:bodyPr>
          <a:lstStyle/>
          <a:p>
            <a:pPr algn="l"/>
            <a:r>
              <a:rPr sz="900" b="1">
                <a:solidFill>
                  <a:srgbClr val="23323B"/>
                </a:solidFill>
                <a:latin typeface="Arial"/>
                <a:ea typeface="Arial"/>
              </a:rPr>
              <a:t>Budget transfer</a:t>
            </a:r>
          </a:p>
        </p:txBody>
      </p:sp>
      <p:sp>
        <p:nvSpPr>
          <p:cNvPr id="52" name="Rectangle 51"/>
          <p:cNvSpPr/>
          <p:nvPr/>
        </p:nvSpPr>
        <p:spPr>
          <a:xfrm>
            <a:off x="9372600" y="3671840"/>
            <a:ext cx="2184400" cy="228600"/>
          </a:xfrm>
          <a:prstGeom prst="rect">
            <a:avLst/>
          </a:prstGeom>
          <a:solidFill>
            <a:srgbClr val="23323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rIns="0" tIns="0" bIns="0"/>
          <a:lstStyle/>
          <a:p>
            <a:pPr algn="l"/>
            <a:r>
              <a:rPr sz="900" b="1">
                <a:solidFill>
                  <a:srgbClr val="FFFFFF"/>
                </a:solidFill>
                <a:latin typeface="Arial"/>
                <a:ea typeface="Arial"/>
              </a:rPr>
              <a:t>GDS (from CIP)</a:t>
            </a:r>
          </a:p>
        </p:txBody>
      </p:sp>
      <p:sp>
        <p:nvSpPr>
          <p:cNvPr id="53" name="Isosceles Triangle 52"/>
          <p:cNvSpPr/>
          <p:nvPr/>
        </p:nvSpPr>
        <p:spPr>
          <a:xfrm rot="10800000">
            <a:off x="9312600" y="3561840"/>
            <a:ext cx="120000" cy="100000"/>
          </a:xfrm>
          <a:prstGeom prst="triangle">
            <a:avLst/>
          </a:prstGeom>
          <a:solidFill>
            <a:srgbClr val="2332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TextBox 53"/>
          <p:cNvSpPr txBox="1"/>
          <p:nvPr/>
        </p:nvSpPr>
        <p:spPr>
          <a:xfrm>
            <a:off x="9482600" y="3421840"/>
            <a:ext cx="2200000" cy="180000"/>
          </a:xfrm>
          <a:prstGeom prst="rect">
            <a:avLst/>
          </a:prstGeom>
          <a:noFill/>
        </p:spPr>
        <p:txBody>
          <a:bodyPr wrap="square" rIns="0" tIns="0" bIns="0" lIns="0" anchor="t">
            <a:spAutoFit/>
          </a:bodyPr>
          <a:lstStyle/>
          <a:p>
            <a:pPr algn="l"/>
            <a:r>
              <a:rPr sz="900" b="1">
                <a:solidFill>
                  <a:srgbClr val="23323B"/>
                </a:solidFill>
                <a:latin typeface="Arial"/>
                <a:ea typeface="Arial"/>
              </a:rPr>
              <a:t>Held by GDS from start</a:t>
            </a:r>
          </a:p>
        </p:txBody>
      </p:sp>
      <p:sp>
        <p:nvSpPr>
          <p:cNvPr id="55" name="Rectangle 54"/>
          <p:cNvSpPr/>
          <p:nvPr/>
        </p:nvSpPr>
        <p:spPr>
          <a:xfrm>
            <a:off x="3749040" y="4307640"/>
            <a:ext cx="3870960" cy="190000"/>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rIns="0" tIns="0" bIns="0"/>
          <a:lstStyle/>
          <a:p>
            <a:pPr algn="l"/>
            <a:r>
              <a:rPr sz="900" b="1">
                <a:solidFill>
                  <a:srgbClr val="404040"/>
                </a:solidFill>
                <a:latin typeface="Arial"/>
                <a:ea typeface="Arial"/>
              </a:rPr>
              <a:t>Base asset: current owner</a:t>
            </a:r>
          </a:p>
        </p:txBody>
      </p:sp>
      <p:sp>
        <p:nvSpPr>
          <p:cNvPr id="56" name="Rectangle 55"/>
          <p:cNvSpPr/>
          <p:nvPr/>
        </p:nvSpPr>
        <p:spPr>
          <a:xfrm>
            <a:off x="7620000" y="4307640"/>
            <a:ext cx="3937000" cy="190000"/>
          </a:xfrm>
          <a:prstGeom prst="rect">
            <a:avLst/>
          </a:prstGeom>
          <a:solidFill>
            <a:srgbClr val="23323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rIns="0" tIns="0" bIns="0"/>
          <a:lstStyle/>
          <a:p>
            <a:pPr algn="l"/>
            <a:r>
              <a:rPr sz="900" b="1">
                <a:solidFill>
                  <a:srgbClr val="FFFFFF"/>
                </a:solidFill>
                <a:latin typeface="Arial"/>
                <a:ea typeface="Arial"/>
              </a:rPr>
              <a:t>GDS</a:t>
            </a:r>
          </a:p>
        </p:txBody>
      </p:sp>
      <p:sp>
        <p:nvSpPr>
          <p:cNvPr id="57" name="Isosceles Triangle 56"/>
          <p:cNvSpPr/>
          <p:nvPr/>
        </p:nvSpPr>
        <p:spPr>
          <a:xfrm rot="10800000">
            <a:off x="7560000" y="4197640"/>
            <a:ext cx="120000" cy="100000"/>
          </a:xfrm>
          <a:prstGeom prst="triangle">
            <a:avLst/>
          </a:prstGeom>
          <a:solidFill>
            <a:srgbClr val="2332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 name="TextBox 57"/>
          <p:cNvSpPr txBox="1"/>
          <p:nvPr/>
        </p:nvSpPr>
        <p:spPr>
          <a:xfrm>
            <a:off x="7730000" y="4057640"/>
            <a:ext cx="3827000" cy="180000"/>
          </a:xfrm>
          <a:prstGeom prst="rect">
            <a:avLst/>
          </a:prstGeom>
          <a:noFill/>
        </p:spPr>
        <p:txBody>
          <a:bodyPr wrap="square" rIns="0" tIns="0" bIns="0" lIns="0" anchor="t">
            <a:spAutoFit/>
          </a:bodyPr>
          <a:lstStyle/>
          <a:p>
            <a:pPr algn="l"/>
            <a:r>
              <a:rPr sz="900" b="1">
                <a:solidFill>
                  <a:srgbClr val="23323B"/>
                </a:solidFill>
                <a:latin typeface="Arial"/>
                <a:ea typeface="Arial"/>
              </a:rPr>
              <a:t>Base asset moves when the upgrade is capitalized</a:t>
            </a:r>
          </a:p>
        </p:txBody>
      </p:sp>
      <p:sp>
        <p:nvSpPr>
          <p:cNvPr id="59" name="Rectangle 58"/>
          <p:cNvSpPr/>
          <p:nvPr/>
        </p:nvSpPr>
        <p:spPr>
          <a:xfrm>
            <a:off x="3749040" y="4547640"/>
            <a:ext cx="3870960" cy="190000"/>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rIns="0" tIns="0" bIns="0"/>
          <a:lstStyle/>
          <a:p>
            <a:pPr algn="l"/>
            <a:r>
              <a:rPr sz="900" b="1">
                <a:solidFill>
                  <a:srgbClr val="404040"/>
                </a:solidFill>
                <a:latin typeface="Arial"/>
                <a:ea typeface="Arial"/>
              </a:rPr>
              <a:t>Upgrade (in progress): current owner</a:t>
            </a:r>
          </a:p>
        </p:txBody>
      </p:sp>
      <p:sp>
        <p:nvSpPr>
          <p:cNvPr id="60" name="Rectangle 59"/>
          <p:cNvSpPr/>
          <p:nvPr/>
        </p:nvSpPr>
        <p:spPr>
          <a:xfrm>
            <a:off x="7620000" y="4547640"/>
            <a:ext cx="3937000" cy="190000"/>
          </a:xfrm>
          <a:prstGeom prst="rect">
            <a:avLst/>
          </a:prstGeom>
          <a:solidFill>
            <a:srgbClr val="23323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rIns="0" tIns="0" bIns="0"/>
          <a:lstStyle/>
          <a:p>
            <a:pPr algn="l"/>
            <a:r>
              <a:rPr sz="900" b="1">
                <a:solidFill>
                  <a:srgbClr val="FFFFFF"/>
                </a:solidFill>
                <a:latin typeface="Arial"/>
                <a:ea typeface="Arial"/>
              </a:rPr>
              <a:t>GDS</a:t>
            </a:r>
          </a:p>
        </p:txBody>
      </p:sp>
      <p:sp>
        <p:nvSpPr>
          <p:cNvPr id="61" name="Rectangle 60"/>
          <p:cNvSpPr/>
          <p:nvPr/>
        </p:nvSpPr>
        <p:spPr>
          <a:xfrm>
            <a:off x="3749040" y="5084880"/>
            <a:ext cx="2560320" cy="190000"/>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rIns="0" tIns="0" bIns="0"/>
          <a:lstStyle/>
          <a:p>
            <a:pPr algn="l"/>
            <a:r>
              <a:rPr sz="900" b="1">
                <a:solidFill>
                  <a:srgbClr val="404040"/>
                </a:solidFill>
                <a:latin typeface="Arial"/>
                <a:ea typeface="Arial"/>
              </a:rPr>
              <a:t>This year: current owner</a:t>
            </a:r>
          </a:p>
        </p:txBody>
      </p:sp>
      <p:sp>
        <p:nvSpPr>
          <p:cNvPr id="62" name="Isosceles Triangle 61"/>
          <p:cNvSpPr/>
          <p:nvPr/>
        </p:nvSpPr>
        <p:spPr>
          <a:xfrm rot="10800000">
            <a:off x="4969200" y="4974880"/>
            <a:ext cx="120000" cy="100000"/>
          </a:xfrm>
          <a:prstGeom prst="triangle">
            <a:avLst/>
          </a:prstGeom>
          <a:solidFill>
            <a:srgbClr val="2332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 name="TextBox 62"/>
          <p:cNvSpPr txBox="1"/>
          <p:nvPr/>
        </p:nvSpPr>
        <p:spPr>
          <a:xfrm>
            <a:off x="5139200" y="4834880"/>
            <a:ext cx="1130160" cy="180000"/>
          </a:xfrm>
          <a:prstGeom prst="rect">
            <a:avLst/>
          </a:prstGeom>
          <a:noFill/>
        </p:spPr>
        <p:txBody>
          <a:bodyPr wrap="square" rIns="0" tIns="0" bIns="0" lIns="0" anchor="t">
            <a:spAutoFit/>
          </a:bodyPr>
          <a:lstStyle/>
          <a:p>
            <a:pPr algn="l"/>
            <a:r>
              <a:rPr sz="900" b="1">
                <a:solidFill>
                  <a:srgbClr val="23323B"/>
                </a:solidFill>
                <a:latin typeface="Arial"/>
                <a:ea typeface="Arial"/>
              </a:rPr>
              <a:t>Approved</a:t>
            </a:r>
          </a:p>
        </p:txBody>
      </p:sp>
      <p:sp>
        <p:nvSpPr>
          <p:cNvPr id="64" name="Isosceles Triangle 63"/>
          <p:cNvSpPr/>
          <p:nvPr/>
        </p:nvSpPr>
        <p:spPr>
          <a:xfrm rot="10800000">
            <a:off x="6249360" y="4974880"/>
            <a:ext cx="120000" cy="100000"/>
          </a:xfrm>
          <a:prstGeom prst="triangle">
            <a:avLst/>
          </a:prstGeom>
          <a:solidFill>
            <a:srgbClr val="2332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5" name="TextBox 64"/>
          <p:cNvSpPr txBox="1"/>
          <p:nvPr/>
        </p:nvSpPr>
        <p:spPr>
          <a:xfrm>
            <a:off x="6419360" y="4834880"/>
            <a:ext cx="2200000" cy="180000"/>
          </a:xfrm>
          <a:prstGeom prst="rect">
            <a:avLst/>
          </a:prstGeom>
          <a:noFill/>
        </p:spPr>
        <p:txBody>
          <a:bodyPr wrap="square" rIns="0" tIns="0" bIns="0" lIns="0" anchor="t">
            <a:spAutoFit/>
          </a:bodyPr>
          <a:lstStyle/>
          <a:p>
            <a:pPr algn="l"/>
            <a:r>
              <a:rPr sz="900" b="1">
                <a:solidFill>
                  <a:srgbClr val="23323B"/>
                </a:solidFill>
                <a:latin typeface="Arial"/>
                <a:ea typeface="Arial"/>
              </a:rPr>
              <a:t>Dispose / impair</a:t>
            </a:r>
          </a:p>
        </p:txBody>
      </p:sp>
      <p:cxnSp>
        <p:nvCxnSpPr>
          <p:cNvPr id="66" name="Connector 65"/>
          <p:cNvCxnSpPr/>
          <p:nvPr/>
        </p:nvCxnSpPr>
        <p:spPr>
          <a:xfrm>
            <a:off x="5029200" y="5074880"/>
            <a:ext cx="0" cy="440000"/>
          </a:xfrm>
          <a:prstGeom prst="line">
            <a:avLst/>
          </a:prstGeom>
          <a:ln w="12700">
            <a:solidFill>
              <a:srgbClr val="23323B"/>
            </a:solidFill>
            <a:prstDash val="lgDash"/>
          </a:ln>
        </p:spPr>
        <p:style>
          <a:lnRef idx="2">
            <a:schemeClr val="accent1"/>
          </a:lnRef>
          <a:fillRef idx="0">
            <a:schemeClr val="accent1"/>
          </a:fillRef>
          <a:effectRef idx="0">
            <a:schemeClr val="accent1"/>
          </a:effectRef>
          <a:fontRef idx="minor">
            <a:schemeClr val="tx1"/>
          </a:fontRef>
        </p:style>
      </p:cxnSp>
      <p:sp>
        <p:nvSpPr>
          <p:cNvPr id="67" name="Rectangle 66"/>
          <p:cNvSpPr/>
          <p:nvPr/>
        </p:nvSpPr>
        <p:spPr>
          <a:xfrm>
            <a:off x="3749040" y="5324880"/>
            <a:ext cx="2560320" cy="190000"/>
          </a:xfrm>
          <a:prstGeom prst="rect">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rIns="0" tIns="0" bIns="0"/>
          <a:lstStyle/>
          <a:p>
            <a:pPr algn="l"/>
            <a:r>
              <a:rPr sz="900" b="1">
                <a:solidFill>
                  <a:srgbClr val="404040"/>
                </a:solidFill>
                <a:latin typeface="Arial"/>
                <a:ea typeface="Arial"/>
              </a:rPr>
              <a:t>Next year on: current owner</a:t>
            </a:r>
          </a:p>
        </p:txBody>
      </p:sp>
      <p:sp>
        <p:nvSpPr>
          <p:cNvPr id="68" name="Rectangle 67"/>
          <p:cNvSpPr/>
          <p:nvPr/>
        </p:nvSpPr>
        <p:spPr>
          <a:xfrm>
            <a:off x="6309360" y="5324880"/>
            <a:ext cx="3291840" cy="190000"/>
          </a:xfrm>
          <a:prstGeom prst="rect">
            <a:avLst/>
          </a:prstGeom>
          <a:solidFill>
            <a:srgbClr val="23323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rIns="0" tIns="0" bIns="0"/>
          <a:lstStyle/>
          <a:p>
            <a:pPr algn="l"/>
            <a:r>
              <a:rPr sz="900" b="1">
                <a:solidFill>
                  <a:srgbClr val="FFFFFF"/>
                </a:solidFill>
                <a:latin typeface="Arial"/>
                <a:ea typeface="Arial"/>
              </a:rPr>
              <a:t>GDS (moves with existing assets)</a:t>
            </a:r>
          </a:p>
        </p:txBody>
      </p:sp>
      <p:sp>
        <p:nvSpPr>
          <p:cNvPr id="69" name="Isosceles Triangle 68"/>
          <p:cNvSpPr/>
          <p:nvPr/>
        </p:nvSpPr>
        <p:spPr>
          <a:xfrm rot="10800000">
            <a:off x="9541200" y="5214880"/>
            <a:ext cx="120000" cy="100000"/>
          </a:xfrm>
          <a:prstGeom prst="triangle">
            <a:avLst/>
          </a:prstGeom>
          <a:solidFill>
            <a:srgbClr val="23323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0" name="TextBox 69"/>
          <p:cNvSpPr txBox="1"/>
          <p:nvPr/>
        </p:nvSpPr>
        <p:spPr>
          <a:xfrm>
            <a:off x="9711200" y="5074880"/>
            <a:ext cx="2200000" cy="180000"/>
          </a:xfrm>
          <a:prstGeom prst="rect">
            <a:avLst/>
          </a:prstGeom>
          <a:noFill/>
        </p:spPr>
        <p:txBody>
          <a:bodyPr wrap="square" rIns="0" tIns="0" bIns="0" lIns="0" anchor="t">
            <a:spAutoFit/>
          </a:bodyPr>
          <a:lstStyle/>
          <a:p>
            <a:pPr algn="l"/>
            <a:r>
              <a:rPr sz="900" b="1">
                <a:solidFill>
                  <a:srgbClr val="23323B"/>
                </a:solidFill>
                <a:latin typeface="Arial"/>
                <a:ea typeface="Arial"/>
              </a:rPr>
              <a:t>Dispose / impair</a:t>
            </a:r>
          </a:p>
        </p:txBody>
      </p:sp>
      <p:sp>
        <p:nvSpPr>
          <p:cNvPr id="71" name="asset-key-message"/>
          <p:cNvSpPr/>
          <p:nvPr/>
        </p:nvSpPr>
        <p:spPr>
          <a:xfrm>
            <a:off x="635000" y="5669280"/>
            <a:ext cx="10922000" cy="457200"/>
          </a:xfrm>
          <a:prstGeom prst="rect">
            <a:avLst/>
          </a:prstGeom>
          <a:solidFill>
            <a:srgbClr val="23323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rIns="0" tIns="0" bIns="0" lIns="182880"/>
          <a:lstStyle/>
          <a:p>
            <a:pPr algn="l"/>
            <a:r>
              <a:rPr sz="1250" b="1">
                <a:solidFill>
                  <a:srgbClr val="FFFFFF"/>
                </a:solidFill>
                <a:latin typeface="Arial"/>
                <a:ea typeface="Arial"/>
              </a:rPr>
              <a:t>Select assets to transfer from the register provided by Finance and return it; FinanceBP handles the transfer</a:t>
            </a:r>
          </a:p>
        </p:txBody>
      </p:sp>
    </p:spTree>
  </p:cSld>
  <p:clrMapOvr>
    <a:masterClrMapping/>
  </p:clrMapOvr>
</p:sld>
</file>

<file path=ppt/theme/theme1.xml><?xml version="1.0" encoding="utf-8"?>
<a:theme xmlns:a="http://schemas.openxmlformats.org/drawingml/2006/main" xmlns:r="http://schemas.openxmlformats.org/officeDocument/2006/relationships" name="BTR Kickoff">
  <a:themeElements>
    <a:clrScheme name="BTR Kickoff">
      <a:dk1>
        <a:srgbClr val="000000"/>
      </a:dk1>
      <a:lt1>
        <a:srgbClr val="FFFFFF"/>
      </a:lt1>
      <a:dk2>
        <a:srgbClr val="23323B"/>
      </a:dk2>
      <a:lt2>
        <a:srgbClr val="EEEFEF"/>
      </a:lt2>
      <a:accent1>
        <a:srgbClr val="ED5604"/>
      </a:accent1>
      <a:accent2>
        <a:srgbClr val="404040"/>
      </a:accent2>
      <a:accent3>
        <a:srgbClr val="7F7F7F"/>
      </a:accent3>
      <a:accent4>
        <a:srgbClr val="FEE8DB"/>
      </a:accent4>
      <a:accent5>
        <a:srgbClr val="5D6164"/>
      </a:accent5>
      <a:accent6>
        <a:srgbClr val="D9D9D9"/>
      </a:accent6>
      <a:hlink>
        <a:srgbClr val="23323B"/>
      </a:hlink>
      <a:folHlink>
        <a:srgbClr val="404040"/>
      </a:folHlink>
    </a:clrScheme>
    <a:fontScheme name="Office">
      <a:majorFont>
        <a:latin typeface="Arial"/>
        <a:ea typeface="Meiryo UI"/>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eiryo UI"/>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BTR Kickoff">
  <a:themeElements>
    <a:clrScheme name="BTR Kickoff">
      <a:dk1>
        <a:srgbClr val="222B38"/>
      </a:dk1>
      <a:lt1>
        <a:srgbClr val="FFFFFF"/>
      </a:lt1>
      <a:dk2>
        <a:srgbClr val="1C2B45"/>
      </a:dk2>
      <a:lt2>
        <a:srgbClr val="F4F6F9"/>
      </a:lt2>
      <a:accent1>
        <a:srgbClr val="1C2B45"/>
      </a:accent1>
      <a:accent2>
        <a:srgbClr val="5E7391"/>
      </a:accent2>
      <a:accent3>
        <a:srgbClr val="9AA5B5"/>
      </a:accent3>
      <a:accent4>
        <a:srgbClr val="DDE5F2"/>
      </a:accent4>
      <a:accent5>
        <a:srgbClr val="3F4F6A"/>
      </a:accent5>
      <a:accent6>
        <a:srgbClr val="999999"/>
      </a:accent6>
      <a:hlink>
        <a:srgbClr val="1C2B45"/>
      </a:hlink>
      <a:folHlink>
        <a:srgbClr val="5E739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dc:title>IT予算移管の要点（IT部門向け予算ガイドライン 追補）</dc:title>
  <cp:lastModifiedBy>python-pptx</cp:lastModifiedBy>
  <cp:revision>1</cp:revision>
  <dcterms:modified xsi:type="dcterms:W3CDTF">2026-10-20T12:06:36Z</dcterms:modified>
</cp:coreProperties>
</file>