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briefing gives everyone in IT a shared understanding of the IT budget transfer that starts with next year's budget. We will share what has been decided and how we will proceed through the end of December.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main topic, let me answer what matters most to both IT staff and the business side. First, there are no exceptions: all budgets move at once on January 1. Only work whose owner is fixed in approved documents and needs a formal procedure to change stays with the current owner until the procedure is complete, but the budget still moves. Second, accountability (A) stays with the departments. IT takes on indirect work and the hands-on part of IT-related work. What can change per case is limited, and the transferring manager finalizes it by approving the agreement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term's goal is to have the transfer ringi approved by the end of December. How to create value from the transfer will be considered again next term. The transfer is decided company policy, and all budgets move at once on January 1. Work whose owner is fixed in approved documents stays with the current owner as an interim measure until the procedure is complete, but the budget still moves. Not everything has to be finished by the end of December; there are only three prerequisites.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tasks for November and December. Case owners work through steps 1 to 4 in order: the inventory in November, the agreement by December 11, and steps 3 and 4 by December 18. The transfer lead checks status daily and raises the ringi as each department's case statuses are filled. From January, only the completion of owner-change procedures (such as GxP change control) for interim-measure work remains.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owners, please keep this slide at hand. It matches tasks 1 to 4 on slide 4, each with a deliverable. Progress is managed in the budget transfer sheet, so update the status each time its conditions are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think of work in three layers. Direct work is the department's own work, so it does not move. Indirect work is the procedure that comes with the budget, so it moves to IT. IT-related work, in between, is handled by customizing the RACI templates on the next two slides for each case, agreeing with the transferring manager and keeping it as a document. In every layer, final accountability (A) stays with the Business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RACI for the IT investment process. For most IT-related work, SO takes R for the hands-on work and BO focuses on A for decisions and approvals. IT handles indirect work. In each case agreement, confirm the current way of working as Before, list the differences from After, and agree how R is held. That A stays with the BO is not subject to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RACI for the expense process. IT takes over indirect work from January. For IT-related work such as monitoring, improvement and contract review, SO does the hands-on work and decisions stay with the BO.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286000"/>
            <a:ext cx="10698480"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731520" y="3383280"/>
            <a:ext cx="10698480" cy="1097280"/>
          </a:xfrm>
          <a:prstGeom prst="rect">
            <a:avLst/>
          </a:prstGeom>
          <a:noFill/>
          <a:ln/>
        </p:spPr>
        <p:txBody>
          <a:bodyPr wrap="square" rtlCol="0"/>
          <a:lstStyle>
            <a:lvl1pPr indent="0" marL="0">
              <a:buNone/>
              <a:defRPr lang="en-US" sz="1600" dirty="0">
                <a:solidFill>
                  <a:schemeClr val="accent4"/>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59436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286000"/>
            <a:ext cx="10698480" cy="914400"/>
          </a:xfrm>
          <a:prstGeom prst="rect">
            <a:avLst/>
          </a:prstGeom>
          <a:noFill/>
          <a:ln/>
        </p:spPr>
        <p:txBody>
          <a:bodyPr wrap="square" lIns="0" tIns="0" rIns="0" bIns="0" rtlCol="0" anchor="b"/>
          <a:lstStyle/>
          <a:p>
            <a:pPr algn="l" indent="0" marL="0">
              <a:buNone/>
            </a:pPr>
            <a:r>
              <a:rPr lang="en-US" sz="3600" b="1" dirty="0">
                <a:solidFill>
                  <a:schemeClr val="bg1"/>
                </a:solidFill>
              </a:rPr>
              <a:t>IT Budget Transfer Kickoff</a:t>
            </a:r>
            <a:endParaRPr lang="en-US" sz="3600" dirty="0"/>
          </a:p>
        </p:txBody>
      </p:sp>
      <p:sp>
        <p:nvSpPr>
          <p:cNvPr id="3" name="Text 0"/>
          <p:cNvSpPr/>
          <p:nvPr>
            <p:ph idx="101" type="body" hasCustomPrompt="1"/>
          </p:nvPr>
        </p:nvSpPr>
        <p:spPr>
          <a:xfrm>
            <a:off x="731520" y="3383280"/>
            <a:ext cx="10698480" cy="1097280"/>
          </a:xfrm>
          <a:prstGeom prst="rect">
            <a:avLst/>
          </a:prstGeom>
          <a:noFill/>
          <a:ln/>
        </p:spPr>
        <p:txBody>
          <a:bodyPr wrap="square" lIns="0" tIns="0" rIns="0" bIns="0" rtlCol="0" anchor="t"/>
          <a:lstStyle/>
          <a:p>
            <a:pPr indent="0" marL="0">
              <a:buNone/>
            </a:pPr>
            <a:r>
              <a:rPr lang="en-US" sz="1600" dirty="0">
                <a:solidFill>
                  <a:schemeClr val="accent4"/>
                </a:solidFill>
              </a:rPr>
              <a:t>Briefing for all IT staff</a:t>
            </a:r>
            <a:endParaRPr lang="en-US" sz="1600" dirty="0"/>
          </a:p>
          <a:p>
            <a:pPr indent="0" marL="0">
              <a:buNone/>
            </a:pPr>
            <a:r>
              <a:rPr lang="en-US" sz="1600" dirty="0">
                <a:solidFill>
                  <a:schemeClr val="accent4"/>
                </a:solidFill>
              </a:rPr>
              <a:t>November 2, 2026  |  Budget Transfer Lead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594360"/>
          </a:xfrm>
          <a:prstGeom prst="rect">
            <a:avLst/>
          </a:prstGeom>
          <a:noFill/>
          <a:ln/>
        </p:spPr>
        <p:txBody>
          <a:bodyPr wrap="square" lIns="0" tIns="0" rIns="0" bIns="0" rtlCol="0" anchor="ctr"/>
          <a:lstStyle/>
          <a:p>
            <a:pPr algn="l" indent="0" marL="0">
              <a:buNone/>
            </a:pPr>
            <a:r>
              <a:rPr lang="en-US" sz="2600" b="1" dirty="0">
                <a:solidFill>
                  <a:schemeClr val="tx2"/>
                </a:solidFill>
              </a:rPr>
              <a:t>First, Answers to Two Concerns</a:t>
            </a:r>
            <a:endParaRPr lang="en-US" sz="2600" dirty="0"/>
          </a:p>
        </p:txBody>
      </p:sp>
      <p:sp>
        <p:nvSpPr>
          <p:cNvPr id="3" name="box-1"/>
          <p:cNvSpPr/>
          <p:nvPr/>
        </p:nvSpPr>
        <p:spPr>
          <a:xfrm>
            <a:off x="457200" y="1097280"/>
            <a:ext cx="3017520" cy="2514600"/>
          </a:xfrm>
          <a:prstGeom prst="rect">
            <a:avLst/>
          </a:prstGeom>
          <a:solidFill>
            <a:schemeClr val="tx2"/>
          </a:solidFill>
          <a:ln/>
        </p:spPr>
      </p:sp>
      <p:sp>
        <p:nvSpPr>
          <p:cNvPr id="4" name="txt-2"/>
          <p:cNvSpPr txBox="1"/>
          <p:nvPr/>
        </p:nvSpPr>
        <p:spPr>
          <a:xfrm>
            <a:off x="731520" y="1371600"/>
            <a:ext cx="2468880" cy="274320"/>
          </a:xfrm>
          <a:prstGeom prst="rect">
            <a:avLst/>
          </a:prstGeom>
          <a:noFill/>
          <a:ln/>
        </p:spPr>
        <p:txBody>
          <a:bodyPr wrap="square" lIns="0" tIns="0" rIns="0" bIns="0" rtlCol="0" anchor="t"/>
          <a:lstStyle/>
          <a:p>
            <a:pPr indent="0" marL="0">
              <a:buNone/>
            </a:pPr>
            <a:r>
              <a:rPr lang="en-US" sz="1200" b="1" dirty="0">
                <a:solidFill>
                  <a:schemeClr val="accent4"/>
                </a:solidFill>
              </a:rPr>
              <a:t>Concern 1</a:t>
            </a:r>
            <a:endParaRPr lang="en-US" sz="1200" dirty="0"/>
          </a:p>
        </p:txBody>
      </p:sp>
      <p:sp>
        <p:nvSpPr>
          <p:cNvPr id="5" name="txt-3"/>
          <p:cNvSpPr txBox="1"/>
          <p:nvPr/>
        </p:nvSpPr>
        <p:spPr>
          <a:xfrm>
            <a:off x="731520" y="1737360"/>
            <a:ext cx="2468880" cy="1600200"/>
          </a:xfrm>
          <a:prstGeom prst="rect">
            <a:avLst/>
          </a:prstGeom>
          <a:noFill/>
          <a:ln/>
        </p:spPr>
        <p:txBody>
          <a:bodyPr wrap="square" lIns="0" tIns="0" rIns="0" bIns="0" rtlCol="0" anchor="t"/>
          <a:lstStyle/>
          <a:p>
            <a:pPr indent="0" marL="0">
              <a:buNone/>
            </a:pPr>
            <a:r>
              <a:rPr lang="en-US" sz="1700" b="1" dirty="0">
                <a:solidFill>
                  <a:schemeClr val="bg1"/>
                </a:solidFill>
              </a:rPr>
              <a:t>Are there exceptions?</a:t>
            </a:r>
            <a:endParaRPr lang="en-US" sz="1700" dirty="0"/>
          </a:p>
          <a:p>
            <a:pPr indent="0" marL="0">
              <a:buNone/>
            </a:pPr>
            <a:r>
              <a:rPr lang="en-US" sz="1700" b="1" dirty="0">
                <a:solidFill>
                  <a:schemeClr val="bg1"/>
                </a:solidFill>
              </a:rPr>
              <a:t>Does work that needs</a:t>
            </a:r>
            <a:endParaRPr lang="en-US" sz="1700" dirty="0"/>
          </a:p>
          <a:p>
            <a:pPr indent="0" marL="0">
              <a:buNone/>
            </a:pPr>
            <a:r>
              <a:rPr lang="en-US" sz="1700" b="1" dirty="0">
                <a:solidFill>
                  <a:schemeClr val="bg1"/>
                </a:solidFill>
              </a:rPr>
              <a:t>a formal procedure</a:t>
            </a:r>
            <a:endParaRPr lang="en-US" sz="1700" dirty="0"/>
          </a:p>
          <a:p>
            <a:pPr indent="0" marL="0">
              <a:buNone/>
            </a:pPr>
            <a:r>
              <a:rPr lang="en-US" sz="1700" b="1" dirty="0">
                <a:solidFill>
                  <a:schemeClr val="bg1"/>
                </a:solidFill>
              </a:rPr>
              <a:t>also move in January?</a:t>
            </a:r>
            <a:endParaRPr lang="en-US" sz="1700" dirty="0"/>
          </a:p>
        </p:txBody>
      </p:sp>
      <p:sp>
        <p:nvSpPr>
          <p:cNvPr id="6" name="box-4"/>
          <p:cNvSpPr/>
          <p:nvPr/>
        </p:nvSpPr>
        <p:spPr>
          <a:xfrm>
            <a:off x="3474720" y="1097280"/>
            <a:ext cx="8257032" cy="2514600"/>
          </a:xfrm>
          <a:prstGeom prst="rect">
            <a:avLst/>
          </a:prstGeom>
          <a:solidFill>
            <a:schemeClr val="bg2"/>
          </a:solidFill>
          <a:ln/>
        </p:spPr>
      </p:sp>
      <p:sp>
        <p:nvSpPr>
          <p:cNvPr id="7" name="txt-5"/>
          <p:cNvSpPr txBox="1"/>
          <p:nvPr/>
        </p:nvSpPr>
        <p:spPr>
          <a:xfrm>
            <a:off x="3794760" y="1325880"/>
            <a:ext cx="7616952" cy="457200"/>
          </a:xfrm>
          <a:prstGeom prst="rect">
            <a:avLst/>
          </a:prstGeom>
          <a:noFill/>
          <a:ln/>
        </p:spPr>
        <p:txBody>
          <a:bodyPr wrap="square" lIns="0" tIns="0" rIns="0" bIns="0" rtlCol="0" anchor="ctr"/>
          <a:lstStyle/>
          <a:p>
            <a:pPr indent="0" marL="0">
              <a:buNone/>
            </a:pPr>
            <a:r>
              <a:rPr lang="en-US" sz="1700" b="1" dirty="0">
                <a:solidFill>
                  <a:schemeClr val="tx2"/>
                </a:solidFill>
              </a:rPr>
              <a:t>No exceptions. All budgets move at once on January 1, 2027</a:t>
            </a:r>
            <a:endParaRPr lang="en-US" sz="1700" dirty="0"/>
          </a:p>
        </p:txBody>
      </p:sp>
      <p:sp>
        <p:nvSpPr>
          <p:cNvPr id="8" name="qaline-6"/>
          <p:cNvSpPr/>
          <p:nvPr/>
        </p:nvSpPr>
        <p:spPr>
          <a:xfrm>
            <a:off x="3794760" y="1874520"/>
            <a:ext cx="7616952" cy="0"/>
          </a:xfrm>
          <a:prstGeom prst="line">
            <a:avLst/>
          </a:prstGeom>
          <a:noFill/>
          <a:ln w="9525">
            <a:solidFill>
              <a:schemeClr val="accent3"/>
            </a:solidFill>
            <a:prstDash val="solid"/>
          </a:ln>
        </p:spPr>
      </p:sp>
      <p:sp>
        <p:nvSpPr>
          <p:cNvPr id="9" name="txt-7"/>
          <p:cNvSpPr txBox="1"/>
          <p:nvPr/>
        </p:nvSpPr>
        <p:spPr>
          <a:xfrm>
            <a:off x="3794760" y="2011680"/>
            <a:ext cx="7616952" cy="146304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chemeClr val="tx1"/>
                </a:solidFill>
              </a:rPr>
              <a:t>No individual transfers and no cases on hold. The transfer is decided company policy</a:t>
            </a:r>
            <a:endParaRPr lang="en-US" sz="1100" dirty="0"/>
          </a:p>
          <a:p>
            <a:pPr marL="152400" indent="-152400">
              <a:spcAft>
                <a:spcPts val="600"/>
              </a:spcAft>
              <a:buSzPct val="100000"/>
              <a:buChar char="•"/>
            </a:pPr>
            <a:r>
              <a:rPr lang="en-US" sz="1300" dirty="0">
                <a:solidFill>
                  <a:schemeClr val="tx1"/>
                </a:solidFill>
              </a:rPr>
              <a:t>Where the current owner is fixed in approved documents such as SOPs, rules or segregation of duties, and changing it needs a formal procedure (e.g., GxP change control), the current owner continues until the procedure is complete (interim measure)</a:t>
            </a:r>
            <a:endParaRPr lang="en-US" sz="1100" dirty="0"/>
          </a:p>
          <a:p>
            <a:pPr marL="152400" indent="-152400">
              <a:spcAft>
                <a:spcPts val="600"/>
              </a:spcAft>
              <a:buSzPct val="100000"/>
              <a:buChar char="•"/>
            </a:pPr>
            <a:r>
              <a:rPr lang="en-US" sz="1300" dirty="0">
                <a:solidFill>
                  <a:schemeClr val="tx1"/>
                </a:solidFill>
              </a:rPr>
              <a:t>The budget moves even with an interim measure. That work and its planned completion are recorded in the agreement document</a:t>
            </a:r>
            <a:endParaRPr lang="en-US" sz="1100" dirty="0"/>
          </a:p>
        </p:txBody>
      </p:sp>
      <p:sp>
        <p:nvSpPr>
          <p:cNvPr id="10" name="box-8"/>
          <p:cNvSpPr/>
          <p:nvPr/>
        </p:nvSpPr>
        <p:spPr>
          <a:xfrm>
            <a:off x="457200" y="3794760"/>
            <a:ext cx="3017520" cy="2514600"/>
          </a:xfrm>
          <a:prstGeom prst="rect">
            <a:avLst/>
          </a:prstGeom>
          <a:solidFill>
            <a:schemeClr val="tx2"/>
          </a:solidFill>
          <a:ln/>
        </p:spPr>
      </p:sp>
      <p:sp>
        <p:nvSpPr>
          <p:cNvPr id="11" name="txt-9"/>
          <p:cNvSpPr txBox="1"/>
          <p:nvPr/>
        </p:nvSpPr>
        <p:spPr>
          <a:xfrm>
            <a:off x="731520" y="4069080"/>
            <a:ext cx="2468880" cy="274320"/>
          </a:xfrm>
          <a:prstGeom prst="rect">
            <a:avLst/>
          </a:prstGeom>
          <a:noFill/>
          <a:ln/>
        </p:spPr>
        <p:txBody>
          <a:bodyPr wrap="square" lIns="0" tIns="0" rIns="0" bIns="0" rtlCol="0" anchor="t"/>
          <a:lstStyle/>
          <a:p>
            <a:pPr indent="0" marL="0">
              <a:buNone/>
            </a:pPr>
            <a:r>
              <a:rPr lang="en-US" sz="1200" b="1" dirty="0">
                <a:solidFill>
                  <a:schemeClr val="accent4"/>
                </a:solidFill>
              </a:rPr>
              <a:t>Concern 2</a:t>
            </a:r>
            <a:endParaRPr lang="en-US" sz="1200" dirty="0"/>
          </a:p>
        </p:txBody>
      </p:sp>
      <p:sp>
        <p:nvSpPr>
          <p:cNvPr id="12" name="txt-10"/>
          <p:cNvSpPr txBox="1"/>
          <p:nvPr/>
        </p:nvSpPr>
        <p:spPr>
          <a:xfrm>
            <a:off x="731520" y="4434840"/>
            <a:ext cx="2468880" cy="1600200"/>
          </a:xfrm>
          <a:prstGeom prst="rect">
            <a:avLst/>
          </a:prstGeom>
          <a:noFill/>
          <a:ln/>
        </p:spPr>
        <p:txBody>
          <a:bodyPr wrap="square" lIns="0" tIns="0" rIns="0" bIns="0" rtlCol="0" anchor="t"/>
          <a:lstStyle/>
          <a:p>
            <a:pPr indent="0" marL="0">
              <a:buNone/>
            </a:pPr>
            <a:r>
              <a:rPr lang="en-US" sz="1700" b="1" dirty="0">
                <a:solidFill>
                  <a:schemeClr val="bg1"/>
                </a:solidFill>
              </a:rPr>
              <a:t>After the transfer,</a:t>
            </a:r>
            <a:endParaRPr lang="en-US" sz="1700" dirty="0"/>
          </a:p>
          <a:p>
            <a:pPr indent="0" marL="0">
              <a:buNone/>
            </a:pPr>
            <a:r>
              <a:rPr lang="en-US" sz="1700" b="1" dirty="0">
                <a:solidFill>
                  <a:schemeClr val="bg1"/>
                </a:solidFill>
              </a:rPr>
              <a:t>who does what?</a:t>
            </a:r>
            <a:endParaRPr lang="en-US" sz="1700" dirty="0"/>
          </a:p>
          <a:p>
            <a:pPr indent="0" marL="0">
              <a:buNone/>
            </a:pPr>
            <a:r>
              <a:rPr lang="en-US" sz="1700" b="1" dirty="0">
                <a:solidFill>
                  <a:schemeClr val="bg1"/>
                </a:solidFill>
              </a:rPr>
              <a:t>What happens to the</a:t>
            </a:r>
            <a:endParaRPr lang="en-US" sz="1700" dirty="0"/>
          </a:p>
          <a:p>
            <a:pPr indent="0" marL="0">
              <a:buNone/>
            </a:pPr>
            <a:r>
              <a:rPr lang="en-US" sz="1700" b="1" dirty="0">
                <a:solidFill>
                  <a:schemeClr val="bg1"/>
                </a:solidFill>
              </a:rPr>
              <a:t>departments' authority?</a:t>
            </a:r>
            <a:endParaRPr lang="en-US" sz="1700" dirty="0"/>
          </a:p>
        </p:txBody>
      </p:sp>
      <p:sp>
        <p:nvSpPr>
          <p:cNvPr id="13" name="box-11"/>
          <p:cNvSpPr/>
          <p:nvPr/>
        </p:nvSpPr>
        <p:spPr>
          <a:xfrm>
            <a:off x="3474720" y="3794760"/>
            <a:ext cx="8257032" cy="2514600"/>
          </a:xfrm>
          <a:prstGeom prst="rect">
            <a:avLst/>
          </a:prstGeom>
          <a:solidFill>
            <a:schemeClr val="bg2"/>
          </a:solidFill>
          <a:ln/>
        </p:spPr>
      </p:sp>
      <p:sp>
        <p:nvSpPr>
          <p:cNvPr id="14" name="txt-12"/>
          <p:cNvSpPr txBox="1"/>
          <p:nvPr/>
        </p:nvSpPr>
        <p:spPr>
          <a:xfrm>
            <a:off x="3794760" y="4023360"/>
            <a:ext cx="7616952" cy="457200"/>
          </a:xfrm>
          <a:prstGeom prst="rect">
            <a:avLst/>
          </a:prstGeom>
          <a:noFill/>
          <a:ln/>
        </p:spPr>
        <p:txBody>
          <a:bodyPr wrap="square" lIns="0" tIns="0" rIns="0" bIns="0" rtlCol="0" anchor="ctr"/>
          <a:lstStyle/>
          <a:p>
            <a:pPr indent="0" marL="0">
              <a:buNone/>
            </a:pPr>
            <a:r>
              <a:rPr lang="en-US" sz="1700" b="1" dirty="0">
                <a:solidFill>
                  <a:schemeClr val="tx2"/>
                </a:solidFill>
              </a:rPr>
              <a:t>Accountability (A) stays with departments. Roles are agreed from a standard RACI</a:t>
            </a:r>
            <a:endParaRPr lang="en-US" sz="1700" dirty="0"/>
          </a:p>
        </p:txBody>
      </p:sp>
      <p:sp>
        <p:nvSpPr>
          <p:cNvPr id="15" name="qaline-13"/>
          <p:cNvSpPr/>
          <p:nvPr/>
        </p:nvSpPr>
        <p:spPr>
          <a:xfrm>
            <a:off x="3794760" y="4572000"/>
            <a:ext cx="7616952" cy="0"/>
          </a:xfrm>
          <a:prstGeom prst="line">
            <a:avLst/>
          </a:prstGeom>
          <a:noFill/>
          <a:ln w="9525">
            <a:solidFill>
              <a:schemeClr val="accent3"/>
            </a:solidFill>
            <a:prstDash val="solid"/>
          </a:ln>
        </p:spPr>
      </p:sp>
      <p:sp>
        <p:nvSpPr>
          <p:cNvPr id="16" name="txt-14"/>
          <p:cNvSpPr txBox="1"/>
          <p:nvPr/>
        </p:nvSpPr>
        <p:spPr>
          <a:xfrm>
            <a:off x="3794760" y="4709160"/>
            <a:ext cx="7616952" cy="146304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chemeClr val="tx1"/>
                </a:solidFill>
              </a:rPr>
              <a:t>IT takes over indirect work (budget management, contracts, ordering, receiving and payment) from January</a:t>
            </a:r>
            <a:endParaRPr lang="en-US" sz="1100" dirty="0"/>
          </a:p>
          <a:p>
            <a:pPr marL="152400" indent="-152400">
              <a:spcAft>
                <a:spcPts val="600"/>
              </a:spcAft>
              <a:buSzPct val="100000"/>
              <a:buChar char="•"/>
            </a:pPr>
            <a:r>
              <a:rPr lang="en-US" sz="1300" dirty="0">
                <a:solidFill>
                  <a:schemeClr val="tx1"/>
                </a:solidFill>
              </a:rPr>
              <a:t>A for direct and IT-related work stays with the Business Owner. IT does not take over A</a:t>
            </a:r>
            <a:endParaRPr lang="en-US" sz="1100" dirty="0"/>
          </a:p>
          <a:p>
            <a:pPr marL="152400" indent="-152400">
              <a:spcAft>
                <a:spcPts val="600"/>
              </a:spcAft>
              <a:buSzPct val="100000"/>
              <a:buChar char="•"/>
            </a:pPr>
            <a:r>
              <a:rPr lang="en-US" sz="1300" dirty="0">
                <a:solidFill>
                  <a:schemeClr val="tx1"/>
                </a:solidFill>
              </a:rPr>
              <a:t>Per case, only the R / C split on IT-related work and when IT starts taking R can change. The transferring manager approves the agreement document to finalize it (slides 6-8)</a:t>
            </a:r>
            <a:endParaRPr lang="en-US" sz="11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594360"/>
          </a:xfrm>
          <a:prstGeom prst="rect">
            <a:avLst/>
          </a:prstGeom>
          <a:noFill/>
          <a:ln/>
        </p:spPr>
        <p:txBody>
          <a:bodyPr wrap="square" lIns="0" tIns="0" rIns="0" bIns="0" rtlCol="0" anchor="ctr"/>
          <a:lstStyle/>
          <a:p>
            <a:pPr algn="l" indent="0" marL="0">
              <a:buNone/>
            </a:pPr>
            <a:r>
              <a:rPr lang="en-US" sz="2600" b="1" dirty="0">
                <a:solidFill>
                  <a:schemeClr val="tx2"/>
                </a:solidFill>
              </a:rPr>
              <a:t>This Term's Goal</a:t>
            </a:r>
            <a:endParaRPr lang="en-US" sz="2600" dirty="0"/>
          </a:p>
        </p:txBody>
      </p:sp>
      <p:sp>
        <p:nvSpPr>
          <p:cNvPr id="3" name="box-15"/>
          <p:cNvSpPr/>
          <p:nvPr/>
        </p:nvSpPr>
        <p:spPr>
          <a:xfrm>
            <a:off x="457200" y="1051560"/>
            <a:ext cx="11274552" cy="1143000"/>
          </a:xfrm>
          <a:prstGeom prst="rect">
            <a:avLst/>
          </a:prstGeom>
          <a:solidFill>
            <a:schemeClr val="tx2"/>
          </a:solidFill>
          <a:ln/>
        </p:spPr>
      </p:sp>
      <p:sp>
        <p:nvSpPr>
          <p:cNvPr id="4" name="txt-16"/>
          <p:cNvSpPr txBox="1"/>
          <p:nvPr/>
        </p:nvSpPr>
        <p:spPr>
          <a:xfrm>
            <a:off x="822960" y="1161288"/>
            <a:ext cx="10515600" cy="566928"/>
          </a:xfrm>
          <a:prstGeom prst="rect">
            <a:avLst/>
          </a:prstGeom>
          <a:noFill/>
          <a:ln/>
        </p:spPr>
        <p:txBody>
          <a:bodyPr wrap="square" lIns="0" tIns="0" rIns="0" bIns="0" rtlCol="0" anchor="ctr"/>
          <a:lstStyle/>
          <a:p>
            <a:pPr indent="0" marL="0">
              <a:buNone/>
            </a:pPr>
            <a:r>
              <a:rPr lang="en-US" sz="2800" b="1" dirty="0">
                <a:solidFill>
                  <a:schemeClr val="bg1"/>
                </a:solidFill>
              </a:rPr>
              <a:t>Transfer approvals (ringi) completed by the end of December</a:t>
            </a:r>
            <a:endParaRPr lang="en-US" sz="2800" dirty="0"/>
          </a:p>
        </p:txBody>
      </p:sp>
      <p:sp>
        <p:nvSpPr>
          <p:cNvPr id="5" name="txt-17"/>
          <p:cNvSpPr txBox="1"/>
          <p:nvPr/>
        </p:nvSpPr>
        <p:spPr>
          <a:xfrm>
            <a:off x="822960" y="1755648"/>
            <a:ext cx="10515600" cy="310896"/>
          </a:xfrm>
          <a:prstGeom prst="rect">
            <a:avLst/>
          </a:prstGeom>
          <a:noFill/>
          <a:ln/>
        </p:spPr>
        <p:txBody>
          <a:bodyPr wrap="square" lIns="0" tIns="0" rIns="0" bIns="0" rtlCol="0" anchor="ctr"/>
          <a:lstStyle/>
          <a:p>
            <a:pPr indent="0" marL="0">
              <a:buNone/>
            </a:pPr>
            <a:r>
              <a:rPr lang="en-US" sz="1400" dirty="0">
                <a:solidFill>
                  <a:schemeClr val="accent4"/>
                </a:solidFill>
              </a:rPr>
              <a:t>This term we aim for transfer approval by end of December. How to create value from the transfer will be considered next term.</a:t>
            </a:r>
            <a:endParaRPr lang="en-US" sz="1400" dirty="0"/>
          </a:p>
        </p:txBody>
      </p:sp>
      <p:sp>
        <p:nvSpPr>
          <p:cNvPr id="6" name="box-18"/>
          <p:cNvSpPr/>
          <p:nvPr/>
        </p:nvSpPr>
        <p:spPr>
          <a:xfrm>
            <a:off x="457200" y="2377440"/>
            <a:ext cx="3648456" cy="3931920"/>
          </a:xfrm>
          <a:prstGeom prst="rect">
            <a:avLst/>
          </a:prstGeom>
          <a:solidFill>
            <a:schemeClr val="bg2"/>
          </a:solidFill>
          <a:ln/>
        </p:spPr>
      </p:sp>
      <p:sp>
        <p:nvSpPr>
          <p:cNvPr id="7" name="txt-19"/>
          <p:cNvSpPr txBox="1"/>
          <p:nvPr/>
        </p:nvSpPr>
        <p:spPr>
          <a:xfrm>
            <a:off x="658368" y="2542032"/>
            <a:ext cx="3246120" cy="365760"/>
          </a:xfrm>
          <a:prstGeom prst="rect">
            <a:avLst/>
          </a:prstGeom>
          <a:noFill/>
          <a:ln/>
        </p:spPr>
        <p:txBody>
          <a:bodyPr wrap="square" lIns="0" tIns="0" rIns="0" bIns="0" rtlCol="0" anchor="t"/>
          <a:lstStyle/>
          <a:p>
            <a:pPr indent="0" marL="0">
              <a:buNone/>
            </a:pPr>
            <a:r>
              <a:rPr lang="en-US" sz="1500" b="1" dirty="0">
                <a:solidFill>
                  <a:schemeClr val="tx2"/>
                </a:solidFill>
              </a:rPr>
              <a:t>What has been decided</a:t>
            </a:r>
            <a:endParaRPr lang="en-US" sz="1500" dirty="0"/>
          </a:p>
        </p:txBody>
      </p:sp>
      <p:sp>
        <p:nvSpPr>
          <p:cNvPr id="8" name="txt-20"/>
          <p:cNvSpPr txBox="1"/>
          <p:nvPr/>
        </p:nvSpPr>
        <p:spPr>
          <a:xfrm>
            <a:off x="658368" y="2926080"/>
            <a:ext cx="3246120" cy="274320"/>
          </a:xfrm>
          <a:prstGeom prst="rect">
            <a:avLst/>
          </a:prstGeom>
          <a:noFill/>
          <a:ln/>
        </p:spPr>
        <p:txBody>
          <a:bodyPr wrap="square" lIns="0" tIns="0" rIns="0" bIns="0" rtlCol="0" anchor="t"/>
          <a:lstStyle/>
          <a:p>
            <a:pPr indent="0" marL="0">
              <a:buNone/>
            </a:pPr>
            <a:r>
              <a:rPr lang="en-US" sz="1100" b="1" dirty="0">
                <a:solidFill>
                  <a:schemeClr val="accent2"/>
                </a:solidFill>
              </a:rPr>
              <a:t>Decided as company policy</a:t>
            </a:r>
            <a:endParaRPr lang="en-US" sz="1100" dirty="0"/>
          </a:p>
        </p:txBody>
      </p:sp>
      <p:sp>
        <p:nvSpPr>
          <p:cNvPr id="9" name="txt-21"/>
          <p:cNvSpPr txBox="1"/>
          <p:nvPr/>
        </p:nvSpPr>
        <p:spPr>
          <a:xfrm>
            <a:off x="658368" y="3310128"/>
            <a:ext cx="3246120" cy="288036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Decided by management and stated in the company-wide budgeting guidelines</a:t>
            </a:r>
            <a:endParaRPr lang="en-US" sz="1100" dirty="0"/>
          </a:p>
          <a:p>
            <a:pPr marL="152400" indent="-152400">
              <a:spcAft>
                <a:spcPts val="300"/>
              </a:spcAft>
              <a:buSzPct val="100000"/>
              <a:buChar char="•"/>
            </a:pPr>
            <a:r>
              <a:rPr lang="en-US" sz="1200" dirty="0">
                <a:solidFill>
                  <a:schemeClr val="tx1"/>
                </a:solidFill>
              </a:rPr>
              <a:t>Covers all departments except Sales (including HR, General Affairs and Finance). All departments have been informed</a:t>
            </a:r>
            <a:endParaRPr lang="en-US" sz="1100" dirty="0"/>
          </a:p>
          <a:p>
            <a:pPr marL="152400" indent="-152400">
              <a:spcAft>
                <a:spcPts val="300"/>
              </a:spcAft>
              <a:buSzPct val="100000"/>
              <a:buChar char="•"/>
            </a:pPr>
            <a:r>
              <a:rPr lang="en-US" sz="1200" dirty="0">
                <a:solidFill>
                  <a:schemeClr val="tx1"/>
                </a:solidFill>
              </a:rPr>
              <a:t>Scope: budgets, contracts and indirect work for business applications and related tools</a:t>
            </a:r>
            <a:endParaRPr lang="en-US" sz="1100" dirty="0"/>
          </a:p>
          <a:p>
            <a:pPr marL="152400" indent="-152400">
              <a:spcAft>
                <a:spcPts val="300"/>
              </a:spcAft>
              <a:buSzPct val="100000"/>
              <a:buChar char="•"/>
            </a:pPr>
            <a:r>
              <a:rPr lang="en-US" sz="1200" dirty="0">
                <a:solidFill>
                  <a:schemeClr val="tx1"/>
                </a:solidFill>
              </a:rPr>
              <a:t>Company-wide domains such as infrastructure and security are out of scope</a:t>
            </a:r>
            <a:endParaRPr lang="en-US" sz="1100" dirty="0"/>
          </a:p>
          <a:p>
            <a:pPr marL="152400" indent="-152400">
              <a:spcAft>
                <a:spcPts val="300"/>
              </a:spcAft>
              <a:buSzPct val="100000"/>
              <a:buChar char="•"/>
            </a:pPr>
            <a:r>
              <a:rPr lang="en-US" sz="1200" dirty="0">
                <a:solidFill>
                  <a:schemeClr val="tx1"/>
                </a:solidFill>
              </a:rPr>
              <a:t>Business ownership stays with the departments</a:t>
            </a:r>
            <a:endParaRPr lang="en-US" sz="1100" dirty="0"/>
          </a:p>
        </p:txBody>
      </p:sp>
      <p:sp>
        <p:nvSpPr>
          <p:cNvPr id="10" name="box-22"/>
          <p:cNvSpPr/>
          <p:nvPr/>
        </p:nvSpPr>
        <p:spPr>
          <a:xfrm>
            <a:off x="4270248" y="2377440"/>
            <a:ext cx="3648456" cy="3931920"/>
          </a:xfrm>
          <a:prstGeom prst="rect">
            <a:avLst/>
          </a:prstGeom>
          <a:solidFill>
            <a:schemeClr val="bg2"/>
          </a:solidFill>
          <a:ln/>
        </p:spPr>
      </p:sp>
      <p:sp>
        <p:nvSpPr>
          <p:cNvPr id="11" name="txt-23"/>
          <p:cNvSpPr txBox="1"/>
          <p:nvPr/>
        </p:nvSpPr>
        <p:spPr>
          <a:xfrm>
            <a:off x="4471416" y="2542032"/>
            <a:ext cx="3246120" cy="365760"/>
          </a:xfrm>
          <a:prstGeom prst="rect">
            <a:avLst/>
          </a:prstGeom>
          <a:noFill/>
          <a:ln/>
        </p:spPr>
        <p:txBody>
          <a:bodyPr wrap="square" lIns="0" tIns="0" rIns="0" bIns="0" rtlCol="0" anchor="t"/>
          <a:lstStyle/>
          <a:p>
            <a:pPr indent="0" marL="0">
              <a:buNone/>
            </a:pPr>
            <a:r>
              <a:rPr lang="en-US" sz="1500" b="1" dirty="0">
                <a:solidFill>
                  <a:schemeClr val="tx2"/>
                </a:solidFill>
              </a:rPr>
              <a:t>Everything transfers at once</a:t>
            </a:r>
            <a:endParaRPr lang="en-US" sz="1500" dirty="0"/>
          </a:p>
        </p:txBody>
      </p:sp>
      <p:sp>
        <p:nvSpPr>
          <p:cNvPr id="12" name="txt-24"/>
          <p:cNvSpPr txBox="1"/>
          <p:nvPr/>
        </p:nvSpPr>
        <p:spPr>
          <a:xfrm>
            <a:off x="4471416" y="2926080"/>
            <a:ext cx="3246120" cy="274320"/>
          </a:xfrm>
          <a:prstGeom prst="rect">
            <a:avLst/>
          </a:prstGeom>
          <a:noFill/>
          <a:ln/>
        </p:spPr>
        <p:txBody>
          <a:bodyPr wrap="square" lIns="0" tIns="0" rIns="0" bIns="0" rtlCol="0" anchor="t"/>
          <a:lstStyle/>
          <a:p>
            <a:pPr indent="0" marL="0">
              <a:buNone/>
            </a:pPr>
            <a:r>
              <a:rPr lang="en-US" sz="1100" b="1" dirty="0">
                <a:solidFill>
                  <a:schemeClr val="accent2"/>
                </a:solidFill>
              </a:rPr>
              <a:t>Budgets move on January 1, 2027</a:t>
            </a:r>
            <a:endParaRPr lang="en-US" sz="1100" dirty="0"/>
          </a:p>
        </p:txBody>
      </p:sp>
      <p:sp>
        <p:nvSpPr>
          <p:cNvPr id="13" name="txt-25"/>
          <p:cNvSpPr txBox="1"/>
          <p:nvPr/>
        </p:nvSpPr>
        <p:spPr>
          <a:xfrm>
            <a:off x="4471416" y="3310128"/>
            <a:ext cx="3246120" cy="288036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chemeClr val="tx1"/>
                </a:solidFill>
              </a:rPr>
              <a:t>There is no decision on whether to transfer</a:t>
            </a:r>
            <a:endParaRPr lang="en-US" sz="1100" dirty="0"/>
          </a:p>
          <a:p>
            <a:pPr marL="152400" indent="-152400">
              <a:spcAft>
                <a:spcPts val="300"/>
              </a:spcAft>
              <a:buSzPct val="100000"/>
              <a:buChar char="•"/>
            </a:pPr>
            <a:r>
              <a:rPr lang="en-US" sz="1150" b="1" dirty="0">
                <a:solidFill>
                  <a:schemeClr val="tx1"/>
                </a:solidFill>
              </a:rPr>
              <a:t>Bulk transfer: January 1, 2027 (all budgets)</a:t>
            </a:r>
            <a:endParaRPr lang="en-US" sz="1100" dirty="0"/>
          </a:p>
          <a:p>
            <a:pPr marL="152400" indent="-152400">
              <a:spcAft>
                <a:spcPts val="300"/>
              </a:spcAft>
              <a:buSzPct val="100000"/>
              <a:buChar char="•"/>
            </a:pPr>
            <a:r>
              <a:rPr lang="en-US" sz="1150" dirty="0">
                <a:solidFill>
                  <a:schemeClr val="tx1"/>
                </a:solidFill>
              </a:rPr>
              <a:t>Interim measure: where the current roles (Before) are fixed in approved documents or records such as SOPs, rules or segregation of duties, and changing them needs a formal procedure (e.g., GxP change control), the current owner continues until the procedure is complete</a:t>
            </a:r>
            <a:endParaRPr lang="en-US" sz="1100" dirty="0"/>
          </a:p>
          <a:p>
            <a:pPr marL="152400" indent="-152400">
              <a:spcAft>
                <a:spcPts val="300"/>
              </a:spcAft>
              <a:buSzPct val="100000"/>
              <a:buChar char="•"/>
            </a:pPr>
            <a:r>
              <a:rPr lang="en-US" sz="1150" b="1" dirty="0">
                <a:solidFill>
                  <a:schemeClr val="tx1"/>
                </a:solidFill>
              </a:rPr>
              <a:t>Even with an interim measure, the budget moves on January 1</a:t>
            </a:r>
            <a:endParaRPr lang="en-US" sz="1100" dirty="0"/>
          </a:p>
          <a:p>
            <a:pPr marL="152400" indent="-152400">
              <a:spcAft>
                <a:spcPts val="300"/>
              </a:spcAft>
              <a:buSzPct val="100000"/>
              <a:buChar char="•"/>
            </a:pPr>
            <a:r>
              <a:rPr lang="en-US" sz="1150" dirty="0">
                <a:solidFill>
                  <a:schemeClr val="tx1"/>
                </a:solidFill>
              </a:rPr>
              <a:t>Interim-measure work and its planned completion are recorded in the agreement document</a:t>
            </a:r>
            <a:endParaRPr lang="en-US" sz="1100" dirty="0"/>
          </a:p>
        </p:txBody>
      </p:sp>
      <p:sp>
        <p:nvSpPr>
          <p:cNvPr id="14" name="box-26"/>
          <p:cNvSpPr/>
          <p:nvPr/>
        </p:nvSpPr>
        <p:spPr>
          <a:xfrm>
            <a:off x="8083296" y="2377440"/>
            <a:ext cx="3648456" cy="3931920"/>
          </a:xfrm>
          <a:prstGeom prst="rect">
            <a:avLst/>
          </a:prstGeom>
          <a:solidFill>
            <a:schemeClr val="bg2"/>
          </a:solidFill>
          <a:ln/>
        </p:spPr>
      </p:sp>
      <p:sp>
        <p:nvSpPr>
          <p:cNvPr id="15" name="txt-27"/>
          <p:cNvSpPr txBox="1"/>
          <p:nvPr/>
        </p:nvSpPr>
        <p:spPr>
          <a:xfrm>
            <a:off x="8284464" y="2542032"/>
            <a:ext cx="3246120" cy="365760"/>
          </a:xfrm>
          <a:prstGeom prst="rect">
            <a:avLst/>
          </a:prstGeom>
          <a:noFill/>
          <a:ln/>
        </p:spPr>
        <p:txBody>
          <a:bodyPr wrap="square" lIns="0" tIns="0" rIns="0" bIns="0" rtlCol="0" anchor="t"/>
          <a:lstStyle/>
          <a:p>
            <a:pPr indent="0" marL="0">
              <a:buNone/>
            </a:pPr>
            <a:r>
              <a:rPr lang="en-US" sz="1500" b="1" dirty="0">
                <a:solidFill>
                  <a:schemeClr val="tx2"/>
                </a:solidFill>
              </a:rPr>
              <a:t>Goal for end of December</a:t>
            </a:r>
            <a:endParaRPr lang="en-US" sz="1500" dirty="0"/>
          </a:p>
        </p:txBody>
      </p:sp>
      <p:sp>
        <p:nvSpPr>
          <p:cNvPr id="16" name="txt-28"/>
          <p:cNvSpPr txBox="1"/>
          <p:nvPr/>
        </p:nvSpPr>
        <p:spPr>
          <a:xfrm>
            <a:off x="8284464" y="2926080"/>
            <a:ext cx="3246120" cy="274320"/>
          </a:xfrm>
          <a:prstGeom prst="rect">
            <a:avLst/>
          </a:prstGeom>
          <a:noFill/>
          <a:ln/>
        </p:spPr>
        <p:txBody>
          <a:bodyPr wrap="square" lIns="0" tIns="0" rIns="0" bIns="0" rtlCol="0" anchor="t"/>
          <a:lstStyle/>
          <a:p>
            <a:pPr indent="0" marL="0">
              <a:buNone/>
            </a:pPr>
            <a:r>
              <a:rPr lang="en-US" sz="1100" b="1" dirty="0">
                <a:solidFill>
                  <a:schemeClr val="accent2"/>
                </a:solidFill>
              </a:rPr>
              <a:t>Approval of the ringi. Not everything has to be finished</a:t>
            </a:r>
            <a:endParaRPr lang="en-US" sz="1100" dirty="0"/>
          </a:p>
        </p:txBody>
      </p:sp>
      <p:sp>
        <p:nvSpPr>
          <p:cNvPr id="17" name="txt-29"/>
          <p:cNvSpPr txBox="1"/>
          <p:nvPr/>
        </p:nvSpPr>
        <p:spPr>
          <a:xfrm>
            <a:off x="8284464" y="3310128"/>
            <a:ext cx="3246120" cy="2880360"/>
          </a:xfrm>
          <a:prstGeom prst="rect">
            <a:avLst/>
          </a:prstGeom>
          <a:noFill/>
          <a:ln/>
        </p:spPr>
        <p:txBody>
          <a:bodyPr wrap="square" lIns="0" tIns="0" rIns="0" bIns="0" rtlCol="0" anchor="t"/>
          <a:lstStyle/>
          <a:p>
            <a:pPr indent="0" marL="0">
              <a:spcAft>
                <a:spcPts val="400"/>
              </a:spcAft>
              <a:buNone/>
            </a:pPr>
            <a:r>
              <a:rPr lang="en-US" sz="1200" b="1" dirty="0">
                <a:solidFill>
                  <a:schemeClr val="tx2"/>
                </a:solidFill>
              </a:rPr>
              <a:t>Only three prerequisites</a:t>
            </a:r>
            <a:endParaRPr lang="en-US" sz="1100" dirty="0"/>
          </a:p>
          <a:p>
            <a:pPr indent="0" marL="0">
              <a:spcAft>
                <a:spcPts val="300"/>
              </a:spcAft>
              <a:buNone/>
            </a:pPr>
            <a:r>
              <a:rPr lang="en-US" sz="1200" dirty="0">
                <a:solidFill>
                  <a:schemeClr val="tx1"/>
                </a:solidFill>
              </a:rPr>
              <a:t>1.  Information needed for the ringi (transfer decision, next year's budget, agreement document) is organized</a:t>
            </a:r>
            <a:endParaRPr lang="en-US" sz="1100" dirty="0"/>
          </a:p>
          <a:p>
            <a:pPr indent="0" marL="0">
              <a:spcAft>
                <a:spcPts val="300"/>
              </a:spcAft>
              <a:buNone/>
            </a:pPr>
            <a:r>
              <a:rPr lang="en-US" sz="1200" dirty="0">
                <a:solidFill>
                  <a:schemeClr val="tx1"/>
                </a:solidFill>
              </a:rPr>
              <a:t>2.  What is not yet finished (SOP revisions, change of contract signatory, etc.) is clear for each case</a:t>
            </a:r>
            <a:endParaRPr lang="en-US" sz="1100" dirty="0"/>
          </a:p>
          <a:p>
            <a:pPr indent="0" marL="0">
              <a:spcAft>
                <a:spcPts val="800"/>
              </a:spcAft>
              <a:buNone/>
            </a:pPr>
            <a:r>
              <a:rPr lang="en-US" sz="1200" dirty="0">
                <a:solidFill>
                  <a:schemeClr val="tx1"/>
                </a:solidFill>
              </a:rPr>
              <a:t>3.  IT can start managing contracts and payments from January</a:t>
            </a:r>
            <a:endParaRPr lang="en-US" sz="1100" dirty="0"/>
          </a:p>
          <a:p>
            <a:pPr indent="0" marL="0">
              <a:spcAft>
                <a:spcPts val="800"/>
              </a:spcAft>
              <a:buNone/>
            </a:pPr>
            <a:r>
              <a:rPr lang="en-US" sz="1100" dirty="0">
                <a:solidFill>
                  <a:schemeClr val="tx1"/>
                </a:solidFill>
              </a:rPr>
              <a:t>No contract procedures at the time of transfer. The signatory changes to IT at the next renewal; vendors are notified of the new invoice addressee by early February</a:t>
            </a:r>
            <a:endParaRPr lang="en-US" sz="1100" dirty="0"/>
          </a:p>
          <a:p>
            <a:pPr indent="0" marL="0">
              <a:buNone/>
            </a:pPr>
            <a:r>
              <a:rPr lang="en-US" sz="1100" dirty="0">
                <a:solidFill>
                  <a:schemeClr val="accent2"/>
                </a:solidFill>
              </a:rPr>
              <a:t>Roles from next year onward are shown on slides 6-8 for reference. For now, please focus on the budget transfer</a:t>
            </a:r>
            <a:endParaRPr lang="en-US" sz="11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594360"/>
          </a:xfrm>
          <a:prstGeom prst="rect">
            <a:avLst/>
          </a:prstGeom>
          <a:noFill/>
          <a:ln/>
        </p:spPr>
        <p:txBody>
          <a:bodyPr wrap="square" lIns="0" tIns="0" rIns="0" bIns="0" rtlCol="0" anchor="ctr"/>
          <a:lstStyle/>
          <a:p>
            <a:pPr algn="l" indent="0" marL="0">
              <a:buNone/>
            </a:pPr>
            <a:r>
              <a:rPr lang="en-US" sz="2600" b="1" dirty="0">
                <a:solidFill>
                  <a:schemeClr val="tx2"/>
                </a:solidFill>
              </a:rPr>
              <a:t>Tasks for November-December</a:t>
            </a:r>
            <a:endParaRPr lang="en-US" sz="2600" dirty="0"/>
          </a:p>
        </p:txBody>
      </p:sp>
      <p:sp>
        <p:nvSpPr>
          <p:cNvPr id="3" name="box-30"/>
          <p:cNvSpPr/>
          <p:nvPr/>
        </p:nvSpPr>
        <p:spPr>
          <a:xfrm>
            <a:off x="4617720" y="1024128"/>
            <a:ext cx="2727525" cy="274320"/>
          </a:xfrm>
          <a:prstGeom prst="rect">
            <a:avLst/>
          </a:prstGeom>
          <a:solidFill>
            <a:schemeClr val="tx2"/>
          </a:solidFill>
          <a:ln/>
        </p:spPr>
      </p:sp>
      <p:sp>
        <p:nvSpPr>
          <p:cNvPr id="4" name="txt-31"/>
          <p:cNvSpPr txBox="1"/>
          <p:nvPr/>
        </p:nvSpPr>
        <p:spPr>
          <a:xfrm>
            <a:off x="4617720" y="1024128"/>
            <a:ext cx="2727525" cy="274320"/>
          </a:xfrm>
          <a:prstGeom prst="rect">
            <a:avLst/>
          </a:prstGeom>
          <a:noFill/>
          <a:ln/>
        </p:spPr>
        <p:txBody>
          <a:bodyPr wrap="square" lIns="0" tIns="0" rIns="0" bIns="0" rtlCol="0" anchor="ctr"/>
          <a:lstStyle/>
          <a:p>
            <a:pPr algn="ctr" indent="0" marL="0">
              <a:buNone/>
            </a:pPr>
            <a:r>
              <a:rPr lang="en-US" sz="1100" b="1" dirty="0">
                <a:solidFill>
                  <a:schemeClr val="bg1"/>
                </a:solidFill>
              </a:rPr>
              <a:t>Nov</a:t>
            </a:r>
            <a:endParaRPr lang="en-US" sz="1100" dirty="0"/>
          </a:p>
        </p:txBody>
      </p:sp>
      <p:sp>
        <p:nvSpPr>
          <p:cNvPr id="5" name="box-32"/>
          <p:cNvSpPr/>
          <p:nvPr/>
        </p:nvSpPr>
        <p:spPr>
          <a:xfrm>
            <a:off x="7345245" y="1024128"/>
            <a:ext cx="2915630" cy="274320"/>
          </a:xfrm>
          <a:prstGeom prst="rect">
            <a:avLst/>
          </a:prstGeom>
          <a:solidFill>
            <a:schemeClr val="tx2"/>
          </a:solidFill>
          <a:ln/>
        </p:spPr>
      </p:sp>
      <p:sp>
        <p:nvSpPr>
          <p:cNvPr id="6" name="txt-33"/>
          <p:cNvSpPr txBox="1"/>
          <p:nvPr/>
        </p:nvSpPr>
        <p:spPr>
          <a:xfrm>
            <a:off x="7345245" y="1024128"/>
            <a:ext cx="2915630" cy="274320"/>
          </a:xfrm>
          <a:prstGeom prst="rect">
            <a:avLst/>
          </a:prstGeom>
          <a:noFill/>
          <a:ln/>
        </p:spPr>
        <p:txBody>
          <a:bodyPr wrap="square" lIns="0" tIns="0" rIns="0" bIns="0" rtlCol="0" anchor="ctr"/>
          <a:lstStyle/>
          <a:p>
            <a:pPr algn="ctr" indent="0" marL="0">
              <a:buNone/>
            </a:pPr>
            <a:r>
              <a:rPr lang="en-US" sz="1100" b="1" dirty="0">
                <a:solidFill>
                  <a:schemeClr val="bg1"/>
                </a:solidFill>
              </a:rPr>
              <a:t>Dec</a:t>
            </a:r>
            <a:endParaRPr lang="en-US" sz="1100" dirty="0"/>
          </a:p>
        </p:txBody>
      </p:sp>
      <p:sp>
        <p:nvSpPr>
          <p:cNvPr id="7" name="box-34"/>
          <p:cNvSpPr/>
          <p:nvPr/>
        </p:nvSpPr>
        <p:spPr>
          <a:xfrm>
            <a:off x="10260874" y="1024128"/>
            <a:ext cx="1470878" cy="274320"/>
          </a:xfrm>
          <a:prstGeom prst="rect">
            <a:avLst/>
          </a:prstGeom>
          <a:solidFill>
            <a:schemeClr val="bg2"/>
          </a:solidFill>
          <a:ln/>
        </p:spPr>
      </p:sp>
      <p:sp>
        <p:nvSpPr>
          <p:cNvPr id="8" name="txt-35"/>
          <p:cNvSpPr txBox="1"/>
          <p:nvPr/>
        </p:nvSpPr>
        <p:spPr>
          <a:xfrm>
            <a:off x="10260874" y="1024128"/>
            <a:ext cx="1470878" cy="274320"/>
          </a:xfrm>
          <a:prstGeom prst="rect">
            <a:avLst/>
          </a:prstGeom>
          <a:noFill/>
          <a:ln/>
        </p:spPr>
        <p:txBody>
          <a:bodyPr wrap="square" lIns="0" tIns="0" rIns="0" bIns="0" rtlCol="0" anchor="ctr"/>
          <a:lstStyle/>
          <a:p>
            <a:pPr algn="ctr" indent="0" marL="0">
              <a:buNone/>
            </a:pPr>
            <a:r>
              <a:rPr lang="en-US" sz="1100" b="1" dirty="0">
                <a:solidFill>
                  <a:schemeClr val="accent2"/>
                </a:solidFill>
              </a:rPr>
              <a:t>Jan onward</a:t>
            </a:r>
            <a:endParaRPr lang="en-US" sz="1100" dirty="0"/>
          </a:p>
        </p:txBody>
      </p:sp>
      <p:sp>
        <p:nvSpPr>
          <p:cNvPr id="9" name="txt-36"/>
          <p:cNvSpPr txBox="1"/>
          <p:nvPr/>
        </p:nvSpPr>
        <p:spPr>
          <a:xfrm>
            <a:off x="4617720" y="1298448"/>
            <a:ext cx="658368" cy="274320"/>
          </a:xfrm>
          <a:prstGeom prst="rect">
            <a:avLst/>
          </a:prstGeom>
          <a:noFill/>
          <a:ln/>
        </p:spPr>
        <p:txBody>
          <a:bodyPr wrap="square" lIns="0" tIns="0" rIns="0" bIns="0" rtlCol="0" anchor="ctr"/>
          <a:lstStyle/>
          <a:p>
            <a:pPr algn="ctr" indent="0" marL="0">
              <a:buNone/>
            </a:pPr>
            <a:r>
              <a:rPr lang="en-US" sz="950" dirty="0">
                <a:solidFill>
                  <a:schemeClr val="accent2"/>
                </a:solidFill>
              </a:rPr>
              <a:t>11/2</a:t>
            </a:r>
            <a:endParaRPr lang="en-US" sz="950" dirty="0"/>
          </a:p>
        </p:txBody>
      </p:sp>
      <p:sp>
        <p:nvSpPr>
          <p:cNvPr id="10" name="txt-37"/>
          <p:cNvSpPr txBox="1"/>
          <p:nvPr/>
        </p:nvSpPr>
        <p:spPr>
          <a:xfrm>
            <a:off x="5276088" y="1298448"/>
            <a:ext cx="658368" cy="274320"/>
          </a:xfrm>
          <a:prstGeom prst="rect">
            <a:avLst/>
          </a:prstGeom>
          <a:noFill/>
          <a:ln/>
        </p:spPr>
        <p:txBody>
          <a:bodyPr wrap="square" lIns="0" tIns="0" rIns="0" bIns="0" rtlCol="0" anchor="ctr"/>
          <a:lstStyle/>
          <a:p>
            <a:pPr algn="ctr" indent="0" marL="0">
              <a:buNone/>
            </a:pPr>
            <a:r>
              <a:rPr lang="en-US" sz="950" dirty="0">
                <a:solidFill>
                  <a:schemeClr val="accent2"/>
                </a:solidFill>
              </a:rPr>
              <a:t>11/9</a:t>
            </a:r>
            <a:endParaRPr lang="en-US" sz="950" dirty="0"/>
          </a:p>
        </p:txBody>
      </p:sp>
      <p:sp>
        <p:nvSpPr>
          <p:cNvPr id="11" name="txt-38"/>
          <p:cNvSpPr txBox="1"/>
          <p:nvPr/>
        </p:nvSpPr>
        <p:spPr>
          <a:xfrm>
            <a:off x="5934456" y="1298448"/>
            <a:ext cx="658368" cy="274320"/>
          </a:xfrm>
          <a:prstGeom prst="rect">
            <a:avLst/>
          </a:prstGeom>
          <a:noFill/>
          <a:ln/>
        </p:spPr>
        <p:txBody>
          <a:bodyPr wrap="square" lIns="0" tIns="0" rIns="0" bIns="0" rtlCol="0" anchor="ctr"/>
          <a:lstStyle/>
          <a:p>
            <a:pPr algn="ctr" indent="0" marL="0">
              <a:buNone/>
            </a:pPr>
            <a:r>
              <a:rPr lang="en-US" sz="950" dirty="0">
                <a:solidFill>
                  <a:schemeClr val="accent2"/>
                </a:solidFill>
              </a:rPr>
              <a:t>11/16</a:t>
            </a:r>
            <a:endParaRPr lang="en-US" sz="950" dirty="0"/>
          </a:p>
        </p:txBody>
      </p:sp>
      <p:sp>
        <p:nvSpPr>
          <p:cNvPr id="12" name="txt-39"/>
          <p:cNvSpPr txBox="1"/>
          <p:nvPr/>
        </p:nvSpPr>
        <p:spPr>
          <a:xfrm>
            <a:off x="6592824" y="1298448"/>
            <a:ext cx="658368" cy="274320"/>
          </a:xfrm>
          <a:prstGeom prst="rect">
            <a:avLst/>
          </a:prstGeom>
          <a:noFill/>
          <a:ln/>
        </p:spPr>
        <p:txBody>
          <a:bodyPr wrap="square" lIns="0" tIns="0" rIns="0" bIns="0" rtlCol="0" anchor="ctr"/>
          <a:lstStyle/>
          <a:p>
            <a:pPr algn="ctr" indent="0" marL="0">
              <a:buNone/>
            </a:pPr>
            <a:r>
              <a:rPr lang="en-US" sz="950" dirty="0">
                <a:solidFill>
                  <a:schemeClr val="accent2"/>
                </a:solidFill>
              </a:rPr>
              <a:t>11/23</a:t>
            </a:r>
            <a:endParaRPr lang="en-US" sz="950" dirty="0"/>
          </a:p>
        </p:txBody>
      </p:sp>
      <p:sp>
        <p:nvSpPr>
          <p:cNvPr id="13" name="txt-40"/>
          <p:cNvSpPr txBox="1"/>
          <p:nvPr/>
        </p:nvSpPr>
        <p:spPr>
          <a:xfrm>
            <a:off x="7251192" y="1298448"/>
            <a:ext cx="658368" cy="274320"/>
          </a:xfrm>
          <a:prstGeom prst="rect">
            <a:avLst/>
          </a:prstGeom>
          <a:noFill/>
          <a:ln/>
        </p:spPr>
        <p:txBody>
          <a:bodyPr wrap="square" lIns="0" tIns="0" rIns="0" bIns="0" rtlCol="0" anchor="ctr"/>
          <a:lstStyle/>
          <a:p>
            <a:pPr algn="ctr" indent="0" marL="0">
              <a:buNone/>
            </a:pPr>
            <a:r>
              <a:rPr lang="en-US" sz="950" dirty="0">
                <a:solidFill>
                  <a:schemeClr val="accent2"/>
                </a:solidFill>
              </a:rPr>
              <a:t>11/30</a:t>
            </a:r>
            <a:endParaRPr lang="en-US" sz="950" dirty="0"/>
          </a:p>
        </p:txBody>
      </p:sp>
      <p:sp>
        <p:nvSpPr>
          <p:cNvPr id="14" name="txt-41"/>
          <p:cNvSpPr txBox="1"/>
          <p:nvPr/>
        </p:nvSpPr>
        <p:spPr>
          <a:xfrm>
            <a:off x="7909560" y="1298448"/>
            <a:ext cx="658368" cy="274320"/>
          </a:xfrm>
          <a:prstGeom prst="rect">
            <a:avLst/>
          </a:prstGeom>
          <a:noFill/>
          <a:ln/>
        </p:spPr>
        <p:txBody>
          <a:bodyPr wrap="square" lIns="0" tIns="0" rIns="0" bIns="0" rtlCol="0" anchor="ctr"/>
          <a:lstStyle/>
          <a:p>
            <a:pPr algn="ctr" indent="0" marL="0">
              <a:buNone/>
            </a:pPr>
            <a:r>
              <a:rPr lang="en-US" sz="950" dirty="0">
                <a:solidFill>
                  <a:schemeClr val="accent2"/>
                </a:solidFill>
              </a:rPr>
              <a:t>12/7</a:t>
            </a:r>
            <a:endParaRPr lang="en-US" sz="950" dirty="0"/>
          </a:p>
        </p:txBody>
      </p:sp>
      <p:sp>
        <p:nvSpPr>
          <p:cNvPr id="15" name="txt-42"/>
          <p:cNvSpPr txBox="1"/>
          <p:nvPr/>
        </p:nvSpPr>
        <p:spPr>
          <a:xfrm>
            <a:off x="8567928" y="1298448"/>
            <a:ext cx="658368" cy="274320"/>
          </a:xfrm>
          <a:prstGeom prst="rect">
            <a:avLst/>
          </a:prstGeom>
          <a:noFill/>
          <a:ln/>
        </p:spPr>
        <p:txBody>
          <a:bodyPr wrap="square" lIns="0" tIns="0" rIns="0" bIns="0" rtlCol="0" anchor="ctr"/>
          <a:lstStyle/>
          <a:p>
            <a:pPr algn="ctr" indent="0" marL="0">
              <a:buNone/>
            </a:pPr>
            <a:r>
              <a:rPr lang="en-US" sz="950" dirty="0">
                <a:solidFill>
                  <a:schemeClr val="accent2"/>
                </a:solidFill>
              </a:rPr>
              <a:t>12/14</a:t>
            </a:r>
            <a:endParaRPr lang="en-US" sz="950" dirty="0"/>
          </a:p>
        </p:txBody>
      </p:sp>
      <p:sp>
        <p:nvSpPr>
          <p:cNvPr id="16" name="txt-43"/>
          <p:cNvSpPr txBox="1"/>
          <p:nvPr/>
        </p:nvSpPr>
        <p:spPr>
          <a:xfrm>
            <a:off x="9226296" y="1298448"/>
            <a:ext cx="658368" cy="274320"/>
          </a:xfrm>
          <a:prstGeom prst="rect">
            <a:avLst/>
          </a:prstGeom>
          <a:noFill/>
          <a:ln/>
        </p:spPr>
        <p:txBody>
          <a:bodyPr wrap="square" lIns="0" tIns="0" rIns="0" bIns="0" rtlCol="0" anchor="ctr"/>
          <a:lstStyle/>
          <a:p>
            <a:pPr algn="ctr" indent="0" marL="0">
              <a:buNone/>
            </a:pPr>
            <a:r>
              <a:rPr lang="en-US" sz="950" dirty="0">
                <a:solidFill>
                  <a:schemeClr val="accent2"/>
                </a:solidFill>
              </a:rPr>
              <a:t>12/21</a:t>
            </a:r>
            <a:endParaRPr lang="en-US" sz="950" dirty="0"/>
          </a:p>
        </p:txBody>
      </p:sp>
      <p:sp>
        <p:nvSpPr>
          <p:cNvPr id="17" name="txt-44"/>
          <p:cNvSpPr txBox="1"/>
          <p:nvPr/>
        </p:nvSpPr>
        <p:spPr>
          <a:xfrm>
            <a:off x="9884664" y="1298448"/>
            <a:ext cx="658368" cy="274320"/>
          </a:xfrm>
          <a:prstGeom prst="rect">
            <a:avLst/>
          </a:prstGeom>
          <a:noFill/>
          <a:ln/>
        </p:spPr>
        <p:txBody>
          <a:bodyPr wrap="square" lIns="0" tIns="0" rIns="0" bIns="0" rtlCol="0" anchor="ctr"/>
          <a:lstStyle/>
          <a:p>
            <a:pPr algn="ctr" indent="0" marL="0">
              <a:buNone/>
            </a:pPr>
            <a:r>
              <a:rPr lang="en-US" sz="950" dirty="0">
                <a:solidFill>
                  <a:schemeClr val="accent2"/>
                </a:solidFill>
              </a:rPr>
              <a:t>12/28</a:t>
            </a:r>
            <a:endParaRPr lang="en-US" sz="950" dirty="0"/>
          </a:p>
        </p:txBody>
      </p:sp>
      <p:sp>
        <p:nvSpPr>
          <p:cNvPr id="18" name="txt-45"/>
          <p:cNvSpPr txBox="1"/>
          <p:nvPr/>
        </p:nvSpPr>
        <p:spPr>
          <a:xfrm>
            <a:off x="10260874" y="1298448"/>
            <a:ext cx="1470878" cy="274320"/>
          </a:xfrm>
          <a:prstGeom prst="rect">
            <a:avLst/>
          </a:prstGeom>
          <a:noFill/>
          <a:ln/>
        </p:spPr>
        <p:txBody>
          <a:bodyPr wrap="square" lIns="0" tIns="0" rIns="0" bIns="0" rtlCol="0" anchor="ctr"/>
          <a:lstStyle/>
          <a:p>
            <a:pPr algn="ctr" indent="0" marL="0">
              <a:buNone/>
            </a:pPr>
            <a:r>
              <a:rPr lang="en-US" sz="950" dirty="0">
                <a:solidFill>
                  <a:schemeClr val="accent2"/>
                </a:solidFill>
              </a:rPr>
              <a:t>1/1-</a:t>
            </a:r>
            <a:endParaRPr lang="en-US" sz="950" dirty="0"/>
          </a:p>
        </p:txBody>
      </p:sp>
      <p:sp>
        <p:nvSpPr>
          <p:cNvPr id="19" name="txt-46"/>
          <p:cNvSpPr txBox="1"/>
          <p:nvPr/>
        </p:nvSpPr>
        <p:spPr>
          <a:xfrm>
            <a:off x="548640" y="1627632"/>
            <a:ext cx="3977640" cy="502920"/>
          </a:xfrm>
          <a:prstGeom prst="rect">
            <a:avLst/>
          </a:prstGeom>
          <a:noFill/>
          <a:ln/>
        </p:spPr>
        <p:txBody>
          <a:bodyPr wrap="square" lIns="0" tIns="0" rIns="0" bIns="0" rtlCol="0" anchor="ctr"/>
          <a:lstStyle/>
          <a:p>
            <a:pPr indent="0" marL="0">
              <a:buNone/>
            </a:pPr>
            <a:r>
              <a:rPr lang="en-US" sz="1100" b="1" dirty="0">
                <a:solidFill>
                  <a:schemeClr val="tx2"/>
                </a:solidFill>
              </a:rPr>
              <a:t>Milestones</a:t>
            </a:r>
            <a:endParaRPr lang="en-US" sz="1100" dirty="0"/>
          </a:p>
        </p:txBody>
      </p:sp>
      <p:sp>
        <p:nvSpPr>
          <p:cNvPr id="20" name="ms-47"/>
          <p:cNvSpPr/>
          <p:nvPr/>
        </p:nvSpPr>
        <p:spPr>
          <a:xfrm>
            <a:off x="4582450" y="1673352"/>
            <a:ext cx="164592" cy="164592"/>
          </a:xfrm>
          <a:prstGeom prst="diamond">
            <a:avLst/>
          </a:prstGeom>
          <a:solidFill>
            <a:schemeClr val="tx2"/>
          </a:solidFill>
          <a:ln/>
        </p:spPr>
      </p:sp>
      <p:sp>
        <p:nvSpPr>
          <p:cNvPr id="21" name="txt-48"/>
          <p:cNvSpPr txBox="1"/>
          <p:nvPr/>
        </p:nvSpPr>
        <p:spPr>
          <a:xfrm>
            <a:off x="4207546" y="1847088"/>
            <a:ext cx="914400" cy="292608"/>
          </a:xfrm>
          <a:prstGeom prst="rect">
            <a:avLst/>
          </a:prstGeom>
          <a:noFill/>
          <a:ln/>
        </p:spPr>
        <p:txBody>
          <a:bodyPr wrap="square" lIns="0" tIns="0" rIns="0" bIns="0" rtlCol="0" anchor="t"/>
          <a:lstStyle/>
          <a:p>
            <a:pPr algn="ctr" indent="0" marL="0">
              <a:buNone/>
            </a:pPr>
            <a:r>
              <a:rPr lang="en-US" sz="850" dirty="0">
                <a:solidFill>
                  <a:schemeClr val="tx2"/>
                </a:solidFill>
              </a:rPr>
              <a:t>11/2</a:t>
            </a:r>
            <a:endParaRPr lang="en-US" sz="850" dirty="0"/>
          </a:p>
          <a:p>
            <a:pPr algn="ctr" indent="0" marL="0">
              <a:buNone/>
            </a:pPr>
            <a:r>
              <a:rPr lang="en-US" sz="850" dirty="0">
                <a:solidFill>
                  <a:schemeClr val="tx2"/>
                </a:solidFill>
              </a:rPr>
              <a:t>Kickoff</a:t>
            </a:r>
            <a:endParaRPr lang="en-US" sz="850" dirty="0"/>
          </a:p>
        </p:txBody>
      </p:sp>
      <p:sp>
        <p:nvSpPr>
          <p:cNvPr id="22" name="ms-49"/>
          <p:cNvSpPr/>
          <p:nvPr/>
        </p:nvSpPr>
        <p:spPr>
          <a:xfrm>
            <a:off x="8250501" y="1673352"/>
            <a:ext cx="164592" cy="164592"/>
          </a:xfrm>
          <a:prstGeom prst="diamond">
            <a:avLst/>
          </a:prstGeom>
          <a:solidFill>
            <a:schemeClr val="tx2"/>
          </a:solidFill>
          <a:ln/>
        </p:spPr>
      </p:sp>
      <p:sp>
        <p:nvSpPr>
          <p:cNvPr id="23" name="txt-50"/>
          <p:cNvSpPr txBox="1"/>
          <p:nvPr/>
        </p:nvSpPr>
        <p:spPr>
          <a:xfrm>
            <a:off x="7875597" y="1847088"/>
            <a:ext cx="914400" cy="292608"/>
          </a:xfrm>
          <a:prstGeom prst="rect">
            <a:avLst/>
          </a:prstGeom>
          <a:noFill/>
          <a:ln/>
        </p:spPr>
        <p:txBody>
          <a:bodyPr wrap="square" lIns="0" tIns="0" rIns="0" bIns="0" rtlCol="0" anchor="t"/>
          <a:lstStyle/>
          <a:p>
            <a:pPr algn="ctr" indent="0" marL="0">
              <a:buNone/>
            </a:pPr>
            <a:r>
              <a:rPr lang="en-US" sz="850" dirty="0">
                <a:solidFill>
                  <a:schemeClr val="tx2"/>
                </a:solidFill>
              </a:rPr>
              <a:t>12/11</a:t>
            </a:r>
            <a:endParaRPr lang="en-US" sz="850" dirty="0"/>
          </a:p>
          <a:p>
            <a:pPr algn="ctr" indent="0" marL="0">
              <a:buNone/>
            </a:pPr>
            <a:r>
              <a:rPr lang="en-US" sz="850" dirty="0">
                <a:solidFill>
                  <a:schemeClr val="tx2"/>
                </a:solidFill>
              </a:rPr>
              <a:t>Agreement due</a:t>
            </a:r>
            <a:endParaRPr lang="en-US" sz="850" dirty="0"/>
          </a:p>
        </p:txBody>
      </p:sp>
      <p:sp>
        <p:nvSpPr>
          <p:cNvPr id="24" name="ms-51"/>
          <p:cNvSpPr/>
          <p:nvPr/>
        </p:nvSpPr>
        <p:spPr>
          <a:xfrm>
            <a:off x="8908869" y="1673352"/>
            <a:ext cx="164592" cy="164592"/>
          </a:xfrm>
          <a:prstGeom prst="diamond">
            <a:avLst/>
          </a:prstGeom>
          <a:solidFill>
            <a:schemeClr val="tx2"/>
          </a:solidFill>
          <a:ln/>
        </p:spPr>
      </p:sp>
      <p:sp>
        <p:nvSpPr>
          <p:cNvPr id="25" name="txt-52"/>
          <p:cNvSpPr txBox="1"/>
          <p:nvPr/>
        </p:nvSpPr>
        <p:spPr>
          <a:xfrm>
            <a:off x="8533965" y="1847088"/>
            <a:ext cx="914400" cy="292608"/>
          </a:xfrm>
          <a:prstGeom prst="rect">
            <a:avLst/>
          </a:prstGeom>
          <a:noFill/>
          <a:ln/>
        </p:spPr>
        <p:txBody>
          <a:bodyPr wrap="square" lIns="0" tIns="0" rIns="0" bIns="0" rtlCol="0" anchor="t"/>
          <a:lstStyle/>
          <a:p>
            <a:pPr algn="ctr" indent="0" marL="0">
              <a:buNone/>
            </a:pPr>
            <a:r>
              <a:rPr lang="en-US" sz="850" dirty="0">
                <a:solidFill>
                  <a:schemeClr val="tx2"/>
                </a:solidFill>
              </a:rPr>
              <a:t>12/18</a:t>
            </a:r>
            <a:endParaRPr lang="en-US" sz="850" dirty="0"/>
          </a:p>
          <a:p>
            <a:pPr algn="ctr" indent="0" marL="0">
              <a:buNone/>
            </a:pPr>
            <a:r>
              <a:rPr lang="en-US" sz="850" dirty="0">
                <a:solidFill>
                  <a:schemeClr val="tx2"/>
                </a:solidFill>
              </a:rPr>
              <a:t>Ready</a:t>
            </a:r>
            <a:endParaRPr lang="en-US" sz="850" dirty="0"/>
          </a:p>
        </p:txBody>
      </p:sp>
      <p:sp>
        <p:nvSpPr>
          <p:cNvPr id="26" name="ms-53"/>
          <p:cNvSpPr/>
          <p:nvPr/>
        </p:nvSpPr>
        <p:spPr>
          <a:xfrm>
            <a:off x="10178578" y="1673352"/>
            <a:ext cx="164592" cy="164592"/>
          </a:xfrm>
          <a:prstGeom prst="diamond">
            <a:avLst/>
          </a:prstGeom>
          <a:solidFill>
            <a:schemeClr val="tx2"/>
          </a:solidFill>
          <a:ln/>
        </p:spPr>
      </p:sp>
      <p:sp>
        <p:nvSpPr>
          <p:cNvPr id="27" name="txt-54"/>
          <p:cNvSpPr txBox="1"/>
          <p:nvPr/>
        </p:nvSpPr>
        <p:spPr>
          <a:xfrm>
            <a:off x="9328186" y="1847088"/>
            <a:ext cx="914400" cy="292608"/>
          </a:xfrm>
          <a:prstGeom prst="rect">
            <a:avLst/>
          </a:prstGeom>
          <a:noFill/>
          <a:ln/>
        </p:spPr>
        <p:txBody>
          <a:bodyPr wrap="square" lIns="0" tIns="0" rIns="0" bIns="0" rtlCol="0" anchor="t"/>
          <a:lstStyle/>
          <a:p>
            <a:pPr algn="r" indent="0" marL="0">
              <a:buNone/>
            </a:pPr>
            <a:r>
              <a:rPr lang="en-US" sz="850" b="1" dirty="0">
                <a:solidFill>
                  <a:schemeClr val="tx2"/>
                </a:solidFill>
              </a:rPr>
              <a:t>12/31</a:t>
            </a:r>
            <a:endParaRPr lang="en-US" sz="850" dirty="0"/>
          </a:p>
          <a:p>
            <a:pPr algn="r" indent="0" marL="0">
              <a:buNone/>
            </a:pPr>
            <a:r>
              <a:rPr lang="en-US" sz="850" b="1" dirty="0">
                <a:solidFill>
                  <a:schemeClr val="tx2"/>
                </a:solidFill>
              </a:rPr>
              <a:t>Ringi approved</a:t>
            </a:r>
            <a:endParaRPr lang="en-US" sz="850" dirty="0"/>
          </a:p>
        </p:txBody>
      </p:sp>
      <p:sp>
        <p:nvSpPr>
          <p:cNvPr id="28" name="ms-55"/>
          <p:cNvSpPr/>
          <p:nvPr/>
        </p:nvSpPr>
        <p:spPr>
          <a:xfrm>
            <a:off x="10370602" y="1673352"/>
            <a:ext cx="164592" cy="164592"/>
          </a:xfrm>
          <a:prstGeom prst="diamond">
            <a:avLst/>
          </a:prstGeom>
          <a:solidFill>
            <a:schemeClr val="accent2"/>
          </a:solidFill>
          <a:ln/>
        </p:spPr>
      </p:sp>
      <p:sp>
        <p:nvSpPr>
          <p:cNvPr id="29" name="txt-56"/>
          <p:cNvSpPr txBox="1"/>
          <p:nvPr/>
        </p:nvSpPr>
        <p:spPr>
          <a:xfrm>
            <a:off x="10370602" y="1847088"/>
            <a:ext cx="1342862" cy="292608"/>
          </a:xfrm>
          <a:prstGeom prst="rect">
            <a:avLst/>
          </a:prstGeom>
          <a:noFill/>
          <a:ln/>
        </p:spPr>
        <p:txBody>
          <a:bodyPr wrap="square" lIns="0" tIns="0" rIns="0" bIns="0" rtlCol="0" anchor="t"/>
          <a:lstStyle/>
          <a:p>
            <a:pPr indent="0" marL="0">
              <a:buNone/>
            </a:pPr>
            <a:r>
              <a:rPr lang="en-US" sz="850" dirty="0">
                <a:solidFill>
                  <a:schemeClr val="accent2"/>
                </a:solidFill>
              </a:rPr>
              <a:t>1/1</a:t>
            </a:r>
            <a:endParaRPr lang="en-US" sz="850" dirty="0"/>
          </a:p>
          <a:p>
            <a:pPr indent="0" marL="0">
              <a:buNone/>
            </a:pPr>
            <a:r>
              <a:rPr lang="en-US" sz="850" dirty="0">
                <a:solidFill>
                  <a:schemeClr val="accent2"/>
                </a:solidFill>
              </a:rPr>
              <a:t>Transfer (indirect work starts)</a:t>
            </a:r>
            <a:endParaRPr lang="en-US" sz="850" dirty="0"/>
          </a:p>
        </p:txBody>
      </p:sp>
      <p:sp>
        <p:nvSpPr>
          <p:cNvPr id="30" name="box-57"/>
          <p:cNvSpPr/>
          <p:nvPr/>
        </p:nvSpPr>
        <p:spPr>
          <a:xfrm>
            <a:off x="457200" y="2130552"/>
            <a:ext cx="11274552" cy="237744"/>
          </a:xfrm>
          <a:prstGeom prst="rect">
            <a:avLst/>
          </a:prstGeom>
          <a:solidFill>
            <a:schemeClr val="bg2"/>
          </a:solidFill>
          <a:ln/>
        </p:spPr>
      </p:sp>
      <p:sp>
        <p:nvSpPr>
          <p:cNvPr id="31" name="txt-58"/>
          <p:cNvSpPr txBox="1"/>
          <p:nvPr/>
        </p:nvSpPr>
        <p:spPr>
          <a:xfrm>
            <a:off x="548640" y="2130552"/>
            <a:ext cx="2743200" cy="237744"/>
          </a:xfrm>
          <a:prstGeom prst="rect">
            <a:avLst/>
          </a:prstGeom>
          <a:noFill/>
          <a:ln/>
        </p:spPr>
        <p:txBody>
          <a:bodyPr wrap="square" lIns="0" tIns="0" rIns="0" bIns="0" rtlCol="0" anchor="ctr"/>
          <a:lstStyle/>
          <a:p>
            <a:pPr indent="0" marL="0">
              <a:buNone/>
            </a:pPr>
            <a:r>
              <a:rPr lang="en-US" sz="1100" b="1" dirty="0">
                <a:solidFill>
                  <a:schemeClr val="tx2"/>
                </a:solidFill>
              </a:rPr>
              <a:t>Transfer Lead</a:t>
            </a:r>
            <a:endParaRPr lang="en-US" sz="1100" dirty="0"/>
          </a:p>
        </p:txBody>
      </p:sp>
      <p:sp>
        <p:nvSpPr>
          <p:cNvPr id="32" name="txt-59"/>
          <p:cNvSpPr txBox="1"/>
          <p:nvPr/>
        </p:nvSpPr>
        <p:spPr>
          <a:xfrm>
            <a:off x="548640" y="2368296"/>
            <a:ext cx="4023360" cy="265176"/>
          </a:xfrm>
          <a:prstGeom prst="rect">
            <a:avLst/>
          </a:prstGeom>
          <a:noFill/>
          <a:ln/>
        </p:spPr>
        <p:txBody>
          <a:bodyPr wrap="square" lIns="0" tIns="0" rIns="0" bIns="0" rtlCol="0" anchor="ctr"/>
          <a:lstStyle/>
          <a:p>
            <a:pPr indent="0" marL="0">
              <a:buNone/>
            </a:pPr>
            <a:r>
              <a:rPr lang="en-US" sz="1050" dirty="0">
                <a:solidFill>
                  <a:schemeClr val="tx1"/>
                </a:solidFill>
              </a:rPr>
              <a:t>Hold the kickoff</a:t>
            </a:r>
            <a:endParaRPr lang="en-US" sz="1050" dirty="0"/>
          </a:p>
        </p:txBody>
      </p:sp>
      <p:sp>
        <p:nvSpPr>
          <p:cNvPr id="33" name="rowline-60"/>
          <p:cNvSpPr/>
          <p:nvPr/>
        </p:nvSpPr>
        <p:spPr>
          <a:xfrm>
            <a:off x="457200" y="2633472"/>
            <a:ext cx="11274552" cy="0"/>
          </a:xfrm>
          <a:prstGeom prst="line">
            <a:avLst/>
          </a:prstGeom>
          <a:noFill/>
          <a:ln w="9525">
            <a:solidFill>
              <a:srgbClr val="F4F6F9"/>
            </a:solidFill>
            <a:prstDash val="solid"/>
          </a:ln>
        </p:spPr>
      </p:sp>
      <p:sp>
        <p:nvSpPr>
          <p:cNvPr id="34" name="ms-61"/>
          <p:cNvSpPr/>
          <p:nvPr/>
        </p:nvSpPr>
        <p:spPr>
          <a:xfrm>
            <a:off x="4617720" y="2423160"/>
            <a:ext cx="173736" cy="173736"/>
          </a:xfrm>
          <a:prstGeom prst="diamond">
            <a:avLst/>
          </a:prstGeom>
          <a:solidFill>
            <a:schemeClr val="tx2"/>
          </a:solidFill>
          <a:ln/>
        </p:spPr>
      </p:sp>
      <p:sp>
        <p:nvSpPr>
          <p:cNvPr id="35" name="txt-62"/>
          <p:cNvSpPr txBox="1"/>
          <p:nvPr/>
        </p:nvSpPr>
        <p:spPr>
          <a:xfrm>
            <a:off x="548640" y="2633472"/>
            <a:ext cx="4023360" cy="265176"/>
          </a:xfrm>
          <a:prstGeom prst="rect">
            <a:avLst/>
          </a:prstGeom>
          <a:noFill/>
          <a:ln/>
        </p:spPr>
        <p:txBody>
          <a:bodyPr wrap="square" lIns="0" tIns="0" rIns="0" bIns="0" rtlCol="0" anchor="ctr"/>
          <a:lstStyle/>
          <a:p>
            <a:pPr indent="0" marL="0">
              <a:buNone/>
            </a:pPr>
            <a:r>
              <a:rPr lang="en-US" sz="1050" dirty="0">
                <a:solidFill>
                  <a:schemeClr val="tx1"/>
                </a:solidFill>
              </a:rPr>
              <a:t>Check transfer status and progress (daily)</a:t>
            </a:r>
            <a:endParaRPr lang="en-US" sz="1050" dirty="0"/>
          </a:p>
        </p:txBody>
      </p:sp>
      <p:sp>
        <p:nvSpPr>
          <p:cNvPr id="36" name="rowline-63"/>
          <p:cNvSpPr/>
          <p:nvPr/>
        </p:nvSpPr>
        <p:spPr>
          <a:xfrm>
            <a:off x="457200" y="2898648"/>
            <a:ext cx="11274552" cy="0"/>
          </a:xfrm>
          <a:prstGeom prst="line">
            <a:avLst/>
          </a:prstGeom>
          <a:noFill/>
          <a:ln w="9525">
            <a:solidFill>
              <a:srgbClr val="F4F6F9"/>
            </a:solidFill>
            <a:prstDash val="solid"/>
          </a:ln>
        </p:spPr>
      </p:sp>
      <p:sp>
        <p:nvSpPr>
          <p:cNvPr id="37" name="bar-64"/>
          <p:cNvSpPr/>
          <p:nvPr/>
        </p:nvSpPr>
        <p:spPr>
          <a:xfrm>
            <a:off x="4617720" y="2697480"/>
            <a:ext cx="5643154" cy="137160"/>
          </a:xfrm>
          <a:prstGeom prst="rect">
            <a:avLst/>
          </a:prstGeom>
          <a:solidFill>
            <a:schemeClr val="accent3"/>
          </a:solidFill>
          <a:ln/>
        </p:spPr>
      </p:sp>
      <p:sp>
        <p:nvSpPr>
          <p:cNvPr id="38" name="txt-65"/>
          <p:cNvSpPr txBox="1"/>
          <p:nvPr/>
        </p:nvSpPr>
        <p:spPr>
          <a:xfrm>
            <a:off x="548640" y="2898648"/>
            <a:ext cx="4023360" cy="265176"/>
          </a:xfrm>
          <a:prstGeom prst="rect">
            <a:avLst/>
          </a:prstGeom>
          <a:noFill/>
          <a:ln/>
        </p:spPr>
        <p:txBody>
          <a:bodyPr wrap="square" lIns="0" tIns="0" rIns="0" bIns="0" rtlCol="0" anchor="ctr"/>
          <a:lstStyle/>
          <a:p>
            <a:pPr indent="0" marL="0">
              <a:buNone/>
            </a:pPr>
            <a:r>
              <a:rPr lang="en-US" sz="1050" dirty="0">
                <a:solidFill>
                  <a:schemeClr val="tx1"/>
                </a:solidFill>
              </a:rPr>
              <a:t>Cross-check agreement documents</a:t>
            </a:r>
            <a:endParaRPr lang="en-US" sz="1050" dirty="0"/>
          </a:p>
        </p:txBody>
      </p:sp>
      <p:sp>
        <p:nvSpPr>
          <p:cNvPr id="39" name="rowline-66"/>
          <p:cNvSpPr/>
          <p:nvPr/>
        </p:nvSpPr>
        <p:spPr>
          <a:xfrm>
            <a:off x="457200" y="3163824"/>
            <a:ext cx="11274552" cy="0"/>
          </a:xfrm>
          <a:prstGeom prst="line">
            <a:avLst/>
          </a:prstGeom>
          <a:noFill/>
          <a:ln w="9525">
            <a:solidFill>
              <a:srgbClr val="F4F6F9"/>
            </a:solidFill>
            <a:prstDash val="solid"/>
          </a:ln>
        </p:spPr>
      </p:sp>
      <p:sp>
        <p:nvSpPr>
          <p:cNvPr id="40" name="bar-67"/>
          <p:cNvSpPr/>
          <p:nvPr/>
        </p:nvSpPr>
        <p:spPr>
          <a:xfrm>
            <a:off x="7251192" y="2962656"/>
            <a:ext cx="1128631" cy="137160"/>
          </a:xfrm>
          <a:prstGeom prst="rect">
            <a:avLst/>
          </a:prstGeom>
          <a:solidFill>
            <a:schemeClr val="tx2"/>
          </a:solidFill>
          <a:ln/>
        </p:spPr>
      </p:sp>
      <p:sp>
        <p:nvSpPr>
          <p:cNvPr id="41" name="txt-68"/>
          <p:cNvSpPr txBox="1"/>
          <p:nvPr/>
        </p:nvSpPr>
        <p:spPr>
          <a:xfrm>
            <a:off x="548640" y="3163824"/>
            <a:ext cx="4023360" cy="265176"/>
          </a:xfrm>
          <a:prstGeom prst="rect">
            <a:avLst/>
          </a:prstGeom>
          <a:noFill/>
          <a:ln/>
        </p:spPr>
        <p:txBody>
          <a:bodyPr wrap="square" lIns="0" tIns="0" rIns="0" bIns="0" rtlCol="0" anchor="ctr"/>
          <a:lstStyle/>
          <a:p>
            <a:pPr indent="0" marL="0">
              <a:buNone/>
            </a:pPr>
            <a:r>
              <a:rPr lang="en-US" sz="1050" dirty="0">
                <a:solidFill>
                  <a:schemeClr val="tx1"/>
                </a:solidFill>
              </a:rPr>
              <a:t>Raise and approve transfer ringi (by department)</a:t>
            </a:r>
            <a:endParaRPr lang="en-US" sz="1050" dirty="0"/>
          </a:p>
        </p:txBody>
      </p:sp>
      <p:sp>
        <p:nvSpPr>
          <p:cNvPr id="42" name="rowline-69"/>
          <p:cNvSpPr/>
          <p:nvPr/>
        </p:nvSpPr>
        <p:spPr>
          <a:xfrm>
            <a:off x="457200" y="3429000"/>
            <a:ext cx="11274552" cy="0"/>
          </a:xfrm>
          <a:prstGeom prst="line">
            <a:avLst/>
          </a:prstGeom>
          <a:noFill/>
          <a:ln w="9525">
            <a:solidFill>
              <a:srgbClr val="F4F6F9"/>
            </a:solidFill>
            <a:prstDash val="solid"/>
          </a:ln>
        </p:spPr>
      </p:sp>
      <p:sp>
        <p:nvSpPr>
          <p:cNvPr id="43" name="bar-70"/>
          <p:cNvSpPr/>
          <p:nvPr/>
        </p:nvSpPr>
        <p:spPr>
          <a:xfrm>
            <a:off x="7909560" y="3227832"/>
            <a:ext cx="2351314" cy="137160"/>
          </a:xfrm>
          <a:prstGeom prst="rect">
            <a:avLst/>
          </a:prstGeom>
          <a:solidFill>
            <a:schemeClr val="tx2"/>
          </a:solidFill>
          <a:ln/>
        </p:spPr>
      </p:sp>
      <p:sp>
        <p:nvSpPr>
          <p:cNvPr id="44" name="box-71"/>
          <p:cNvSpPr/>
          <p:nvPr/>
        </p:nvSpPr>
        <p:spPr>
          <a:xfrm>
            <a:off x="457200" y="3429000"/>
            <a:ext cx="11274552" cy="237744"/>
          </a:xfrm>
          <a:prstGeom prst="rect">
            <a:avLst/>
          </a:prstGeom>
          <a:solidFill>
            <a:schemeClr val="bg2"/>
          </a:solidFill>
          <a:ln/>
        </p:spPr>
      </p:sp>
      <p:sp>
        <p:nvSpPr>
          <p:cNvPr id="45" name="txt-72"/>
          <p:cNvSpPr txBox="1"/>
          <p:nvPr/>
        </p:nvSpPr>
        <p:spPr>
          <a:xfrm>
            <a:off x="548640" y="3429000"/>
            <a:ext cx="2743200" cy="237744"/>
          </a:xfrm>
          <a:prstGeom prst="rect">
            <a:avLst/>
          </a:prstGeom>
          <a:noFill/>
          <a:ln/>
        </p:spPr>
        <p:txBody>
          <a:bodyPr wrap="square" lIns="0" tIns="0" rIns="0" bIns="0" rtlCol="0" anchor="ctr"/>
          <a:lstStyle/>
          <a:p>
            <a:pPr indent="0" marL="0">
              <a:buNone/>
            </a:pPr>
            <a:r>
              <a:rPr lang="en-US" sz="1100" b="1" dirty="0">
                <a:solidFill>
                  <a:schemeClr val="tx2"/>
                </a:solidFill>
              </a:rPr>
              <a:t>Case Owners</a:t>
            </a:r>
            <a:endParaRPr lang="en-US" sz="1100" dirty="0"/>
          </a:p>
        </p:txBody>
      </p:sp>
      <p:sp>
        <p:nvSpPr>
          <p:cNvPr id="46" name="txt-73"/>
          <p:cNvSpPr txBox="1"/>
          <p:nvPr/>
        </p:nvSpPr>
        <p:spPr>
          <a:xfrm>
            <a:off x="548640" y="3666744"/>
            <a:ext cx="4023360" cy="265176"/>
          </a:xfrm>
          <a:prstGeom prst="rect">
            <a:avLst/>
          </a:prstGeom>
          <a:noFill/>
          <a:ln/>
        </p:spPr>
        <p:txBody>
          <a:bodyPr wrap="square" lIns="0" tIns="0" rIns="0" bIns="0" rtlCol="0" anchor="ctr"/>
          <a:lstStyle/>
          <a:p>
            <a:pPr indent="0" marL="0">
              <a:buNone/>
            </a:pPr>
            <a:r>
              <a:rPr lang="en-US" sz="1050" dirty="0">
                <a:solidFill>
                  <a:schemeClr val="tx1"/>
                </a:solidFill>
              </a:rPr>
              <a:t>1.  Resolve pending decisions and finish the inventory</a:t>
            </a:r>
            <a:endParaRPr lang="en-US" sz="1050" dirty="0"/>
          </a:p>
        </p:txBody>
      </p:sp>
      <p:sp>
        <p:nvSpPr>
          <p:cNvPr id="47" name="rowline-74"/>
          <p:cNvSpPr/>
          <p:nvPr/>
        </p:nvSpPr>
        <p:spPr>
          <a:xfrm>
            <a:off x="457200" y="3931920"/>
            <a:ext cx="11274552" cy="0"/>
          </a:xfrm>
          <a:prstGeom prst="line">
            <a:avLst/>
          </a:prstGeom>
          <a:noFill/>
          <a:ln w="9525">
            <a:solidFill>
              <a:srgbClr val="F4F6F9"/>
            </a:solidFill>
            <a:prstDash val="solid"/>
          </a:ln>
        </p:spPr>
      </p:sp>
      <p:sp>
        <p:nvSpPr>
          <p:cNvPr id="48" name="bar-75"/>
          <p:cNvSpPr/>
          <p:nvPr/>
        </p:nvSpPr>
        <p:spPr>
          <a:xfrm>
            <a:off x="4617720" y="3730752"/>
            <a:ext cx="2727525" cy="137160"/>
          </a:xfrm>
          <a:prstGeom prst="rect">
            <a:avLst/>
          </a:prstGeom>
          <a:solidFill>
            <a:schemeClr val="tx2"/>
          </a:solidFill>
          <a:ln/>
        </p:spPr>
      </p:sp>
      <p:sp>
        <p:nvSpPr>
          <p:cNvPr id="49" name="txt-76"/>
          <p:cNvSpPr txBox="1"/>
          <p:nvPr/>
        </p:nvSpPr>
        <p:spPr>
          <a:xfrm>
            <a:off x="548640" y="3931920"/>
            <a:ext cx="4023360" cy="265176"/>
          </a:xfrm>
          <a:prstGeom prst="rect">
            <a:avLst/>
          </a:prstGeom>
          <a:noFill/>
          <a:ln/>
        </p:spPr>
        <p:txBody>
          <a:bodyPr wrap="square" lIns="0" tIns="0" rIns="0" bIns="0" rtlCol="0" anchor="ctr"/>
          <a:lstStyle/>
          <a:p>
            <a:pPr indent="0" marL="0">
              <a:buNone/>
            </a:pPr>
            <a:r>
              <a:rPr lang="en-US" sz="1050" dirty="0">
                <a:solidFill>
                  <a:schemeClr val="tx1"/>
                </a:solidFill>
              </a:rPr>
              <a:t>2.  Agree on handover and IT-related work (agreement document)</a:t>
            </a:r>
            <a:endParaRPr lang="en-US" sz="1050" dirty="0"/>
          </a:p>
        </p:txBody>
      </p:sp>
      <p:sp>
        <p:nvSpPr>
          <p:cNvPr id="50" name="rowline-77"/>
          <p:cNvSpPr/>
          <p:nvPr/>
        </p:nvSpPr>
        <p:spPr>
          <a:xfrm>
            <a:off x="457200" y="4197096"/>
            <a:ext cx="11274552" cy="0"/>
          </a:xfrm>
          <a:prstGeom prst="line">
            <a:avLst/>
          </a:prstGeom>
          <a:noFill/>
          <a:ln w="9525">
            <a:solidFill>
              <a:srgbClr val="F4F6F9"/>
            </a:solidFill>
            <a:prstDash val="solid"/>
          </a:ln>
        </p:spPr>
      </p:sp>
      <p:sp>
        <p:nvSpPr>
          <p:cNvPr id="51" name="bar-78"/>
          <p:cNvSpPr/>
          <p:nvPr/>
        </p:nvSpPr>
        <p:spPr>
          <a:xfrm>
            <a:off x="5934456" y="3995928"/>
            <a:ext cx="2445367" cy="137160"/>
          </a:xfrm>
          <a:prstGeom prst="rect">
            <a:avLst/>
          </a:prstGeom>
          <a:solidFill>
            <a:schemeClr val="tx2"/>
          </a:solidFill>
          <a:ln/>
        </p:spPr>
      </p:sp>
      <p:sp>
        <p:nvSpPr>
          <p:cNvPr id="52" name="txt-79"/>
          <p:cNvSpPr txBox="1"/>
          <p:nvPr/>
        </p:nvSpPr>
        <p:spPr>
          <a:xfrm>
            <a:off x="548640" y="4197096"/>
            <a:ext cx="4023360" cy="265176"/>
          </a:xfrm>
          <a:prstGeom prst="rect">
            <a:avLst/>
          </a:prstGeom>
          <a:noFill/>
          <a:ln/>
        </p:spPr>
        <p:txBody>
          <a:bodyPr wrap="square" lIns="0" tIns="0" rIns="0" bIns="0" rtlCol="0" anchor="ctr"/>
          <a:lstStyle/>
          <a:p>
            <a:pPr indent="0" marL="0">
              <a:buNone/>
            </a:pPr>
            <a:r>
              <a:rPr lang="en-US" sz="1050" dirty="0">
                <a:solidFill>
                  <a:schemeClr val="tx1"/>
                </a:solidFill>
              </a:rPr>
              <a:t>3.  Hand over indirect work to the receivers</a:t>
            </a:r>
            <a:endParaRPr lang="en-US" sz="1050" dirty="0"/>
          </a:p>
        </p:txBody>
      </p:sp>
      <p:sp>
        <p:nvSpPr>
          <p:cNvPr id="53" name="rowline-80"/>
          <p:cNvSpPr/>
          <p:nvPr/>
        </p:nvSpPr>
        <p:spPr>
          <a:xfrm>
            <a:off x="457200" y="4462272"/>
            <a:ext cx="11274552" cy="0"/>
          </a:xfrm>
          <a:prstGeom prst="line">
            <a:avLst/>
          </a:prstGeom>
          <a:noFill/>
          <a:ln w="9525">
            <a:solidFill>
              <a:srgbClr val="F4F6F9"/>
            </a:solidFill>
            <a:prstDash val="solid"/>
          </a:ln>
        </p:spPr>
      </p:sp>
      <p:sp>
        <p:nvSpPr>
          <p:cNvPr id="54" name="bar-81"/>
          <p:cNvSpPr/>
          <p:nvPr/>
        </p:nvSpPr>
        <p:spPr>
          <a:xfrm>
            <a:off x="7251192" y="4261104"/>
            <a:ext cx="1786999" cy="137160"/>
          </a:xfrm>
          <a:prstGeom prst="rect">
            <a:avLst/>
          </a:prstGeom>
          <a:solidFill>
            <a:schemeClr val="tx2"/>
          </a:solidFill>
          <a:ln/>
        </p:spPr>
      </p:sp>
      <p:sp>
        <p:nvSpPr>
          <p:cNvPr id="55" name="txt-82"/>
          <p:cNvSpPr txBox="1"/>
          <p:nvPr/>
        </p:nvSpPr>
        <p:spPr>
          <a:xfrm>
            <a:off x="548640" y="4462272"/>
            <a:ext cx="4023360" cy="265176"/>
          </a:xfrm>
          <a:prstGeom prst="rect">
            <a:avLst/>
          </a:prstGeom>
          <a:noFill/>
          <a:ln/>
        </p:spPr>
        <p:txBody>
          <a:bodyPr wrap="square" lIns="0" tIns="0" rIns="0" bIns="0" rtlCol="0" anchor="ctr"/>
          <a:lstStyle/>
          <a:p>
            <a:pPr indent="0" marL="0">
              <a:buNone/>
            </a:pPr>
            <a:r>
              <a:rPr lang="en-US" sz="1050" dirty="0">
                <a:solidFill>
                  <a:schemeClr val="tx1"/>
                </a:solidFill>
              </a:rPr>
              <a:t>4.  Confirm readiness</a:t>
            </a:r>
            <a:endParaRPr lang="en-US" sz="1050" dirty="0"/>
          </a:p>
        </p:txBody>
      </p:sp>
      <p:sp>
        <p:nvSpPr>
          <p:cNvPr id="56" name="rowline-83"/>
          <p:cNvSpPr/>
          <p:nvPr/>
        </p:nvSpPr>
        <p:spPr>
          <a:xfrm>
            <a:off x="457200" y="4727448"/>
            <a:ext cx="11274552" cy="0"/>
          </a:xfrm>
          <a:prstGeom prst="line">
            <a:avLst/>
          </a:prstGeom>
          <a:noFill/>
          <a:ln w="9525">
            <a:solidFill>
              <a:srgbClr val="F4F6F9"/>
            </a:solidFill>
            <a:prstDash val="solid"/>
          </a:ln>
        </p:spPr>
      </p:sp>
      <p:sp>
        <p:nvSpPr>
          <p:cNvPr id="57" name="bar-84"/>
          <p:cNvSpPr/>
          <p:nvPr/>
        </p:nvSpPr>
        <p:spPr>
          <a:xfrm>
            <a:off x="8567928" y="4526280"/>
            <a:ext cx="470263" cy="137160"/>
          </a:xfrm>
          <a:prstGeom prst="rect">
            <a:avLst/>
          </a:prstGeom>
          <a:solidFill>
            <a:schemeClr val="tx2"/>
          </a:solidFill>
          <a:ln/>
        </p:spPr>
      </p:sp>
      <p:sp>
        <p:nvSpPr>
          <p:cNvPr id="58" name="txt-85"/>
          <p:cNvSpPr txBox="1"/>
          <p:nvPr/>
        </p:nvSpPr>
        <p:spPr>
          <a:xfrm>
            <a:off x="548640" y="4727448"/>
            <a:ext cx="4023360" cy="265176"/>
          </a:xfrm>
          <a:prstGeom prst="rect">
            <a:avLst/>
          </a:prstGeom>
          <a:noFill/>
          <a:ln/>
        </p:spPr>
        <p:txBody>
          <a:bodyPr wrap="square" lIns="0" tIns="0" rIns="0" bIns="0" rtlCol="0" anchor="ctr"/>
          <a:lstStyle/>
          <a:p>
            <a:pPr indent="0" marL="0">
              <a:buNone/>
            </a:pPr>
            <a:r>
              <a:rPr lang="en-US" sz="1050" dirty="0">
                <a:solidFill>
                  <a:schemeClr val="tx1"/>
                </a:solidFill>
              </a:rPr>
              <a:t>Update transfer status (as needed)</a:t>
            </a:r>
            <a:endParaRPr lang="en-US" sz="1050" dirty="0"/>
          </a:p>
        </p:txBody>
      </p:sp>
      <p:sp>
        <p:nvSpPr>
          <p:cNvPr id="59" name="rowline-86"/>
          <p:cNvSpPr/>
          <p:nvPr/>
        </p:nvSpPr>
        <p:spPr>
          <a:xfrm>
            <a:off x="457200" y="4992624"/>
            <a:ext cx="11274552" cy="0"/>
          </a:xfrm>
          <a:prstGeom prst="line">
            <a:avLst/>
          </a:prstGeom>
          <a:noFill/>
          <a:ln w="9525">
            <a:solidFill>
              <a:srgbClr val="F4F6F9"/>
            </a:solidFill>
            <a:prstDash val="solid"/>
          </a:ln>
        </p:spPr>
      </p:sp>
      <p:sp>
        <p:nvSpPr>
          <p:cNvPr id="60" name="bar-87"/>
          <p:cNvSpPr/>
          <p:nvPr/>
        </p:nvSpPr>
        <p:spPr>
          <a:xfrm>
            <a:off x="4617720" y="4791456"/>
            <a:ext cx="5643154" cy="137160"/>
          </a:xfrm>
          <a:prstGeom prst="rect">
            <a:avLst/>
          </a:prstGeom>
          <a:solidFill>
            <a:schemeClr val="accent3"/>
          </a:solidFill>
          <a:ln/>
        </p:spPr>
      </p:sp>
      <p:sp>
        <p:nvSpPr>
          <p:cNvPr id="61" name="txt-88"/>
          <p:cNvSpPr txBox="1"/>
          <p:nvPr/>
        </p:nvSpPr>
        <p:spPr>
          <a:xfrm>
            <a:off x="548640" y="4992624"/>
            <a:ext cx="4023360" cy="265176"/>
          </a:xfrm>
          <a:prstGeom prst="rect">
            <a:avLst/>
          </a:prstGeom>
          <a:noFill/>
          <a:ln/>
        </p:spPr>
        <p:txBody>
          <a:bodyPr wrap="square" lIns="0" tIns="0" rIns="0" bIns="0" rtlCol="0" anchor="ctr"/>
          <a:lstStyle/>
          <a:p>
            <a:pPr indent="0" marL="0">
              <a:buNone/>
            </a:pPr>
            <a:r>
              <a:rPr lang="en-US" sz="1050" dirty="0">
                <a:solidFill>
                  <a:schemeClr val="tx1"/>
                </a:solidFill>
              </a:rPr>
              <a:t>Change owner of interim-measure work (after procedure)</a:t>
            </a:r>
            <a:endParaRPr lang="en-US" sz="1050" dirty="0"/>
          </a:p>
        </p:txBody>
      </p:sp>
      <p:sp>
        <p:nvSpPr>
          <p:cNvPr id="62" name="rowline-89"/>
          <p:cNvSpPr/>
          <p:nvPr/>
        </p:nvSpPr>
        <p:spPr>
          <a:xfrm>
            <a:off x="457200" y="5257800"/>
            <a:ext cx="11274552" cy="0"/>
          </a:xfrm>
          <a:prstGeom prst="line">
            <a:avLst/>
          </a:prstGeom>
          <a:noFill/>
          <a:ln w="9525">
            <a:solidFill>
              <a:srgbClr val="F4F6F9"/>
            </a:solidFill>
            <a:prstDash val="solid"/>
          </a:ln>
        </p:spPr>
      </p:sp>
      <p:sp>
        <p:nvSpPr>
          <p:cNvPr id="63" name="bar-90"/>
          <p:cNvSpPr/>
          <p:nvPr/>
        </p:nvSpPr>
        <p:spPr>
          <a:xfrm>
            <a:off x="10315738" y="5056632"/>
            <a:ext cx="1361150" cy="137160"/>
          </a:xfrm>
          <a:prstGeom prst="rect">
            <a:avLst/>
          </a:prstGeom>
          <a:solidFill>
            <a:schemeClr val="bg2"/>
          </a:solidFill>
          <a:ln w="9525">
            <a:solidFill>
              <a:schemeClr val="accent3"/>
            </a:solidFill>
            <a:prstDash val="dash"/>
          </a:ln>
        </p:spPr>
      </p:sp>
      <p:sp>
        <p:nvSpPr>
          <p:cNvPr id="64" name="txt-91"/>
          <p:cNvSpPr txBox="1"/>
          <p:nvPr/>
        </p:nvSpPr>
        <p:spPr>
          <a:xfrm>
            <a:off x="10315738" y="5056632"/>
            <a:ext cx="1361150" cy="137160"/>
          </a:xfrm>
          <a:prstGeom prst="rect">
            <a:avLst/>
          </a:prstGeom>
          <a:noFill/>
          <a:ln/>
        </p:spPr>
        <p:txBody>
          <a:bodyPr wrap="square" lIns="0" tIns="0" rIns="0" bIns="0" rtlCol="0" anchor="ctr"/>
          <a:lstStyle/>
          <a:p>
            <a:pPr algn="ctr" indent="0" marL="0">
              <a:buNone/>
            </a:pPr>
            <a:r>
              <a:rPr lang="en-US" sz="850" dirty="0">
                <a:solidFill>
                  <a:schemeClr val="accent2"/>
                </a:solidFill>
              </a:rPr>
              <a:t>Per planned completion</a:t>
            </a:r>
            <a:endParaRPr lang="en-US" sz="850" dirty="0"/>
          </a:p>
        </p:txBody>
      </p:sp>
      <p:sp>
        <p:nvSpPr>
          <p:cNvPr id="65" name="vline-92"/>
          <p:cNvSpPr/>
          <p:nvPr/>
        </p:nvSpPr>
        <p:spPr>
          <a:xfrm>
            <a:off x="7345245" y="1627632"/>
            <a:ext cx="0" cy="3630168"/>
          </a:xfrm>
          <a:prstGeom prst="line">
            <a:avLst/>
          </a:prstGeom>
          <a:noFill/>
          <a:ln w="9525">
            <a:solidFill>
              <a:schemeClr val="accent3"/>
            </a:solidFill>
            <a:prstDash val="solid"/>
          </a:ln>
        </p:spPr>
      </p:sp>
      <p:sp>
        <p:nvSpPr>
          <p:cNvPr id="66" name="vline-93"/>
          <p:cNvSpPr/>
          <p:nvPr/>
        </p:nvSpPr>
        <p:spPr>
          <a:xfrm>
            <a:off x="8379823" y="1627632"/>
            <a:ext cx="0" cy="3630168"/>
          </a:xfrm>
          <a:prstGeom prst="line">
            <a:avLst/>
          </a:prstGeom>
          <a:noFill/>
          <a:ln w="9525">
            <a:solidFill>
              <a:schemeClr val="accent3"/>
            </a:solidFill>
            <a:prstDash val="dash"/>
          </a:ln>
        </p:spPr>
      </p:sp>
      <p:sp>
        <p:nvSpPr>
          <p:cNvPr id="67" name="vline-94"/>
          <p:cNvSpPr/>
          <p:nvPr/>
        </p:nvSpPr>
        <p:spPr>
          <a:xfrm>
            <a:off x="9038191" y="1627632"/>
            <a:ext cx="0" cy="3630168"/>
          </a:xfrm>
          <a:prstGeom prst="line">
            <a:avLst/>
          </a:prstGeom>
          <a:noFill/>
          <a:ln w="9525">
            <a:solidFill>
              <a:schemeClr val="accent3"/>
            </a:solidFill>
            <a:prstDash val="dash"/>
          </a:ln>
        </p:spPr>
      </p:sp>
      <p:sp>
        <p:nvSpPr>
          <p:cNvPr id="68" name="vline-95"/>
          <p:cNvSpPr/>
          <p:nvPr/>
        </p:nvSpPr>
        <p:spPr>
          <a:xfrm>
            <a:off x="10260874" y="1627632"/>
            <a:ext cx="0" cy="3630168"/>
          </a:xfrm>
          <a:prstGeom prst="line">
            <a:avLst/>
          </a:prstGeom>
          <a:noFill/>
          <a:ln w="9525">
            <a:solidFill>
              <a:schemeClr val="tx2"/>
            </a:solidFill>
            <a:prstDash val="solid"/>
          </a:ln>
        </p:spPr>
      </p:sp>
      <p:sp>
        <p:nvSpPr>
          <p:cNvPr id="69" name="box-96"/>
          <p:cNvSpPr/>
          <p:nvPr/>
        </p:nvSpPr>
        <p:spPr>
          <a:xfrm>
            <a:off x="457200" y="5440680"/>
            <a:ext cx="5554980" cy="960120"/>
          </a:xfrm>
          <a:prstGeom prst="rect">
            <a:avLst/>
          </a:prstGeom>
          <a:solidFill>
            <a:schemeClr val="bg2"/>
          </a:solidFill>
          <a:ln/>
        </p:spPr>
      </p:sp>
      <p:sp>
        <p:nvSpPr>
          <p:cNvPr id="70" name="txt-97"/>
          <p:cNvSpPr txBox="1"/>
          <p:nvPr/>
        </p:nvSpPr>
        <p:spPr>
          <a:xfrm>
            <a:off x="621792" y="5532120"/>
            <a:ext cx="5225796" cy="274320"/>
          </a:xfrm>
          <a:prstGeom prst="rect">
            <a:avLst/>
          </a:prstGeom>
          <a:noFill/>
          <a:ln/>
        </p:spPr>
        <p:txBody>
          <a:bodyPr wrap="square" lIns="0" tIns="0" rIns="0" bIns="0" rtlCol="0" anchor="t"/>
          <a:lstStyle/>
          <a:p>
            <a:pPr indent="0" marL="0">
              <a:buNone/>
            </a:pPr>
            <a:r>
              <a:rPr lang="en-US" sz="1200" b="1" dirty="0">
                <a:solidFill>
                  <a:schemeClr val="tx2"/>
                </a:solidFill>
              </a:rPr>
              <a:t>Transfer Lead (1 person)</a:t>
            </a:r>
            <a:endParaRPr lang="en-US" sz="1200" dirty="0"/>
          </a:p>
        </p:txBody>
      </p:sp>
      <p:sp>
        <p:nvSpPr>
          <p:cNvPr id="71" name="txt-98"/>
          <p:cNvSpPr txBox="1"/>
          <p:nvPr/>
        </p:nvSpPr>
        <p:spPr>
          <a:xfrm>
            <a:off x="621792" y="5806440"/>
            <a:ext cx="5225796" cy="548640"/>
          </a:xfrm>
          <a:prstGeom prst="rect">
            <a:avLst/>
          </a:prstGeom>
          <a:noFill/>
          <a:ln/>
        </p:spPr>
        <p:txBody>
          <a:bodyPr wrap="square" lIns="0" tIns="0" rIns="0" bIns="0" rtlCol="0" anchor="t"/>
          <a:lstStyle/>
          <a:p>
            <a:pPr indent="0" marL="0">
              <a:buNone/>
            </a:pPr>
            <a:r>
              <a:rPr lang="en-US" sz="1000" dirty="0">
                <a:solidFill>
                  <a:schemeClr val="tx1"/>
                </a:solidFill>
              </a:rPr>
              <a:t>Drives the whole effort. Checks transfer status daily and raises the transfer ringi once all of a department's cases have a status. Cross-checks agreement documents. Handles requests to and consultation with the Head of IT</a:t>
            </a:r>
            <a:endParaRPr lang="en-US" sz="1000" dirty="0"/>
          </a:p>
        </p:txBody>
      </p:sp>
      <p:sp>
        <p:nvSpPr>
          <p:cNvPr id="72" name="box-99"/>
          <p:cNvSpPr/>
          <p:nvPr/>
        </p:nvSpPr>
        <p:spPr>
          <a:xfrm>
            <a:off x="6176772" y="5440680"/>
            <a:ext cx="5554980" cy="960120"/>
          </a:xfrm>
          <a:prstGeom prst="rect">
            <a:avLst/>
          </a:prstGeom>
          <a:solidFill>
            <a:schemeClr val="bg2"/>
          </a:solidFill>
          <a:ln/>
        </p:spPr>
      </p:sp>
      <p:sp>
        <p:nvSpPr>
          <p:cNvPr id="73" name="txt-100"/>
          <p:cNvSpPr txBox="1"/>
          <p:nvPr/>
        </p:nvSpPr>
        <p:spPr>
          <a:xfrm>
            <a:off x="6341364" y="5532120"/>
            <a:ext cx="5225796" cy="274320"/>
          </a:xfrm>
          <a:prstGeom prst="rect">
            <a:avLst/>
          </a:prstGeom>
          <a:noFill/>
          <a:ln/>
        </p:spPr>
        <p:txBody>
          <a:bodyPr wrap="square" lIns="0" tIns="0" rIns="0" bIns="0" rtlCol="0" anchor="t"/>
          <a:lstStyle/>
          <a:p>
            <a:pPr indent="0" marL="0">
              <a:buNone/>
            </a:pPr>
            <a:r>
              <a:rPr lang="en-US" sz="1200" b="1" dirty="0">
                <a:solidFill>
                  <a:schemeClr val="tx2"/>
                </a:solidFill>
              </a:rPr>
              <a:t>Case Owner (usual contact)</a:t>
            </a:r>
            <a:endParaRPr lang="en-US" sz="1200" dirty="0"/>
          </a:p>
        </p:txBody>
      </p:sp>
      <p:sp>
        <p:nvSpPr>
          <p:cNvPr id="74" name="txt-101"/>
          <p:cNvSpPr txBox="1"/>
          <p:nvPr/>
        </p:nvSpPr>
        <p:spPr>
          <a:xfrm>
            <a:off x="6341364" y="5806440"/>
            <a:ext cx="5225796" cy="548640"/>
          </a:xfrm>
          <a:prstGeom prst="rect">
            <a:avLst/>
          </a:prstGeom>
          <a:noFill/>
          <a:ln/>
        </p:spPr>
        <p:txBody>
          <a:bodyPr wrap="square" lIns="0" tIns="0" rIns="0" bIns="0" rtlCol="0" anchor="t"/>
          <a:lstStyle/>
          <a:p>
            <a:pPr indent="0" marL="0">
              <a:buNone/>
            </a:pPr>
            <a:r>
              <a:rPr lang="en-US" sz="1000" dirty="0">
                <a:solidFill>
                  <a:schemeClr val="tx1"/>
                </a:solidFill>
              </a:rPr>
              <a:t>The IT member who already acts as the business department's counterpart for the case. Does the case-level work and requests approval from the transferring manager (slide 5)</a:t>
            </a:r>
            <a:endParaRPr lang="en-US" sz="10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594360"/>
          </a:xfrm>
          <a:prstGeom prst="rect">
            <a:avLst/>
          </a:prstGeom>
          <a:noFill/>
          <a:ln/>
        </p:spPr>
        <p:txBody>
          <a:bodyPr wrap="square" lIns="0" tIns="0" rIns="0" bIns="0" rtlCol="0" anchor="ctr"/>
          <a:lstStyle/>
          <a:p>
            <a:pPr algn="l" indent="0" marL="0">
              <a:buNone/>
            </a:pPr>
            <a:r>
              <a:rPr lang="en-US" sz="2600" b="1" dirty="0">
                <a:solidFill>
                  <a:schemeClr val="tx2"/>
                </a:solidFill>
              </a:rPr>
              <a:t>Guide for Case Owners</a:t>
            </a:r>
            <a:endParaRPr lang="en-US" sz="2600" dirty="0"/>
          </a:p>
        </p:txBody>
      </p:sp>
      <p:sp>
        <p:nvSpPr>
          <p:cNvPr id="3" name="txt-102"/>
          <p:cNvSpPr txBox="1"/>
          <p:nvPr/>
        </p:nvSpPr>
        <p:spPr>
          <a:xfrm>
            <a:off x="457200" y="1005840"/>
            <a:ext cx="7360920" cy="274320"/>
          </a:xfrm>
          <a:prstGeom prst="rect">
            <a:avLst/>
          </a:prstGeom>
          <a:noFill/>
          <a:ln/>
        </p:spPr>
        <p:txBody>
          <a:bodyPr wrap="square" lIns="0" tIns="0" rIns="0" bIns="0" rtlCol="0" anchor="t"/>
          <a:lstStyle/>
          <a:p>
            <a:pPr indent="0" marL="0">
              <a:buNone/>
            </a:pPr>
            <a:r>
              <a:rPr lang="en-US" sz="1200" b="1" dirty="0">
                <a:solidFill>
                  <a:schemeClr val="accent2"/>
                </a:solidFill>
              </a:rPr>
              <a:t>What to do (tasks 1-4 on slide 4)</a:t>
            </a:r>
            <a:endParaRPr lang="en-US" sz="1200" dirty="0"/>
          </a:p>
        </p:txBody>
      </p:sp>
      <p:sp>
        <p:nvSpPr>
          <p:cNvPr id="4" name="box-103"/>
          <p:cNvSpPr/>
          <p:nvPr/>
        </p:nvSpPr>
        <p:spPr>
          <a:xfrm>
            <a:off x="457200" y="1353312"/>
            <a:ext cx="7360920" cy="1207008"/>
          </a:xfrm>
          <a:prstGeom prst="rect">
            <a:avLst/>
          </a:prstGeom>
          <a:solidFill>
            <a:schemeClr val="bg2"/>
          </a:solidFill>
          <a:ln/>
        </p:spPr>
      </p:sp>
      <p:sp>
        <p:nvSpPr>
          <p:cNvPr id="5" name="num-104"/>
          <p:cNvSpPr/>
          <p:nvPr/>
        </p:nvSpPr>
        <p:spPr>
          <a:xfrm>
            <a:off x="612648" y="1490472"/>
            <a:ext cx="384048" cy="384048"/>
          </a:xfrm>
          <a:prstGeom prst="ellipse">
            <a:avLst/>
          </a:prstGeom>
          <a:solidFill>
            <a:schemeClr val="tx2"/>
          </a:solidFill>
          <a:ln/>
        </p:spPr>
      </p:sp>
      <p:sp>
        <p:nvSpPr>
          <p:cNvPr id="6" name="txt-105"/>
          <p:cNvSpPr txBox="1"/>
          <p:nvPr/>
        </p:nvSpPr>
        <p:spPr>
          <a:xfrm>
            <a:off x="612648" y="149047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xt-106"/>
          <p:cNvSpPr txBox="1"/>
          <p:nvPr/>
        </p:nvSpPr>
        <p:spPr>
          <a:xfrm>
            <a:off x="1143000" y="1490472"/>
            <a:ext cx="5120640" cy="384048"/>
          </a:xfrm>
          <a:prstGeom prst="rect">
            <a:avLst/>
          </a:prstGeom>
          <a:noFill/>
          <a:ln/>
        </p:spPr>
        <p:txBody>
          <a:bodyPr wrap="square" lIns="0" tIns="0" rIns="0" bIns="0" rtlCol="0" anchor="ctr"/>
          <a:lstStyle/>
          <a:p>
            <a:pPr indent="0" marL="0">
              <a:buNone/>
            </a:pPr>
            <a:r>
              <a:rPr lang="en-US" sz="1400" b="1" dirty="0">
                <a:solidFill>
                  <a:schemeClr val="tx2"/>
                </a:solidFill>
              </a:rPr>
              <a:t>Resolve pending decisions and finish the inventory</a:t>
            </a:r>
            <a:endParaRPr lang="en-US" sz="1400" dirty="0"/>
          </a:p>
        </p:txBody>
      </p:sp>
      <p:sp>
        <p:nvSpPr>
          <p:cNvPr id="8" name="txt-107"/>
          <p:cNvSpPr txBox="1"/>
          <p:nvPr/>
        </p:nvSpPr>
        <p:spPr>
          <a:xfrm>
            <a:off x="6400800" y="1490472"/>
            <a:ext cx="1261872" cy="384048"/>
          </a:xfrm>
          <a:prstGeom prst="rect">
            <a:avLst/>
          </a:prstGeom>
          <a:noFill/>
          <a:ln/>
        </p:spPr>
        <p:txBody>
          <a:bodyPr wrap="square" lIns="0" tIns="0" rIns="0" bIns="0" rtlCol="0" anchor="ctr"/>
          <a:lstStyle/>
          <a:p>
            <a:pPr algn="r" indent="0" marL="0">
              <a:buNone/>
            </a:pPr>
            <a:r>
              <a:rPr lang="en-US" sz="1200" b="1" dirty="0">
                <a:solidFill>
                  <a:schemeClr val="tx2"/>
                </a:solidFill>
              </a:rPr>
              <a:t>By end Nov</a:t>
            </a:r>
            <a:endParaRPr lang="en-US" sz="1200" dirty="0"/>
          </a:p>
        </p:txBody>
      </p:sp>
      <p:sp>
        <p:nvSpPr>
          <p:cNvPr id="9" name="txt-108"/>
          <p:cNvSpPr txBox="1"/>
          <p:nvPr/>
        </p:nvSpPr>
        <p:spPr>
          <a:xfrm>
            <a:off x="1143000" y="1856232"/>
            <a:ext cx="6519672" cy="329184"/>
          </a:xfrm>
          <a:prstGeom prst="rect">
            <a:avLst/>
          </a:prstGeom>
          <a:noFill/>
          <a:ln/>
        </p:spPr>
        <p:txBody>
          <a:bodyPr wrap="square" lIns="0" tIns="0" rIns="0" bIns="0" rtlCol="0" anchor="t"/>
          <a:lstStyle/>
          <a:p>
            <a:pPr indent="0" marL="0">
              <a:buNone/>
            </a:pPr>
            <a:r>
              <a:rPr lang="en-US" sz="1000" dirty="0">
                <a:solidFill>
                  <a:schemeClr val="tx1"/>
                </a:solidFill>
              </a:rPr>
              <a:t>Confirm entries with the department contact, fill in missing inputs and clear all pending decisions</a:t>
            </a:r>
            <a:endParaRPr lang="en-US" sz="1000" dirty="0"/>
          </a:p>
        </p:txBody>
      </p:sp>
      <p:sp>
        <p:nvSpPr>
          <p:cNvPr id="10" name="txt-109"/>
          <p:cNvSpPr txBox="1"/>
          <p:nvPr/>
        </p:nvSpPr>
        <p:spPr>
          <a:xfrm>
            <a:off x="1143000" y="2221992"/>
            <a:ext cx="6519672" cy="329184"/>
          </a:xfrm>
          <a:prstGeom prst="rect">
            <a:avLst/>
          </a:prstGeom>
          <a:noFill/>
          <a:ln/>
        </p:spPr>
        <p:txBody>
          <a:bodyPr wrap="square" lIns="0" tIns="0" rIns="0" bIns="0" rtlCol="0" anchor="t"/>
          <a:lstStyle/>
          <a:p>
            <a:pPr indent="0" marL="0">
              <a:buNone/>
            </a:pPr>
            <a:r>
              <a:rPr lang="en-US" sz="1000" b="1" dirty="0">
                <a:solidFill>
                  <a:schemeClr val="tx2"/>
                </a:solidFill>
              </a:rPr>
              <a:t>Deliverable  </a:t>
            </a:r>
            <a:pPr indent="0" marL="0">
              <a:buNone/>
            </a:pPr>
            <a:r>
              <a:rPr lang="en-US" sz="1000" dirty="0">
                <a:solidFill>
                  <a:schemeClr val="tx1"/>
                </a:solidFill>
              </a:rPr>
              <a:t>Budget transfer sheet confirmed by the department contact (budget list, links, systems, work, contracts), with no pending decisions</a:t>
            </a:r>
            <a:pPr indent="0" marL="0">
              <a:buNone/>
            </a:pPr>
            <a:r>
              <a:rPr lang="en-US" sz="1000" dirty="0">
                <a:solidFill>
                  <a:schemeClr val="accent2"/>
                </a:solidFill>
              </a:rPr>
              <a:t>  /  Status → Inventoried</a:t>
            </a:r>
            <a:endParaRPr lang="en-US" sz="1000" dirty="0"/>
          </a:p>
        </p:txBody>
      </p:sp>
      <p:sp>
        <p:nvSpPr>
          <p:cNvPr id="11" name="box-110"/>
          <p:cNvSpPr/>
          <p:nvPr/>
        </p:nvSpPr>
        <p:spPr>
          <a:xfrm>
            <a:off x="457200" y="2633472"/>
            <a:ext cx="7360920" cy="1207008"/>
          </a:xfrm>
          <a:prstGeom prst="rect">
            <a:avLst/>
          </a:prstGeom>
          <a:solidFill>
            <a:schemeClr val="bg2"/>
          </a:solidFill>
          <a:ln/>
        </p:spPr>
      </p:sp>
      <p:sp>
        <p:nvSpPr>
          <p:cNvPr id="12" name="num-111"/>
          <p:cNvSpPr/>
          <p:nvPr/>
        </p:nvSpPr>
        <p:spPr>
          <a:xfrm>
            <a:off x="612648" y="2770632"/>
            <a:ext cx="384048" cy="384048"/>
          </a:xfrm>
          <a:prstGeom prst="ellipse">
            <a:avLst/>
          </a:prstGeom>
          <a:solidFill>
            <a:schemeClr val="tx2"/>
          </a:solidFill>
          <a:ln/>
        </p:spPr>
      </p:sp>
      <p:sp>
        <p:nvSpPr>
          <p:cNvPr id="13" name="txt-112"/>
          <p:cNvSpPr txBox="1"/>
          <p:nvPr/>
        </p:nvSpPr>
        <p:spPr>
          <a:xfrm>
            <a:off x="612648" y="27706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txt-113"/>
          <p:cNvSpPr txBox="1"/>
          <p:nvPr/>
        </p:nvSpPr>
        <p:spPr>
          <a:xfrm>
            <a:off x="1143000" y="2770632"/>
            <a:ext cx="5120640" cy="384048"/>
          </a:xfrm>
          <a:prstGeom prst="rect">
            <a:avLst/>
          </a:prstGeom>
          <a:noFill/>
          <a:ln/>
        </p:spPr>
        <p:txBody>
          <a:bodyPr wrap="square" lIns="0" tIns="0" rIns="0" bIns="0" rtlCol="0" anchor="ctr"/>
          <a:lstStyle/>
          <a:p>
            <a:pPr indent="0" marL="0">
              <a:buNone/>
            </a:pPr>
            <a:r>
              <a:rPr lang="en-US" sz="1400" b="1" dirty="0">
                <a:solidFill>
                  <a:schemeClr val="tx2"/>
                </a:solidFill>
              </a:rPr>
              <a:t>Agree on handover and IT-related work</a:t>
            </a:r>
            <a:endParaRPr lang="en-US" sz="1400" dirty="0"/>
          </a:p>
        </p:txBody>
      </p:sp>
      <p:sp>
        <p:nvSpPr>
          <p:cNvPr id="15" name="txt-114"/>
          <p:cNvSpPr txBox="1"/>
          <p:nvPr/>
        </p:nvSpPr>
        <p:spPr>
          <a:xfrm>
            <a:off x="6400800" y="2770632"/>
            <a:ext cx="1261872" cy="384048"/>
          </a:xfrm>
          <a:prstGeom prst="rect">
            <a:avLst/>
          </a:prstGeom>
          <a:noFill/>
          <a:ln/>
        </p:spPr>
        <p:txBody>
          <a:bodyPr wrap="square" lIns="0" tIns="0" rIns="0" bIns="0" rtlCol="0" anchor="ctr"/>
          <a:lstStyle/>
          <a:p>
            <a:pPr algn="r" indent="0" marL="0">
              <a:buNone/>
            </a:pPr>
            <a:r>
              <a:rPr lang="en-US" sz="1200" b="1" dirty="0">
                <a:solidFill>
                  <a:schemeClr val="tx2"/>
                </a:solidFill>
              </a:rPr>
              <a:t>By 12/11</a:t>
            </a:r>
            <a:endParaRPr lang="en-US" sz="1200" dirty="0"/>
          </a:p>
        </p:txBody>
      </p:sp>
      <p:sp>
        <p:nvSpPr>
          <p:cNvPr id="16" name="txt-115"/>
          <p:cNvSpPr txBox="1"/>
          <p:nvPr/>
        </p:nvSpPr>
        <p:spPr>
          <a:xfrm>
            <a:off x="1143000" y="3136392"/>
            <a:ext cx="6519672" cy="329184"/>
          </a:xfrm>
          <a:prstGeom prst="rect">
            <a:avLst/>
          </a:prstGeom>
          <a:noFill/>
          <a:ln/>
        </p:spPr>
        <p:txBody>
          <a:bodyPr wrap="square" lIns="0" tIns="0" rIns="0" bIns="0" rtlCol="0" anchor="t"/>
          <a:lstStyle/>
          <a:p>
            <a:pPr indent="0" marL="0">
              <a:buNone/>
            </a:pPr>
            <a:r>
              <a:rPr lang="en-US" sz="1000" dirty="0">
                <a:solidFill>
                  <a:schemeClr val="tx1"/>
                </a:solidFill>
              </a:rPr>
              <a:t>Customize the RACI (slides 7-8) for the case, add interim measures and the handover method, and get the transferring manager's approval</a:t>
            </a:r>
            <a:endParaRPr lang="en-US" sz="1000" dirty="0"/>
          </a:p>
        </p:txBody>
      </p:sp>
      <p:sp>
        <p:nvSpPr>
          <p:cNvPr id="17" name="txt-116"/>
          <p:cNvSpPr txBox="1"/>
          <p:nvPr/>
        </p:nvSpPr>
        <p:spPr>
          <a:xfrm>
            <a:off x="1143000" y="3502152"/>
            <a:ext cx="6519672" cy="329184"/>
          </a:xfrm>
          <a:prstGeom prst="rect">
            <a:avLst/>
          </a:prstGeom>
          <a:noFill/>
          <a:ln/>
        </p:spPr>
        <p:txBody>
          <a:bodyPr wrap="square" lIns="0" tIns="0" rIns="0" bIns="0" rtlCol="0" anchor="t"/>
          <a:lstStyle/>
          <a:p>
            <a:pPr indent="0" marL="0">
              <a:buNone/>
            </a:pPr>
            <a:r>
              <a:rPr lang="en-US" sz="1000" b="1" dirty="0">
                <a:solidFill>
                  <a:schemeClr val="tx2"/>
                </a:solidFill>
              </a:rPr>
              <a:t>Deliverable  </a:t>
            </a:r>
            <a:pPr indent="0" marL="0">
              <a:buNone/>
            </a:pPr>
            <a:r>
              <a:rPr lang="en-US" sz="1000" dirty="0">
                <a:solidFill>
                  <a:schemeClr val="tx1"/>
                </a:solidFill>
              </a:rPr>
              <a:t>Approved agreement document (customized RACI, interim measures and planned completion, handover method; logged in the decision log)</a:t>
            </a:r>
            <a:pPr indent="0" marL="0">
              <a:buNone/>
            </a:pPr>
            <a:r>
              <a:rPr lang="en-US" sz="1000" dirty="0">
                <a:solidFill>
                  <a:schemeClr val="accent2"/>
                </a:solidFill>
              </a:rPr>
              <a:t>  /  Status → Agreed</a:t>
            </a:r>
            <a:endParaRPr lang="en-US" sz="1000" dirty="0"/>
          </a:p>
        </p:txBody>
      </p:sp>
      <p:sp>
        <p:nvSpPr>
          <p:cNvPr id="18" name="box-117"/>
          <p:cNvSpPr/>
          <p:nvPr/>
        </p:nvSpPr>
        <p:spPr>
          <a:xfrm>
            <a:off x="457200" y="3913632"/>
            <a:ext cx="7360920" cy="1207008"/>
          </a:xfrm>
          <a:prstGeom prst="rect">
            <a:avLst/>
          </a:prstGeom>
          <a:solidFill>
            <a:schemeClr val="bg2"/>
          </a:solidFill>
          <a:ln/>
        </p:spPr>
      </p:sp>
      <p:sp>
        <p:nvSpPr>
          <p:cNvPr id="19" name="num-118"/>
          <p:cNvSpPr/>
          <p:nvPr/>
        </p:nvSpPr>
        <p:spPr>
          <a:xfrm>
            <a:off x="612648" y="4050792"/>
            <a:ext cx="384048" cy="384048"/>
          </a:xfrm>
          <a:prstGeom prst="ellipse">
            <a:avLst/>
          </a:prstGeom>
          <a:solidFill>
            <a:schemeClr val="tx2"/>
          </a:solidFill>
          <a:ln/>
        </p:spPr>
      </p:sp>
      <p:sp>
        <p:nvSpPr>
          <p:cNvPr id="20" name="txt-119"/>
          <p:cNvSpPr txBox="1"/>
          <p:nvPr/>
        </p:nvSpPr>
        <p:spPr>
          <a:xfrm>
            <a:off x="612648" y="405079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1" name="txt-120"/>
          <p:cNvSpPr txBox="1"/>
          <p:nvPr/>
        </p:nvSpPr>
        <p:spPr>
          <a:xfrm>
            <a:off x="1143000" y="4050792"/>
            <a:ext cx="5120640" cy="384048"/>
          </a:xfrm>
          <a:prstGeom prst="rect">
            <a:avLst/>
          </a:prstGeom>
          <a:noFill/>
          <a:ln/>
        </p:spPr>
        <p:txBody>
          <a:bodyPr wrap="square" lIns="0" tIns="0" rIns="0" bIns="0" rtlCol="0" anchor="ctr"/>
          <a:lstStyle/>
          <a:p>
            <a:pPr indent="0" marL="0">
              <a:buNone/>
            </a:pPr>
            <a:r>
              <a:rPr lang="en-US" sz="1400" b="1" dirty="0">
                <a:solidFill>
                  <a:schemeClr val="tx2"/>
                </a:solidFill>
              </a:rPr>
              <a:t>Hand over indirect work to the receivers</a:t>
            </a:r>
            <a:endParaRPr lang="en-US" sz="1400" dirty="0"/>
          </a:p>
        </p:txBody>
      </p:sp>
      <p:sp>
        <p:nvSpPr>
          <p:cNvPr id="22" name="txt-121"/>
          <p:cNvSpPr txBox="1"/>
          <p:nvPr/>
        </p:nvSpPr>
        <p:spPr>
          <a:xfrm>
            <a:off x="6400800" y="4050792"/>
            <a:ext cx="1261872" cy="384048"/>
          </a:xfrm>
          <a:prstGeom prst="rect">
            <a:avLst/>
          </a:prstGeom>
          <a:noFill/>
          <a:ln/>
        </p:spPr>
        <p:txBody>
          <a:bodyPr wrap="square" lIns="0" tIns="0" rIns="0" bIns="0" rtlCol="0" anchor="ctr"/>
          <a:lstStyle/>
          <a:p>
            <a:pPr algn="r" indent="0" marL="0">
              <a:buNone/>
            </a:pPr>
            <a:r>
              <a:rPr lang="en-US" sz="1200" b="1" dirty="0">
                <a:solidFill>
                  <a:schemeClr val="tx2"/>
                </a:solidFill>
              </a:rPr>
              <a:t>By 12/18</a:t>
            </a:r>
            <a:endParaRPr lang="en-US" sz="1200" dirty="0"/>
          </a:p>
        </p:txBody>
      </p:sp>
      <p:sp>
        <p:nvSpPr>
          <p:cNvPr id="23" name="txt-122"/>
          <p:cNvSpPr txBox="1"/>
          <p:nvPr/>
        </p:nvSpPr>
        <p:spPr>
          <a:xfrm>
            <a:off x="1143000" y="4416552"/>
            <a:ext cx="6519672" cy="329184"/>
          </a:xfrm>
          <a:prstGeom prst="rect">
            <a:avLst/>
          </a:prstGeom>
          <a:noFill/>
          <a:ln/>
        </p:spPr>
        <p:txBody>
          <a:bodyPr wrap="square" lIns="0" tIns="0" rIns="0" bIns="0" rtlCol="0" anchor="t"/>
          <a:lstStyle/>
          <a:p>
            <a:pPr indent="0" marL="0">
              <a:buNone/>
            </a:pPr>
            <a:r>
              <a:rPr lang="en-US" sz="1000" dirty="0">
                <a:solidFill>
                  <a:schemeClr val="tx1"/>
                </a:solidFill>
              </a:rPr>
              <a:t>Receive procedures and materials from the department and pass them to the receivers</a:t>
            </a:r>
            <a:endParaRPr lang="en-US" sz="1000" dirty="0"/>
          </a:p>
        </p:txBody>
      </p:sp>
      <p:sp>
        <p:nvSpPr>
          <p:cNvPr id="24" name="txt-123"/>
          <p:cNvSpPr txBox="1"/>
          <p:nvPr/>
        </p:nvSpPr>
        <p:spPr>
          <a:xfrm>
            <a:off x="1143000" y="4782312"/>
            <a:ext cx="6519672" cy="329184"/>
          </a:xfrm>
          <a:prstGeom prst="rect">
            <a:avLst/>
          </a:prstGeom>
          <a:noFill/>
          <a:ln/>
        </p:spPr>
        <p:txBody>
          <a:bodyPr wrap="square" lIns="0" tIns="0" rIns="0" bIns="0" rtlCol="0" anchor="t"/>
          <a:lstStyle/>
          <a:p>
            <a:pPr indent="0" marL="0">
              <a:buNone/>
            </a:pPr>
            <a:r>
              <a:rPr lang="en-US" sz="1000" b="1" dirty="0">
                <a:solidFill>
                  <a:schemeClr val="tx2"/>
                </a:solidFill>
              </a:rPr>
              <a:t>Deliverable  </a:t>
            </a:r>
            <a:pPr indent="0" marL="0">
              <a:buNone/>
            </a:pPr>
            <a:r>
              <a:rPr lang="en-US" sz="1000" dirty="0">
                <a:solidFill>
                  <a:schemeClr val="tx1"/>
                </a:solidFill>
              </a:rPr>
              <a:t>Full set of materials handed over (contract copies, billing contacts, payment timing, unpaid invoices). For work needing an owner-change procedure (e.g., GxP), its filing and planned completion</a:t>
            </a:r>
            <a:endParaRPr lang="en-US" sz="1000" dirty="0"/>
          </a:p>
        </p:txBody>
      </p:sp>
      <p:sp>
        <p:nvSpPr>
          <p:cNvPr id="25" name="box-124"/>
          <p:cNvSpPr/>
          <p:nvPr/>
        </p:nvSpPr>
        <p:spPr>
          <a:xfrm>
            <a:off x="457200" y="5193792"/>
            <a:ext cx="7360920" cy="1207008"/>
          </a:xfrm>
          <a:prstGeom prst="rect">
            <a:avLst/>
          </a:prstGeom>
          <a:solidFill>
            <a:schemeClr val="bg2"/>
          </a:solidFill>
          <a:ln/>
        </p:spPr>
      </p:sp>
      <p:sp>
        <p:nvSpPr>
          <p:cNvPr id="26" name="num-125"/>
          <p:cNvSpPr/>
          <p:nvPr/>
        </p:nvSpPr>
        <p:spPr>
          <a:xfrm>
            <a:off x="612648" y="5330952"/>
            <a:ext cx="384048" cy="384048"/>
          </a:xfrm>
          <a:prstGeom prst="ellipse">
            <a:avLst/>
          </a:prstGeom>
          <a:solidFill>
            <a:schemeClr val="tx2"/>
          </a:solidFill>
          <a:ln/>
        </p:spPr>
      </p:sp>
      <p:sp>
        <p:nvSpPr>
          <p:cNvPr id="27" name="txt-126"/>
          <p:cNvSpPr txBox="1"/>
          <p:nvPr/>
        </p:nvSpPr>
        <p:spPr>
          <a:xfrm>
            <a:off x="612648" y="53309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8" name="txt-127"/>
          <p:cNvSpPr txBox="1"/>
          <p:nvPr/>
        </p:nvSpPr>
        <p:spPr>
          <a:xfrm>
            <a:off x="1143000" y="5330952"/>
            <a:ext cx="5120640" cy="384048"/>
          </a:xfrm>
          <a:prstGeom prst="rect">
            <a:avLst/>
          </a:prstGeom>
          <a:noFill/>
          <a:ln/>
        </p:spPr>
        <p:txBody>
          <a:bodyPr wrap="square" lIns="0" tIns="0" rIns="0" bIns="0" rtlCol="0" anchor="ctr"/>
          <a:lstStyle/>
          <a:p>
            <a:pPr indent="0" marL="0">
              <a:buNone/>
            </a:pPr>
            <a:r>
              <a:rPr lang="en-US" sz="1400" b="1" dirty="0">
                <a:solidFill>
                  <a:schemeClr val="tx2"/>
                </a:solidFill>
              </a:rPr>
              <a:t>Confirm readiness</a:t>
            </a:r>
            <a:endParaRPr lang="en-US" sz="1400" dirty="0"/>
          </a:p>
        </p:txBody>
      </p:sp>
      <p:sp>
        <p:nvSpPr>
          <p:cNvPr id="29" name="txt-128"/>
          <p:cNvSpPr txBox="1"/>
          <p:nvPr/>
        </p:nvSpPr>
        <p:spPr>
          <a:xfrm>
            <a:off x="6400800" y="5330952"/>
            <a:ext cx="1261872" cy="384048"/>
          </a:xfrm>
          <a:prstGeom prst="rect">
            <a:avLst/>
          </a:prstGeom>
          <a:noFill/>
          <a:ln/>
        </p:spPr>
        <p:txBody>
          <a:bodyPr wrap="square" lIns="0" tIns="0" rIns="0" bIns="0" rtlCol="0" anchor="ctr"/>
          <a:lstStyle/>
          <a:p>
            <a:pPr algn="r" indent="0" marL="0">
              <a:buNone/>
            </a:pPr>
            <a:r>
              <a:rPr lang="en-US" sz="1200" b="1" dirty="0">
                <a:solidFill>
                  <a:schemeClr val="tx2"/>
                </a:solidFill>
              </a:rPr>
              <a:t>By 12/18</a:t>
            </a:r>
            <a:endParaRPr lang="en-US" sz="1200" dirty="0"/>
          </a:p>
        </p:txBody>
      </p:sp>
      <p:sp>
        <p:nvSpPr>
          <p:cNvPr id="30" name="txt-129"/>
          <p:cNvSpPr txBox="1"/>
          <p:nvPr/>
        </p:nvSpPr>
        <p:spPr>
          <a:xfrm>
            <a:off x="1143000" y="5696712"/>
            <a:ext cx="6519672" cy="329184"/>
          </a:xfrm>
          <a:prstGeom prst="rect">
            <a:avLst/>
          </a:prstGeom>
          <a:noFill/>
          <a:ln/>
        </p:spPr>
        <p:txBody>
          <a:bodyPr wrap="square" lIns="0" tIns="0" rIns="0" bIns="0" rtlCol="0" anchor="t"/>
          <a:lstStyle/>
          <a:p>
            <a:pPr indent="0" marL="0">
              <a:buNone/>
            </a:pPr>
            <a:r>
              <a:rPr lang="en-US" sz="1000" dirty="0">
                <a:solidFill>
                  <a:schemeClr val="tx1"/>
                </a:solidFill>
              </a:rPr>
              <a:t>Use the readiness checklist to confirm the agreement document, handover and filing of interim-measure procedures</a:t>
            </a:r>
            <a:endParaRPr lang="en-US" sz="1000" dirty="0"/>
          </a:p>
        </p:txBody>
      </p:sp>
      <p:sp>
        <p:nvSpPr>
          <p:cNvPr id="31" name="txt-130"/>
          <p:cNvSpPr txBox="1"/>
          <p:nvPr/>
        </p:nvSpPr>
        <p:spPr>
          <a:xfrm>
            <a:off x="1143000" y="6062472"/>
            <a:ext cx="6519672" cy="329184"/>
          </a:xfrm>
          <a:prstGeom prst="rect">
            <a:avLst/>
          </a:prstGeom>
          <a:noFill/>
          <a:ln/>
        </p:spPr>
        <p:txBody>
          <a:bodyPr wrap="square" lIns="0" tIns="0" rIns="0" bIns="0" rtlCol="0" anchor="t"/>
          <a:lstStyle/>
          <a:p>
            <a:pPr indent="0" marL="0">
              <a:buNone/>
            </a:pPr>
            <a:r>
              <a:rPr lang="en-US" sz="1000" b="1" dirty="0">
                <a:solidFill>
                  <a:schemeClr val="tx2"/>
                </a:solidFill>
              </a:rPr>
              <a:t>Deliverable  </a:t>
            </a:r>
            <a:pPr indent="0" marL="0">
              <a:buNone/>
            </a:pPr>
            <a:r>
              <a:rPr lang="en-US" sz="1000" dirty="0">
                <a:solidFill>
                  <a:schemeClr val="tx1"/>
                </a:solidFill>
              </a:rPr>
              <a:t>Readiness checklist record</a:t>
            </a:r>
            <a:pPr indent="0" marL="0">
              <a:buNone/>
            </a:pPr>
            <a:r>
              <a:rPr lang="en-US" sz="1000" dirty="0">
                <a:solidFill>
                  <a:schemeClr val="accent2"/>
                </a:solidFill>
              </a:rPr>
              <a:t>  /  Status → Readiness</a:t>
            </a:r>
            <a:endParaRPr lang="en-US" sz="1000" dirty="0"/>
          </a:p>
        </p:txBody>
      </p:sp>
      <p:sp>
        <p:nvSpPr>
          <p:cNvPr id="32" name="txt-131"/>
          <p:cNvSpPr txBox="1"/>
          <p:nvPr/>
        </p:nvSpPr>
        <p:spPr>
          <a:xfrm>
            <a:off x="8028432" y="1005840"/>
            <a:ext cx="3703320" cy="274320"/>
          </a:xfrm>
          <a:prstGeom prst="rect">
            <a:avLst/>
          </a:prstGeom>
          <a:noFill/>
          <a:ln/>
        </p:spPr>
        <p:txBody>
          <a:bodyPr wrap="square" lIns="0" tIns="0" rIns="0" bIns="0" rtlCol="0" anchor="t"/>
          <a:lstStyle/>
          <a:p>
            <a:pPr indent="0" marL="0">
              <a:buNone/>
            </a:pPr>
            <a:r>
              <a:rPr lang="en-US" sz="1200" b="1" dirty="0">
                <a:solidFill>
                  <a:schemeClr val="accent2"/>
                </a:solidFill>
              </a:rPr>
              <a:t>What we ask of you</a:t>
            </a:r>
            <a:endParaRPr lang="en-US" sz="1200" dirty="0"/>
          </a:p>
        </p:txBody>
      </p:sp>
      <p:sp>
        <p:nvSpPr>
          <p:cNvPr id="33" name="box-132"/>
          <p:cNvSpPr/>
          <p:nvPr/>
        </p:nvSpPr>
        <p:spPr>
          <a:xfrm>
            <a:off x="8028432" y="1353312"/>
            <a:ext cx="3703320" cy="5047488"/>
          </a:xfrm>
          <a:prstGeom prst="rect">
            <a:avLst/>
          </a:prstGeom>
          <a:solidFill>
            <a:schemeClr val="bg1"/>
          </a:solidFill>
          <a:ln w="9525">
            <a:solidFill>
              <a:schemeClr val="accent3"/>
            </a:solidFill>
            <a:prstDash val="solid"/>
          </a:ln>
        </p:spPr>
      </p:sp>
      <p:sp>
        <p:nvSpPr>
          <p:cNvPr id="34" name="box-133"/>
          <p:cNvSpPr/>
          <p:nvPr/>
        </p:nvSpPr>
        <p:spPr>
          <a:xfrm>
            <a:off x="8257032" y="1517904"/>
            <a:ext cx="1325880" cy="329184"/>
          </a:xfrm>
          <a:prstGeom prst="rect">
            <a:avLst/>
          </a:prstGeom>
          <a:solidFill>
            <a:schemeClr val="bg2"/>
          </a:solidFill>
          <a:ln/>
        </p:spPr>
      </p:sp>
      <p:sp>
        <p:nvSpPr>
          <p:cNvPr id="35" name="txt-134"/>
          <p:cNvSpPr txBox="1"/>
          <p:nvPr/>
        </p:nvSpPr>
        <p:spPr>
          <a:xfrm>
            <a:off x="8257032" y="1517904"/>
            <a:ext cx="1325880" cy="329184"/>
          </a:xfrm>
          <a:prstGeom prst="rect">
            <a:avLst/>
          </a:prstGeom>
          <a:noFill/>
          <a:ln/>
        </p:spPr>
        <p:txBody>
          <a:bodyPr wrap="square" lIns="0" tIns="0" rIns="0" bIns="0" rtlCol="0" anchor="ctr"/>
          <a:lstStyle/>
          <a:p>
            <a:pPr algn="ctr" indent="0" marL="0">
              <a:buNone/>
            </a:pPr>
            <a:r>
              <a:rPr lang="en-US" sz="1050" b="1" dirty="0">
                <a:solidFill>
                  <a:schemeClr val="tx2"/>
                </a:solidFill>
              </a:rPr>
              <a:t>Inventorying</a:t>
            </a:r>
            <a:endParaRPr lang="en-US" sz="1050" dirty="0"/>
          </a:p>
        </p:txBody>
      </p:sp>
      <p:sp>
        <p:nvSpPr>
          <p:cNvPr id="36" name="arrow-135"/>
          <p:cNvSpPr/>
          <p:nvPr/>
        </p:nvSpPr>
        <p:spPr>
          <a:xfrm>
            <a:off x="8919972" y="1847088"/>
            <a:ext cx="0" cy="128016"/>
          </a:xfrm>
          <a:prstGeom prst="line">
            <a:avLst/>
          </a:prstGeom>
          <a:noFill/>
          <a:ln w="12700">
            <a:solidFill>
              <a:schemeClr val="accent3"/>
            </a:solidFill>
            <a:prstDash val="solid"/>
            <a:tailEnd type="triangle"/>
          </a:ln>
        </p:spPr>
      </p:sp>
      <p:sp>
        <p:nvSpPr>
          <p:cNvPr id="37" name="box-136"/>
          <p:cNvSpPr/>
          <p:nvPr/>
        </p:nvSpPr>
        <p:spPr>
          <a:xfrm>
            <a:off x="8257032" y="1975104"/>
            <a:ext cx="1325880" cy="329184"/>
          </a:xfrm>
          <a:prstGeom prst="rect">
            <a:avLst/>
          </a:prstGeom>
          <a:solidFill>
            <a:schemeClr val="bg2"/>
          </a:solidFill>
          <a:ln/>
        </p:spPr>
      </p:sp>
      <p:sp>
        <p:nvSpPr>
          <p:cNvPr id="38" name="txt-137"/>
          <p:cNvSpPr txBox="1"/>
          <p:nvPr/>
        </p:nvSpPr>
        <p:spPr>
          <a:xfrm>
            <a:off x="8257032" y="1975104"/>
            <a:ext cx="1325880" cy="329184"/>
          </a:xfrm>
          <a:prstGeom prst="rect">
            <a:avLst/>
          </a:prstGeom>
          <a:noFill/>
          <a:ln/>
        </p:spPr>
        <p:txBody>
          <a:bodyPr wrap="square" lIns="0" tIns="0" rIns="0" bIns="0" rtlCol="0" anchor="ctr"/>
          <a:lstStyle/>
          <a:p>
            <a:pPr algn="ctr" indent="0" marL="0">
              <a:buNone/>
            </a:pPr>
            <a:r>
              <a:rPr lang="en-US" sz="1050" b="1" dirty="0">
                <a:solidFill>
                  <a:schemeClr val="tx2"/>
                </a:solidFill>
              </a:rPr>
              <a:t>Inventoried</a:t>
            </a:r>
            <a:endParaRPr lang="en-US" sz="1050" dirty="0"/>
          </a:p>
        </p:txBody>
      </p:sp>
      <p:sp>
        <p:nvSpPr>
          <p:cNvPr id="39" name="arrow-138"/>
          <p:cNvSpPr/>
          <p:nvPr/>
        </p:nvSpPr>
        <p:spPr>
          <a:xfrm>
            <a:off x="8919972" y="2304288"/>
            <a:ext cx="0" cy="128016"/>
          </a:xfrm>
          <a:prstGeom prst="line">
            <a:avLst/>
          </a:prstGeom>
          <a:noFill/>
          <a:ln w="12700">
            <a:solidFill>
              <a:schemeClr val="accent3"/>
            </a:solidFill>
            <a:prstDash val="solid"/>
            <a:tailEnd type="triangle"/>
          </a:ln>
        </p:spPr>
      </p:sp>
      <p:sp>
        <p:nvSpPr>
          <p:cNvPr id="40" name="box-139"/>
          <p:cNvSpPr/>
          <p:nvPr/>
        </p:nvSpPr>
        <p:spPr>
          <a:xfrm>
            <a:off x="8257032" y="2432304"/>
            <a:ext cx="1325880" cy="329184"/>
          </a:xfrm>
          <a:prstGeom prst="rect">
            <a:avLst/>
          </a:prstGeom>
          <a:solidFill>
            <a:schemeClr val="bg2"/>
          </a:solidFill>
          <a:ln/>
        </p:spPr>
      </p:sp>
      <p:sp>
        <p:nvSpPr>
          <p:cNvPr id="41" name="txt-140"/>
          <p:cNvSpPr txBox="1"/>
          <p:nvPr/>
        </p:nvSpPr>
        <p:spPr>
          <a:xfrm>
            <a:off x="8257032" y="2432304"/>
            <a:ext cx="1325880" cy="329184"/>
          </a:xfrm>
          <a:prstGeom prst="rect">
            <a:avLst/>
          </a:prstGeom>
          <a:noFill/>
          <a:ln/>
        </p:spPr>
        <p:txBody>
          <a:bodyPr wrap="square" lIns="0" tIns="0" rIns="0" bIns="0" rtlCol="0" anchor="ctr"/>
          <a:lstStyle/>
          <a:p>
            <a:pPr algn="ctr" indent="0" marL="0">
              <a:buNone/>
            </a:pPr>
            <a:r>
              <a:rPr lang="en-US" sz="1050" b="1" dirty="0">
                <a:solidFill>
                  <a:schemeClr val="tx2"/>
                </a:solidFill>
              </a:rPr>
              <a:t>Agreed</a:t>
            </a:r>
            <a:endParaRPr lang="en-US" sz="1050" dirty="0"/>
          </a:p>
        </p:txBody>
      </p:sp>
      <p:sp>
        <p:nvSpPr>
          <p:cNvPr id="42" name="arrow-141"/>
          <p:cNvSpPr/>
          <p:nvPr/>
        </p:nvSpPr>
        <p:spPr>
          <a:xfrm>
            <a:off x="8919972" y="2761488"/>
            <a:ext cx="0" cy="128016"/>
          </a:xfrm>
          <a:prstGeom prst="line">
            <a:avLst/>
          </a:prstGeom>
          <a:noFill/>
          <a:ln w="12700">
            <a:solidFill>
              <a:schemeClr val="accent3"/>
            </a:solidFill>
            <a:prstDash val="solid"/>
            <a:tailEnd type="triangle"/>
          </a:ln>
        </p:spPr>
      </p:sp>
      <p:sp>
        <p:nvSpPr>
          <p:cNvPr id="43" name="box-142"/>
          <p:cNvSpPr/>
          <p:nvPr/>
        </p:nvSpPr>
        <p:spPr>
          <a:xfrm>
            <a:off x="8257032" y="2889504"/>
            <a:ext cx="1325880" cy="329184"/>
          </a:xfrm>
          <a:prstGeom prst="rect">
            <a:avLst/>
          </a:prstGeom>
          <a:solidFill>
            <a:schemeClr val="tx2"/>
          </a:solidFill>
          <a:ln/>
        </p:spPr>
      </p:sp>
      <p:sp>
        <p:nvSpPr>
          <p:cNvPr id="44" name="txt-143"/>
          <p:cNvSpPr txBox="1"/>
          <p:nvPr/>
        </p:nvSpPr>
        <p:spPr>
          <a:xfrm>
            <a:off x="8257032" y="2889504"/>
            <a:ext cx="1325880" cy="329184"/>
          </a:xfrm>
          <a:prstGeom prst="rect">
            <a:avLst/>
          </a:prstGeom>
          <a:noFill/>
          <a:ln/>
        </p:spPr>
        <p:txBody>
          <a:bodyPr wrap="square" lIns="0" tIns="0" rIns="0" bIns="0" rtlCol="0" anchor="ctr"/>
          <a:lstStyle/>
          <a:p>
            <a:pPr algn="ctr" indent="0" marL="0">
              <a:buNone/>
            </a:pPr>
            <a:r>
              <a:rPr lang="en-US" sz="1050" b="1" dirty="0">
                <a:solidFill>
                  <a:schemeClr val="bg1"/>
                </a:solidFill>
              </a:rPr>
              <a:t>Readiness</a:t>
            </a:r>
            <a:endParaRPr lang="en-US" sz="1050" dirty="0"/>
          </a:p>
        </p:txBody>
      </p:sp>
      <p:sp>
        <p:nvSpPr>
          <p:cNvPr id="45" name="txt-144"/>
          <p:cNvSpPr txBox="1"/>
          <p:nvPr/>
        </p:nvSpPr>
        <p:spPr>
          <a:xfrm>
            <a:off x="9720072" y="1517904"/>
            <a:ext cx="1920240" cy="914400"/>
          </a:xfrm>
          <a:prstGeom prst="rect">
            <a:avLst/>
          </a:prstGeom>
          <a:noFill/>
          <a:ln/>
        </p:spPr>
        <p:txBody>
          <a:bodyPr wrap="square" lIns="0" tIns="0" rIns="0" bIns="0" rtlCol="0" anchor="t"/>
          <a:lstStyle/>
          <a:p>
            <a:pPr indent="0" marL="0">
              <a:buNone/>
            </a:pPr>
            <a:r>
              <a:rPr lang="en-US" sz="1000" dirty="0">
                <a:solidFill>
                  <a:schemeClr val="accent2"/>
                </a:solidFill>
              </a:rPr>
              <a:t>There is also "Out of scope"</a:t>
            </a:r>
            <a:endParaRPr lang="en-US" sz="1000" dirty="0"/>
          </a:p>
        </p:txBody>
      </p:sp>
      <p:sp>
        <p:nvSpPr>
          <p:cNvPr id="46" name="txt-145"/>
          <p:cNvSpPr txBox="1"/>
          <p:nvPr/>
        </p:nvSpPr>
        <p:spPr>
          <a:xfrm>
            <a:off x="8257032" y="3429000"/>
            <a:ext cx="3291840" cy="288036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chemeClr val="tx1"/>
                </a:solidFill>
              </a:rPr>
              <a:t>Update the transfer status in the budget transfer sheet each time its conditions are met</a:t>
            </a:r>
            <a:endParaRPr lang="en-US" sz="1100" dirty="0"/>
          </a:p>
          <a:p>
            <a:pPr marL="152400" indent="-152400">
              <a:spcAft>
                <a:spcPts val="600"/>
              </a:spcAft>
              <a:buSzPct val="100000"/>
              <a:buChar char="•"/>
            </a:pPr>
            <a:r>
              <a:rPr lang="en-US" sz="1050" dirty="0">
                <a:solidFill>
                  <a:schemeClr val="tx1"/>
                </a:solidFill>
              </a:rPr>
              <a:t>Update your own row in the "Progress" sheet (task status and completion date)</a:t>
            </a:r>
            <a:endParaRPr lang="en-US" sz="1100" dirty="0"/>
          </a:p>
          <a:p>
            <a:pPr marL="152400" indent="-152400">
              <a:spcAft>
                <a:spcPts val="600"/>
              </a:spcAft>
              <a:buSzPct val="100000"/>
              <a:buChar char="•"/>
            </a:pPr>
            <a:r>
              <a:rPr lang="en-US" sz="1050" dirty="0">
                <a:solidFill>
                  <a:schemeClr val="tx1"/>
                </a:solidFill>
              </a:rPr>
              <a:t>If the "Check (auto)" column shows a message, review the status (the transfer lead checks daily and will ask)</a:t>
            </a:r>
            <a:endParaRPr lang="en-US" sz="1100" dirty="0"/>
          </a:p>
          <a:p>
            <a:pPr marL="152400" indent="-152400">
              <a:spcAft>
                <a:spcPts val="600"/>
              </a:spcAft>
              <a:buSzPct val="100000"/>
              <a:buChar char="•"/>
            </a:pPr>
            <a:r>
              <a:rPr lang="en-US" sz="1050" dirty="0">
                <a:solidFill>
                  <a:schemeClr val="tx1"/>
                </a:solidFill>
              </a:rPr>
              <a:t>Decisions are calculated by formula. Do not overwrite them; fix the inputs instead</a:t>
            </a:r>
            <a:endParaRPr lang="en-US" sz="1100" dirty="0"/>
          </a:p>
          <a:p>
            <a:pPr marL="152400" indent="-152400">
              <a:spcAft>
                <a:spcPts val="600"/>
              </a:spcAft>
              <a:buSzPct val="100000"/>
              <a:buChar char="•"/>
            </a:pPr>
            <a:r>
              <a:rPr lang="en-US" sz="1050" dirty="0">
                <a:solidFill>
                  <a:schemeClr val="tx1"/>
                </a:solidFill>
              </a:rPr>
              <a:t>Record work whose owner is fixed in approved documents as an interim measure in the agreement document</a:t>
            </a:r>
            <a:endParaRPr lang="en-US" sz="1100" dirty="0"/>
          </a:p>
          <a:p>
            <a:pPr marL="152400" indent="-152400">
              <a:spcAft>
                <a:spcPts val="600"/>
              </a:spcAft>
              <a:buSzPct val="100000"/>
              <a:buChar char="•"/>
            </a:pPr>
            <a:r>
              <a:rPr lang="en-US" sz="1050" dirty="0">
                <a:solidFill>
                  <a:schemeClr val="tx1"/>
                </a:solidFill>
              </a:rPr>
              <a:t>If you may miss a deadline, tell the transfer lead the reason and outlook early</a:t>
            </a:r>
            <a:endParaRPr lang="en-US" sz="11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594360"/>
          </a:xfrm>
          <a:prstGeom prst="rect">
            <a:avLst/>
          </a:prstGeom>
          <a:noFill/>
          <a:ln/>
        </p:spPr>
        <p:txBody>
          <a:bodyPr wrap="square" lIns="0" tIns="0" rIns="0" bIns="0" rtlCol="0" anchor="ctr"/>
          <a:lstStyle/>
          <a:p>
            <a:pPr algn="l" indent="0" marL="0">
              <a:buNone/>
            </a:pPr>
            <a:r>
              <a:rPr lang="en-US" sz="2600" b="1" dirty="0">
                <a:solidFill>
                  <a:schemeClr val="tx2"/>
                </a:solidFill>
              </a:rPr>
              <a:t>Three Layers of Work and Roles</a:t>
            </a:r>
            <a:endParaRPr lang="en-US" sz="2600" dirty="0"/>
          </a:p>
        </p:txBody>
      </p:sp>
      <p:sp>
        <p:nvSpPr>
          <p:cNvPr id="3" name="txt-146"/>
          <p:cNvSpPr txBox="1"/>
          <p:nvPr/>
        </p:nvSpPr>
        <p:spPr>
          <a:xfrm>
            <a:off x="457200" y="914400"/>
            <a:ext cx="11274552" cy="365760"/>
          </a:xfrm>
          <a:prstGeom prst="rect">
            <a:avLst/>
          </a:prstGeom>
          <a:noFill/>
          <a:ln/>
        </p:spPr>
        <p:txBody>
          <a:bodyPr wrap="square" lIns="0" tIns="0" rIns="0" bIns="0" rtlCol="0" anchor="ctr"/>
          <a:lstStyle/>
          <a:p>
            <a:pPr indent="0" marL="0">
              <a:buNone/>
            </a:pPr>
            <a:r>
              <a:rPr lang="en-US" sz="1400" b="1" dirty="0">
                <a:solidFill>
                  <a:schemeClr val="tx2"/>
                </a:solidFill>
              </a:rPr>
              <a:t>Indirect work transfers. IT-related work (middle layer) is agreed case by case. In every layer, final accountability (A) stays with the Business Owner</a:t>
            </a:r>
            <a:endParaRPr lang="en-US" sz="1400" dirty="0"/>
          </a:p>
        </p:txBody>
      </p:sp>
      <p:sp>
        <p:nvSpPr>
          <p:cNvPr id="4" name="box-147"/>
          <p:cNvSpPr/>
          <p:nvPr/>
        </p:nvSpPr>
        <p:spPr>
          <a:xfrm>
            <a:off x="2377440" y="1444752"/>
            <a:ext cx="3026664" cy="777240"/>
          </a:xfrm>
          <a:prstGeom prst="rect">
            <a:avLst/>
          </a:prstGeom>
          <a:solidFill>
            <a:schemeClr val="bg2"/>
          </a:solidFill>
          <a:ln/>
        </p:spPr>
      </p:sp>
      <p:sp>
        <p:nvSpPr>
          <p:cNvPr id="5" name="txt-148"/>
          <p:cNvSpPr txBox="1"/>
          <p:nvPr/>
        </p:nvSpPr>
        <p:spPr>
          <a:xfrm>
            <a:off x="2514600" y="1517904"/>
            <a:ext cx="2752344" cy="274320"/>
          </a:xfrm>
          <a:prstGeom prst="rect">
            <a:avLst/>
          </a:prstGeom>
          <a:noFill/>
          <a:ln/>
        </p:spPr>
        <p:txBody>
          <a:bodyPr wrap="square" lIns="0" tIns="0" rIns="0" bIns="0" rtlCol="0" anchor="t"/>
          <a:lstStyle/>
          <a:p>
            <a:pPr indent="0" marL="0">
              <a:buNone/>
            </a:pPr>
            <a:r>
              <a:rPr lang="en-US" sz="1200" b="1" dirty="0">
                <a:solidFill>
                  <a:schemeClr val="tx2"/>
                </a:solidFill>
              </a:rPr>
              <a:t>BO  Business Owner</a:t>
            </a:r>
            <a:endParaRPr lang="en-US" sz="1200" dirty="0"/>
          </a:p>
        </p:txBody>
      </p:sp>
      <p:sp>
        <p:nvSpPr>
          <p:cNvPr id="6" name="txt-149"/>
          <p:cNvSpPr txBox="1"/>
          <p:nvPr/>
        </p:nvSpPr>
        <p:spPr>
          <a:xfrm>
            <a:off x="2514600" y="1810512"/>
            <a:ext cx="2752344" cy="365760"/>
          </a:xfrm>
          <a:prstGeom prst="rect">
            <a:avLst/>
          </a:prstGeom>
          <a:noFill/>
          <a:ln/>
        </p:spPr>
        <p:txBody>
          <a:bodyPr wrap="square" lIns="0" tIns="0" rIns="0" bIns="0" rtlCol="0" anchor="t"/>
          <a:lstStyle/>
          <a:p>
            <a:pPr indent="0" marL="0">
              <a:buNone/>
            </a:pPr>
            <a:r>
              <a:rPr lang="en-US" sz="950" dirty="0">
                <a:solidFill>
                  <a:schemeClr val="tx1"/>
                </a:solidFill>
              </a:rPr>
              <a:t>Department head. Owns the business process and the need, purpose and benefits of applications</a:t>
            </a:r>
            <a:endParaRPr lang="en-US" sz="950" dirty="0"/>
          </a:p>
        </p:txBody>
      </p:sp>
      <p:sp>
        <p:nvSpPr>
          <p:cNvPr id="7" name="box-150"/>
          <p:cNvSpPr/>
          <p:nvPr/>
        </p:nvSpPr>
        <p:spPr>
          <a:xfrm>
            <a:off x="5541264" y="1444752"/>
            <a:ext cx="3026664" cy="777240"/>
          </a:xfrm>
          <a:prstGeom prst="rect">
            <a:avLst/>
          </a:prstGeom>
          <a:solidFill>
            <a:schemeClr val="bg2"/>
          </a:solidFill>
          <a:ln/>
        </p:spPr>
      </p:sp>
      <p:sp>
        <p:nvSpPr>
          <p:cNvPr id="8" name="txt-151"/>
          <p:cNvSpPr txBox="1"/>
          <p:nvPr/>
        </p:nvSpPr>
        <p:spPr>
          <a:xfrm>
            <a:off x="5678424" y="1517904"/>
            <a:ext cx="2752344" cy="274320"/>
          </a:xfrm>
          <a:prstGeom prst="rect">
            <a:avLst/>
          </a:prstGeom>
          <a:noFill/>
          <a:ln/>
        </p:spPr>
        <p:txBody>
          <a:bodyPr wrap="square" lIns="0" tIns="0" rIns="0" bIns="0" rtlCol="0" anchor="t"/>
          <a:lstStyle/>
          <a:p>
            <a:pPr indent="0" marL="0">
              <a:buNone/>
            </a:pPr>
            <a:r>
              <a:rPr lang="en-US" sz="1200" b="1" dirty="0">
                <a:solidFill>
                  <a:schemeClr val="tx2"/>
                </a:solidFill>
              </a:rPr>
              <a:t>BU  Business User</a:t>
            </a:r>
            <a:endParaRPr lang="en-US" sz="1200" dirty="0"/>
          </a:p>
        </p:txBody>
      </p:sp>
      <p:sp>
        <p:nvSpPr>
          <p:cNvPr id="9" name="txt-152"/>
          <p:cNvSpPr txBox="1"/>
          <p:nvPr/>
        </p:nvSpPr>
        <p:spPr>
          <a:xfrm>
            <a:off x="5678424" y="1810512"/>
            <a:ext cx="2752344" cy="365760"/>
          </a:xfrm>
          <a:prstGeom prst="rect">
            <a:avLst/>
          </a:prstGeom>
          <a:noFill/>
          <a:ln/>
        </p:spPr>
        <p:txBody>
          <a:bodyPr wrap="square" lIns="0" tIns="0" rIns="0" bIns="0" rtlCol="0" anchor="t"/>
          <a:lstStyle/>
          <a:p>
            <a:pPr indent="0" marL="0">
              <a:buNone/>
            </a:pPr>
            <a:r>
              <a:rPr lang="en-US" sz="950" dirty="0">
                <a:solidFill>
                  <a:schemeClr val="tx1"/>
                </a:solidFill>
              </a:rPr>
              <a:t>Department staff. Use the system for their work, raise requests and confirm acceptance</a:t>
            </a:r>
            <a:endParaRPr lang="en-US" sz="950" dirty="0"/>
          </a:p>
        </p:txBody>
      </p:sp>
      <p:sp>
        <p:nvSpPr>
          <p:cNvPr id="10" name="box-153"/>
          <p:cNvSpPr/>
          <p:nvPr/>
        </p:nvSpPr>
        <p:spPr>
          <a:xfrm>
            <a:off x="8705088" y="1444752"/>
            <a:ext cx="3026664" cy="777240"/>
          </a:xfrm>
          <a:prstGeom prst="rect">
            <a:avLst/>
          </a:prstGeom>
          <a:solidFill>
            <a:schemeClr val="tx2"/>
          </a:solidFill>
          <a:ln/>
        </p:spPr>
      </p:sp>
      <p:sp>
        <p:nvSpPr>
          <p:cNvPr id="11" name="txt-154"/>
          <p:cNvSpPr txBox="1"/>
          <p:nvPr/>
        </p:nvSpPr>
        <p:spPr>
          <a:xfrm>
            <a:off x="8842248" y="1517904"/>
            <a:ext cx="2752344" cy="274320"/>
          </a:xfrm>
          <a:prstGeom prst="rect">
            <a:avLst/>
          </a:prstGeom>
          <a:noFill/>
          <a:ln/>
        </p:spPr>
        <p:txBody>
          <a:bodyPr wrap="square" lIns="0" tIns="0" rIns="0" bIns="0" rtlCol="0" anchor="t"/>
          <a:lstStyle/>
          <a:p>
            <a:pPr indent="0" marL="0">
              <a:buNone/>
            </a:pPr>
            <a:r>
              <a:rPr lang="en-US" sz="1200" b="1" dirty="0">
                <a:solidFill>
                  <a:schemeClr val="bg1"/>
                </a:solidFill>
              </a:rPr>
              <a:t>SO  System Owner</a:t>
            </a:r>
            <a:endParaRPr lang="en-US" sz="1200" dirty="0"/>
          </a:p>
        </p:txBody>
      </p:sp>
      <p:sp>
        <p:nvSpPr>
          <p:cNvPr id="12" name="txt-155"/>
          <p:cNvSpPr txBox="1"/>
          <p:nvPr/>
        </p:nvSpPr>
        <p:spPr>
          <a:xfrm>
            <a:off x="8842248" y="1810512"/>
            <a:ext cx="2752344" cy="365760"/>
          </a:xfrm>
          <a:prstGeom prst="rect">
            <a:avLst/>
          </a:prstGeom>
          <a:noFill/>
          <a:ln/>
        </p:spPr>
        <p:txBody>
          <a:bodyPr wrap="square" lIns="0" tIns="0" rIns="0" bIns="0" rtlCol="0" anchor="t"/>
          <a:lstStyle/>
          <a:p>
            <a:pPr indent="0" marL="0">
              <a:buNone/>
            </a:pPr>
            <a:r>
              <a:rPr lang="en-US" sz="950" dirty="0">
                <a:solidFill>
                  <a:schemeClr val="bg1"/>
                </a:solidFill>
              </a:rPr>
              <a:t>IT. Responsible for system availability, maintenance and security. Does not take over A</a:t>
            </a:r>
            <a:endParaRPr lang="en-US" sz="950" dirty="0"/>
          </a:p>
        </p:txBody>
      </p:sp>
      <p:sp>
        <p:nvSpPr>
          <p:cNvPr id="13" name="txt-156"/>
          <p:cNvSpPr txBox="1"/>
          <p:nvPr/>
        </p:nvSpPr>
        <p:spPr>
          <a:xfrm>
            <a:off x="548640" y="2423160"/>
            <a:ext cx="1691640" cy="320040"/>
          </a:xfrm>
          <a:prstGeom prst="rect">
            <a:avLst/>
          </a:prstGeom>
          <a:noFill/>
          <a:ln/>
        </p:spPr>
        <p:txBody>
          <a:bodyPr wrap="square" lIns="0" tIns="0" rIns="0" bIns="0" rtlCol="0" anchor="t"/>
          <a:lstStyle/>
          <a:p>
            <a:pPr indent="0" marL="0">
              <a:buNone/>
            </a:pPr>
            <a:r>
              <a:rPr lang="en-US" sz="1400" b="1" dirty="0">
                <a:solidFill>
                  <a:schemeClr val="tx2"/>
                </a:solidFill>
              </a:rPr>
              <a:t>Direct work</a:t>
            </a:r>
            <a:endParaRPr lang="en-US" sz="1400" dirty="0"/>
          </a:p>
        </p:txBody>
      </p:sp>
      <p:sp>
        <p:nvSpPr>
          <p:cNvPr id="14" name="txt-157"/>
          <p:cNvSpPr txBox="1"/>
          <p:nvPr/>
        </p:nvSpPr>
        <p:spPr>
          <a:xfrm>
            <a:off x="548640" y="2770632"/>
            <a:ext cx="1691640" cy="457200"/>
          </a:xfrm>
          <a:prstGeom prst="rect">
            <a:avLst/>
          </a:prstGeom>
          <a:noFill/>
          <a:ln/>
        </p:spPr>
        <p:txBody>
          <a:bodyPr wrap="square" lIns="0" tIns="0" rIns="0" bIns="0" rtlCol="0" anchor="t"/>
          <a:lstStyle/>
          <a:p>
            <a:pPr indent="0" marL="0">
              <a:buNone/>
            </a:pPr>
            <a:r>
              <a:rPr lang="en-US" sz="1000" b="1" dirty="0">
                <a:solidFill>
                  <a:schemeClr val="accent2"/>
                </a:solidFill>
              </a:rPr>
              <a:t>Not transferred</a:t>
            </a:r>
            <a:endParaRPr lang="en-US" sz="1000" dirty="0"/>
          </a:p>
        </p:txBody>
      </p:sp>
      <p:sp>
        <p:nvSpPr>
          <p:cNvPr id="15" name="box-158"/>
          <p:cNvSpPr/>
          <p:nvPr/>
        </p:nvSpPr>
        <p:spPr>
          <a:xfrm>
            <a:off x="2377440" y="2331720"/>
            <a:ext cx="3026664" cy="822960"/>
          </a:xfrm>
          <a:prstGeom prst="rect">
            <a:avLst/>
          </a:prstGeom>
          <a:solidFill>
            <a:schemeClr val="bg1"/>
          </a:solidFill>
          <a:ln w="9525">
            <a:solidFill>
              <a:schemeClr val="accent3"/>
            </a:solidFill>
            <a:prstDash val="solid"/>
          </a:ln>
        </p:spPr>
      </p:sp>
      <p:sp>
        <p:nvSpPr>
          <p:cNvPr id="16" name="txt-159"/>
          <p:cNvSpPr txBox="1"/>
          <p:nvPr/>
        </p:nvSpPr>
        <p:spPr>
          <a:xfrm>
            <a:off x="2514600" y="2404872"/>
            <a:ext cx="2752344" cy="292608"/>
          </a:xfrm>
          <a:prstGeom prst="rect">
            <a:avLst/>
          </a:prstGeom>
          <a:noFill/>
          <a:ln/>
        </p:spPr>
        <p:txBody>
          <a:bodyPr wrap="square" lIns="0" tIns="0" rIns="0" bIns="0" rtlCol="0" anchor="t"/>
          <a:lstStyle/>
          <a:p>
            <a:pPr indent="0" marL="0">
              <a:buNone/>
            </a:pPr>
            <a:r>
              <a:rPr lang="en-US" sz="1400" b="1" dirty="0">
                <a:solidFill>
                  <a:schemeClr val="tx2"/>
                </a:solidFill>
              </a:rPr>
              <a:t>A</a:t>
            </a:r>
            <a:endParaRPr lang="en-US" sz="1400" dirty="0"/>
          </a:p>
        </p:txBody>
      </p:sp>
      <p:sp>
        <p:nvSpPr>
          <p:cNvPr id="17" name="txt-160"/>
          <p:cNvSpPr txBox="1"/>
          <p:nvPr/>
        </p:nvSpPr>
        <p:spPr>
          <a:xfrm>
            <a:off x="2514600" y="2697480"/>
            <a:ext cx="2752344" cy="420624"/>
          </a:xfrm>
          <a:prstGeom prst="rect">
            <a:avLst/>
          </a:prstGeom>
          <a:noFill/>
          <a:ln/>
        </p:spPr>
        <p:txBody>
          <a:bodyPr wrap="square" lIns="0" tIns="0" rIns="0" bIns="0" rtlCol="0" anchor="t"/>
          <a:lstStyle/>
          <a:p>
            <a:pPr indent="0" marL="0">
              <a:buNone/>
            </a:pPr>
            <a:r>
              <a:rPr lang="en-US" sz="1050" dirty="0">
                <a:solidFill>
                  <a:schemeClr val="tx1"/>
                </a:solidFill>
              </a:rPr>
              <a:t>Decides business requirements and acceptance</a:t>
            </a:r>
            <a:endParaRPr lang="en-US" sz="1050" dirty="0"/>
          </a:p>
        </p:txBody>
      </p:sp>
      <p:sp>
        <p:nvSpPr>
          <p:cNvPr id="18" name="box-161"/>
          <p:cNvSpPr/>
          <p:nvPr/>
        </p:nvSpPr>
        <p:spPr>
          <a:xfrm>
            <a:off x="5541264" y="2331720"/>
            <a:ext cx="3026664" cy="822960"/>
          </a:xfrm>
          <a:prstGeom prst="rect">
            <a:avLst/>
          </a:prstGeom>
          <a:solidFill>
            <a:schemeClr val="bg1"/>
          </a:solidFill>
          <a:ln w="9525">
            <a:solidFill>
              <a:schemeClr val="accent3"/>
            </a:solidFill>
            <a:prstDash val="solid"/>
          </a:ln>
        </p:spPr>
      </p:sp>
      <p:sp>
        <p:nvSpPr>
          <p:cNvPr id="19" name="txt-162"/>
          <p:cNvSpPr txBox="1"/>
          <p:nvPr/>
        </p:nvSpPr>
        <p:spPr>
          <a:xfrm>
            <a:off x="5678424" y="2404872"/>
            <a:ext cx="2752344" cy="292608"/>
          </a:xfrm>
          <a:prstGeom prst="rect">
            <a:avLst/>
          </a:prstGeom>
          <a:noFill/>
          <a:ln/>
        </p:spPr>
        <p:txBody>
          <a:bodyPr wrap="square" lIns="0" tIns="0" rIns="0" bIns="0" rtlCol="0" anchor="t"/>
          <a:lstStyle/>
          <a:p>
            <a:pPr indent="0" marL="0">
              <a:buNone/>
            </a:pPr>
            <a:r>
              <a:rPr lang="en-US" sz="1400" b="1" dirty="0">
                <a:solidFill>
                  <a:schemeClr val="tx2"/>
                </a:solidFill>
              </a:rPr>
              <a:t>R</a:t>
            </a:r>
            <a:endParaRPr lang="en-US" sz="1400" dirty="0"/>
          </a:p>
        </p:txBody>
      </p:sp>
      <p:sp>
        <p:nvSpPr>
          <p:cNvPr id="20" name="txt-163"/>
          <p:cNvSpPr txBox="1"/>
          <p:nvPr/>
        </p:nvSpPr>
        <p:spPr>
          <a:xfrm>
            <a:off x="5678424" y="2697480"/>
            <a:ext cx="2752344" cy="420624"/>
          </a:xfrm>
          <a:prstGeom prst="rect">
            <a:avLst/>
          </a:prstGeom>
          <a:noFill/>
          <a:ln/>
        </p:spPr>
        <p:txBody>
          <a:bodyPr wrap="square" lIns="0" tIns="0" rIns="0" bIns="0" rtlCol="0" anchor="t"/>
          <a:lstStyle/>
          <a:p>
            <a:pPr indent="0" marL="0">
              <a:buNone/>
            </a:pPr>
            <a:r>
              <a:rPr lang="en-US" sz="1050" dirty="0">
                <a:solidFill>
                  <a:schemeClr val="tx1"/>
                </a:solidFill>
              </a:rPr>
              <a:t>Work using the system, organizing requirements, acceptance checks</a:t>
            </a:r>
            <a:endParaRPr lang="en-US" sz="1050" dirty="0"/>
          </a:p>
        </p:txBody>
      </p:sp>
      <p:sp>
        <p:nvSpPr>
          <p:cNvPr id="21" name="box-164"/>
          <p:cNvSpPr/>
          <p:nvPr/>
        </p:nvSpPr>
        <p:spPr>
          <a:xfrm>
            <a:off x="8705088" y="2331720"/>
            <a:ext cx="3026664" cy="822960"/>
          </a:xfrm>
          <a:prstGeom prst="rect">
            <a:avLst/>
          </a:prstGeom>
          <a:solidFill>
            <a:schemeClr val="bg1"/>
          </a:solidFill>
          <a:ln w="9525">
            <a:solidFill>
              <a:schemeClr val="accent3"/>
            </a:solidFill>
            <a:prstDash val="solid"/>
          </a:ln>
        </p:spPr>
      </p:sp>
      <p:sp>
        <p:nvSpPr>
          <p:cNvPr id="22" name="txt-165"/>
          <p:cNvSpPr txBox="1"/>
          <p:nvPr/>
        </p:nvSpPr>
        <p:spPr>
          <a:xfrm>
            <a:off x="8842248" y="2404872"/>
            <a:ext cx="2752344" cy="292608"/>
          </a:xfrm>
          <a:prstGeom prst="rect">
            <a:avLst/>
          </a:prstGeom>
          <a:noFill/>
          <a:ln/>
        </p:spPr>
        <p:txBody>
          <a:bodyPr wrap="square" lIns="0" tIns="0" rIns="0" bIns="0" rtlCol="0" anchor="t"/>
          <a:lstStyle/>
          <a:p>
            <a:pPr indent="0" marL="0">
              <a:buNone/>
            </a:pPr>
            <a:r>
              <a:rPr lang="en-US" sz="1400" b="1" dirty="0">
                <a:solidFill>
                  <a:schemeClr val="tx2"/>
                </a:solidFill>
              </a:rPr>
              <a:t>C</a:t>
            </a:r>
            <a:endParaRPr lang="en-US" sz="1400" dirty="0"/>
          </a:p>
        </p:txBody>
      </p:sp>
      <p:sp>
        <p:nvSpPr>
          <p:cNvPr id="23" name="txt-166"/>
          <p:cNvSpPr txBox="1"/>
          <p:nvPr/>
        </p:nvSpPr>
        <p:spPr>
          <a:xfrm>
            <a:off x="8842248" y="2697480"/>
            <a:ext cx="2752344" cy="420624"/>
          </a:xfrm>
          <a:prstGeom prst="rect">
            <a:avLst/>
          </a:prstGeom>
          <a:noFill/>
          <a:ln/>
        </p:spPr>
        <p:txBody>
          <a:bodyPr wrap="square" lIns="0" tIns="0" rIns="0" bIns="0" rtlCol="0" anchor="t"/>
          <a:lstStyle/>
          <a:p>
            <a:pPr indent="0" marL="0">
              <a:buNone/>
            </a:pPr>
            <a:r>
              <a:rPr lang="en-US" sz="1050" dirty="0">
                <a:solidFill>
                  <a:schemeClr val="tx1"/>
                </a:solidFill>
              </a:rPr>
              <a:t>Consulted</a:t>
            </a:r>
            <a:endParaRPr lang="en-US" sz="1050" dirty="0"/>
          </a:p>
        </p:txBody>
      </p:sp>
      <p:sp>
        <p:nvSpPr>
          <p:cNvPr id="24" name="box-167"/>
          <p:cNvSpPr/>
          <p:nvPr/>
        </p:nvSpPr>
        <p:spPr>
          <a:xfrm>
            <a:off x="457200" y="3264408"/>
            <a:ext cx="11274552" cy="1124712"/>
          </a:xfrm>
          <a:prstGeom prst="rect">
            <a:avLst/>
          </a:prstGeom>
          <a:solidFill>
            <a:schemeClr val="accent4"/>
          </a:solidFill>
          <a:ln/>
        </p:spPr>
      </p:sp>
      <p:sp>
        <p:nvSpPr>
          <p:cNvPr id="25" name="txt-168"/>
          <p:cNvSpPr txBox="1"/>
          <p:nvPr/>
        </p:nvSpPr>
        <p:spPr>
          <a:xfrm>
            <a:off x="548640" y="3392424"/>
            <a:ext cx="1691640" cy="320040"/>
          </a:xfrm>
          <a:prstGeom prst="rect">
            <a:avLst/>
          </a:prstGeom>
          <a:noFill/>
          <a:ln/>
        </p:spPr>
        <p:txBody>
          <a:bodyPr wrap="square" lIns="0" tIns="0" rIns="0" bIns="0" rtlCol="0" anchor="t"/>
          <a:lstStyle/>
          <a:p>
            <a:pPr indent="0" marL="0">
              <a:buNone/>
            </a:pPr>
            <a:r>
              <a:rPr lang="en-US" sz="1400" b="1" dirty="0">
                <a:solidFill>
                  <a:schemeClr val="tx2"/>
                </a:solidFill>
              </a:rPr>
              <a:t>IT-related work</a:t>
            </a:r>
            <a:endParaRPr lang="en-US" sz="1400" dirty="0"/>
          </a:p>
        </p:txBody>
      </p:sp>
      <p:sp>
        <p:nvSpPr>
          <p:cNvPr id="26" name="txt-169"/>
          <p:cNvSpPr txBox="1"/>
          <p:nvPr/>
        </p:nvSpPr>
        <p:spPr>
          <a:xfrm>
            <a:off x="548640" y="3739896"/>
            <a:ext cx="1691640" cy="457200"/>
          </a:xfrm>
          <a:prstGeom prst="rect">
            <a:avLst/>
          </a:prstGeom>
          <a:noFill/>
          <a:ln/>
        </p:spPr>
        <p:txBody>
          <a:bodyPr wrap="square" lIns="0" tIns="0" rIns="0" bIns="0" rtlCol="0" anchor="t"/>
          <a:lstStyle/>
          <a:p>
            <a:pPr indent="0" marL="0">
              <a:buNone/>
            </a:pPr>
            <a:r>
              <a:rPr lang="en-US" sz="1000" b="1" dirty="0">
                <a:solidFill>
                  <a:schemeClr val="accent2"/>
                </a:solidFill>
              </a:rPr>
              <a:t>Middle layer. Agreed per case</a:t>
            </a:r>
            <a:endParaRPr lang="en-US" sz="1000" dirty="0"/>
          </a:p>
        </p:txBody>
      </p:sp>
      <p:sp>
        <p:nvSpPr>
          <p:cNvPr id="27" name="box-170"/>
          <p:cNvSpPr/>
          <p:nvPr/>
        </p:nvSpPr>
        <p:spPr>
          <a:xfrm>
            <a:off x="2377440" y="3300984"/>
            <a:ext cx="3026664" cy="1051560"/>
          </a:xfrm>
          <a:prstGeom prst="rect">
            <a:avLst/>
          </a:prstGeom>
          <a:solidFill>
            <a:schemeClr val="bg1"/>
          </a:solidFill>
          <a:ln w="9525">
            <a:solidFill>
              <a:schemeClr val="accent3"/>
            </a:solidFill>
            <a:prstDash val="solid"/>
          </a:ln>
        </p:spPr>
      </p:sp>
      <p:sp>
        <p:nvSpPr>
          <p:cNvPr id="28" name="txt-171"/>
          <p:cNvSpPr txBox="1"/>
          <p:nvPr/>
        </p:nvSpPr>
        <p:spPr>
          <a:xfrm>
            <a:off x="2514600" y="3374136"/>
            <a:ext cx="2752344" cy="292608"/>
          </a:xfrm>
          <a:prstGeom prst="rect">
            <a:avLst/>
          </a:prstGeom>
          <a:noFill/>
          <a:ln/>
        </p:spPr>
        <p:txBody>
          <a:bodyPr wrap="square" lIns="0" tIns="0" rIns="0" bIns="0" rtlCol="0" anchor="t"/>
          <a:lstStyle/>
          <a:p>
            <a:pPr indent="0" marL="0">
              <a:buNone/>
            </a:pPr>
            <a:r>
              <a:rPr lang="en-US" sz="1400" b="1" dirty="0">
                <a:solidFill>
                  <a:schemeClr val="tx2"/>
                </a:solidFill>
              </a:rPr>
              <a:t>A</a:t>
            </a:r>
            <a:endParaRPr lang="en-US" sz="1400" dirty="0"/>
          </a:p>
        </p:txBody>
      </p:sp>
      <p:sp>
        <p:nvSpPr>
          <p:cNvPr id="29" name="txt-172"/>
          <p:cNvSpPr txBox="1"/>
          <p:nvPr/>
        </p:nvSpPr>
        <p:spPr>
          <a:xfrm>
            <a:off x="2514600" y="3666744"/>
            <a:ext cx="2752344" cy="649224"/>
          </a:xfrm>
          <a:prstGeom prst="rect">
            <a:avLst/>
          </a:prstGeom>
          <a:noFill/>
          <a:ln/>
        </p:spPr>
        <p:txBody>
          <a:bodyPr wrap="square" lIns="0" tIns="0" rIns="0" bIns="0" rtlCol="0" anchor="t"/>
          <a:lstStyle/>
          <a:p>
            <a:pPr indent="0" marL="0">
              <a:buNone/>
            </a:pPr>
            <a:r>
              <a:rPr lang="en-US" sz="1050" dirty="0">
                <a:solidFill>
                  <a:schemeClr val="tx1"/>
                </a:solidFill>
              </a:rPr>
              <a:t>Decisions and approvals (not negotiable)</a:t>
            </a:r>
            <a:endParaRPr lang="en-US" sz="1050" dirty="0"/>
          </a:p>
        </p:txBody>
      </p:sp>
      <p:sp>
        <p:nvSpPr>
          <p:cNvPr id="30" name="box-173"/>
          <p:cNvSpPr/>
          <p:nvPr/>
        </p:nvSpPr>
        <p:spPr>
          <a:xfrm>
            <a:off x="5541264" y="3300984"/>
            <a:ext cx="3026664" cy="1051560"/>
          </a:xfrm>
          <a:prstGeom prst="rect">
            <a:avLst/>
          </a:prstGeom>
          <a:solidFill>
            <a:schemeClr val="bg1"/>
          </a:solidFill>
          <a:ln w="9525">
            <a:solidFill>
              <a:schemeClr val="accent3"/>
            </a:solidFill>
            <a:prstDash val="solid"/>
          </a:ln>
        </p:spPr>
      </p:sp>
      <p:sp>
        <p:nvSpPr>
          <p:cNvPr id="31" name="txt-174"/>
          <p:cNvSpPr txBox="1"/>
          <p:nvPr/>
        </p:nvSpPr>
        <p:spPr>
          <a:xfrm>
            <a:off x="5678424" y="3374136"/>
            <a:ext cx="2752344" cy="292608"/>
          </a:xfrm>
          <a:prstGeom prst="rect">
            <a:avLst/>
          </a:prstGeom>
          <a:noFill/>
          <a:ln/>
        </p:spPr>
        <p:txBody>
          <a:bodyPr wrap="square" lIns="0" tIns="0" rIns="0" bIns="0" rtlCol="0" anchor="t"/>
          <a:lstStyle/>
          <a:p>
            <a:pPr indent="0" marL="0">
              <a:buNone/>
            </a:pPr>
            <a:r>
              <a:rPr lang="en-US" sz="1400" b="1" dirty="0">
                <a:solidFill>
                  <a:schemeClr val="tx2"/>
                </a:solidFill>
              </a:rPr>
              <a:t>R / C</a:t>
            </a:r>
            <a:endParaRPr lang="en-US" sz="1400" dirty="0"/>
          </a:p>
        </p:txBody>
      </p:sp>
      <p:sp>
        <p:nvSpPr>
          <p:cNvPr id="32" name="txt-175"/>
          <p:cNvSpPr txBox="1"/>
          <p:nvPr/>
        </p:nvSpPr>
        <p:spPr>
          <a:xfrm>
            <a:off x="5678424" y="3666744"/>
            <a:ext cx="2752344" cy="649224"/>
          </a:xfrm>
          <a:prstGeom prst="rect">
            <a:avLst/>
          </a:prstGeom>
          <a:noFill/>
          <a:ln/>
        </p:spPr>
        <p:txBody>
          <a:bodyPr wrap="square" lIns="0" tIns="0" rIns="0" bIns="0" rtlCol="0" anchor="t"/>
          <a:lstStyle/>
          <a:p>
            <a:pPr indent="0" marL="0">
              <a:buNone/>
            </a:pPr>
            <a:r>
              <a:rPr lang="en-US" sz="1050" dirty="0">
                <a:solidFill>
                  <a:schemeClr val="tx1"/>
                </a:solidFill>
              </a:rPr>
              <a:t>Explains needs and benefits</a:t>
            </a:r>
            <a:endParaRPr lang="en-US" sz="1050" dirty="0"/>
          </a:p>
        </p:txBody>
      </p:sp>
      <p:sp>
        <p:nvSpPr>
          <p:cNvPr id="33" name="box-176"/>
          <p:cNvSpPr/>
          <p:nvPr/>
        </p:nvSpPr>
        <p:spPr>
          <a:xfrm>
            <a:off x="8705088" y="3300984"/>
            <a:ext cx="3026664" cy="1051560"/>
          </a:xfrm>
          <a:prstGeom prst="rect">
            <a:avLst/>
          </a:prstGeom>
          <a:solidFill>
            <a:schemeClr val="bg1"/>
          </a:solidFill>
          <a:ln w="9525">
            <a:solidFill>
              <a:schemeClr val="accent3"/>
            </a:solidFill>
            <a:prstDash val="solid"/>
          </a:ln>
        </p:spPr>
      </p:sp>
      <p:sp>
        <p:nvSpPr>
          <p:cNvPr id="34" name="txt-177"/>
          <p:cNvSpPr txBox="1"/>
          <p:nvPr/>
        </p:nvSpPr>
        <p:spPr>
          <a:xfrm>
            <a:off x="8842248" y="3374136"/>
            <a:ext cx="2752344" cy="292608"/>
          </a:xfrm>
          <a:prstGeom prst="rect">
            <a:avLst/>
          </a:prstGeom>
          <a:noFill/>
          <a:ln/>
        </p:spPr>
        <p:txBody>
          <a:bodyPr wrap="square" lIns="0" tIns="0" rIns="0" bIns="0" rtlCol="0" anchor="t"/>
          <a:lstStyle/>
          <a:p>
            <a:pPr indent="0" marL="0">
              <a:buNone/>
            </a:pPr>
            <a:r>
              <a:rPr lang="en-US" sz="1400" b="1" dirty="0">
                <a:solidFill>
                  <a:schemeClr val="tx2"/>
                </a:solidFill>
              </a:rPr>
              <a:t>R</a:t>
            </a:r>
            <a:endParaRPr lang="en-US" sz="1400" dirty="0"/>
          </a:p>
        </p:txBody>
      </p:sp>
      <p:sp>
        <p:nvSpPr>
          <p:cNvPr id="35" name="txt-178"/>
          <p:cNvSpPr txBox="1"/>
          <p:nvPr/>
        </p:nvSpPr>
        <p:spPr>
          <a:xfrm>
            <a:off x="8842248" y="3666744"/>
            <a:ext cx="2752344" cy="649224"/>
          </a:xfrm>
          <a:prstGeom prst="rect">
            <a:avLst/>
          </a:prstGeom>
          <a:noFill/>
          <a:ln/>
        </p:spPr>
        <p:txBody>
          <a:bodyPr wrap="square" lIns="0" tIns="0" rIns="0" bIns="0" rtlCol="0" anchor="t"/>
          <a:lstStyle/>
          <a:p>
            <a:pPr indent="0" marL="0">
              <a:buNone/>
            </a:pPr>
            <a:r>
              <a:rPr lang="en-US" sz="1050" dirty="0">
                <a:solidFill>
                  <a:schemeClr val="tx1"/>
                </a:solidFill>
              </a:rPr>
              <a:t>Does the hands-on work (investment: planning, quotes, application; expense: monitoring, improvement, contract review)</a:t>
            </a:r>
            <a:endParaRPr lang="en-US" sz="1050" dirty="0"/>
          </a:p>
        </p:txBody>
      </p:sp>
      <p:sp>
        <p:nvSpPr>
          <p:cNvPr id="36" name="txt-179"/>
          <p:cNvSpPr txBox="1"/>
          <p:nvPr/>
        </p:nvSpPr>
        <p:spPr>
          <a:xfrm>
            <a:off x="548640" y="4590288"/>
            <a:ext cx="1691640" cy="320040"/>
          </a:xfrm>
          <a:prstGeom prst="rect">
            <a:avLst/>
          </a:prstGeom>
          <a:noFill/>
          <a:ln/>
        </p:spPr>
        <p:txBody>
          <a:bodyPr wrap="square" lIns="0" tIns="0" rIns="0" bIns="0" rtlCol="0" anchor="t"/>
          <a:lstStyle/>
          <a:p>
            <a:pPr indent="0" marL="0">
              <a:buNone/>
            </a:pPr>
            <a:r>
              <a:rPr lang="en-US" sz="1400" b="1" dirty="0">
                <a:solidFill>
                  <a:schemeClr val="tx2"/>
                </a:solidFill>
              </a:rPr>
              <a:t>Indirect work</a:t>
            </a:r>
            <a:endParaRPr lang="en-US" sz="1400" dirty="0"/>
          </a:p>
        </p:txBody>
      </p:sp>
      <p:sp>
        <p:nvSpPr>
          <p:cNvPr id="37" name="txt-180"/>
          <p:cNvSpPr txBox="1"/>
          <p:nvPr/>
        </p:nvSpPr>
        <p:spPr>
          <a:xfrm>
            <a:off x="548640" y="4937760"/>
            <a:ext cx="1691640" cy="457200"/>
          </a:xfrm>
          <a:prstGeom prst="rect">
            <a:avLst/>
          </a:prstGeom>
          <a:noFill/>
          <a:ln/>
        </p:spPr>
        <p:txBody>
          <a:bodyPr wrap="square" lIns="0" tIns="0" rIns="0" bIns="0" rtlCol="0" anchor="t"/>
          <a:lstStyle/>
          <a:p>
            <a:pPr indent="0" marL="0">
              <a:buNone/>
            </a:pPr>
            <a:r>
              <a:rPr lang="en-US" sz="1000" b="1" dirty="0">
                <a:solidFill>
                  <a:schemeClr val="accent2"/>
                </a:solidFill>
              </a:rPr>
              <a:t>Transferred (previously done by departments)</a:t>
            </a:r>
            <a:endParaRPr lang="en-US" sz="1000" dirty="0"/>
          </a:p>
        </p:txBody>
      </p:sp>
      <p:sp>
        <p:nvSpPr>
          <p:cNvPr id="38" name="box-181"/>
          <p:cNvSpPr/>
          <p:nvPr/>
        </p:nvSpPr>
        <p:spPr>
          <a:xfrm>
            <a:off x="2377440" y="4498848"/>
            <a:ext cx="3026664" cy="822960"/>
          </a:xfrm>
          <a:prstGeom prst="rect">
            <a:avLst/>
          </a:prstGeom>
          <a:solidFill>
            <a:schemeClr val="bg1"/>
          </a:solidFill>
          <a:ln w="9525">
            <a:solidFill>
              <a:schemeClr val="accent3"/>
            </a:solidFill>
            <a:prstDash val="solid"/>
          </a:ln>
        </p:spPr>
      </p:sp>
      <p:sp>
        <p:nvSpPr>
          <p:cNvPr id="39" name="txt-182"/>
          <p:cNvSpPr txBox="1"/>
          <p:nvPr/>
        </p:nvSpPr>
        <p:spPr>
          <a:xfrm>
            <a:off x="2514600" y="4572000"/>
            <a:ext cx="2752344" cy="292608"/>
          </a:xfrm>
          <a:prstGeom prst="rect">
            <a:avLst/>
          </a:prstGeom>
          <a:noFill/>
          <a:ln/>
        </p:spPr>
        <p:txBody>
          <a:bodyPr wrap="square" lIns="0" tIns="0" rIns="0" bIns="0" rtlCol="0" anchor="t"/>
          <a:lstStyle/>
          <a:p>
            <a:pPr indent="0" marL="0">
              <a:buNone/>
            </a:pPr>
            <a:r>
              <a:rPr lang="en-US" sz="1400" b="1" dirty="0">
                <a:solidFill>
                  <a:schemeClr val="tx2"/>
                </a:solidFill>
              </a:rPr>
              <a:t>I</a:t>
            </a:r>
            <a:endParaRPr lang="en-US" sz="1400" dirty="0"/>
          </a:p>
        </p:txBody>
      </p:sp>
      <p:sp>
        <p:nvSpPr>
          <p:cNvPr id="40" name="txt-183"/>
          <p:cNvSpPr txBox="1"/>
          <p:nvPr/>
        </p:nvSpPr>
        <p:spPr>
          <a:xfrm>
            <a:off x="2514600" y="4864608"/>
            <a:ext cx="2752344" cy="420624"/>
          </a:xfrm>
          <a:prstGeom prst="rect">
            <a:avLst/>
          </a:prstGeom>
          <a:noFill/>
          <a:ln/>
        </p:spPr>
        <p:txBody>
          <a:bodyPr wrap="square" lIns="0" tIns="0" rIns="0" bIns="0" rtlCol="0" anchor="t"/>
          <a:lstStyle/>
          <a:p>
            <a:pPr indent="0" marL="0">
              <a:buNone/>
            </a:pPr>
            <a:r>
              <a:rPr lang="en-US" sz="1050" dirty="0">
                <a:solidFill>
                  <a:schemeClr val="tx1"/>
                </a:solidFill>
              </a:rPr>
              <a:t>Informed</a:t>
            </a:r>
            <a:endParaRPr lang="en-US" sz="1050" dirty="0"/>
          </a:p>
        </p:txBody>
      </p:sp>
      <p:sp>
        <p:nvSpPr>
          <p:cNvPr id="41" name="box-184"/>
          <p:cNvSpPr/>
          <p:nvPr/>
        </p:nvSpPr>
        <p:spPr>
          <a:xfrm>
            <a:off x="5541264" y="4498848"/>
            <a:ext cx="3026664" cy="822960"/>
          </a:xfrm>
          <a:prstGeom prst="rect">
            <a:avLst/>
          </a:prstGeom>
          <a:solidFill>
            <a:schemeClr val="bg1"/>
          </a:solidFill>
          <a:ln w="9525">
            <a:solidFill>
              <a:schemeClr val="accent3"/>
            </a:solidFill>
            <a:prstDash val="solid"/>
          </a:ln>
        </p:spPr>
      </p:sp>
      <p:sp>
        <p:nvSpPr>
          <p:cNvPr id="42" name="txt-185"/>
          <p:cNvSpPr txBox="1"/>
          <p:nvPr/>
        </p:nvSpPr>
        <p:spPr>
          <a:xfrm>
            <a:off x="5678424" y="4572000"/>
            <a:ext cx="2752344" cy="292608"/>
          </a:xfrm>
          <a:prstGeom prst="rect">
            <a:avLst/>
          </a:prstGeom>
          <a:noFill/>
          <a:ln/>
        </p:spPr>
        <p:txBody>
          <a:bodyPr wrap="square" lIns="0" tIns="0" rIns="0" bIns="0" rtlCol="0" anchor="t"/>
          <a:lstStyle/>
          <a:p>
            <a:pPr indent="0" marL="0">
              <a:buNone/>
            </a:pPr>
            <a:r>
              <a:rPr lang="en-US" sz="1400" b="1" dirty="0">
                <a:solidFill>
                  <a:schemeClr val="tx2"/>
                </a:solidFill>
              </a:rPr>
              <a:t>—</a:t>
            </a:r>
            <a:endParaRPr lang="en-US" sz="1400" dirty="0"/>
          </a:p>
        </p:txBody>
      </p:sp>
      <p:sp>
        <p:nvSpPr>
          <p:cNvPr id="43" name="txt-186"/>
          <p:cNvSpPr txBox="1"/>
          <p:nvPr/>
        </p:nvSpPr>
        <p:spPr>
          <a:xfrm>
            <a:off x="5678424" y="4864608"/>
            <a:ext cx="2752344" cy="420624"/>
          </a:xfrm>
          <a:prstGeom prst="rect">
            <a:avLst/>
          </a:prstGeom>
          <a:noFill/>
          <a:ln/>
        </p:spPr>
        <p:txBody>
          <a:bodyPr wrap="square" lIns="0" tIns="0" rIns="0" bIns="0" rtlCol="0" anchor="t"/>
          <a:lstStyle/>
          <a:p>
            <a:pPr indent="0" marL="0">
              <a:buNone/>
            </a:pPr>
            <a:r>
              <a:rPr lang="en-US" sz="1050" dirty="0">
                <a:solidFill>
                  <a:schemeClr val="tx1"/>
                </a:solidFill>
              </a:rPr>
              <a:t>Not involved</a:t>
            </a:r>
            <a:endParaRPr lang="en-US" sz="1050" dirty="0"/>
          </a:p>
        </p:txBody>
      </p:sp>
      <p:sp>
        <p:nvSpPr>
          <p:cNvPr id="44" name="box-187"/>
          <p:cNvSpPr/>
          <p:nvPr/>
        </p:nvSpPr>
        <p:spPr>
          <a:xfrm>
            <a:off x="8705088" y="4498848"/>
            <a:ext cx="3026664" cy="822960"/>
          </a:xfrm>
          <a:prstGeom prst="rect">
            <a:avLst/>
          </a:prstGeom>
          <a:solidFill>
            <a:schemeClr val="bg1"/>
          </a:solidFill>
          <a:ln w="9525">
            <a:solidFill>
              <a:schemeClr val="accent3"/>
            </a:solidFill>
            <a:prstDash val="solid"/>
          </a:ln>
        </p:spPr>
      </p:sp>
      <p:sp>
        <p:nvSpPr>
          <p:cNvPr id="45" name="txt-188"/>
          <p:cNvSpPr txBox="1"/>
          <p:nvPr/>
        </p:nvSpPr>
        <p:spPr>
          <a:xfrm>
            <a:off x="8842248" y="4572000"/>
            <a:ext cx="2752344" cy="292608"/>
          </a:xfrm>
          <a:prstGeom prst="rect">
            <a:avLst/>
          </a:prstGeom>
          <a:noFill/>
          <a:ln/>
        </p:spPr>
        <p:txBody>
          <a:bodyPr wrap="square" lIns="0" tIns="0" rIns="0" bIns="0" rtlCol="0" anchor="t"/>
          <a:lstStyle/>
          <a:p>
            <a:pPr indent="0" marL="0">
              <a:buNone/>
            </a:pPr>
            <a:r>
              <a:rPr lang="en-US" sz="1400" b="1" dirty="0">
                <a:solidFill>
                  <a:schemeClr val="tx2"/>
                </a:solidFill>
              </a:rPr>
              <a:t>A / R</a:t>
            </a:r>
            <a:endParaRPr lang="en-US" sz="1400" dirty="0"/>
          </a:p>
        </p:txBody>
      </p:sp>
      <p:sp>
        <p:nvSpPr>
          <p:cNvPr id="46" name="txt-189"/>
          <p:cNvSpPr txBox="1"/>
          <p:nvPr/>
        </p:nvSpPr>
        <p:spPr>
          <a:xfrm>
            <a:off x="8842248" y="4864608"/>
            <a:ext cx="2752344" cy="420624"/>
          </a:xfrm>
          <a:prstGeom prst="rect">
            <a:avLst/>
          </a:prstGeom>
          <a:noFill/>
          <a:ln/>
        </p:spPr>
        <p:txBody>
          <a:bodyPr wrap="square" lIns="0" tIns="0" rIns="0" bIns="0" rtlCol="0" anchor="t"/>
          <a:lstStyle/>
          <a:p>
            <a:pPr indent="0" marL="0">
              <a:buNone/>
            </a:pPr>
            <a:r>
              <a:rPr lang="en-US" sz="1050" dirty="0">
                <a:solidFill>
                  <a:schemeClr val="tx1"/>
                </a:solidFill>
              </a:rPr>
              <a:t>Budget management, contracts, ordering, receiving and payment (from January)</a:t>
            </a:r>
            <a:endParaRPr lang="en-US" sz="1050" dirty="0"/>
          </a:p>
        </p:txBody>
      </p:sp>
      <p:sp>
        <p:nvSpPr>
          <p:cNvPr id="47" name="txt-190"/>
          <p:cNvSpPr txBox="1"/>
          <p:nvPr/>
        </p:nvSpPr>
        <p:spPr>
          <a:xfrm>
            <a:off x="457200" y="5504688"/>
            <a:ext cx="11274552" cy="384048"/>
          </a:xfrm>
          <a:prstGeom prst="rect">
            <a:avLst/>
          </a:prstGeom>
          <a:noFill/>
          <a:ln/>
        </p:spPr>
        <p:txBody>
          <a:bodyPr wrap="square" lIns="0" tIns="0" rIns="0" bIns="0" rtlCol="0" anchor="ctr"/>
          <a:lstStyle/>
          <a:p>
            <a:pPr indent="0" marL="0">
              <a:buNone/>
            </a:pPr>
            <a:r>
              <a:rPr lang="en-US" sz="1500" b="1" dirty="0">
                <a:solidFill>
                  <a:schemeClr val="tx2"/>
                </a:solidFill>
              </a:rPr>
              <a:t>For IT-related work, customize the RACI templates on slides 7-8 per case, agree with the transferring manager and keep it as a document</a:t>
            </a:r>
            <a:endParaRPr lang="en-US" sz="1500" dirty="0"/>
          </a:p>
        </p:txBody>
      </p:sp>
      <p:sp>
        <p:nvSpPr>
          <p:cNvPr id="48" name="noteline-191"/>
          <p:cNvSpPr/>
          <p:nvPr/>
        </p:nvSpPr>
        <p:spPr>
          <a:xfrm>
            <a:off x="457200" y="5870448"/>
            <a:ext cx="11274552" cy="0"/>
          </a:xfrm>
          <a:prstGeom prst="line">
            <a:avLst/>
          </a:prstGeom>
          <a:noFill/>
          <a:ln w="9525">
            <a:solidFill>
              <a:schemeClr val="accent3"/>
            </a:solidFill>
            <a:prstDash val="solid"/>
          </a:ln>
        </p:spPr>
      </p:sp>
      <p:sp>
        <p:nvSpPr>
          <p:cNvPr id="49" name="txt-192"/>
          <p:cNvSpPr txBox="1"/>
          <p:nvPr/>
        </p:nvSpPr>
        <p:spPr>
          <a:xfrm>
            <a:off x="457200" y="5961888"/>
            <a:ext cx="11274552" cy="411480"/>
          </a:xfrm>
          <a:prstGeom prst="rect">
            <a:avLst/>
          </a:prstGeom>
          <a:noFill/>
          <a:ln/>
        </p:spPr>
        <p:txBody>
          <a:bodyPr wrap="square" lIns="0" tIns="0" rIns="0" bIns="0" rtlCol="0" anchor="t"/>
          <a:lstStyle/>
          <a:p>
            <a:pPr indent="0" marL="0">
              <a:buNone/>
            </a:pPr>
            <a:r>
              <a:rPr lang="en-US" sz="900" dirty="0">
                <a:solidFill>
                  <a:schemeClr val="accent2"/>
                </a:solidFill>
              </a:rPr>
              <a:t>Reference (GxP): EU GMP Annex 11 (2011; 2025 draft revision), PIC/S PI 011-3, MHLW Guideline on Management of Computerized Systems</a:t>
            </a:r>
            <a:endParaRPr lang="en-US" sz="900" dirty="0"/>
          </a:p>
          <a:p>
            <a:pPr indent="0" marL="0">
              <a:buNone/>
            </a:pPr>
            <a:r>
              <a:rPr lang="en-US" sz="900" dirty="0">
                <a:solidFill>
                  <a:schemeClr val="accent2"/>
                </a:solidFill>
              </a:rPr>
              <a:t>Reference (internal control): FSA Standards and Practice Standards for Management Assessment and Audit of ICFR; METI System Management Standards Supplement (IT Control Guidance for Financial Reporting) and System Management Standards</a:t>
            </a:r>
            <a:endParaRPr lang="en-US" sz="9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594360"/>
          </a:xfrm>
          <a:prstGeom prst="rect">
            <a:avLst/>
          </a:prstGeom>
          <a:noFill/>
          <a:ln/>
        </p:spPr>
        <p:txBody>
          <a:bodyPr wrap="square" lIns="0" tIns="0" rIns="0" bIns="0" rtlCol="0" anchor="ctr"/>
          <a:lstStyle/>
          <a:p>
            <a:pPr algn="l" indent="0" marL="0">
              <a:buNone/>
            </a:pPr>
            <a:r>
              <a:rPr lang="en-US" sz="2600" b="1" dirty="0">
                <a:solidFill>
                  <a:schemeClr val="tx2"/>
                </a:solidFill>
              </a:rPr>
              <a:t>RACI: IT Investment Process (Before → After)</a:t>
            </a:r>
            <a:endParaRPr lang="en-US" sz="2600" dirty="0"/>
          </a:p>
        </p:txBody>
      </p:sp>
      <p:sp>
        <p:nvSpPr>
          <p:cNvPr id="3" name="txt-193"/>
          <p:cNvSpPr txBox="1"/>
          <p:nvPr/>
        </p:nvSpPr>
        <p:spPr>
          <a:xfrm>
            <a:off x="457200" y="914400"/>
            <a:ext cx="11274552" cy="256032"/>
          </a:xfrm>
          <a:prstGeom prst="rect">
            <a:avLst/>
          </a:prstGeom>
          <a:noFill/>
          <a:ln/>
        </p:spPr>
        <p:txBody>
          <a:bodyPr wrap="square" lIns="0" tIns="0" rIns="0" bIns="0" rtlCol="0" anchor="t"/>
          <a:lstStyle/>
          <a:p>
            <a:pPr indent="0" marL="0">
              <a:buNone/>
            </a:pPr>
            <a:r>
              <a:rPr lang="en-US" sz="1000" dirty="0">
                <a:solidFill>
                  <a:schemeClr val="accent2"/>
                </a:solidFill>
              </a:rPr>
              <a:t>BO: Business Owner (dept. head)   BU: Business User   SO: System Owner (IT)     R: Responsible   A: Accountable   C: Consulted   I: Informed</a:t>
            </a:r>
            <a:endParaRPr lang="en-US" sz="1000" dirty="0"/>
          </a:p>
        </p:txBody>
      </p:sp>
      <p:graphicFrame>
        <p:nvGraphicFramePr>
          <p:cNvPr id="8" name="raci-194"/>
          <p:cNvGraphicFramePr>
            <a:graphicFrameLocks noGrp="1"/>
          </p:cNvGraphicFramePr>
          <p:nvPr>
            <p:extLst>
              <p:ext uri="{D42A27DB-BD31-4B8C-83A1-F6EECF244321}">
                <p14:modId xmlns:p14="http://schemas.microsoft.com/office/powerpoint/2010/main" val="1579011935"/>
              </p:ext>
            </p:extLst>
          </p:nvPr>
        </p:nvGraphicFramePr>
        <p:xfrm>
          <a:off x="457200" y="1261872"/>
          <a:ext cx="11274552" cy="914400"/>
        </p:xfrm>
        <a:graphic>
          <a:graphicData uri="http://schemas.openxmlformats.org/drawingml/2006/table">
            <a:tbl>
              <a:tblPr/>
              <a:tblGrid>
                <a:gridCol w="5971032"/>
                <a:gridCol w="822960"/>
                <a:gridCol w="868680"/>
                <a:gridCol w="868680"/>
                <a:gridCol w="914400"/>
                <a:gridCol w="914400"/>
                <a:gridCol w="914400"/>
              </a:tblGrid>
              <a:tr h="283464">
                <a:tc rowSpan="2">
                  <a:txBody>
                    <a:bodyPr/>
                    <a:lstStyle/>
                    <a:p>
                      <a:pPr algn="l" indent="0" marL="0">
                        <a:buNone/>
                      </a:pPr>
                      <a:r>
                        <a:rPr lang="en-US" sz="1050" b="1" dirty="0">
                          <a:solidFill>
                            <a:schemeClr val="bg1"/>
                          </a:solidFill>
                        </a:rPr>
                        <a:t>Activity</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tx2"/>
                    </a:solidFill>
                  </a:tcPr>
                </a:tc>
                <a:tc rowSpan="2">
                  <a:txBody>
                    <a:bodyPr/>
                    <a:lstStyle/>
                    <a:p>
                      <a:pPr algn="ctr" indent="0" marL="0">
                        <a:buNone/>
                      </a:pPr>
                      <a:r>
                        <a:rPr lang="en-US" sz="1050" b="1" dirty="0">
                          <a:solidFill>
                            <a:schemeClr val="bg1"/>
                          </a:solidFill>
                        </a:rPr>
                        <a:t>Layer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tx2"/>
                    </a:solidFill>
                  </a:tcPr>
                </a:tc>
                <a:tc gridSpan="2">
                  <a:txBody>
                    <a:bodyPr/>
                    <a:lstStyle/>
                    <a:p>
                      <a:pPr algn="ctr" indent="0" marL="0">
                        <a:buNone/>
                      </a:pPr>
                      <a:r>
                        <a:rPr lang="en-US" sz="1050" b="1" dirty="0">
                          <a:solidFill>
                            <a:schemeClr val="bg1"/>
                          </a:solidFill>
                        </a:rPr>
                        <a:t>Before (current)</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2"/>
                    </a:solidFill>
                  </a:tcPr>
                </a:tc>
                <a:tc hMerge="1">
                  <a:tcPr/>
                </a:tc>
                <a:tc gridSpan="3">
                  <a:txBody>
                    <a:bodyPr/>
                    <a:lstStyle/>
                    <a:p>
                      <a:pPr algn="ctr" indent="0" marL="0">
                        <a:buNone/>
                      </a:pPr>
                      <a:r>
                        <a:rPr lang="en-US" sz="1050" b="1" dirty="0">
                          <a:solidFill>
                            <a:schemeClr val="bg1"/>
                          </a:solidFill>
                        </a:rPr>
                        <a:t>After (post-transfer)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tx2"/>
                    </a:solidFill>
                  </a:tcPr>
                </a:tc>
                <a:tc hMerge="1">
                  <a:tcPr/>
                </a:tc>
                <a:tc hMerge="1">
                  <a:tcPr/>
                </a:tc>
              </a:tr>
              <a:tr h="283464">
                <a:tc vMerge="1">
                  <a:tcPr/>
                </a:tc>
                <a:tc vMerge="1">
                  <a:tcPr/>
                </a:tc>
                <a:tc>
                  <a:txBody>
                    <a:bodyPr/>
                    <a:lstStyle/>
                    <a:p>
                      <a:pPr algn="ctr" indent="0" marL="0">
                        <a:buNone/>
                      </a:pPr>
                      <a:r>
                        <a:rPr lang="en-US" sz="1050" b="1" dirty="0">
                          <a:solidFill>
                            <a:schemeClr val="tx1"/>
                          </a:solidFill>
                        </a:rPr>
                        <a:t>BO</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rPr>
                        <a:t>BU</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2"/>
                          </a:solidFill>
                        </a:rPr>
                        <a:t>BO</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2"/>
                          </a:solidFill>
                        </a:rPr>
                        <a:t>BU</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2"/>
                          </a:solidFill>
                        </a:rPr>
                        <a:t>SO</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I-1  Identify issues and needs</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Direct</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I-2  Define business requirements</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Direct</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I-3  Evaluate solutions (system approach, fit with existing systems)</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IT-rel.</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I-4  Gather vendor information and quotes</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IT-rel.</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I-5  Estimate benefits and costs (BU: benefits, SO: costs)</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IT-rel.</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I-6  Prepare budget request and investment application</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IT-rel.</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I-7  Approve the investment</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gridSpan="3">
                  <a:txBody>
                    <a:bodyPr/>
                    <a:lstStyle/>
                    <a:p>
                      <a:pPr algn="ctr" indent="0" marL="0">
                        <a:buNone/>
                      </a:pPr>
                      <a:r>
                        <a:rPr lang="en-US" sz="1000" b="1" dirty="0">
                          <a:solidFill>
                            <a:schemeClr val="tx2"/>
                          </a:solidFill>
                        </a:rPr>
                        <a:t>Approver (under review in new IT governance tiers)</a:t>
                      </a:r>
                      <a:endParaRPr lang="en-US" sz="100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hMerge="1">
                  <a:tcPr/>
                </a:tc>
                <a:tc hMerge="1">
                  <a:tcPr/>
                </a:tc>
              </a:tr>
              <a:tr h="281354">
                <a:tc>
                  <a:txBody>
                    <a:bodyPr/>
                    <a:lstStyle/>
                    <a:p>
                      <a:pPr indent="0" marL="0">
                        <a:buNone/>
                      </a:pPr>
                      <a:r>
                        <a:rPr lang="en-US" sz="1050" dirty="0">
                          <a:solidFill>
                            <a:schemeClr val="tx1"/>
                          </a:solidFill>
                        </a:rPr>
                        <a:t>I-8  Select vendor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IT-rel.</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I-9  Conclude contract</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Indirect</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rPr>
                        <a:t>I</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A/R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I-10  Ordering, receiving and payment</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Indirect</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A/R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I-11  Run the project (progress, quality)</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IT-rel.</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I-12  Acceptance (meets business requirements?)</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Direct</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I-13  Review benefits (post-implementation)</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IT-rel.</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bl>
          </a:graphicData>
        </a:graphic>
      </p:graphicFrame>
      <p:sp>
        <p:nvSpPr>
          <p:cNvPr id="5" name="txt-195"/>
          <p:cNvSpPr txBox="1"/>
          <p:nvPr/>
        </p:nvSpPr>
        <p:spPr>
          <a:xfrm>
            <a:off x="457200" y="5650992"/>
            <a:ext cx="11274552" cy="749808"/>
          </a:xfrm>
          <a:prstGeom prst="rect">
            <a:avLst/>
          </a:prstGeom>
          <a:noFill/>
          <a:ln/>
        </p:spPr>
        <p:txBody>
          <a:bodyPr wrap="square" lIns="0" tIns="0" rIns="0" bIns="0" rtlCol="0" anchor="t"/>
          <a:lstStyle/>
          <a:p>
            <a:pPr marL="152400" indent="-152400">
              <a:spcAft>
                <a:spcPts val="300"/>
              </a:spcAft>
              <a:buSzPct val="100000"/>
              <a:buChar char="•"/>
            </a:pPr>
            <a:r>
              <a:rPr lang="en-US" sz="1000" dirty="0">
                <a:solidFill>
                  <a:schemeClr val="tx1"/>
                </a:solidFill>
              </a:rPr>
              <a:t>Before: the business side does the work alone (one pattern in this first version). If a case's actual Before differs, rewrite it before comparing</a:t>
            </a:r>
            <a:endParaRPr lang="en-US" sz="1100" dirty="0"/>
          </a:p>
          <a:p>
            <a:pPr marL="152400" indent="-152400">
              <a:spcAft>
                <a:spcPts val="300"/>
              </a:spcAft>
              <a:buSzPct val="100000"/>
              <a:buChar char="•"/>
            </a:pPr>
            <a:r>
              <a:rPr lang="en-US" sz="1000" dirty="0">
                <a:solidFill>
                  <a:schemeClr val="tx1"/>
                </a:solidFill>
              </a:rPr>
              <a:t>After: IT becomes more involved; A for direct and IT-related work stays with the BO. Shaded cells change from Before (blank means no longer involved)</a:t>
            </a:r>
            <a:endParaRPr lang="en-US" sz="1100" dirty="0"/>
          </a:p>
          <a:p>
            <a:pPr marL="152400" indent="-152400">
              <a:spcAft>
                <a:spcPts val="300"/>
              </a:spcAft>
              <a:buSzPct val="100000"/>
              <a:buChar char="•"/>
            </a:pPr>
            <a:r>
              <a:rPr lang="en-US" sz="1000" dirty="0">
                <a:solidFill>
                  <a:schemeClr val="tx1"/>
                </a:solidFill>
              </a:rPr>
              <a:t>Per-case customization: only the R / C split between BU and SO on IT-related rows, and when SO takes on R, may change. The A column and the direct/indirect rows are fixed</a:t>
            </a:r>
            <a:endParaRPr lang="en-US" sz="11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594360"/>
          </a:xfrm>
          <a:prstGeom prst="rect">
            <a:avLst/>
          </a:prstGeom>
          <a:noFill/>
          <a:ln/>
        </p:spPr>
        <p:txBody>
          <a:bodyPr wrap="square" lIns="0" tIns="0" rIns="0" bIns="0" rtlCol="0" anchor="ctr"/>
          <a:lstStyle/>
          <a:p>
            <a:pPr algn="l" indent="0" marL="0">
              <a:buNone/>
            </a:pPr>
            <a:r>
              <a:rPr lang="en-US" sz="2600" b="1" dirty="0">
                <a:solidFill>
                  <a:schemeClr val="tx2"/>
                </a:solidFill>
              </a:rPr>
              <a:t>RACI: Expense Process (Before → After)</a:t>
            </a:r>
            <a:endParaRPr lang="en-US" sz="2600" dirty="0"/>
          </a:p>
        </p:txBody>
      </p:sp>
      <p:sp>
        <p:nvSpPr>
          <p:cNvPr id="3" name="txt-196"/>
          <p:cNvSpPr txBox="1"/>
          <p:nvPr/>
        </p:nvSpPr>
        <p:spPr>
          <a:xfrm>
            <a:off x="457200" y="914400"/>
            <a:ext cx="11274552" cy="256032"/>
          </a:xfrm>
          <a:prstGeom prst="rect">
            <a:avLst/>
          </a:prstGeom>
          <a:noFill/>
          <a:ln/>
        </p:spPr>
        <p:txBody>
          <a:bodyPr wrap="square" lIns="0" tIns="0" rIns="0" bIns="0" rtlCol="0" anchor="t"/>
          <a:lstStyle/>
          <a:p>
            <a:pPr indent="0" marL="0">
              <a:buNone/>
            </a:pPr>
            <a:r>
              <a:rPr lang="en-US" sz="1000" dirty="0">
                <a:solidFill>
                  <a:schemeClr val="accent2"/>
                </a:solidFill>
              </a:rPr>
              <a:t>BO: Business Owner (dept. head)   BU: Business User   SO: System Owner (IT)     R: Responsible   A: Accountable   C: Consulted   I: Informed</a:t>
            </a:r>
            <a:endParaRPr lang="en-US" sz="1000" dirty="0"/>
          </a:p>
        </p:txBody>
      </p:sp>
      <p:graphicFrame>
        <p:nvGraphicFramePr>
          <p:cNvPr id="9" name="raci-197"/>
          <p:cNvGraphicFramePr>
            <a:graphicFrameLocks noGrp="1"/>
          </p:cNvGraphicFramePr>
          <p:nvPr>
            <p:extLst>
              <p:ext uri="{D42A27DB-BD31-4B8C-83A1-F6EECF244321}">
                <p14:modId xmlns:p14="http://schemas.microsoft.com/office/powerpoint/2010/main" val="1579011935"/>
              </p:ext>
            </p:extLst>
          </p:nvPr>
        </p:nvGraphicFramePr>
        <p:xfrm>
          <a:off x="457200" y="1261872"/>
          <a:ext cx="11274552" cy="914400"/>
        </p:xfrm>
        <a:graphic>
          <a:graphicData uri="http://schemas.openxmlformats.org/drawingml/2006/table">
            <a:tbl>
              <a:tblPr/>
              <a:tblGrid>
                <a:gridCol w="5971032"/>
                <a:gridCol w="822960"/>
                <a:gridCol w="868680"/>
                <a:gridCol w="868680"/>
                <a:gridCol w="914400"/>
                <a:gridCol w="914400"/>
                <a:gridCol w="914400"/>
              </a:tblGrid>
              <a:tr h="283464">
                <a:tc rowSpan="2">
                  <a:txBody>
                    <a:bodyPr/>
                    <a:lstStyle/>
                    <a:p>
                      <a:pPr algn="l" indent="0" marL="0">
                        <a:buNone/>
                      </a:pPr>
                      <a:r>
                        <a:rPr lang="en-US" sz="1050" b="1" dirty="0">
                          <a:solidFill>
                            <a:schemeClr val="bg1"/>
                          </a:solidFill>
                        </a:rPr>
                        <a:t>Activity</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tx2"/>
                    </a:solidFill>
                  </a:tcPr>
                </a:tc>
                <a:tc rowSpan="2">
                  <a:txBody>
                    <a:bodyPr/>
                    <a:lstStyle/>
                    <a:p>
                      <a:pPr algn="ctr" indent="0" marL="0">
                        <a:buNone/>
                      </a:pPr>
                      <a:r>
                        <a:rPr lang="en-US" sz="1050" b="1" dirty="0">
                          <a:solidFill>
                            <a:schemeClr val="bg1"/>
                          </a:solidFill>
                        </a:rPr>
                        <a:t>Layer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tx2"/>
                    </a:solidFill>
                  </a:tcPr>
                </a:tc>
                <a:tc gridSpan="2">
                  <a:txBody>
                    <a:bodyPr/>
                    <a:lstStyle/>
                    <a:p>
                      <a:pPr algn="ctr" indent="0" marL="0">
                        <a:buNone/>
                      </a:pPr>
                      <a:r>
                        <a:rPr lang="en-US" sz="1050" b="1" dirty="0">
                          <a:solidFill>
                            <a:schemeClr val="bg1"/>
                          </a:solidFill>
                        </a:rPr>
                        <a:t>Before (current)</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2"/>
                    </a:solidFill>
                  </a:tcPr>
                </a:tc>
                <a:tc hMerge="1">
                  <a:tcPr/>
                </a:tc>
                <a:tc gridSpan="3">
                  <a:txBody>
                    <a:bodyPr/>
                    <a:lstStyle/>
                    <a:p>
                      <a:pPr algn="ctr" indent="0" marL="0">
                        <a:buNone/>
                      </a:pPr>
                      <a:r>
                        <a:rPr lang="en-US" sz="1050" b="1" dirty="0">
                          <a:solidFill>
                            <a:schemeClr val="bg1"/>
                          </a:solidFill>
                        </a:rPr>
                        <a:t>After (post-transfer)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tx2"/>
                    </a:solidFill>
                  </a:tcPr>
                </a:tc>
                <a:tc hMerge="1">
                  <a:tcPr/>
                </a:tc>
                <a:tc hMerge="1">
                  <a:tcPr/>
                </a:tc>
              </a:tr>
              <a:tr h="283464">
                <a:tc vMerge="1">
                  <a:tcPr/>
                </a:tc>
                <a:tc vMerge="1">
                  <a:tcPr/>
                </a:tc>
                <a:tc>
                  <a:txBody>
                    <a:bodyPr/>
                    <a:lstStyle/>
                    <a:p>
                      <a:pPr algn="ctr" indent="0" marL="0">
                        <a:buNone/>
                      </a:pPr>
                      <a:r>
                        <a:rPr lang="en-US" sz="1050" b="1" dirty="0">
                          <a:solidFill>
                            <a:schemeClr val="tx1"/>
                          </a:solidFill>
                        </a:rPr>
                        <a:t>BO</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rPr>
                        <a:t>BU</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2"/>
                          </a:solidFill>
                        </a:rPr>
                        <a:t>BO</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2"/>
                          </a:solidFill>
                        </a:rPr>
                        <a:t>BU</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2"/>
                          </a:solidFill>
                        </a:rPr>
                        <a:t>SO</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310896">
                <a:tc>
                  <a:txBody>
                    <a:bodyPr/>
                    <a:lstStyle/>
                    <a:p>
                      <a:pPr indent="0" marL="0">
                        <a:buNone/>
                      </a:pPr>
                      <a:r>
                        <a:rPr lang="en-US" sz="1050" dirty="0">
                          <a:solidFill>
                            <a:schemeClr val="tx1"/>
                          </a:solidFill>
                        </a:rPr>
                        <a:t>E-1  Work using the system</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Direct</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r>
              <a:tr h="310896">
                <a:tc>
                  <a:txBody>
                    <a:bodyPr/>
                    <a:lstStyle/>
                    <a:p>
                      <a:pPr indent="0" marL="0">
                        <a:buNone/>
                      </a:pPr>
                      <a:r>
                        <a:rPr lang="en-US" sz="1050" dirty="0">
                          <a:solidFill>
                            <a:schemeClr val="tx1"/>
                          </a:solidFill>
                        </a:rPr>
                        <a:t>E-2  Department-run operations (user and access management)</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Direct</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310896">
                <a:tc>
                  <a:txBody>
                    <a:bodyPr/>
                    <a:lstStyle/>
                    <a:p>
                      <a:pPr indent="0" marL="0">
                        <a:buNone/>
                      </a:pPr>
                      <a:r>
                        <a:rPr lang="en-US" sz="1050" dirty="0">
                          <a:solidFill>
                            <a:schemeClr val="tx1"/>
                          </a:solidFill>
                        </a:rPr>
                        <a:t>E-3  Budget planning and spend control</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Indirect</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rPr>
                        <a:t>I</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A/R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310896">
                <a:tc>
                  <a:txBody>
                    <a:bodyPr/>
                    <a:lstStyle/>
                    <a:p>
                      <a:pPr indent="0" marL="0">
                        <a:buNone/>
                      </a:pPr>
                      <a:r>
                        <a:rPr lang="en-US" sz="1050" dirty="0">
                          <a:solidFill>
                            <a:schemeClr val="tx1"/>
                          </a:solidFill>
                        </a:rPr>
                        <a:t>E-4  Contract renewal, change and termination procedures</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Indirect</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A/R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310896">
                <a:tc>
                  <a:txBody>
                    <a:bodyPr/>
                    <a:lstStyle/>
                    <a:p>
                      <a:pPr indent="0" marL="0">
                        <a:buNone/>
                      </a:pPr>
                      <a:r>
                        <a:rPr lang="en-US" sz="1050" dirty="0">
                          <a:solidFill>
                            <a:schemeClr val="tx1"/>
                          </a:solidFill>
                        </a:rPr>
                        <a:t>E-5  Receive and pay invoices</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Indirect</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A/R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310896">
                <a:tc>
                  <a:txBody>
                    <a:bodyPr/>
                    <a:lstStyle/>
                    <a:p>
                      <a:pPr indent="0" marL="0">
                        <a:buNone/>
                      </a:pPr>
                      <a:r>
                        <a:rPr lang="en-US" sz="1050" dirty="0">
                          <a:solidFill>
                            <a:schemeClr val="tx1"/>
                          </a:solidFill>
                        </a:rPr>
                        <a:t>E-6  Instruct vendors and receive reports (contract management)</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Indirect</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A/R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310896">
                <a:tc>
                  <a:txBody>
                    <a:bodyPr/>
                    <a:lstStyle/>
                    <a:p>
                      <a:pPr indent="0" marL="0">
                        <a:buNone/>
                      </a:pPr>
                      <a:r>
                        <a:rPr lang="en-US" sz="1050" dirty="0">
                          <a:solidFill>
                            <a:schemeClr val="tx1"/>
                          </a:solidFill>
                        </a:rPr>
                        <a:t>E-7  Monitor operations (SLA, incidents, usage)</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IT-rel.</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310896">
                <a:tc>
                  <a:txBody>
                    <a:bodyPr/>
                    <a:lstStyle/>
                    <a:p>
                      <a:pPr indent="0" marL="0">
                        <a:buNone/>
                      </a:pPr>
                      <a:r>
                        <a:rPr lang="en-US" sz="1050" dirty="0">
                          <a:solidFill>
                            <a:schemeClr val="tx1"/>
                          </a:solidFill>
                        </a:rPr>
                        <a:t>E-8  Improvement (BU: requests, SO: triage and delivery)</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IT-rel.</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310896">
                <a:tc>
                  <a:txBody>
                    <a:bodyPr/>
                    <a:lstStyle/>
                    <a:p>
                      <a:pPr indent="0" marL="0">
                        <a:buNone/>
                      </a:pPr>
                      <a:r>
                        <a:rPr lang="en-US" sz="1050" dirty="0">
                          <a:solidFill>
                            <a:schemeClr val="tx1"/>
                          </a:solidFill>
                        </a:rPr>
                        <a:t>E-9  Contract review (usage, license count, alternatives, renewal decision)</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IT-rel.</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310896">
                <a:tc>
                  <a:txBody>
                    <a:bodyPr/>
                    <a:lstStyle/>
                    <a:p>
                      <a:pPr indent="0" marL="0">
                        <a:buNone/>
                      </a:pPr>
                      <a:r>
                        <a:rPr lang="en-US" sz="1050" dirty="0">
                          <a:solidFill>
                            <a:schemeClr val="tx1"/>
                          </a:solidFill>
                        </a:rPr>
                        <a:t>E-10  Evaluate vendors</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IT-rel.</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310896">
                <a:tc>
                  <a:txBody>
                    <a:bodyPr/>
                    <a:lstStyle/>
                    <a:p>
                      <a:pPr indent="0" marL="0">
                        <a:buNone/>
                      </a:pPr>
                      <a:r>
                        <a:rPr lang="en-US" sz="1050" dirty="0">
                          <a:solidFill>
                            <a:schemeClr val="tx1"/>
                          </a:solidFill>
                        </a:rPr>
                        <a:t>E-11  GxP change control</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IT-rel.</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bl>
          </a:graphicData>
        </a:graphic>
      </p:graphicFrame>
      <p:sp>
        <p:nvSpPr>
          <p:cNvPr id="5" name="txt-198"/>
          <p:cNvSpPr txBox="1"/>
          <p:nvPr/>
        </p:nvSpPr>
        <p:spPr>
          <a:xfrm>
            <a:off x="457200" y="5413248"/>
            <a:ext cx="11274552" cy="987552"/>
          </a:xfrm>
          <a:prstGeom prst="rect">
            <a:avLst/>
          </a:prstGeom>
          <a:noFill/>
          <a:ln/>
        </p:spPr>
        <p:txBody>
          <a:bodyPr wrap="square" lIns="0" tIns="0" rIns="0" bIns="0" rtlCol="0" anchor="t"/>
          <a:lstStyle/>
          <a:p>
            <a:pPr marL="152400" indent="-152400">
              <a:spcAft>
                <a:spcPts val="300"/>
              </a:spcAft>
              <a:buSzPct val="100000"/>
              <a:buChar char="•"/>
            </a:pPr>
            <a:r>
              <a:rPr lang="en-US" sz="1000" dirty="0">
                <a:solidFill>
                  <a:schemeClr val="tx1"/>
                </a:solidFill>
              </a:rPr>
              <a:t>Before: the business side does the work alone (one pattern in this first version). If a case's actual Before differs, rewrite it before comparing</a:t>
            </a:r>
            <a:endParaRPr lang="en-US" sz="1100" dirty="0"/>
          </a:p>
          <a:p>
            <a:pPr marL="152400" indent="-152400">
              <a:spcAft>
                <a:spcPts val="300"/>
              </a:spcAft>
              <a:buSzPct val="100000"/>
              <a:buChar char="•"/>
            </a:pPr>
            <a:r>
              <a:rPr lang="en-US" sz="1000" dirty="0">
                <a:solidFill>
                  <a:schemeClr val="tx1"/>
                </a:solidFill>
              </a:rPr>
              <a:t>After: IT becomes more involved; A for direct and IT-related work stays with the BO. Shaded cells change from Before (blank means no longer involved)</a:t>
            </a:r>
            <a:endParaRPr lang="en-US" sz="1100" dirty="0"/>
          </a:p>
          <a:p>
            <a:pPr marL="152400" indent="-152400">
              <a:spcAft>
                <a:spcPts val="300"/>
              </a:spcAft>
              <a:buSzPct val="100000"/>
              <a:buChar char="•"/>
            </a:pPr>
            <a:r>
              <a:rPr lang="en-US" sz="1000" dirty="0">
                <a:solidFill>
                  <a:schemeClr val="tx1"/>
                </a:solidFill>
              </a:rPr>
              <a:t>Per-case customization: only the R / C split between BU and SO on IT-related rows, and when SO takes on R, may change. The A column and the direct/indirect rows are fixed</a:t>
            </a:r>
            <a:endParaRPr lang="en-US" sz="1100" dirty="0"/>
          </a:p>
          <a:p>
            <a:pPr marL="152400" indent="-152400">
              <a:spcAft>
                <a:spcPts val="300"/>
              </a:spcAft>
              <a:buSzPct val="100000"/>
              <a:buChar char="•"/>
            </a:pPr>
            <a:r>
              <a:rPr lang="en-US" sz="1000" dirty="0">
                <a:solidFill>
                  <a:schemeClr val="tx1"/>
                </a:solidFill>
              </a:rPr>
              <a:t>E-11 normally also requires Quality Assurance involvement (omitted in this table)</a:t>
            </a:r>
            <a:endParaRPr lang="en-US" sz="11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BTR Kickoff">
  <a:themeElements>
    <a:clrScheme name="BTR Kickoff">
      <a:dk1>
        <a:srgbClr val="222B38"/>
      </a:dk1>
      <a:lt1>
        <a:srgbClr val="FFFFFF"/>
      </a:lt1>
      <a:dk2>
        <a:srgbClr val="1C2B45"/>
      </a:dk2>
      <a:lt2>
        <a:srgbClr val="F4F6F9"/>
      </a:lt2>
      <a:accent1>
        <a:srgbClr val="1C2B45"/>
      </a:accent1>
      <a:accent2>
        <a:srgbClr val="5E7391"/>
      </a:accent2>
      <a:accent3>
        <a:srgbClr val="9AA5B5"/>
      </a:accent3>
      <a:accent4>
        <a:srgbClr val="DDE5F2"/>
      </a:accent4>
      <a:accent5>
        <a:srgbClr val="3F4F6A"/>
      </a:accent5>
      <a:accent6>
        <a:srgbClr val="999999"/>
      </a:accent6>
      <a:hlink>
        <a:srgbClr val="1C2B45"/>
      </a:hlink>
      <a:folHlink>
        <a:srgbClr val="5E7391"/>
      </a:folHlink>
    </a:clrScheme>
    <a:fontScheme name="BTR Kickoff">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Budget Transfer Kickoff</dc:title>
  <dc:subject>PptxGenJS Presentation</dc:subject>
  <dc:creator>Budget Transfer Office</dc:creator>
  <cp:lastModifiedBy>Budget Transfer Office</cp:lastModifiedBy>
  <cp:revision>1</cp:revision>
  <dcterms:created xsi:type="dcterms:W3CDTF">2026-10-12T04:50:14Z</dcterms:created>
  <dcterms:modified xsi:type="dcterms:W3CDTF">2026-10-12T04:50:14Z</dcterms:modified>
</cp:coreProperties>
</file>