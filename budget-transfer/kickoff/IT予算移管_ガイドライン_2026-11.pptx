
<file path=[Content_Types].xml><?xml version="1.0" encoding="utf-8"?>
<Types xmlns="http://schemas.openxmlformats.org/package/2006/content-types">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slides/slide2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82" r:id="rId117"/>
    <p:sldId id="283" r:id="rId118"/>
    <p:sldId id="269" r:id="rId104"/>
    <p:sldId id="257" r:id="rId7"/>
    <p:sldId id="258" r:id="rId8"/>
    <p:sldId id="259" r:id="rId9"/>
    <p:sldId id="260" r:id="rId10"/>
    <p:sldId id="273" r:id="rId108"/>
    <p:sldId id="270" r:id="rId105"/>
    <p:sldId id="261" r:id="rId11"/>
    <p:sldId id="262" r:id="rId12"/>
    <p:sldId id="263" r:id="rId13"/>
    <p:sldId id="279" r:id="rId114"/>
    <p:sldId id="280" r:id="rId115"/>
    <p:sldId id="264" r:id="rId14"/>
    <p:sldId id="265" r:id="rId15"/>
    <p:sldId id="274" r:id="rId109"/>
    <p:sldId id="271" r:id="rId106"/>
    <p:sldId id="267" r:id="rId102"/>
    <p:sldId id="266" r:id="rId101"/>
    <p:sldId id="268" r:id="rId103"/>
    <p:sldId id="275" r:id="rId110"/>
    <p:sldId id="272" r:id="rId107"/>
    <p:sldId id="276" r:id="rId111"/>
    <p:sldId id="277" r:id="rId112"/>
    <p:sldId id="278" r:id="rId11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表紙" id="{409EA2B5-F2A7-4CB5-82BA-641B7F0CD0B6}">
          <p14:sldIdLst>
            <p14:sldId id="256"/>
            <p14:sldId id="282"/>
            <p14:sldId id="283"/>
          </p14:sldIdLst>
        </p14:section>
        <p14:section name="第1章 予算移管の方針と進め方" id="{21F2759C-30DB-4622-835D-072BEE233D36}">
          <p14:sldIdLst>
            <p14:sldId id="269"/>
            <p14:sldId id="257"/>
            <p14:sldId id="258"/>
            <p14:sldId id="259"/>
            <p14:sldId id="260"/>
            <p14:sldId id="273"/>
          </p14:sldIdLst>
        </p14:section>
        <p14:section name="第2章 移管後の体制と役割" id="{3B745467-87E7-42D2-8B4B-1BA428B43514}">
          <p14:sldIdLst>
            <p14:sldId id="270"/>
            <p14:sldId id="261"/>
            <p14:sldId id="262"/>
            <p14:sldId id="263"/>
            <p14:sldId id="279"/>
            <p14:sldId id="280"/>
            <p14:sldId id="264"/>
            <p14:sldId id="265"/>
            <p14:sldId id="274"/>
          </p14:sldIdLst>
        </p14:section>
        <p14:section name="第3章 固定資産の扱い" id="{7F319247-5CD6-4AF9-B288-B32F66FBC758}">
          <p14:sldIdLst>
            <p14:sldId id="271"/>
            <p14:sldId id="267"/>
            <p14:sldId id="266"/>
            <p14:sldId id="268"/>
            <p14:sldId id="275"/>
          </p14:sldIdLst>
        </p14:section>
        <p14:section name="第4章 コミュニケーション" id="{2E6EC121-7A99-48C5-8A06-6F325F29FE3E}">
          <p14:sldIdLst>
            <p14:sldId id="272"/>
            <p14:sldId id="276"/>
            <p14:sldId id="277"/>
            <p14:sldId id="278"/>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8A727C-A965-479B-B08A-54D43AD2AD89}">
  <a:tblStyle styleId="{578A727C-A965-479B-B08A-54D43AD2A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5.xml"/><Relationship Id="rId15" Type="http://schemas.openxmlformats.org/officeDocument/2006/relationships/slide" Target="slides/slide16.xml"/><Relationship Id="rId101" Type="http://schemas.openxmlformats.org/officeDocument/2006/relationships/slide" Target="slides/slide20.xml"/><Relationship Id="rId102" Type="http://schemas.openxmlformats.org/officeDocument/2006/relationships/slide" Target="slides/slide19.xml"/><Relationship Id="rId103" Type="http://schemas.openxmlformats.org/officeDocument/2006/relationships/slide" Target="slides/slide21.xml"/><Relationship Id="rId104" Type="http://schemas.openxmlformats.org/officeDocument/2006/relationships/slide" Target="slides/slide3.xml"/><Relationship Id="rId105" Type="http://schemas.openxmlformats.org/officeDocument/2006/relationships/slide" Target="slides/slide9.xml"/><Relationship Id="rId106" Type="http://schemas.openxmlformats.org/officeDocument/2006/relationships/slide" Target="slides/slide18.xml"/><Relationship Id="rId107" Type="http://schemas.openxmlformats.org/officeDocument/2006/relationships/slide" Target="slides/slide23.xml"/><Relationship Id="rId108" Type="http://schemas.openxmlformats.org/officeDocument/2006/relationships/slide" Target="slides/slide8.xml"/><Relationship Id="rId109" Type="http://schemas.openxmlformats.org/officeDocument/2006/relationships/slide" Target="slides/slide17.xml"/><Relationship Id="rId110" Type="http://schemas.openxmlformats.org/officeDocument/2006/relationships/slide" Target="slides/slide22.xml"/><Relationship Id="rId111" Type="http://schemas.openxmlformats.org/officeDocument/2006/relationships/slide" Target="slides/slide24.xml"/><Relationship Id="rId112" Type="http://schemas.openxmlformats.org/officeDocument/2006/relationships/slide" Target="slides/slide25.xml"/><Relationship Id="rId113" Type="http://schemas.openxmlformats.org/officeDocument/2006/relationships/slide" Target="slides/slide26.xml"/><Relationship Id="rId114" Type="http://schemas.openxmlformats.org/officeDocument/2006/relationships/slide" Target="slides/slide13.xml"/><Relationship Id="rId115" Type="http://schemas.openxmlformats.org/officeDocument/2006/relationships/slide" Target="slides/slide14.xml"/><Relationship Id="rId117" Type="http://schemas.openxmlformats.org/officeDocument/2006/relationships/slide" Target="slides/slide2.xml"/>  <Relationship Id="rId118" Type="http://schemas.openxmlformats.org/officeDocument/2006/relationships/slide" Target="slides/slide2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このガイドラインは、来年度予算からの IT予算移管を、IT部門の各チームが普段の業務の中で進めるときの拠り所です。予算移管はプロジェクトではなく、専用の体制も作りません。全社で決まっている方針は守り、それ以外の進め方は、カウンターパートのビジネス部門と合意して決めてください。</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本題に入る前に、IT部門の担当者にとっても、移管元のビジネス側にとっても一番気になっていることに先にお答えします。1つ目、例外はありません。すべての予算を1月1日に一括で移します。承認済みの文書で担当が定められ、変更に正式な手続きが要る業務だけは、手続きが終わるまで今の担当が続けますが、予算は移ります。2つ目、最終責任の A は部門に残ります。IT部門が担うのは間接業務と、IT関連業務の実務です。案件ごとに変えられる範囲は決めてあり、移管元の責任者が合意文書を承認して確定します。</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今期の目標は、移管の稟議が12月末までに承認されることです。移管による効果の創出は、来期に改めて検討します。移管は全社の方針として決まっており、すべての予算を1月1日に一括で移します。承認済みの文書で担当が定められた業務は、手続きが終わるまで経過措置として今の担当が続けますが、予算は移ります。12月末にすべてが終わっている必要はなく、前提は3つだけです。</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月と12月の進め方の目安です。窓口担当は①から④を順に進めます。日付は目安で、カウンターパートのビジネス部門と合意して調整してください。守るのは、12月末までに移管の稟議が承認されることです。事務局は毎日ステータスを確認し、部門の案件のステータスが埋まったところから稟議を起票します。1月以降は、経過措置の業務について、担当の変更の手続き（GxP の変更管理など）の完了が残ります。</a:t>
            </a:r>
            <a:endParaRP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窓口担当の方の手引きです。7枚目の①から④に対応しています。それぞれに成果物の例を示しましたが、進め方と成果物の形は、カウンターパートのビジネス部門と合意して決めてください。進捗は予算移管シートで共有しますので、ステータスは条件を満たしたらその都度更新してください。</a:t>
            </a:r>
            <a:endParaRPr/>
          </a:p>
        </p:txBody>
      </p:sp>
      <p:sp>
        <p:nvSpPr>
          <p:cNvPr id="150" name="Google Shape;15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業務を3つの層で考えます。直接業務は部門の本来の業務なので移しません。間接業務は予算に付いてくる手続きなので IT部門に移します。その間にあるIT関連業務は、次の2枚の RACI テンプレートを案件ごとにカスタマイズして、移管元の責任者と合意し、文書として残します。どの層でも、最終責任の A はプロセスオーナーに残ります。</a:t>
            </a:r>
            <a:endParaRP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IT投資プロセスの RACI です。これまで IT関連業務は、部門が実務を担い、IT部門は相談を受けて関わってきました。移管後も部門は実務（R）を持ち続け、IT部門の SO も R を担って協力します。どちらかが C に下がって相手に任せる形にはしません。活動名の括弧内に、協力して行う内容を示しています。どちらがどこまでを担うかは、案件ごとに協議して決めます。Transition の期間に SO が R を持ち始め、上限は2027年度末です。間接業務は IT部門が担います。A が PO に残ることは合意の対象にしません。</a:t>
            </a:r>
            <a:endParaRPr/>
          </a:p>
        </p:txBody>
      </p:sp>
      <p:sp>
        <p:nvSpPr>
          <p:cNvPr id="253" name="Google Shape;2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経費プロセスの RACI です。間接業務は1月から IT部門が担います。サービスレベルの要求、ライセンスの割当てなどの利用ルール、契約を続けるかどうかは、部門が決める直接業務として残します。SO はその材料を整え、運用のモニタリングや改善の実施を担います。改善とベンダーの評価は、部門と SO の両方が R を持ち、協力して行います。Transition の考え方は IT投資プロセスと同じです。</a:t>
            </a:r>
            <a:endParaRPr/>
          </a:p>
        </p:txBody>
      </p:sp>
      <p:sp>
        <p:nvSpPr>
          <p:cNvPr id="267" name="Google Shape;2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dk2"/>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731520" y="2286000"/>
            <a:ext cx="106984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383280"/>
            <a:ext cx="1069848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4"/>
              </a:buClr>
              <a:buSzPts val="1600"/>
              <a:buFont typeface="Arial"/>
              <a:buNone/>
              <a:defRPr b="0" i="0" sz="1600" u="none" cap="none" strike="noStrike">
                <a:solidFill>
                  <a:schemeClr val="accent4"/>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74320"/>
            <a:ext cx="11274552"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600"/>
              <a:buFont typeface="Arial"/>
              <a:buNone/>
              <a:defRPr b="1" i="0" sz="26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chemeClr val="accent3"/>
                </a:solidFill>
                <a:latin typeface="Arial"/>
                <a:ea typeface="Arial"/>
                <a:cs typeface="Arial"/>
                <a:sym typeface="Arial"/>
              </a:defRPr>
            </a:lvl1pPr>
            <a:lvl2pPr indent="0" lvl="1" marL="0" marR="0" algn="r">
              <a:spcBef>
                <a:spcPts val="0"/>
              </a:spcBef>
              <a:buNone/>
              <a:defRPr b="0" i="0" sz="900" u="none" cap="none" strike="noStrike">
                <a:solidFill>
                  <a:schemeClr val="accent3"/>
                </a:solidFill>
                <a:latin typeface="Arial"/>
                <a:ea typeface="Arial"/>
                <a:cs typeface="Arial"/>
                <a:sym typeface="Arial"/>
              </a:defRPr>
            </a:lvl2pPr>
            <a:lvl3pPr indent="0" lvl="2" marL="0" marR="0" algn="r">
              <a:spcBef>
                <a:spcPts val="0"/>
              </a:spcBef>
              <a:buNone/>
              <a:defRPr b="0" i="0" sz="900" u="none" cap="none" strike="noStrike">
                <a:solidFill>
                  <a:schemeClr val="accent3"/>
                </a:solidFill>
                <a:latin typeface="Arial"/>
                <a:ea typeface="Arial"/>
                <a:cs typeface="Arial"/>
                <a:sym typeface="Arial"/>
              </a:defRPr>
            </a:lvl3pPr>
            <a:lvl4pPr indent="0" lvl="3" marL="0" marR="0" algn="r">
              <a:spcBef>
                <a:spcPts val="0"/>
              </a:spcBef>
              <a:buNone/>
              <a:defRPr b="0" i="0" sz="900" u="none" cap="none" strike="noStrike">
                <a:solidFill>
                  <a:schemeClr val="accent3"/>
                </a:solidFill>
                <a:latin typeface="Arial"/>
                <a:ea typeface="Arial"/>
                <a:cs typeface="Arial"/>
                <a:sym typeface="Arial"/>
              </a:defRPr>
            </a:lvl4pPr>
            <a:lvl5pPr indent="0" lvl="4" marL="0" marR="0" algn="r">
              <a:spcBef>
                <a:spcPts val="0"/>
              </a:spcBef>
              <a:buNone/>
              <a:defRPr b="0" i="0" sz="900" u="none" cap="none" strike="noStrike">
                <a:solidFill>
                  <a:schemeClr val="accent3"/>
                </a:solidFill>
                <a:latin typeface="Arial"/>
                <a:ea typeface="Arial"/>
                <a:cs typeface="Arial"/>
                <a:sym typeface="Arial"/>
              </a:defRPr>
            </a:lvl5pPr>
            <a:lvl6pPr indent="0" lvl="5" marL="0" marR="0" algn="r">
              <a:spcBef>
                <a:spcPts val="0"/>
              </a:spcBef>
              <a:buNone/>
              <a:defRPr b="0" i="0" sz="900" u="none" cap="none" strike="noStrike">
                <a:solidFill>
                  <a:schemeClr val="accent3"/>
                </a:solidFill>
                <a:latin typeface="Arial"/>
                <a:ea typeface="Arial"/>
                <a:cs typeface="Arial"/>
                <a:sym typeface="Arial"/>
              </a:defRPr>
            </a:lvl6pPr>
            <a:lvl7pPr indent="0" lvl="6" marL="0" marR="0" algn="r">
              <a:spcBef>
                <a:spcPts val="0"/>
              </a:spcBef>
              <a:buNone/>
              <a:defRPr b="0" i="0" sz="900" u="none" cap="none" strike="noStrike">
                <a:solidFill>
                  <a:schemeClr val="accent3"/>
                </a:solidFill>
                <a:latin typeface="Arial"/>
                <a:ea typeface="Arial"/>
                <a:cs typeface="Arial"/>
                <a:sym typeface="Arial"/>
              </a:defRPr>
            </a:lvl7pPr>
            <a:lvl8pPr indent="0" lvl="7" marL="0" marR="0" algn="r">
              <a:spcBef>
                <a:spcPts val="0"/>
              </a:spcBef>
              <a:buNone/>
              <a:defRPr b="0" i="0" sz="900" u="none" cap="none" strike="noStrike">
                <a:solidFill>
                  <a:schemeClr val="accent3"/>
                </a:solidFill>
                <a:latin typeface="Arial"/>
                <a:ea typeface="Arial"/>
                <a:cs typeface="Arial"/>
                <a:sym typeface="Arial"/>
              </a:defRPr>
            </a:lvl8pPr>
            <a:lvl9pPr indent="0" lvl="8" marL="0" marR="0" algn="r">
              <a:spcBef>
                <a:spcPts val="0"/>
              </a:spcBef>
              <a:buNone/>
              <a:defRPr b="0" i="0" sz="9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rtlCol="0"/>
          <a:lstStyle>
            <a:lvl1pPr algn="l" indent="0" marL="0">
              <a:buNone/>
              <a:defRPr lang="en-US" sz="2600" b="1" dirty="0">
                <a:solidFill>
                  <a:srgbClr val="1C2B45"/>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457200" y="896112"/>
            <a:ext cx="11274552" cy="411480"/>
          </a:xfrm>
          <a:prstGeom prst="rect">
            <a:avLst/>
          </a:prstGeom>
          <a:noFill/>
          <a:ln/>
        </p:spPr>
        <p:txBody>
          <a:bodyPr wrap="square" rtlCol="0"/>
          <a:lstStyle>
            <a:lvl1pPr indent="0" marL="0">
              <a:buNone/>
              <a:defRPr lang="en-US" sz="1400" dirty="0">
                <a:solidFill>
                  <a:srgbClr val="222B38"/>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chemeClr val="accent3"/>
                </a:solidFill>
                <a:latin typeface="Arial"/>
                <a:ea typeface="Arial"/>
                <a:cs typeface="Arial"/>
                <a:sym typeface="Arial"/>
              </a:defRPr>
            </a:lvl1pPr>
            <a:lvl2pPr indent="0" lvl="1" marL="0" marR="0" rtl="0" algn="r">
              <a:spcBef>
                <a:spcPts val="0"/>
              </a:spcBef>
              <a:buNone/>
              <a:defRPr b="0" i="0" sz="900" u="none" cap="none" strike="noStrike">
                <a:solidFill>
                  <a:schemeClr val="accent3"/>
                </a:solidFill>
                <a:latin typeface="Arial"/>
                <a:ea typeface="Arial"/>
                <a:cs typeface="Arial"/>
                <a:sym typeface="Arial"/>
              </a:defRPr>
            </a:lvl2pPr>
            <a:lvl3pPr indent="0" lvl="2" marL="0" marR="0" rtl="0" algn="r">
              <a:spcBef>
                <a:spcPts val="0"/>
              </a:spcBef>
              <a:buNone/>
              <a:defRPr b="0" i="0" sz="900" u="none" cap="none" strike="noStrike">
                <a:solidFill>
                  <a:schemeClr val="accent3"/>
                </a:solidFill>
                <a:latin typeface="Arial"/>
                <a:ea typeface="Arial"/>
                <a:cs typeface="Arial"/>
                <a:sym typeface="Arial"/>
              </a:defRPr>
            </a:lvl3pPr>
            <a:lvl4pPr indent="0" lvl="3" marL="0" marR="0" rtl="0" algn="r">
              <a:spcBef>
                <a:spcPts val="0"/>
              </a:spcBef>
              <a:buNone/>
              <a:defRPr b="0" i="0" sz="900" u="none" cap="none" strike="noStrike">
                <a:solidFill>
                  <a:schemeClr val="accent3"/>
                </a:solidFill>
                <a:latin typeface="Arial"/>
                <a:ea typeface="Arial"/>
                <a:cs typeface="Arial"/>
                <a:sym typeface="Arial"/>
              </a:defRPr>
            </a:lvl4pPr>
            <a:lvl5pPr indent="0" lvl="4" marL="0" marR="0" rtl="0" algn="r">
              <a:spcBef>
                <a:spcPts val="0"/>
              </a:spcBef>
              <a:buNone/>
              <a:defRPr b="0" i="0" sz="900" u="none" cap="none" strike="noStrike">
                <a:solidFill>
                  <a:schemeClr val="accent3"/>
                </a:solidFill>
                <a:latin typeface="Arial"/>
                <a:ea typeface="Arial"/>
                <a:cs typeface="Arial"/>
                <a:sym typeface="Arial"/>
              </a:defRPr>
            </a:lvl5pPr>
            <a:lvl6pPr indent="0" lvl="5" marL="0" marR="0" rtl="0" algn="r">
              <a:spcBef>
                <a:spcPts val="0"/>
              </a:spcBef>
              <a:buNone/>
              <a:defRPr b="0" i="0" sz="900" u="none" cap="none" strike="noStrike">
                <a:solidFill>
                  <a:schemeClr val="accent3"/>
                </a:solidFill>
                <a:latin typeface="Arial"/>
                <a:ea typeface="Arial"/>
                <a:cs typeface="Arial"/>
                <a:sym typeface="Arial"/>
              </a:defRPr>
            </a:lvl6pPr>
            <a:lvl7pPr indent="0" lvl="6" marL="0" marR="0" rtl="0" algn="r">
              <a:spcBef>
                <a:spcPts val="0"/>
              </a:spcBef>
              <a:buNone/>
              <a:defRPr b="0" i="0" sz="900" u="none" cap="none" strike="noStrike">
                <a:solidFill>
                  <a:schemeClr val="accent3"/>
                </a:solidFill>
                <a:latin typeface="Arial"/>
                <a:ea typeface="Arial"/>
                <a:cs typeface="Arial"/>
                <a:sym typeface="Arial"/>
              </a:defRPr>
            </a:lvl7pPr>
            <a:lvl8pPr indent="0" lvl="7" marL="0" marR="0" rtl="0" algn="r">
              <a:spcBef>
                <a:spcPts val="0"/>
              </a:spcBef>
              <a:buNone/>
              <a:defRPr b="0" i="0" sz="900" u="none" cap="none" strike="noStrike">
                <a:solidFill>
                  <a:schemeClr val="accent3"/>
                </a:solidFill>
                <a:latin typeface="Arial"/>
                <a:ea typeface="Arial"/>
                <a:cs typeface="Arial"/>
                <a:sym typeface="Arial"/>
              </a:defRPr>
            </a:lvl8pPr>
            <a:lvl9pPr indent="0" lvl="8" marL="0" marR="0" rtl="0" algn="r">
              <a:spcBef>
                <a:spcPts val="0"/>
              </a:spcBef>
              <a:buNone/>
              <a:defRPr b="0" i="0" sz="9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731520" y="2286000"/>
            <a:ext cx="1069848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US" sz="3600">
                <a:solidFill>
                  <a:schemeClr val="lt1"/>
                </a:solidFill>
              </a:rPr>
              <a:t>IT予算移管 ガイドライン</a:t>
            </a:r>
            <a:endParaRPr sz="3600"/>
          </a:p>
        </p:txBody>
      </p:sp>
      <p:sp>
        <p:nvSpPr>
          <p:cNvPr id="24" name="Google Shape;24;p5"/>
          <p:cNvSpPr txBox="1"/>
          <p:nvPr>
            <p:ph idx="1" type="body"/>
          </p:nvPr>
        </p:nvSpPr>
        <p:spPr>
          <a:xfrm>
            <a:off x="731520" y="3383280"/>
            <a:ext cx="1069848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600"/>
              <a:buNone/>
            </a:pPr>
            <a:r>
              <a:rPr lang="en-US" sz="1600">
                <a:solidFill>
                  <a:schemeClr val="accent4"/>
                </a:solidFill>
              </a:rPr>
              <a:t>IT部門 各チーム向け</a:t>
            </a:r>
            <a:endParaRPr sz="1600"/>
          </a:p>
          <a:p>
            <a:pPr indent="0" lvl="0" marL="0" rtl="0" algn="l">
              <a:spcBef>
                <a:spcPts val="320"/>
              </a:spcBef>
              <a:spcAft>
                <a:spcPts val="0"/>
              </a:spcAft>
              <a:buClr>
                <a:schemeClr val="accent4"/>
              </a:buClr>
              <a:buSzPts val="1600"/>
              <a:buNone/>
            </a:pPr>
            <a:r>
              <a:rPr lang="en-US" sz="1600">
                <a:solidFill>
                  <a:schemeClr val="accent4"/>
                </a:solidFill>
              </a:rPr>
              <a:t>2026年11月　予算移管事務局</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本書の位置付け</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本書は「IT部門向け予算ガイドライン」の下位にあたる、IT予算移管の実務のガイドライン。上位の定めが優先する</a:t>
            </a:r>
          </a:p>
        </p:txBody>
      </p:sp>
      <p:sp>
        <p:nvSpPr>
          <p:cNvPr id="5" name="Shape 5"/>
          <p:cNvSpPr/>
          <p:nvPr/>
        </p:nvSpPr>
        <p:spPr>
          <a:xfrm>
            <a:off x="1920240" y="1463040"/>
            <a:ext cx="5303520" cy="960120"/>
          </a:xfrm>
          <a:prstGeom prst="rect">
            <a:avLst/>
          </a:prstGeom>
          <a:solidFill>
            <a:srgbClr val="F4F6F9"/>
          </a:solidFill>
          <a:ln w="9525">
            <a:solidFill>
              <a:srgbClr val="C9D0DA"/>
            </a:solidFill>
          </a:ln>
        </p:spPr>
        <p:txBody>
          <a:bodyPr wrap="square" lIns="182880" tIns="182880" rIns="182880" bIns="182880" anchor="ctr" rtlCol="0">
            <a:noAutofit/>
          </a:bodyPr>
          <a:lstStyle/>
          <a:p>
            <a:pPr algn="l" marL="0" indent="0">
              <a:spcBef>
                <a:spcPts val="0"/>
              </a:spcBef>
              <a:buNone/>
            </a:pPr>
            <a:r>
              <a:rPr lang="en-US" sz="1400" b="1">
                <a:solidFill>
                  <a:srgbClr val="1C2B45"/>
                </a:solidFill>
                <a:latin typeface="Arial"/>
                <a:ea typeface="Arial"/>
                <a:cs typeface="Arial"/>
              </a:rPr>
              <a:t>全社予算策定ガイドライン</a:t>
            </a:r>
          </a:p>
          <a:p>
            <a:pPr algn="l" marL="0" indent="0">
              <a:spcBef>
                <a:spcPts val="0"/>
              </a:spcBef>
              <a:buNone/>
            </a:pPr>
            <a:r>
              <a:rPr lang="en-US" sz="1400" b="0">
                <a:solidFill>
                  <a:srgbClr val="5E7391"/>
                </a:solidFill>
                <a:latin typeface="Arial"/>
                <a:ea typeface="Arial"/>
                <a:cs typeface="Arial"/>
              </a:rPr>
              <a:t>全社</a:t>
            </a:r>
          </a:p>
        </p:txBody>
      </p:sp>
      <p:sp>
        <p:nvSpPr>
          <p:cNvPr id="6" name="Shape 6"/>
          <p:cNvSpPr txBox="1"/>
          <p:nvPr/>
        </p:nvSpPr>
        <p:spPr>
          <a:xfrm>
            <a:off x="7498080" y="1463040"/>
            <a:ext cx="4236415" cy="960120"/>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222B38"/>
                </a:solidFill>
                <a:latin typeface="Arial"/>
                <a:ea typeface="Arial"/>
                <a:cs typeface="Arial"/>
              </a:rPr>
              <a:t>予算策定の全社の決まり。IT予算の移管はここで決定済み</a:t>
            </a:r>
          </a:p>
        </p:txBody>
      </p:sp>
      <p:sp>
        <p:nvSpPr>
          <p:cNvPr id="7" name="Shape 7"/>
          <p:cNvSpPr/>
          <p:nvPr/>
        </p:nvSpPr>
        <p:spPr>
          <a:xfrm>
            <a:off x="1280160" y="2624328"/>
            <a:ext cx="5943600" cy="960120"/>
          </a:xfrm>
          <a:prstGeom prst="rect">
            <a:avLst/>
          </a:prstGeom>
          <a:solidFill>
            <a:srgbClr val="DDE5F2"/>
          </a:solidFill>
          <a:ln w="9525">
            <a:solidFill>
              <a:srgbClr val="C9D0DA"/>
            </a:solidFill>
          </a:ln>
        </p:spPr>
        <p:txBody>
          <a:bodyPr wrap="square" lIns="182880" tIns="182880" rIns="182880" bIns="182880" anchor="ctr" rtlCol="0">
            <a:noAutofit/>
          </a:bodyPr>
          <a:lstStyle/>
          <a:p>
            <a:pPr algn="l" marL="0" indent="0">
              <a:spcBef>
                <a:spcPts val="0"/>
              </a:spcBef>
              <a:buNone/>
            </a:pPr>
            <a:r>
              <a:rPr lang="en-US" sz="1400" b="1">
                <a:solidFill>
                  <a:srgbClr val="1C2B45"/>
                </a:solidFill>
                <a:latin typeface="Arial"/>
                <a:ea typeface="Arial"/>
                <a:cs typeface="Arial"/>
              </a:rPr>
              <a:t>IT部門向け予算ガイドライン</a:t>
            </a:r>
          </a:p>
          <a:p>
            <a:pPr algn="l" marL="0" indent="0">
              <a:spcBef>
                <a:spcPts val="0"/>
              </a:spcBef>
              <a:buNone/>
            </a:pPr>
            <a:r>
              <a:rPr lang="en-US" sz="1400" b="0">
                <a:solidFill>
                  <a:srgbClr val="5E7391"/>
                </a:solidFill>
                <a:latin typeface="Arial"/>
                <a:ea typeface="Arial"/>
                <a:cs typeface="Arial"/>
              </a:rPr>
              <a:t>IT部門</a:t>
            </a:r>
          </a:p>
        </p:txBody>
      </p:sp>
      <p:sp>
        <p:nvSpPr>
          <p:cNvPr id="8" name="Shape 8"/>
          <p:cNvSpPr txBox="1"/>
          <p:nvPr/>
        </p:nvSpPr>
        <p:spPr>
          <a:xfrm>
            <a:off x="7498080" y="2624328"/>
            <a:ext cx="4236415" cy="960120"/>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222B38"/>
                </a:solidFill>
                <a:latin typeface="Arial"/>
                <a:ea typeface="Arial"/>
                <a:cs typeface="Arial"/>
              </a:rPr>
              <a:t>IT部門の予算の考え方と運用</a:t>
            </a:r>
          </a:p>
        </p:txBody>
      </p:sp>
      <p:sp>
        <p:nvSpPr>
          <p:cNvPr id="9" name="Shape 9"/>
          <p:cNvSpPr/>
          <p:nvPr/>
        </p:nvSpPr>
        <p:spPr>
          <a:xfrm>
            <a:off x="640080" y="3785616"/>
            <a:ext cx="6583680" cy="960120"/>
          </a:xfrm>
          <a:prstGeom prst="rect">
            <a:avLst/>
          </a:prstGeom>
          <a:solidFill>
            <a:srgbClr val="1C2B45"/>
          </a:solidFill>
          <a:ln>
            <a:noFill/>
          </a:ln>
        </p:spPr>
        <p:txBody>
          <a:bodyPr wrap="square" lIns="182880" tIns="182880" rIns="182880" bIns="182880" anchor="ctr" rtlCol="0">
            <a:noAutofit/>
          </a:bodyPr>
          <a:lstStyle/>
          <a:p>
            <a:pPr algn="l" marL="0" indent="0">
              <a:spcBef>
                <a:spcPts val="0"/>
              </a:spcBef>
              <a:buNone/>
            </a:pPr>
            <a:r>
              <a:rPr lang="en-US" sz="1400" b="1">
                <a:solidFill>
                  <a:srgbClr val="FFFFFF"/>
                </a:solidFill>
                <a:latin typeface="Arial"/>
                <a:ea typeface="Arial"/>
                <a:cs typeface="Arial"/>
              </a:rPr>
              <a:t>本書：IT予算移管ガイドライン</a:t>
            </a:r>
          </a:p>
          <a:p>
            <a:pPr algn="l" marL="0" indent="0">
              <a:spcBef>
                <a:spcPts val="0"/>
              </a:spcBef>
              <a:buNone/>
            </a:pPr>
            <a:r>
              <a:rPr lang="en-US" sz="1400" b="0">
                <a:solidFill>
                  <a:srgbClr val="DDE5F2"/>
                </a:solidFill>
                <a:latin typeface="Arial"/>
                <a:ea typeface="Arial"/>
                <a:cs typeface="Arial"/>
              </a:rPr>
              <a:t>IT部門の各チーム</a:t>
            </a:r>
          </a:p>
        </p:txBody>
      </p:sp>
      <p:sp>
        <p:nvSpPr>
          <p:cNvPr id="10" name="Shape 10"/>
          <p:cNvSpPr txBox="1"/>
          <p:nvPr/>
        </p:nvSpPr>
        <p:spPr>
          <a:xfrm>
            <a:off x="7498080" y="3785616"/>
            <a:ext cx="4236415" cy="960120"/>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222B38"/>
                </a:solidFill>
                <a:latin typeface="Arial"/>
                <a:ea typeface="Arial"/>
                <a:cs typeface="Arial"/>
              </a:rPr>
              <a:t>予算移管の方針と進め方、役割分担の雛形。方針以外は、ビジネス部門と合意して決める</a:t>
            </a:r>
          </a:p>
        </p:txBody>
      </p:sp>
      <p:sp>
        <p:nvSpPr>
          <p:cNvPr id="11" name="Shape 11"/>
          <p:cNvSpPr/>
          <p:nvPr/>
        </p:nvSpPr>
        <p:spPr>
          <a:xfrm>
            <a:off x="457200" y="4992624"/>
            <a:ext cx="11277295" cy="1362456"/>
          </a:xfrm>
          <a:prstGeom prst="rect">
            <a:avLst/>
          </a:prstGeom>
          <a:solidFill>
            <a:srgbClr val="F4F6F9"/>
          </a:solidFill>
          <a:ln>
            <a:noFill/>
          </a:ln>
        </p:spPr>
        <p:txBody>
          <a:bodyPr wrap="square" lIns="0" tIns="0" rIns="0" bIns="0" anchor="t" rtlCol="0">
            <a:noAutofit/>
          </a:bodyPr>
          <a:lstStyle/>
          <a:p>
            <a:endParaRPr lang="ja-JP"/>
          </a:p>
        </p:txBody>
      </p:sp>
      <p:sp>
        <p:nvSpPr>
          <p:cNvPr id="12" name="Shape 12"/>
          <p:cNvSpPr txBox="1"/>
          <p:nvPr/>
        </p:nvSpPr>
        <p:spPr>
          <a:xfrm>
            <a:off x="685800" y="5102352"/>
            <a:ext cx="10789920" cy="329184"/>
          </a:xfrm>
          <a:prstGeom prst="rect">
            <a:avLst/>
          </a:prstGeom>
          <a:noFill/>
          <a:ln>
            <a:noFill/>
          </a:ln>
        </p:spPr>
        <p:txBody>
          <a:bodyPr wrap="square" lIns="0" tIns="0" rIns="0" bIns="0" anchor="ctr" rtlCol="0">
            <a:noAutofit/>
          </a:bodyPr>
          <a:lstStyle/>
          <a:p>
            <a:pPr algn="l" marL="0" indent="0">
              <a:spcBef>
                <a:spcPts val="0"/>
              </a:spcBef>
              <a:buNone/>
            </a:pPr>
            <a:r>
              <a:rPr lang="en-US" sz="1350" b="1">
                <a:solidFill>
                  <a:srgbClr val="1C2B45"/>
                </a:solidFill>
                <a:latin typeface="Arial"/>
                <a:ea typeface="Arial"/>
                <a:cs typeface="Arial"/>
              </a:rPr>
              <a:t>本書を使うときの決まり</a:t>
            </a:r>
          </a:p>
        </p:txBody>
      </p:sp>
      <p:sp>
        <p:nvSpPr>
          <p:cNvPr id="13" name="Shape 13"/>
          <p:cNvSpPr txBox="1"/>
          <p:nvPr/>
        </p:nvSpPr>
        <p:spPr>
          <a:xfrm>
            <a:off x="685800" y="5449824"/>
            <a:ext cx="10789920" cy="813816"/>
          </a:xfrm>
          <a:prstGeom prst="rect">
            <a:avLst/>
          </a:prstGeom>
          <a:noFill/>
          <a:ln>
            <a:noFill/>
          </a:ln>
        </p:spPr>
        <p:txBody>
          <a:bodyPr wrap="square" lIns="0" tIns="0" rIns="0" bIns="0" anchor="t" rtlCol="0">
            <a:noAutofit/>
          </a:bodyPr>
          <a:lstStyle/>
          <a:p>
            <a:pPr algn="l" marL="171450" indent="-171450">
              <a:spcBef>
                <a:spcPts val="400"/>
              </a:spcBef>
              <a:buFont typeface="Arial"/>
              <a:buChar char="•"/>
            </a:pPr>
            <a:r>
              <a:rPr lang="en-US" sz="1250" b="0">
                <a:solidFill>
                  <a:srgbClr val="222B38"/>
                </a:solidFill>
                <a:latin typeface="Arial"/>
                <a:ea typeface="Arial"/>
                <a:cs typeface="Arial"/>
              </a:rPr>
              <a:t>本書と上位のガイドラインに齟齬がある場合は、上位の定めに従う</a:t>
            </a:r>
          </a:p>
          <a:p>
            <a:pPr algn="l" marL="171450" indent="-171450">
              <a:spcBef>
                <a:spcPts val="400"/>
              </a:spcBef>
              <a:buFont typeface="Arial"/>
              <a:buChar char="•"/>
            </a:pPr>
            <a:r>
              <a:rPr lang="en-US" sz="1250" b="0">
                <a:solidFill>
                  <a:srgbClr val="222B38"/>
                </a:solidFill>
                <a:latin typeface="Arial"/>
                <a:ea typeface="Arial"/>
                <a:cs typeface="Arial"/>
              </a:rPr>
              <a:t>GxP 対象の業務は、品質保証部門が定める SOP・手順が正となる。本書の役割分担は雛形として使う</a:t>
            </a:r>
          </a:p>
          <a:p>
            <a:pPr algn="l" marL="171450" indent="-171450">
              <a:spcBef>
                <a:spcPts val="400"/>
              </a:spcBef>
              <a:buFont typeface="Arial"/>
              <a:buChar char="•"/>
            </a:pPr>
            <a:r>
              <a:rPr lang="en-US" sz="1250" b="0">
                <a:solidFill>
                  <a:srgbClr val="222B38"/>
                </a:solidFill>
                <a:latin typeface="Arial"/>
                <a:ea typeface="Arial"/>
                <a:cs typeface="Arial"/>
              </a:rPr>
              <a:t>本書の下には、憲章（運用の基準）、手順書（Runbook）と予算移管シートを置く。合意した内容は合意文書に残す</a:t>
            </a:r>
          </a:p>
        </p:txBody>
      </p:sp>
      <p:sp>
        <p:nvSpPr>
          <p:cNvPr id="14"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731520" y="2286000"/>
            <a:ext cx="1069848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US" sz="3600">
                <a:solidFill>
                  <a:schemeClr val="lt1"/>
                </a:solidFill>
              </a:rPr>
              <a:t>第1章　予算移管の方針と進め方</a:t>
            </a:r>
            <a:endParaRPr sz="3600"/>
          </a:p>
        </p:txBody>
      </p:sp>
      <p:sp>
        <p:nvSpPr>
          <p:cNvPr id="24" name="Google Shape;24;p5"/>
          <p:cNvSpPr txBox="1"/>
          <p:nvPr>
            <p:ph idx="1" type="body"/>
          </p:nvPr>
        </p:nvSpPr>
        <p:spPr>
          <a:xfrm>
            <a:off x="731520" y="3383280"/>
            <a:ext cx="1069848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600"/>
              <a:buNone/>
            </a:pPr>
            <a:r>
              <a:rPr lang="en-US" sz="1600">
                <a:solidFill>
                  <a:schemeClr val="accent4"/>
                </a:solidFill>
              </a:rPr>
              <a:t>最初にお答えしたいこと ／ 今期の目標 ／ 11月〜12月の進め方 ／ 窓口担当の手引き ／ Q&amp;A</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6"/>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最初にお答えしたいこと</a:t>
            </a:r>
            <a:endParaRPr sz="2600"/>
          </a:p>
        </p:txBody>
      </p:sp>
      <p:sp>
        <p:nvSpPr>
          <p:cNvPr id="31" name="Google Shape;31;p6"/>
          <p:cNvSpPr/>
          <p:nvPr/>
        </p:nvSpPr>
        <p:spPr>
          <a:xfrm>
            <a:off x="457200" y="1097280"/>
            <a:ext cx="3017520" cy="251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
          <p:cNvSpPr txBox="1"/>
          <p:nvPr/>
        </p:nvSpPr>
        <p:spPr>
          <a:xfrm>
            <a:off x="731520" y="1371600"/>
            <a:ext cx="2468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200"/>
              <a:buFont typeface="Arial"/>
              <a:buNone/>
            </a:pPr>
            <a:r>
              <a:rPr b="1" i="0" lang="en-US" sz="1200" u="none" cap="none" strike="noStrike">
                <a:solidFill>
                  <a:schemeClr val="accent4"/>
                </a:solidFill>
                <a:latin typeface="Arial"/>
                <a:ea typeface="Arial"/>
                <a:cs typeface="Arial"/>
                <a:sym typeface="Arial"/>
              </a:rPr>
              <a:t>懸念 1</a:t>
            </a:r>
            <a:endParaRPr b="0" i="0" sz="1200" u="none" cap="none" strike="noStrike">
              <a:solidFill>
                <a:schemeClr val="dk1"/>
              </a:solidFill>
              <a:latin typeface="Arial"/>
              <a:ea typeface="Arial"/>
              <a:cs typeface="Arial"/>
              <a:sym typeface="Arial"/>
            </a:endParaRPr>
          </a:p>
        </p:txBody>
      </p:sp>
      <p:sp>
        <p:nvSpPr>
          <p:cNvPr id="33" name="Google Shape;33;p6"/>
          <p:cNvSpPr txBox="1"/>
          <p:nvPr/>
        </p:nvSpPr>
        <p:spPr>
          <a:xfrm>
            <a:off x="731520" y="1737360"/>
            <a:ext cx="246888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例外はあるのか。</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手続きが要る業務まで</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1月に移すのか</a:t>
            </a:r>
            <a:endParaRPr b="0" i="0" sz="1700" u="none" cap="none" strike="noStrike">
              <a:solidFill>
                <a:schemeClr val="dk1"/>
              </a:solidFill>
              <a:latin typeface="Arial"/>
              <a:ea typeface="Arial"/>
              <a:cs typeface="Arial"/>
              <a:sym typeface="Arial"/>
            </a:endParaRPr>
          </a:p>
        </p:txBody>
      </p:sp>
      <p:sp>
        <p:nvSpPr>
          <p:cNvPr id="34" name="Google Shape;34;p6"/>
          <p:cNvSpPr/>
          <p:nvPr/>
        </p:nvSpPr>
        <p:spPr>
          <a:xfrm>
            <a:off x="3474720" y="1097280"/>
            <a:ext cx="8257032" cy="2514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nvSpPr>
        <p:spPr>
          <a:xfrm>
            <a:off x="3794760" y="1325880"/>
            <a:ext cx="76169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例外はない。すべての予算を2027年1月1日に一括で移す</a:t>
            </a:r>
            <a:endParaRPr b="0" i="0" sz="1700" u="none" cap="none" strike="noStrike">
              <a:solidFill>
                <a:schemeClr val="dk1"/>
              </a:solidFill>
              <a:latin typeface="Arial"/>
              <a:ea typeface="Arial"/>
              <a:cs typeface="Arial"/>
              <a:sym typeface="Arial"/>
            </a:endParaRPr>
          </a:p>
        </p:txBody>
      </p:sp>
      <p:cxnSp>
        <p:nvCxnSpPr>
          <p:cNvPr id="36" name="Google Shape;36;p6"/>
          <p:cNvCxnSpPr/>
          <p:nvPr/>
        </p:nvCxnSpPr>
        <p:spPr>
          <a:xfrm>
            <a:off x="3794760" y="1874520"/>
            <a:ext cx="7616952" cy="0"/>
          </a:xfrm>
          <a:prstGeom prst="straightConnector1">
            <a:avLst/>
          </a:prstGeom>
          <a:noFill/>
          <a:ln cap="flat" cmpd="sng" w="9525">
            <a:solidFill>
              <a:schemeClr val="accent3"/>
            </a:solidFill>
            <a:prstDash val="solid"/>
            <a:round/>
            <a:headEnd len="sm" w="sm" type="none"/>
            <a:tailEnd len="sm" w="sm" type="none"/>
          </a:ln>
        </p:spPr>
      </p:cxnSp>
      <p:sp>
        <p:nvSpPr>
          <p:cNvPr id="37" name="Google Shape;37;p6"/>
          <p:cNvSpPr txBox="1"/>
          <p:nvPr/>
        </p:nvSpPr>
        <p:spPr>
          <a:xfrm>
            <a:off x="3794760" y="2011680"/>
            <a:ext cx="7616952" cy="1463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個別移管や案件の保留はしない。移管は全社の方針として決定済み</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今の担当が SOP・規程・職務分掌など承認済みの文書で定められ、変えるのに正式な手続き（例：GxP の変更管理）が要る業務は、手続きが終わるまで今の担当が続ける（経過措置）</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経過措置があっても予算は移る。その業務と完了予定は合意文書に残す</a:t>
            </a:r>
            <a:endParaRPr b="0" i="0" sz="1100" u="none" cap="none" strike="noStrike">
              <a:solidFill>
                <a:schemeClr val="dk1"/>
              </a:solidFill>
              <a:latin typeface="Arial"/>
              <a:ea typeface="Arial"/>
              <a:cs typeface="Arial"/>
              <a:sym typeface="Arial"/>
            </a:endParaRPr>
          </a:p>
        </p:txBody>
      </p:sp>
      <p:sp>
        <p:nvSpPr>
          <p:cNvPr id="38" name="Google Shape;38;p6"/>
          <p:cNvSpPr/>
          <p:nvPr/>
        </p:nvSpPr>
        <p:spPr>
          <a:xfrm>
            <a:off x="457200" y="3794760"/>
            <a:ext cx="3017520" cy="251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nvSpPr>
        <p:spPr>
          <a:xfrm>
            <a:off x="731520" y="4069080"/>
            <a:ext cx="2468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200"/>
              <a:buFont typeface="Arial"/>
              <a:buNone/>
            </a:pPr>
            <a:r>
              <a:rPr b="1" i="0" lang="en-US" sz="1200" u="none" cap="none" strike="noStrike">
                <a:solidFill>
                  <a:schemeClr val="accent4"/>
                </a:solidFill>
                <a:latin typeface="Arial"/>
                <a:ea typeface="Arial"/>
                <a:cs typeface="Arial"/>
                <a:sym typeface="Arial"/>
              </a:rPr>
              <a:t>懸念 2</a:t>
            </a:r>
            <a:endParaRPr b="0" i="0" sz="1200" u="none" cap="none" strike="noStrike">
              <a:solidFill>
                <a:schemeClr val="dk1"/>
              </a:solidFill>
              <a:latin typeface="Arial"/>
              <a:ea typeface="Arial"/>
              <a:cs typeface="Arial"/>
              <a:sym typeface="Arial"/>
            </a:endParaRPr>
          </a:p>
        </p:txBody>
      </p:sp>
      <p:sp>
        <p:nvSpPr>
          <p:cNvPr id="40" name="Google Shape;40;p6"/>
          <p:cNvSpPr txBox="1"/>
          <p:nvPr/>
        </p:nvSpPr>
        <p:spPr>
          <a:xfrm>
            <a:off x="731520" y="4434840"/>
            <a:ext cx="246888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移管の後、</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誰が何を担うのか。</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部門の権限は</a:t>
            </a:r>
            <a:endParaRPr b="0" i="0" sz="17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どうなるのか</a:t>
            </a:r>
            <a:endParaRPr b="0" i="0" sz="1700" u="none" cap="none" strike="noStrike">
              <a:solidFill>
                <a:schemeClr val="dk1"/>
              </a:solidFill>
              <a:latin typeface="Arial"/>
              <a:ea typeface="Arial"/>
              <a:cs typeface="Arial"/>
              <a:sym typeface="Arial"/>
            </a:endParaRPr>
          </a:p>
        </p:txBody>
      </p:sp>
      <p:sp>
        <p:nvSpPr>
          <p:cNvPr id="41" name="Google Shape;41;p6"/>
          <p:cNvSpPr/>
          <p:nvPr/>
        </p:nvSpPr>
        <p:spPr>
          <a:xfrm>
            <a:off x="3474720" y="3794760"/>
            <a:ext cx="8257032" cy="2514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txBox="1"/>
          <p:nvPr/>
        </p:nvSpPr>
        <p:spPr>
          <a:xfrm>
            <a:off x="3794760" y="4023360"/>
            <a:ext cx="76169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最終責任（A）は部門に残る。役割分担は標準 RACI を基に合意する</a:t>
            </a:r>
            <a:endParaRPr b="0" i="0" sz="1700" u="none" cap="none" strike="noStrike">
              <a:solidFill>
                <a:schemeClr val="dk1"/>
              </a:solidFill>
              <a:latin typeface="Arial"/>
              <a:ea typeface="Arial"/>
              <a:cs typeface="Arial"/>
              <a:sym typeface="Arial"/>
            </a:endParaRPr>
          </a:p>
        </p:txBody>
      </p:sp>
      <p:cxnSp>
        <p:nvCxnSpPr>
          <p:cNvPr id="43" name="Google Shape;43;p6"/>
          <p:cNvCxnSpPr/>
          <p:nvPr/>
        </p:nvCxnSpPr>
        <p:spPr>
          <a:xfrm>
            <a:off x="3794760" y="4572000"/>
            <a:ext cx="7616952" cy="0"/>
          </a:xfrm>
          <a:prstGeom prst="straightConnector1">
            <a:avLst/>
          </a:prstGeom>
          <a:noFill/>
          <a:ln cap="flat" cmpd="sng" w="9525">
            <a:solidFill>
              <a:schemeClr val="accent3"/>
            </a:solidFill>
            <a:prstDash val="solid"/>
            <a:round/>
            <a:headEnd len="sm" w="sm" type="none"/>
            <a:tailEnd len="sm" w="sm" type="none"/>
          </a:ln>
        </p:spPr>
      </p:cxnSp>
      <p:sp>
        <p:nvSpPr>
          <p:cNvPr id="44" name="Google Shape;44;p6"/>
          <p:cNvSpPr txBox="1"/>
          <p:nvPr/>
        </p:nvSpPr>
        <p:spPr>
          <a:xfrm>
            <a:off x="3794760" y="4709160"/>
            <a:ext cx="7616952" cy="1463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間接業務（予算の管理、契約、発注・検収・支払い）は1月から IT部門が担う</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直接業務と IT関連業務の A はプロセスオーナーに残る。IT部門は A を引き取らない</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案件ごとに協議するのは、IT関連業務の R の分担（部門と SO がどこまでを担うか）と、SO が R を担い始める時期だけ。移管元の責任者が合意文書を承認して確定する（11〜15枚目）</a:t>
            </a:r>
            <a:endParaRPr b="0" i="0" sz="1100" u="none" cap="none" strike="noStrike">
              <a:solidFill>
                <a:schemeClr val="dk1"/>
              </a:solidFill>
              <a:latin typeface="Arial"/>
              <a:ea typeface="Arial"/>
              <a:cs typeface="Arial"/>
              <a:sym typeface="Arial"/>
            </a:endParaRPr>
          </a:p>
        </p:txBody>
      </p:sp>
      <p:sp>
        <p:nvSpPr>
          <p:cNvPr id="45"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7"/>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今期の目標</a:t>
            </a:r>
            <a:endParaRPr sz="2600"/>
          </a:p>
        </p:txBody>
      </p:sp>
      <p:sp>
        <p:nvSpPr>
          <p:cNvPr id="52" name="Google Shape;52;p7"/>
          <p:cNvSpPr/>
          <p:nvPr/>
        </p:nvSpPr>
        <p:spPr>
          <a:xfrm>
            <a:off x="457200" y="1051560"/>
            <a:ext cx="11274552" cy="114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nvSpPr>
        <p:spPr>
          <a:xfrm>
            <a:off x="822960" y="116128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移管の稟議が、12月末までに承認されること</a:t>
            </a:r>
            <a:endParaRPr b="0" i="0" sz="2800" u="none" cap="none" strike="noStrike">
              <a:solidFill>
                <a:schemeClr val="dk1"/>
              </a:solidFill>
              <a:latin typeface="Arial"/>
              <a:ea typeface="Arial"/>
              <a:cs typeface="Arial"/>
              <a:sym typeface="Arial"/>
            </a:endParaRPr>
          </a:p>
        </p:txBody>
      </p:sp>
      <p:sp>
        <p:nvSpPr>
          <p:cNvPr id="54" name="Google Shape;54;p7"/>
          <p:cNvSpPr txBox="1"/>
          <p:nvPr/>
        </p:nvSpPr>
        <p:spPr>
          <a:xfrm>
            <a:off x="822960" y="1755648"/>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400"/>
              <a:buFont typeface="Arial"/>
              <a:buNone/>
            </a:pPr>
            <a:r>
              <a:rPr b="0" i="0" lang="en-US" sz="1400" u="none" cap="none" strike="noStrike">
                <a:solidFill>
                  <a:schemeClr val="accent4"/>
                </a:solidFill>
                <a:latin typeface="Arial"/>
                <a:ea typeface="Arial"/>
                <a:cs typeface="Arial"/>
                <a:sym typeface="Arial"/>
              </a:rPr>
              <a:t>今期は12月末の移管の承認を目指す。移管による効果の創出は、来期に改めて検討する</a:t>
            </a:r>
            <a:endParaRPr b="0" i="0" sz="1400" u="none" cap="none" strike="noStrike">
              <a:solidFill>
                <a:schemeClr val="dk1"/>
              </a:solidFill>
              <a:latin typeface="Arial"/>
              <a:ea typeface="Arial"/>
              <a:cs typeface="Arial"/>
              <a:sym typeface="Arial"/>
            </a:endParaRPr>
          </a:p>
        </p:txBody>
      </p:sp>
      <p:sp>
        <p:nvSpPr>
          <p:cNvPr id="55" name="Google Shape;55;p7"/>
          <p:cNvSpPr/>
          <p:nvPr/>
        </p:nvSpPr>
        <p:spPr>
          <a:xfrm>
            <a:off x="457200" y="2377440"/>
            <a:ext cx="3648456" cy="3931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txBox="1"/>
          <p:nvPr/>
        </p:nvSpPr>
        <p:spPr>
          <a:xfrm>
            <a:off x="658368" y="2542032"/>
            <a:ext cx="3246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i="0" lang="en-US" sz="1500" u="none" cap="none" strike="noStrike">
                <a:solidFill>
                  <a:schemeClr val="dk2"/>
                </a:solidFill>
                <a:latin typeface="Arial"/>
                <a:ea typeface="Arial"/>
                <a:cs typeface="Arial"/>
                <a:sym typeface="Arial"/>
              </a:rPr>
              <a:t>決まっていること</a:t>
            </a:r>
            <a:endParaRPr b="0" i="0" sz="1500" u="none" cap="none" strike="noStrike">
              <a:solidFill>
                <a:schemeClr val="dk1"/>
              </a:solidFill>
              <a:latin typeface="Arial"/>
              <a:ea typeface="Arial"/>
              <a:cs typeface="Arial"/>
              <a:sym typeface="Arial"/>
            </a:endParaRPr>
          </a:p>
        </p:txBody>
      </p:sp>
      <p:sp>
        <p:nvSpPr>
          <p:cNvPr id="57" name="Google Shape;57;p7"/>
          <p:cNvSpPr txBox="1"/>
          <p:nvPr/>
        </p:nvSpPr>
        <p:spPr>
          <a:xfrm>
            <a:off x="658368" y="292608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Arial"/>
              <a:buNone/>
            </a:pPr>
            <a:r>
              <a:rPr b="1" i="0" lang="en-US" sz="1100" u="none" cap="none" strike="noStrike">
                <a:solidFill>
                  <a:schemeClr val="accent2"/>
                </a:solidFill>
                <a:latin typeface="Arial"/>
                <a:ea typeface="Arial"/>
                <a:cs typeface="Arial"/>
                <a:sym typeface="Arial"/>
              </a:rPr>
              <a:t>全社の方針として決定済み</a:t>
            </a:r>
            <a:endParaRPr b="0" i="0" sz="1100" u="none" cap="none" strike="noStrike">
              <a:solidFill>
                <a:schemeClr val="dk1"/>
              </a:solidFill>
              <a:latin typeface="Arial"/>
              <a:ea typeface="Arial"/>
              <a:cs typeface="Arial"/>
              <a:sym typeface="Arial"/>
            </a:endParaRPr>
          </a:p>
        </p:txBody>
      </p:sp>
      <p:sp>
        <p:nvSpPr>
          <p:cNvPr id="58" name="Google Shape;58;p7"/>
          <p:cNvSpPr txBox="1"/>
          <p:nvPr/>
        </p:nvSpPr>
        <p:spPr>
          <a:xfrm>
            <a:off x="658368" y="3310128"/>
            <a:ext cx="3246120" cy="2880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経営で決定済み。全社向けの予算策定ガイドラインに明記されている</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対象は営業部門以外の部門（人事・総務・財務を含む）。各部門には案内済み</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範囲は、業務アプリケーションとその関連ツールの予算・契約・間接業務</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インフラやセキュリティなど、全社横断の領域は含まない</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業務プロセスの最終責任は部門に残る</a:t>
            </a:r>
            <a:endParaRPr b="0" i="0" sz="1100" u="none" cap="none" strike="noStrike">
              <a:solidFill>
                <a:schemeClr val="dk1"/>
              </a:solidFill>
              <a:latin typeface="Arial"/>
              <a:ea typeface="Arial"/>
              <a:cs typeface="Arial"/>
              <a:sym typeface="Arial"/>
            </a:endParaRPr>
          </a:p>
        </p:txBody>
      </p:sp>
      <p:sp>
        <p:nvSpPr>
          <p:cNvPr id="59" name="Google Shape;59;p7"/>
          <p:cNvSpPr/>
          <p:nvPr/>
        </p:nvSpPr>
        <p:spPr>
          <a:xfrm>
            <a:off x="4270248" y="2377440"/>
            <a:ext cx="3648456" cy="3931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txBox="1"/>
          <p:nvPr/>
        </p:nvSpPr>
        <p:spPr>
          <a:xfrm>
            <a:off x="4471416" y="2542032"/>
            <a:ext cx="3246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i="0" lang="en-US" sz="1500" u="none" cap="none" strike="noStrike">
                <a:solidFill>
                  <a:schemeClr val="dk2"/>
                </a:solidFill>
                <a:latin typeface="Arial"/>
                <a:ea typeface="Arial"/>
                <a:cs typeface="Arial"/>
                <a:sym typeface="Arial"/>
              </a:rPr>
              <a:t>すべて一括で移管する</a:t>
            </a:r>
            <a:endParaRPr b="0" i="0" sz="1500" u="none" cap="none" strike="noStrike">
              <a:solidFill>
                <a:schemeClr val="dk1"/>
              </a:solidFill>
              <a:latin typeface="Arial"/>
              <a:ea typeface="Arial"/>
              <a:cs typeface="Arial"/>
              <a:sym typeface="Arial"/>
            </a:endParaRPr>
          </a:p>
        </p:txBody>
      </p:sp>
      <p:sp>
        <p:nvSpPr>
          <p:cNvPr id="61" name="Google Shape;61;p7"/>
          <p:cNvSpPr txBox="1"/>
          <p:nvPr/>
        </p:nvSpPr>
        <p:spPr>
          <a:xfrm>
            <a:off x="4471416" y="292608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Arial"/>
              <a:buNone/>
            </a:pPr>
            <a:r>
              <a:rPr b="1" i="0" lang="en-US" sz="1100" u="none" cap="none" strike="noStrike">
                <a:solidFill>
                  <a:schemeClr val="accent2"/>
                </a:solidFill>
                <a:latin typeface="Arial"/>
                <a:ea typeface="Arial"/>
                <a:cs typeface="Arial"/>
                <a:sym typeface="Arial"/>
              </a:rPr>
              <a:t>予算は2027年1月1日に移る</a:t>
            </a:r>
            <a:endParaRPr b="0" i="0" sz="1100" u="none" cap="none" strike="noStrike">
              <a:solidFill>
                <a:schemeClr val="dk1"/>
              </a:solidFill>
              <a:latin typeface="Arial"/>
              <a:ea typeface="Arial"/>
              <a:cs typeface="Arial"/>
              <a:sym typeface="Arial"/>
            </a:endParaRPr>
          </a:p>
        </p:txBody>
      </p:sp>
      <p:sp>
        <p:nvSpPr>
          <p:cNvPr id="62" name="Google Shape;62;p7"/>
          <p:cNvSpPr txBox="1"/>
          <p:nvPr/>
        </p:nvSpPr>
        <p:spPr>
          <a:xfrm>
            <a:off x="4471416" y="3310128"/>
            <a:ext cx="3246120" cy="2880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150"/>
              <a:buFont typeface="Arial"/>
              <a:buChar char="•"/>
            </a:pPr>
            <a:r>
              <a:rPr b="0" i="0" lang="en-US" sz="1150" u="none" cap="none" strike="noStrike">
                <a:solidFill>
                  <a:schemeClr val="dk1"/>
                </a:solidFill>
                <a:latin typeface="Arial"/>
                <a:ea typeface="Arial"/>
                <a:cs typeface="Arial"/>
                <a:sym typeface="Arial"/>
              </a:rPr>
              <a:t>移すかどうかは判断しない</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150"/>
              <a:buFont typeface="Arial"/>
              <a:buChar char="•"/>
            </a:pPr>
            <a:r>
              <a:rPr b="1" i="0" lang="en-US" sz="1150" u="none" cap="none" strike="noStrike">
                <a:solidFill>
                  <a:schemeClr val="dk1"/>
                </a:solidFill>
                <a:latin typeface="Arial"/>
                <a:ea typeface="Arial"/>
                <a:cs typeface="Arial"/>
                <a:sym typeface="Arial"/>
              </a:rPr>
              <a:t>一括移管：2027年1月1日（すべての予算）</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150"/>
              <a:buFont typeface="Arial"/>
              <a:buChar char="•"/>
            </a:pPr>
            <a:r>
              <a:rPr b="0" i="0" lang="en-US" sz="1150" u="none" cap="none" strike="noStrike">
                <a:solidFill>
                  <a:schemeClr val="dk1"/>
                </a:solidFill>
                <a:latin typeface="Arial"/>
                <a:ea typeface="Arial"/>
                <a:cs typeface="Arial"/>
                <a:sym typeface="Arial"/>
              </a:rPr>
              <a:t>経過措置：今の役割分担（Before）が SOP・規程・職務分掌など承認済みの文書や記録で定められ、変えるのに正式な手続き（例：GxP の変更管理）が要る業務は、手続きが終わるまで今の担当が続ける</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150"/>
              <a:buFont typeface="Arial"/>
              <a:buChar char="•"/>
            </a:pPr>
            <a:r>
              <a:rPr b="1" i="0" lang="en-US" sz="1150" u="none" cap="none" strike="noStrike">
                <a:solidFill>
                  <a:schemeClr val="dk1"/>
                </a:solidFill>
                <a:latin typeface="Arial"/>
                <a:ea typeface="Arial"/>
                <a:cs typeface="Arial"/>
                <a:sym typeface="Arial"/>
              </a:rPr>
              <a:t>経過措置があっても、予算は1月1日に移る</a:t>
            </a:r>
            <a:endParaRPr b="0" i="0" sz="1100" u="none" cap="none" strike="noStrike">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150"/>
              <a:buFont typeface="Arial"/>
              <a:buChar char="•"/>
            </a:pPr>
            <a:r>
              <a:rPr b="0" i="0" lang="en-US" sz="1150" u="none" cap="none" strike="noStrike">
                <a:solidFill>
                  <a:schemeClr val="dk1"/>
                </a:solidFill>
                <a:latin typeface="Arial"/>
                <a:ea typeface="Arial"/>
                <a:cs typeface="Arial"/>
                <a:sym typeface="Arial"/>
              </a:rPr>
              <a:t>経過措置の業務と完了予定は、合意文書に残す</a:t>
            </a:r>
            <a:endParaRPr b="0" i="0" sz="1100" u="none" cap="none" strike="noStrike">
              <a:solidFill>
                <a:schemeClr val="dk1"/>
              </a:solidFill>
              <a:latin typeface="Arial"/>
              <a:ea typeface="Arial"/>
              <a:cs typeface="Arial"/>
              <a:sym typeface="Arial"/>
            </a:endParaRPr>
          </a:p>
        </p:txBody>
      </p:sp>
      <p:sp>
        <p:nvSpPr>
          <p:cNvPr id="63" name="Google Shape;63;p7"/>
          <p:cNvSpPr/>
          <p:nvPr/>
        </p:nvSpPr>
        <p:spPr>
          <a:xfrm>
            <a:off x="8083296" y="2377440"/>
            <a:ext cx="3648456" cy="3931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nvSpPr>
        <p:spPr>
          <a:xfrm>
            <a:off x="8284464" y="2542032"/>
            <a:ext cx="3246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i="0" lang="en-US" sz="1500" u="none" cap="none" strike="noStrike">
                <a:solidFill>
                  <a:schemeClr val="dk2"/>
                </a:solidFill>
                <a:latin typeface="Arial"/>
                <a:ea typeface="Arial"/>
                <a:cs typeface="Arial"/>
                <a:sym typeface="Arial"/>
              </a:rPr>
              <a:t>12月末のゴール</a:t>
            </a:r>
            <a:endParaRPr b="0" i="0" sz="1500" u="none" cap="none" strike="noStrike">
              <a:solidFill>
                <a:schemeClr val="dk1"/>
              </a:solidFill>
              <a:latin typeface="Arial"/>
              <a:ea typeface="Arial"/>
              <a:cs typeface="Arial"/>
              <a:sym typeface="Arial"/>
            </a:endParaRPr>
          </a:p>
        </p:txBody>
      </p:sp>
      <p:sp>
        <p:nvSpPr>
          <p:cNvPr id="65" name="Google Shape;65;p7"/>
          <p:cNvSpPr txBox="1"/>
          <p:nvPr/>
        </p:nvSpPr>
        <p:spPr>
          <a:xfrm>
            <a:off x="8284464" y="292608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Arial"/>
              <a:buNone/>
            </a:pPr>
            <a:r>
              <a:rPr b="1" i="0" lang="en-US" sz="1100" u="none" cap="none" strike="noStrike">
                <a:solidFill>
                  <a:schemeClr val="accent2"/>
                </a:solidFill>
                <a:latin typeface="Arial"/>
                <a:ea typeface="Arial"/>
                <a:cs typeface="Arial"/>
                <a:sym typeface="Arial"/>
              </a:rPr>
              <a:t>稟議の承認。すべて終わっていなくてよい</a:t>
            </a:r>
            <a:endParaRPr b="0" i="0" sz="1100" u="none" cap="none" strike="noStrike">
              <a:solidFill>
                <a:schemeClr val="dk1"/>
              </a:solidFill>
              <a:latin typeface="Arial"/>
              <a:ea typeface="Arial"/>
              <a:cs typeface="Arial"/>
              <a:sym typeface="Arial"/>
            </a:endParaRPr>
          </a:p>
        </p:txBody>
      </p:sp>
      <p:sp>
        <p:nvSpPr>
          <p:cNvPr id="66" name="Google Shape;66;p7"/>
          <p:cNvSpPr txBox="1"/>
          <p:nvPr/>
        </p:nvSpPr>
        <p:spPr>
          <a:xfrm>
            <a:off x="8284464" y="3310128"/>
            <a:ext cx="3246120" cy="2880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前提はこの3つだけ</a:t>
            </a:r>
            <a:endParaRPr b="0" i="0" sz="1100" u="none" cap="none" strike="noStrike">
              <a:solidFill>
                <a:schemeClr val="dk1"/>
              </a:solidFill>
              <a:latin typeface="Arial"/>
              <a:ea typeface="Arial"/>
              <a:cs typeface="Arial"/>
              <a:sym typeface="Arial"/>
            </a:endParaRPr>
          </a:p>
          <a:p>
            <a:pPr indent="0" lvl="0" marL="0" marR="0" rtl="0" algn="l">
              <a:spcBef>
                <a:spcPts val="4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①　稟議に必要な情報（移管判定、来年度予算、合意文書）が整理されている</a:t>
            </a:r>
            <a:endParaRPr b="0" i="0" sz="1100" u="none" cap="none" strike="noStrike">
              <a:solidFill>
                <a:schemeClr val="dk1"/>
              </a:solidFill>
              <a:latin typeface="Arial"/>
              <a:ea typeface="Arial"/>
              <a:cs typeface="Arial"/>
              <a:sym typeface="Arial"/>
            </a:endParaRPr>
          </a:p>
          <a:p>
            <a:pPr indent="0" lvl="0" marL="0" marR="0" rtl="0" algn="l">
              <a:spcBef>
                <a:spcPts val="3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②　終わっていないこと（SOPの改訂、契約の署名者の変更など）が案件ごとに明確になっている</a:t>
            </a:r>
            <a:endParaRPr b="0" i="0" sz="1100" u="none" cap="none" strike="noStrike">
              <a:solidFill>
                <a:schemeClr val="dk1"/>
              </a:solidFill>
              <a:latin typeface="Arial"/>
              <a:ea typeface="Arial"/>
              <a:cs typeface="Arial"/>
              <a:sym typeface="Arial"/>
            </a:endParaRPr>
          </a:p>
          <a:p>
            <a:pPr indent="0" lvl="0" marL="0" marR="0" rtl="0" algn="l">
              <a:spcBef>
                <a:spcPts val="3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③　1月から契約の管理と支払いを IT部門が始められる</a:t>
            </a:r>
            <a:endParaRPr b="0" i="0" sz="11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移管の時点で契約の手続きはしない。署名者は次回の更新から IT部門に変わり、請求書の宛名の変更は2月初旬までに相手先に連絡する</a:t>
            </a:r>
            <a:endParaRPr b="0" i="0" sz="11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accent2"/>
              </a:buClr>
              <a:buSzPts val="1100"/>
              <a:buFont typeface="Arial"/>
              <a:buNone/>
            </a:pPr>
            <a:r>
              <a:rPr b="0" i="0" lang="en-US" sz="1100" u="none" cap="none" strike="noStrike">
                <a:solidFill>
                  <a:schemeClr val="accent2"/>
                </a:solidFill>
                <a:latin typeface="Arial"/>
                <a:ea typeface="Arial"/>
                <a:cs typeface="Arial"/>
                <a:sym typeface="Arial"/>
              </a:rPr>
              <a:t>来年以降の役割分担は11〜15枚目に参考として示した。今は予算移管に集中してほしい</a:t>
            </a:r>
            <a:endParaRPr b="0" i="0" sz="1100" u="none" cap="none" strike="noStrike">
              <a:solidFill>
                <a:schemeClr val="dk1"/>
              </a:solidFill>
              <a:latin typeface="Arial"/>
              <a:ea typeface="Arial"/>
              <a:cs typeface="Arial"/>
              <a:sym typeface="Arial"/>
            </a:endParaRPr>
          </a:p>
        </p:txBody>
      </p:sp>
      <p:sp>
        <p:nvSpPr>
          <p:cNvPr id="67" name="Google Shape;67;p7"/>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11月〜12月の進め方（目安）</a:t>
            </a:r>
            <a:endParaRPr sz="2600"/>
          </a:p>
        </p:txBody>
      </p:sp>
      <p:sp>
        <p:nvSpPr>
          <p:cNvPr id="74" name="Google Shape;74;p8"/>
          <p:cNvSpPr/>
          <p:nvPr/>
        </p:nvSpPr>
        <p:spPr>
          <a:xfrm>
            <a:off x="4617720" y="1024128"/>
            <a:ext cx="2727525" cy="27432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nvSpPr>
        <p:spPr>
          <a:xfrm>
            <a:off x="4617720" y="1024128"/>
            <a:ext cx="272752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11月</a:t>
            </a:r>
            <a:endParaRPr b="0" i="0" sz="1100" u="none" cap="none" strike="noStrike">
              <a:solidFill>
                <a:schemeClr val="dk1"/>
              </a:solidFill>
              <a:latin typeface="Arial"/>
              <a:ea typeface="Arial"/>
              <a:cs typeface="Arial"/>
              <a:sym typeface="Arial"/>
            </a:endParaRPr>
          </a:p>
        </p:txBody>
      </p:sp>
      <p:sp>
        <p:nvSpPr>
          <p:cNvPr id="76" name="Google Shape;76;p8"/>
          <p:cNvSpPr/>
          <p:nvPr/>
        </p:nvSpPr>
        <p:spPr>
          <a:xfrm>
            <a:off x="7345245" y="1024128"/>
            <a:ext cx="2915630" cy="27432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txBox="1"/>
          <p:nvPr/>
        </p:nvSpPr>
        <p:spPr>
          <a:xfrm>
            <a:off x="7345245" y="1024128"/>
            <a:ext cx="29156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12月</a:t>
            </a:r>
            <a:endParaRPr b="0" i="0" sz="1100" u="none" cap="none" strike="noStrike">
              <a:solidFill>
                <a:schemeClr val="dk1"/>
              </a:solidFill>
              <a:latin typeface="Arial"/>
              <a:ea typeface="Arial"/>
              <a:cs typeface="Arial"/>
              <a:sym typeface="Arial"/>
            </a:endParaRPr>
          </a:p>
        </p:txBody>
      </p:sp>
      <p:sp>
        <p:nvSpPr>
          <p:cNvPr id="78" name="Google Shape;78;p8"/>
          <p:cNvSpPr/>
          <p:nvPr/>
        </p:nvSpPr>
        <p:spPr>
          <a:xfrm>
            <a:off x="10260874" y="1024128"/>
            <a:ext cx="1470878" cy="2743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txBox="1"/>
          <p:nvPr/>
        </p:nvSpPr>
        <p:spPr>
          <a:xfrm>
            <a:off x="10260874" y="1024128"/>
            <a:ext cx="147087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1100"/>
              <a:buFont typeface="Arial"/>
              <a:buNone/>
            </a:pPr>
            <a:r>
              <a:rPr b="1" i="0" lang="en-US" sz="1100" u="none" cap="none" strike="noStrike">
                <a:solidFill>
                  <a:schemeClr val="accent2"/>
                </a:solidFill>
                <a:latin typeface="Arial"/>
                <a:ea typeface="Arial"/>
                <a:cs typeface="Arial"/>
                <a:sym typeface="Arial"/>
              </a:rPr>
              <a:t>1月以降</a:t>
            </a:r>
            <a:endParaRPr b="0" i="0" sz="1100" u="none" cap="none" strike="noStrike">
              <a:solidFill>
                <a:schemeClr val="dk1"/>
              </a:solidFill>
              <a:latin typeface="Arial"/>
              <a:ea typeface="Arial"/>
              <a:cs typeface="Arial"/>
              <a:sym typeface="Arial"/>
            </a:endParaRPr>
          </a:p>
        </p:txBody>
      </p:sp>
      <p:sp>
        <p:nvSpPr>
          <p:cNvPr id="80" name="Google Shape;80;p8"/>
          <p:cNvSpPr txBox="1"/>
          <p:nvPr/>
        </p:nvSpPr>
        <p:spPr>
          <a:xfrm>
            <a:off x="4617720"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11/2</a:t>
            </a:r>
            <a:endParaRPr b="0" i="0" sz="950" u="none" cap="none" strike="noStrike">
              <a:solidFill>
                <a:schemeClr val="dk1"/>
              </a:solidFill>
              <a:latin typeface="Arial"/>
              <a:ea typeface="Arial"/>
              <a:cs typeface="Arial"/>
              <a:sym typeface="Arial"/>
            </a:endParaRPr>
          </a:p>
        </p:txBody>
      </p:sp>
      <p:sp>
        <p:nvSpPr>
          <p:cNvPr id="81" name="Google Shape;81;p8"/>
          <p:cNvSpPr txBox="1"/>
          <p:nvPr/>
        </p:nvSpPr>
        <p:spPr>
          <a:xfrm>
            <a:off x="5276088"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11/9</a:t>
            </a:r>
            <a:endParaRPr b="0" i="0" sz="950" u="none" cap="none" strike="noStrike">
              <a:solidFill>
                <a:schemeClr val="dk1"/>
              </a:solidFill>
              <a:latin typeface="Arial"/>
              <a:ea typeface="Arial"/>
              <a:cs typeface="Arial"/>
              <a:sym typeface="Arial"/>
            </a:endParaRPr>
          </a:p>
        </p:txBody>
      </p:sp>
      <p:sp>
        <p:nvSpPr>
          <p:cNvPr id="82" name="Google Shape;82;p8"/>
          <p:cNvSpPr txBox="1"/>
          <p:nvPr/>
        </p:nvSpPr>
        <p:spPr>
          <a:xfrm>
            <a:off x="5934456"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11/16</a:t>
            </a:r>
            <a:endParaRPr b="0" i="0" sz="950" u="none" cap="none" strike="noStrike">
              <a:solidFill>
                <a:schemeClr val="dk1"/>
              </a:solidFill>
              <a:latin typeface="Arial"/>
              <a:ea typeface="Arial"/>
              <a:cs typeface="Arial"/>
              <a:sym typeface="Arial"/>
            </a:endParaRPr>
          </a:p>
        </p:txBody>
      </p:sp>
      <p:sp>
        <p:nvSpPr>
          <p:cNvPr id="83" name="Google Shape;83;p8"/>
          <p:cNvSpPr txBox="1"/>
          <p:nvPr/>
        </p:nvSpPr>
        <p:spPr>
          <a:xfrm>
            <a:off x="6592824"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11/23</a:t>
            </a:r>
            <a:endParaRPr b="0" i="0" sz="950" u="none" cap="none" strike="noStrike">
              <a:solidFill>
                <a:schemeClr val="dk1"/>
              </a:solidFill>
              <a:latin typeface="Arial"/>
              <a:ea typeface="Arial"/>
              <a:cs typeface="Arial"/>
              <a:sym typeface="Arial"/>
            </a:endParaRPr>
          </a:p>
        </p:txBody>
      </p:sp>
      <p:sp>
        <p:nvSpPr>
          <p:cNvPr id="84" name="Google Shape;84;p8"/>
          <p:cNvSpPr txBox="1"/>
          <p:nvPr/>
        </p:nvSpPr>
        <p:spPr>
          <a:xfrm>
            <a:off x="7251192"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11/30</a:t>
            </a:r>
            <a:endParaRPr b="0" i="0" sz="950" u="none" cap="none" strike="noStrike">
              <a:solidFill>
                <a:schemeClr val="dk1"/>
              </a:solidFill>
              <a:latin typeface="Arial"/>
              <a:ea typeface="Arial"/>
              <a:cs typeface="Arial"/>
              <a:sym typeface="Arial"/>
            </a:endParaRPr>
          </a:p>
        </p:txBody>
      </p:sp>
      <p:sp>
        <p:nvSpPr>
          <p:cNvPr id="85" name="Google Shape;85;p8"/>
          <p:cNvSpPr txBox="1"/>
          <p:nvPr/>
        </p:nvSpPr>
        <p:spPr>
          <a:xfrm>
            <a:off x="7909560"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12/7</a:t>
            </a:r>
            <a:endParaRPr b="0" i="0" sz="950" u="none" cap="none" strike="noStrike">
              <a:solidFill>
                <a:schemeClr val="dk1"/>
              </a:solidFill>
              <a:latin typeface="Arial"/>
              <a:ea typeface="Arial"/>
              <a:cs typeface="Arial"/>
              <a:sym typeface="Arial"/>
            </a:endParaRPr>
          </a:p>
        </p:txBody>
      </p:sp>
      <p:sp>
        <p:nvSpPr>
          <p:cNvPr id="86" name="Google Shape;86;p8"/>
          <p:cNvSpPr txBox="1"/>
          <p:nvPr/>
        </p:nvSpPr>
        <p:spPr>
          <a:xfrm>
            <a:off x="8567928"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12/14</a:t>
            </a:r>
            <a:endParaRPr b="0" i="0" sz="950" u="none" cap="none" strike="noStrike">
              <a:solidFill>
                <a:schemeClr val="dk1"/>
              </a:solidFill>
              <a:latin typeface="Arial"/>
              <a:ea typeface="Arial"/>
              <a:cs typeface="Arial"/>
              <a:sym typeface="Arial"/>
            </a:endParaRPr>
          </a:p>
        </p:txBody>
      </p:sp>
      <p:sp>
        <p:nvSpPr>
          <p:cNvPr id="87" name="Google Shape;87;p8"/>
          <p:cNvSpPr txBox="1"/>
          <p:nvPr/>
        </p:nvSpPr>
        <p:spPr>
          <a:xfrm>
            <a:off x="9226296"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12/21</a:t>
            </a:r>
            <a:endParaRPr b="0" i="0" sz="950" u="none" cap="none" strike="noStrike">
              <a:solidFill>
                <a:schemeClr val="dk1"/>
              </a:solidFill>
              <a:latin typeface="Arial"/>
              <a:ea typeface="Arial"/>
              <a:cs typeface="Arial"/>
              <a:sym typeface="Arial"/>
            </a:endParaRPr>
          </a:p>
        </p:txBody>
      </p:sp>
      <p:sp>
        <p:nvSpPr>
          <p:cNvPr id="88" name="Google Shape;88;p8"/>
          <p:cNvSpPr txBox="1"/>
          <p:nvPr/>
        </p:nvSpPr>
        <p:spPr>
          <a:xfrm>
            <a:off x="9884664" y="129844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12/28</a:t>
            </a:r>
            <a:endParaRPr b="0" i="0" sz="950" u="none" cap="none" strike="noStrike">
              <a:solidFill>
                <a:schemeClr val="dk1"/>
              </a:solidFill>
              <a:latin typeface="Arial"/>
              <a:ea typeface="Arial"/>
              <a:cs typeface="Arial"/>
              <a:sym typeface="Arial"/>
            </a:endParaRPr>
          </a:p>
        </p:txBody>
      </p:sp>
      <p:sp>
        <p:nvSpPr>
          <p:cNvPr id="89" name="Google Shape;89;p8"/>
          <p:cNvSpPr txBox="1"/>
          <p:nvPr/>
        </p:nvSpPr>
        <p:spPr>
          <a:xfrm>
            <a:off x="10260874" y="1298448"/>
            <a:ext cx="147087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Arial"/>
              <a:buNone/>
            </a:pPr>
            <a:r>
              <a:rPr b="0" i="0" lang="en-US" sz="950" u="none" cap="none" strike="noStrike">
                <a:solidFill>
                  <a:schemeClr val="accent2"/>
                </a:solidFill>
                <a:latin typeface="Arial"/>
                <a:ea typeface="Arial"/>
                <a:cs typeface="Arial"/>
                <a:sym typeface="Arial"/>
              </a:rPr>
              <a:t>1/1〜</a:t>
            </a:r>
            <a:endParaRPr b="0" i="0" sz="950" u="none" cap="none" strike="noStrike">
              <a:solidFill>
                <a:schemeClr val="dk1"/>
              </a:solidFill>
              <a:latin typeface="Arial"/>
              <a:ea typeface="Arial"/>
              <a:cs typeface="Arial"/>
              <a:sym typeface="Arial"/>
            </a:endParaRPr>
          </a:p>
        </p:txBody>
      </p:sp>
      <p:sp>
        <p:nvSpPr>
          <p:cNvPr id="90" name="Google Shape;90;p8"/>
          <p:cNvSpPr txBox="1"/>
          <p:nvPr/>
        </p:nvSpPr>
        <p:spPr>
          <a:xfrm>
            <a:off x="548640" y="1627632"/>
            <a:ext cx="3977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i="0" lang="en-US" sz="1100" u="none" cap="none" strike="noStrike">
                <a:solidFill>
                  <a:schemeClr val="dk2"/>
                </a:solidFill>
                <a:latin typeface="Arial"/>
                <a:ea typeface="Arial"/>
                <a:cs typeface="Arial"/>
                <a:sym typeface="Arial"/>
              </a:rPr>
              <a:t>マイルストーン</a:t>
            </a:r>
            <a:endParaRPr b="0" i="0" sz="1100" u="none" cap="none" strike="noStrike">
              <a:solidFill>
                <a:schemeClr val="dk1"/>
              </a:solidFill>
              <a:latin typeface="Arial"/>
              <a:ea typeface="Arial"/>
              <a:cs typeface="Arial"/>
              <a:sym typeface="Arial"/>
            </a:endParaRPr>
          </a:p>
        </p:txBody>
      </p:sp>
      <p:sp>
        <p:nvSpPr>
          <p:cNvPr id="91" name="Google Shape;91;p8"/>
          <p:cNvSpPr/>
          <p:nvPr/>
        </p:nvSpPr>
        <p:spPr>
          <a:xfrm>
            <a:off x="4582450" y="1673352"/>
            <a:ext cx="164592" cy="164592"/>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txBox="1"/>
          <p:nvPr/>
        </p:nvSpPr>
        <p:spPr>
          <a:xfrm>
            <a:off x="4207546" y="1847088"/>
            <a:ext cx="914400"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11月</a:t>
            </a:r>
            <a:endParaRPr b="0" i="0" sz="85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活動の開始</a:t>
            </a:r>
            <a:endParaRPr b="0" i="0" sz="850" u="none" cap="none" strike="noStrike">
              <a:solidFill>
                <a:schemeClr val="dk1"/>
              </a:solidFill>
              <a:latin typeface="Arial"/>
              <a:ea typeface="Arial"/>
              <a:cs typeface="Arial"/>
              <a:sym typeface="Arial"/>
            </a:endParaRPr>
          </a:p>
        </p:txBody>
      </p:sp>
      <p:sp>
        <p:nvSpPr>
          <p:cNvPr id="93" name="Google Shape;93;p8"/>
          <p:cNvSpPr/>
          <p:nvPr/>
        </p:nvSpPr>
        <p:spPr>
          <a:xfrm>
            <a:off x="8250501" y="1673352"/>
            <a:ext cx="164592" cy="164592"/>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txBox="1"/>
          <p:nvPr/>
        </p:nvSpPr>
        <p:spPr>
          <a:xfrm>
            <a:off x="7875597" y="1847088"/>
            <a:ext cx="914400"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12/11</a:t>
            </a:r>
            <a:endParaRPr b="0" i="0" sz="85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合意</a:t>
            </a:r>
            <a:endParaRPr b="0" i="0" sz="850" u="none" cap="none" strike="noStrike">
              <a:solidFill>
                <a:schemeClr val="dk1"/>
              </a:solidFill>
              <a:latin typeface="Arial"/>
              <a:ea typeface="Arial"/>
              <a:cs typeface="Arial"/>
              <a:sym typeface="Arial"/>
            </a:endParaRPr>
          </a:p>
        </p:txBody>
      </p:sp>
      <p:sp>
        <p:nvSpPr>
          <p:cNvPr id="95" name="Google Shape;95;p8"/>
          <p:cNvSpPr/>
          <p:nvPr/>
        </p:nvSpPr>
        <p:spPr>
          <a:xfrm>
            <a:off x="8908869" y="1673352"/>
            <a:ext cx="164592" cy="164592"/>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txBox="1"/>
          <p:nvPr/>
        </p:nvSpPr>
        <p:spPr>
          <a:xfrm>
            <a:off x="8533965" y="1847088"/>
            <a:ext cx="914400" cy="29260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12/18</a:t>
            </a:r>
            <a:endParaRPr b="0" i="0" sz="85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準備完了</a:t>
            </a:r>
            <a:endParaRPr b="0" i="0" sz="850" u="none" cap="none" strike="noStrike">
              <a:solidFill>
                <a:schemeClr val="dk1"/>
              </a:solidFill>
              <a:latin typeface="Arial"/>
              <a:ea typeface="Arial"/>
              <a:cs typeface="Arial"/>
              <a:sym typeface="Arial"/>
            </a:endParaRPr>
          </a:p>
        </p:txBody>
      </p:sp>
      <p:sp>
        <p:nvSpPr>
          <p:cNvPr id="97" name="Google Shape;97;p8"/>
          <p:cNvSpPr/>
          <p:nvPr/>
        </p:nvSpPr>
        <p:spPr>
          <a:xfrm>
            <a:off x="10178578" y="1673352"/>
            <a:ext cx="164592" cy="164592"/>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txBox="1"/>
          <p:nvPr/>
        </p:nvSpPr>
        <p:spPr>
          <a:xfrm>
            <a:off x="9328186" y="1847088"/>
            <a:ext cx="914400" cy="2926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850"/>
              <a:buFont typeface="Arial"/>
              <a:buNone/>
            </a:pPr>
            <a:r>
              <a:rPr b="1" i="0" lang="en-US" sz="850" u="none" cap="none" strike="noStrike">
                <a:solidFill>
                  <a:schemeClr val="dk2"/>
                </a:solidFill>
                <a:latin typeface="Arial"/>
                <a:ea typeface="Arial"/>
                <a:cs typeface="Arial"/>
                <a:sym typeface="Arial"/>
              </a:rPr>
              <a:t>12/31</a:t>
            </a:r>
            <a:endParaRPr b="0" i="0" sz="850" u="none" cap="none" strike="noStrike">
              <a:solidFill>
                <a:schemeClr val="dk1"/>
              </a:solidFill>
              <a:latin typeface="Arial"/>
              <a:ea typeface="Arial"/>
              <a:cs typeface="Arial"/>
              <a:sym typeface="Arial"/>
            </a:endParaRPr>
          </a:p>
          <a:p>
            <a:pPr indent="0" lvl="0" marL="0" marR="0" rtl="0" algn="r">
              <a:spcBef>
                <a:spcPts val="0"/>
              </a:spcBef>
              <a:spcAft>
                <a:spcPts val="0"/>
              </a:spcAft>
              <a:buClr>
                <a:schemeClr val="dk2"/>
              </a:buClr>
              <a:buSzPts val="850"/>
              <a:buFont typeface="Arial"/>
              <a:buNone/>
            </a:pPr>
            <a:r>
              <a:rPr b="1" i="0" lang="en-US" sz="850" u="none" cap="none" strike="noStrike">
                <a:solidFill>
                  <a:schemeClr val="dk2"/>
                </a:solidFill>
                <a:latin typeface="Arial"/>
                <a:ea typeface="Arial"/>
                <a:cs typeface="Arial"/>
                <a:sym typeface="Arial"/>
              </a:rPr>
              <a:t>稟議の承認</a:t>
            </a:r>
            <a:endParaRPr b="0" i="0" sz="850" u="none" cap="none" strike="noStrike">
              <a:solidFill>
                <a:schemeClr val="dk1"/>
              </a:solidFill>
              <a:latin typeface="Arial"/>
              <a:ea typeface="Arial"/>
              <a:cs typeface="Arial"/>
              <a:sym typeface="Arial"/>
            </a:endParaRPr>
          </a:p>
        </p:txBody>
      </p:sp>
      <p:sp>
        <p:nvSpPr>
          <p:cNvPr id="99" name="Google Shape;99;p8"/>
          <p:cNvSpPr/>
          <p:nvPr/>
        </p:nvSpPr>
        <p:spPr>
          <a:xfrm>
            <a:off x="10370602" y="1673352"/>
            <a:ext cx="164592" cy="164592"/>
          </a:xfrm>
          <a:prstGeom prst="diamond">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txBox="1"/>
          <p:nvPr/>
        </p:nvSpPr>
        <p:spPr>
          <a:xfrm>
            <a:off x="10370602" y="1847088"/>
            <a:ext cx="1342862"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850"/>
              <a:buFont typeface="Arial"/>
              <a:buNone/>
            </a:pPr>
            <a:r>
              <a:rPr b="0" i="0" lang="en-US" sz="850" u="none" cap="none" strike="noStrike">
                <a:solidFill>
                  <a:schemeClr val="accent2"/>
                </a:solidFill>
                <a:latin typeface="Arial"/>
                <a:ea typeface="Arial"/>
                <a:cs typeface="Arial"/>
                <a:sym typeface="Arial"/>
              </a:rPr>
              <a:t>1/1</a:t>
            </a:r>
            <a:endParaRPr b="0" i="0" sz="8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accent2"/>
              </a:buClr>
              <a:buSzPts val="850"/>
              <a:buFont typeface="Arial"/>
              <a:buNone/>
            </a:pPr>
            <a:r>
              <a:rPr b="0" i="0" lang="en-US" sz="850" u="none" cap="none" strike="noStrike">
                <a:solidFill>
                  <a:schemeClr val="accent2"/>
                </a:solidFill>
                <a:latin typeface="Arial"/>
                <a:ea typeface="Arial"/>
                <a:cs typeface="Arial"/>
                <a:sym typeface="Arial"/>
              </a:rPr>
              <a:t>移管（間接業務の開始）</a:t>
            </a:r>
            <a:endParaRPr b="0" i="0" sz="850" u="none" cap="none" strike="noStrike">
              <a:solidFill>
                <a:schemeClr val="dk1"/>
              </a:solidFill>
              <a:latin typeface="Arial"/>
              <a:ea typeface="Arial"/>
              <a:cs typeface="Arial"/>
              <a:sym typeface="Arial"/>
            </a:endParaRPr>
          </a:p>
        </p:txBody>
      </p:sp>
      <p:sp>
        <p:nvSpPr>
          <p:cNvPr id="101" name="Google Shape;101;p8"/>
          <p:cNvSpPr/>
          <p:nvPr/>
        </p:nvSpPr>
        <p:spPr>
          <a:xfrm>
            <a:off x="457200" y="2130552"/>
            <a:ext cx="11274552" cy="23774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txBox="1"/>
          <p:nvPr/>
        </p:nvSpPr>
        <p:spPr>
          <a:xfrm>
            <a:off x="548640" y="2130552"/>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i="0" lang="en-US" sz="1100" u="none" cap="none" strike="noStrike">
                <a:solidFill>
                  <a:schemeClr val="dk2"/>
                </a:solidFill>
                <a:latin typeface="Arial"/>
                <a:ea typeface="Arial"/>
                <a:cs typeface="Arial"/>
                <a:sym typeface="Arial"/>
              </a:rPr>
              <a:t>事務局</a:t>
            </a:r>
            <a:endParaRPr b="0" i="0" sz="1100" u="none" cap="none" strike="noStrike">
              <a:solidFill>
                <a:schemeClr val="dk1"/>
              </a:solidFill>
              <a:latin typeface="Arial"/>
              <a:ea typeface="Arial"/>
              <a:cs typeface="Arial"/>
              <a:sym typeface="Arial"/>
            </a:endParaRPr>
          </a:p>
        </p:txBody>
      </p:sp>
      <p:sp>
        <p:nvSpPr>
          <p:cNvPr id="103" name="Google Shape;103;p8"/>
          <p:cNvSpPr txBox="1"/>
          <p:nvPr/>
        </p:nvSpPr>
        <p:spPr>
          <a:xfrm>
            <a:off x="548640" y="2368296"/>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ガイドラインの公開と説明</a:t>
            </a:r>
            <a:endParaRPr b="0" i="0" sz="1050" u="none" cap="none" strike="noStrike">
              <a:solidFill>
                <a:schemeClr val="dk1"/>
              </a:solidFill>
              <a:latin typeface="Arial"/>
              <a:ea typeface="Arial"/>
              <a:cs typeface="Arial"/>
              <a:sym typeface="Arial"/>
            </a:endParaRPr>
          </a:p>
        </p:txBody>
      </p:sp>
      <p:cxnSp>
        <p:nvCxnSpPr>
          <p:cNvPr id="104" name="Google Shape;104;p8"/>
          <p:cNvCxnSpPr/>
          <p:nvPr/>
        </p:nvCxnSpPr>
        <p:spPr>
          <a:xfrm>
            <a:off x="457200" y="2633472"/>
            <a:ext cx="11274552" cy="0"/>
          </a:xfrm>
          <a:prstGeom prst="straightConnector1">
            <a:avLst/>
          </a:prstGeom>
          <a:noFill/>
          <a:ln cap="flat" cmpd="sng" w="9525">
            <a:solidFill>
              <a:srgbClr val="F4F6F9"/>
            </a:solidFill>
            <a:prstDash val="solid"/>
            <a:round/>
            <a:headEnd len="sm" w="sm" type="none"/>
            <a:tailEnd len="sm" w="sm" type="none"/>
          </a:ln>
        </p:spPr>
      </p:cxnSp>
      <p:sp>
        <p:nvSpPr>
          <p:cNvPr id="105" name="Google Shape;105;p8"/>
          <p:cNvSpPr/>
          <p:nvPr/>
        </p:nvSpPr>
        <p:spPr>
          <a:xfrm>
            <a:off x="4617720" y="2423160"/>
            <a:ext cx="173736" cy="173736"/>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txBox="1"/>
          <p:nvPr/>
        </p:nvSpPr>
        <p:spPr>
          <a:xfrm>
            <a:off x="548640" y="2633472"/>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移管ステータスと進捗の確認（毎日）</a:t>
            </a:r>
            <a:endParaRPr b="0" i="0" sz="1050" u="none" cap="none" strike="noStrike">
              <a:solidFill>
                <a:schemeClr val="dk1"/>
              </a:solidFill>
              <a:latin typeface="Arial"/>
              <a:ea typeface="Arial"/>
              <a:cs typeface="Arial"/>
              <a:sym typeface="Arial"/>
            </a:endParaRPr>
          </a:p>
        </p:txBody>
      </p:sp>
      <p:cxnSp>
        <p:nvCxnSpPr>
          <p:cNvPr id="107" name="Google Shape;107;p8"/>
          <p:cNvCxnSpPr/>
          <p:nvPr/>
        </p:nvCxnSpPr>
        <p:spPr>
          <a:xfrm>
            <a:off x="457200" y="2898648"/>
            <a:ext cx="11274552" cy="0"/>
          </a:xfrm>
          <a:prstGeom prst="straightConnector1">
            <a:avLst/>
          </a:prstGeom>
          <a:noFill/>
          <a:ln cap="flat" cmpd="sng" w="9525">
            <a:solidFill>
              <a:srgbClr val="F4F6F9"/>
            </a:solidFill>
            <a:prstDash val="solid"/>
            <a:round/>
            <a:headEnd len="sm" w="sm" type="none"/>
            <a:tailEnd len="sm" w="sm" type="none"/>
          </a:ln>
        </p:spPr>
      </p:cxnSp>
      <p:sp>
        <p:nvSpPr>
          <p:cNvPr id="108" name="Google Shape;108;p8"/>
          <p:cNvSpPr/>
          <p:nvPr/>
        </p:nvSpPr>
        <p:spPr>
          <a:xfrm>
            <a:off x="4617720" y="2697480"/>
            <a:ext cx="5643154" cy="13716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txBox="1"/>
          <p:nvPr/>
        </p:nvSpPr>
        <p:spPr>
          <a:xfrm>
            <a:off x="548640" y="2898648"/>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合意文書の横並びの確認</a:t>
            </a:r>
            <a:endParaRPr b="0" i="0" sz="1050" u="none" cap="none" strike="noStrike">
              <a:solidFill>
                <a:schemeClr val="dk1"/>
              </a:solidFill>
              <a:latin typeface="Arial"/>
              <a:ea typeface="Arial"/>
              <a:cs typeface="Arial"/>
              <a:sym typeface="Arial"/>
            </a:endParaRPr>
          </a:p>
        </p:txBody>
      </p:sp>
      <p:cxnSp>
        <p:nvCxnSpPr>
          <p:cNvPr id="110" name="Google Shape;110;p8"/>
          <p:cNvCxnSpPr/>
          <p:nvPr/>
        </p:nvCxnSpPr>
        <p:spPr>
          <a:xfrm>
            <a:off x="457200" y="3163824"/>
            <a:ext cx="11274552" cy="0"/>
          </a:xfrm>
          <a:prstGeom prst="straightConnector1">
            <a:avLst/>
          </a:prstGeom>
          <a:noFill/>
          <a:ln cap="flat" cmpd="sng" w="9525">
            <a:solidFill>
              <a:srgbClr val="F4F6F9"/>
            </a:solidFill>
            <a:prstDash val="solid"/>
            <a:round/>
            <a:headEnd len="sm" w="sm" type="none"/>
            <a:tailEnd len="sm" w="sm" type="none"/>
          </a:ln>
        </p:spPr>
      </p:cxnSp>
      <p:sp>
        <p:nvSpPr>
          <p:cNvPr id="111" name="Google Shape;111;p8"/>
          <p:cNvSpPr/>
          <p:nvPr/>
        </p:nvSpPr>
        <p:spPr>
          <a:xfrm>
            <a:off x="7251192" y="2962656"/>
            <a:ext cx="1128631"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txBox="1"/>
          <p:nvPr/>
        </p:nvSpPr>
        <p:spPr>
          <a:xfrm>
            <a:off x="548640" y="3163824"/>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移管の稟議の起票と承認（部門ごと）</a:t>
            </a:r>
            <a:endParaRPr b="0" i="0" sz="1050" u="none" cap="none" strike="noStrike">
              <a:solidFill>
                <a:schemeClr val="dk1"/>
              </a:solidFill>
              <a:latin typeface="Arial"/>
              <a:ea typeface="Arial"/>
              <a:cs typeface="Arial"/>
              <a:sym typeface="Arial"/>
            </a:endParaRPr>
          </a:p>
        </p:txBody>
      </p:sp>
      <p:cxnSp>
        <p:nvCxnSpPr>
          <p:cNvPr id="113" name="Google Shape;113;p8"/>
          <p:cNvCxnSpPr/>
          <p:nvPr/>
        </p:nvCxnSpPr>
        <p:spPr>
          <a:xfrm>
            <a:off x="457200" y="3429000"/>
            <a:ext cx="11274552" cy="0"/>
          </a:xfrm>
          <a:prstGeom prst="straightConnector1">
            <a:avLst/>
          </a:prstGeom>
          <a:noFill/>
          <a:ln cap="flat" cmpd="sng" w="9525">
            <a:solidFill>
              <a:srgbClr val="F4F6F9"/>
            </a:solidFill>
            <a:prstDash val="solid"/>
            <a:round/>
            <a:headEnd len="sm" w="sm" type="none"/>
            <a:tailEnd len="sm" w="sm" type="none"/>
          </a:ln>
        </p:spPr>
      </p:cxnSp>
      <p:sp>
        <p:nvSpPr>
          <p:cNvPr id="114" name="Google Shape;114;p8"/>
          <p:cNvSpPr/>
          <p:nvPr/>
        </p:nvSpPr>
        <p:spPr>
          <a:xfrm>
            <a:off x="7909560" y="3227832"/>
            <a:ext cx="2351314"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457200" y="3429000"/>
            <a:ext cx="11274552" cy="23774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txBox="1"/>
          <p:nvPr/>
        </p:nvSpPr>
        <p:spPr>
          <a:xfrm>
            <a:off x="548640" y="34290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i="0" lang="en-US" sz="1100" u="none" cap="none" strike="noStrike">
                <a:solidFill>
                  <a:schemeClr val="dk2"/>
                </a:solidFill>
                <a:latin typeface="Arial"/>
                <a:ea typeface="Arial"/>
                <a:cs typeface="Arial"/>
                <a:sym typeface="Arial"/>
              </a:rPr>
              <a:t>窓口担当</a:t>
            </a:r>
            <a:endParaRPr b="0" i="0" sz="1100" u="none" cap="none" strike="noStrike">
              <a:solidFill>
                <a:schemeClr val="dk1"/>
              </a:solidFill>
              <a:latin typeface="Arial"/>
              <a:ea typeface="Arial"/>
              <a:cs typeface="Arial"/>
              <a:sym typeface="Arial"/>
            </a:endParaRPr>
          </a:p>
        </p:txBody>
      </p:sp>
      <p:sp>
        <p:nvSpPr>
          <p:cNvPr id="117" name="Google Shape;117;p8"/>
          <p:cNvSpPr txBox="1"/>
          <p:nvPr/>
        </p:nvSpPr>
        <p:spPr>
          <a:xfrm>
            <a:off x="548640" y="3666744"/>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①　判定保留を解消し、棚卸しを終える</a:t>
            </a:r>
            <a:endParaRPr b="0" i="0" sz="1050" u="none" cap="none" strike="noStrike">
              <a:solidFill>
                <a:schemeClr val="dk1"/>
              </a:solidFill>
              <a:latin typeface="Arial"/>
              <a:ea typeface="Arial"/>
              <a:cs typeface="Arial"/>
              <a:sym typeface="Arial"/>
            </a:endParaRPr>
          </a:p>
        </p:txBody>
      </p:sp>
      <p:cxnSp>
        <p:nvCxnSpPr>
          <p:cNvPr id="118" name="Google Shape;118;p8"/>
          <p:cNvCxnSpPr/>
          <p:nvPr/>
        </p:nvCxnSpPr>
        <p:spPr>
          <a:xfrm>
            <a:off x="457200" y="3931920"/>
            <a:ext cx="11274552" cy="0"/>
          </a:xfrm>
          <a:prstGeom prst="straightConnector1">
            <a:avLst/>
          </a:prstGeom>
          <a:noFill/>
          <a:ln cap="flat" cmpd="sng" w="9525">
            <a:solidFill>
              <a:srgbClr val="F4F6F9"/>
            </a:solidFill>
            <a:prstDash val="solid"/>
            <a:round/>
            <a:headEnd len="sm" w="sm" type="none"/>
            <a:tailEnd len="sm" w="sm" type="none"/>
          </a:ln>
        </p:spPr>
      </p:cxnSp>
      <p:sp>
        <p:nvSpPr>
          <p:cNvPr id="119" name="Google Shape;119;p8"/>
          <p:cNvSpPr/>
          <p:nvPr/>
        </p:nvSpPr>
        <p:spPr>
          <a:xfrm>
            <a:off x="4617720" y="3730752"/>
            <a:ext cx="2727525"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txBox="1"/>
          <p:nvPr/>
        </p:nvSpPr>
        <p:spPr>
          <a:xfrm>
            <a:off x="548640" y="3931920"/>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②　引継ぎ・IT関連業務の扱いを合意する（合意文書）</a:t>
            </a:r>
            <a:endParaRPr b="0" i="0" sz="1050" u="none" cap="none" strike="noStrike">
              <a:solidFill>
                <a:schemeClr val="dk1"/>
              </a:solidFill>
              <a:latin typeface="Arial"/>
              <a:ea typeface="Arial"/>
              <a:cs typeface="Arial"/>
              <a:sym typeface="Arial"/>
            </a:endParaRPr>
          </a:p>
        </p:txBody>
      </p:sp>
      <p:cxnSp>
        <p:nvCxnSpPr>
          <p:cNvPr id="121" name="Google Shape;121;p8"/>
          <p:cNvCxnSpPr/>
          <p:nvPr/>
        </p:nvCxnSpPr>
        <p:spPr>
          <a:xfrm>
            <a:off x="457200" y="4197096"/>
            <a:ext cx="11274552" cy="0"/>
          </a:xfrm>
          <a:prstGeom prst="straightConnector1">
            <a:avLst/>
          </a:prstGeom>
          <a:noFill/>
          <a:ln cap="flat" cmpd="sng" w="9525">
            <a:solidFill>
              <a:srgbClr val="F4F6F9"/>
            </a:solidFill>
            <a:prstDash val="solid"/>
            <a:round/>
            <a:headEnd len="sm" w="sm" type="none"/>
            <a:tailEnd len="sm" w="sm" type="none"/>
          </a:ln>
        </p:spPr>
      </p:cxnSp>
      <p:sp>
        <p:nvSpPr>
          <p:cNvPr id="122" name="Google Shape;122;p8"/>
          <p:cNvSpPr/>
          <p:nvPr/>
        </p:nvSpPr>
        <p:spPr>
          <a:xfrm>
            <a:off x="5934456" y="3995928"/>
            <a:ext cx="2445367"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txBox="1"/>
          <p:nvPr/>
        </p:nvSpPr>
        <p:spPr>
          <a:xfrm>
            <a:off x="548640" y="4197096"/>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③　間接業務を受け手に引き継ぐ</a:t>
            </a:r>
            <a:endParaRPr b="0" i="0" sz="1050" u="none" cap="none" strike="noStrike">
              <a:solidFill>
                <a:schemeClr val="dk1"/>
              </a:solidFill>
              <a:latin typeface="Arial"/>
              <a:ea typeface="Arial"/>
              <a:cs typeface="Arial"/>
              <a:sym typeface="Arial"/>
            </a:endParaRPr>
          </a:p>
        </p:txBody>
      </p:sp>
      <p:cxnSp>
        <p:nvCxnSpPr>
          <p:cNvPr id="124" name="Google Shape;124;p8"/>
          <p:cNvCxnSpPr/>
          <p:nvPr/>
        </p:nvCxnSpPr>
        <p:spPr>
          <a:xfrm>
            <a:off x="457200" y="4462272"/>
            <a:ext cx="11274552" cy="0"/>
          </a:xfrm>
          <a:prstGeom prst="straightConnector1">
            <a:avLst/>
          </a:prstGeom>
          <a:noFill/>
          <a:ln cap="flat" cmpd="sng" w="9525">
            <a:solidFill>
              <a:srgbClr val="F4F6F9"/>
            </a:solidFill>
            <a:prstDash val="solid"/>
            <a:round/>
            <a:headEnd len="sm" w="sm" type="none"/>
            <a:tailEnd len="sm" w="sm" type="none"/>
          </a:ln>
        </p:spPr>
      </p:cxnSp>
      <p:sp>
        <p:nvSpPr>
          <p:cNvPr id="125" name="Google Shape;125;p8"/>
          <p:cNvSpPr/>
          <p:nvPr/>
        </p:nvSpPr>
        <p:spPr>
          <a:xfrm>
            <a:off x="7251192" y="4261104"/>
            <a:ext cx="1786999"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txBox="1"/>
          <p:nvPr/>
        </p:nvSpPr>
        <p:spPr>
          <a:xfrm>
            <a:off x="548640" y="4462272"/>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④　準備完了を確認する</a:t>
            </a:r>
            <a:endParaRPr b="0" i="0" sz="1050" u="none" cap="none" strike="noStrike">
              <a:solidFill>
                <a:schemeClr val="dk1"/>
              </a:solidFill>
              <a:latin typeface="Arial"/>
              <a:ea typeface="Arial"/>
              <a:cs typeface="Arial"/>
              <a:sym typeface="Arial"/>
            </a:endParaRPr>
          </a:p>
        </p:txBody>
      </p:sp>
      <p:cxnSp>
        <p:nvCxnSpPr>
          <p:cNvPr id="127" name="Google Shape;127;p8"/>
          <p:cNvCxnSpPr/>
          <p:nvPr/>
        </p:nvCxnSpPr>
        <p:spPr>
          <a:xfrm>
            <a:off x="457200" y="4727448"/>
            <a:ext cx="11274552" cy="0"/>
          </a:xfrm>
          <a:prstGeom prst="straightConnector1">
            <a:avLst/>
          </a:prstGeom>
          <a:noFill/>
          <a:ln cap="flat" cmpd="sng" w="9525">
            <a:solidFill>
              <a:srgbClr val="F4F6F9"/>
            </a:solidFill>
            <a:prstDash val="solid"/>
            <a:round/>
            <a:headEnd len="sm" w="sm" type="none"/>
            <a:tailEnd len="sm" w="sm" type="none"/>
          </a:ln>
        </p:spPr>
      </p:cxnSp>
      <p:sp>
        <p:nvSpPr>
          <p:cNvPr id="128" name="Google Shape;128;p8"/>
          <p:cNvSpPr/>
          <p:nvPr/>
        </p:nvSpPr>
        <p:spPr>
          <a:xfrm>
            <a:off x="8567928" y="4526280"/>
            <a:ext cx="470263" cy="13716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548640" y="4727448"/>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移管ステータスの更新（随時）</a:t>
            </a:r>
            <a:endParaRPr b="0" i="0" sz="1050" u="none" cap="none" strike="noStrike">
              <a:solidFill>
                <a:schemeClr val="dk1"/>
              </a:solidFill>
              <a:latin typeface="Arial"/>
              <a:ea typeface="Arial"/>
              <a:cs typeface="Arial"/>
              <a:sym typeface="Arial"/>
            </a:endParaRPr>
          </a:p>
        </p:txBody>
      </p:sp>
      <p:cxnSp>
        <p:nvCxnSpPr>
          <p:cNvPr id="130" name="Google Shape;130;p8"/>
          <p:cNvCxnSpPr/>
          <p:nvPr/>
        </p:nvCxnSpPr>
        <p:spPr>
          <a:xfrm>
            <a:off x="457200" y="4992624"/>
            <a:ext cx="11274552" cy="0"/>
          </a:xfrm>
          <a:prstGeom prst="straightConnector1">
            <a:avLst/>
          </a:prstGeom>
          <a:noFill/>
          <a:ln cap="flat" cmpd="sng" w="9525">
            <a:solidFill>
              <a:srgbClr val="F4F6F9"/>
            </a:solidFill>
            <a:prstDash val="solid"/>
            <a:round/>
            <a:headEnd len="sm" w="sm" type="none"/>
            <a:tailEnd len="sm" w="sm" type="none"/>
          </a:ln>
        </p:spPr>
      </p:cxnSp>
      <p:sp>
        <p:nvSpPr>
          <p:cNvPr id="131" name="Google Shape;131;p8"/>
          <p:cNvSpPr/>
          <p:nvPr/>
        </p:nvSpPr>
        <p:spPr>
          <a:xfrm>
            <a:off x="4617720" y="4791456"/>
            <a:ext cx="5643154" cy="13716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txBox="1"/>
          <p:nvPr/>
        </p:nvSpPr>
        <p:spPr>
          <a:xfrm>
            <a:off x="548640" y="4992624"/>
            <a:ext cx="402336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経過措置の業務の担当の変更（手続きの完了後）</a:t>
            </a:r>
            <a:endParaRPr b="0" i="0" sz="1050" u="none" cap="none" strike="noStrike">
              <a:solidFill>
                <a:schemeClr val="dk1"/>
              </a:solidFill>
              <a:latin typeface="Arial"/>
              <a:ea typeface="Arial"/>
              <a:cs typeface="Arial"/>
              <a:sym typeface="Arial"/>
            </a:endParaRPr>
          </a:p>
        </p:txBody>
      </p:sp>
      <p:cxnSp>
        <p:nvCxnSpPr>
          <p:cNvPr id="133" name="Google Shape;133;p8"/>
          <p:cNvCxnSpPr/>
          <p:nvPr/>
        </p:nvCxnSpPr>
        <p:spPr>
          <a:xfrm>
            <a:off x="457200" y="5257800"/>
            <a:ext cx="11274552" cy="0"/>
          </a:xfrm>
          <a:prstGeom prst="straightConnector1">
            <a:avLst/>
          </a:prstGeom>
          <a:noFill/>
          <a:ln cap="flat" cmpd="sng" w="9525">
            <a:solidFill>
              <a:srgbClr val="F4F6F9"/>
            </a:solidFill>
            <a:prstDash val="solid"/>
            <a:round/>
            <a:headEnd len="sm" w="sm" type="none"/>
            <a:tailEnd len="sm" w="sm" type="none"/>
          </a:ln>
        </p:spPr>
      </p:cxnSp>
      <p:sp>
        <p:nvSpPr>
          <p:cNvPr id="134" name="Google Shape;134;p8"/>
          <p:cNvSpPr/>
          <p:nvPr/>
        </p:nvSpPr>
        <p:spPr>
          <a:xfrm>
            <a:off x="10315738" y="5056632"/>
            <a:ext cx="1361150" cy="137160"/>
          </a:xfrm>
          <a:prstGeom prst="rect">
            <a:avLst/>
          </a:prstGeom>
          <a:solidFill>
            <a:schemeClr val="lt2"/>
          </a:solidFill>
          <a:ln cap="flat" cmpd="sng" w="952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10315738" y="5056632"/>
            <a:ext cx="1361150"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850"/>
              <a:buFont typeface="Arial"/>
              <a:buNone/>
            </a:pPr>
            <a:r>
              <a:rPr b="0" i="0" lang="en-US" sz="850" u="none" cap="none" strike="noStrike">
                <a:solidFill>
                  <a:schemeClr val="accent2"/>
                </a:solidFill>
                <a:latin typeface="Arial"/>
                <a:ea typeface="Arial"/>
                <a:cs typeface="Arial"/>
                <a:sym typeface="Arial"/>
              </a:rPr>
              <a:t>完了予定に沿って</a:t>
            </a:r>
            <a:endParaRPr b="0" i="0" sz="850" u="none" cap="none" strike="noStrike">
              <a:solidFill>
                <a:schemeClr val="dk1"/>
              </a:solidFill>
              <a:latin typeface="Arial"/>
              <a:ea typeface="Arial"/>
              <a:cs typeface="Arial"/>
              <a:sym typeface="Arial"/>
            </a:endParaRPr>
          </a:p>
        </p:txBody>
      </p:sp>
      <p:cxnSp>
        <p:nvCxnSpPr>
          <p:cNvPr id="136" name="Google Shape;136;p8"/>
          <p:cNvCxnSpPr/>
          <p:nvPr/>
        </p:nvCxnSpPr>
        <p:spPr>
          <a:xfrm>
            <a:off x="7345245" y="1627632"/>
            <a:ext cx="0" cy="3630168"/>
          </a:xfrm>
          <a:prstGeom prst="straightConnector1">
            <a:avLst/>
          </a:prstGeom>
          <a:noFill/>
          <a:ln cap="flat" cmpd="sng" w="9525">
            <a:solidFill>
              <a:schemeClr val="accent3"/>
            </a:solidFill>
            <a:prstDash val="solid"/>
            <a:round/>
            <a:headEnd len="sm" w="sm" type="none"/>
            <a:tailEnd len="sm" w="sm" type="none"/>
          </a:ln>
        </p:spPr>
      </p:cxnSp>
      <p:cxnSp>
        <p:nvCxnSpPr>
          <p:cNvPr id="137" name="Google Shape;137;p8"/>
          <p:cNvCxnSpPr/>
          <p:nvPr/>
        </p:nvCxnSpPr>
        <p:spPr>
          <a:xfrm>
            <a:off x="8379823" y="1627632"/>
            <a:ext cx="0" cy="3630168"/>
          </a:xfrm>
          <a:prstGeom prst="straightConnector1">
            <a:avLst/>
          </a:prstGeom>
          <a:noFill/>
          <a:ln cap="flat" cmpd="sng" w="9525">
            <a:solidFill>
              <a:schemeClr val="accent3"/>
            </a:solidFill>
            <a:prstDash val="dash"/>
            <a:round/>
            <a:headEnd len="sm" w="sm" type="none"/>
            <a:tailEnd len="sm" w="sm" type="none"/>
          </a:ln>
        </p:spPr>
      </p:cxnSp>
      <p:cxnSp>
        <p:nvCxnSpPr>
          <p:cNvPr id="138" name="Google Shape;138;p8"/>
          <p:cNvCxnSpPr/>
          <p:nvPr/>
        </p:nvCxnSpPr>
        <p:spPr>
          <a:xfrm>
            <a:off x="9038191" y="1627632"/>
            <a:ext cx="0" cy="3630168"/>
          </a:xfrm>
          <a:prstGeom prst="straightConnector1">
            <a:avLst/>
          </a:prstGeom>
          <a:noFill/>
          <a:ln cap="flat" cmpd="sng" w="9525">
            <a:solidFill>
              <a:schemeClr val="accent3"/>
            </a:solidFill>
            <a:prstDash val="dash"/>
            <a:round/>
            <a:headEnd len="sm" w="sm" type="none"/>
            <a:tailEnd len="sm" w="sm" type="none"/>
          </a:ln>
        </p:spPr>
      </p:cxnSp>
      <p:cxnSp>
        <p:nvCxnSpPr>
          <p:cNvPr id="139" name="Google Shape;139;p8"/>
          <p:cNvCxnSpPr/>
          <p:nvPr/>
        </p:nvCxnSpPr>
        <p:spPr>
          <a:xfrm>
            <a:off x="10260874" y="1627632"/>
            <a:ext cx="0" cy="3630168"/>
          </a:xfrm>
          <a:prstGeom prst="straightConnector1">
            <a:avLst/>
          </a:prstGeom>
          <a:noFill/>
          <a:ln cap="flat" cmpd="sng" w="9525">
            <a:solidFill>
              <a:schemeClr val="dk2"/>
            </a:solidFill>
            <a:prstDash val="solid"/>
            <a:round/>
            <a:headEnd len="sm" w="sm" type="none"/>
            <a:tailEnd len="sm" w="sm" type="none"/>
          </a:ln>
        </p:spPr>
      </p:cxnSp>
      <p:sp>
        <p:nvSpPr>
          <p:cNvPr id="140" name="Google Shape;140;p8"/>
          <p:cNvSpPr/>
          <p:nvPr/>
        </p:nvSpPr>
        <p:spPr>
          <a:xfrm>
            <a:off x="457200" y="5440680"/>
            <a:ext cx="5554980" cy="9601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nvSpPr>
        <p:spPr>
          <a:xfrm>
            <a:off x="621792" y="5532120"/>
            <a:ext cx="522579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事務局</a:t>
            </a:r>
            <a:endParaRPr b="0" i="0" sz="1200" u="none" cap="none" strike="noStrike">
              <a:solidFill>
                <a:schemeClr val="dk1"/>
              </a:solidFill>
              <a:latin typeface="Arial"/>
              <a:ea typeface="Arial"/>
              <a:cs typeface="Arial"/>
              <a:sym typeface="Arial"/>
            </a:endParaRPr>
          </a:p>
        </p:txBody>
      </p:sp>
      <p:sp>
        <p:nvSpPr>
          <p:cNvPr id="142" name="Google Shape;142;p8"/>
          <p:cNvSpPr txBox="1"/>
          <p:nvPr/>
        </p:nvSpPr>
        <p:spPr>
          <a:xfrm>
            <a:off x="621792" y="5806440"/>
            <a:ext cx="5225796"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全体を取りまとめる。移管ステータスを毎日確認し、部門の案件のステータスが埋まったら移管の稟議を起票する。合意文書を横並びで確かめる。IT部門長への依頼と相談は事務局が行う</a:t>
            </a:r>
            <a:endParaRPr b="0" i="0" sz="1000" u="none" cap="none" strike="noStrike">
              <a:solidFill>
                <a:schemeClr val="dk1"/>
              </a:solidFill>
              <a:latin typeface="Arial"/>
              <a:ea typeface="Arial"/>
              <a:cs typeface="Arial"/>
              <a:sym typeface="Arial"/>
            </a:endParaRPr>
          </a:p>
        </p:txBody>
      </p:sp>
      <p:sp>
        <p:nvSpPr>
          <p:cNvPr id="143" name="Google Shape;143;p8"/>
          <p:cNvSpPr/>
          <p:nvPr/>
        </p:nvSpPr>
        <p:spPr>
          <a:xfrm>
            <a:off x="6176772" y="5440680"/>
            <a:ext cx="5554980" cy="9601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txBox="1"/>
          <p:nvPr/>
        </p:nvSpPr>
        <p:spPr>
          <a:xfrm>
            <a:off x="6341364" y="5532120"/>
            <a:ext cx="5225796"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窓口担当（各チーム）</a:t>
            </a:r>
            <a:endParaRPr b="0" i="0" sz="1200" u="none" cap="none" strike="noStrike">
              <a:solidFill>
                <a:schemeClr val="dk1"/>
              </a:solidFill>
              <a:latin typeface="Arial"/>
              <a:ea typeface="Arial"/>
              <a:cs typeface="Arial"/>
              <a:sym typeface="Arial"/>
            </a:endParaRPr>
          </a:p>
        </p:txBody>
      </p:sp>
      <p:sp>
        <p:nvSpPr>
          <p:cNvPr id="145" name="Google Shape;145;p8"/>
          <p:cNvSpPr txBox="1"/>
          <p:nvPr/>
        </p:nvSpPr>
        <p:spPr>
          <a:xfrm>
            <a:off x="6341364" y="5806440"/>
            <a:ext cx="5225796"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その案件でビジネス部門のカウンターパートを務めている各チームのメンバーが、普段の業務として担う。進め方はビジネス部門と合意して決める（8枚目）</a:t>
            </a:r>
            <a:endParaRPr b="0" i="0" sz="1000" u="none" cap="none" strike="noStrike">
              <a:solidFill>
                <a:schemeClr val="dk1"/>
              </a:solidFill>
              <a:latin typeface="Arial"/>
              <a:ea typeface="Arial"/>
              <a:cs typeface="Arial"/>
              <a:sym typeface="Arial"/>
            </a:endParaRPr>
          </a:p>
        </p:txBody>
      </p:sp>
      <p:sp>
        <p:nvSpPr>
          <p:cNvPr id="146" name="Google Shape;146;p8"/>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窓口担当の手引き</a:t>
            </a:r>
            <a:endParaRPr sz="2600"/>
          </a:p>
        </p:txBody>
      </p:sp>
      <p:sp>
        <p:nvSpPr>
          <p:cNvPr id="153" name="Google Shape;153;p9"/>
          <p:cNvSpPr txBox="1"/>
          <p:nvPr/>
        </p:nvSpPr>
        <p:spPr>
          <a:xfrm>
            <a:off x="457200" y="1005840"/>
            <a:ext cx="7360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i="0" lang="en-US" sz="1200" u="none" cap="none" strike="noStrike">
                <a:solidFill>
                  <a:schemeClr val="accent2"/>
                </a:solidFill>
                <a:latin typeface="Arial"/>
                <a:ea typeface="Arial"/>
                <a:cs typeface="Arial"/>
                <a:sym typeface="Arial"/>
              </a:rPr>
              <a:t>やること（7枚目のタスク①〜④）</a:t>
            </a:r>
            <a:endParaRPr b="0" i="0" sz="1200" u="none" cap="none" strike="noStrike">
              <a:solidFill>
                <a:schemeClr val="dk1"/>
              </a:solidFill>
              <a:latin typeface="Arial"/>
              <a:ea typeface="Arial"/>
              <a:cs typeface="Arial"/>
              <a:sym typeface="Arial"/>
            </a:endParaRPr>
          </a:p>
        </p:txBody>
      </p:sp>
      <p:sp>
        <p:nvSpPr>
          <p:cNvPr id="154" name="Google Shape;154;p9"/>
          <p:cNvSpPr/>
          <p:nvPr/>
        </p:nvSpPr>
        <p:spPr>
          <a:xfrm>
            <a:off x="457200" y="1353312"/>
            <a:ext cx="7360920" cy="120700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612648" y="1490472"/>
            <a:ext cx="384048" cy="384048"/>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txBox="1"/>
          <p:nvPr/>
        </p:nvSpPr>
        <p:spPr>
          <a:xfrm>
            <a:off x="612648" y="14904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157" name="Google Shape;157;p9"/>
          <p:cNvSpPr txBox="1"/>
          <p:nvPr/>
        </p:nvSpPr>
        <p:spPr>
          <a:xfrm>
            <a:off x="1143000" y="1490472"/>
            <a:ext cx="5120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判定保留を解消し、棚卸しを終える</a:t>
            </a:r>
            <a:endParaRPr b="0" i="0" sz="1400" u="none" cap="none" strike="noStrike">
              <a:solidFill>
                <a:schemeClr val="dk1"/>
              </a:solidFill>
              <a:latin typeface="Arial"/>
              <a:ea typeface="Arial"/>
              <a:cs typeface="Arial"/>
              <a:sym typeface="Arial"/>
            </a:endParaRPr>
          </a:p>
        </p:txBody>
      </p:sp>
      <p:sp>
        <p:nvSpPr>
          <p:cNvPr id="158" name="Google Shape;158;p9"/>
          <p:cNvSpPr txBox="1"/>
          <p:nvPr/>
        </p:nvSpPr>
        <p:spPr>
          <a:xfrm>
            <a:off x="6400800" y="1490472"/>
            <a:ext cx="1261872"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11月中</a:t>
            </a:r>
            <a:endParaRPr b="0" i="0" sz="1200" u="none" cap="none" strike="noStrike">
              <a:solidFill>
                <a:schemeClr val="dk1"/>
              </a:solidFill>
              <a:latin typeface="Arial"/>
              <a:ea typeface="Arial"/>
              <a:cs typeface="Arial"/>
              <a:sym typeface="Arial"/>
            </a:endParaRPr>
          </a:p>
        </p:txBody>
      </p:sp>
      <p:sp>
        <p:nvSpPr>
          <p:cNvPr id="159" name="Google Shape;159;p9"/>
          <p:cNvSpPr txBox="1"/>
          <p:nvPr/>
        </p:nvSpPr>
        <p:spPr>
          <a:xfrm>
            <a:off x="1143000" y="185623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記入内容を部門の担当者に確かめ、足りない入力を埋めて判定保留をなくす</a:t>
            </a:r>
            <a:endParaRPr b="0" i="0" sz="1000" u="none" cap="none" strike="noStrike">
              <a:solidFill>
                <a:schemeClr val="dk1"/>
              </a:solidFill>
              <a:latin typeface="Arial"/>
              <a:ea typeface="Arial"/>
              <a:cs typeface="Arial"/>
              <a:sym typeface="Arial"/>
            </a:endParaRPr>
          </a:p>
        </p:txBody>
      </p:sp>
      <p:sp>
        <p:nvSpPr>
          <p:cNvPr id="160" name="Google Shape;160;p9"/>
          <p:cNvSpPr txBox="1"/>
          <p:nvPr/>
        </p:nvSpPr>
        <p:spPr>
          <a:xfrm>
            <a:off x="1143000" y="222199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成果物　</a:t>
            </a:r>
            <a:r>
              <a:rPr b="0" i="0" lang="en-US" sz="1000" u="none" cap="none" strike="noStrike">
                <a:solidFill>
                  <a:schemeClr val="dk1"/>
                </a:solidFill>
                <a:latin typeface="Arial"/>
                <a:ea typeface="Arial"/>
                <a:cs typeface="Arial"/>
                <a:sym typeface="Arial"/>
              </a:rPr>
              <a:t>部門の担当者が確認した予算移管シート（予算一覧・紐付け・システム・業務・契約）。判定保留がない状態</a:t>
            </a:r>
            <a:r>
              <a:rPr b="0" i="0" lang="en-US" sz="1000" u="none" cap="none" strike="noStrike">
                <a:solidFill>
                  <a:schemeClr val="accent2"/>
                </a:solidFill>
                <a:latin typeface="Arial"/>
                <a:ea typeface="Arial"/>
                <a:cs typeface="Arial"/>
                <a:sym typeface="Arial"/>
              </a:rPr>
              <a:t>　／　ステータス → 棚卸し済み</a:t>
            </a:r>
            <a:endParaRPr b="0" i="0" sz="1000" u="none" cap="none" strike="noStrike">
              <a:solidFill>
                <a:schemeClr val="dk1"/>
              </a:solidFill>
              <a:latin typeface="Arial"/>
              <a:ea typeface="Arial"/>
              <a:cs typeface="Arial"/>
              <a:sym typeface="Arial"/>
            </a:endParaRPr>
          </a:p>
        </p:txBody>
      </p:sp>
      <p:sp>
        <p:nvSpPr>
          <p:cNvPr id="161" name="Google Shape;161;p9"/>
          <p:cNvSpPr/>
          <p:nvPr/>
        </p:nvSpPr>
        <p:spPr>
          <a:xfrm>
            <a:off x="457200" y="2633472"/>
            <a:ext cx="7360920" cy="120700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612648" y="2770632"/>
            <a:ext cx="384048" cy="384048"/>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txBox="1"/>
          <p:nvPr/>
        </p:nvSpPr>
        <p:spPr>
          <a:xfrm>
            <a:off x="612648" y="2770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164" name="Google Shape;164;p9"/>
          <p:cNvSpPr txBox="1"/>
          <p:nvPr/>
        </p:nvSpPr>
        <p:spPr>
          <a:xfrm>
            <a:off x="1143000" y="2770632"/>
            <a:ext cx="5120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引継ぎ・IT関連業務の扱いを合意する</a:t>
            </a:r>
            <a:endParaRPr b="0" i="0" sz="1400" u="none" cap="none" strike="noStrike">
              <a:solidFill>
                <a:schemeClr val="dk1"/>
              </a:solidFill>
              <a:latin typeface="Arial"/>
              <a:ea typeface="Arial"/>
              <a:cs typeface="Arial"/>
              <a:sym typeface="Arial"/>
            </a:endParaRPr>
          </a:p>
        </p:txBody>
      </p:sp>
      <p:sp>
        <p:nvSpPr>
          <p:cNvPr id="165" name="Google Shape;165;p9"/>
          <p:cNvSpPr txBox="1"/>
          <p:nvPr/>
        </p:nvSpPr>
        <p:spPr>
          <a:xfrm>
            <a:off x="6400800" y="2770632"/>
            <a:ext cx="1261872"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12/11まで</a:t>
            </a:r>
            <a:endParaRPr b="0" i="0" sz="1200" u="none" cap="none" strike="noStrike">
              <a:solidFill>
                <a:schemeClr val="dk1"/>
              </a:solidFill>
              <a:latin typeface="Arial"/>
              <a:ea typeface="Arial"/>
              <a:cs typeface="Arial"/>
              <a:sym typeface="Arial"/>
            </a:endParaRPr>
          </a:p>
        </p:txBody>
      </p:sp>
      <p:sp>
        <p:nvSpPr>
          <p:cNvPr id="166" name="Google Shape;166;p9"/>
          <p:cNvSpPr txBox="1"/>
          <p:nvPr/>
        </p:nvSpPr>
        <p:spPr>
          <a:xfrm>
            <a:off x="1143000" y="313639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RACI（12・13枚目）を案件に合わせてカスタマイズし、経過措置と引継ぎの方法を加えた合意文書を作り、移管元の責任者の承認を得る</a:t>
            </a:r>
            <a:endParaRPr b="0" i="0" sz="1000" u="none" cap="none" strike="noStrike">
              <a:solidFill>
                <a:schemeClr val="dk1"/>
              </a:solidFill>
              <a:latin typeface="Arial"/>
              <a:ea typeface="Arial"/>
              <a:cs typeface="Arial"/>
              <a:sym typeface="Arial"/>
            </a:endParaRPr>
          </a:p>
        </p:txBody>
      </p:sp>
      <p:sp>
        <p:nvSpPr>
          <p:cNvPr id="167" name="Google Shape;167;p9"/>
          <p:cNvSpPr txBox="1"/>
          <p:nvPr/>
        </p:nvSpPr>
        <p:spPr>
          <a:xfrm>
            <a:off x="1143000" y="350215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成果物　</a:t>
            </a:r>
            <a:r>
              <a:rPr b="0" i="0" lang="en-US" sz="1000" u="none" cap="none" strike="noStrike">
                <a:solidFill>
                  <a:schemeClr val="dk1"/>
                </a:solidFill>
                <a:latin typeface="Arial"/>
                <a:ea typeface="Arial"/>
                <a:cs typeface="Arial"/>
                <a:sym typeface="Arial"/>
              </a:rPr>
              <a:t>承認された合意文書（カスタマイズした RACI、経過措置と完了予定、引継ぎの方法。決定記録に登録）</a:t>
            </a:r>
            <a:r>
              <a:rPr b="0" i="0" lang="en-US" sz="1000" u="none" cap="none" strike="noStrike">
                <a:solidFill>
                  <a:schemeClr val="accent2"/>
                </a:solidFill>
                <a:latin typeface="Arial"/>
                <a:ea typeface="Arial"/>
                <a:cs typeface="Arial"/>
                <a:sym typeface="Arial"/>
              </a:rPr>
              <a:t>　／　ステータス → 合意済み</a:t>
            </a:r>
            <a:endParaRPr b="0" i="0" sz="1000" u="none" cap="none" strike="noStrike">
              <a:solidFill>
                <a:schemeClr val="dk1"/>
              </a:solidFill>
              <a:latin typeface="Arial"/>
              <a:ea typeface="Arial"/>
              <a:cs typeface="Arial"/>
              <a:sym typeface="Arial"/>
            </a:endParaRPr>
          </a:p>
        </p:txBody>
      </p:sp>
      <p:sp>
        <p:nvSpPr>
          <p:cNvPr id="168" name="Google Shape;168;p9"/>
          <p:cNvSpPr/>
          <p:nvPr/>
        </p:nvSpPr>
        <p:spPr>
          <a:xfrm>
            <a:off x="457200" y="3913632"/>
            <a:ext cx="7360920" cy="120700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612648" y="4050792"/>
            <a:ext cx="384048" cy="384048"/>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txBox="1"/>
          <p:nvPr/>
        </p:nvSpPr>
        <p:spPr>
          <a:xfrm>
            <a:off x="612648" y="40507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171" name="Google Shape;171;p9"/>
          <p:cNvSpPr txBox="1"/>
          <p:nvPr/>
        </p:nvSpPr>
        <p:spPr>
          <a:xfrm>
            <a:off x="1143000" y="4050792"/>
            <a:ext cx="5120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間接業務を受け手に引き継ぐ</a:t>
            </a:r>
            <a:endParaRPr b="0" i="0" sz="1400" u="none" cap="none" strike="noStrike">
              <a:solidFill>
                <a:schemeClr val="dk1"/>
              </a:solidFill>
              <a:latin typeface="Arial"/>
              <a:ea typeface="Arial"/>
              <a:cs typeface="Arial"/>
              <a:sym typeface="Arial"/>
            </a:endParaRPr>
          </a:p>
        </p:txBody>
      </p:sp>
      <p:sp>
        <p:nvSpPr>
          <p:cNvPr id="172" name="Google Shape;172;p9"/>
          <p:cNvSpPr txBox="1"/>
          <p:nvPr/>
        </p:nvSpPr>
        <p:spPr>
          <a:xfrm>
            <a:off x="6400800" y="4050792"/>
            <a:ext cx="1261872"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12/18まで</a:t>
            </a:r>
            <a:endParaRPr b="0" i="0" sz="1200" u="none" cap="none" strike="noStrike">
              <a:solidFill>
                <a:schemeClr val="dk1"/>
              </a:solidFill>
              <a:latin typeface="Arial"/>
              <a:ea typeface="Arial"/>
              <a:cs typeface="Arial"/>
              <a:sym typeface="Arial"/>
            </a:endParaRPr>
          </a:p>
        </p:txBody>
      </p:sp>
      <p:sp>
        <p:nvSpPr>
          <p:cNvPr id="173" name="Google Shape;173;p9"/>
          <p:cNvSpPr txBox="1"/>
          <p:nvPr/>
        </p:nvSpPr>
        <p:spPr>
          <a:xfrm>
            <a:off x="1143000" y="441655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部門から手順・資料を受け取り、受け手に渡す</a:t>
            </a:r>
            <a:endParaRPr b="0" i="0" sz="1000" u="none" cap="none" strike="noStrike">
              <a:solidFill>
                <a:schemeClr val="dk1"/>
              </a:solidFill>
              <a:latin typeface="Arial"/>
              <a:ea typeface="Arial"/>
              <a:cs typeface="Arial"/>
              <a:sym typeface="Arial"/>
            </a:endParaRPr>
          </a:p>
        </p:txBody>
      </p:sp>
      <p:sp>
        <p:nvSpPr>
          <p:cNvPr id="174" name="Google Shape;174;p9"/>
          <p:cNvSpPr txBox="1"/>
          <p:nvPr/>
        </p:nvSpPr>
        <p:spPr>
          <a:xfrm>
            <a:off x="1143000" y="478231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成果物　</a:t>
            </a:r>
            <a:r>
              <a:rPr b="0" i="0" lang="en-US" sz="1000" u="none" cap="none" strike="noStrike">
                <a:solidFill>
                  <a:schemeClr val="dk1"/>
                </a:solidFill>
                <a:latin typeface="Arial"/>
                <a:ea typeface="Arial"/>
                <a:cs typeface="Arial"/>
                <a:sym typeface="Arial"/>
              </a:rPr>
              <a:t>受け手に渡した資料一式（契約書の写し、請求の窓口、支払いの時期、未払いの請求）。担当の変更に手続きが要る業務（GxP など）は、その起票と完了予定</a:t>
            </a:r>
            <a:endParaRPr b="0" i="0" sz="1000" u="none" cap="none" strike="noStrike">
              <a:solidFill>
                <a:schemeClr val="dk1"/>
              </a:solidFill>
              <a:latin typeface="Arial"/>
              <a:ea typeface="Arial"/>
              <a:cs typeface="Arial"/>
              <a:sym typeface="Arial"/>
            </a:endParaRPr>
          </a:p>
        </p:txBody>
      </p:sp>
      <p:sp>
        <p:nvSpPr>
          <p:cNvPr id="175" name="Google Shape;175;p9"/>
          <p:cNvSpPr/>
          <p:nvPr/>
        </p:nvSpPr>
        <p:spPr>
          <a:xfrm>
            <a:off x="457200" y="5193792"/>
            <a:ext cx="7360920" cy="120700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612648" y="5330952"/>
            <a:ext cx="384048" cy="384048"/>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txBox="1"/>
          <p:nvPr/>
        </p:nvSpPr>
        <p:spPr>
          <a:xfrm>
            <a:off x="612648" y="5330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4</a:t>
            </a:r>
            <a:endParaRPr b="0" i="0" sz="1300" u="none" cap="none" strike="noStrike">
              <a:solidFill>
                <a:schemeClr val="dk1"/>
              </a:solidFill>
              <a:latin typeface="Arial"/>
              <a:ea typeface="Arial"/>
              <a:cs typeface="Arial"/>
              <a:sym typeface="Arial"/>
            </a:endParaRPr>
          </a:p>
        </p:txBody>
      </p:sp>
      <p:sp>
        <p:nvSpPr>
          <p:cNvPr id="178" name="Google Shape;178;p9"/>
          <p:cNvSpPr txBox="1"/>
          <p:nvPr/>
        </p:nvSpPr>
        <p:spPr>
          <a:xfrm>
            <a:off x="1143000" y="5330952"/>
            <a:ext cx="5120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準備完了を確認する</a:t>
            </a:r>
            <a:endParaRPr b="0" i="0" sz="1400" u="none" cap="none" strike="noStrike">
              <a:solidFill>
                <a:schemeClr val="dk1"/>
              </a:solidFill>
              <a:latin typeface="Arial"/>
              <a:ea typeface="Arial"/>
              <a:cs typeface="Arial"/>
              <a:sym typeface="Arial"/>
            </a:endParaRPr>
          </a:p>
        </p:txBody>
      </p:sp>
      <p:sp>
        <p:nvSpPr>
          <p:cNvPr id="179" name="Google Shape;179;p9"/>
          <p:cNvSpPr txBox="1"/>
          <p:nvPr/>
        </p:nvSpPr>
        <p:spPr>
          <a:xfrm>
            <a:off x="6400800" y="5330952"/>
            <a:ext cx="1261872"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12/18まで</a:t>
            </a:r>
            <a:endParaRPr b="0" i="0" sz="1200" u="none" cap="none" strike="noStrike">
              <a:solidFill>
                <a:schemeClr val="dk1"/>
              </a:solidFill>
              <a:latin typeface="Arial"/>
              <a:ea typeface="Arial"/>
              <a:cs typeface="Arial"/>
              <a:sym typeface="Arial"/>
            </a:endParaRPr>
          </a:p>
        </p:txBody>
      </p:sp>
      <p:sp>
        <p:nvSpPr>
          <p:cNvPr id="180" name="Google Shape;180;p9"/>
          <p:cNvSpPr txBox="1"/>
          <p:nvPr/>
        </p:nvSpPr>
        <p:spPr>
          <a:xfrm>
            <a:off x="1143000" y="569671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準備完了チェックで、合意文書・引継ぎ・経過措置の手続きの起票を確かめる</a:t>
            </a:r>
            <a:endParaRPr b="0" i="0" sz="1000" u="none" cap="none" strike="noStrike">
              <a:solidFill>
                <a:schemeClr val="dk1"/>
              </a:solidFill>
              <a:latin typeface="Arial"/>
              <a:ea typeface="Arial"/>
              <a:cs typeface="Arial"/>
              <a:sym typeface="Arial"/>
            </a:endParaRPr>
          </a:p>
        </p:txBody>
      </p:sp>
      <p:sp>
        <p:nvSpPr>
          <p:cNvPr id="181" name="Google Shape;181;p9"/>
          <p:cNvSpPr txBox="1"/>
          <p:nvPr/>
        </p:nvSpPr>
        <p:spPr>
          <a:xfrm>
            <a:off x="1143000" y="6062472"/>
            <a:ext cx="65196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成果物　</a:t>
            </a:r>
            <a:r>
              <a:rPr b="0" i="0" lang="en-US" sz="1000" u="none" cap="none" strike="noStrike">
                <a:solidFill>
                  <a:schemeClr val="dk1"/>
                </a:solidFill>
                <a:latin typeface="Arial"/>
                <a:ea typeface="Arial"/>
                <a:cs typeface="Arial"/>
                <a:sym typeface="Arial"/>
              </a:rPr>
              <a:t>準備完了チェックの記録</a:t>
            </a:r>
            <a:r>
              <a:rPr b="0" i="0" lang="en-US" sz="1000" u="none" cap="none" strike="noStrike">
                <a:solidFill>
                  <a:schemeClr val="accent2"/>
                </a:solidFill>
                <a:latin typeface="Arial"/>
                <a:ea typeface="Arial"/>
                <a:cs typeface="Arial"/>
                <a:sym typeface="Arial"/>
              </a:rPr>
              <a:t>　／　ステータス → 準備完了</a:t>
            </a:r>
            <a:endParaRPr b="0" i="0" sz="1000" u="none" cap="none" strike="noStrike">
              <a:solidFill>
                <a:schemeClr val="dk1"/>
              </a:solidFill>
              <a:latin typeface="Arial"/>
              <a:ea typeface="Arial"/>
              <a:cs typeface="Arial"/>
              <a:sym typeface="Arial"/>
            </a:endParaRPr>
          </a:p>
        </p:txBody>
      </p:sp>
      <p:sp>
        <p:nvSpPr>
          <p:cNvPr id="182" name="Google Shape;182;p9"/>
          <p:cNvSpPr txBox="1"/>
          <p:nvPr/>
        </p:nvSpPr>
        <p:spPr>
          <a:xfrm>
            <a:off x="8028432" y="1005840"/>
            <a:ext cx="37033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i="0" lang="en-US" sz="1200" u="none" cap="none" strike="noStrike">
                <a:solidFill>
                  <a:schemeClr val="accent2"/>
                </a:solidFill>
                <a:latin typeface="Arial"/>
                <a:ea typeface="Arial"/>
                <a:cs typeface="Arial"/>
                <a:sym typeface="Arial"/>
              </a:rPr>
              <a:t>お願いしたいこと</a:t>
            </a:r>
            <a:endParaRPr b="0" i="0" sz="1200" u="none" cap="none" strike="noStrike">
              <a:solidFill>
                <a:schemeClr val="dk1"/>
              </a:solidFill>
              <a:latin typeface="Arial"/>
              <a:ea typeface="Arial"/>
              <a:cs typeface="Arial"/>
              <a:sym typeface="Arial"/>
            </a:endParaRPr>
          </a:p>
        </p:txBody>
      </p:sp>
      <p:sp>
        <p:nvSpPr>
          <p:cNvPr id="183" name="Google Shape;183;p9"/>
          <p:cNvSpPr/>
          <p:nvPr/>
        </p:nvSpPr>
        <p:spPr>
          <a:xfrm>
            <a:off x="8028432" y="1353312"/>
            <a:ext cx="3703320" cy="5047488"/>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8257032" y="1517904"/>
            <a:ext cx="1325880" cy="32918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txBox="1"/>
          <p:nvPr/>
        </p:nvSpPr>
        <p:spPr>
          <a:xfrm>
            <a:off x="8257032" y="1517904"/>
            <a:ext cx="13258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50"/>
              <a:buFont typeface="Arial"/>
              <a:buNone/>
            </a:pPr>
            <a:r>
              <a:rPr b="1" i="0" lang="en-US" sz="1050" u="none" cap="none" strike="noStrike">
                <a:solidFill>
                  <a:schemeClr val="dk2"/>
                </a:solidFill>
                <a:latin typeface="Arial"/>
                <a:ea typeface="Arial"/>
                <a:cs typeface="Arial"/>
                <a:sym typeface="Arial"/>
              </a:rPr>
              <a:t>棚卸し中</a:t>
            </a:r>
            <a:endParaRPr b="0" i="0" sz="1050" u="none" cap="none" strike="noStrike">
              <a:solidFill>
                <a:schemeClr val="dk1"/>
              </a:solidFill>
              <a:latin typeface="Arial"/>
              <a:ea typeface="Arial"/>
              <a:cs typeface="Arial"/>
              <a:sym typeface="Arial"/>
            </a:endParaRPr>
          </a:p>
        </p:txBody>
      </p:sp>
      <p:cxnSp>
        <p:nvCxnSpPr>
          <p:cNvPr id="186" name="Google Shape;186;p9"/>
          <p:cNvCxnSpPr/>
          <p:nvPr/>
        </p:nvCxnSpPr>
        <p:spPr>
          <a:xfrm>
            <a:off x="8919972" y="1847088"/>
            <a:ext cx="0" cy="128016"/>
          </a:xfrm>
          <a:prstGeom prst="straightConnector1">
            <a:avLst/>
          </a:prstGeom>
          <a:noFill/>
          <a:ln cap="flat" cmpd="sng" w="12700">
            <a:solidFill>
              <a:schemeClr val="accent3"/>
            </a:solidFill>
            <a:prstDash val="solid"/>
            <a:round/>
            <a:headEnd len="sm" w="sm" type="none"/>
            <a:tailEnd len="med" w="med" type="triangle"/>
          </a:ln>
        </p:spPr>
      </p:cxnSp>
      <p:sp>
        <p:nvSpPr>
          <p:cNvPr id="187" name="Google Shape;187;p9"/>
          <p:cNvSpPr/>
          <p:nvPr/>
        </p:nvSpPr>
        <p:spPr>
          <a:xfrm>
            <a:off x="8257032" y="1975104"/>
            <a:ext cx="1325880" cy="32918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txBox="1"/>
          <p:nvPr/>
        </p:nvSpPr>
        <p:spPr>
          <a:xfrm>
            <a:off x="8257032" y="1975104"/>
            <a:ext cx="13258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50"/>
              <a:buFont typeface="Arial"/>
              <a:buNone/>
            </a:pPr>
            <a:r>
              <a:rPr b="1" i="0" lang="en-US" sz="1050" u="none" cap="none" strike="noStrike">
                <a:solidFill>
                  <a:schemeClr val="dk2"/>
                </a:solidFill>
                <a:latin typeface="Arial"/>
                <a:ea typeface="Arial"/>
                <a:cs typeface="Arial"/>
                <a:sym typeface="Arial"/>
              </a:rPr>
              <a:t>棚卸し済み</a:t>
            </a:r>
            <a:endParaRPr b="0" i="0" sz="1050" u="none" cap="none" strike="noStrike">
              <a:solidFill>
                <a:schemeClr val="dk1"/>
              </a:solidFill>
              <a:latin typeface="Arial"/>
              <a:ea typeface="Arial"/>
              <a:cs typeface="Arial"/>
              <a:sym typeface="Arial"/>
            </a:endParaRPr>
          </a:p>
        </p:txBody>
      </p:sp>
      <p:cxnSp>
        <p:nvCxnSpPr>
          <p:cNvPr id="189" name="Google Shape;189;p9"/>
          <p:cNvCxnSpPr/>
          <p:nvPr/>
        </p:nvCxnSpPr>
        <p:spPr>
          <a:xfrm>
            <a:off x="8919972" y="2304288"/>
            <a:ext cx="0" cy="128016"/>
          </a:xfrm>
          <a:prstGeom prst="straightConnector1">
            <a:avLst/>
          </a:prstGeom>
          <a:noFill/>
          <a:ln cap="flat" cmpd="sng" w="12700">
            <a:solidFill>
              <a:schemeClr val="accent3"/>
            </a:solidFill>
            <a:prstDash val="solid"/>
            <a:round/>
            <a:headEnd len="sm" w="sm" type="none"/>
            <a:tailEnd len="med" w="med" type="triangle"/>
          </a:ln>
        </p:spPr>
      </p:cxnSp>
      <p:sp>
        <p:nvSpPr>
          <p:cNvPr id="190" name="Google Shape;190;p9"/>
          <p:cNvSpPr/>
          <p:nvPr/>
        </p:nvSpPr>
        <p:spPr>
          <a:xfrm>
            <a:off x="8257032" y="2432304"/>
            <a:ext cx="1325880" cy="32918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txBox="1"/>
          <p:nvPr/>
        </p:nvSpPr>
        <p:spPr>
          <a:xfrm>
            <a:off x="8257032" y="2432304"/>
            <a:ext cx="13258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50"/>
              <a:buFont typeface="Arial"/>
              <a:buNone/>
            </a:pPr>
            <a:r>
              <a:rPr b="1" i="0" lang="en-US" sz="1050" u="none" cap="none" strike="noStrike">
                <a:solidFill>
                  <a:schemeClr val="dk2"/>
                </a:solidFill>
                <a:latin typeface="Arial"/>
                <a:ea typeface="Arial"/>
                <a:cs typeface="Arial"/>
                <a:sym typeface="Arial"/>
              </a:rPr>
              <a:t>合意済み</a:t>
            </a:r>
            <a:endParaRPr b="0" i="0" sz="1050" u="none" cap="none" strike="noStrike">
              <a:solidFill>
                <a:schemeClr val="dk1"/>
              </a:solidFill>
              <a:latin typeface="Arial"/>
              <a:ea typeface="Arial"/>
              <a:cs typeface="Arial"/>
              <a:sym typeface="Arial"/>
            </a:endParaRPr>
          </a:p>
        </p:txBody>
      </p:sp>
      <p:cxnSp>
        <p:nvCxnSpPr>
          <p:cNvPr id="192" name="Google Shape;192;p9"/>
          <p:cNvCxnSpPr/>
          <p:nvPr/>
        </p:nvCxnSpPr>
        <p:spPr>
          <a:xfrm>
            <a:off x="8919972" y="2761488"/>
            <a:ext cx="0" cy="128016"/>
          </a:xfrm>
          <a:prstGeom prst="straightConnector1">
            <a:avLst/>
          </a:prstGeom>
          <a:noFill/>
          <a:ln cap="flat" cmpd="sng" w="12700">
            <a:solidFill>
              <a:schemeClr val="accent3"/>
            </a:solidFill>
            <a:prstDash val="solid"/>
            <a:round/>
            <a:headEnd len="sm" w="sm" type="none"/>
            <a:tailEnd len="med" w="med" type="triangle"/>
          </a:ln>
        </p:spPr>
      </p:cxnSp>
      <p:sp>
        <p:nvSpPr>
          <p:cNvPr id="193" name="Google Shape;193;p9"/>
          <p:cNvSpPr/>
          <p:nvPr/>
        </p:nvSpPr>
        <p:spPr>
          <a:xfrm>
            <a:off x="8257032" y="2889504"/>
            <a:ext cx="1325880" cy="329184"/>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txBox="1"/>
          <p:nvPr/>
        </p:nvSpPr>
        <p:spPr>
          <a:xfrm>
            <a:off x="8257032" y="2889504"/>
            <a:ext cx="13258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準備完了</a:t>
            </a:r>
            <a:endParaRPr b="0" i="0" sz="1050" u="none" cap="none" strike="noStrike">
              <a:solidFill>
                <a:schemeClr val="dk1"/>
              </a:solidFill>
              <a:latin typeface="Arial"/>
              <a:ea typeface="Arial"/>
              <a:cs typeface="Arial"/>
              <a:sym typeface="Arial"/>
            </a:endParaRPr>
          </a:p>
        </p:txBody>
      </p:sp>
      <p:sp>
        <p:nvSpPr>
          <p:cNvPr id="195" name="Google Shape;195;p9"/>
          <p:cNvSpPr txBox="1"/>
          <p:nvPr/>
        </p:nvSpPr>
        <p:spPr>
          <a:xfrm>
            <a:off x="9720072" y="1517904"/>
            <a:ext cx="19202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b="0" i="0" lang="en-US" sz="1000" u="none" cap="none" strike="noStrike">
                <a:solidFill>
                  <a:schemeClr val="accent2"/>
                </a:solidFill>
                <a:latin typeface="Arial"/>
                <a:ea typeface="Arial"/>
                <a:cs typeface="Arial"/>
                <a:sym typeface="Arial"/>
              </a:rPr>
              <a:t>ほかに「対象外」がある</a:t>
            </a:r>
            <a:endParaRPr b="0" i="0" sz="1000" u="none" cap="none" strike="noStrike">
              <a:solidFill>
                <a:schemeClr val="dk1"/>
              </a:solidFill>
              <a:latin typeface="Arial"/>
              <a:ea typeface="Arial"/>
              <a:cs typeface="Arial"/>
              <a:sym typeface="Arial"/>
            </a:endParaRPr>
          </a:p>
        </p:txBody>
      </p:sp>
      <p:sp>
        <p:nvSpPr>
          <p:cNvPr id="196" name="Google Shape;196;p9"/>
          <p:cNvSpPr txBox="1"/>
          <p:nvPr/>
        </p:nvSpPr>
        <p:spPr>
          <a:xfrm>
            <a:off x="8257032" y="3429000"/>
            <a:ext cx="3291840" cy="2880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予算移管シートの移管ステータスを、条件を満たしたらその都度更新する</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「進捗」シートの自分の行（タスクの状態と完了日）を更新する</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「確認（自動）」欄に表示が出たら、ステータスを見直す（事務局が毎日確認して依頼する）</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判定は数式で自動。手で書き換えず、直すのは入力</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承認済みの文書で担当が定められた業務は、経過措置として合意文書に記録する</a:t>
            </a:r>
            <a:endParaRPr b="0" i="0" sz="1100" u="none" cap="none" strike="noStrike">
              <a:solidFill>
                <a:schemeClr val="dk1"/>
              </a:solidFill>
              <a:latin typeface="Arial"/>
              <a:ea typeface="Arial"/>
              <a:cs typeface="Arial"/>
              <a:sym typeface="Arial"/>
            </a:endParaRPr>
          </a:p>
          <a:p>
            <a:pPr indent="-152400" lvl="0" marL="1524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目安に間に合いそうにないときは、理由と見込みを早めに事務局に伝える</a:t>
            </a:r>
            <a:endParaRPr b="0" i="0" sz="1100" u="none" cap="none" strike="noStrike">
              <a:solidFill>
                <a:schemeClr val="dk1"/>
              </a:solidFill>
              <a:latin typeface="Arial"/>
              <a:ea typeface="Arial"/>
              <a:cs typeface="Arial"/>
              <a:sym typeface="Arial"/>
            </a:endParaRPr>
          </a:p>
        </p:txBody>
      </p:sp>
      <p:sp>
        <p:nvSpPr>
          <p:cNvPr id="197" name="Google Shape;197;p9"/>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Q&amp;A：予算移管の方針と進め方</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迷ったら原則に戻る。すべて一括で移し、例外は経過措置だけ</a:t>
            </a:r>
          </a:p>
        </p:txBody>
      </p:sp>
      <p:sp>
        <p:nvSpPr>
          <p:cNvPr id="5" name="Shape 5"/>
          <p:cNvSpPr/>
          <p:nvPr/>
        </p:nvSpPr>
        <p:spPr>
          <a:xfrm>
            <a:off x="457200"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6" name="Shape 6"/>
          <p:cNvSpPr/>
          <p:nvPr/>
        </p:nvSpPr>
        <p:spPr>
          <a:xfrm>
            <a:off x="685800"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7" name="Shape 7"/>
          <p:cNvSpPr txBox="1"/>
          <p:nvPr/>
        </p:nvSpPr>
        <p:spPr>
          <a:xfrm>
            <a:off x="1280160"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判断に迷う案件は、保留にしてよいか</a:t>
            </a:r>
          </a:p>
        </p:txBody>
      </p:sp>
      <p:sp>
        <p:nvSpPr>
          <p:cNvPr id="8" name="Shape 8"/>
          <p:cNvSpPr txBox="1"/>
          <p:nvPr/>
        </p:nvSpPr>
        <p:spPr>
          <a:xfrm>
            <a:off x="685800"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9" name="Shape 9"/>
          <p:cNvSpPr txBox="1"/>
          <p:nvPr/>
        </p:nvSpPr>
        <p:spPr>
          <a:xfrm>
            <a:off x="1280160"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保留にはしない。個別移管と案件の保留は廃止した</a:t>
            </a:r>
          </a:p>
          <a:p>
            <a:pPr algn="l" marL="0" indent="0">
              <a:spcBef>
                <a:spcPts val="300"/>
              </a:spcBef>
              <a:buNone/>
            </a:pPr>
            <a:r>
              <a:rPr lang="en-US" sz="1400" b="0">
                <a:solidFill>
                  <a:srgbClr val="222B38"/>
                </a:solidFill>
                <a:latin typeface="Arial"/>
                <a:ea typeface="Arial"/>
                <a:cs typeface="Arial"/>
              </a:rPr>
              <a:t>担当の変更に手続きが要る業務だけを経過措置とし、予算は1月1日に移す。情報が足りない「判定保留」は11月中に解消する</a:t>
            </a:r>
          </a:p>
        </p:txBody>
      </p:sp>
      <p:sp>
        <p:nvSpPr>
          <p:cNvPr id="10" name="Shape 10"/>
          <p:cNvSpPr/>
          <p:nvPr/>
        </p:nvSpPr>
        <p:spPr>
          <a:xfrm>
            <a:off x="6210148"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p:nvPr/>
        </p:nvSpPr>
        <p:spPr>
          <a:xfrm>
            <a:off x="6438748"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2" name="Shape 12"/>
          <p:cNvSpPr txBox="1"/>
          <p:nvPr/>
        </p:nvSpPr>
        <p:spPr>
          <a:xfrm>
            <a:off x="7033108"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今年度から続く投資案件はどうなるか</a:t>
            </a:r>
          </a:p>
        </p:txBody>
      </p:sp>
      <p:sp>
        <p:nvSpPr>
          <p:cNvPr id="13" name="Shape 13"/>
          <p:cNvSpPr txBox="1"/>
          <p:nvPr/>
        </p:nvSpPr>
        <p:spPr>
          <a:xfrm>
            <a:off x="6438748"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4" name="Shape 14"/>
          <p:cNvSpPr txBox="1"/>
          <p:nvPr/>
        </p:nvSpPr>
        <p:spPr>
          <a:xfrm>
            <a:off x="7033108"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部門に残る。部門は1回限りの発注・検収だけを行い、次の継続から IT部門が担う</a:t>
            </a:r>
          </a:p>
        </p:txBody>
      </p:sp>
      <p:sp>
        <p:nvSpPr>
          <p:cNvPr id="15" name="Shape 15"/>
          <p:cNvSpPr/>
          <p:nvPr/>
        </p:nvSpPr>
        <p:spPr>
          <a:xfrm>
            <a:off x="457200"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6" name="Shape 16"/>
          <p:cNvSpPr/>
          <p:nvPr/>
        </p:nvSpPr>
        <p:spPr>
          <a:xfrm>
            <a:off x="685800"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7" name="Shape 17"/>
          <p:cNvSpPr txBox="1"/>
          <p:nvPr/>
        </p:nvSpPr>
        <p:spPr>
          <a:xfrm>
            <a:off x="1280160"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12月末までに、契約の名義変更や SOP の改訂も終える必要があるか</a:t>
            </a:r>
          </a:p>
        </p:txBody>
      </p:sp>
      <p:sp>
        <p:nvSpPr>
          <p:cNvPr id="18" name="Shape 18"/>
          <p:cNvSpPr txBox="1"/>
          <p:nvPr/>
        </p:nvSpPr>
        <p:spPr>
          <a:xfrm>
            <a:off x="685800"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9" name="Shape 19"/>
          <p:cNvSpPr txBox="1"/>
          <p:nvPr/>
        </p:nvSpPr>
        <p:spPr>
          <a:xfrm>
            <a:off x="1280160"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不要。12月末のゴールは稟議の承認</a:t>
            </a:r>
          </a:p>
          <a:p>
            <a:pPr algn="l" marL="0" indent="0">
              <a:spcBef>
                <a:spcPts val="300"/>
              </a:spcBef>
              <a:buNone/>
            </a:pPr>
            <a:r>
              <a:rPr lang="en-US" sz="1400" b="0">
                <a:solidFill>
                  <a:srgbClr val="222B38"/>
                </a:solidFill>
                <a:latin typeface="Arial"/>
                <a:ea typeface="Arial"/>
                <a:cs typeface="Arial"/>
              </a:rPr>
              <a:t>署名者は次回の更新から変わり、請求書の宛名の変更は2月初旬までに連絡する。SOP の改訂は完了予定を合意文書に書けばよい</a:t>
            </a:r>
          </a:p>
        </p:txBody>
      </p:sp>
      <p:sp>
        <p:nvSpPr>
          <p:cNvPr id="20" name="Shape 20"/>
          <p:cNvSpPr/>
          <p:nvPr/>
        </p:nvSpPr>
        <p:spPr>
          <a:xfrm>
            <a:off x="6210148"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21" name="Shape 21"/>
          <p:cNvSpPr/>
          <p:nvPr/>
        </p:nvSpPr>
        <p:spPr>
          <a:xfrm>
            <a:off x="6438748"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22" name="Shape 22"/>
          <p:cNvSpPr txBox="1"/>
          <p:nvPr/>
        </p:nvSpPr>
        <p:spPr>
          <a:xfrm>
            <a:off x="7033108"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目安（12/11・12/18）に間に合わないときは</a:t>
            </a:r>
          </a:p>
        </p:txBody>
      </p:sp>
      <p:sp>
        <p:nvSpPr>
          <p:cNvPr id="23" name="Shape 23"/>
          <p:cNvSpPr txBox="1"/>
          <p:nvPr/>
        </p:nvSpPr>
        <p:spPr>
          <a:xfrm>
            <a:off x="6438748"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24" name="Shape 24"/>
          <p:cNvSpPr txBox="1"/>
          <p:nvPr/>
        </p:nvSpPr>
        <p:spPr>
          <a:xfrm>
            <a:off x="7033108"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目安は、ビジネス部門と合意して調整してよい。理由と見込みを早めに事務局に伝える</a:t>
            </a:r>
          </a:p>
          <a:p>
            <a:pPr algn="l" marL="0" indent="0">
              <a:spcBef>
                <a:spcPts val="300"/>
              </a:spcBef>
              <a:buNone/>
            </a:pPr>
            <a:r>
              <a:rPr lang="en-US" sz="1400" b="0">
                <a:solidFill>
                  <a:srgbClr val="222B38"/>
                </a:solidFill>
                <a:latin typeface="Arial"/>
                <a:ea typeface="Arial"/>
                <a:cs typeface="Arial"/>
              </a:rPr>
              <a:t>12月末の稟議の承認に間に合うよう、事務局が横並びで調整し、必要なら IT部門長に相談する</a:t>
            </a:r>
          </a:p>
        </p:txBody>
      </p:sp>
      <p:sp>
        <p:nvSpPr>
          <p:cNvPr id="25"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731520" y="2286000"/>
            <a:ext cx="1069848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US" sz="3600">
                <a:solidFill>
                  <a:schemeClr val="lt1"/>
                </a:solidFill>
              </a:rPr>
              <a:t>第2章　移管後の体制と役割</a:t>
            </a:r>
            <a:endParaRPr sz="3600"/>
          </a:p>
        </p:txBody>
      </p:sp>
      <p:sp>
        <p:nvSpPr>
          <p:cNvPr id="24" name="Google Shape;24;p5"/>
          <p:cNvSpPr txBox="1"/>
          <p:nvPr>
            <p:ph idx="1" type="body"/>
          </p:nvPr>
        </p:nvSpPr>
        <p:spPr>
          <a:xfrm>
            <a:off x="731520" y="3383280"/>
            <a:ext cx="1069848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600"/>
              <a:buNone/>
            </a:pPr>
            <a:r>
              <a:rPr lang="en-US" sz="1600">
                <a:solidFill>
                  <a:schemeClr val="accent4"/>
                </a:solidFill>
              </a:rPr>
              <a:t>業務の3つの層と役割 ／ RACI と体制（IT投資・経費） ／ GAMP カテゴリ ／ 提言 ／ Q&amp;A</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業務の3つの層と役割</a:t>
            </a:r>
            <a:endParaRPr sz="2600"/>
          </a:p>
        </p:txBody>
      </p:sp>
      <p:sp>
        <p:nvSpPr>
          <p:cNvPr id="204" name="Google Shape;204;p10"/>
          <p:cNvSpPr txBox="1"/>
          <p:nvPr/>
        </p:nvSpPr>
        <p:spPr>
          <a:xfrm>
            <a:off x="457200" y="91440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移すのは間接業務。IT関連業務（中間層）は案件ごとに合意する。どの層でも、業務の最終責任（A）はプロセスオーナーに残る</a:t>
            </a:r>
            <a:endParaRPr b="0" i="0" sz="1400" u="none" cap="none" strike="noStrike">
              <a:solidFill>
                <a:schemeClr val="dk1"/>
              </a:solidFill>
              <a:latin typeface="Arial"/>
              <a:ea typeface="Arial"/>
              <a:cs typeface="Arial"/>
              <a:sym typeface="Arial"/>
            </a:endParaRPr>
          </a:p>
        </p:txBody>
      </p:sp>
      <p:sp>
        <p:nvSpPr>
          <p:cNvPr id="205" name="Google Shape;205;p10"/>
          <p:cNvSpPr/>
          <p:nvPr/>
        </p:nvSpPr>
        <p:spPr>
          <a:xfrm>
            <a:off x="2377440" y="1444752"/>
            <a:ext cx="3026664" cy="7772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txBox="1"/>
          <p:nvPr/>
        </p:nvSpPr>
        <p:spPr>
          <a:xfrm>
            <a:off x="2514600" y="1517904"/>
            <a:ext cx="275234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PO　プロセスオーナー</a:t>
            </a:r>
            <a:endParaRPr b="0" i="0" sz="1200" u="none" cap="none" strike="noStrike">
              <a:solidFill>
                <a:schemeClr val="dk1"/>
              </a:solidFill>
              <a:latin typeface="Arial"/>
              <a:ea typeface="Arial"/>
              <a:cs typeface="Arial"/>
              <a:sym typeface="Arial"/>
            </a:endParaRPr>
          </a:p>
        </p:txBody>
      </p:sp>
      <p:sp>
        <p:nvSpPr>
          <p:cNvPr id="207" name="Google Shape;207;p10"/>
          <p:cNvSpPr txBox="1"/>
          <p:nvPr/>
        </p:nvSpPr>
        <p:spPr>
          <a:xfrm>
            <a:off x="2514600" y="1810512"/>
            <a:ext cx="2752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Arial"/>
              <a:buNone/>
            </a:pPr>
            <a:r>
              <a:rPr b="0" i="0" lang="en-US" sz="950" u="none" cap="none" strike="noStrike">
                <a:solidFill>
                  <a:schemeClr val="dk1"/>
                </a:solidFill>
                <a:latin typeface="Arial"/>
                <a:ea typeface="Arial"/>
                <a:cs typeface="Arial"/>
                <a:sym typeface="Arial"/>
              </a:rPr>
              <a:t>移管元の部門長。業務プロセスと、業務アプリケーションの要否・目的・便益に最終責任を持つ</a:t>
            </a:r>
            <a:endParaRPr b="0" i="0" sz="950" u="none" cap="none" strike="noStrike">
              <a:solidFill>
                <a:schemeClr val="dk1"/>
              </a:solidFill>
              <a:latin typeface="Arial"/>
              <a:ea typeface="Arial"/>
              <a:cs typeface="Arial"/>
              <a:sym typeface="Arial"/>
            </a:endParaRPr>
          </a:p>
        </p:txBody>
      </p:sp>
      <p:sp>
        <p:nvSpPr>
          <p:cNvPr id="208" name="Google Shape;208;p10"/>
          <p:cNvSpPr/>
          <p:nvPr/>
        </p:nvSpPr>
        <p:spPr>
          <a:xfrm>
            <a:off x="5541264" y="1444752"/>
            <a:ext cx="3026664" cy="7772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txBox="1"/>
          <p:nvPr/>
        </p:nvSpPr>
        <p:spPr>
          <a:xfrm>
            <a:off x="5678424" y="1517904"/>
            <a:ext cx="275234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BU　ビジネス担当</a:t>
            </a:r>
            <a:endParaRPr b="0" i="0" sz="1200" u="none" cap="none" strike="noStrike">
              <a:solidFill>
                <a:schemeClr val="dk1"/>
              </a:solidFill>
              <a:latin typeface="Arial"/>
              <a:ea typeface="Arial"/>
              <a:cs typeface="Arial"/>
              <a:sym typeface="Arial"/>
            </a:endParaRPr>
          </a:p>
        </p:txBody>
      </p:sp>
      <p:sp>
        <p:nvSpPr>
          <p:cNvPr id="210" name="Google Shape;210;p10"/>
          <p:cNvSpPr txBox="1"/>
          <p:nvPr/>
        </p:nvSpPr>
        <p:spPr>
          <a:xfrm>
            <a:off x="5678424" y="1810512"/>
            <a:ext cx="2752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Arial"/>
              <a:buNone/>
            </a:pPr>
            <a:r>
              <a:rPr b="0" i="0" lang="en-US" sz="950" u="none" cap="none" strike="noStrike">
                <a:solidFill>
                  <a:schemeClr val="dk1"/>
                </a:solidFill>
                <a:latin typeface="Arial"/>
                <a:ea typeface="Arial"/>
                <a:cs typeface="Arial"/>
                <a:sym typeface="Arial"/>
              </a:rPr>
              <a:t>部門の担当者。システムを使って業務を行い、要望を出し、受け入れを確かめる</a:t>
            </a:r>
            <a:endParaRPr b="0" i="0" sz="950" u="none" cap="none" strike="noStrike">
              <a:solidFill>
                <a:schemeClr val="dk1"/>
              </a:solidFill>
              <a:latin typeface="Arial"/>
              <a:ea typeface="Arial"/>
              <a:cs typeface="Arial"/>
              <a:sym typeface="Arial"/>
            </a:endParaRPr>
          </a:p>
        </p:txBody>
      </p:sp>
      <p:sp>
        <p:nvSpPr>
          <p:cNvPr id="211" name="Google Shape;211;p10"/>
          <p:cNvSpPr/>
          <p:nvPr/>
        </p:nvSpPr>
        <p:spPr>
          <a:xfrm>
            <a:off x="8705088" y="1444752"/>
            <a:ext cx="3026664" cy="77724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txBox="1"/>
          <p:nvPr/>
        </p:nvSpPr>
        <p:spPr>
          <a:xfrm>
            <a:off x="8842248" y="1517904"/>
            <a:ext cx="275234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SO　システムオーナー</a:t>
            </a:r>
            <a:endParaRPr b="0" i="0" sz="1200" u="none" cap="none" strike="noStrike">
              <a:solidFill>
                <a:schemeClr val="dk1"/>
              </a:solidFill>
              <a:latin typeface="Arial"/>
              <a:ea typeface="Arial"/>
              <a:cs typeface="Arial"/>
              <a:sym typeface="Arial"/>
            </a:endParaRPr>
          </a:p>
        </p:txBody>
      </p:sp>
      <p:sp>
        <p:nvSpPr>
          <p:cNvPr id="213" name="Google Shape;213;p10"/>
          <p:cNvSpPr txBox="1"/>
          <p:nvPr/>
        </p:nvSpPr>
        <p:spPr>
          <a:xfrm>
            <a:off x="8842248" y="1810512"/>
            <a:ext cx="2752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950"/>
              <a:buFont typeface="Arial"/>
              <a:buNone/>
            </a:pPr>
            <a:r>
              <a:rPr b="0" i="0" lang="en-US" sz="950" u="none" cap="none" strike="noStrike">
                <a:solidFill>
                  <a:schemeClr val="lt1"/>
                </a:solidFill>
                <a:latin typeface="Arial"/>
                <a:ea typeface="Arial"/>
                <a:cs typeface="Arial"/>
                <a:sym typeface="Arial"/>
              </a:rPr>
              <a:t>IT部門。システムの可用性・保守・セキュリティに責任を持つ。A は引き取らない</a:t>
            </a:r>
            <a:endParaRPr b="0" i="0" sz="950" u="none" cap="none" strike="noStrike">
              <a:solidFill>
                <a:schemeClr val="dk1"/>
              </a:solidFill>
              <a:latin typeface="Arial"/>
              <a:ea typeface="Arial"/>
              <a:cs typeface="Arial"/>
              <a:sym typeface="Arial"/>
            </a:endParaRPr>
          </a:p>
        </p:txBody>
      </p:sp>
      <p:sp>
        <p:nvSpPr>
          <p:cNvPr id="214" name="Google Shape;214;p10"/>
          <p:cNvSpPr txBox="1"/>
          <p:nvPr/>
        </p:nvSpPr>
        <p:spPr>
          <a:xfrm>
            <a:off x="548640" y="242316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直接業務</a:t>
            </a:r>
            <a:endParaRPr b="0" i="0" sz="1400" u="none" cap="none" strike="noStrike">
              <a:solidFill>
                <a:schemeClr val="dk1"/>
              </a:solidFill>
              <a:latin typeface="Arial"/>
              <a:ea typeface="Arial"/>
              <a:cs typeface="Arial"/>
              <a:sym typeface="Arial"/>
            </a:endParaRPr>
          </a:p>
        </p:txBody>
      </p:sp>
      <p:sp>
        <p:nvSpPr>
          <p:cNvPr id="215" name="Google Shape;215;p10"/>
          <p:cNvSpPr txBox="1"/>
          <p:nvPr/>
        </p:nvSpPr>
        <p:spPr>
          <a:xfrm>
            <a:off x="548640" y="2770632"/>
            <a:ext cx="1691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b="1" i="0" lang="en-US" sz="1000" u="none" cap="none" strike="noStrike">
                <a:solidFill>
                  <a:schemeClr val="accent2"/>
                </a:solidFill>
                <a:latin typeface="Arial"/>
                <a:ea typeface="Arial"/>
                <a:cs typeface="Arial"/>
                <a:sym typeface="Arial"/>
              </a:rPr>
              <a:t>移さない</a:t>
            </a:r>
            <a:endParaRPr b="0" i="0" sz="1000" u="none" cap="none" strike="noStrike">
              <a:solidFill>
                <a:schemeClr val="dk1"/>
              </a:solidFill>
              <a:latin typeface="Arial"/>
              <a:ea typeface="Arial"/>
              <a:cs typeface="Arial"/>
              <a:sym typeface="Arial"/>
            </a:endParaRPr>
          </a:p>
        </p:txBody>
      </p:sp>
      <p:sp>
        <p:nvSpPr>
          <p:cNvPr id="216" name="Google Shape;216;p10"/>
          <p:cNvSpPr/>
          <p:nvPr/>
        </p:nvSpPr>
        <p:spPr>
          <a:xfrm>
            <a:off x="2377440" y="2331720"/>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txBox="1"/>
          <p:nvPr/>
        </p:nvSpPr>
        <p:spPr>
          <a:xfrm>
            <a:off x="2514600" y="2404872"/>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A</a:t>
            </a:r>
            <a:endParaRPr b="0" i="0" sz="1400" u="none" cap="none" strike="noStrike">
              <a:solidFill>
                <a:schemeClr val="dk1"/>
              </a:solidFill>
              <a:latin typeface="Arial"/>
              <a:ea typeface="Arial"/>
              <a:cs typeface="Arial"/>
              <a:sym typeface="Arial"/>
            </a:endParaRPr>
          </a:p>
        </p:txBody>
      </p:sp>
      <p:sp>
        <p:nvSpPr>
          <p:cNvPr id="218" name="Google Shape;218;p10"/>
          <p:cNvSpPr txBox="1"/>
          <p:nvPr/>
        </p:nvSpPr>
        <p:spPr>
          <a:xfrm>
            <a:off x="2514600" y="2697480"/>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業務要件・受け入れを決める</a:t>
            </a:r>
            <a:endParaRPr b="0" i="0" sz="1050" u="none" cap="none" strike="noStrike">
              <a:solidFill>
                <a:schemeClr val="dk1"/>
              </a:solidFill>
              <a:latin typeface="Arial"/>
              <a:ea typeface="Arial"/>
              <a:cs typeface="Arial"/>
              <a:sym typeface="Arial"/>
            </a:endParaRPr>
          </a:p>
        </p:txBody>
      </p:sp>
      <p:sp>
        <p:nvSpPr>
          <p:cNvPr id="219" name="Google Shape;219;p10"/>
          <p:cNvSpPr/>
          <p:nvPr/>
        </p:nvSpPr>
        <p:spPr>
          <a:xfrm>
            <a:off x="5541264" y="2331720"/>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txBox="1"/>
          <p:nvPr/>
        </p:nvSpPr>
        <p:spPr>
          <a:xfrm>
            <a:off x="5678424" y="2404872"/>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R</a:t>
            </a:r>
            <a:endParaRPr b="0" i="0" sz="1400" u="none" cap="none" strike="noStrike">
              <a:solidFill>
                <a:schemeClr val="dk1"/>
              </a:solidFill>
              <a:latin typeface="Arial"/>
              <a:ea typeface="Arial"/>
              <a:cs typeface="Arial"/>
              <a:sym typeface="Arial"/>
            </a:endParaRPr>
          </a:p>
        </p:txBody>
      </p:sp>
      <p:sp>
        <p:nvSpPr>
          <p:cNvPr id="221" name="Google Shape;221;p10"/>
          <p:cNvSpPr txBox="1"/>
          <p:nvPr/>
        </p:nvSpPr>
        <p:spPr>
          <a:xfrm>
            <a:off x="5678424" y="2697480"/>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システムを使った業務、要件の整理、受け入れの確認</a:t>
            </a:r>
            <a:endParaRPr b="0" i="0" sz="1050" u="none" cap="none" strike="noStrike">
              <a:solidFill>
                <a:schemeClr val="dk1"/>
              </a:solidFill>
              <a:latin typeface="Arial"/>
              <a:ea typeface="Arial"/>
              <a:cs typeface="Arial"/>
              <a:sym typeface="Arial"/>
            </a:endParaRPr>
          </a:p>
        </p:txBody>
      </p:sp>
      <p:sp>
        <p:nvSpPr>
          <p:cNvPr id="222" name="Google Shape;222;p10"/>
          <p:cNvSpPr/>
          <p:nvPr/>
        </p:nvSpPr>
        <p:spPr>
          <a:xfrm>
            <a:off x="8705088" y="2331720"/>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txBox="1"/>
          <p:nvPr/>
        </p:nvSpPr>
        <p:spPr>
          <a:xfrm>
            <a:off x="8842248" y="2404872"/>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C</a:t>
            </a:r>
            <a:endParaRPr b="0" i="0" sz="1400" u="none" cap="none" strike="noStrike">
              <a:solidFill>
                <a:schemeClr val="dk1"/>
              </a:solidFill>
              <a:latin typeface="Arial"/>
              <a:ea typeface="Arial"/>
              <a:cs typeface="Arial"/>
              <a:sym typeface="Arial"/>
            </a:endParaRPr>
          </a:p>
        </p:txBody>
      </p:sp>
      <p:sp>
        <p:nvSpPr>
          <p:cNvPr id="224" name="Google Shape;224;p10"/>
          <p:cNvSpPr txBox="1"/>
          <p:nvPr/>
        </p:nvSpPr>
        <p:spPr>
          <a:xfrm>
            <a:off x="8842248" y="2697480"/>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相談を受ける</a:t>
            </a:r>
            <a:endParaRPr b="0" i="0" sz="1050" u="none" cap="none" strike="noStrike">
              <a:solidFill>
                <a:schemeClr val="dk1"/>
              </a:solidFill>
              <a:latin typeface="Arial"/>
              <a:ea typeface="Arial"/>
              <a:cs typeface="Arial"/>
              <a:sym typeface="Arial"/>
            </a:endParaRPr>
          </a:p>
        </p:txBody>
      </p:sp>
      <p:sp>
        <p:nvSpPr>
          <p:cNvPr id="225" name="Google Shape;225;p10"/>
          <p:cNvSpPr/>
          <p:nvPr/>
        </p:nvSpPr>
        <p:spPr>
          <a:xfrm>
            <a:off x="457200" y="3264408"/>
            <a:ext cx="11274552" cy="1124712"/>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txBox="1"/>
          <p:nvPr/>
        </p:nvSpPr>
        <p:spPr>
          <a:xfrm>
            <a:off x="548640" y="3392424"/>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IT関連業務</a:t>
            </a:r>
            <a:endParaRPr b="0" i="0" sz="1400" u="none" cap="none" strike="noStrike">
              <a:solidFill>
                <a:schemeClr val="dk1"/>
              </a:solidFill>
              <a:latin typeface="Arial"/>
              <a:ea typeface="Arial"/>
              <a:cs typeface="Arial"/>
              <a:sym typeface="Arial"/>
            </a:endParaRPr>
          </a:p>
        </p:txBody>
      </p:sp>
      <p:sp>
        <p:nvSpPr>
          <p:cNvPr id="227" name="Google Shape;227;p10"/>
          <p:cNvSpPr txBox="1"/>
          <p:nvPr/>
        </p:nvSpPr>
        <p:spPr>
          <a:xfrm>
            <a:off x="548640" y="3739896"/>
            <a:ext cx="1691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b="1" i="0" lang="en-US" sz="1000" u="none" cap="none" strike="noStrike">
                <a:solidFill>
                  <a:schemeClr val="accent2"/>
                </a:solidFill>
                <a:latin typeface="Arial"/>
                <a:ea typeface="Arial"/>
                <a:cs typeface="Arial"/>
                <a:sym typeface="Arial"/>
              </a:rPr>
              <a:t>中間層。R の分担を案件ごとに合意</a:t>
            </a:r>
            <a:endParaRPr b="0" i="0" sz="1000" u="none" cap="none" strike="noStrike">
              <a:solidFill>
                <a:schemeClr val="dk1"/>
              </a:solidFill>
              <a:latin typeface="Arial"/>
              <a:ea typeface="Arial"/>
              <a:cs typeface="Arial"/>
              <a:sym typeface="Arial"/>
            </a:endParaRPr>
          </a:p>
        </p:txBody>
      </p:sp>
      <p:sp>
        <p:nvSpPr>
          <p:cNvPr id="228" name="Google Shape;228;p10"/>
          <p:cNvSpPr/>
          <p:nvPr/>
        </p:nvSpPr>
        <p:spPr>
          <a:xfrm>
            <a:off x="2377440" y="3300984"/>
            <a:ext cx="3026664" cy="10515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nvSpPr>
        <p:spPr>
          <a:xfrm>
            <a:off x="2514600" y="3374136"/>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A</a:t>
            </a:r>
            <a:endParaRPr b="0" i="0" sz="1400" u="none" cap="none" strike="noStrike">
              <a:solidFill>
                <a:schemeClr val="dk1"/>
              </a:solidFill>
              <a:latin typeface="Arial"/>
              <a:ea typeface="Arial"/>
              <a:cs typeface="Arial"/>
              <a:sym typeface="Arial"/>
            </a:endParaRPr>
          </a:p>
        </p:txBody>
      </p:sp>
      <p:sp>
        <p:nvSpPr>
          <p:cNvPr id="230" name="Google Shape;230;p10"/>
          <p:cNvSpPr txBox="1"/>
          <p:nvPr/>
        </p:nvSpPr>
        <p:spPr>
          <a:xfrm>
            <a:off x="2514600" y="3666744"/>
            <a:ext cx="2752344" cy="6492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判断・承認（今回の移管では動かさない）</a:t>
            </a:r>
            <a:endParaRPr b="0" i="0" sz="1050" u="none" cap="none" strike="noStrike">
              <a:solidFill>
                <a:schemeClr val="dk1"/>
              </a:solidFill>
              <a:latin typeface="Arial"/>
              <a:ea typeface="Arial"/>
              <a:cs typeface="Arial"/>
              <a:sym typeface="Arial"/>
            </a:endParaRPr>
          </a:p>
        </p:txBody>
      </p:sp>
      <p:sp>
        <p:nvSpPr>
          <p:cNvPr id="231" name="Google Shape;231;p10"/>
          <p:cNvSpPr/>
          <p:nvPr/>
        </p:nvSpPr>
        <p:spPr>
          <a:xfrm>
            <a:off x="5541264" y="3300984"/>
            <a:ext cx="3026664" cy="10515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txBox="1"/>
          <p:nvPr/>
        </p:nvSpPr>
        <p:spPr>
          <a:xfrm>
            <a:off x="5678424" y="3374136"/>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R</a:t>
            </a:r>
            <a:endParaRPr b="0" i="0" sz="1400" u="none" cap="none" strike="noStrike">
              <a:solidFill>
                <a:schemeClr val="dk1"/>
              </a:solidFill>
              <a:latin typeface="Arial"/>
              <a:ea typeface="Arial"/>
              <a:cs typeface="Arial"/>
              <a:sym typeface="Arial"/>
            </a:endParaRPr>
          </a:p>
        </p:txBody>
      </p:sp>
      <p:sp>
        <p:nvSpPr>
          <p:cNvPr id="233" name="Google Shape;233;p10"/>
          <p:cNvSpPr txBox="1"/>
          <p:nvPr/>
        </p:nvSpPr>
        <p:spPr>
          <a:xfrm>
            <a:off x="5678424" y="3666744"/>
            <a:ext cx="2752344" cy="6492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業務側の実務（業務への適合、効果、要望、受け入れの観点）</a:t>
            </a:r>
            <a:endParaRPr b="0" i="0" sz="1050" u="none" cap="none" strike="noStrike">
              <a:solidFill>
                <a:schemeClr val="dk1"/>
              </a:solidFill>
              <a:latin typeface="Arial"/>
              <a:ea typeface="Arial"/>
              <a:cs typeface="Arial"/>
              <a:sym typeface="Arial"/>
            </a:endParaRPr>
          </a:p>
        </p:txBody>
      </p:sp>
      <p:sp>
        <p:nvSpPr>
          <p:cNvPr id="234" name="Google Shape;234;p10"/>
          <p:cNvSpPr/>
          <p:nvPr/>
        </p:nvSpPr>
        <p:spPr>
          <a:xfrm>
            <a:off x="8705088" y="3300984"/>
            <a:ext cx="3026664" cy="10515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txBox="1"/>
          <p:nvPr/>
        </p:nvSpPr>
        <p:spPr>
          <a:xfrm>
            <a:off x="8842248" y="3374136"/>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R</a:t>
            </a:r>
            <a:endParaRPr b="0" i="0" sz="1400" u="none" cap="none" strike="noStrike">
              <a:solidFill>
                <a:schemeClr val="dk1"/>
              </a:solidFill>
              <a:latin typeface="Arial"/>
              <a:ea typeface="Arial"/>
              <a:cs typeface="Arial"/>
              <a:sym typeface="Arial"/>
            </a:endParaRPr>
          </a:p>
        </p:txBody>
      </p:sp>
      <p:sp>
        <p:nvSpPr>
          <p:cNvPr id="236" name="Google Shape;236;p10"/>
          <p:cNvSpPr txBox="1"/>
          <p:nvPr/>
        </p:nvSpPr>
        <p:spPr>
          <a:xfrm>
            <a:off x="8842248" y="3666744"/>
            <a:ext cx="2752344" cy="6492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技術側の実務（投資：システム化の方針・見積・費用／経費：運用のモニタリング、改善の実施、契約の見直しの材料）</a:t>
            </a:r>
            <a:endParaRPr b="0" i="0" sz="1050" u="none" cap="none" strike="noStrike">
              <a:solidFill>
                <a:schemeClr val="dk1"/>
              </a:solidFill>
              <a:latin typeface="Arial"/>
              <a:ea typeface="Arial"/>
              <a:cs typeface="Arial"/>
              <a:sym typeface="Arial"/>
            </a:endParaRPr>
          </a:p>
        </p:txBody>
      </p:sp>
      <p:sp>
        <p:nvSpPr>
          <p:cNvPr id="237" name="Google Shape;237;p10"/>
          <p:cNvSpPr txBox="1"/>
          <p:nvPr/>
        </p:nvSpPr>
        <p:spPr>
          <a:xfrm>
            <a:off x="548640" y="4590288"/>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間接業務</a:t>
            </a:r>
            <a:endParaRPr b="0" i="0" sz="1400" u="none" cap="none" strike="noStrike">
              <a:solidFill>
                <a:schemeClr val="dk1"/>
              </a:solidFill>
              <a:latin typeface="Arial"/>
              <a:ea typeface="Arial"/>
              <a:cs typeface="Arial"/>
              <a:sym typeface="Arial"/>
            </a:endParaRPr>
          </a:p>
        </p:txBody>
      </p:sp>
      <p:sp>
        <p:nvSpPr>
          <p:cNvPr id="238" name="Google Shape;238;p10"/>
          <p:cNvSpPr txBox="1"/>
          <p:nvPr/>
        </p:nvSpPr>
        <p:spPr>
          <a:xfrm>
            <a:off x="548640" y="4937760"/>
            <a:ext cx="1691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b="1" i="0" lang="en-US" sz="1000" u="none" cap="none" strike="noStrike">
                <a:solidFill>
                  <a:schemeClr val="accent2"/>
                </a:solidFill>
                <a:latin typeface="Arial"/>
                <a:ea typeface="Arial"/>
                <a:cs typeface="Arial"/>
                <a:sym typeface="Arial"/>
              </a:rPr>
              <a:t>移す（これまでは部門が担当）</a:t>
            </a:r>
            <a:endParaRPr b="0" i="0" sz="1000" u="none" cap="none" strike="noStrike">
              <a:solidFill>
                <a:schemeClr val="dk1"/>
              </a:solidFill>
              <a:latin typeface="Arial"/>
              <a:ea typeface="Arial"/>
              <a:cs typeface="Arial"/>
              <a:sym typeface="Arial"/>
            </a:endParaRPr>
          </a:p>
        </p:txBody>
      </p:sp>
      <p:sp>
        <p:nvSpPr>
          <p:cNvPr id="239" name="Google Shape;239;p10"/>
          <p:cNvSpPr/>
          <p:nvPr/>
        </p:nvSpPr>
        <p:spPr>
          <a:xfrm>
            <a:off x="2377440" y="4498848"/>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txBox="1"/>
          <p:nvPr/>
        </p:nvSpPr>
        <p:spPr>
          <a:xfrm>
            <a:off x="2514600" y="4572000"/>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I</a:t>
            </a:r>
            <a:endParaRPr b="0" i="0" sz="1400" u="none" cap="none" strike="noStrike">
              <a:solidFill>
                <a:schemeClr val="dk1"/>
              </a:solidFill>
              <a:latin typeface="Arial"/>
              <a:ea typeface="Arial"/>
              <a:cs typeface="Arial"/>
              <a:sym typeface="Arial"/>
            </a:endParaRPr>
          </a:p>
        </p:txBody>
      </p:sp>
      <p:sp>
        <p:nvSpPr>
          <p:cNvPr id="241" name="Google Shape;241;p10"/>
          <p:cNvSpPr txBox="1"/>
          <p:nvPr/>
        </p:nvSpPr>
        <p:spPr>
          <a:xfrm>
            <a:off x="2514600" y="4864608"/>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報告を受ける</a:t>
            </a:r>
            <a:endParaRPr b="0" i="0" sz="1050" u="none" cap="none" strike="noStrike">
              <a:solidFill>
                <a:schemeClr val="dk1"/>
              </a:solidFill>
              <a:latin typeface="Arial"/>
              <a:ea typeface="Arial"/>
              <a:cs typeface="Arial"/>
              <a:sym typeface="Arial"/>
            </a:endParaRPr>
          </a:p>
        </p:txBody>
      </p:sp>
      <p:sp>
        <p:nvSpPr>
          <p:cNvPr id="242" name="Google Shape;242;p10"/>
          <p:cNvSpPr/>
          <p:nvPr/>
        </p:nvSpPr>
        <p:spPr>
          <a:xfrm>
            <a:off x="5541264" y="4498848"/>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txBox="1"/>
          <p:nvPr/>
        </p:nvSpPr>
        <p:spPr>
          <a:xfrm>
            <a:off x="5678424" y="4572000"/>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244" name="Google Shape;244;p10"/>
          <p:cNvSpPr txBox="1"/>
          <p:nvPr/>
        </p:nvSpPr>
        <p:spPr>
          <a:xfrm>
            <a:off x="5678424" y="4864608"/>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関与しない</a:t>
            </a:r>
            <a:endParaRPr b="0" i="0" sz="1050" u="none" cap="none" strike="noStrike">
              <a:solidFill>
                <a:schemeClr val="dk1"/>
              </a:solidFill>
              <a:latin typeface="Arial"/>
              <a:ea typeface="Arial"/>
              <a:cs typeface="Arial"/>
              <a:sym typeface="Arial"/>
            </a:endParaRPr>
          </a:p>
        </p:txBody>
      </p:sp>
      <p:sp>
        <p:nvSpPr>
          <p:cNvPr id="245" name="Google Shape;245;p10"/>
          <p:cNvSpPr/>
          <p:nvPr/>
        </p:nvSpPr>
        <p:spPr>
          <a:xfrm>
            <a:off x="8705088" y="4498848"/>
            <a:ext cx="3026664" cy="8229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txBox="1"/>
          <p:nvPr/>
        </p:nvSpPr>
        <p:spPr>
          <a:xfrm>
            <a:off x="8842248" y="4572000"/>
            <a:ext cx="2752344"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i="0" lang="en-US" sz="1400" u="none" cap="none" strike="noStrike">
                <a:solidFill>
                  <a:schemeClr val="dk2"/>
                </a:solidFill>
                <a:latin typeface="Arial"/>
                <a:ea typeface="Arial"/>
                <a:cs typeface="Arial"/>
                <a:sym typeface="Arial"/>
              </a:rPr>
              <a:t>A / R</a:t>
            </a:r>
            <a:endParaRPr b="0" i="0" sz="1400" u="none" cap="none" strike="noStrike">
              <a:solidFill>
                <a:schemeClr val="dk1"/>
              </a:solidFill>
              <a:latin typeface="Arial"/>
              <a:ea typeface="Arial"/>
              <a:cs typeface="Arial"/>
              <a:sym typeface="Arial"/>
            </a:endParaRPr>
          </a:p>
        </p:txBody>
      </p:sp>
      <p:sp>
        <p:nvSpPr>
          <p:cNvPr id="247" name="Google Shape;247;p10"/>
          <p:cNvSpPr txBox="1"/>
          <p:nvPr/>
        </p:nvSpPr>
        <p:spPr>
          <a:xfrm>
            <a:off x="8842248" y="4864608"/>
            <a:ext cx="2752344"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予算の管理、契約、発注・検収・支払い（1月から）</a:t>
            </a:r>
            <a:endParaRPr b="0" i="0" sz="1050" u="none" cap="none" strike="noStrike">
              <a:solidFill>
                <a:schemeClr val="dk1"/>
              </a:solidFill>
              <a:latin typeface="Arial"/>
              <a:ea typeface="Arial"/>
              <a:cs typeface="Arial"/>
              <a:sym typeface="Arial"/>
            </a:endParaRPr>
          </a:p>
        </p:txBody>
      </p:sp>
      <p:sp>
        <p:nvSpPr>
          <p:cNvPr id="248" name="Google Shape;248;p10"/>
          <p:cNvSpPr txBox="1"/>
          <p:nvPr/>
        </p:nvSpPr>
        <p:spPr>
          <a:xfrm>
            <a:off x="457200" y="5504688"/>
            <a:ext cx="1127455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i="0" lang="en-US" sz="1500" u="none" cap="none" strike="noStrike">
                <a:solidFill>
                  <a:schemeClr val="dk2"/>
                </a:solidFill>
                <a:latin typeface="Arial"/>
                <a:ea typeface="Arial"/>
                <a:cs typeface="Arial"/>
                <a:sym typeface="Arial"/>
              </a:rPr>
              <a:t>IT関連業務は、12・13枚目の RACI テンプレートを案件ごとにカスタマイズし、移管元の責任者と合意して文書に残す</a:t>
            </a:r>
            <a:endParaRPr b="0" i="0" sz="1500" u="none" cap="none" strike="noStrike">
              <a:solidFill>
                <a:schemeClr val="dk1"/>
              </a:solidFill>
              <a:latin typeface="Arial"/>
              <a:ea typeface="Arial"/>
              <a:cs typeface="Arial"/>
              <a:sym typeface="Arial"/>
            </a:endParaRPr>
          </a:p>
        </p:txBody>
      </p:sp>
      <p:sp>
        <p:nvSpPr>
          <p:cNvPr id="249" name="Google Shape;249;p10"/>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1"/>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RACI：IT投資プロセス（Before → Transition → After）</a:t>
            </a:r>
            <a:endParaRPr sz="2600"/>
          </a:p>
        </p:txBody>
      </p:sp>
      <p:sp>
        <p:nvSpPr>
          <p:cNvPr id="256" name="Google Shape;256;p11"/>
          <p:cNvSpPr txBox="1"/>
          <p:nvPr/>
        </p:nvSpPr>
        <p:spPr>
          <a:xfrm>
            <a:off x="457200" y="914400"/>
            <a:ext cx="1127455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b="0" i="0" lang="en-US" sz="1000" u="none" cap="none" strike="noStrike">
                <a:solidFill>
                  <a:schemeClr val="accent2"/>
                </a:solidFill>
                <a:latin typeface="Arial"/>
                <a:ea typeface="Arial"/>
                <a:cs typeface="Arial"/>
                <a:sym typeface="Arial"/>
              </a:rPr>
              <a:t>PO：プロセスオーナー（部門長）　BU：部門担当　IT：IT部門（移管前）　SO：システムオーナー（IT部門）　　R：実行　A：最終責任　C：相談　I：連絡　（定義は14枚目）</a:t>
            </a:r>
            <a:endParaRPr b="0" i="0" sz="1000" u="none" cap="none" strike="noStrike">
              <a:solidFill>
                <a:schemeClr val="dk1"/>
              </a:solidFill>
              <a:latin typeface="Arial"/>
              <a:ea typeface="Arial"/>
              <a:cs typeface="Arial"/>
              <a:sym typeface="Arial"/>
            </a:endParaRPr>
          </a:p>
        </p:txBody>
      </p:sp>
      <p:sp>
        <p:nvSpPr>
          <p:cNvPr id="263" name="Google Shape;263;p11"/>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graphicFrame>
        <p:nvGraphicFramePr>
          <p:cNvPr id="264" name="Table 263"/>
          <p:cNvGraphicFramePr>
            <a:graphicFrameLocks noGrp="1"/>
          </p:cNvGraphicFramePr>
          <p:nvPr/>
        </p:nvGraphicFramePr>
        <p:xfrm>
          <a:off x="457200" y="1207008"/>
          <a:ext cx="11277288" cy="4407408"/>
        </p:xfrm>
        <a:graphic>
          <a:graphicData uri="http://schemas.openxmlformats.org/drawingml/2006/table">
            <a:tbl>
              <a:tblPr firstRow="0" bandRow="0">
                <a:tableStyleId>{5940675A-B579-460E-94D1-54222C63F5DA}</a:tableStyleId>
              </a:tblPr>
              <a:tblGrid>
                <a:gridCol w="4983480"/>
                <a:gridCol w="731520"/>
                <a:gridCol w="618032"/>
                <a:gridCol w="618032"/>
                <a:gridCol w="618032"/>
                <a:gridCol w="618032"/>
                <a:gridCol w="618032"/>
                <a:gridCol w="618032"/>
                <a:gridCol w="618032"/>
                <a:gridCol w="618032"/>
                <a:gridCol w="618032"/>
              </a:tblGrid>
              <a:tr h="237744">
                <a:tc rowSpan="2">
                  <a:txBody>
                    <a:bodyPr wrap="square"/>
                    <a:lstStyle/>
                    <a:p>
                      <a:pPr algn="l"/>
                      <a:r>
                        <a:rPr sz="1100" b="1" lang="en-US">
                          <a:solidFill>
                            <a:srgbClr val="FFFFFF"/>
                          </a:solidFill>
                          <a:latin typeface="Arial"/>
                          <a:ea typeface="Arial"/>
                          <a:cs typeface="Arial"/>
                        </a:rPr>
                        <a:t>活動</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1C2B45"/>
                    </a:solidFill>
                  </a:tcPr>
                </a:tc>
                <a:tc rowSpan="2">
                  <a:txBody>
                    <a:bodyPr wrap="square"/>
                    <a:lstStyle/>
                    <a:p>
                      <a:pPr algn="ctr"/>
                      <a:r>
                        <a:rPr sz="1100" b="1" lang="en-US">
                          <a:solidFill>
                            <a:srgbClr val="FFFFFF"/>
                          </a:solidFill>
                          <a:latin typeface="Arial"/>
                          <a:ea typeface="Arial"/>
                          <a:cs typeface="Arial"/>
                        </a:rPr>
                        <a:t>層</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1C2B45"/>
                    </a:solidFill>
                  </a:tcPr>
                </a:tc>
                <a:tc gridSpan="3">
                  <a:txBody>
                    <a:bodyPr wrap="square"/>
                    <a:lstStyle/>
                    <a:p>
                      <a:pPr algn="ctr"/>
                      <a:r>
                        <a:rPr sz="1100" b="1" lang="en-US">
                          <a:solidFill>
                            <a:srgbClr val="FFFFFF"/>
                          </a:solidFill>
                          <a:latin typeface="Arial"/>
                          <a:ea typeface="Arial"/>
                          <a:cs typeface="Arial"/>
                        </a:rPr>
                        <a:t>Before（現状）</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A23B3B"/>
                    </a:solidFill>
                  </a:tcPr>
                </a:tc>
                <a:tc hMerge="1">
                  <a:txBody>
                    <a:bodyPr/>
                    <a:lstStyle/>
                    <a:p/>
                  </a:txBody>
                  <a:tcPr/>
                </a:tc>
                <a:tc hMerge="1">
                  <a:txBody>
                    <a:bodyPr/>
                    <a:lstStyle/>
                    <a:p/>
                  </a:txBody>
                  <a:tcPr/>
                </a:tc>
                <a:tc gridSpan="3">
                  <a:txBody>
                    <a:bodyPr wrap="square"/>
                    <a:lstStyle/>
                    <a:p>
                      <a:pPr algn="ctr"/>
                      <a:r>
                        <a:rPr sz="1100" b="1" lang="en-US">
                          <a:solidFill>
                            <a:srgbClr val="FFFFFF"/>
                          </a:solidFill>
                          <a:latin typeface="Arial"/>
                          <a:ea typeface="Arial"/>
                          <a:cs typeface="Arial"/>
                        </a:rPr>
                        <a:t>Transition（移行）</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A86B12"/>
                    </a:solidFill>
                  </a:tcPr>
                </a:tc>
                <a:tc hMerge="1">
                  <a:txBody>
                    <a:bodyPr/>
                    <a:lstStyle/>
                    <a:p/>
                  </a:txBody>
                  <a:tcPr/>
                </a:tc>
                <a:tc hMerge="1">
                  <a:txBody>
                    <a:bodyPr/>
                    <a:lstStyle/>
                    <a:p/>
                  </a:txBody>
                  <a:tcPr/>
                </a:tc>
                <a:tc gridSpan="3">
                  <a:txBody>
                    <a:bodyPr wrap="square"/>
                    <a:lstStyle/>
                    <a:p>
                      <a:pPr algn="ctr"/>
                      <a:r>
                        <a:rPr sz="1100" b="1" lang="en-US">
                          <a:solidFill>
                            <a:srgbClr val="FFFFFF"/>
                          </a:solidFill>
                          <a:latin typeface="Arial"/>
                          <a:ea typeface="Arial"/>
                          <a:cs typeface="Arial"/>
                        </a:rPr>
                        <a:t>After（移管後）</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3E7B4F"/>
                    </a:solidFill>
                  </a:tcPr>
                </a:tc>
                <a:tc hMerge="1">
                  <a:txBody>
                    <a:bodyPr/>
                    <a:lstStyle/>
                    <a:p/>
                  </a:txBody>
                  <a:tcPr/>
                </a:tc>
                <a:tc hMerge="1">
                  <a:txBody>
                    <a:bodyPr/>
                    <a:lstStyle/>
                    <a:p/>
                  </a:txBody>
                  <a:tcPr/>
                </a:tc>
              </a:tr>
              <a:tr h="237744">
                <a:tc vMerge="1">
                  <a:txBody>
                    <a:bodyPr/>
                    <a:lstStyle/>
                    <a:p/>
                  </a:txBody>
                  <a:tcPr/>
                </a:tc>
                <a:tc vMerge="1">
                  <a:txBody>
                    <a:bodyPr/>
                    <a:lstStyle/>
                    <a:p/>
                  </a:txBody>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IT</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SO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SO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r>
              <a:tr h="292608">
                <a:tc>
                  <a:txBody>
                    <a:bodyPr wrap="square"/>
                    <a:lstStyle/>
                    <a:p>
                      <a:pPr algn="l"/>
                      <a:r>
                        <a:rPr sz="1050" b="0" lang="en-US">
                          <a:solidFill>
                            <a:srgbClr val="222B38"/>
                          </a:solidFill>
                          <a:latin typeface="Arial"/>
                          <a:ea typeface="Arial"/>
                          <a:cs typeface="Arial"/>
                        </a:rPr>
                        <a:t>I-1　課題・ニーズの特定</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I-2　業務要件の定義</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356616">
                <a:tc>
                  <a:txBody>
                    <a:bodyPr wrap="square"/>
                    <a:lstStyle/>
                    <a:p>
                      <a:pPr algn="l"/>
                      <a:r>
                        <a:rPr sz="1050" b="0" lang="en-US">
                          <a:solidFill>
                            <a:srgbClr val="222B38"/>
                          </a:solidFill>
                          <a:latin typeface="Arial"/>
                          <a:ea typeface="Arial"/>
                          <a:cs typeface="Arial"/>
                        </a:rPr>
                        <a:t>I-3　解決策の検討（業務の進め方・業務への適合、システム化の方針・既存システムとの整合）</a:t>
                      </a:r>
                    </a:p>
                  </a:txBody>
                  <a:tcPr marL="54864" marR="54864" marT="18288" marB="18288" anchor="ctr">
                    <a:lnL w="28575">
                      <a:solidFill>
                        <a:srgbClr val="D9772B"/>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28575">
                      <a:solidFill>
                        <a:srgbClr val="D9772B"/>
                      </a:solidFill>
                    </a:lnT>
                    <a:lnB w="9525">
                      <a:solidFill>
                        <a:srgbClr val="C9D0DA"/>
                      </a:solidFill>
                    </a:lnB>
                    <a:solidFill>
                      <a:srgbClr val="DDE5F2"/>
                    </a:solidFill>
                  </a:tcPr>
                </a:tc>
              </a:tr>
              <a:tr h="356616">
                <a:tc>
                  <a:txBody>
                    <a:bodyPr wrap="square"/>
                    <a:lstStyle/>
                    <a:p>
                      <a:pPr algn="l"/>
                      <a:r>
                        <a:rPr sz="1050" b="0" lang="en-US">
                          <a:solidFill>
                            <a:srgbClr val="222B38"/>
                          </a:solidFill>
                          <a:latin typeface="Arial"/>
                          <a:ea typeface="Arial"/>
                          <a:cs typeface="Arial"/>
                        </a:rPr>
                        <a:t>I-4　ベンダー情報の収集・見積の取得（業務要件の提示・デモでの業務評価、見積の取得・技術面の評価）</a:t>
                      </a:r>
                    </a:p>
                  </a:txBody>
                  <a:tcPr marL="54864" marR="54864" marT="18288" marB="18288" anchor="ctr">
                    <a:lnL w="28575">
                      <a:solidFill>
                        <a:srgbClr val="D9772B"/>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9525">
                      <a:solidFill>
                        <a:srgbClr val="C9D0DA"/>
                      </a:solidFill>
                    </a:lnB>
                    <a:solidFill>
                      <a:srgbClr val="DDE5F2"/>
                    </a:solidFill>
                  </a:tcPr>
                </a:tc>
              </a:tr>
              <a:tr h="292608">
                <a:tc>
                  <a:txBody>
                    <a:bodyPr wrap="square"/>
                    <a:lstStyle/>
                    <a:p>
                      <a:pPr algn="l"/>
                      <a:r>
                        <a:rPr sz="1050" b="0" lang="en-US">
                          <a:solidFill>
                            <a:srgbClr val="222B38"/>
                          </a:solidFill>
                          <a:latin typeface="Arial"/>
                          <a:ea typeface="Arial"/>
                          <a:cs typeface="Arial"/>
                        </a:rPr>
                        <a:t>I-5　投資効果と費用の算定</a:t>
                      </a:r>
                    </a:p>
                  </a:txBody>
                  <a:tcPr marL="54864" marR="54864" marT="18288" marB="18288" anchor="ctr">
                    <a:lnL w="28575">
                      <a:solidFill>
                        <a:srgbClr val="D9772B"/>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9525">
                      <a:solidFill>
                        <a:srgbClr val="C9D0DA"/>
                      </a:solidFill>
                    </a:lnB>
                    <a:solidFill>
                      <a:srgbClr val="DDE5F2"/>
                    </a:solidFill>
                  </a:tcPr>
                </a:tc>
              </a:tr>
              <a:tr h="292608">
                <a:tc>
                  <a:txBody>
                    <a:bodyPr wrap="square"/>
                    <a:lstStyle/>
                    <a:p>
                      <a:pPr algn="l"/>
                      <a:r>
                        <a:rPr sz="1050" b="0" lang="en-US">
                          <a:solidFill>
                            <a:srgbClr val="222B38"/>
                          </a:solidFill>
                          <a:latin typeface="Arial"/>
                          <a:ea typeface="Arial"/>
                          <a:cs typeface="Arial"/>
                        </a:rPr>
                        <a:t>I-6　予算要求・投資申請の作成（目的・効果、費用・技術・リスクの記述）</a:t>
                      </a:r>
                    </a:p>
                  </a:txBody>
                  <a:tcPr marL="54864" marR="54864" marT="18288" marB="18288" anchor="ctr">
                    <a:lnL w="28575">
                      <a:solidFill>
                        <a:srgbClr val="D9772B"/>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28575">
                      <a:solidFill>
                        <a:srgbClr val="D9772B"/>
                      </a:solidFill>
                    </a:lnB>
                    <a:solidFill>
                      <a:srgbClr val="DDE5F2"/>
                    </a:solidFill>
                  </a:tcPr>
                </a:tc>
              </a:tr>
              <a:tr h="292608">
                <a:tc>
                  <a:txBody>
                    <a:bodyPr wrap="square"/>
                    <a:lstStyle/>
                    <a:p>
                      <a:pPr algn="l"/>
                      <a:r>
                        <a:rPr sz="1050" b="0" lang="en-US">
                          <a:solidFill>
                            <a:srgbClr val="222B38"/>
                          </a:solidFill>
                          <a:latin typeface="Arial"/>
                          <a:ea typeface="Arial"/>
                          <a:cs typeface="Arial"/>
                        </a:rPr>
                        <a:t>I-7　投資の決裁</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gridSpan="6">
                  <a:txBody>
                    <a:bodyPr wrap="square"/>
                    <a:lstStyle/>
                    <a:p>
                      <a:pPr algn="ctr"/>
                      <a:r>
                        <a:rPr sz="1050" b="1" lang="en-US">
                          <a:solidFill>
                            <a:srgbClr val="1C2B45"/>
                          </a:solidFill>
                          <a:latin typeface="Arial"/>
                          <a:ea typeface="Arial"/>
                          <a:cs typeface="Arial"/>
                        </a:rPr>
                        <a:t>決裁者：新しいITガバナンス（Tier）で検討中</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292608">
                <a:tc>
                  <a:txBody>
                    <a:bodyPr wrap="square"/>
                    <a:lstStyle/>
                    <a:p>
                      <a:pPr algn="l"/>
                      <a:r>
                        <a:rPr sz="1050" b="0" lang="en-US">
                          <a:solidFill>
                            <a:srgbClr val="222B38"/>
                          </a:solidFill>
                          <a:latin typeface="Arial"/>
                          <a:ea typeface="Arial"/>
                          <a:cs typeface="Arial"/>
                        </a:rPr>
                        <a:t>I-8　ベンダーの選定（業務への適合、技術・契約条件の評価）</a:t>
                      </a:r>
                    </a:p>
                  </a:txBody>
                  <a:tcPr marL="54864" marR="54864" marT="18288" marB="18288" anchor="ctr">
                    <a:lnL w="28575">
                      <a:solidFill>
                        <a:srgbClr val="D9772B"/>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28575">
                      <a:solidFill>
                        <a:srgbClr val="D9772B"/>
                      </a:solidFill>
                    </a:lnT>
                    <a:lnB w="28575">
                      <a:solidFill>
                        <a:srgbClr val="D9772B"/>
                      </a:solidFill>
                    </a:lnB>
                    <a:solidFill>
                      <a:srgbClr val="DDE5F2"/>
                    </a:solidFill>
                  </a:tcPr>
                </a:tc>
              </a:tr>
              <a:tr h="292608">
                <a:tc>
                  <a:txBody>
                    <a:bodyPr wrap="square"/>
                    <a:lstStyle/>
                    <a:p>
                      <a:pPr algn="l"/>
                      <a:r>
                        <a:rPr sz="1050" b="0" lang="en-US">
                          <a:solidFill>
                            <a:srgbClr val="222B38"/>
                          </a:solidFill>
                          <a:latin typeface="Arial"/>
                          <a:ea typeface="Arial"/>
                          <a:cs typeface="Arial"/>
                        </a:rPr>
                        <a:t>I-9　契約の締結</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I</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I</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I-10　発注・検収・支払いの手続き</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I-11　プロジェクトの推進（業務面・技術面の進捗と品質）</a:t>
                      </a:r>
                    </a:p>
                  </a:txBody>
                  <a:tcPr marL="54864" marR="54864" marT="18288" marB="18288" anchor="ctr">
                    <a:lnL w="28575">
                      <a:solidFill>
                        <a:srgbClr val="D9772B"/>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28575">
                      <a:solidFill>
                        <a:srgbClr val="D9772B"/>
                      </a:solidFill>
                    </a:lnT>
                    <a:lnB w="28575">
                      <a:solidFill>
                        <a:srgbClr val="D9772B"/>
                      </a:solidFill>
                    </a:lnB>
                    <a:solidFill>
                      <a:srgbClr val="DDE5F2"/>
                    </a:solidFill>
                  </a:tcPr>
                </a:tc>
              </a:tr>
              <a:tr h="292608">
                <a:tc>
                  <a:txBody>
                    <a:bodyPr wrap="square"/>
                    <a:lstStyle/>
                    <a:p>
                      <a:pPr algn="l"/>
                      <a:r>
                        <a:rPr sz="1050" b="0" lang="en-US">
                          <a:solidFill>
                            <a:srgbClr val="222B38"/>
                          </a:solidFill>
                          <a:latin typeface="Arial"/>
                          <a:ea typeface="Arial"/>
                          <a:cs typeface="Arial"/>
                        </a:rPr>
                        <a:t>I-12　受け入れ（業務要件を満たすか）</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I-13　効果の確認（事後評価）</a:t>
                      </a:r>
                    </a:p>
                  </a:txBody>
                  <a:tcPr marL="54864" marR="54864" marT="18288" marB="18288" anchor="ctr">
                    <a:lnL w="28575">
                      <a:solidFill>
                        <a:srgbClr val="D9772B"/>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28575">
                      <a:solidFill>
                        <a:srgbClr val="D9772B"/>
                      </a:solidFill>
                    </a:lnR>
                    <a:lnT w="28575">
                      <a:solidFill>
                        <a:srgbClr val="D9772B"/>
                      </a:solidFill>
                    </a:lnT>
                    <a:lnB w="28575">
                      <a:solidFill>
                        <a:srgbClr val="D9772B"/>
                      </a:solidFill>
                    </a:lnB>
                    <a:solidFill>
                      <a:srgbClr val="FFFFFF"/>
                    </a:solidFill>
                  </a:tcPr>
                </a:tc>
              </a:tr>
            </a:tbl>
          </a:graphicData>
        </a:graphic>
      </p:graphicFrame>
      <p:sp>
        <p:nvSpPr>
          <p:cNvPr id="265" name="TextBox 264"/>
          <p:cNvSpPr txBox="1"/>
          <p:nvPr/>
        </p:nvSpPr>
        <p:spPr>
          <a:xfrm>
            <a:off x="457200" y="5678424"/>
            <a:ext cx="10698480" cy="905255"/>
          </a:xfrm>
          <a:prstGeom prst="rect">
            <a:avLst/>
          </a:prstGeom>
          <a:noFill/>
        </p:spPr>
        <p:txBody>
          <a:bodyPr wrap="square" lIns="0" rIns="0" tIns="0" bIns="0">
            <a:spAutoFit/>
          </a:bodyPr>
          <a:lstStyle/>
          <a:p>
            <a:pPr marL="128016" indent="-128016">
              <a:buFont typeface="Arial"/>
              <a:buChar char="•"/>
            </a:pPr>
            <a:r>
              <a:rPr sz="1000">
                <a:solidFill>
                  <a:srgbClr val="222B38"/>
                </a:solidFill>
                <a:latin typeface="Arial"/>
              </a:rPr>
              <a:t>Before：これまでの分担（IT関連業務は部門が R、IT部門が C）。Transition：SO が R を持ち始める（上限は2027年度末）</a:t>
            </a:r>
          </a:p>
          <a:p>
            <a:pPr marL="128016" indent="-128016">
              <a:buFont typeface="Arial"/>
              <a:buChar char="•"/>
            </a:pPr>
            <a:r>
              <a:rPr sz="1000">
                <a:solidFill>
                  <a:srgbClr val="222B38"/>
                </a:solidFill>
                <a:latin typeface="Arial"/>
              </a:rPr>
              <a:t>After：A はプロセスオーナーに残し、IT関連業務は部門と SO の両方が R を持って協力する。色付きのマスは、一つ前の段階から変わるところ</a:t>
            </a:r>
          </a:p>
          <a:p>
            <a:pPr marL="128016" indent="-128016">
              <a:buFont typeface="Arial"/>
              <a:buChar char="•"/>
            </a:pPr>
            <a:r>
              <a:rPr sz="1000">
                <a:solidFill>
                  <a:srgbClr val="222B38"/>
                </a:solidFill>
                <a:latin typeface="Arial"/>
              </a:rPr>
              <a:t>太枠は案件ごとに協議する行。協議するのは R の分担（どこまでをどちらが担うか）と Transition の期間だけで、A の列と直接・間接の行は変えない</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2"/>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RACI：経費プロセス（Before → Transition → After）</a:t>
            </a:r>
            <a:endParaRPr sz="2600"/>
          </a:p>
        </p:txBody>
      </p:sp>
      <p:sp>
        <p:nvSpPr>
          <p:cNvPr id="270" name="Google Shape;270;p12"/>
          <p:cNvSpPr txBox="1"/>
          <p:nvPr/>
        </p:nvSpPr>
        <p:spPr>
          <a:xfrm>
            <a:off x="457200" y="914400"/>
            <a:ext cx="1127455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00"/>
              <a:buFont typeface="Arial"/>
              <a:buNone/>
            </a:pPr>
            <a:r>
              <a:rPr lang="en-US" sz="1000">
                <a:solidFill>
                  <a:schemeClr val="accent2"/>
                </a:solidFill>
                <a:latin typeface="Arial"/>
                <a:ea typeface="Arial"/>
                <a:cs typeface="Arial"/>
                <a:sym typeface="Arial"/>
              </a:rPr>
              <a:t>PO：プロセスオーナー（部門長）　BU：部門担当　IT：IT部門（移管前）　SO：システムオーナー（IT部門）　　R：実行　A：最終責任　C：相談　I：連絡　（定義は15枚目）</a:t>
            </a:r>
            <a:endParaRPr sz="1000">
              <a:solidFill>
                <a:schemeClr val="dk1"/>
              </a:solidFill>
              <a:latin typeface="Arial"/>
              <a:ea typeface="Arial"/>
              <a:cs typeface="Arial"/>
              <a:sym typeface="Arial"/>
            </a:endParaRPr>
          </a:p>
        </p:txBody>
      </p:sp>
      <p:sp>
        <p:nvSpPr>
          <p:cNvPr id="274" name="Google Shape;274;p12"/>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900">
                <a:solidFill>
                  <a:schemeClr val="accent3"/>
                </a:solidFill>
                <a:latin typeface="Arial"/>
                <a:ea typeface="Arial"/>
                <a:cs typeface="Arial"/>
                <a:sym typeface="Arial"/>
              </a:rPr>
              <a:t>‹#›</a:t>
            </a:fld>
            <a:endParaRPr sz="900">
              <a:solidFill>
                <a:schemeClr val="accent3"/>
              </a:solidFill>
              <a:latin typeface="Arial"/>
              <a:ea typeface="Arial"/>
              <a:cs typeface="Arial"/>
              <a:sym typeface="Arial"/>
            </a:endParaRPr>
          </a:p>
        </p:txBody>
      </p:sp>
      <p:graphicFrame>
        <p:nvGraphicFramePr>
          <p:cNvPr id="275" name="Table 274"/>
          <p:cNvGraphicFramePr>
            <a:graphicFrameLocks noGrp="1"/>
          </p:cNvGraphicFramePr>
          <p:nvPr/>
        </p:nvGraphicFramePr>
        <p:xfrm>
          <a:off x="457200" y="1207008"/>
          <a:ext cx="11277288" cy="4572000"/>
        </p:xfrm>
        <a:graphic>
          <a:graphicData uri="http://schemas.openxmlformats.org/drawingml/2006/table">
            <a:tbl>
              <a:tblPr firstRow="0" bandRow="0">
                <a:tableStyleId>{5940675A-B579-460E-94D1-54222C63F5DA}</a:tableStyleId>
              </a:tblPr>
              <a:tblGrid>
                <a:gridCol w="4983480"/>
                <a:gridCol w="731520"/>
                <a:gridCol w="618032"/>
                <a:gridCol w="618032"/>
                <a:gridCol w="618032"/>
                <a:gridCol w="618032"/>
                <a:gridCol w="618032"/>
                <a:gridCol w="618032"/>
                <a:gridCol w="618032"/>
                <a:gridCol w="618032"/>
                <a:gridCol w="618032"/>
              </a:tblGrid>
              <a:tr h="237744">
                <a:tc rowSpan="2">
                  <a:txBody>
                    <a:bodyPr wrap="square"/>
                    <a:lstStyle/>
                    <a:p>
                      <a:pPr algn="l"/>
                      <a:r>
                        <a:rPr sz="1100" b="1" lang="en-US">
                          <a:solidFill>
                            <a:srgbClr val="FFFFFF"/>
                          </a:solidFill>
                          <a:latin typeface="Arial"/>
                          <a:ea typeface="Arial"/>
                          <a:cs typeface="Arial"/>
                        </a:rPr>
                        <a:t>活動</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1C2B45"/>
                    </a:solidFill>
                  </a:tcPr>
                </a:tc>
                <a:tc rowSpan="2">
                  <a:txBody>
                    <a:bodyPr wrap="square"/>
                    <a:lstStyle/>
                    <a:p>
                      <a:pPr algn="ctr"/>
                      <a:r>
                        <a:rPr sz="1100" b="1" lang="en-US">
                          <a:solidFill>
                            <a:srgbClr val="FFFFFF"/>
                          </a:solidFill>
                          <a:latin typeface="Arial"/>
                          <a:ea typeface="Arial"/>
                          <a:cs typeface="Arial"/>
                        </a:rPr>
                        <a:t>層</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1C2B45"/>
                    </a:solidFill>
                  </a:tcPr>
                </a:tc>
                <a:tc gridSpan="3">
                  <a:txBody>
                    <a:bodyPr wrap="square"/>
                    <a:lstStyle/>
                    <a:p>
                      <a:pPr algn="ctr"/>
                      <a:r>
                        <a:rPr sz="1100" b="1" lang="en-US">
                          <a:solidFill>
                            <a:srgbClr val="FFFFFF"/>
                          </a:solidFill>
                          <a:latin typeface="Arial"/>
                          <a:ea typeface="Arial"/>
                          <a:cs typeface="Arial"/>
                        </a:rPr>
                        <a:t>Before（現状）</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A23B3B"/>
                    </a:solidFill>
                  </a:tcPr>
                </a:tc>
                <a:tc hMerge="1">
                  <a:txBody>
                    <a:bodyPr/>
                    <a:lstStyle/>
                    <a:p/>
                  </a:txBody>
                  <a:tcPr/>
                </a:tc>
                <a:tc hMerge="1">
                  <a:txBody>
                    <a:bodyPr/>
                    <a:lstStyle/>
                    <a:p/>
                  </a:txBody>
                  <a:tcPr/>
                </a:tc>
                <a:tc gridSpan="3">
                  <a:txBody>
                    <a:bodyPr wrap="square"/>
                    <a:lstStyle/>
                    <a:p>
                      <a:pPr algn="ctr"/>
                      <a:r>
                        <a:rPr sz="1100" b="1" lang="en-US">
                          <a:solidFill>
                            <a:srgbClr val="FFFFFF"/>
                          </a:solidFill>
                          <a:latin typeface="Arial"/>
                          <a:ea typeface="Arial"/>
                          <a:cs typeface="Arial"/>
                        </a:rPr>
                        <a:t>Transition（移行）</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A86B12"/>
                    </a:solidFill>
                  </a:tcPr>
                </a:tc>
                <a:tc hMerge="1">
                  <a:txBody>
                    <a:bodyPr/>
                    <a:lstStyle/>
                    <a:p/>
                  </a:txBody>
                  <a:tcPr/>
                </a:tc>
                <a:tc hMerge="1">
                  <a:txBody>
                    <a:bodyPr/>
                    <a:lstStyle/>
                    <a:p/>
                  </a:txBody>
                  <a:tcPr/>
                </a:tc>
                <a:tc gridSpan="3">
                  <a:txBody>
                    <a:bodyPr wrap="square"/>
                    <a:lstStyle/>
                    <a:p>
                      <a:pPr algn="ctr"/>
                      <a:r>
                        <a:rPr sz="1100" b="1" lang="en-US">
                          <a:solidFill>
                            <a:srgbClr val="FFFFFF"/>
                          </a:solidFill>
                          <a:latin typeface="Arial"/>
                          <a:ea typeface="Arial"/>
                          <a:cs typeface="Arial"/>
                        </a:rPr>
                        <a:t>After（移管後）</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3E7B4F"/>
                    </a:solidFill>
                  </a:tcPr>
                </a:tc>
                <a:tc hMerge="1">
                  <a:txBody>
                    <a:bodyPr/>
                    <a:lstStyle/>
                    <a:p/>
                  </a:txBody>
                  <a:tcPr/>
                </a:tc>
                <a:tc hMerge="1">
                  <a:txBody>
                    <a:bodyPr/>
                    <a:lstStyle/>
                    <a:p/>
                  </a:txBody>
                  <a:tcPr/>
                </a:tc>
              </a:tr>
              <a:tr h="237744">
                <a:tc vMerge="1">
                  <a:txBody>
                    <a:bodyPr/>
                    <a:lstStyle/>
                    <a:p/>
                  </a:txBody>
                  <a:tcPr/>
                </a:tc>
                <a:tc vMerge="1">
                  <a:txBody>
                    <a:bodyPr/>
                    <a:lstStyle/>
                    <a:p/>
                  </a:txBody>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IT</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SO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PO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BU</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c>
                  <a:txBody>
                    <a:bodyPr wrap="square"/>
                    <a:lstStyle/>
                    <a:p>
                      <a:pPr algn="ctr"/>
                      <a:r>
                        <a:rPr sz="1050" b="1" lang="en-US">
                          <a:solidFill>
                            <a:srgbClr val="1C2B45"/>
                          </a:solidFill>
                          <a:latin typeface="Arial"/>
                          <a:ea typeface="Arial"/>
                          <a:cs typeface="Arial"/>
                        </a:rPr>
                        <a:t>SO</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E6EAF0"/>
                    </a:solidFill>
                  </a:tcPr>
                </a:tc>
              </a:tr>
              <a:tr h="292608">
                <a:tc>
                  <a:txBody>
                    <a:bodyPr wrap="square"/>
                    <a:lstStyle/>
                    <a:p>
                      <a:pPr algn="l"/>
                      <a:r>
                        <a:rPr sz="1050" b="0" lang="en-US">
                          <a:solidFill>
                            <a:srgbClr val="222B38"/>
                          </a:solidFill>
                          <a:latin typeface="Arial"/>
                          <a:ea typeface="Arial"/>
                          <a:cs typeface="Arial"/>
                        </a:rPr>
                        <a:t>E-1　システムを使った業務</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E-2　サービスレベル（SLA）の要求の決定</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E-3　利用ルールの決定（ライセンスの割当て方針・運用設計）</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E-4　部門で行う運用（ルールに沿ったユーザー・権限の管理）</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E-5　予算の計上・執行の管理</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I</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I</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E-6　契約の更新・変更・解約の手続き</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E-7　請求書の受領・支払い</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E-8　委託先への指示・報告の受領（契約上の管理）</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間接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A/R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E-9　運用状況のモニタリング（SLA の達成状況・障害・利用状況）</a:t>
                      </a:r>
                    </a:p>
                  </a:txBody>
                  <a:tcPr marL="54864" marR="54864" marT="18288" marB="18288" anchor="ctr">
                    <a:lnL w="28575">
                      <a:solidFill>
                        <a:srgbClr val="D9772B"/>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DDE5F2"/>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28575">
                      <a:solidFill>
                        <a:srgbClr val="D9772B"/>
                      </a:solidFill>
                    </a:lnT>
                    <a:lnB w="9525">
                      <a:solidFill>
                        <a:srgbClr val="C9D0DA"/>
                      </a:solidFill>
                    </a:lnB>
                    <a:solidFill>
                      <a:srgbClr val="DDE5F2"/>
                    </a:solidFill>
                  </a:tcPr>
                </a:tc>
              </a:tr>
              <a:tr h="292608">
                <a:tc>
                  <a:txBody>
                    <a:bodyPr wrap="square"/>
                    <a:lstStyle/>
                    <a:p>
                      <a:pPr algn="l"/>
                      <a:r>
                        <a:rPr sz="1050" b="0" lang="en-US">
                          <a:solidFill>
                            <a:srgbClr val="222B38"/>
                          </a:solidFill>
                          <a:latin typeface="Arial"/>
                          <a:ea typeface="Arial"/>
                          <a:cs typeface="Arial"/>
                        </a:rPr>
                        <a:t>E-10　改善活動（要望と優先順位、整理と実施）</a:t>
                      </a:r>
                    </a:p>
                  </a:txBody>
                  <a:tcPr marL="54864" marR="54864" marT="18288" marB="18288" anchor="ctr">
                    <a:lnL w="28575">
                      <a:solidFill>
                        <a:srgbClr val="D9772B"/>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9525">
                      <a:solidFill>
                        <a:srgbClr val="C9D0DA"/>
                      </a:solidFill>
                    </a:lnB>
                    <a:solidFill>
                      <a:srgbClr val="DDE5F2"/>
                    </a:solidFill>
                  </a:tcPr>
                </a:tc>
              </a:tr>
              <a:tr h="292608">
                <a:tc>
                  <a:txBody>
                    <a:bodyPr wrap="square"/>
                    <a:lstStyle/>
                    <a:p>
                      <a:pPr algn="l"/>
                      <a:r>
                        <a:rPr sz="1050" b="0" lang="en-US">
                          <a:solidFill>
                            <a:srgbClr val="222B38"/>
                          </a:solidFill>
                          <a:latin typeface="Arial"/>
                          <a:ea typeface="Arial"/>
                          <a:cs typeface="Arial"/>
                        </a:rPr>
                        <a:t>E-11　契約の見直しの材料の整理（利用実態・ライセンス数・代替案）</a:t>
                      </a:r>
                    </a:p>
                  </a:txBody>
                  <a:tcPr marL="54864" marR="54864" marT="18288" marB="18288" anchor="ctr">
                    <a:lnL w="28575">
                      <a:solidFill>
                        <a:srgbClr val="D9772B"/>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DDE5F2"/>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28575">
                      <a:solidFill>
                        <a:srgbClr val="D9772B"/>
                      </a:solidFill>
                    </a:lnB>
                    <a:solidFill>
                      <a:srgbClr val="DDE5F2"/>
                    </a:solidFill>
                  </a:tcPr>
                </a:tc>
              </a:tr>
              <a:tr h="292608">
                <a:tc>
                  <a:txBody>
                    <a:bodyPr wrap="square"/>
                    <a:lstStyle/>
                    <a:p>
                      <a:pPr algn="l"/>
                      <a:r>
                        <a:rPr sz="1050" b="0" lang="en-US">
                          <a:solidFill>
                            <a:srgbClr val="222B38"/>
                          </a:solidFill>
                          <a:latin typeface="Arial"/>
                          <a:ea typeface="Arial"/>
                          <a:cs typeface="Arial"/>
                        </a:rPr>
                        <a:t>E-12　契約を続けるかどうかの判断</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直接</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C</a:t>
                      </a:r>
                    </a:p>
                  </a:txBody>
                  <a:tcPr marL="54864" marR="54864" marT="18288" marB="18288" anchor="ctr">
                    <a:lnL w="9525">
                      <a:solidFill>
                        <a:srgbClr val="C9D0DA"/>
                      </a:solidFill>
                    </a:lnL>
                    <a:lnR w="9525">
                      <a:solidFill>
                        <a:srgbClr val="C9D0DA"/>
                      </a:solidFill>
                    </a:lnR>
                    <a:lnT w="9525">
                      <a:solidFill>
                        <a:srgbClr val="C9D0DA"/>
                      </a:solidFill>
                    </a:lnT>
                    <a:lnB w="9525">
                      <a:solidFill>
                        <a:srgbClr val="C9D0DA"/>
                      </a:solidFill>
                    </a:lnB>
                    <a:solidFill>
                      <a:srgbClr val="FFFFFF"/>
                    </a:solidFill>
                  </a:tcPr>
                </a:tc>
              </a:tr>
              <a:tr h="292608">
                <a:tc>
                  <a:txBody>
                    <a:bodyPr wrap="square"/>
                    <a:lstStyle/>
                    <a:p>
                      <a:pPr algn="l"/>
                      <a:r>
                        <a:rPr sz="1050" b="0" lang="en-US">
                          <a:solidFill>
                            <a:srgbClr val="222B38"/>
                          </a:solidFill>
                          <a:latin typeface="Arial"/>
                          <a:ea typeface="Arial"/>
                          <a:cs typeface="Arial"/>
                        </a:rPr>
                        <a:t>E-13　ベンダーの評価（業務面の満足度・対応、SLA・技術面）</a:t>
                      </a:r>
                    </a:p>
                  </a:txBody>
                  <a:tcPr marL="54864" marR="54864" marT="18288" marB="18288" anchor="ctr">
                    <a:lnL w="28575">
                      <a:solidFill>
                        <a:srgbClr val="D9772B"/>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28575">
                      <a:solidFill>
                        <a:srgbClr val="D9772B"/>
                      </a:solidFill>
                    </a:lnT>
                    <a:lnB w="9525">
                      <a:solidFill>
                        <a:srgbClr val="C9D0DA"/>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28575">
                      <a:solidFill>
                        <a:srgbClr val="D9772B"/>
                      </a:solidFill>
                    </a:lnT>
                    <a:lnB w="9525">
                      <a:solidFill>
                        <a:srgbClr val="C9D0DA"/>
                      </a:solidFill>
                    </a:lnB>
                    <a:solidFill>
                      <a:srgbClr val="DDE5F2"/>
                    </a:solidFill>
                  </a:tcPr>
                </a:tc>
              </a:tr>
              <a:tr h="292608">
                <a:tc>
                  <a:txBody>
                    <a:bodyPr wrap="square"/>
                    <a:lstStyle/>
                    <a:p>
                      <a:pPr algn="l"/>
                      <a:r>
                        <a:rPr sz="1050" b="0" lang="en-US">
                          <a:solidFill>
                            <a:srgbClr val="222B38"/>
                          </a:solidFill>
                          <a:latin typeface="Arial"/>
                          <a:ea typeface="Arial"/>
                          <a:cs typeface="Arial"/>
                        </a:rPr>
                        <a:t>E-14　GxP の変更管理</a:t>
                      </a:r>
                    </a:p>
                  </a:txBody>
                  <a:tcPr marL="54864" marR="54864" marT="18288" marB="18288" anchor="ctr">
                    <a:lnL w="28575">
                      <a:solidFill>
                        <a:srgbClr val="D9772B"/>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IT関連</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5E7391"/>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5E7391"/>
                          </a:solidFill>
                          <a:latin typeface="Arial"/>
                          <a:ea typeface="Arial"/>
                          <a:cs typeface="Arial"/>
                        </a:rPr>
                        <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4F6F9"/>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C→R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DDE5F2"/>
                    </a:solidFill>
                  </a:tcPr>
                </a:tc>
                <a:tc>
                  <a:txBody>
                    <a:bodyPr wrap="square"/>
                    <a:lstStyle/>
                    <a:p>
                      <a:pPr algn="ctr"/>
                      <a:r>
                        <a:rPr sz="1050" b="0" lang="en-US">
                          <a:solidFill>
                            <a:srgbClr val="222B38"/>
                          </a:solidFill>
                          <a:latin typeface="Arial"/>
                          <a:ea typeface="Arial"/>
                          <a:cs typeface="Arial"/>
                        </a:rPr>
                        <a:t>A</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0" lang="en-US">
                          <a:solidFill>
                            <a:srgbClr val="222B38"/>
                          </a:solidFill>
                          <a:latin typeface="Arial"/>
                          <a:ea typeface="Arial"/>
                          <a:cs typeface="Arial"/>
                        </a:rPr>
                        <a:t>R</a:t>
                      </a:r>
                    </a:p>
                  </a:txBody>
                  <a:tcPr marL="54864" marR="54864" marT="18288" marB="18288" anchor="ctr">
                    <a:lnL w="9525">
                      <a:solidFill>
                        <a:srgbClr val="C9D0DA"/>
                      </a:solidFill>
                    </a:lnL>
                    <a:lnR w="9525">
                      <a:solidFill>
                        <a:srgbClr val="C9D0DA"/>
                      </a:solidFill>
                    </a:lnR>
                    <a:lnT w="9525">
                      <a:solidFill>
                        <a:srgbClr val="C9D0DA"/>
                      </a:solidFill>
                    </a:lnT>
                    <a:lnB w="28575">
                      <a:solidFill>
                        <a:srgbClr val="D9772B"/>
                      </a:solidFill>
                    </a:lnB>
                    <a:solidFill>
                      <a:srgbClr val="FFFFFF"/>
                    </a:solidFill>
                  </a:tcPr>
                </a:tc>
                <a:tc>
                  <a:txBody>
                    <a:bodyPr wrap="square"/>
                    <a:lstStyle/>
                    <a:p>
                      <a:pPr algn="ctr"/>
                      <a:r>
                        <a:rPr sz="1050" b="1" lang="en-US">
                          <a:solidFill>
                            <a:srgbClr val="1C2B45"/>
                          </a:solidFill>
                          <a:latin typeface="Arial"/>
                          <a:ea typeface="Arial"/>
                          <a:cs typeface="Arial"/>
                        </a:rPr>
                        <a:t>R</a:t>
                      </a:r>
                    </a:p>
                  </a:txBody>
                  <a:tcPr marL="54864" marR="54864" marT="18288" marB="18288" anchor="ctr">
                    <a:lnL w="9525">
                      <a:solidFill>
                        <a:srgbClr val="C9D0DA"/>
                      </a:solidFill>
                    </a:lnL>
                    <a:lnR w="28575">
                      <a:solidFill>
                        <a:srgbClr val="D9772B"/>
                      </a:solidFill>
                    </a:lnR>
                    <a:lnT w="9525">
                      <a:solidFill>
                        <a:srgbClr val="C9D0DA"/>
                      </a:solidFill>
                    </a:lnT>
                    <a:lnB w="28575">
                      <a:solidFill>
                        <a:srgbClr val="D9772B"/>
                      </a:solidFill>
                    </a:lnB>
                    <a:solidFill>
                      <a:srgbClr val="DDE5F2"/>
                    </a:solidFill>
                  </a:tcPr>
                </a:tc>
              </a:tr>
            </a:tbl>
          </a:graphicData>
        </a:graphic>
      </p:graphicFrame>
      <p:sp>
        <p:nvSpPr>
          <p:cNvPr id="276" name="TextBox 275"/>
          <p:cNvSpPr txBox="1"/>
          <p:nvPr/>
        </p:nvSpPr>
        <p:spPr>
          <a:xfrm>
            <a:off x="457200" y="5843016"/>
            <a:ext cx="10698480" cy="740663"/>
          </a:xfrm>
          <a:prstGeom prst="rect">
            <a:avLst/>
          </a:prstGeom>
          <a:noFill/>
        </p:spPr>
        <p:txBody>
          <a:bodyPr wrap="square" lIns="0" rIns="0" tIns="0" bIns="0">
            <a:spAutoFit/>
          </a:bodyPr>
          <a:lstStyle/>
          <a:p>
            <a:pPr marL="128016" indent="-128016">
              <a:buFont typeface="Arial"/>
              <a:buChar char="•"/>
            </a:pPr>
            <a:r>
              <a:rPr sz="1000">
                <a:solidFill>
                  <a:srgbClr val="222B38"/>
                </a:solidFill>
                <a:latin typeface="Arial"/>
              </a:rPr>
              <a:t>Before は部門が単独で行っている状態（初版は1パターン）。Transition・After・太枠の決まりは IT投資プロセスと同じ</a:t>
            </a:r>
          </a:p>
          <a:p>
            <a:pPr marL="128016" indent="-128016">
              <a:buFont typeface="Arial"/>
              <a:buChar char="•"/>
            </a:pPr>
            <a:r>
              <a:rPr sz="1000">
                <a:solidFill>
                  <a:srgbClr val="222B38"/>
                </a:solidFill>
                <a:latin typeface="Arial"/>
              </a:rPr>
              <a:t>決めること（E-2・E-3・E-12）は部門に残す。SO は要求に沿ってモニタリングの仕組みと閾値を設定し、見直しの材料を整える</a:t>
            </a:r>
          </a:p>
          <a:p>
            <a:pPr marL="128016" indent="-128016">
              <a:buFont typeface="Arial"/>
              <a:buChar char="•"/>
            </a:pPr>
            <a:r>
              <a:rPr sz="1000">
                <a:solidFill>
                  <a:srgbClr val="222B38"/>
                </a:solidFill>
                <a:latin typeface="Arial"/>
              </a:rPr>
              <a:t>E-14 には本来、品質保証部門の関与が要る（表では省略）。担当の変更に手続きが要る間は、経過措置として今の担当が続ける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RACI の適用例：プロジェクト体制</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RACI マトリクスをもとにプロジェクト体制を設計・構築するときの、標準的な役割と成果物の責任の雛形として使うことを想定する</a:t>
            </a:r>
          </a:p>
        </p:txBody>
      </p:sp>
      <p:sp>
        <p:nvSpPr>
          <p:cNvPr id="5" name="Shape 5"/>
          <p:cNvSpPr/>
          <p:nvPr/>
        </p:nvSpPr>
        <p:spPr>
          <a:xfrm>
            <a:off x="457200" y="1371600"/>
            <a:ext cx="4069080" cy="566928"/>
          </a:xfrm>
          <a:prstGeom prst="rect">
            <a:avLst/>
          </a:prstGeom>
          <a:solidFill>
            <a:srgbClr val="1C2B45"/>
          </a:solidFill>
          <a:ln>
            <a:noFill/>
          </a:ln>
        </p:spPr>
        <p:txBody>
          <a:bodyPr wrap="square" lIns="109728" tIns="109728" rIns="109728" bIns="109728" anchor="ctr" rtlCol="0">
            <a:noAutofit/>
          </a:bodyPr>
          <a:lstStyle/>
          <a:p>
            <a:pPr algn="l" marL="0" indent="0">
              <a:spcBef>
                <a:spcPts val="0"/>
              </a:spcBef>
              <a:buNone/>
            </a:pPr>
            <a:r>
              <a:rPr lang="en-US" sz="1150" b="1">
                <a:solidFill>
                  <a:srgbClr val="FFFFFF"/>
                </a:solidFill>
                <a:latin typeface="Arial"/>
                <a:ea typeface="Arial"/>
                <a:cs typeface="Arial"/>
              </a:rPr>
              <a:t>記号と定義</a:t>
            </a:r>
          </a:p>
        </p:txBody>
      </p:sp>
      <p:sp>
        <p:nvSpPr>
          <p:cNvPr id="6" name="Shape 6"/>
          <p:cNvSpPr/>
          <p:nvPr/>
        </p:nvSpPr>
        <p:spPr>
          <a:xfrm>
            <a:off x="4526280"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プロジェクト</a:t>
            </a:r>
          </a:p>
          <a:p>
            <a:pPr algn="ctr" marL="0" indent="0">
              <a:spcBef>
                <a:spcPts val="0"/>
              </a:spcBef>
              <a:buNone/>
            </a:pPr>
            <a:r>
              <a:rPr lang="en-US" sz="1050" b="1">
                <a:solidFill>
                  <a:srgbClr val="FFFFFF"/>
                </a:solidFill>
                <a:latin typeface="Arial"/>
                <a:ea typeface="Arial"/>
                <a:cs typeface="Arial"/>
              </a:rPr>
              <a:t>オーナー</a:t>
            </a:r>
          </a:p>
        </p:txBody>
      </p:sp>
      <p:sp>
        <p:nvSpPr>
          <p:cNvPr id="7" name="Shape 7"/>
          <p:cNvSpPr/>
          <p:nvPr/>
        </p:nvSpPr>
        <p:spPr>
          <a:xfrm>
            <a:off x="5556025"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プロジェクト</a:t>
            </a:r>
          </a:p>
          <a:p>
            <a:pPr algn="ctr" marL="0" indent="0">
              <a:spcBef>
                <a:spcPts val="0"/>
              </a:spcBef>
              <a:buNone/>
            </a:pPr>
            <a:r>
              <a:rPr lang="en-US" sz="1050" b="1">
                <a:solidFill>
                  <a:srgbClr val="FFFFFF"/>
                </a:solidFill>
                <a:latin typeface="Arial"/>
                <a:ea typeface="Arial"/>
                <a:cs typeface="Arial"/>
              </a:rPr>
              <a:t>マネジャー</a:t>
            </a:r>
          </a:p>
        </p:txBody>
      </p:sp>
      <p:sp>
        <p:nvSpPr>
          <p:cNvPr id="8" name="Shape 8"/>
          <p:cNvSpPr/>
          <p:nvPr/>
        </p:nvSpPr>
        <p:spPr>
          <a:xfrm>
            <a:off x="6585770"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領域リード</a:t>
            </a:r>
          </a:p>
          <a:p>
            <a:pPr algn="ctr" marL="0" indent="0">
              <a:spcBef>
                <a:spcPts val="0"/>
              </a:spcBef>
              <a:buNone/>
            </a:pPr>
            <a:r>
              <a:rPr lang="en-US" sz="1050" b="1">
                <a:solidFill>
                  <a:srgbClr val="FFFFFF"/>
                </a:solidFill>
                <a:latin typeface="Arial"/>
                <a:ea typeface="Arial"/>
                <a:cs typeface="Arial"/>
              </a:rPr>
              <a:t>（業務）</a:t>
            </a:r>
          </a:p>
        </p:txBody>
      </p:sp>
      <p:sp>
        <p:nvSpPr>
          <p:cNvPr id="9" name="Shape 9"/>
          <p:cNvSpPr/>
          <p:nvPr/>
        </p:nvSpPr>
        <p:spPr>
          <a:xfrm>
            <a:off x="7615515"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技術リード</a:t>
            </a:r>
          </a:p>
          <a:p>
            <a:pPr algn="ctr" marL="0" indent="0">
              <a:spcBef>
                <a:spcPts val="0"/>
              </a:spcBef>
              <a:buNone/>
            </a:pPr>
            <a:r>
              <a:rPr lang="en-US" sz="1050" b="1">
                <a:solidFill>
                  <a:srgbClr val="FFFFFF"/>
                </a:solidFill>
                <a:latin typeface="Arial"/>
                <a:ea typeface="Arial"/>
                <a:cs typeface="Arial"/>
              </a:rPr>
              <a:t>（IT）</a:t>
            </a:r>
          </a:p>
        </p:txBody>
      </p:sp>
      <p:sp>
        <p:nvSpPr>
          <p:cNvPr id="10" name="Shape 10"/>
          <p:cNvSpPr/>
          <p:nvPr/>
        </p:nvSpPr>
        <p:spPr>
          <a:xfrm>
            <a:off x="8645260"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開発・導入</a:t>
            </a:r>
          </a:p>
          <a:p>
            <a:pPr algn="ctr" marL="0" indent="0">
              <a:spcBef>
                <a:spcPts val="0"/>
              </a:spcBef>
              <a:buNone/>
            </a:pPr>
            <a:r>
              <a:rPr lang="en-US" sz="1050" b="1">
                <a:solidFill>
                  <a:srgbClr val="FFFFFF"/>
                </a:solidFill>
                <a:latin typeface="Arial"/>
                <a:ea typeface="Arial"/>
                <a:cs typeface="Arial"/>
              </a:rPr>
              <a:t>ベンダー</a:t>
            </a:r>
          </a:p>
        </p:txBody>
      </p:sp>
      <p:sp>
        <p:nvSpPr>
          <p:cNvPr id="11" name="Shape 11"/>
          <p:cNvSpPr/>
          <p:nvPr/>
        </p:nvSpPr>
        <p:spPr>
          <a:xfrm>
            <a:off x="9675005"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SME</a:t>
            </a:r>
          </a:p>
          <a:p>
            <a:pPr algn="ctr" marL="0" indent="0">
              <a:spcBef>
                <a:spcPts val="0"/>
              </a:spcBef>
              <a:buNone/>
            </a:pPr>
            <a:r>
              <a:rPr lang="en-US" sz="1050" b="1">
                <a:solidFill>
                  <a:srgbClr val="FFFFFF"/>
                </a:solidFill>
                <a:latin typeface="Arial"/>
                <a:ea typeface="Arial"/>
                <a:cs typeface="Arial"/>
              </a:rPr>
              <a:t>（有識者）</a:t>
            </a:r>
          </a:p>
        </p:txBody>
      </p:sp>
      <p:sp>
        <p:nvSpPr>
          <p:cNvPr id="12" name="Shape 12"/>
          <p:cNvSpPr/>
          <p:nvPr/>
        </p:nvSpPr>
        <p:spPr>
          <a:xfrm>
            <a:off x="10704750" y="1371600"/>
            <a:ext cx="1029745" cy="566928"/>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関係部門</a:t>
            </a:r>
          </a:p>
        </p:txBody>
      </p:sp>
      <p:sp>
        <p:nvSpPr>
          <p:cNvPr id="13" name="Shape 13"/>
          <p:cNvSpPr/>
          <p:nvPr/>
        </p:nvSpPr>
        <p:spPr>
          <a:xfrm>
            <a:off x="457200" y="1938528"/>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A　最終責任</a:t>
            </a:r>
          </a:p>
        </p:txBody>
      </p:sp>
      <p:sp>
        <p:nvSpPr>
          <p:cNvPr id="14" name="Shape 14"/>
          <p:cNvSpPr/>
          <p:nvPr/>
        </p:nvSpPr>
        <p:spPr>
          <a:xfrm>
            <a:off x="1554480" y="1938528"/>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結果に責任を持ち、承認する（1人）</a:t>
            </a:r>
          </a:p>
        </p:txBody>
      </p:sp>
      <p:sp>
        <p:nvSpPr>
          <p:cNvPr id="15" name="Shape 15"/>
          <p:cNvSpPr/>
          <p:nvPr/>
        </p:nvSpPr>
        <p:spPr>
          <a:xfrm>
            <a:off x="4526280"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16" name="Shape 16"/>
          <p:cNvSpPr/>
          <p:nvPr/>
        </p:nvSpPr>
        <p:spPr>
          <a:xfrm>
            <a:off x="5556025"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7" name="Shape 17"/>
          <p:cNvSpPr/>
          <p:nvPr/>
        </p:nvSpPr>
        <p:spPr>
          <a:xfrm>
            <a:off x="6585770"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8" name="Shape 18"/>
          <p:cNvSpPr/>
          <p:nvPr/>
        </p:nvSpPr>
        <p:spPr>
          <a:xfrm>
            <a:off x="7615515"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9" name="Shape 19"/>
          <p:cNvSpPr/>
          <p:nvPr/>
        </p:nvSpPr>
        <p:spPr>
          <a:xfrm>
            <a:off x="8645260"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0" name="Shape 20"/>
          <p:cNvSpPr/>
          <p:nvPr/>
        </p:nvSpPr>
        <p:spPr>
          <a:xfrm>
            <a:off x="9675005"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1" name="Shape 21"/>
          <p:cNvSpPr/>
          <p:nvPr/>
        </p:nvSpPr>
        <p:spPr>
          <a:xfrm>
            <a:off x="10704750" y="1938528"/>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2" name="Shape 22"/>
          <p:cNvSpPr/>
          <p:nvPr/>
        </p:nvSpPr>
        <p:spPr>
          <a:xfrm>
            <a:off x="457200" y="2286000"/>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　実行</a:t>
            </a:r>
          </a:p>
        </p:txBody>
      </p:sp>
      <p:sp>
        <p:nvSpPr>
          <p:cNvPr id="23" name="Shape 23"/>
          <p:cNvSpPr/>
          <p:nvPr/>
        </p:nvSpPr>
        <p:spPr>
          <a:xfrm>
            <a:off x="1554480" y="2286000"/>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成果物を作り、期限までに完了させる</a:t>
            </a:r>
          </a:p>
        </p:txBody>
      </p:sp>
      <p:sp>
        <p:nvSpPr>
          <p:cNvPr id="24" name="Shape 24"/>
          <p:cNvSpPr/>
          <p:nvPr/>
        </p:nvSpPr>
        <p:spPr>
          <a:xfrm>
            <a:off x="4526280"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5" name="Shape 25"/>
          <p:cNvSpPr/>
          <p:nvPr/>
        </p:nvSpPr>
        <p:spPr>
          <a:xfrm>
            <a:off x="5556025"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6" name="Shape 26"/>
          <p:cNvSpPr/>
          <p:nvPr/>
        </p:nvSpPr>
        <p:spPr>
          <a:xfrm>
            <a:off x="6585770"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7" name="Shape 27"/>
          <p:cNvSpPr/>
          <p:nvPr/>
        </p:nvSpPr>
        <p:spPr>
          <a:xfrm>
            <a:off x="7615515"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8" name="Shape 28"/>
          <p:cNvSpPr/>
          <p:nvPr/>
        </p:nvSpPr>
        <p:spPr>
          <a:xfrm>
            <a:off x="8645260"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9" name="Shape 29"/>
          <p:cNvSpPr/>
          <p:nvPr/>
        </p:nvSpPr>
        <p:spPr>
          <a:xfrm>
            <a:off x="9675005"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0" name="Shape 30"/>
          <p:cNvSpPr/>
          <p:nvPr/>
        </p:nvSpPr>
        <p:spPr>
          <a:xfrm>
            <a:off x="10704750" y="2286000"/>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1" name="Shape 31"/>
          <p:cNvSpPr/>
          <p:nvPr/>
        </p:nvSpPr>
        <p:spPr>
          <a:xfrm>
            <a:off x="457200" y="2633472"/>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C　相談</a:t>
            </a:r>
          </a:p>
        </p:txBody>
      </p:sp>
      <p:sp>
        <p:nvSpPr>
          <p:cNvPr id="32" name="Shape 32"/>
          <p:cNvSpPr/>
          <p:nvPr/>
        </p:nvSpPr>
        <p:spPr>
          <a:xfrm>
            <a:off x="1554480" y="2633472"/>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意見を出し、レビューする（成果物の責任は負わない）</a:t>
            </a:r>
          </a:p>
        </p:txBody>
      </p:sp>
      <p:sp>
        <p:nvSpPr>
          <p:cNvPr id="33" name="Shape 33"/>
          <p:cNvSpPr/>
          <p:nvPr/>
        </p:nvSpPr>
        <p:spPr>
          <a:xfrm>
            <a:off x="4526280"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4" name="Shape 34"/>
          <p:cNvSpPr/>
          <p:nvPr/>
        </p:nvSpPr>
        <p:spPr>
          <a:xfrm>
            <a:off x="5556025"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5" name="Shape 35"/>
          <p:cNvSpPr/>
          <p:nvPr/>
        </p:nvSpPr>
        <p:spPr>
          <a:xfrm>
            <a:off x="6585770"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6" name="Shape 36"/>
          <p:cNvSpPr/>
          <p:nvPr/>
        </p:nvSpPr>
        <p:spPr>
          <a:xfrm>
            <a:off x="7615515"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7" name="Shape 37"/>
          <p:cNvSpPr/>
          <p:nvPr/>
        </p:nvSpPr>
        <p:spPr>
          <a:xfrm>
            <a:off x="8645260"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8" name="Shape 38"/>
          <p:cNvSpPr/>
          <p:nvPr/>
        </p:nvSpPr>
        <p:spPr>
          <a:xfrm>
            <a:off x="9675005"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39" name="Shape 39"/>
          <p:cNvSpPr/>
          <p:nvPr/>
        </p:nvSpPr>
        <p:spPr>
          <a:xfrm>
            <a:off x="10704750" y="2633472"/>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0" name="Shape 40"/>
          <p:cNvSpPr/>
          <p:nvPr/>
        </p:nvSpPr>
        <p:spPr>
          <a:xfrm>
            <a:off x="457200" y="2980944"/>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I　連絡</a:t>
            </a:r>
          </a:p>
        </p:txBody>
      </p:sp>
      <p:sp>
        <p:nvSpPr>
          <p:cNvPr id="41" name="Shape 41"/>
          <p:cNvSpPr/>
          <p:nvPr/>
        </p:nvSpPr>
        <p:spPr>
          <a:xfrm>
            <a:off x="1554480" y="2980944"/>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結果の報告を受ける</a:t>
            </a:r>
          </a:p>
        </p:txBody>
      </p:sp>
      <p:sp>
        <p:nvSpPr>
          <p:cNvPr id="42" name="Shape 42"/>
          <p:cNvSpPr/>
          <p:nvPr/>
        </p:nvSpPr>
        <p:spPr>
          <a:xfrm>
            <a:off x="4526280"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3" name="Shape 43"/>
          <p:cNvSpPr/>
          <p:nvPr/>
        </p:nvSpPr>
        <p:spPr>
          <a:xfrm>
            <a:off x="5556025"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4" name="Shape 44"/>
          <p:cNvSpPr/>
          <p:nvPr/>
        </p:nvSpPr>
        <p:spPr>
          <a:xfrm>
            <a:off x="6585770"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5" name="Shape 45"/>
          <p:cNvSpPr/>
          <p:nvPr/>
        </p:nvSpPr>
        <p:spPr>
          <a:xfrm>
            <a:off x="7615515"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6" name="Shape 46"/>
          <p:cNvSpPr/>
          <p:nvPr/>
        </p:nvSpPr>
        <p:spPr>
          <a:xfrm>
            <a:off x="8645260"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7" name="Shape 47"/>
          <p:cNvSpPr/>
          <p:nvPr/>
        </p:nvSpPr>
        <p:spPr>
          <a:xfrm>
            <a:off x="9675005"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8" name="Shape 48"/>
          <p:cNvSpPr/>
          <p:nvPr/>
        </p:nvSpPr>
        <p:spPr>
          <a:xfrm>
            <a:off x="10704750" y="2980944"/>
            <a:ext cx="1029745"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49" name="Shape 49"/>
          <p:cNvSpPr/>
          <p:nvPr/>
        </p:nvSpPr>
        <p:spPr>
          <a:xfrm>
            <a:off x="457200" y="3529584"/>
            <a:ext cx="4069080" cy="310896"/>
          </a:xfrm>
          <a:prstGeom prst="rect">
            <a:avLst/>
          </a:prstGeom>
          <a:solidFill>
            <a:srgbClr val="DDE5F2"/>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50" b="1">
                <a:solidFill>
                  <a:srgbClr val="1C2B45"/>
                </a:solidFill>
                <a:latin typeface="Arial"/>
                <a:ea typeface="Arial"/>
                <a:cs typeface="Arial"/>
              </a:rPr>
              <a:t>成果物（例）</a:t>
            </a:r>
          </a:p>
        </p:txBody>
      </p:sp>
      <p:sp>
        <p:nvSpPr>
          <p:cNvPr id="50" name="Shape 50"/>
          <p:cNvSpPr/>
          <p:nvPr/>
        </p:nvSpPr>
        <p:spPr>
          <a:xfrm>
            <a:off x="4526280" y="3529584"/>
            <a:ext cx="7208215" cy="310896"/>
          </a:xfrm>
          <a:prstGeom prst="rect">
            <a:avLst/>
          </a:prstGeom>
          <a:solidFill>
            <a:srgbClr val="DDE5F2"/>
          </a:solidFill>
          <a:ln w="9525">
            <a:solidFill>
              <a:srgbClr val="C9D0DA"/>
            </a:solidFill>
          </a:ln>
        </p:spPr>
        <p:txBody>
          <a:bodyPr wrap="square" lIns="0" tIns="0" rIns="0" bIns="0" anchor="ctr" rtlCol="0">
            <a:noAutofit/>
          </a:bodyPr>
          <a:lstStyle/>
          <a:p>
            <a:pPr algn="ctr" marL="0" indent="0">
              <a:spcBef>
                <a:spcPts val="0"/>
              </a:spcBef>
              <a:buNone/>
            </a:pPr>
            <a:r>
              <a:rPr lang="en-US" sz="1150" b="1">
                <a:solidFill>
                  <a:srgbClr val="1C2B45"/>
                </a:solidFill>
                <a:latin typeface="Arial"/>
                <a:ea typeface="Arial"/>
                <a:cs typeface="Arial"/>
              </a:rPr>
              <a:t>成果物ごとの RACI（例）</a:t>
            </a:r>
          </a:p>
        </p:txBody>
      </p:sp>
      <p:sp>
        <p:nvSpPr>
          <p:cNvPr id="51" name="Shape 51"/>
          <p:cNvSpPr/>
          <p:nvPr/>
        </p:nvSpPr>
        <p:spPr>
          <a:xfrm>
            <a:off x="457200" y="3840480"/>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プロジェクトチャーター</a:t>
            </a:r>
          </a:p>
        </p:txBody>
      </p:sp>
      <p:sp>
        <p:nvSpPr>
          <p:cNvPr id="52" name="Shape 52"/>
          <p:cNvSpPr/>
          <p:nvPr/>
        </p:nvSpPr>
        <p:spPr>
          <a:xfrm>
            <a:off x="4526280"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53" name="Shape 53"/>
          <p:cNvSpPr/>
          <p:nvPr/>
        </p:nvSpPr>
        <p:spPr>
          <a:xfrm>
            <a:off x="5556025" y="3840480"/>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54" name="Shape 54"/>
          <p:cNvSpPr/>
          <p:nvPr/>
        </p:nvSpPr>
        <p:spPr>
          <a:xfrm>
            <a:off x="6585770"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55" name="Shape 55"/>
          <p:cNvSpPr/>
          <p:nvPr/>
        </p:nvSpPr>
        <p:spPr>
          <a:xfrm>
            <a:off x="7615515"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56" name="Shape 56"/>
          <p:cNvSpPr/>
          <p:nvPr/>
        </p:nvSpPr>
        <p:spPr>
          <a:xfrm>
            <a:off x="8645260"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57" name="Shape 57"/>
          <p:cNvSpPr/>
          <p:nvPr/>
        </p:nvSpPr>
        <p:spPr>
          <a:xfrm>
            <a:off x="9675005"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58" name="Shape 58"/>
          <p:cNvSpPr/>
          <p:nvPr/>
        </p:nvSpPr>
        <p:spPr>
          <a:xfrm>
            <a:off x="10704750" y="384048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I</a:t>
            </a:r>
          </a:p>
        </p:txBody>
      </p:sp>
      <p:sp>
        <p:nvSpPr>
          <p:cNvPr id="59" name="Shape 59"/>
          <p:cNvSpPr/>
          <p:nvPr/>
        </p:nvSpPr>
        <p:spPr>
          <a:xfrm>
            <a:off x="457200" y="4133088"/>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RFP（提案依頼書）</a:t>
            </a:r>
          </a:p>
        </p:txBody>
      </p:sp>
      <p:sp>
        <p:nvSpPr>
          <p:cNvPr id="60" name="Shape 60"/>
          <p:cNvSpPr/>
          <p:nvPr/>
        </p:nvSpPr>
        <p:spPr>
          <a:xfrm>
            <a:off x="4526280" y="413308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61" name="Shape 61"/>
          <p:cNvSpPr/>
          <p:nvPr/>
        </p:nvSpPr>
        <p:spPr>
          <a:xfrm>
            <a:off x="5556025" y="413308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62" name="Shape 62"/>
          <p:cNvSpPr/>
          <p:nvPr/>
        </p:nvSpPr>
        <p:spPr>
          <a:xfrm>
            <a:off x="6585770" y="4133088"/>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63" name="Shape 63"/>
          <p:cNvSpPr/>
          <p:nvPr/>
        </p:nvSpPr>
        <p:spPr>
          <a:xfrm>
            <a:off x="7615515" y="4133088"/>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64" name="Shape 64"/>
          <p:cNvSpPr/>
          <p:nvPr/>
        </p:nvSpPr>
        <p:spPr>
          <a:xfrm>
            <a:off x="8645260" y="413308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65" name="Shape 65"/>
          <p:cNvSpPr/>
          <p:nvPr/>
        </p:nvSpPr>
        <p:spPr>
          <a:xfrm>
            <a:off x="9675005" y="413308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66" name="Shape 66"/>
          <p:cNvSpPr/>
          <p:nvPr/>
        </p:nvSpPr>
        <p:spPr>
          <a:xfrm>
            <a:off x="10704750" y="413308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67" name="Shape 67"/>
          <p:cNvSpPr/>
          <p:nvPr/>
        </p:nvSpPr>
        <p:spPr>
          <a:xfrm>
            <a:off x="457200" y="4425696"/>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業務要件</a:t>
            </a:r>
          </a:p>
        </p:txBody>
      </p:sp>
      <p:sp>
        <p:nvSpPr>
          <p:cNvPr id="68" name="Shape 68"/>
          <p:cNvSpPr/>
          <p:nvPr/>
        </p:nvSpPr>
        <p:spPr>
          <a:xfrm>
            <a:off x="4526280"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69" name="Shape 69"/>
          <p:cNvSpPr/>
          <p:nvPr/>
        </p:nvSpPr>
        <p:spPr>
          <a:xfrm>
            <a:off x="5556025"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0" name="Shape 70"/>
          <p:cNvSpPr/>
          <p:nvPr/>
        </p:nvSpPr>
        <p:spPr>
          <a:xfrm>
            <a:off x="6585770" y="4425696"/>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71" name="Shape 71"/>
          <p:cNvSpPr/>
          <p:nvPr/>
        </p:nvSpPr>
        <p:spPr>
          <a:xfrm>
            <a:off x="7615515"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2" name="Shape 72"/>
          <p:cNvSpPr/>
          <p:nvPr/>
        </p:nvSpPr>
        <p:spPr>
          <a:xfrm>
            <a:off x="8645260"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3" name="Shape 73"/>
          <p:cNvSpPr/>
          <p:nvPr/>
        </p:nvSpPr>
        <p:spPr>
          <a:xfrm>
            <a:off x="9675005"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4" name="Shape 74"/>
          <p:cNvSpPr/>
          <p:nvPr/>
        </p:nvSpPr>
        <p:spPr>
          <a:xfrm>
            <a:off x="10704750" y="4425696"/>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I</a:t>
            </a:r>
          </a:p>
        </p:txBody>
      </p:sp>
      <p:sp>
        <p:nvSpPr>
          <p:cNvPr id="75" name="Shape 75"/>
          <p:cNvSpPr/>
          <p:nvPr/>
        </p:nvSpPr>
        <p:spPr>
          <a:xfrm>
            <a:off x="457200" y="4718304"/>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システム要件</a:t>
            </a:r>
          </a:p>
        </p:txBody>
      </p:sp>
      <p:sp>
        <p:nvSpPr>
          <p:cNvPr id="76" name="Shape 76"/>
          <p:cNvSpPr/>
          <p:nvPr/>
        </p:nvSpPr>
        <p:spPr>
          <a:xfrm>
            <a:off x="4526280" y="4718304"/>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77" name="Shape 77"/>
          <p:cNvSpPr/>
          <p:nvPr/>
        </p:nvSpPr>
        <p:spPr>
          <a:xfrm>
            <a:off x="5556025" y="4718304"/>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8" name="Shape 78"/>
          <p:cNvSpPr/>
          <p:nvPr/>
        </p:nvSpPr>
        <p:spPr>
          <a:xfrm>
            <a:off x="6585770" y="4718304"/>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9" name="Shape 79"/>
          <p:cNvSpPr/>
          <p:nvPr/>
        </p:nvSpPr>
        <p:spPr>
          <a:xfrm>
            <a:off x="7615515" y="4718304"/>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80" name="Shape 80"/>
          <p:cNvSpPr/>
          <p:nvPr/>
        </p:nvSpPr>
        <p:spPr>
          <a:xfrm>
            <a:off x="8645260" y="4718304"/>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81" name="Shape 81"/>
          <p:cNvSpPr/>
          <p:nvPr/>
        </p:nvSpPr>
        <p:spPr>
          <a:xfrm>
            <a:off x="9675005" y="4718304"/>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82" name="Shape 82"/>
          <p:cNvSpPr/>
          <p:nvPr/>
        </p:nvSpPr>
        <p:spPr>
          <a:xfrm>
            <a:off x="10704750" y="4718304"/>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83" name="Shape 83"/>
          <p:cNvSpPr/>
          <p:nvPr/>
        </p:nvSpPr>
        <p:spPr>
          <a:xfrm>
            <a:off x="457200" y="5010912"/>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移行要件</a:t>
            </a:r>
          </a:p>
        </p:txBody>
      </p:sp>
      <p:sp>
        <p:nvSpPr>
          <p:cNvPr id="84" name="Shape 84"/>
          <p:cNvSpPr/>
          <p:nvPr/>
        </p:nvSpPr>
        <p:spPr>
          <a:xfrm>
            <a:off x="4526280" y="5010912"/>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85" name="Shape 85"/>
          <p:cNvSpPr/>
          <p:nvPr/>
        </p:nvSpPr>
        <p:spPr>
          <a:xfrm>
            <a:off x="5556025" y="5010912"/>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86" name="Shape 86"/>
          <p:cNvSpPr/>
          <p:nvPr/>
        </p:nvSpPr>
        <p:spPr>
          <a:xfrm>
            <a:off x="6585770" y="5010912"/>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87" name="Shape 87"/>
          <p:cNvSpPr/>
          <p:nvPr/>
        </p:nvSpPr>
        <p:spPr>
          <a:xfrm>
            <a:off x="7615515" y="5010912"/>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88" name="Shape 88"/>
          <p:cNvSpPr/>
          <p:nvPr/>
        </p:nvSpPr>
        <p:spPr>
          <a:xfrm>
            <a:off x="8645260" y="5010912"/>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89" name="Shape 89"/>
          <p:cNvSpPr/>
          <p:nvPr/>
        </p:nvSpPr>
        <p:spPr>
          <a:xfrm>
            <a:off x="9675005" y="5010912"/>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90" name="Shape 90"/>
          <p:cNvSpPr/>
          <p:nvPr/>
        </p:nvSpPr>
        <p:spPr>
          <a:xfrm>
            <a:off x="10704750" y="5010912"/>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91" name="Shape 91"/>
          <p:cNvSpPr/>
          <p:nvPr/>
        </p:nvSpPr>
        <p:spPr>
          <a:xfrm>
            <a:off x="457200" y="5303520"/>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テスト計画</a:t>
            </a:r>
          </a:p>
        </p:txBody>
      </p:sp>
      <p:sp>
        <p:nvSpPr>
          <p:cNvPr id="92" name="Shape 92"/>
          <p:cNvSpPr/>
          <p:nvPr/>
        </p:nvSpPr>
        <p:spPr>
          <a:xfrm>
            <a:off x="4526280" y="530352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93" name="Shape 93"/>
          <p:cNvSpPr/>
          <p:nvPr/>
        </p:nvSpPr>
        <p:spPr>
          <a:xfrm>
            <a:off x="5556025" y="530352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94" name="Shape 94"/>
          <p:cNvSpPr/>
          <p:nvPr/>
        </p:nvSpPr>
        <p:spPr>
          <a:xfrm>
            <a:off x="6585770" y="530352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95" name="Shape 95"/>
          <p:cNvSpPr/>
          <p:nvPr/>
        </p:nvSpPr>
        <p:spPr>
          <a:xfrm>
            <a:off x="7615515" y="5303520"/>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96" name="Shape 96"/>
          <p:cNvSpPr/>
          <p:nvPr/>
        </p:nvSpPr>
        <p:spPr>
          <a:xfrm>
            <a:off x="8645260" y="5303520"/>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97" name="Shape 97"/>
          <p:cNvSpPr/>
          <p:nvPr/>
        </p:nvSpPr>
        <p:spPr>
          <a:xfrm>
            <a:off x="9675005" y="530352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98" name="Shape 98"/>
          <p:cNvSpPr/>
          <p:nvPr/>
        </p:nvSpPr>
        <p:spPr>
          <a:xfrm>
            <a:off x="10704750" y="5303520"/>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99" name="Shape 99"/>
          <p:cNvSpPr/>
          <p:nvPr/>
        </p:nvSpPr>
        <p:spPr>
          <a:xfrm>
            <a:off x="457200" y="5596128"/>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受け入れ基準書</a:t>
            </a:r>
          </a:p>
        </p:txBody>
      </p:sp>
      <p:sp>
        <p:nvSpPr>
          <p:cNvPr id="100" name="Shape 100"/>
          <p:cNvSpPr/>
          <p:nvPr/>
        </p:nvSpPr>
        <p:spPr>
          <a:xfrm>
            <a:off x="4526280"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101" name="Shape 101"/>
          <p:cNvSpPr/>
          <p:nvPr/>
        </p:nvSpPr>
        <p:spPr>
          <a:xfrm>
            <a:off x="5556025"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102" name="Shape 102"/>
          <p:cNvSpPr/>
          <p:nvPr/>
        </p:nvSpPr>
        <p:spPr>
          <a:xfrm>
            <a:off x="6585770" y="5596128"/>
            <a:ext cx="1029745"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103" name="Shape 103"/>
          <p:cNvSpPr/>
          <p:nvPr/>
        </p:nvSpPr>
        <p:spPr>
          <a:xfrm>
            <a:off x="7615515"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104" name="Shape 104"/>
          <p:cNvSpPr/>
          <p:nvPr/>
        </p:nvSpPr>
        <p:spPr>
          <a:xfrm>
            <a:off x="8645260"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105" name="Shape 105"/>
          <p:cNvSpPr/>
          <p:nvPr/>
        </p:nvSpPr>
        <p:spPr>
          <a:xfrm>
            <a:off x="9675005"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106" name="Shape 106"/>
          <p:cNvSpPr/>
          <p:nvPr/>
        </p:nvSpPr>
        <p:spPr>
          <a:xfrm>
            <a:off x="10704750" y="5596128"/>
            <a:ext cx="1029745"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07" name="Shape 107"/>
          <p:cNvSpPr txBox="1"/>
          <p:nvPr/>
        </p:nvSpPr>
        <p:spPr>
          <a:xfrm>
            <a:off x="457200" y="5961888"/>
            <a:ext cx="11277295" cy="457200"/>
          </a:xfrm>
          <a:prstGeom prst="rect">
            <a:avLst/>
          </a:prstGeom>
          <a:noFill/>
          <a:ln>
            <a:noFill/>
          </a:ln>
        </p:spPr>
        <p:txBody>
          <a:bodyPr wrap="square" lIns="0" tIns="0" rIns="0" bIns="0" anchor="t" rtlCol="0">
            <a:noAutofit/>
          </a:bodyPr>
          <a:lstStyle/>
          <a:p>
            <a:pPr algn="l" marL="0" indent="0">
              <a:spcBef>
                <a:spcPts val="0"/>
              </a:spcBef>
              <a:buNone/>
            </a:pPr>
            <a:r>
              <a:rPr lang="en-US" sz="1050" b="0">
                <a:solidFill>
                  <a:srgbClr val="5E7391"/>
                </a:solidFill>
                <a:latin typeface="Arial"/>
                <a:ea typeface="Arial"/>
                <a:cs typeface="Arial"/>
              </a:rPr>
              <a:t>R を持つリードが成果物を作る（R が複数なら協力して作る）。R/C は、ベンダーと分担して作るか、レビューするかを案件ごとに決める。プロジェクトマネジャーを部門と IT部門のどちらから出すかは、案件ごとに協議する</a:t>
            </a:r>
          </a:p>
        </p:txBody>
      </p:sp>
      <p:sp>
        <p:nvSpPr>
          <p:cNvPr id="108"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RACI の適用例：運用体制</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RACI マトリクスをもとに運用体制を設計・構築するときの、標準的な役割と成果物の責任の雛形として使うことを想定する</a:t>
            </a:r>
          </a:p>
        </p:txBody>
      </p:sp>
      <p:sp>
        <p:nvSpPr>
          <p:cNvPr id="5" name="Shape 5"/>
          <p:cNvSpPr/>
          <p:nvPr/>
        </p:nvSpPr>
        <p:spPr>
          <a:xfrm>
            <a:off x="457200" y="1371600"/>
            <a:ext cx="4069080" cy="713232"/>
          </a:xfrm>
          <a:prstGeom prst="rect">
            <a:avLst/>
          </a:prstGeom>
          <a:solidFill>
            <a:srgbClr val="1C2B45"/>
          </a:solidFill>
          <a:ln>
            <a:noFill/>
          </a:ln>
        </p:spPr>
        <p:txBody>
          <a:bodyPr wrap="square" lIns="109728" tIns="109728" rIns="109728" bIns="109728" anchor="ctr" rtlCol="0">
            <a:noAutofit/>
          </a:bodyPr>
          <a:lstStyle/>
          <a:p>
            <a:pPr algn="l" marL="0" indent="0">
              <a:spcBef>
                <a:spcPts val="0"/>
              </a:spcBef>
              <a:buNone/>
            </a:pPr>
            <a:r>
              <a:rPr lang="en-US" sz="1150" b="1">
                <a:solidFill>
                  <a:srgbClr val="FFFFFF"/>
                </a:solidFill>
                <a:latin typeface="Arial"/>
                <a:ea typeface="Arial"/>
                <a:cs typeface="Arial"/>
              </a:rPr>
              <a:t>記号と定義</a:t>
            </a:r>
          </a:p>
        </p:txBody>
      </p:sp>
      <p:sp>
        <p:nvSpPr>
          <p:cNvPr id="6" name="Shape 6"/>
          <p:cNvSpPr/>
          <p:nvPr/>
        </p:nvSpPr>
        <p:spPr>
          <a:xfrm>
            <a:off x="4526280"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サービス</a:t>
            </a:r>
          </a:p>
          <a:p>
            <a:pPr algn="ctr" marL="0" indent="0">
              <a:spcBef>
                <a:spcPts val="0"/>
              </a:spcBef>
              <a:buNone/>
            </a:pPr>
            <a:r>
              <a:rPr lang="en-US" sz="1050" b="1">
                <a:solidFill>
                  <a:srgbClr val="FFFFFF"/>
                </a:solidFill>
                <a:latin typeface="Arial"/>
                <a:ea typeface="Arial"/>
                <a:cs typeface="Arial"/>
              </a:rPr>
              <a:t>オーナー</a:t>
            </a:r>
          </a:p>
        </p:txBody>
      </p:sp>
      <p:sp>
        <p:nvSpPr>
          <p:cNvPr id="7" name="Shape 7"/>
          <p:cNvSpPr/>
          <p:nvPr/>
        </p:nvSpPr>
        <p:spPr>
          <a:xfrm>
            <a:off x="5727649"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業務管理者</a:t>
            </a:r>
          </a:p>
          <a:p>
            <a:pPr algn="ctr" marL="0" indent="0">
              <a:spcBef>
                <a:spcPts val="0"/>
              </a:spcBef>
              <a:buNone/>
            </a:pPr>
            <a:r>
              <a:rPr lang="en-US" sz="1050" b="1">
                <a:solidFill>
                  <a:srgbClr val="FFFFFF"/>
                </a:solidFill>
                <a:latin typeface="Arial"/>
                <a:ea typeface="Arial"/>
                <a:cs typeface="Arial"/>
              </a:rPr>
              <a:t>（業務）</a:t>
            </a:r>
          </a:p>
        </p:txBody>
      </p:sp>
      <p:sp>
        <p:nvSpPr>
          <p:cNvPr id="8" name="Shape 8"/>
          <p:cNvSpPr/>
          <p:nvPr/>
        </p:nvSpPr>
        <p:spPr>
          <a:xfrm>
            <a:off x="6929018"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システム管理者</a:t>
            </a:r>
          </a:p>
          <a:p>
            <a:pPr algn="ctr" marL="0" indent="0">
              <a:spcBef>
                <a:spcPts val="0"/>
              </a:spcBef>
              <a:buNone/>
            </a:pPr>
            <a:r>
              <a:rPr lang="en-US" sz="1050" b="1">
                <a:solidFill>
                  <a:srgbClr val="FFFFFF"/>
                </a:solidFill>
                <a:latin typeface="Arial"/>
                <a:ea typeface="Arial"/>
                <a:cs typeface="Arial"/>
              </a:rPr>
              <a:t>（IT）</a:t>
            </a:r>
          </a:p>
        </p:txBody>
      </p:sp>
      <p:sp>
        <p:nvSpPr>
          <p:cNvPr id="9" name="Shape 9"/>
          <p:cNvSpPr/>
          <p:nvPr/>
        </p:nvSpPr>
        <p:spPr>
          <a:xfrm>
            <a:off x="8130388"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サービス</a:t>
            </a:r>
          </a:p>
          <a:p>
            <a:pPr algn="ctr" marL="0" indent="0">
              <a:spcBef>
                <a:spcPts val="0"/>
              </a:spcBef>
              <a:buNone/>
            </a:pPr>
            <a:r>
              <a:rPr lang="en-US" sz="1050" b="1">
                <a:solidFill>
                  <a:srgbClr val="FFFFFF"/>
                </a:solidFill>
                <a:latin typeface="Arial"/>
                <a:ea typeface="Arial"/>
                <a:cs typeface="Arial"/>
              </a:rPr>
              <a:t>マネジャー</a:t>
            </a:r>
          </a:p>
        </p:txBody>
      </p:sp>
      <p:sp>
        <p:nvSpPr>
          <p:cNvPr id="10" name="Shape 10"/>
          <p:cNvSpPr/>
          <p:nvPr/>
        </p:nvSpPr>
        <p:spPr>
          <a:xfrm>
            <a:off x="9331757"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品質保証</a:t>
            </a:r>
          </a:p>
          <a:p>
            <a:pPr algn="ctr" marL="0" indent="0">
              <a:spcBef>
                <a:spcPts val="0"/>
              </a:spcBef>
              <a:buNone/>
            </a:pPr>
            <a:r>
              <a:rPr lang="en-US" sz="1050" b="1">
                <a:solidFill>
                  <a:srgbClr val="FFFFFF"/>
                </a:solidFill>
                <a:latin typeface="Arial"/>
                <a:ea typeface="Arial"/>
                <a:cs typeface="Arial"/>
              </a:rPr>
              <a:t>（GxP）</a:t>
            </a:r>
          </a:p>
        </p:txBody>
      </p:sp>
      <p:sp>
        <p:nvSpPr>
          <p:cNvPr id="11" name="Shape 11"/>
          <p:cNvSpPr/>
          <p:nvPr/>
        </p:nvSpPr>
        <p:spPr>
          <a:xfrm>
            <a:off x="10533126" y="1371600"/>
            <a:ext cx="1201369" cy="713232"/>
          </a:xfrm>
          <a:prstGeom prst="rect">
            <a:avLst/>
          </a:prstGeom>
          <a:solidFill>
            <a:srgbClr val="1C2B45"/>
          </a:solidFill>
          <a:ln w="9525">
            <a:solidFill>
              <a:srgbClr val="FFFFFF"/>
            </a:solidFill>
          </a:ln>
        </p:spPr>
        <p:txBody>
          <a:bodyPr wrap="square" lIns="18288" tIns="18288" rIns="18288" bIns="18288" anchor="ctr" rtlCol="0">
            <a:noAutofit/>
          </a:bodyPr>
          <a:lstStyle/>
          <a:p>
            <a:pPr algn="ctr" marL="0" indent="0">
              <a:spcBef>
                <a:spcPts val="0"/>
              </a:spcBef>
              <a:buNone/>
            </a:pPr>
            <a:r>
              <a:rPr lang="en-US" sz="1050" b="1">
                <a:solidFill>
                  <a:srgbClr val="FFFFFF"/>
                </a:solidFill>
                <a:latin typeface="Arial"/>
                <a:ea typeface="Arial"/>
                <a:cs typeface="Arial"/>
              </a:rPr>
              <a:t>利用者</a:t>
            </a:r>
          </a:p>
        </p:txBody>
      </p:sp>
      <p:sp>
        <p:nvSpPr>
          <p:cNvPr id="12" name="Shape 12"/>
          <p:cNvSpPr/>
          <p:nvPr/>
        </p:nvSpPr>
        <p:spPr>
          <a:xfrm>
            <a:off x="457200" y="2084832"/>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A　最終責任</a:t>
            </a:r>
          </a:p>
        </p:txBody>
      </p:sp>
      <p:sp>
        <p:nvSpPr>
          <p:cNvPr id="13" name="Shape 13"/>
          <p:cNvSpPr/>
          <p:nvPr/>
        </p:nvSpPr>
        <p:spPr>
          <a:xfrm>
            <a:off x="1554480" y="2084832"/>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結果に責任を持ち、承認する（1人）</a:t>
            </a:r>
          </a:p>
        </p:txBody>
      </p:sp>
      <p:sp>
        <p:nvSpPr>
          <p:cNvPr id="14" name="Shape 14"/>
          <p:cNvSpPr/>
          <p:nvPr/>
        </p:nvSpPr>
        <p:spPr>
          <a:xfrm>
            <a:off x="4526280"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15" name="Shape 15"/>
          <p:cNvSpPr/>
          <p:nvPr/>
        </p:nvSpPr>
        <p:spPr>
          <a:xfrm>
            <a:off x="5727649"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6" name="Shape 16"/>
          <p:cNvSpPr/>
          <p:nvPr/>
        </p:nvSpPr>
        <p:spPr>
          <a:xfrm>
            <a:off x="6929018"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17" name="Shape 17"/>
          <p:cNvSpPr/>
          <p:nvPr/>
        </p:nvSpPr>
        <p:spPr>
          <a:xfrm>
            <a:off x="8130388"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8" name="Shape 18"/>
          <p:cNvSpPr/>
          <p:nvPr/>
        </p:nvSpPr>
        <p:spPr>
          <a:xfrm>
            <a:off x="9331757"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19" name="Shape 19"/>
          <p:cNvSpPr/>
          <p:nvPr/>
        </p:nvSpPr>
        <p:spPr>
          <a:xfrm>
            <a:off x="10533126" y="2084832"/>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0" name="Shape 20"/>
          <p:cNvSpPr/>
          <p:nvPr/>
        </p:nvSpPr>
        <p:spPr>
          <a:xfrm>
            <a:off x="457200" y="2432304"/>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　実行</a:t>
            </a:r>
          </a:p>
        </p:txBody>
      </p:sp>
      <p:sp>
        <p:nvSpPr>
          <p:cNvPr id="21" name="Shape 21"/>
          <p:cNvSpPr/>
          <p:nvPr/>
        </p:nvSpPr>
        <p:spPr>
          <a:xfrm>
            <a:off x="1554480" y="2432304"/>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成果物を作り、期限までに完了させる</a:t>
            </a:r>
          </a:p>
        </p:txBody>
      </p:sp>
      <p:sp>
        <p:nvSpPr>
          <p:cNvPr id="22" name="Shape 22"/>
          <p:cNvSpPr/>
          <p:nvPr/>
        </p:nvSpPr>
        <p:spPr>
          <a:xfrm>
            <a:off x="4526280"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3" name="Shape 23"/>
          <p:cNvSpPr/>
          <p:nvPr/>
        </p:nvSpPr>
        <p:spPr>
          <a:xfrm>
            <a:off x="5727649"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4" name="Shape 24"/>
          <p:cNvSpPr/>
          <p:nvPr/>
        </p:nvSpPr>
        <p:spPr>
          <a:xfrm>
            <a:off x="6929018"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5" name="Shape 25"/>
          <p:cNvSpPr/>
          <p:nvPr/>
        </p:nvSpPr>
        <p:spPr>
          <a:xfrm>
            <a:off x="8130388"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26" name="Shape 26"/>
          <p:cNvSpPr/>
          <p:nvPr/>
        </p:nvSpPr>
        <p:spPr>
          <a:xfrm>
            <a:off x="9331757"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7" name="Shape 27"/>
          <p:cNvSpPr/>
          <p:nvPr/>
        </p:nvSpPr>
        <p:spPr>
          <a:xfrm>
            <a:off x="10533126" y="2432304"/>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28" name="Shape 28"/>
          <p:cNvSpPr/>
          <p:nvPr/>
        </p:nvSpPr>
        <p:spPr>
          <a:xfrm>
            <a:off x="457200" y="2779776"/>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C　相談</a:t>
            </a:r>
          </a:p>
        </p:txBody>
      </p:sp>
      <p:sp>
        <p:nvSpPr>
          <p:cNvPr id="29" name="Shape 29"/>
          <p:cNvSpPr/>
          <p:nvPr/>
        </p:nvSpPr>
        <p:spPr>
          <a:xfrm>
            <a:off x="1554480" y="2779776"/>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意見を出し、レビューする（成果物の責任は負わない）</a:t>
            </a:r>
          </a:p>
        </p:txBody>
      </p:sp>
      <p:sp>
        <p:nvSpPr>
          <p:cNvPr id="30" name="Shape 30"/>
          <p:cNvSpPr/>
          <p:nvPr/>
        </p:nvSpPr>
        <p:spPr>
          <a:xfrm>
            <a:off x="4526280"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1" name="Shape 31"/>
          <p:cNvSpPr/>
          <p:nvPr/>
        </p:nvSpPr>
        <p:spPr>
          <a:xfrm>
            <a:off x="5727649"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2" name="Shape 32"/>
          <p:cNvSpPr/>
          <p:nvPr/>
        </p:nvSpPr>
        <p:spPr>
          <a:xfrm>
            <a:off x="6929018"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3" name="Shape 33"/>
          <p:cNvSpPr/>
          <p:nvPr/>
        </p:nvSpPr>
        <p:spPr>
          <a:xfrm>
            <a:off x="8130388"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4" name="Shape 34"/>
          <p:cNvSpPr/>
          <p:nvPr/>
        </p:nvSpPr>
        <p:spPr>
          <a:xfrm>
            <a:off x="9331757"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35" name="Shape 35"/>
          <p:cNvSpPr/>
          <p:nvPr/>
        </p:nvSpPr>
        <p:spPr>
          <a:xfrm>
            <a:off x="10533126" y="2779776"/>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6" name="Shape 36"/>
          <p:cNvSpPr/>
          <p:nvPr/>
        </p:nvSpPr>
        <p:spPr>
          <a:xfrm>
            <a:off x="457200" y="3127248"/>
            <a:ext cx="1097280" cy="347472"/>
          </a:xfrm>
          <a:prstGeom prst="rect">
            <a:avLst/>
          </a:prstGeom>
          <a:solidFill>
            <a:srgbClr val="F4F6F9"/>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I　連絡</a:t>
            </a:r>
          </a:p>
        </p:txBody>
      </p:sp>
      <p:sp>
        <p:nvSpPr>
          <p:cNvPr id="37" name="Shape 37"/>
          <p:cNvSpPr/>
          <p:nvPr/>
        </p:nvSpPr>
        <p:spPr>
          <a:xfrm>
            <a:off x="1554480" y="3127248"/>
            <a:ext cx="2971800" cy="347472"/>
          </a:xfrm>
          <a:prstGeom prst="rect">
            <a:avLst/>
          </a:prstGeom>
          <a:solidFill>
            <a:srgbClr val="FFFFFF"/>
          </a:solidFill>
          <a:ln w="9525">
            <a:solidFill>
              <a:srgbClr val="C9D0DA"/>
            </a:solidFill>
          </a:ln>
        </p:spPr>
        <p:txBody>
          <a:bodyPr wrap="square" lIns="91440" tIns="91440" rIns="91440" bIns="91440" anchor="ctr" rtlCol="0">
            <a:noAutofit/>
          </a:bodyPr>
          <a:lstStyle/>
          <a:p>
            <a:pPr algn="l" marL="0" indent="0">
              <a:spcBef>
                <a:spcPts val="0"/>
              </a:spcBef>
              <a:buNone/>
            </a:pPr>
            <a:r>
              <a:rPr lang="en-US" sz="1100" b="0">
                <a:solidFill>
                  <a:srgbClr val="222B38"/>
                </a:solidFill>
                <a:latin typeface="Arial"/>
                <a:ea typeface="Arial"/>
                <a:cs typeface="Arial"/>
              </a:rPr>
              <a:t>結果の報告を受ける</a:t>
            </a:r>
          </a:p>
        </p:txBody>
      </p:sp>
      <p:sp>
        <p:nvSpPr>
          <p:cNvPr id="38" name="Shape 38"/>
          <p:cNvSpPr/>
          <p:nvPr/>
        </p:nvSpPr>
        <p:spPr>
          <a:xfrm>
            <a:off x="4526280"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39" name="Shape 39"/>
          <p:cNvSpPr/>
          <p:nvPr/>
        </p:nvSpPr>
        <p:spPr>
          <a:xfrm>
            <a:off x="5727649"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0" name="Shape 40"/>
          <p:cNvSpPr/>
          <p:nvPr/>
        </p:nvSpPr>
        <p:spPr>
          <a:xfrm>
            <a:off x="6929018"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1" name="Shape 41"/>
          <p:cNvSpPr/>
          <p:nvPr/>
        </p:nvSpPr>
        <p:spPr>
          <a:xfrm>
            <a:off x="8130388"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2" name="Shape 42"/>
          <p:cNvSpPr/>
          <p:nvPr/>
        </p:nvSpPr>
        <p:spPr>
          <a:xfrm>
            <a:off x="9331757"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43" name="Shape 43"/>
          <p:cNvSpPr/>
          <p:nvPr/>
        </p:nvSpPr>
        <p:spPr>
          <a:xfrm>
            <a:off x="10533126" y="3127248"/>
            <a:ext cx="1201369" cy="347472"/>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500" b="0">
                <a:solidFill>
                  <a:srgbClr val="1C2B45"/>
                </a:solidFill>
                <a:latin typeface="Arial"/>
                <a:ea typeface="Arial"/>
                <a:cs typeface="Arial"/>
              </a:rPr>
              <a:t>●</a:t>
            </a:r>
          </a:p>
        </p:txBody>
      </p:sp>
      <p:sp>
        <p:nvSpPr>
          <p:cNvPr id="44" name="Shape 44"/>
          <p:cNvSpPr/>
          <p:nvPr/>
        </p:nvSpPr>
        <p:spPr>
          <a:xfrm>
            <a:off x="457200" y="3675888"/>
            <a:ext cx="4069080" cy="310896"/>
          </a:xfrm>
          <a:prstGeom prst="rect">
            <a:avLst/>
          </a:prstGeom>
          <a:solidFill>
            <a:srgbClr val="DDE5F2"/>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50" b="1">
                <a:solidFill>
                  <a:srgbClr val="1C2B45"/>
                </a:solidFill>
                <a:latin typeface="Arial"/>
                <a:ea typeface="Arial"/>
                <a:cs typeface="Arial"/>
              </a:rPr>
              <a:t>成果物（例）</a:t>
            </a:r>
          </a:p>
        </p:txBody>
      </p:sp>
      <p:sp>
        <p:nvSpPr>
          <p:cNvPr id="45" name="Shape 45"/>
          <p:cNvSpPr/>
          <p:nvPr/>
        </p:nvSpPr>
        <p:spPr>
          <a:xfrm>
            <a:off x="4526280" y="3675888"/>
            <a:ext cx="7208215" cy="310896"/>
          </a:xfrm>
          <a:prstGeom prst="rect">
            <a:avLst/>
          </a:prstGeom>
          <a:solidFill>
            <a:srgbClr val="DDE5F2"/>
          </a:solidFill>
          <a:ln w="9525">
            <a:solidFill>
              <a:srgbClr val="C9D0DA"/>
            </a:solidFill>
          </a:ln>
        </p:spPr>
        <p:txBody>
          <a:bodyPr wrap="square" lIns="0" tIns="0" rIns="0" bIns="0" anchor="ctr" rtlCol="0">
            <a:noAutofit/>
          </a:bodyPr>
          <a:lstStyle/>
          <a:p>
            <a:pPr algn="ctr" marL="0" indent="0">
              <a:spcBef>
                <a:spcPts val="0"/>
              </a:spcBef>
              <a:buNone/>
            </a:pPr>
            <a:r>
              <a:rPr lang="en-US" sz="1150" b="1">
                <a:solidFill>
                  <a:srgbClr val="1C2B45"/>
                </a:solidFill>
                <a:latin typeface="Arial"/>
                <a:ea typeface="Arial"/>
                <a:cs typeface="Arial"/>
              </a:rPr>
              <a:t>成果物ごとの RACI（例）</a:t>
            </a:r>
          </a:p>
        </p:txBody>
      </p:sp>
      <p:sp>
        <p:nvSpPr>
          <p:cNvPr id="46" name="Shape 46"/>
          <p:cNvSpPr/>
          <p:nvPr/>
        </p:nvSpPr>
        <p:spPr>
          <a:xfrm>
            <a:off x="457200" y="3986784"/>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サービスレベル要求（SLA の要求）</a:t>
            </a:r>
          </a:p>
        </p:txBody>
      </p:sp>
      <p:sp>
        <p:nvSpPr>
          <p:cNvPr id="47" name="Shape 47"/>
          <p:cNvSpPr/>
          <p:nvPr/>
        </p:nvSpPr>
        <p:spPr>
          <a:xfrm>
            <a:off x="4526280" y="398678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48" name="Shape 48"/>
          <p:cNvSpPr/>
          <p:nvPr/>
        </p:nvSpPr>
        <p:spPr>
          <a:xfrm>
            <a:off x="5727649" y="3986784"/>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49" name="Shape 49"/>
          <p:cNvSpPr/>
          <p:nvPr/>
        </p:nvSpPr>
        <p:spPr>
          <a:xfrm>
            <a:off x="6929018" y="398678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50" name="Shape 50"/>
          <p:cNvSpPr/>
          <p:nvPr/>
        </p:nvSpPr>
        <p:spPr>
          <a:xfrm>
            <a:off x="8130388" y="398678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51" name="Shape 51"/>
          <p:cNvSpPr/>
          <p:nvPr/>
        </p:nvSpPr>
        <p:spPr>
          <a:xfrm>
            <a:off x="9331757" y="398678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52" name="Shape 52"/>
          <p:cNvSpPr/>
          <p:nvPr/>
        </p:nvSpPr>
        <p:spPr>
          <a:xfrm>
            <a:off x="10533126" y="398678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I</a:t>
            </a:r>
          </a:p>
        </p:txBody>
      </p:sp>
      <p:sp>
        <p:nvSpPr>
          <p:cNvPr id="53" name="Shape 53"/>
          <p:cNvSpPr/>
          <p:nvPr/>
        </p:nvSpPr>
        <p:spPr>
          <a:xfrm>
            <a:off x="457200" y="4279392"/>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利用ルール（ライセンスの割当て方針）</a:t>
            </a:r>
          </a:p>
        </p:txBody>
      </p:sp>
      <p:sp>
        <p:nvSpPr>
          <p:cNvPr id="54" name="Shape 54"/>
          <p:cNvSpPr/>
          <p:nvPr/>
        </p:nvSpPr>
        <p:spPr>
          <a:xfrm>
            <a:off x="4526280" y="427939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55" name="Shape 55"/>
          <p:cNvSpPr/>
          <p:nvPr/>
        </p:nvSpPr>
        <p:spPr>
          <a:xfrm>
            <a:off x="5727649" y="4279392"/>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56" name="Shape 56"/>
          <p:cNvSpPr/>
          <p:nvPr/>
        </p:nvSpPr>
        <p:spPr>
          <a:xfrm>
            <a:off x="6929018" y="427939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57" name="Shape 57"/>
          <p:cNvSpPr/>
          <p:nvPr/>
        </p:nvSpPr>
        <p:spPr>
          <a:xfrm>
            <a:off x="8130388" y="427939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58" name="Shape 58"/>
          <p:cNvSpPr/>
          <p:nvPr/>
        </p:nvSpPr>
        <p:spPr>
          <a:xfrm>
            <a:off x="9331757" y="427939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59" name="Shape 59"/>
          <p:cNvSpPr/>
          <p:nvPr/>
        </p:nvSpPr>
        <p:spPr>
          <a:xfrm>
            <a:off x="10533126" y="427939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I</a:t>
            </a:r>
          </a:p>
        </p:txBody>
      </p:sp>
      <p:sp>
        <p:nvSpPr>
          <p:cNvPr id="60" name="Shape 60"/>
          <p:cNvSpPr/>
          <p:nvPr/>
        </p:nvSpPr>
        <p:spPr>
          <a:xfrm>
            <a:off x="457200" y="4572000"/>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運用設計書（監視・閾値・障害対応）</a:t>
            </a:r>
          </a:p>
        </p:txBody>
      </p:sp>
      <p:sp>
        <p:nvSpPr>
          <p:cNvPr id="61" name="Shape 61"/>
          <p:cNvSpPr/>
          <p:nvPr/>
        </p:nvSpPr>
        <p:spPr>
          <a:xfrm>
            <a:off x="4526280" y="4572000"/>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62" name="Shape 62"/>
          <p:cNvSpPr/>
          <p:nvPr/>
        </p:nvSpPr>
        <p:spPr>
          <a:xfrm>
            <a:off x="5727649" y="4572000"/>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63" name="Shape 63"/>
          <p:cNvSpPr/>
          <p:nvPr/>
        </p:nvSpPr>
        <p:spPr>
          <a:xfrm>
            <a:off x="6929018" y="4572000"/>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64" name="Shape 64"/>
          <p:cNvSpPr/>
          <p:nvPr/>
        </p:nvSpPr>
        <p:spPr>
          <a:xfrm>
            <a:off x="8130388" y="4572000"/>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65" name="Shape 65"/>
          <p:cNvSpPr/>
          <p:nvPr/>
        </p:nvSpPr>
        <p:spPr>
          <a:xfrm>
            <a:off x="9331757" y="4572000"/>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66" name="Shape 66"/>
          <p:cNvSpPr/>
          <p:nvPr/>
        </p:nvSpPr>
        <p:spPr>
          <a:xfrm>
            <a:off x="10533126" y="4572000"/>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67" name="Shape 67"/>
          <p:cNvSpPr/>
          <p:nvPr/>
        </p:nvSpPr>
        <p:spPr>
          <a:xfrm>
            <a:off x="457200" y="4864608"/>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運用手順書（SOP を含む）</a:t>
            </a:r>
          </a:p>
        </p:txBody>
      </p:sp>
      <p:sp>
        <p:nvSpPr>
          <p:cNvPr id="68" name="Shape 68"/>
          <p:cNvSpPr/>
          <p:nvPr/>
        </p:nvSpPr>
        <p:spPr>
          <a:xfrm>
            <a:off x="4526280" y="4864608"/>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69" name="Shape 69"/>
          <p:cNvSpPr/>
          <p:nvPr/>
        </p:nvSpPr>
        <p:spPr>
          <a:xfrm>
            <a:off x="5727649" y="4864608"/>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0" name="Shape 70"/>
          <p:cNvSpPr/>
          <p:nvPr/>
        </p:nvSpPr>
        <p:spPr>
          <a:xfrm>
            <a:off x="6929018" y="4864608"/>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71" name="Shape 71"/>
          <p:cNvSpPr/>
          <p:nvPr/>
        </p:nvSpPr>
        <p:spPr>
          <a:xfrm>
            <a:off x="8130388" y="4864608"/>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72" name="Shape 72"/>
          <p:cNvSpPr/>
          <p:nvPr/>
        </p:nvSpPr>
        <p:spPr>
          <a:xfrm>
            <a:off x="9331757" y="4864608"/>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3" name="Shape 73"/>
          <p:cNvSpPr/>
          <p:nvPr/>
        </p:nvSpPr>
        <p:spPr>
          <a:xfrm>
            <a:off x="10533126" y="4864608"/>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74" name="Shape 74"/>
          <p:cNvSpPr/>
          <p:nvPr/>
        </p:nvSpPr>
        <p:spPr>
          <a:xfrm>
            <a:off x="457200" y="5157216"/>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契約書・契約上の SLA</a:t>
            </a:r>
          </a:p>
        </p:txBody>
      </p:sp>
      <p:sp>
        <p:nvSpPr>
          <p:cNvPr id="75" name="Shape 75"/>
          <p:cNvSpPr/>
          <p:nvPr/>
        </p:nvSpPr>
        <p:spPr>
          <a:xfrm>
            <a:off x="4526280" y="5157216"/>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6" name="Shape 76"/>
          <p:cNvSpPr/>
          <p:nvPr/>
        </p:nvSpPr>
        <p:spPr>
          <a:xfrm>
            <a:off x="5727649" y="5157216"/>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7" name="Shape 77"/>
          <p:cNvSpPr/>
          <p:nvPr/>
        </p:nvSpPr>
        <p:spPr>
          <a:xfrm>
            <a:off x="6929018" y="5157216"/>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A/R</a:t>
            </a:r>
          </a:p>
        </p:txBody>
      </p:sp>
      <p:sp>
        <p:nvSpPr>
          <p:cNvPr id="78" name="Shape 78"/>
          <p:cNvSpPr/>
          <p:nvPr/>
        </p:nvSpPr>
        <p:spPr>
          <a:xfrm>
            <a:off x="8130388" y="5157216"/>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79" name="Shape 79"/>
          <p:cNvSpPr/>
          <p:nvPr/>
        </p:nvSpPr>
        <p:spPr>
          <a:xfrm>
            <a:off x="9331757" y="5157216"/>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80" name="Shape 80"/>
          <p:cNvSpPr/>
          <p:nvPr/>
        </p:nvSpPr>
        <p:spPr>
          <a:xfrm>
            <a:off x="10533126" y="5157216"/>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81" name="Shape 81"/>
          <p:cNvSpPr/>
          <p:nvPr/>
        </p:nvSpPr>
        <p:spPr>
          <a:xfrm>
            <a:off x="457200" y="5449824"/>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月次の運用報告（SLA 実績・利用状況）</a:t>
            </a:r>
          </a:p>
        </p:txBody>
      </p:sp>
      <p:sp>
        <p:nvSpPr>
          <p:cNvPr id="82" name="Shape 82"/>
          <p:cNvSpPr/>
          <p:nvPr/>
        </p:nvSpPr>
        <p:spPr>
          <a:xfrm>
            <a:off x="4526280" y="544982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83" name="Shape 83"/>
          <p:cNvSpPr/>
          <p:nvPr/>
        </p:nvSpPr>
        <p:spPr>
          <a:xfrm>
            <a:off x="5727649" y="544982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84" name="Shape 84"/>
          <p:cNvSpPr/>
          <p:nvPr/>
        </p:nvSpPr>
        <p:spPr>
          <a:xfrm>
            <a:off x="6929018" y="5449824"/>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R/C</a:t>
            </a:r>
          </a:p>
        </p:txBody>
      </p:sp>
      <p:sp>
        <p:nvSpPr>
          <p:cNvPr id="85" name="Shape 85"/>
          <p:cNvSpPr/>
          <p:nvPr/>
        </p:nvSpPr>
        <p:spPr>
          <a:xfrm>
            <a:off x="8130388" y="5449824"/>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86" name="Shape 86"/>
          <p:cNvSpPr/>
          <p:nvPr/>
        </p:nvSpPr>
        <p:spPr>
          <a:xfrm>
            <a:off x="9331757" y="544982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87" name="Shape 87"/>
          <p:cNvSpPr/>
          <p:nvPr/>
        </p:nvSpPr>
        <p:spPr>
          <a:xfrm>
            <a:off x="10533126" y="5449824"/>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I</a:t>
            </a:r>
          </a:p>
        </p:txBody>
      </p:sp>
      <p:sp>
        <p:nvSpPr>
          <p:cNvPr id="88" name="Shape 88"/>
          <p:cNvSpPr/>
          <p:nvPr/>
        </p:nvSpPr>
        <p:spPr>
          <a:xfrm>
            <a:off x="457200" y="5742432"/>
            <a:ext cx="4069080" cy="292608"/>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100" b="0">
                <a:solidFill>
                  <a:srgbClr val="222B38"/>
                </a:solidFill>
                <a:latin typeface="Arial"/>
                <a:ea typeface="Arial"/>
                <a:cs typeface="Arial"/>
              </a:rPr>
              <a:t>契約の見直しの材料（利用実態・代替案）</a:t>
            </a:r>
          </a:p>
        </p:txBody>
      </p:sp>
      <p:sp>
        <p:nvSpPr>
          <p:cNvPr id="89" name="Shape 89"/>
          <p:cNvSpPr/>
          <p:nvPr/>
        </p:nvSpPr>
        <p:spPr>
          <a:xfrm>
            <a:off x="4526280" y="574243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A</a:t>
            </a:r>
          </a:p>
        </p:txBody>
      </p:sp>
      <p:sp>
        <p:nvSpPr>
          <p:cNvPr id="90" name="Shape 90"/>
          <p:cNvSpPr/>
          <p:nvPr/>
        </p:nvSpPr>
        <p:spPr>
          <a:xfrm>
            <a:off x="5727649" y="574243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91" name="Shape 91"/>
          <p:cNvSpPr/>
          <p:nvPr/>
        </p:nvSpPr>
        <p:spPr>
          <a:xfrm>
            <a:off x="6929018" y="5742432"/>
            <a:ext cx="1201369" cy="292608"/>
          </a:xfrm>
          <a:prstGeom prst="rect">
            <a:avLst/>
          </a:prstGeom>
          <a:solidFill>
            <a:srgbClr val="DDE5F2"/>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1">
                <a:solidFill>
                  <a:srgbClr val="1C2B45"/>
                </a:solidFill>
                <a:latin typeface="Arial"/>
                <a:ea typeface="Arial"/>
                <a:cs typeface="Arial"/>
              </a:rPr>
              <a:t>R</a:t>
            </a:r>
          </a:p>
        </p:txBody>
      </p:sp>
      <p:sp>
        <p:nvSpPr>
          <p:cNvPr id="92" name="Shape 92"/>
          <p:cNvSpPr/>
          <p:nvPr/>
        </p:nvSpPr>
        <p:spPr>
          <a:xfrm>
            <a:off x="8130388" y="574243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pPr algn="ctr" marL="0" indent="0">
              <a:spcBef>
                <a:spcPts val="0"/>
              </a:spcBef>
              <a:buNone/>
            </a:pPr>
            <a:r>
              <a:rPr lang="en-US" sz="1150" b="0">
                <a:solidFill>
                  <a:srgbClr val="222B38"/>
                </a:solidFill>
                <a:latin typeface="Arial"/>
                <a:ea typeface="Arial"/>
                <a:cs typeface="Arial"/>
              </a:rPr>
              <a:t>C</a:t>
            </a:r>
          </a:p>
        </p:txBody>
      </p:sp>
      <p:sp>
        <p:nvSpPr>
          <p:cNvPr id="93" name="Shape 93"/>
          <p:cNvSpPr/>
          <p:nvPr/>
        </p:nvSpPr>
        <p:spPr>
          <a:xfrm>
            <a:off x="9331757" y="574243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94" name="Shape 94"/>
          <p:cNvSpPr/>
          <p:nvPr/>
        </p:nvSpPr>
        <p:spPr>
          <a:xfrm>
            <a:off x="10533126" y="5742432"/>
            <a:ext cx="1201369" cy="292608"/>
          </a:xfrm>
          <a:prstGeom prst="rect">
            <a:avLst/>
          </a:prstGeom>
          <a:solidFill>
            <a:srgbClr val="FFFFFF"/>
          </a:solidFill>
          <a:ln w="9525">
            <a:solidFill>
              <a:srgbClr val="C9D0DA"/>
            </a:solidFill>
          </a:ln>
        </p:spPr>
        <p:txBody>
          <a:bodyPr wrap="square" lIns="18288" tIns="18288" rIns="18288" bIns="18288" anchor="ctr" rtlCol="0">
            <a:noAutofit/>
          </a:bodyPr>
          <a:lstStyle/>
          <a:p>
            <a:endParaRPr lang="ja-JP"/>
          </a:p>
        </p:txBody>
      </p:sp>
      <p:sp>
        <p:nvSpPr>
          <p:cNvPr id="95" name="Shape 95"/>
          <p:cNvSpPr txBox="1"/>
          <p:nvPr/>
        </p:nvSpPr>
        <p:spPr>
          <a:xfrm>
            <a:off x="457200" y="6108192"/>
            <a:ext cx="11277295" cy="457200"/>
          </a:xfrm>
          <a:prstGeom prst="rect">
            <a:avLst/>
          </a:prstGeom>
          <a:noFill/>
          <a:ln>
            <a:noFill/>
          </a:ln>
        </p:spPr>
        <p:txBody>
          <a:bodyPr wrap="square" lIns="0" tIns="0" rIns="0" bIns="0" anchor="t" rtlCol="0">
            <a:noAutofit/>
          </a:bodyPr>
          <a:lstStyle/>
          <a:p>
            <a:pPr algn="l" marL="0" indent="0">
              <a:spcBef>
                <a:spcPts val="0"/>
              </a:spcBef>
              <a:buNone/>
            </a:pPr>
            <a:r>
              <a:rPr lang="en-US" sz="1050" b="0">
                <a:solidFill>
                  <a:srgbClr val="5E7391"/>
                </a:solidFill>
                <a:latin typeface="Arial"/>
                <a:ea typeface="Arial"/>
                <a:cs typeface="Arial"/>
              </a:rPr>
              <a:t>R を持つ役割が成果物を作る（R が複数なら協力して作る）。R/C は、サービスマネジャーと分担して作るか、レビューするかを案件ごとに決める。契約書など間接業務の成果物は、IT部門が A/R を持つ</a:t>
            </a:r>
          </a:p>
        </p:txBody>
      </p:sp>
      <p:sp>
        <p:nvSpPr>
          <p:cNvPr id="96"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3"/>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参考：GAMP のソフトウェアカテゴリと RACI</a:t>
            </a:r>
            <a:endParaRPr sz="2600"/>
          </a:p>
        </p:txBody>
      </p:sp>
      <p:sp>
        <p:nvSpPr>
          <p:cNvPr id="280" name="Google Shape;280;p13"/>
          <p:cNvSpPr txBox="1"/>
          <p:nvPr/>
        </p:nvSpPr>
        <p:spPr>
          <a:xfrm>
            <a:off x="457200" y="91440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Arial"/>
              <a:buNone/>
            </a:pPr>
            <a:r>
              <a:rPr b="1" lang="en-US" sz="1400">
                <a:solidFill>
                  <a:schemeClr val="dk2"/>
                </a:solidFill>
                <a:latin typeface="Arial"/>
                <a:ea typeface="Arial"/>
                <a:cs typeface="Arial"/>
                <a:sym typeface="Arial"/>
              </a:rPr>
              <a:t>カテゴリが決めるのはバリデーションの範囲。業務の最終責任（A）はカテゴリで変わらないので、RACI はカテゴリで分けない</a:t>
            </a:r>
            <a:endParaRPr sz="1400">
              <a:solidFill>
                <a:schemeClr val="dk1"/>
              </a:solidFill>
              <a:latin typeface="Arial"/>
              <a:ea typeface="Arial"/>
              <a:cs typeface="Arial"/>
              <a:sym typeface="Arial"/>
            </a:endParaRPr>
          </a:p>
        </p:txBody>
      </p:sp>
      <p:sp>
        <p:nvSpPr>
          <p:cNvPr id="281" name="Google Shape;281;p13"/>
          <p:cNvSpPr/>
          <p:nvPr/>
        </p:nvSpPr>
        <p:spPr>
          <a:xfrm>
            <a:off x="457200" y="1444752"/>
            <a:ext cx="2715768" cy="2788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txBox="1"/>
          <p:nvPr/>
        </p:nvSpPr>
        <p:spPr>
          <a:xfrm>
            <a:off x="594360" y="1554480"/>
            <a:ext cx="24414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lang="en-US" sz="1100">
                <a:solidFill>
                  <a:schemeClr val="dk2"/>
                </a:solidFill>
                <a:latin typeface="Arial"/>
                <a:ea typeface="Arial"/>
                <a:cs typeface="Arial"/>
                <a:sym typeface="Arial"/>
              </a:rPr>
              <a:t>カテゴリ 1</a:t>
            </a:r>
            <a:endParaRPr sz="1100">
              <a:solidFill>
                <a:schemeClr val="dk1"/>
              </a:solidFill>
              <a:latin typeface="Arial"/>
              <a:ea typeface="Arial"/>
              <a:cs typeface="Arial"/>
              <a:sym typeface="Arial"/>
            </a:endParaRPr>
          </a:p>
          <a:p>
            <a:pPr indent="0" lvl="0" marL="0" marR="0" rtl="0" algn="l">
              <a:spcBef>
                <a:spcPts val="0"/>
              </a:spcBef>
              <a:spcAft>
                <a:spcPts val="0"/>
              </a:spcAft>
              <a:buClr>
                <a:schemeClr val="dk2"/>
              </a:buClr>
              <a:buSzPts val="1200"/>
              <a:buFont typeface="Arial"/>
              <a:buNone/>
            </a:pPr>
            <a:r>
              <a:rPr b="1" lang="en-US" sz="1200">
                <a:solidFill>
                  <a:schemeClr val="dk2"/>
                </a:solidFill>
                <a:latin typeface="Arial"/>
                <a:ea typeface="Arial"/>
                <a:cs typeface="Arial"/>
                <a:sym typeface="Arial"/>
              </a:rPr>
              <a:t>基盤ソフトウェア</a:t>
            </a:r>
            <a:endParaRPr sz="1200">
              <a:solidFill>
                <a:schemeClr val="dk1"/>
              </a:solidFill>
              <a:latin typeface="Arial"/>
              <a:ea typeface="Arial"/>
              <a:cs typeface="Arial"/>
              <a:sym typeface="Arial"/>
            </a:endParaRPr>
          </a:p>
        </p:txBody>
      </p:sp>
      <p:sp>
        <p:nvSpPr>
          <p:cNvPr id="283" name="Google Shape;283;p13"/>
          <p:cNvSpPr txBox="1"/>
          <p:nvPr/>
        </p:nvSpPr>
        <p:spPr>
          <a:xfrm>
            <a:off x="594360" y="2130552"/>
            <a:ext cx="2441448" cy="1965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1" lang="en-US" sz="900">
                <a:solidFill>
                  <a:schemeClr val="dk2"/>
                </a:solidFill>
                <a:latin typeface="Arial"/>
                <a:ea typeface="Arial"/>
                <a:cs typeface="Arial"/>
                <a:sym typeface="Arial"/>
              </a:rPr>
              <a:t>定義</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アプリケーションが動く基盤と、運用環境を管理するソフトウェア</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例</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OS、データベース、ミドルウェア、ネットワーク、ウイルス対策</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検証の対応</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バージョンを記録する。アプリケーションの検証の中で間接的に確かめる</a:t>
            </a:r>
            <a:endParaRPr sz="1000">
              <a:solidFill>
                <a:schemeClr val="dk1"/>
              </a:solidFill>
              <a:latin typeface="Arial"/>
              <a:ea typeface="Arial"/>
              <a:cs typeface="Arial"/>
              <a:sym typeface="Arial"/>
            </a:endParaRPr>
          </a:p>
        </p:txBody>
      </p:sp>
      <p:sp>
        <p:nvSpPr>
          <p:cNvPr id="284" name="Google Shape;284;p13"/>
          <p:cNvSpPr/>
          <p:nvPr/>
        </p:nvSpPr>
        <p:spPr>
          <a:xfrm>
            <a:off x="3310128" y="1444752"/>
            <a:ext cx="2715768" cy="2788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txBox="1"/>
          <p:nvPr/>
        </p:nvSpPr>
        <p:spPr>
          <a:xfrm>
            <a:off x="3447288" y="1554480"/>
            <a:ext cx="24414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lang="en-US" sz="1100">
                <a:solidFill>
                  <a:schemeClr val="dk2"/>
                </a:solidFill>
                <a:latin typeface="Arial"/>
                <a:ea typeface="Arial"/>
                <a:cs typeface="Arial"/>
                <a:sym typeface="Arial"/>
              </a:rPr>
              <a:t>カテゴリ 3</a:t>
            </a:r>
            <a:endParaRPr sz="1100">
              <a:solidFill>
                <a:schemeClr val="dk1"/>
              </a:solidFill>
              <a:latin typeface="Arial"/>
              <a:ea typeface="Arial"/>
              <a:cs typeface="Arial"/>
              <a:sym typeface="Arial"/>
            </a:endParaRPr>
          </a:p>
          <a:p>
            <a:pPr indent="0" lvl="0" marL="0" marR="0" rtl="0" algn="l">
              <a:spcBef>
                <a:spcPts val="0"/>
              </a:spcBef>
              <a:spcAft>
                <a:spcPts val="0"/>
              </a:spcAft>
              <a:buClr>
                <a:schemeClr val="dk2"/>
              </a:buClr>
              <a:buSzPts val="1200"/>
              <a:buFont typeface="Arial"/>
              <a:buNone/>
            </a:pPr>
            <a:r>
              <a:rPr b="1" lang="en-US" sz="1200">
                <a:solidFill>
                  <a:schemeClr val="dk2"/>
                </a:solidFill>
                <a:latin typeface="Arial"/>
                <a:ea typeface="Arial"/>
                <a:cs typeface="Arial"/>
                <a:sym typeface="Arial"/>
              </a:rPr>
              <a:t>構成設定していないソフトウェア</a:t>
            </a:r>
            <a:endParaRPr sz="1200">
              <a:solidFill>
                <a:schemeClr val="dk1"/>
              </a:solidFill>
              <a:latin typeface="Arial"/>
              <a:ea typeface="Arial"/>
              <a:cs typeface="Arial"/>
              <a:sym typeface="Arial"/>
            </a:endParaRPr>
          </a:p>
        </p:txBody>
      </p:sp>
      <p:sp>
        <p:nvSpPr>
          <p:cNvPr id="286" name="Google Shape;286;p13"/>
          <p:cNvSpPr txBox="1"/>
          <p:nvPr/>
        </p:nvSpPr>
        <p:spPr>
          <a:xfrm>
            <a:off x="3447288" y="2130552"/>
            <a:ext cx="2441448" cy="1965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1" lang="en-US" sz="900">
                <a:solidFill>
                  <a:schemeClr val="dk2"/>
                </a:solidFill>
                <a:latin typeface="Arial"/>
                <a:ea typeface="Arial"/>
                <a:cs typeface="Arial"/>
                <a:sym typeface="Arial"/>
              </a:rPr>
              <a:t>定義</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市販の既製パッケージを、業務に合わせた構成設定をせずに使うもの（実行時のパラメータ入力だけのものを含む）</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例</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測定・分析機器のソフトウェア、標準的な市販ソフトウェア</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検証の対応</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バージョンを記録し、要求を満たすことを確かめる</a:t>
            </a:r>
            <a:endParaRPr sz="1000">
              <a:solidFill>
                <a:schemeClr val="dk1"/>
              </a:solidFill>
              <a:latin typeface="Arial"/>
              <a:ea typeface="Arial"/>
              <a:cs typeface="Arial"/>
              <a:sym typeface="Arial"/>
            </a:endParaRPr>
          </a:p>
        </p:txBody>
      </p:sp>
      <p:sp>
        <p:nvSpPr>
          <p:cNvPr id="287" name="Google Shape;287;p13"/>
          <p:cNvSpPr/>
          <p:nvPr/>
        </p:nvSpPr>
        <p:spPr>
          <a:xfrm>
            <a:off x="6163056" y="1444752"/>
            <a:ext cx="2715768" cy="2788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txBox="1"/>
          <p:nvPr/>
        </p:nvSpPr>
        <p:spPr>
          <a:xfrm>
            <a:off x="6300216" y="1554480"/>
            <a:ext cx="24414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lang="en-US" sz="1100">
                <a:solidFill>
                  <a:schemeClr val="dk2"/>
                </a:solidFill>
                <a:latin typeface="Arial"/>
                <a:ea typeface="Arial"/>
                <a:cs typeface="Arial"/>
                <a:sym typeface="Arial"/>
              </a:rPr>
              <a:t>カテゴリ 4</a:t>
            </a:r>
            <a:endParaRPr sz="1100">
              <a:solidFill>
                <a:schemeClr val="dk1"/>
              </a:solidFill>
              <a:latin typeface="Arial"/>
              <a:ea typeface="Arial"/>
              <a:cs typeface="Arial"/>
              <a:sym typeface="Arial"/>
            </a:endParaRPr>
          </a:p>
          <a:p>
            <a:pPr indent="0" lvl="0" marL="0" marR="0" rtl="0" algn="l">
              <a:spcBef>
                <a:spcPts val="0"/>
              </a:spcBef>
              <a:spcAft>
                <a:spcPts val="0"/>
              </a:spcAft>
              <a:buClr>
                <a:schemeClr val="dk2"/>
              </a:buClr>
              <a:buSzPts val="1200"/>
              <a:buFont typeface="Arial"/>
              <a:buNone/>
            </a:pPr>
            <a:r>
              <a:rPr b="1" lang="en-US" sz="1200">
                <a:solidFill>
                  <a:schemeClr val="dk2"/>
                </a:solidFill>
                <a:latin typeface="Arial"/>
                <a:ea typeface="Arial"/>
                <a:cs typeface="Arial"/>
                <a:sym typeface="Arial"/>
              </a:rPr>
              <a:t>構成設定したソフトウェア</a:t>
            </a:r>
            <a:endParaRPr sz="1200">
              <a:solidFill>
                <a:schemeClr val="dk1"/>
              </a:solidFill>
              <a:latin typeface="Arial"/>
              <a:ea typeface="Arial"/>
              <a:cs typeface="Arial"/>
              <a:sym typeface="Arial"/>
            </a:endParaRPr>
          </a:p>
        </p:txBody>
      </p:sp>
      <p:sp>
        <p:nvSpPr>
          <p:cNvPr id="289" name="Google Shape;289;p13"/>
          <p:cNvSpPr txBox="1"/>
          <p:nvPr/>
        </p:nvSpPr>
        <p:spPr>
          <a:xfrm>
            <a:off x="6300216" y="2130552"/>
            <a:ext cx="2441448" cy="1965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1" lang="en-US" sz="900">
                <a:solidFill>
                  <a:schemeClr val="dk2"/>
                </a:solidFill>
                <a:latin typeface="Arial"/>
                <a:ea typeface="Arial"/>
                <a:cs typeface="Arial"/>
                <a:sym typeface="Arial"/>
              </a:rPr>
              <a:t>定義</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市販パッケージを、業務プロセスに合わせて構成設定（設定値・ワークフロー等）して使うもの</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例</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ERP、LIMS、文書管理システム</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検証の対応</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構成を仕様書で管理し、要求を満たすことを確かめる。重要なものは供給者を監査する</a:t>
            </a:r>
            <a:endParaRPr sz="1000">
              <a:solidFill>
                <a:schemeClr val="dk1"/>
              </a:solidFill>
              <a:latin typeface="Arial"/>
              <a:ea typeface="Arial"/>
              <a:cs typeface="Arial"/>
              <a:sym typeface="Arial"/>
            </a:endParaRPr>
          </a:p>
        </p:txBody>
      </p:sp>
      <p:sp>
        <p:nvSpPr>
          <p:cNvPr id="290" name="Google Shape;290;p13"/>
          <p:cNvSpPr/>
          <p:nvPr/>
        </p:nvSpPr>
        <p:spPr>
          <a:xfrm>
            <a:off x="9015984" y="1444752"/>
            <a:ext cx="2715768" cy="2788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txBox="1"/>
          <p:nvPr/>
        </p:nvSpPr>
        <p:spPr>
          <a:xfrm>
            <a:off x="9153144" y="1554480"/>
            <a:ext cx="24414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Arial"/>
              <a:buNone/>
            </a:pPr>
            <a:r>
              <a:rPr b="1" lang="en-US" sz="1100">
                <a:solidFill>
                  <a:schemeClr val="dk2"/>
                </a:solidFill>
                <a:latin typeface="Arial"/>
                <a:ea typeface="Arial"/>
                <a:cs typeface="Arial"/>
                <a:sym typeface="Arial"/>
              </a:rPr>
              <a:t>カテゴリ 5</a:t>
            </a:r>
            <a:endParaRPr sz="1100">
              <a:solidFill>
                <a:schemeClr val="dk1"/>
              </a:solidFill>
              <a:latin typeface="Arial"/>
              <a:ea typeface="Arial"/>
              <a:cs typeface="Arial"/>
              <a:sym typeface="Arial"/>
            </a:endParaRPr>
          </a:p>
          <a:p>
            <a:pPr indent="0" lvl="0" marL="0" marR="0" rtl="0" algn="l">
              <a:spcBef>
                <a:spcPts val="0"/>
              </a:spcBef>
              <a:spcAft>
                <a:spcPts val="0"/>
              </a:spcAft>
              <a:buClr>
                <a:schemeClr val="dk2"/>
              </a:buClr>
              <a:buSzPts val="1200"/>
              <a:buFont typeface="Arial"/>
              <a:buNone/>
            </a:pPr>
            <a:r>
              <a:rPr b="1" lang="en-US" sz="1200">
                <a:solidFill>
                  <a:schemeClr val="dk2"/>
                </a:solidFill>
                <a:latin typeface="Arial"/>
                <a:ea typeface="Arial"/>
                <a:cs typeface="Arial"/>
                <a:sym typeface="Arial"/>
              </a:rPr>
              <a:t>カスタムソフトウェア</a:t>
            </a:r>
            <a:endParaRPr sz="1200">
              <a:solidFill>
                <a:schemeClr val="dk1"/>
              </a:solidFill>
              <a:latin typeface="Arial"/>
              <a:ea typeface="Arial"/>
              <a:cs typeface="Arial"/>
              <a:sym typeface="Arial"/>
            </a:endParaRPr>
          </a:p>
        </p:txBody>
      </p:sp>
      <p:sp>
        <p:nvSpPr>
          <p:cNvPr id="292" name="Google Shape;292;p13"/>
          <p:cNvSpPr txBox="1"/>
          <p:nvPr/>
        </p:nvSpPr>
        <p:spPr>
          <a:xfrm>
            <a:off x="9153144" y="2130552"/>
            <a:ext cx="2441448" cy="1965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1" lang="en-US" sz="900">
                <a:solidFill>
                  <a:schemeClr val="dk2"/>
                </a:solidFill>
                <a:latin typeface="Arial"/>
                <a:ea typeface="Arial"/>
                <a:cs typeface="Arial"/>
                <a:sym typeface="Arial"/>
              </a:rPr>
              <a:t>定義</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業務に合わせて個別に設計・開発したもの（パッケージへの追加開発部分を含む）</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例</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自社開発システム、アドオン、マクロ</a:t>
            </a:r>
            <a:endParaRPr sz="1000">
              <a:solidFill>
                <a:schemeClr val="dk1"/>
              </a:solidFill>
              <a:latin typeface="Arial"/>
              <a:ea typeface="Arial"/>
              <a:cs typeface="Arial"/>
              <a:sym typeface="Arial"/>
            </a:endParaRPr>
          </a:p>
          <a:p>
            <a:pPr indent="0" lvl="0" marL="0" marR="0" rtl="0" algn="l">
              <a:spcBef>
                <a:spcPts val="600"/>
              </a:spcBef>
              <a:spcAft>
                <a:spcPts val="0"/>
              </a:spcAft>
              <a:buClr>
                <a:schemeClr val="dk2"/>
              </a:buClr>
              <a:buSzPts val="900"/>
              <a:buFont typeface="Arial"/>
              <a:buNone/>
            </a:pPr>
            <a:r>
              <a:rPr b="1" lang="en-US" sz="900">
                <a:solidFill>
                  <a:schemeClr val="dk2"/>
                </a:solidFill>
                <a:latin typeface="Arial"/>
                <a:ea typeface="Arial"/>
                <a:cs typeface="Arial"/>
                <a:sym typeface="Arial"/>
              </a:rPr>
              <a:t>検証の対応</a:t>
            </a:r>
            <a:endParaRPr sz="900">
              <a:solidFill>
                <a:schemeClr val="dk1"/>
              </a:solidFill>
              <a:latin typeface="Arial"/>
              <a:ea typeface="Arial"/>
              <a:cs typeface="Arial"/>
              <a:sym typeface="Arial"/>
            </a:endParaRPr>
          </a:p>
          <a:p>
            <a:pPr indent="0" lvl="0" marL="0" marR="0" rtl="0" algn="l">
              <a:spcBef>
                <a:spcPts val="100"/>
              </a:spcBef>
              <a:spcAft>
                <a:spcPts val="0"/>
              </a:spcAft>
              <a:buClr>
                <a:schemeClr val="dk1"/>
              </a:buClr>
              <a:buSzPts val="1000"/>
              <a:buFont typeface="Arial"/>
              <a:buNone/>
            </a:pPr>
            <a:r>
              <a:rPr lang="en-US" sz="1000">
                <a:solidFill>
                  <a:schemeClr val="dk1"/>
                </a:solidFill>
                <a:latin typeface="Arial"/>
                <a:ea typeface="Arial"/>
                <a:cs typeface="Arial"/>
                <a:sym typeface="Arial"/>
              </a:rPr>
              <a:t>供給者を監査し、設計・コードを含むシステム全体をバリデーションする</a:t>
            </a:r>
            <a:endParaRPr sz="1000">
              <a:solidFill>
                <a:schemeClr val="dk1"/>
              </a:solidFill>
              <a:latin typeface="Arial"/>
              <a:ea typeface="Arial"/>
              <a:cs typeface="Arial"/>
              <a:sym typeface="Arial"/>
            </a:endParaRPr>
          </a:p>
        </p:txBody>
      </p:sp>
      <p:sp>
        <p:nvSpPr>
          <p:cNvPr id="293" name="Google Shape;293;p13"/>
          <p:cNvSpPr txBox="1"/>
          <p:nvPr/>
        </p:nvSpPr>
        <p:spPr>
          <a:xfrm>
            <a:off x="457200" y="4297680"/>
            <a:ext cx="1127455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00"/>
              <a:buFont typeface="Arial"/>
              <a:buNone/>
            </a:pPr>
            <a:r>
              <a:rPr lang="en-US" sz="900">
                <a:solidFill>
                  <a:schemeClr val="dk1"/>
                </a:solidFill>
                <a:latin typeface="Arial"/>
                <a:ea typeface="Arial"/>
                <a:cs typeface="Arial"/>
                <a:sym typeface="Arial"/>
              </a:rPr>
              <a:t>カテゴリ 2（ファームウェア）は現在使わない（GAMP 5 で廃止）</a:t>
            </a:r>
            <a:endParaRPr sz="900">
              <a:solidFill>
                <a:schemeClr val="dk1"/>
              </a:solidFill>
              <a:latin typeface="Arial"/>
              <a:ea typeface="Arial"/>
              <a:cs typeface="Arial"/>
              <a:sym typeface="Arial"/>
            </a:endParaRPr>
          </a:p>
        </p:txBody>
      </p:sp>
      <p:sp>
        <p:nvSpPr>
          <p:cNvPr id="294" name="Google Shape;294;p13"/>
          <p:cNvSpPr/>
          <p:nvPr/>
        </p:nvSpPr>
        <p:spPr>
          <a:xfrm>
            <a:off x="457200" y="4572000"/>
            <a:ext cx="2560320" cy="178308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txBox="1"/>
          <p:nvPr/>
        </p:nvSpPr>
        <p:spPr>
          <a:xfrm>
            <a:off x="594360" y="4572000"/>
            <a:ext cx="2286000" cy="1783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000"/>
              <a:buFont typeface="Arial"/>
              <a:buNone/>
            </a:pPr>
            <a:r>
              <a:rPr b="1" lang="en-US" sz="1000">
                <a:solidFill>
                  <a:schemeClr val="lt1"/>
                </a:solidFill>
                <a:latin typeface="Arial"/>
                <a:ea typeface="Arial"/>
                <a:cs typeface="Arial"/>
                <a:sym typeface="Arial"/>
              </a:rPr>
              <a:t>方針</a:t>
            </a:r>
            <a:endParaRPr sz="1000">
              <a:solidFill>
                <a:schemeClr val="dk1"/>
              </a:solidFill>
              <a:latin typeface="Arial"/>
              <a:ea typeface="Arial"/>
              <a:cs typeface="Arial"/>
              <a:sym typeface="Arial"/>
            </a:endParaRPr>
          </a:p>
          <a:p>
            <a:pPr indent="0" lvl="0" marL="0" marR="0" rtl="0" algn="l">
              <a:spcBef>
                <a:spcPts val="400"/>
              </a:spcBef>
              <a:spcAft>
                <a:spcPts val="0"/>
              </a:spcAft>
              <a:buClr>
                <a:schemeClr val="lt1"/>
              </a:buClr>
              <a:buSzPts val="1300"/>
              <a:buFont typeface="Arial"/>
              <a:buNone/>
            </a:pPr>
            <a:r>
              <a:rPr b="1" lang="en-US" sz="1300">
                <a:solidFill>
                  <a:schemeClr val="lt1"/>
                </a:solidFill>
                <a:latin typeface="Arial"/>
                <a:ea typeface="Arial"/>
                <a:cs typeface="Arial"/>
                <a:sym typeface="Arial"/>
              </a:rPr>
              <a:t>RACI はカテゴリで分けない</a:t>
            </a:r>
            <a:endParaRPr sz="1300">
              <a:solidFill>
                <a:schemeClr val="dk1"/>
              </a:solidFill>
              <a:latin typeface="Arial"/>
              <a:ea typeface="Arial"/>
              <a:cs typeface="Arial"/>
              <a:sym typeface="Arial"/>
            </a:endParaRPr>
          </a:p>
          <a:p>
            <a:pPr indent="0" lvl="0" marL="0" marR="0" rtl="0" algn="l">
              <a:spcBef>
                <a:spcPts val="400"/>
              </a:spcBef>
              <a:spcAft>
                <a:spcPts val="0"/>
              </a:spcAft>
              <a:buClr>
                <a:schemeClr val="lt1"/>
              </a:buClr>
              <a:buSzPts val="1000"/>
              <a:buFont typeface="Arial"/>
              <a:buNone/>
            </a:pPr>
            <a:r>
              <a:rPr lang="en-US" sz="1000">
                <a:solidFill>
                  <a:schemeClr val="lt1"/>
                </a:solidFill>
                <a:latin typeface="Arial"/>
                <a:ea typeface="Arial"/>
                <a:cs typeface="Arial"/>
                <a:sym typeface="Arial"/>
              </a:rPr>
              <a:t>12・13 枚目のテンプレート 1 組を、GxP 対象・対象外とも共通で使う</a:t>
            </a:r>
            <a:endParaRPr sz="1000">
              <a:solidFill>
                <a:schemeClr val="dk1"/>
              </a:solidFill>
              <a:latin typeface="Arial"/>
              <a:ea typeface="Arial"/>
              <a:cs typeface="Arial"/>
              <a:sym typeface="Arial"/>
            </a:endParaRPr>
          </a:p>
        </p:txBody>
      </p:sp>
      <p:sp>
        <p:nvSpPr>
          <p:cNvPr id="296" name="Google Shape;296;p13"/>
          <p:cNvSpPr txBox="1"/>
          <p:nvPr/>
        </p:nvSpPr>
        <p:spPr>
          <a:xfrm>
            <a:off x="3246120" y="4572000"/>
            <a:ext cx="8485632" cy="1783080"/>
          </a:xfrm>
          <a:prstGeom prst="rect">
            <a:avLst/>
          </a:prstGeom>
          <a:noFill/>
          <a:ln>
            <a:noFill/>
          </a:ln>
        </p:spPr>
        <p:txBody>
          <a:bodyPr anchorCtr="0" anchor="ctr" bIns="0" lIns="0" spcFirstLastPara="1" rIns="0" wrap="square" tIns="0">
            <a:noAutofit/>
          </a:bodyPr>
          <a:lstStyle/>
          <a:p>
            <a:pPr indent="-171450" lvl="0" marL="171450" marR="0" rtl="0" algn="l">
              <a:spcBef>
                <a:spcPts val="0"/>
              </a:spcBef>
              <a:spcAft>
                <a:spcPts val="0"/>
              </a:spcAft>
              <a:buClr>
                <a:schemeClr val="dk2"/>
              </a:buClr>
              <a:buSzPts val="1050"/>
              <a:buFont typeface="Arial"/>
              <a:buChar char="•"/>
            </a:pPr>
            <a:r>
              <a:rPr b="1" lang="en-US" sz="1050">
                <a:solidFill>
                  <a:schemeClr val="dk2"/>
                </a:solidFill>
                <a:latin typeface="Arial"/>
                <a:ea typeface="Arial"/>
                <a:cs typeface="Arial"/>
                <a:sym typeface="Arial"/>
              </a:rPr>
              <a:t>A はカテゴリで変わらない：</a:t>
            </a:r>
            <a:r>
              <a:rPr lang="en-US" sz="1050">
                <a:solidFill>
                  <a:schemeClr val="dk1"/>
                </a:solidFill>
                <a:latin typeface="Arial"/>
                <a:ea typeface="Arial"/>
                <a:cs typeface="Arial"/>
                <a:sym typeface="Arial"/>
              </a:rPr>
              <a:t>外部に委託しても、責任は自社に残る。社内で誰が A を持つかは、カテゴリではなく SOP で決まる。分けると A がカテゴリで動くように見える</a:t>
            </a:r>
            <a:endParaRPr sz="1050">
              <a:solidFill>
                <a:schemeClr val="dk1"/>
              </a:solidFill>
              <a:latin typeface="Arial"/>
              <a:ea typeface="Arial"/>
              <a:cs typeface="Arial"/>
              <a:sym typeface="Arial"/>
            </a:endParaRPr>
          </a:p>
          <a:p>
            <a:pPr indent="-171450" lvl="0" marL="171450" marR="0" rtl="0" algn="l">
              <a:spcBef>
                <a:spcPts val="300"/>
              </a:spcBef>
              <a:spcAft>
                <a:spcPts val="0"/>
              </a:spcAft>
              <a:buClr>
                <a:schemeClr val="dk2"/>
              </a:buClr>
              <a:buSzPts val="1050"/>
              <a:buFont typeface="Arial"/>
              <a:buChar char="•"/>
            </a:pPr>
            <a:r>
              <a:rPr b="1" lang="en-US" sz="1050">
                <a:solidFill>
                  <a:schemeClr val="dk2"/>
                </a:solidFill>
                <a:latin typeface="Arial"/>
                <a:ea typeface="Arial"/>
                <a:cs typeface="Arial"/>
                <a:sym typeface="Arial"/>
              </a:rPr>
              <a:t>カテゴリはソフトウェア単位で決まる：</a:t>
            </a:r>
            <a:r>
              <a:rPr lang="en-US" sz="1050">
                <a:solidFill>
                  <a:schemeClr val="dk1"/>
                </a:solidFill>
                <a:latin typeface="Arial"/>
                <a:ea typeface="Arial"/>
                <a:cs typeface="Arial"/>
                <a:sym typeface="Arial"/>
              </a:rPr>
              <a:t>1 つのシステムにカテゴリ 4 と 5 が混在し、1 案件に複数のシステムが紐づく。テンプレートを分けると使い分けられない</a:t>
            </a:r>
            <a:endParaRPr sz="1050">
              <a:solidFill>
                <a:schemeClr val="dk1"/>
              </a:solidFill>
              <a:latin typeface="Arial"/>
              <a:ea typeface="Arial"/>
              <a:cs typeface="Arial"/>
              <a:sym typeface="Arial"/>
            </a:endParaRPr>
          </a:p>
          <a:p>
            <a:pPr indent="-171450" lvl="0" marL="171450" marR="0" rtl="0" algn="l">
              <a:spcBef>
                <a:spcPts val="300"/>
              </a:spcBef>
              <a:spcAft>
                <a:spcPts val="0"/>
              </a:spcAft>
              <a:buClr>
                <a:schemeClr val="dk2"/>
              </a:buClr>
              <a:buSzPts val="1050"/>
              <a:buFont typeface="Arial"/>
              <a:buChar char="•"/>
            </a:pPr>
            <a:r>
              <a:rPr b="1" lang="en-US" sz="1050">
                <a:solidFill>
                  <a:schemeClr val="dk2"/>
                </a:solidFill>
                <a:latin typeface="Arial"/>
                <a:ea typeface="Arial"/>
                <a:cs typeface="Arial"/>
                <a:sym typeface="Arial"/>
              </a:rPr>
              <a:t>GxP 対象外には分類の義務がない：</a:t>
            </a:r>
            <a:r>
              <a:rPr lang="en-US" sz="1050">
                <a:solidFill>
                  <a:schemeClr val="dk1"/>
                </a:solidFill>
                <a:latin typeface="Arial"/>
                <a:ea typeface="Arial"/>
                <a:cs typeface="Arial"/>
                <a:sym typeface="Arial"/>
              </a:rPr>
              <a:t>J-SOX も、自社開発かパッケージ（変更なし／機能追加）かを、リスクの重さを変える要素として扱うだけ。提供形態で見ればよい</a:t>
            </a:r>
            <a:endParaRPr sz="1050">
              <a:solidFill>
                <a:schemeClr val="dk1"/>
              </a:solidFill>
              <a:latin typeface="Arial"/>
              <a:ea typeface="Arial"/>
              <a:cs typeface="Arial"/>
              <a:sym typeface="Arial"/>
            </a:endParaRPr>
          </a:p>
          <a:p>
            <a:pPr indent="-171450" lvl="0" marL="171450" marR="0" rtl="0" algn="l">
              <a:spcBef>
                <a:spcPts val="300"/>
              </a:spcBef>
              <a:spcAft>
                <a:spcPts val="0"/>
              </a:spcAft>
              <a:buClr>
                <a:schemeClr val="dk2"/>
              </a:buClr>
              <a:buSzPts val="1050"/>
              <a:buFont typeface="Arial"/>
              <a:buChar char="•"/>
            </a:pPr>
            <a:r>
              <a:rPr b="1" lang="en-US" sz="1050">
                <a:solidFill>
                  <a:schemeClr val="dk2"/>
                </a:solidFill>
                <a:latin typeface="Arial"/>
                <a:ea typeface="Arial"/>
                <a:cs typeface="Arial"/>
                <a:sym typeface="Arial"/>
              </a:rPr>
              <a:t>規制がかかる業務は既存の手順を正とする：</a:t>
            </a:r>
            <a:r>
              <a:rPr lang="en-US" sz="1050">
                <a:solidFill>
                  <a:schemeClr val="dk1"/>
                </a:solidFill>
                <a:latin typeface="Arial"/>
                <a:ea typeface="Arial"/>
                <a:cs typeface="Arial"/>
                <a:sym typeface="Arial"/>
              </a:rPr>
              <a:t>GxP は SOP と品質保証部門の関与、J-SOX は IT 全般統制の手順に従う</a:t>
            </a:r>
            <a:endParaRPr sz="1050">
              <a:solidFill>
                <a:schemeClr val="dk1"/>
              </a:solidFill>
              <a:latin typeface="Arial"/>
              <a:ea typeface="Arial"/>
              <a:cs typeface="Arial"/>
              <a:sym typeface="Arial"/>
            </a:endParaRPr>
          </a:p>
          <a:p>
            <a:pPr indent="-171450" lvl="0" marL="171450" marR="0" rtl="0" algn="l">
              <a:spcBef>
                <a:spcPts val="300"/>
              </a:spcBef>
              <a:spcAft>
                <a:spcPts val="0"/>
              </a:spcAft>
              <a:buClr>
                <a:schemeClr val="dk2"/>
              </a:buClr>
              <a:buSzPts val="1050"/>
              <a:buFont typeface="Arial"/>
              <a:buChar char="•"/>
            </a:pPr>
            <a:r>
              <a:rPr b="1" lang="en-US" sz="1050">
                <a:solidFill>
                  <a:schemeClr val="dk2"/>
                </a:solidFill>
                <a:latin typeface="Arial"/>
                <a:ea typeface="Arial"/>
                <a:cs typeface="Arial"/>
                <a:sym typeface="Arial"/>
              </a:rPr>
              <a:t>カテゴリ・提供形態はカスタマイズの判断材料：</a:t>
            </a:r>
            <a:r>
              <a:rPr lang="en-US" sz="1050">
                <a:solidFill>
                  <a:schemeClr val="dk1"/>
                </a:solidFill>
                <a:latin typeface="Arial"/>
                <a:ea typeface="Arial"/>
                <a:cs typeface="Arial"/>
                <a:sym typeface="Arial"/>
              </a:rPr>
              <a:t>個別開発に近いほど、IT 関連業務で SO が担う R は重くなり、引き取る時期は遅くなる</a:t>
            </a:r>
            <a:endParaRPr sz="1050">
              <a:solidFill>
                <a:schemeClr val="dk1"/>
              </a:solidFill>
              <a:latin typeface="Arial"/>
              <a:ea typeface="Arial"/>
              <a:cs typeface="Arial"/>
              <a:sym typeface="Arial"/>
            </a:endParaRPr>
          </a:p>
        </p:txBody>
      </p:sp>
      <p:sp>
        <p:nvSpPr>
          <p:cNvPr id="297" name="Google Shape;297;p13"/>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900">
                <a:solidFill>
                  <a:schemeClr val="accent3"/>
                </a:solidFill>
                <a:latin typeface="Arial"/>
                <a:ea typeface="Arial"/>
                <a:cs typeface="Arial"/>
                <a:sym typeface="Arial"/>
              </a:rPr>
              <a:t>‹#›</a:t>
            </a:fld>
            <a:endParaRPr sz="900">
              <a:solidFill>
                <a:schemeClr val="accent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4"/>
          <p:cNvSpPr txBox="1"/>
          <p:nvPr>
            <p:ph type="title"/>
          </p:nvPr>
        </p:nvSpPr>
        <p:spPr>
          <a:xfrm>
            <a:off x="457200" y="274320"/>
            <a:ext cx="112745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600"/>
              <a:buFont typeface="Arial"/>
              <a:buNone/>
            </a:pPr>
            <a:r>
              <a:rPr b="1" lang="en-US" sz="2600">
                <a:solidFill>
                  <a:schemeClr val="dk2"/>
                </a:solidFill>
              </a:rPr>
              <a:t>提言：IT予算は「分けて」持つ</a:t>
            </a:r>
            <a:endParaRPr sz="2600"/>
          </a:p>
        </p:txBody>
      </p:sp>
      <p:sp>
        <p:nvSpPr>
          <p:cNvPr id="303" name="Google Shape;303;p14"/>
          <p:cNvSpPr txBox="1"/>
          <p:nvPr/>
        </p:nvSpPr>
        <p:spPr>
          <a:xfrm>
            <a:off x="457200" y="914400"/>
            <a:ext cx="112745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Arial"/>
              <a:buNone/>
            </a:pPr>
            <a:r>
              <a:rPr b="1" lang="en-US" sz="1300">
                <a:solidFill>
                  <a:schemeClr val="dk2"/>
                </a:solidFill>
                <a:latin typeface="Arial"/>
                <a:ea typeface="Arial"/>
                <a:cs typeface="Arial"/>
                <a:sym typeface="Arial"/>
              </a:rPr>
              <a:t>「事業側か、IT部門側か」の二択にしない。お金・契約・事務は IT部門に、業務の最終責任（A）は事業側に置く。そのための4つの条件</a:t>
            </a:r>
            <a:endParaRPr sz="1400">
              <a:solidFill>
                <a:schemeClr val="dk1"/>
              </a:solidFill>
              <a:latin typeface="Arial"/>
              <a:ea typeface="Arial"/>
              <a:cs typeface="Arial"/>
              <a:sym typeface="Arial"/>
            </a:endParaRPr>
          </a:p>
        </p:txBody>
      </p:sp>
      <p:sp>
        <p:nvSpPr>
          <p:cNvPr id="304" name="Google Shape;304;p14"/>
          <p:cNvSpPr/>
          <p:nvPr/>
        </p:nvSpPr>
        <p:spPr>
          <a:xfrm>
            <a:off x="457200" y="1536192"/>
            <a:ext cx="5545836" cy="23957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txBox="1"/>
          <p:nvPr/>
        </p:nvSpPr>
        <p:spPr>
          <a:xfrm>
            <a:off x="658368" y="1673351"/>
            <a:ext cx="51435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lang="en-US" sz="1500">
                <a:solidFill>
                  <a:schemeClr val="dk2"/>
                </a:solidFill>
                <a:latin typeface="Arial"/>
                <a:ea typeface="Arial"/>
                <a:cs typeface="Arial"/>
                <a:sym typeface="Arial"/>
              </a:rPr>
              <a:t>①　予算と責任を分ける理由</a:t>
            </a:r>
            <a:endParaRPr sz="1500">
              <a:solidFill>
                <a:schemeClr val="dk1"/>
              </a:solidFill>
              <a:latin typeface="Arial"/>
              <a:ea typeface="Arial"/>
              <a:cs typeface="Arial"/>
              <a:sym typeface="Arial"/>
            </a:endParaRPr>
          </a:p>
        </p:txBody>
      </p:sp>
      <p:sp>
        <p:nvSpPr>
          <p:cNvPr id="306" name="Google Shape;306;p14"/>
          <p:cNvSpPr txBox="1"/>
          <p:nvPr/>
        </p:nvSpPr>
        <p:spPr>
          <a:xfrm>
            <a:off x="658368" y="2020824"/>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lang="en-US" sz="1200">
                <a:solidFill>
                  <a:schemeClr val="accent2"/>
                </a:solidFill>
                <a:latin typeface="Arial"/>
                <a:ea typeface="Arial"/>
                <a:cs typeface="Arial"/>
                <a:sym typeface="Arial"/>
              </a:rPr>
              <a:t>お金の流れは IT部門に集め、業務の判断は事業側に残す</a:t>
            </a:r>
            <a:endParaRPr sz="1100">
              <a:solidFill>
                <a:schemeClr val="dk1"/>
              </a:solidFill>
              <a:latin typeface="Arial"/>
              <a:ea typeface="Arial"/>
              <a:cs typeface="Arial"/>
              <a:sym typeface="Arial"/>
            </a:endParaRPr>
          </a:p>
        </p:txBody>
      </p:sp>
      <p:sp>
        <p:nvSpPr>
          <p:cNvPr id="307" name="Google Shape;307;p14"/>
          <p:cNvSpPr txBox="1"/>
          <p:nvPr/>
        </p:nvSpPr>
        <p:spPr>
          <a:xfrm>
            <a:off x="658368" y="2377440"/>
            <a:ext cx="5143500" cy="148132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IT部門に集めるのは予算・契約・間接業務。全社共通の基盤への影響の統制、ベンダーとの交渉力、重複の排除、IT費用の全社での可視化のため</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業務アプリケーションの要否・要件・受け入れは、業務を知る側にしか判断できない。A は事業側に残す（プロセスオーナー原則）</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問うべきは「どちらが持つか」ではなく「何をどちらが持つか」</a:t>
            </a:r>
            <a:endParaRPr sz="1100">
              <a:solidFill>
                <a:schemeClr val="dk1"/>
              </a:solidFill>
              <a:latin typeface="Arial"/>
              <a:ea typeface="Arial"/>
              <a:cs typeface="Arial"/>
              <a:sym typeface="Arial"/>
            </a:endParaRPr>
          </a:p>
        </p:txBody>
      </p:sp>
      <p:sp>
        <p:nvSpPr>
          <p:cNvPr id="308" name="Google Shape;308;p14"/>
          <p:cNvSpPr/>
          <p:nvPr/>
        </p:nvSpPr>
        <p:spPr>
          <a:xfrm>
            <a:off x="6185916" y="1536192"/>
            <a:ext cx="5545836" cy="23957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txBox="1"/>
          <p:nvPr/>
        </p:nvSpPr>
        <p:spPr>
          <a:xfrm>
            <a:off x="6387084" y="1673351"/>
            <a:ext cx="51435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lang="en-US" sz="1500">
                <a:solidFill>
                  <a:schemeClr val="dk2"/>
                </a:solidFill>
                <a:latin typeface="Arial"/>
                <a:ea typeface="Arial"/>
                <a:cs typeface="Arial"/>
                <a:sym typeface="Arial"/>
              </a:rPr>
              <a:t>②　配分権の帰属</a:t>
            </a:r>
            <a:endParaRPr sz="1500">
              <a:solidFill>
                <a:schemeClr val="dk1"/>
              </a:solidFill>
              <a:latin typeface="Arial"/>
              <a:ea typeface="Arial"/>
              <a:cs typeface="Arial"/>
              <a:sym typeface="Arial"/>
            </a:endParaRPr>
          </a:p>
        </p:txBody>
      </p:sp>
      <p:sp>
        <p:nvSpPr>
          <p:cNvPr id="310" name="Google Shape;310;p14"/>
          <p:cNvSpPr txBox="1"/>
          <p:nvPr/>
        </p:nvSpPr>
        <p:spPr>
          <a:xfrm>
            <a:off x="6387084" y="2020824"/>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lang="en-US" sz="1200">
                <a:solidFill>
                  <a:schemeClr val="accent2"/>
                </a:solidFill>
                <a:latin typeface="Arial"/>
                <a:ea typeface="Arial"/>
                <a:cs typeface="Arial"/>
                <a:sym typeface="Arial"/>
              </a:rPr>
              <a:t>枠は全社で決め、枠の中の優先順位は事業側が決める</a:t>
            </a:r>
            <a:endParaRPr sz="1100">
              <a:solidFill>
                <a:schemeClr val="dk1"/>
              </a:solidFill>
              <a:latin typeface="Arial"/>
              <a:ea typeface="Arial"/>
              <a:cs typeface="Arial"/>
              <a:sym typeface="Arial"/>
            </a:endParaRPr>
          </a:p>
        </p:txBody>
      </p:sp>
      <p:sp>
        <p:nvSpPr>
          <p:cNvPr id="311" name="Google Shape;311;p14"/>
          <p:cNvSpPr txBox="1"/>
          <p:nvPr/>
        </p:nvSpPr>
        <p:spPr>
          <a:xfrm>
            <a:off x="6387084" y="2377440"/>
            <a:ext cx="5143500" cy="148132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部門ごとの予算の枠と投資の決裁は、新しいITガバナンス（Tier）で決める</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枠の中でどの案件を優先するかは、プロセスオーナー（PO）が決める</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IT部門（SO）は費用の妥当性と既存システムとの整合を評価し、異を唱える。合意できなければ Tier に上げる（IT部門が単独で止めない）</a:t>
            </a:r>
            <a:endParaRPr sz="1100">
              <a:solidFill>
                <a:schemeClr val="dk1"/>
              </a:solidFill>
              <a:latin typeface="Arial"/>
              <a:ea typeface="Arial"/>
              <a:cs typeface="Arial"/>
              <a:sym typeface="Arial"/>
            </a:endParaRPr>
          </a:p>
        </p:txBody>
      </p:sp>
      <p:sp>
        <p:nvSpPr>
          <p:cNvPr id="312" name="Google Shape;312;p14"/>
          <p:cNvSpPr/>
          <p:nvPr/>
        </p:nvSpPr>
        <p:spPr>
          <a:xfrm>
            <a:off x="457200" y="4069080"/>
            <a:ext cx="5545836" cy="23957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txBox="1"/>
          <p:nvPr/>
        </p:nvSpPr>
        <p:spPr>
          <a:xfrm>
            <a:off x="658368" y="4206240"/>
            <a:ext cx="51435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lang="en-US" sz="1500">
                <a:solidFill>
                  <a:schemeClr val="dk2"/>
                </a:solidFill>
                <a:latin typeface="Arial"/>
                <a:ea typeface="Arial"/>
                <a:cs typeface="Arial"/>
                <a:sym typeface="Arial"/>
              </a:rPr>
              <a:t>③　コスト意識の歯止め</a:t>
            </a:r>
            <a:endParaRPr sz="1500">
              <a:solidFill>
                <a:schemeClr val="dk1"/>
              </a:solidFill>
              <a:latin typeface="Arial"/>
              <a:ea typeface="Arial"/>
              <a:cs typeface="Arial"/>
              <a:sym typeface="Arial"/>
            </a:endParaRPr>
          </a:p>
        </p:txBody>
      </p:sp>
      <p:sp>
        <p:nvSpPr>
          <p:cNvPr id="314" name="Google Shape;314;p14"/>
          <p:cNvSpPr txBox="1"/>
          <p:nvPr/>
        </p:nvSpPr>
        <p:spPr>
          <a:xfrm>
            <a:off x="658368" y="4553712"/>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lang="en-US" sz="1200">
                <a:solidFill>
                  <a:schemeClr val="accent2"/>
                </a:solidFill>
                <a:latin typeface="Arial"/>
                <a:ea typeface="Arial"/>
                <a:cs typeface="Arial"/>
                <a:sym typeface="Arial"/>
              </a:rPr>
              <a:t>払わなくなっても、使った費用は部門に見せる</a:t>
            </a:r>
            <a:endParaRPr sz="1100">
              <a:solidFill>
                <a:schemeClr val="dk1"/>
              </a:solidFill>
              <a:latin typeface="Arial"/>
              <a:ea typeface="Arial"/>
              <a:cs typeface="Arial"/>
              <a:sym typeface="Arial"/>
            </a:endParaRPr>
          </a:p>
        </p:txBody>
      </p:sp>
      <p:sp>
        <p:nvSpPr>
          <p:cNvPr id="315" name="Google Shape;315;p14"/>
          <p:cNvSpPr txBox="1"/>
          <p:nvPr/>
        </p:nvSpPr>
        <p:spPr>
          <a:xfrm>
            <a:off x="658368" y="4910328"/>
            <a:ext cx="5143500" cy="148132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移管した費用を、部門別・案件別に毎期示す（単価と内訳の開示）</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削減した費用の一部を部門に返す（比率は未定）</a:t>
            </a:r>
            <a:endParaRPr sz="1100">
              <a:solidFill>
                <a:schemeClr val="dk1"/>
              </a:solidFill>
              <a:latin typeface="Arial"/>
              <a:ea typeface="Arial"/>
              <a:cs typeface="Arial"/>
              <a:sym typeface="Arial"/>
            </a:endParaRPr>
          </a:p>
          <a:p>
            <a:pPr indent="-152400" lvl="0" marL="152400" marR="0" rtl="0" algn="l">
              <a:spcBef>
                <a:spcPts val="300"/>
              </a:spcBef>
              <a:spcAft>
                <a:spcPts val="0"/>
              </a:spcAft>
              <a:buClr>
                <a:schemeClr val="dk1"/>
              </a:buClr>
              <a:buSzPts val="1200"/>
              <a:buFont typeface="Arial"/>
              <a:buChar char="•"/>
            </a:pPr>
            <a:r>
              <a:rPr lang="en-US" sz="1200">
                <a:solidFill>
                  <a:schemeClr val="dk1"/>
                </a:solidFill>
                <a:latin typeface="Arial"/>
                <a:ea typeface="Arial"/>
                <a:cs typeface="Arial"/>
                <a:sym typeface="Arial"/>
              </a:rPr>
              <a:t>配賦・チャージバックに進むかは、1年分の実績を見て判断する</a:t>
            </a:r>
            <a:endParaRPr sz="1100">
              <a:solidFill>
                <a:schemeClr val="dk1"/>
              </a:solidFill>
              <a:latin typeface="Arial"/>
              <a:ea typeface="Arial"/>
              <a:cs typeface="Arial"/>
              <a:sym typeface="Arial"/>
            </a:endParaRPr>
          </a:p>
        </p:txBody>
      </p:sp>
      <p:sp>
        <p:nvSpPr>
          <p:cNvPr id="316" name="Google Shape;316;p14"/>
          <p:cNvSpPr/>
          <p:nvPr/>
        </p:nvSpPr>
        <p:spPr>
          <a:xfrm>
            <a:off x="6185916" y="4069080"/>
            <a:ext cx="5545836" cy="23957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txBox="1"/>
          <p:nvPr/>
        </p:nvSpPr>
        <p:spPr>
          <a:xfrm>
            <a:off x="6387084" y="4206240"/>
            <a:ext cx="514350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Arial"/>
              <a:buNone/>
            </a:pPr>
            <a:r>
              <a:rPr b="1" lang="en-US" sz="1500">
                <a:solidFill>
                  <a:schemeClr val="dk2"/>
                </a:solidFill>
                <a:latin typeface="Arial"/>
                <a:ea typeface="Arial"/>
                <a:cs typeface="Arial"/>
                <a:sym typeface="Arial"/>
              </a:rPr>
              <a:t>④　中間層の移行期限</a:t>
            </a:r>
            <a:endParaRPr sz="1500">
              <a:solidFill>
                <a:schemeClr val="dk1"/>
              </a:solidFill>
              <a:latin typeface="Arial"/>
              <a:ea typeface="Arial"/>
              <a:cs typeface="Arial"/>
              <a:sym typeface="Arial"/>
            </a:endParaRPr>
          </a:p>
        </p:txBody>
      </p:sp>
      <p:sp>
        <p:nvSpPr>
          <p:cNvPr id="318" name="Google Shape;318;p14"/>
          <p:cNvSpPr txBox="1"/>
          <p:nvPr/>
        </p:nvSpPr>
        <p:spPr>
          <a:xfrm>
            <a:off x="6387084" y="4553712"/>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Arial"/>
              <a:buNone/>
            </a:pPr>
            <a:r>
              <a:rPr b="1" lang="en-US" sz="1200">
                <a:solidFill>
                  <a:schemeClr val="accent2"/>
                </a:solidFill>
                <a:latin typeface="Arial"/>
                <a:ea typeface="Arial"/>
                <a:cs typeface="Arial"/>
                <a:sym typeface="Arial"/>
              </a:rPr>
              <a:t>SO が担う R の範囲を、期限を切って確定させる</a:t>
            </a:r>
            <a:endParaRPr sz="1100">
              <a:solidFill>
                <a:schemeClr val="dk1"/>
              </a:solidFill>
              <a:latin typeface="Arial"/>
              <a:ea typeface="Arial"/>
              <a:cs typeface="Arial"/>
              <a:sym typeface="Arial"/>
            </a:endParaRPr>
          </a:p>
        </p:txBody>
      </p:sp>
      <p:sp>
        <p:nvSpPr>
          <p:cNvPr id="319" name="Google Shape;319;p14"/>
          <p:cNvSpPr txBox="1"/>
          <p:nvPr/>
        </p:nvSpPr>
        <p:spPr>
          <a:xfrm>
            <a:off x="6387084" y="4910328"/>
            <a:ext cx="5143500" cy="148132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IT関連業務は、部門と SO の両方が R を持って協力する。部門が C に下がって IT部門に任せる形にはしない</a:t>
            </a:r>
            <a:endParaRPr sz="1100">
              <a:solidFill>
                <a:schemeClr val="dk1"/>
              </a:solidFill>
              <a:latin typeface="Arial"/>
              <a:ea typeface="Arial"/>
              <a:cs typeface="Arial"/>
              <a:sym typeface="Arial"/>
            </a:endParaRPr>
          </a:p>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SO が R を持ち始める時期に上限を置く（例：次回の契約更新、遅くとも2027年度末）</a:t>
            </a:r>
            <a:endParaRPr sz="1100">
              <a:solidFill>
                <a:schemeClr val="dk1"/>
              </a:solidFill>
              <a:latin typeface="Arial"/>
              <a:ea typeface="Arial"/>
              <a:cs typeface="Arial"/>
              <a:sym typeface="Arial"/>
            </a:endParaRPr>
          </a:p>
          <a:p>
            <a:pPr indent="-152400" lvl="0" marL="1524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上限を越えて Before のまま残す業務は、理由を合意文書に書き、事務局が横並びで確かめる</a:t>
            </a:r>
            <a:endParaRPr sz="1100">
              <a:solidFill>
                <a:schemeClr val="dk1"/>
              </a:solidFill>
              <a:latin typeface="Arial"/>
              <a:ea typeface="Arial"/>
              <a:cs typeface="Arial"/>
              <a:sym typeface="Arial"/>
            </a:endParaRPr>
          </a:p>
        </p:txBody>
      </p:sp>
      <p:sp>
        <p:nvSpPr>
          <p:cNvPr id="320" name="Google Shape;320;p14"/>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900">
                <a:solidFill>
                  <a:schemeClr val="accent3"/>
                </a:solidFill>
                <a:latin typeface="Arial"/>
                <a:ea typeface="Arial"/>
                <a:cs typeface="Arial"/>
                <a:sym typeface="Arial"/>
              </a:rPr>
              <a:t>‹#›</a:t>
            </a:fld>
            <a:endParaRPr sz="900">
              <a:solidFill>
                <a:schemeClr val="accent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Q&amp;A：移管後の体制と役割</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A はプロセスオーナーに残る。SO は実務を担い、判断材料を出す</a:t>
            </a:r>
          </a:p>
        </p:txBody>
      </p:sp>
      <p:sp>
        <p:nvSpPr>
          <p:cNvPr id="5" name="Shape 5"/>
          <p:cNvSpPr/>
          <p:nvPr/>
        </p:nvSpPr>
        <p:spPr>
          <a:xfrm>
            <a:off x="457200"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6" name="Shape 6"/>
          <p:cNvSpPr/>
          <p:nvPr/>
        </p:nvSpPr>
        <p:spPr>
          <a:xfrm>
            <a:off x="685800"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7" name="Shape 7"/>
          <p:cNvSpPr txBox="1"/>
          <p:nvPr/>
        </p:nvSpPr>
        <p:spPr>
          <a:xfrm>
            <a:off x="1280160"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部門から「IT部門にすべて任せたい」と言われたら</a:t>
            </a:r>
          </a:p>
        </p:txBody>
      </p:sp>
      <p:sp>
        <p:nvSpPr>
          <p:cNvPr id="8" name="Shape 8"/>
          <p:cNvSpPr txBox="1"/>
          <p:nvPr/>
        </p:nvSpPr>
        <p:spPr>
          <a:xfrm>
            <a:off x="685800"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9" name="Shape 9"/>
          <p:cNvSpPr txBox="1"/>
          <p:nvPr/>
        </p:nvSpPr>
        <p:spPr>
          <a:xfrm>
            <a:off x="1280160"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任せる形にはしない。IT関連業務は、部門と SO の両方が R を持って協力する</a:t>
            </a:r>
          </a:p>
          <a:p>
            <a:pPr algn="l" marL="0" indent="0">
              <a:spcBef>
                <a:spcPts val="300"/>
              </a:spcBef>
              <a:buNone/>
            </a:pPr>
            <a:r>
              <a:rPr lang="en-US" sz="1400" b="0">
                <a:solidFill>
                  <a:srgbClr val="222B38"/>
                </a:solidFill>
                <a:latin typeface="Arial"/>
                <a:ea typeface="Arial"/>
                <a:cs typeface="Arial"/>
              </a:rPr>
              <a:t>業務への適合・効果・受け入れは BU の R として残り、要件・優先順位・投資の要否は PO が決める</a:t>
            </a:r>
          </a:p>
        </p:txBody>
      </p:sp>
      <p:sp>
        <p:nvSpPr>
          <p:cNvPr id="10" name="Shape 10"/>
          <p:cNvSpPr/>
          <p:nvPr/>
        </p:nvSpPr>
        <p:spPr>
          <a:xfrm>
            <a:off x="6210148"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p:nvPr/>
        </p:nvSpPr>
        <p:spPr>
          <a:xfrm>
            <a:off x="6438748"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2" name="Shape 12"/>
          <p:cNvSpPr txBox="1"/>
          <p:nvPr/>
        </p:nvSpPr>
        <p:spPr>
          <a:xfrm>
            <a:off x="7033108"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RACI は案件ごとに、どこまで変えてよいか</a:t>
            </a:r>
          </a:p>
        </p:txBody>
      </p:sp>
      <p:sp>
        <p:nvSpPr>
          <p:cNvPr id="13" name="Shape 13"/>
          <p:cNvSpPr txBox="1"/>
          <p:nvPr/>
        </p:nvSpPr>
        <p:spPr>
          <a:xfrm>
            <a:off x="6438748"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4" name="Shape 14"/>
          <p:cNvSpPr txBox="1"/>
          <p:nvPr/>
        </p:nvSpPr>
        <p:spPr>
          <a:xfrm>
            <a:off x="7033108"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協議するのは、IT関連業務の R の分担（どこまでを部門と SO が担うか）と、SO が R を持ち始める時期（上限は2027年度末）だけ</a:t>
            </a:r>
          </a:p>
          <a:p>
            <a:pPr algn="l" marL="0" indent="0">
              <a:spcBef>
                <a:spcPts val="300"/>
              </a:spcBef>
              <a:buNone/>
            </a:pPr>
            <a:r>
              <a:rPr lang="en-US" sz="1400" b="0">
                <a:solidFill>
                  <a:srgbClr val="222B38"/>
                </a:solidFill>
                <a:latin typeface="Arial"/>
                <a:ea typeface="Arial"/>
                <a:cs typeface="Arial"/>
              </a:rPr>
              <a:t>A の列と、直接・間接の行は変えない</a:t>
            </a:r>
          </a:p>
        </p:txBody>
      </p:sp>
      <p:sp>
        <p:nvSpPr>
          <p:cNvPr id="15" name="Shape 15"/>
          <p:cNvSpPr/>
          <p:nvPr/>
        </p:nvSpPr>
        <p:spPr>
          <a:xfrm>
            <a:off x="457200"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6" name="Shape 16"/>
          <p:cNvSpPr/>
          <p:nvPr/>
        </p:nvSpPr>
        <p:spPr>
          <a:xfrm>
            <a:off x="685800"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7" name="Shape 17"/>
          <p:cNvSpPr txBox="1"/>
          <p:nvPr/>
        </p:nvSpPr>
        <p:spPr>
          <a:xfrm>
            <a:off x="1280160"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部門の担当者が、委託先に直接作業を頼んでいたら</a:t>
            </a:r>
          </a:p>
        </p:txBody>
      </p:sp>
      <p:sp>
        <p:nvSpPr>
          <p:cNvPr id="18" name="Shape 18"/>
          <p:cNvSpPr txBox="1"/>
          <p:nvPr/>
        </p:nvSpPr>
        <p:spPr>
          <a:xfrm>
            <a:off x="685800"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9" name="Shape 19"/>
          <p:cNvSpPr txBox="1"/>
          <p:nvPr/>
        </p:nvSpPr>
        <p:spPr>
          <a:xfrm>
            <a:off x="1280160"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委託先への指示と報告の受領は、間接業務として IT部門に移る</a:t>
            </a:r>
          </a:p>
          <a:p>
            <a:pPr algn="l" marL="0" indent="0">
              <a:spcBef>
                <a:spcPts val="300"/>
              </a:spcBef>
              <a:buNone/>
            </a:pPr>
            <a:r>
              <a:rPr lang="en-US" sz="1400" b="0">
                <a:solidFill>
                  <a:srgbClr val="222B38"/>
                </a:solidFill>
                <a:latin typeface="Arial"/>
                <a:ea typeface="Arial"/>
                <a:cs typeface="Arial"/>
              </a:rPr>
              <a:t>契約外の作業の依頼や追加の発注の約束は、BU がしてはいけないこと。移管の直後は手順を変えずに引き継ぐ</a:t>
            </a:r>
          </a:p>
        </p:txBody>
      </p:sp>
      <p:sp>
        <p:nvSpPr>
          <p:cNvPr id="20" name="Shape 20"/>
          <p:cNvSpPr/>
          <p:nvPr/>
        </p:nvSpPr>
        <p:spPr>
          <a:xfrm>
            <a:off x="6210148"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21" name="Shape 21"/>
          <p:cNvSpPr/>
          <p:nvPr/>
        </p:nvSpPr>
        <p:spPr>
          <a:xfrm>
            <a:off x="6438748"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22" name="Shape 22"/>
          <p:cNvSpPr txBox="1"/>
          <p:nvPr/>
        </p:nvSpPr>
        <p:spPr>
          <a:xfrm>
            <a:off x="7033108"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GxP 対象のシステムでも、この RACI をそのまま使うのか</a:t>
            </a:r>
          </a:p>
        </p:txBody>
      </p:sp>
      <p:sp>
        <p:nvSpPr>
          <p:cNvPr id="23" name="Shape 23"/>
          <p:cNvSpPr txBox="1"/>
          <p:nvPr/>
        </p:nvSpPr>
        <p:spPr>
          <a:xfrm>
            <a:off x="6438748"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24" name="Shape 24"/>
          <p:cNvSpPr txBox="1"/>
          <p:nvPr/>
        </p:nvSpPr>
        <p:spPr>
          <a:xfrm>
            <a:off x="7033108"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GxP 対象の業務は、品質保証部門が定める SOP・手順が正となる。この RACI は雛形として使う</a:t>
            </a:r>
          </a:p>
          <a:p>
            <a:pPr algn="l" marL="0" indent="0">
              <a:spcBef>
                <a:spcPts val="300"/>
              </a:spcBef>
              <a:buNone/>
            </a:pPr>
            <a:r>
              <a:rPr lang="en-US" sz="1400" b="0">
                <a:solidFill>
                  <a:srgbClr val="222B38"/>
                </a:solidFill>
                <a:latin typeface="Arial"/>
                <a:ea typeface="Arial"/>
                <a:cs typeface="Arial"/>
              </a:rPr>
              <a:t>齟齬がある場合は品質保証部門の定めに従い、合意文書の側を合わせる。担当の変更に手続きが要る間は経過措置とする</a:t>
            </a:r>
          </a:p>
        </p:txBody>
      </p:sp>
      <p:sp>
        <p:nvSpPr>
          <p:cNvPr id="25"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731520" y="2286000"/>
            <a:ext cx="1069848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US" sz="3600">
                <a:solidFill>
                  <a:schemeClr val="lt1"/>
                </a:solidFill>
              </a:rPr>
              <a:t>第3章　固定資産の扱い</a:t>
            </a:r>
            <a:endParaRPr sz="3600"/>
          </a:p>
        </p:txBody>
      </p:sp>
      <p:sp>
        <p:nvSpPr>
          <p:cNvPr id="24" name="Google Shape;24;p5"/>
          <p:cNvSpPr txBox="1"/>
          <p:nvPr>
            <p:ph idx="1" type="body"/>
          </p:nvPr>
        </p:nvSpPr>
        <p:spPr>
          <a:xfrm>
            <a:off x="731520" y="3383280"/>
            <a:ext cx="1069848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600"/>
              <a:buNone/>
            </a:pPr>
            <a:r>
              <a:rPr lang="en-US" sz="1600">
                <a:solidFill>
                  <a:schemeClr val="accent4"/>
                </a:solidFill>
              </a:rPr>
              <a:t>型A（標準）：IT部門が持つ ／ 型B（個別に選択）：受益部門が持つ ／ 比較 ／ Q&amp;A</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rgbClr val="1C2B45"/>
                </a:solidFill>
                <a:latin typeface="Arial" pitchFamily="34" charset="0"/>
                <a:ea typeface="Arial" pitchFamily="34" charset="-122"/>
                <a:cs typeface="Arial" pitchFamily="34" charset="-120"/>
              </a:rPr>
              <a:t>型A（標準）：固定資産は予算を持つ IT部門が持つ</a:t>
            </a:r>
            <a:endParaRPr lang="en-US" sz="26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indent="0" marL="0">
              <a:buNone/>
            </a:pPr>
            <a:r>
              <a:rPr lang="en-US" sz="1400" dirty="0">
                <a:solidFill>
                  <a:srgbClr val="222B38"/>
                </a:solidFill>
                <a:latin typeface="Arial" pitchFamily="34" charset="0"/>
                <a:ea typeface="Arial" pitchFamily="34" charset="-122"/>
                <a:cs typeface="Arial" pitchFamily="34" charset="-120"/>
              </a:rPr>
              <a:t>予算を持つ IT部門が資産と償却費も管理する。コストセンターを分けて費用を見せ、研究開発・製造の費用は受益部門に配賦する</a:t>
            </a:r>
            <a:endParaRPr lang="en-US" sz="1400" dirty="0"/>
          </a:p>
        </p:txBody>
      </p:sp>
      <p:graphicFrame>
        <p:nvGraphicFramePr>
          <p:cNvPr id="3" name="asset-table"/>
          <p:cNvGraphicFramePr>
            <a:graphicFrameLocks noGrp="1"/>
          </p:cNvGraphicFramePr>
          <p:nvPr>
            <p:extLst>
              <p:ext uri="{D42A27DB-BD31-4B8C-83A1-F6EECF244321}">
                <p14:modId xmlns:p14="http://schemas.microsoft.com/office/powerpoint/2010/main" val="1579011935"/>
              </p:ext>
            </p:extLst>
          </p:nvPr>
        </p:nvGraphicFramePr>
        <p:xfrm>
          <a:off x="457200" y="1481328"/>
          <a:ext cx="11274552" cy="914400"/>
        </p:xfrm>
        <a:graphic>
          <a:graphicData uri="http://schemas.openxmlformats.org/drawingml/2006/table">
            <a:tbl>
              <a:tblPr/>
              <a:tblGrid>
                <a:gridCol w="4142232"/>
                <a:gridCol w="1097280"/>
                <a:gridCol w="2011680"/>
                <a:gridCol w="2011680"/>
                <a:gridCol w="2011680"/>
              </a:tblGrid>
              <a:tr h="329184">
                <a:tc rowSpan="2">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IT投資の種類</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rowSpan="2">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仮勘定</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gridSpan="3">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本勘定（固定資産の所有者＝償却費の負担部門）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hMerge="1">
                  <a:txBody>
                    <a:bodyPr/>
                    <a:p/>
                  </a:txBody>
                  <a:tcPr/>
                </a:tc>
                <a:tc hMerge="1">
                  <a:txBody>
                    <a:bodyPr/>
                    <a:p/>
                  </a:txBody>
                  <a:tcPr/>
                </a:tc>
              </a:tr>
              <a:tr h="329184">
                <a:tc vMerge="1">
                  <a:txBody>
                    <a:bodyPr/>
                    <a:p/>
                  </a:txBody>
                  <a:tcPr/>
                </a:tc>
                <a:tc vMerge="1">
                  <a:txBody>
                    <a:bodyPr/>
                    <a:p/>
                  </a:txBody>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個別（単一部門）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共通（複数部門）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全社共通（全部門・基盤）</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① 業務アプリの新規導入（パッケージ・構成設定）</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② 業務アプリの個別開発・アドオン</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③ 既存資産の改修（資本的支出）</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④ ソフトウェアライセンスの買取</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⑤ ハードウェア・機器</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⑥ 基盤・共通サービス（クラウド、データなど）</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IT部門（移管の対象外）</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bl>
          </a:graphicData>
        </a:graphic>
      </p:graphicFrame>
      <p:sp>
        <p:nvSpPr>
          <p:cNvPr id="5" name="notes"/>
          <p:cNvSpPr txBox="1"/>
          <p:nvPr/>
        </p:nvSpPr>
        <p:spPr>
          <a:xfrm>
            <a:off x="457200" y="5486400"/>
            <a:ext cx="11274552" cy="868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移管の前に取得した資産と、部門に残る継続の投資案件で完成する資産は、部門が持ったままになる（※2）</a:t>
            </a:r>
            <a:endParaRPr lang="en-US" sz="1200" dirty="0"/>
          </a:p>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本勘定への振替は IT部門の中で完結する。除却・減損は PO が判断し、手続きは IT部門が行う</a:t>
            </a:r>
            <a:endParaRPr lang="en-US" sz="1200" dirty="0"/>
          </a:p>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 の番号は、22枚目の「決める点」に対応する</a:t>
            </a:r>
            <a:endParaRPr lang="en-US" sz="1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5"/>
                </a:solidFill>
              </a:defRPr>
            </a:lvl1pPr>
          </a:lstStyle>
          <a:p>
            <a:pPr algn="r"/>
            <a:fld id="{F7021451-1387-4CA6-816F-3879F97B5CBC}" type="slidenum">
              <a:rPr b="0" lang="en-US"/>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rgbClr val="1C2B45"/>
                </a:solidFill>
                <a:latin typeface="Arial" pitchFamily="34" charset="0"/>
                <a:ea typeface="Arial" pitchFamily="34" charset="-122"/>
                <a:cs typeface="Arial" pitchFamily="34" charset="-120"/>
              </a:rPr>
              <a:t>型B（個別に選択）：固定資産は受益部門が持つ</a:t>
            </a:r>
            <a:endParaRPr lang="en-US" sz="26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indent="0" marL="0">
              <a:buNone/>
            </a:pPr>
            <a:r>
              <a:rPr lang="en-US" sz="1400" dirty="0">
                <a:solidFill>
                  <a:srgbClr val="222B38"/>
                </a:solidFill>
                <a:latin typeface="Arial" pitchFamily="34" charset="0"/>
                <a:ea typeface="Arial" pitchFamily="34" charset="-122"/>
                <a:cs typeface="Arial" pitchFamily="34" charset="-120"/>
              </a:rPr>
              <a:t>投資予算と仮勘定は IT部門が持ち、完成した資産と償却費は便益を受ける部門が持つ</a:t>
            </a:r>
            <a:endParaRPr lang="en-US" sz="1400" dirty="0"/>
          </a:p>
        </p:txBody>
      </p:sp>
      <p:graphicFrame>
        <p:nvGraphicFramePr>
          <p:cNvPr id="2" name="asset-table"/>
          <p:cNvGraphicFramePr>
            <a:graphicFrameLocks noGrp="1"/>
          </p:cNvGraphicFramePr>
          <p:nvPr>
            <p:extLst>
              <p:ext uri="{D42A27DB-BD31-4B8C-83A1-F6EECF244321}">
                <p14:modId xmlns:p14="http://schemas.microsoft.com/office/powerpoint/2010/main" val="1579011935"/>
              </p:ext>
            </p:extLst>
          </p:nvPr>
        </p:nvGraphicFramePr>
        <p:xfrm>
          <a:off x="457200" y="1481328"/>
          <a:ext cx="11274552" cy="914400"/>
        </p:xfrm>
        <a:graphic>
          <a:graphicData uri="http://schemas.openxmlformats.org/drawingml/2006/table">
            <a:tbl>
              <a:tblPr/>
              <a:tblGrid>
                <a:gridCol w="4142232"/>
                <a:gridCol w="1097280"/>
                <a:gridCol w="2011680"/>
                <a:gridCol w="2011680"/>
                <a:gridCol w="2011680"/>
              </a:tblGrid>
              <a:tr h="329184">
                <a:tc rowSpan="2">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IT投資の種類</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rowSpan="2">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仮勘定</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gridSpan="3">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本勘定（固定資産の所有者＝償却費の負担部門）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hMerge="1">
                  <a:txBody>
                    <a:bodyPr/>
                    <a:p/>
                  </a:txBody>
                  <a:tcPr/>
                </a:tc>
                <a:tc hMerge="1">
                  <a:txBody>
                    <a:bodyPr/>
                    <a:p/>
                  </a:txBody>
                  <a:tcPr/>
                </a:tc>
              </a:tr>
              <a:tr h="329184">
                <a:tc vMerge="1">
                  <a:txBody>
                    <a:bodyPr/>
                    <a:p/>
                  </a:txBody>
                  <a:tcPr/>
                </a:tc>
                <a:tc vMerge="1">
                  <a:txBody>
                    <a:bodyPr/>
                    <a:p/>
                  </a:txBody>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個別（単一部門）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共通（複数部門）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全社共通（全部門・基盤）</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3F4F6A"/>
                    </a:solidFill>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① 業務アプリの新規導入（パッケージ・構成設定）</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受益部門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主管部門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② 業務アプリの個別開発・アドオン</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受益部門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主管部門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③ 既存資産の改修（資本的支出）</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既存資産の所有部門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既存資産の所有部門</a:t>
                      </a:r>
                      <a:pPr algn="ctr" indent="0" marL="0">
                        <a:buNone/>
                      </a:pPr>
                      <a:r>
                        <a:rPr lang="en-US" sz="1200" dirty="0">
                          <a:solidFill>
                            <a:srgbClr val="D9772B"/>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④ ソフトウェアライセンスの買取</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受益部門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主管部門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⑤ ハードウェア・機器</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受益部門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主管部門</a:t>
                      </a:r>
                      <a:pPr algn="ctr" indent="0" marL="0">
                        <a:buNone/>
                      </a:pPr>
                      <a:r>
                        <a:rPr lang="en-US" sz="1200" dirty="0">
                          <a:solidFill>
                            <a:srgbClr val="D9772B"/>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512064">
                <a:tc>
                  <a:txBody>
                    <a:bodyPr/>
                    <a:lstStyle/>
                    <a:p>
                      <a:pPr algn="l" indent="0" marL="0">
                        <a:buNone/>
                      </a:pPr>
                      <a:r>
                        <a:rPr lang="en-US" sz="1200" b="1" dirty="0">
                          <a:solidFill>
                            <a:srgbClr val="222B38"/>
                          </a:solidFill>
                          <a:latin typeface="Arial" pitchFamily="34" charset="0"/>
                          <a:ea typeface="Arial" pitchFamily="34" charset="-122"/>
                          <a:cs typeface="Arial" pitchFamily="34" charset="-120"/>
                        </a:rPr>
                        <a:t>⑥ 基盤・共通サービス（クラウド、データなど）</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ctr" indent="0" marL="0">
                        <a:buNone/>
                      </a:pPr>
                      <a:r>
                        <a:rPr lang="en-US" sz="1200" dirty="0">
                          <a:solidFill>
                            <a:srgbClr val="9AA5B5"/>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a:t>
                      </a:r>
                      <a:pPr algn="ctr" indent="0" marL="0">
                        <a:buNone/>
                      </a:pPr>
                      <a:r>
                        <a:rPr lang="en-US" sz="1200" dirty="0">
                          <a:solidFill>
                            <a:srgbClr val="D9772B"/>
                          </a:solidFill>
                          <a:latin typeface="Arial" pitchFamily="34" charset="0"/>
                          <a:ea typeface="Arial" pitchFamily="34" charset="-122"/>
                          <a:cs typeface="Arial" pitchFamily="34" charset="-120"/>
                        </a:rPr>
                        <a:t>  ※3</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ctr" indent="0" marL="0">
                        <a:buNone/>
                      </a:pPr>
                      <a:r>
                        <a:rPr lang="en-US" sz="1200" dirty="0">
                          <a:solidFill>
                            <a:srgbClr val="222B38"/>
                          </a:solidFill>
                          <a:latin typeface="Arial" pitchFamily="34" charset="0"/>
                          <a:ea typeface="Arial" pitchFamily="34" charset="-122"/>
                          <a:cs typeface="Arial" pitchFamily="34" charset="-120"/>
                        </a:rPr>
                        <a:t>IT部門（移管の対象外）</a:t>
                      </a:r>
                      <a:endParaRPr lang="en-US" sz="1200" dirty="0">
                        <a:latin typeface="Arial" charset="0"/>
                        <a:ea typeface="Arial" charset="0"/>
                        <a:cs typeface="Arial" charset="0"/>
                      </a:endParaRPr>
                    </a:p>
                  </a:txBody>
                  <a:tcPr marL="91440" marR="91440" marT="36576" marB="36576"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bl>
          </a:graphicData>
        </a:graphic>
      </p:graphicFrame>
      <p:sp>
        <p:nvSpPr>
          <p:cNvPr id="5" name="notes"/>
          <p:cNvSpPr txBox="1"/>
          <p:nvPr/>
        </p:nvSpPr>
        <p:spPr>
          <a:xfrm>
            <a:off x="457200" y="5486400"/>
            <a:ext cx="11274552" cy="868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主管部門：共通システムのプロセスオーナー（PO）の部門。共通のシステムでも PO は1人とする原則に揃える</a:t>
            </a:r>
            <a:endParaRPr lang="en-US" sz="1200" dirty="0"/>
          </a:p>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本勘定への振替は、検収または使用の開始の時点で IT部門が行う。除却・減損は PO が判断し、手続きは IT部門が行う</a:t>
            </a:r>
            <a:endParaRPr lang="en-US" sz="1200" dirty="0"/>
          </a:p>
          <a:p>
            <a:pPr marL="177800" indent="-177800">
              <a:spcAft>
                <a:spcPts val="400"/>
              </a:spcAft>
              <a:buSzPct val="100000"/>
              <a:buChar char="•"/>
            </a:pPr>
            <a:r>
              <a:rPr lang="en-US" sz="1200" dirty="0">
                <a:solidFill>
                  <a:srgbClr val="222B38"/>
                </a:solidFill>
                <a:latin typeface="Arial" pitchFamily="34" charset="0"/>
                <a:ea typeface="Arial" pitchFamily="34" charset="-122"/>
                <a:cs typeface="Arial" pitchFamily="34" charset="-120"/>
              </a:rPr>
              <a:t>※ の番号は、22枚目の「決める点」に対応する</a:t>
            </a:r>
            <a:endParaRPr lang="en-US" sz="1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5"/>
                </a:solidFill>
              </a:defRPr>
            </a:lvl1pPr>
          </a:lstStyle>
          <a:p>
            <a:pPr algn="r"/>
            <a:fld id="{F7021451-1387-4CA6-816F-3879F97B5CBC}" type="slidenum">
              <a:rPr b="0" lang="en-US"/>
              <a:t>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rgbClr val="1C2B45"/>
                </a:solidFill>
                <a:latin typeface="Arial" pitchFamily="34" charset="0"/>
                <a:ea typeface="Arial" pitchFamily="34" charset="-122"/>
                <a:cs typeface="Arial" pitchFamily="34" charset="-120"/>
              </a:rPr>
              <a:t>固定資産の扱い：型Aと型Bの比較</a:t>
            </a:r>
            <a:endParaRPr lang="en-US" sz="26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indent="0" marL="0">
              <a:buNone/>
            </a:pPr>
            <a:r>
              <a:rPr lang="en-US" sz="1400" dirty="0">
                <a:solidFill>
                  <a:srgbClr val="222B38"/>
                </a:solidFill>
                <a:latin typeface="Arial" pitchFamily="34" charset="0"/>
                <a:ea typeface="Arial" pitchFamily="34" charset="-122"/>
                <a:cs typeface="Arial" pitchFamily="34" charset="-120"/>
              </a:rPr>
              <a:t>型A を標準とし、型B は事情がある案件で個別に選ぶ。型A では Showback と Chargeback を分けて扱う</a:t>
            </a:r>
            <a:endParaRPr lang="en-US" sz="1400" dirty="0"/>
          </a:p>
        </p:txBody>
      </p:sp>
      <p:graphicFrame>
        <p:nvGraphicFramePr>
          <p:cNvPr id="4" name="pros-cons"/>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143000"/>
                <a:gridCol w="5065776"/>
                <a:gridCol w="5065776"/>
              </a:tblGrid>
              <a:tr h="347472">
                <a:tc>
                  <a:txBody>
                    <a:bodyPr/>
                    <a:lstStyle/>
                    <a:p>
                      <a:pPr algn="ctr" indent="0" marL="0">
                        <a:buNone/>
                      </a:pP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型A（標準）：資産は IT部門</a:t>
                      </a: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型B（個別に選択）：資産は受益部門</a:t>
                      </a: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1C2B45"/>
                    </a:solidFill>
                  </a:tcPr>
                </a:tc>
              </a:tr>
              <a:tr h="1325880">
                <a:tc>
                  <a:txBody>
                    <a:bodyPr/>
                    <a:lstStyle/>
                    <a:p>
                      <a:pPr algn="l" indent="0" marL="0">
                        <a:buNone/>
                      </a:pPr>
                      <a:r>
                        <a:rPr lang="en-US" sz="1200" b="1" dirty="0">
                          <a:solidFill>
                            <a:srgbClr val="1C2B45"/>
                          </a:solidFill>
                          <a:latin typeface="Arial" pitchFamily="34" charset="0"/>
                          <a:ea typeface="Arial" pitchFamily="34" charset="-122"/>
                          <a:cs typeface="Arial" pitchFamily="34" charset="-120"/>
                        </a:rPr>
                        <a:t>Pros</a:t>
                      </a: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予算・発注・資産・除却の手続きが IT部門で完結し、振替が要らない</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IT資産を全社で一元的に把握できる（一元管理と可視化の目的に合う）</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共通資産の所有で揉めないので、共通化を進めやすい</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償却費を含めた総保有コストで、IT部門が投資を評価できる</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便益と費用の負担が同じ部門になる（プロセスオーナー原則と一致）</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償却費が部門の損益に出るので、配賦しなくてもコスト意識が働く</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既存資産・継続の投資案件と同じ扱いで、資産の移し替えが要らない</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除却の判断（PO）と資産の保有が一致する</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1325880">
                <a:tc>
                  <a:txBody>
                    <a:bodyPr/>
                    <a:lstStyle/>
                    <a:p>
                      <a:pPr algn="l" indent="0" marL="0">
                        <a:buNone/>
                      </a:pPr>
                      <a:r>
                        <a:rPr lang="en-US" sz="1200" b="1" dirty="0">
                          <a:solidFill>
                            <a:srgbClr val="1C2B45"/>
                          </a:solidFill>
                          <a:latin typeface="Arial" pitchFamily="34" charset="0"/>
                          <a:ea typeface="Arial" pitchFamily="34" charset="-122"/>
                          <a:cs typeface="Arial" pitchFamily="34" charset="-120"/>
                        </a:rPr>
                        <a:t>Cons</a:t>
                      </a: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便益（部門）と費用（IT部門）が分かれる。研究開発・製造の費用は、会計上の区分を保つため受益部門に配賦する必要がある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配賦には、按分の基準と部門への説明が要る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既存資産と継続案件の資産は部門に残り、所有者が二通りになる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業務の最終責任（A）は部門、資産は IT部門となり、除却の判断と保有が分かれる</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予算（IT部門）と資産（部門）が分かれ、振替と償却費の見込みの連携が要る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IT部門が評価した投資の償却費を部門が負うので、PO の合意が前提になる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共通資産では主管部門に負担が偏り、共通化を嫌がる要因になる</a:t>
                      </a:r>
                      <a:endParaRPr lang="en-US" sz="1200" dirty="0">
                        <a:latin typeface="Arial" charset="0"/>
                        <a:ea typeface="Arial" charset="0"/>
                        <a:cs typeface="Arial" charset="0"/>
                      </a:endParaRPr>
                    </a:p>
                    <a:p>
                      <a:pPr algn="l" marL="152400" indent="-152400">
                        <a:buSzPct val="100000"/>
                        <a:buChar char="•"/>
                      </a:pPr>
                      <a:r>
                        <a:rPr lang="en-US" sz="1200" dirty="0">
                          <a:solidFill>
                            <a:srgbClr val="222B38"/>
                          </a:solidFill>
                          <a:latin typeface="Arial" pitchFamily="34" charset="0"/>
                          <a:ea typeface="Arial" pitchFamily="34" charset="-122"/>
                          <a:cs typeface="Arial" pitchFamily="34" charset="-120"/>
                        </a:rPr>
                        <a:t>IT資産の総額が部門に分散し、全社で見えにくい</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r h="1280160">
                <a:tc>
                  <a:txBody>
                    <a:bodyPr/>
                    <a:lstStyle/>
                    <a:p>
                      <a:pPr algn="l" indent="0" marL="0">
                        <a:buNone/>
                      </a:pPr>
                      <a:r>
                        <a:rPr lang="en-US" sz="1200" b="1" dirty="0">
                          <a:solidFill>
                            <a:srgbClr val="1C2B45"/>
                          </a:solidFill>
                          <a:latin typeface="Arial" pitchFamily="34" charset="0"/>
                          <a:ea typeface="Arial" pitchFamily="34" charset="-122"/>
                          <a:cs typeface="Arial" pitchFamily="34" charset="-120"/>
                        </a:rPr>
                        <a:t>決める点</a:t>
                      </a:r>
                      <a:endParaRPr lang="en-US" sz="1200" dirty="0">
                        <a:latin typeface="Arial" charset="0"/>
                        <a:ea typeface="Arial" charset="0"/>
                        <a:cs typeface="Arial" charset="0"/>
                      </a:endParaRPr>
                    </a:p>
                  </a:txBody>
                  <a:tcPr marL="91440" marR="91440" marT="54864" marB="54864" anchor="ctr">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D9772B"/>
                          </a:solidFill>
                          <a:latin typeface="Arial" pitchFamily="34" charset="0"/>
                          <a:ea typeface="Arial" pitchFamily="34" charset="-122"/>
                          <a:cs typeface="Arial" pitchFamily="34" charset="-120"/>
                        </a:rPr>
                        <a:t>※1  </a:t>
                      </a:r>
                      <a:pPr algn="l" indent="0" marL="0">
                        <a:buNone/>
                      </a:pPr>
                      <a:r>
                        <a:rPr lang="en-US" sz="1200" dirty="0">
                          <a:solidFill>
                            <a:srgbClr val="222B38"/>
                          </a:solidFill>
                          <a:latin typeface="Arial" pitchFamily="34" charset="0"/>
                          <a:ea typeface="Arial" pitchFamily="34" charset="-122"/>
                          <a:cs typeface="Arial" pitchFamily="34" charset="-120"/>
                        </a:rPr>
                        <a:t>コストセンターの分け方（部門別・案件別）と、研究開発・製造に関わる費用・償却費の受益部門への配賦の方法</a:t>
                      </a:r>
                      <a:endParaRPr lang="en-US" sz="1200" dirty="0">
                        <a:latin typeface="Arial" charset="0"/>
                        <a:ea typeface="Arial" charset="0"/>
                        <a:cs typeface="Arial" charset="0"/>
                      </a:endParaRPr>
                    </a:p>
                    <a:p>
                      <a:pPr algn="l" indent="0" marL="0">
                        <a:buNone/>
                      </a:pPr>
                      <a:r>
                        <a:rPr lang="en-US" sz="1200" dirty="0">
                          <a:solidFill>
                            <a:srgbClr val="D9772B"/>
                          </a:solidFill>
                          <a:latin typeface="Arial" pitchFamily="34" charset="0"/>
                          <a:ea typeface="Arial" pitchFamily="34" charset="-122"/>
                          <a:cs typeface="Arial" pitchFamily="34" charset="-120"/>
                        </a:rPr>
                        <a:t>※2  </a:t>
                      </a:r>
                      <a:pPr algn="l" indent="0" marL="0">
                        <a:buNone/>
                      </a:pPr>
                      <a:r>
                        <a:rPr lang="en-US" sz="1200" dirty="0">
                          <a:solidFill>
                            <a:srgbClr val="222B38"/>
                          </a:solidFill>
                          <a:latin typeface="Arial" pitchFamily="34" charset="0"/>
                          <a:ea typeface="Arial" pitchFamily="34" charset="-122"/>
                          <a:cs typeface="Arial" pitchFamily="34" charset="-120"/>
                        </a:rPr>
                        <a:t>既存資産と継続案件の資産を IT部門に移すか。移さないなら改修分を別の資産にするか</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c>
                  <a:txBody>
                    <a:bodyPr/>
                    <a:lstStyle/>
                    <a:p>
                      <a:pPr algn="l" indent="0" marL="0">
                        <a:buNone/>
                      </a:pPr>
                      <a:r>
                        <a:rPr lang="en-US" sz="1200" dirty="0">
                          <a:solidFill>
                            <a:srgbClr val="D9772B"/>
                          </a:solidFill>
                          <a:latin typeface="Arial" pitchFamily="34" charset="0"/>
                          <a:ea typeface="Arial" pitchFamily="34" charset="-122"/>
                          <a:cs typeface="Arial" pitchFamily="34" charset="-120"/>
                        </a:rPr>
                        <a:t>※1  </a:t>
                      </a:r>
                      <a:pPr algn="l" indent="0" marL="0">
                        <a:buNone/>
                      </a:pPr>
                      <a:r>
                        <a:rPr lang="en-US" sz="1200" dirty="0">
                          <a:solidFill>
                            <a:srgbClr val="222B38"/>
                          </a:solidFill>
                          <a:latin typeface="Arial" pitchFamily="34" charset="0"/>
                          <a:ea typeface="Arial" pitchFamily="34" charset="-122"/>
                          <a:cs typeface="Arial" pitchFamily="34" charset="-120"/>
                        </a:rPr>
                        <a:t>共通資産の償却費を、他の利用部門に按分するか（主管部門がすべて負担するか）</a:t>
                      </a:r>
                      <a:endParaRPr lang="en-US" sz="1200" dirty="0">
                        <a:latin typeface="Arial" charset="0"/>
                        <a:ea typeface="Arial" charset="0"/>
                        <a:cs typeface="Arial" charset="0"/>
                      </a:endParaRPr>
                    </a:p>
                    <a:p>
                      <a:pPr algn="l" indent="0" marL="0">
                        <a:buNone/>
                      </a:pPr>
                      <a:r>
                        <a:rPr lang="en-US" sz="1200" dirty="0">
                          <a:solidFill>
                            <a:srgbClr val="D9772B"/>
                          </a:solidFill>
                          <a:latin typeface="Arial" pitchFamily="34" charset="0"/>
                          <a:ea typeface="Arial" pitchFamily="34" charset="-122"/>
                          <a:cs typeface="Arial" pitchFamily="34" charset="-120"/>
                        </a:rPr>
                        <a:t>※2  </a:t>
                      </a:r>
                      <a:pPr algn="l" indent="0" marL="0">
                        <a:buNone/>
                      </a:pPr>
                      <a:r>
                        <a:rPr lang="en-US" sz="1200" dirty="0">
                          <a:solidFill>
                            <a:srgbClr val="222B38"/>
                          </a:solidFill>
                          <a:latin typeface="Arial" pitchFamily="34" charset="0"/>
                          <a:ea typeface="Arial" pitchFamily="34" charset="-122"/>
                          <a:cs typeface="Arial" pitchFamily="34" charset="-120"/>
                        </a:rPr>
                        <a:t>改修で個別から共通に変わったとき、所有者を見直すか</a:t>
                      </a:r>
                      <a:endParaRPr lang="en-US" sz="1200" dirty="0">
                        <a:latin typeface="Arial" charset="0"/>
                        <a:ea typeface="Arial" charset="0"/>
                        <a:cs typeface="Arial" charset="0"/>
                      </a:endParaRPr>
                    </a:p>
                    <a:p>
                      <a:pPr algn="l" indent="0" marL="0">
                        <a:buNone/>
                      </a:pPr>
                      <a:r>
                        <a:rPr lang="en-US" sz="1200" dirty="0">
                          <a:solidFill>
                            <a:srgbClr val="D9772B"/>
                          </a:solidFill>
                          <a:latin typeface="Arial" pitchFamily="34" charset="0"/>
                          <a:ea typeface="Arial" pitchFamily="34" charset="-122"/>
                          <a:cs typeface="Arial" pitchFamily="34" charset="-120"/>
                        </a:rPr>
                        <a:t>※3  </a:t>
                      </a:r>
                      <a:pPr algn="l" indent="0" marL="0">
                        <a:buNone/>
                      </a:pPr>
                      <a:r>
                        <a:rPr lang="en-US" sz="1200" dirty="0">
                          <a:solidFill>
                            <a:srgbClr val="222B38"/>
                          </a:solidFill>
                          <a:latin typeface="Arial" pitchFamily="34" charset="0"/>
                          <a:ea typeface="Arial" pitchFamily="34" charset="-122"/>
                          <a:cs typeface="Arial" pitchFamily="34" charset="-120"/>
                        </a:rPr>
                        <a:t>複数部門が使う基盤を、IT部門と主管部門のどちらが持つか</a:t>
                      </a:r>
                      <a:endParaRPr lang="en-US" sz="1200" dirty="0">
                        <a:latin typeface="Arial" charset="0"/>
                        <a:ea typeface="Arial" charset="0"/>
                        <a:cs typeface="Arial" charset="0"/>
                      </a:endParaRPr>
                    </a:p>
                    <a:p>
                      <a:pPr algn="l" indent="0" marL="0">
                        <a:buNone/>
                      </a:pPr>
                      <a:r>
                        <a:rPr lang="en-US" sz="1200" dirty="0">
                          <a:solidFill>
                            <a:srgbClr val="D9772B"/>
                          </a:solidFill>
                          <a:latin typeface="Arial" pitchFamily="34" charset="0"/>
                          <a:ea typeface="Arial" pitchFamily="34" charset="-122"/>
                          <a:cs typeface="Arial" pitchFamily="34" charset="-120"/>
                        </a:rPr>
                        <a:t>※4  </a:t>
                      </a:r>
                      <a:pPr algn="l" indent="0" marL="0">
                        <a:buNone/>
                      </a:pPr>
                      <a:r>
                        <a:rPr lang="en-US" sz="1200" dirty="0">
                          <a:solidFill>
                            <a:srgbClr val="222B38"/>
                          </a:solidFill>
                          <a:latin typeface="Arial" pitchFamily="34" charset="0"/>
                          <a:ea typeface="Arial" pitchFamily="34" charset="-122"/>
                          <a:cs typeface="Arial" pitchFamily="34" charset="-120"/>
                        </a:rPr>
                        <a:t>償却費の見込みを部門に渡す方法（2028年度の予算編成から）</a:t>
                      </a:r>
                      <a:endParaRPr lang="en-US" sz="1200" dirty="0">
                        <a:latin typeface="Arial" charset="0"/>
                        <a:ea typeface="Arial" charset="0"/>
                        <a:cs typeface="Arial" charset="0"/>
                      </a:endParaRPr>
                    </a:p>
                  </a:txBody>
                  <a:tcPr marL="91440" marR="91440" marT="54864" marB="54864" anchor="t">
                    <a:lnL w="9525" cap="flat" cmpd="sng" algn="ctr">
                      <a:solidFill>
                        <a:srgbClr val="C9D0DA"/>
                      </a:solidFill>
                      <a:prstDash val="solid"/>
                      <a:round/>
                      <a:headEnd type="none" w="med" len="med"/>
                      <a:tailEnd type="none" w="med" len="med"/>
                    </a:lnL>
                    <a:lnR w="9525" cap="flat" cmpd="sng" algn="ctr">
                      <a:solidFill>
                        <a:srgbClr val="C9D0DA"/>
                      </a:solidFill>
                      <a:prstDash val="solid"/>
                      <a:round/>
                      <a:headEnd type="none" w="med" len="med"/>
                      <a:tailEnd type="none" w="med" len="med"/>
                    </a:lnR>
                    <a:lnT w="9525" cap="flat" cmpd="sng" algn="ctr">
                      <a:solidFill>
                        <a:srgbClr val="C9D0DA"/>
                      </a:solidFill>
                      <a:prstDash val="solid"/>
                      <a:round/>
                      <a:headEnd type="none" w="med" len="med"/>
                      <a:tailEnd type="none" w="med" len="med"/>
                    </a:lnT>
                    <a:lnB w="9525" cap="flat" cmpd="sng" algn="ctr">
                      <a:solidFill>
                        <a:srgbClr val="C9D0DA"/>
                      </a:solidFill>
                      <a:prstDash val="solid"/>
                      <a:round/>
                      <a:headEnd type="none" w="med" len="med"/>
                      <a:tailEnd type="none" w="med" len="med"/>
                    </a:lnB>
                  </a:tcPr>
                </a:tc>
              </a:tr>
            </a:tbl>
          </a:graphicData>
        </a:graphic>
      </p:graphicFrame>
      <p:sp>
        <p:nvSpPr>
          <p:cNvPr id="5" name="common"/>
          <p:cNvSpPr txBox="1"/>
          <p:nvPr/>
        </p:nvSpPr>
        <p:spPr>
          <a:xfrm>
            <a:off x="457200" y="5833872"/>
            <a:ext cx="11274552" cy="548640"/>
          </a:xfrm>
          <a:prstGeom prst="rect">
            <a:avLst/>
          </a:prstGeom>
          <a:noFill/>
          <a:ln/>
        </p:spPr>
        <p:txBody>
          <a:bodyPr wrap="square" lIns="0" tIns="0" rIns="0" bIns="0" rtlCol="0" anchor="t"/>
          <a:lstStyle/>
          <a:p>
            <a:pPr indent="0" marL="0">
              <a:buNone/>
            </a:pPr>
            <a:r>
              <a:rPr lang="en-US" sz="1200" b="1" dirty="0">
                <a:solidFill>
                  <a:srgbClr val="1C2B45"/>
                </a:solidFill>
                <a:latin typeface="Arial" pitchFamily="34" charset="0"/>
                <a:ea typeface="Arial" pitchFamily="34" charset="-122"/>
                <a:cs typeface="Arial" pitchFamily="34" charset="-120"/>
              </a:rPr>
              <a:t>両方の型に共通して決める点　</a:t>
            </a:r>
            <a:pPr indent="0" marL="0">
              <a:buNone/>
            </a:pPr>
            <a:r>
              <a:rPr lang="en-US" sz="1200" dirty="0">
                <a:solidFill>
                  <a:srgbClr val="222B38"/>
                </a:solidFill>
                <a:latin typeface="Arial" pitchFamily="34" charset="0"/>
                <a:ea typeface="Arial" pitchFamily="34" charset="-122"/>
                <a:cs typeface="Arial" pitchFamily="34" charset="-120"/>
              </a:rPr>
              <a:t>据付・検証に期間がかかる機器（GxP 対象など）の仮勘定／本勘定への振替の時期と手続き／資本的支出と修繕費の判定（IT部門が案を作り、経理部門が確定）／除却・減損の判断と手続きの分担</a:t>
            </a:r>
            <a:endParaRPr lang="en-US" sz="1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5"/>
                </a:solidFill>
              </a:defRPr>
            </a:lvl1pPr>
          </a:lstStyle>
          <a:p>
            <a:pPr algn="r"/>
            <a:fld id="{F7021451-1387-4CA6-816F-3879F97B5CBC}" type="slidenum">
              <a:rPr b="0" lang="en-US"/>
              <a:t>3</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Q&amp;A：固定資産の扱い</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型A を標準とし、型B は事情がある案件で個別に選ぶ</a:t>
            </a:r>
          </a:p>
        </p:txBody>
      </p:sp>
      <p:sp>
        <p:nvSpPr>
          <p:cNvPr id="5" name="Shape 5"/>
          <p:cNvSpPr/>
          <p:nvPr/>
        </p:nvSpPr>
        <p:spPr>
          <a:xfrm>
            <a:off x="457200"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6" name="Shape 6"/>
          <p:cNvSpPr/>
          <p:nvPr/>
        </p:nvSpPr>
        <p:spPr>
          <a:xfrm>
            <a:off x="685800"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7" name="Shape 7"/>
          <p:cNvSpPr txBox="1"/>
          <p:nvPr/>
        </p:nvSpPr>
        <p:spPr>
          <a:xfrm>
            <a:off x="1280160"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固定資産は、どちらが持つのか</a:t>
            </a:r>
          </a:p>
        </p:txBody>
      </p:sp>
      <p:sp>
        <p:nvSpPr>
          <p:cNvPr id="8" name="Shape 8"/>
          <p:cNvSpPr txBox="1"/>
          <p:nvPr/>
        </p:nvSpPr>
        <p:spPr>
          <a:xfrm>
            <a:off x="685800"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9" name="Shape 9"/>
          <p:cNvSpPr txBox="1"/>
          <p:nvPr/>
        </p:nvSpPr>
        <p:spPr>
          <a:xfrm>
            <a:off x="1280160"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型A（IT部門が持つ）を標準とする。予算・資産・償却費を、まとめて IT部門が管理する</a:t>
            </a:r>
          </a:p>
          <a:p>
            <a:pPr algn="l" marL="0" indent="0">
              <a:spcBef>
                <a:spcPts val="300"/>
              </a:spcBef>
              <a:buNone/>
            </a:pPr>
            <a:r>
              <a:rPr lang="en-US" sz="1400" b="0">
                <a:solidFill>
                  <a:srgbClr val="222B38"/>
                </a:solidFill>
                <a:latin typeface="Arial"/>
                <a:ea typeface="Arial"/>
                <a:cs typeface="Arial"/>
              </a:rPr>
              <a:t>事情がある案件は、ビジネス部門と合意して型B（受益部門が持つ）を選べる。その場合は経理部門の確認を得る</a:t>
            </a:r>
          </a:p>
        </p:txBody>
      </p:sp>
      <p:sp>
        <p:nvSpPr>
          <p:cNvPr id="10" name="Shape 10"/>
          <p:cNvSpPr/>
          <p:nvPr/>
        </p:nvSpPr>
        <p:spPr>
          <a:xfrm>
            <a:off x="6210148"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p:nvPr/>
        </p:nvSpPr>
        <p:spPr>
          <a:xfrm>
            <a:off x="6438748"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2" name="Shape 12"/>
          <p:cNvSpPr txBox="1"/>
          <p:nvPr/>
        </p:nvSpPr>
        <p:spPr>
          <a:xfrm>
            <a:off x="7033108"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型A だと、部門の費用はどう扱われるのか</a:t>
            </a:r>
          </a:p>
        </p:txBody>
      </p:sp>
      <p:sp>
        <p:nvSpPr>
          <p:cNvPr id="13" name="Shape 13"/>
          <p:cNvSpPr txBox="1"/>
          <p:nvPr/>
        </p:nvSpPr>
        <p:spPr>
          <a:xfrm>
            <a:off x="6438748"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4" name="Shape 14"/>
          <p:cNvSpPr txBox="1"/>
          <p:nvPr/>
        </p:nvSpPr>
        <p:spPr>
          <a:xfrm>
            <a:off x="7033108"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Showback（費用を見せる）と Chargeback（受益部門に計上する）は別。本社機能は、コストセンターを分けて見せれば足りる</a:t>
            </a:r>
          </a:p>
          <a:p>
            <a:pPr algn="l" marL="0" indent="0">
              <a:spcBef>
                <a:spcPts val="300"/>
              </a:spcBef>
              <a:buNone/>
            </a:pPr>
            <a:r>
              <a:rPr lang="en-US" sz="1400" b="0">
                <a:solidFill>
                  <a:srgbClr val="222B38"/>
                </a:solidFill>
                <a:latin typeface="Arial"/>
                <a:ea typeface="Arial"/>
                <a:cs typeface="Arial"/>
              </a:rPr>
              <a:t>研究開発・製造に関わる費用と償却費は、会計上の区分（研究開発費・製造原価）を保つため受益部門に配賦する。配賦の方法は経理部門と決める</a:t>
            </a:r>
          </a:p>
        </p:txBody>
      </p:sp>
      <p:sp>
        <p:nvSpPr>
          <p:cNvPr id="15" name="Shape 15"/>
          <p:cNvSpPr/>
          <p:nvPr/>
        </p:nvSpPr>
        <p:spPr>
          <a:xfrm>
            <a:off x="457200"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6" name="Shape 16"/>
          <p:cNvSpPr/>
          <p:nvPr/>
        </p:nvSpPr>
        <p:spPr>
          <a:xfrm>
            <a:off x="685800"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7" name="Shape 17"/>
          <p:cNvSpPr txBox="1"/>
          <p:nvPr/>
        </p:nvSpPr>
        <p:spPr>
          <a:xfrm>
            <a:off x="1280160"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経費予算に、減価償却費は含まれるか</a:t>
            </a:r>
          </a:p>
        </p:txBody>
      </p:sp>
      <p:sp>
        <p:nvSpPr>
          <p:cNvPr id="18" name="Shape 18"/>
          <p:cNvSpPr txBox="1"/>
          <p:nvPr/>
        </p:nvSpPr>
        <p:spPr>
          <a:xfrm>
            <a:off x="685800"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9" name="Shape 19"/>
          <p:cNvSpPr txBox="1"/>
          <p:nvPr/>
        </p:nvSpPr>
        <p:spPr>
          <a:xfrm>
            <a:off x="1280160"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含めない。減価償却費は予算移管の対象ではなく、固定資産を管理する部門に計上する（型A は IT部門、型B は受益部門）</a:t>
            </a:r>
          </a:p>
        </p:txBody>
      </p:sp>
      <p:sp>
        <p:nvSpPr>
          <p:cNvPr id="20" name="Shape 20"/>
          <p:cNvSpPr/>
          <p:nvPr/>
        </p:nvSpPr>
        <p:spPr>
          <a:xfrm>
            <a:off x="6210148"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21" name="Shape 21"/>
          <p:cNvSpPr/>
          <p:nvPr/>
        </p:nvSpPr>
        <p:spPr>
          <a:xfrm>
            <a:off x="6438748"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22" name="Shape 22"/>
          <p:cNvSpPr txBox="1"/>
          <p:nvPr/>
        </p:nvSpPr>
        <p:spPr>
          <a:xfrm>
            <a:off x="7033108"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移管の前に取得した資産は、どうなるか</a:t>
            </a:r>
          </a:p>
        </p:txBody>
      </p:sp>
      <p:sp>
        <p:nvSpPr>
          <p:cNvPr id="23" name="Shape 23"/>
          <p:cNvSpPr txBox="1"/>
          <p:nvPr/>
        </p:nvSpPr>
        <p:spPr>
          <a:xfrm>
            <a:off x="6438748"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24" name="Shape 24"/>
          <p:cNvSpPr txBox="1"/>
          <p:nvPr/>
        </p:nvSpPr>
        <p:spPr>
          <a:xfrm>
            <a:off x="7033108"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資産をどちらが持つかによる</a:t>
            </a:r>
          </a:p>
          <a:p>
            <a:pPr algn="l" marL="0" indent="0">
              <a:spcBef>
                <a:spcPts val="300"/>
              </a:spcBef>
              <a:buNone/>
            </a:pPr>
            <a:r>
              <a:rPr lang="en-US" sz="1400" b="0">
                <a:solidFill>
                  <a:srgbClr val="222B38"/>
                </a:solidFill>
                <a:latin typeface="Arial"/>
                <a:ea typeface="Arial"/>
                <a:cs typeface="Arial"/>
              </a:rPr>
              <a:t>型A なら、IT部門に移すかどうかを決める必要がある（22枚目 型A の ※2）。型B なら、部門が持ったまま（今年度から続く投資案件で完成する資産も同じ）</a:t>
            </a:r>
          </a:p>
        </p:txBody>
      </p:sp>
      <p:sp>
        <p:nvSpPr>
          <p:cNvPr id="25"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731520" y="2286000"/>
            <a:ext cx="1069848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US" sz="3600">
                <a:solidFill>
                  <a:schemeClr val="lt1"/>
                </a:solidFill>
              </a:rPr>
              <a:t>第4章　コミュニケーション</a:t>
            </a:r>
            <a:endParaRPr sz="3600"/>
          </a:p>
        </p:txBody>
      </p:sp>
      <p:sp>
        <p:nvSpPr>
          <p:cNvPr id="24" name="Google Shape;24;p5"/>
          <p:cNvSpPr txBox="1"/>
          <p:nvPr>
            <p:ph idx="1" type="body"/>
          </p:nvPr>
        </p:nvSpPr>
        <p:spPr>
          <a:xfrm>
            <a:off x="731520" y="3383280"/>
            <a:ext cx="1069848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600"/>
              <a:buNone/>
            </a:pPr>
            <a:r>
              <a:rPr lang="en-US" sz="1600">
                <a:solidFill>
                  <a:schemeClr val="accent4"/>
                </a:solidFill>
              </a:rPr>
              <a:t>コミュニケーションの流れ ／ Q&amp;A ／ 連絡先と情報共有チャネル</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コミュニケーションの流れ</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部門との窓口は各チームの窓口担当、IT部門長への相談は事務局。情報は予算移管シートと SharePoint に集める</a:t>
            </a:r>
          </a:p>
        </p:txBody>
      </p:sp>
      <p:sp>
        <p:nvSpPr>
          <p:cNvPr id="5" name="Shape 5"/>
          <p:cNvSpPr/>
          <p:nvPr/>
        </p:nvSpPr>
        <p:spPr>
          <a:xfrm>
            <a:off x="457200" y="1508760"/>
            <a:ext cx="2240280" cy="914400"/>
          </a:xfrm>
          <a:prstGeom prst="rect">
            <a:avLst/>
          </a:prstGeom>
          <a:solidFill>
            <a:srgbClr val="FFFFFF"/>
          </a:solidFill>
          <a:ln w="9525">
            <a:solidFill>
              <a:srgbClr val="1C2B45"/>
            </a:solidFill>
          </a:ln>
        </p:spPr>
        <p:txBody>
          <a:bodyPr wrap="square" lIns="0" tIns="0" rIns="0" bIns="0" anchor="ctr" rtlCol="0">
            <a:noAutofit/>
          </a:bodyPr>
          <a:lstStyle/>
          <a:p>
            <a:pPr algn="ctr" marL="0" indent="0">
              <a:spcBef>
                <a:spcPts val="0"/>
              </a:spcBef>
              <a:buNone/>
            </a:pPr>
            <a:r>
              <a:rPr lang="en-US" sz="1400" b="1">
                <a:solidFill>
                  <a:srgbClr val="1C2B45"/>
                </a:solidFill>
                <a:latin typeface="Arial"/>
                <a:ea typeface="Arial"/>
                <a:cs typeface="Arial"/>
              </a:rPr>
              <a:t>移管対象部門</a:t>
            </a:r>
          </a:p>
          <a:p>
            <a:pPr algn="ctr" marL="0" indent="0">
              <a:spcBef>
                <a:spcPts val="0"/>
              </a:spcBef>
              <a:buNone/>
            </a:pPr>
            <a:r>
              <a:rPr lang="en-US" sz="1400" b="0">
                <a:solidFill>
                  <a:srgbClr val="5E7391"/>
                </a:solidFill>
                <a:latin typeface="Arial"/>
                <a:ea typeface="Arial"/>
                <a:cs typeface="Arial"/>
              </a:rPr>
              <a:t>責任者・担当者</a:t>
            </a:r>
          </a:p>
        </p:txBody>
      </p:sp>
      <p:sp>
        <p:nvSpPr>
          <p:cNvPr id="6" name="Shape 6"/>
          <p:cNvSpPr/>
          <p:nvPr/>
        </p:nvSpPr>
        <p:spPr>
          <a:xfrm>
            <a:off x="3469538" y="1508760"/>
            <a:ext cx="2240280" cy="914400"/>
          </a:xfrm>
          <a:prstGeom prst="rect">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窓口担当</a:t>
            </a:r>
          </a:p>
          <a:p>
            <a:pPr algn="ctr" marL="0" indent="0">
              <a:spcBef>
                <a:spcPts val="0"/>
              </a:spcBef>
              <a:buNone/>
            </a:pPr>
            <a:r>
              <a:rPr lang="en-US" sz="1400" b="0">
                <a:solidFill>
                  <a:srgbClr val="DDE5F2"/>
                </a:solidFill>
                <a:latin typeface="Arial"/>
                <a:ea typeface="Arial"/>
                <a:cs typeface="Arial"/>
              </a:rPr>
              <a:t>各チームのメンバー</a:t>
            </a:r>
          </a:p>
        </p:txBody>
      </p:sp>
      <p:sp>
        <p:nvSpPr>
          <p:cNvPr id="7" name="Shape 7"/>
          <p:cNvSpPr/>
          <p:nvPr/>
        </p:nvSpPr>
        <p:spPr>
          <a:xfrm>
            <a:off x="6481877" y="1508760"/>
            <a:ext cx="2240280" cy="914400"/>
          </a:xfrm>
          <a:prstGeom prst="rect">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事務局</a:t>
            </a:r>
          </a:p>
          <a:p>
            <a:pPr algn="ctr" marL="0" indent="0">
              <a:spcBef>
                <a:spcPts val="0"/>
              </a:spcBef>
              <a:buNone/>
            </a:pPr>
            <a:r>
              <a:rPr lang="en-US" sz="1400" b="0">
                <a:solidFill>
                  <a:srgbClr val="DDE5F2"/>
                </a:solidFill>
                <a:latin typeface="Arial"/>
                <a:ea typeface="Arial"/>
                <a:cs typeface="Arial"/>
              </a:rPr>
              <a:t>全体の取りまとめ</a:t>
            </a:r>
          </a:p>
        </p:txBody>
      </p:sp>
      <p:sp>
        <p:nvSpPr>
          <p:cNvPr id="8" name="Shape 8"/>
          <p:cNvSpPr/>
          <p:nvPr/>
        </p:nvSpPr>
        <p:spPr>
          <a:xfrm>
            <a:off x="9494215" y="1508760"/>
            <a:ext cx="2240280" cy="914400"/>
          </a:xfrm>
          <a:prstGeom prst="rect">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IT部門長</a:t>
            </a:r>
          </a:p>
          <a:p>
            <a:pPr algn="ctr" marL="0" indent="0">
              <a:spcBef>
                <a:spcPts val="0"/>
              </a:spcBef>
              <a:buNone/>
            </a:pPr>
            <a:r>
              <a:rPr lang="en-US" sz="1400" b="0">
                <a:solidFill>
                  <a:srgbClr val="DDE5F2"/>
                </a:solidFill>
                <a:latin typeface="Arial"/>
                <a:ea typeface="Arial"/>
                <a:cs typeface="Arial"/>
              </a:rPr>
              <a:t>承認・判断</a:t>
            </a:r>
          </a:p>
        </p:txBody>
      </p:sp>
      <p:cxnSp>
        <p:nvCxnSpPr>
          <p:cNvPr id="9" name="Arrow 9"/>
          <p:cNvCxnSpPr/>
          <p:nvPr/>
        </p:nvCxnSpPr>
        <p:spPr>
          <a:xfrm>
            <a:off x="2770632" y="1965960"/>
            <a:ext cx="625754" cy="0"/>
          </a:xfrm>
          <a:prstGeom prst="straightConnector1">
            <a:avLst/>
          </a:prstGeom>
          <a:ln w="15875">
            <a:solidFill>
              <a:srgbClr val="5E7391"/>
            </a:solidFill>
            <a:headEnd type="triangle"/>
            <a:tailEnd type="triangle"/>
          </a:ln>
        </p:spPr>
      </p:cxnSp>
      <p:sp>
        <p:nvSpPr>
          <p:cNvPr id="10" name="Shape 10"/>
          <p:cNvSpPr txBox="1"/>
          <p:nvPr/>
        </p:nvSpPr>
        <p:spPr>
          <a:xfrm>
            <a:off x="1965960" y="2532888"/>
            <a:ext cx="2235098" cy="502920"/>
          </a:xfrm>
          <a:prstGeom prst="rect">
            <a:avLst/>
          </a:prstGeom>
          <a:noFill/>
          <a:ln>
            <a:noFill/>
          </a:ln>
        </p:spPr>
        <p:txBody>
          <a:bodyPr wrap="square" lIns="0" tIns="0" rIns="0" bIns="0" anchor="t" rtlCol="0">
            <a:noAutofit/>
          </a:bodyPr>
          <a:lstStyle/>
          <a:p>
            <a:pPr algn="ctr" marL="0" indent="0">
              <a:spcBef>
                <a:spcPts val="0"/>
              </a:spcBef>
              <a:buNone/>
            </a:pPr>
            <a:r>
              <a:rPr lang="en-US" sz="1100" b="0">
                <a:solidFill>
                  <a:srgbClr val="5E7391"/>
                </a:solidFill>
                <a:latin typeface="Arial"/>
                <a:ea typeface="Arial"/>
                <a:cs typeface="Arial"/>
              </a:rPr>
              <a:t>ヒアリング・内容の確認</a:t>
            </a:r>
          </a:p>
          <a:p>
            <a:pPr algn="ctr" marL="0" indent="0">
              <a:spcBef>
                <a:spcPts val="0"/>
              </a:spcBef>
              <a:buNone/>
            </a:pPr>
            <a:r>
              <a:rPr lang="en-US" sz="1100" b="0">
                <a:solidFill>
                  <a:srgbClr val="5E7391"/>
                </a:solidFill>
                <a:latin typeface="Arial"/>
                <a:ea typeface="Arial"/>
                <a:cs typeface="Arial"/>
              </a:rPr>
              <a:t>合意文書の承認の依頼</a:t>
            </a:r>
          </a:p>
        </p:txBody>
      </p:sp>
      <p:cxnSp>
        <p:nvCxnSpPr>
          <p:cNvPr id="11" name="Arrow 11"/>
          <p:cNvCxnSpPr/>
          <p:nvPr/>
        </p:nvCxnSpPr>
        <p:spPr>
          <a:xfrm>
            <a:off x="5782970" y="1965960"/>
            <a:ext cx="625754" cy="0"/>
          </a:xfrm>
          <a:prstGeom prst="straightConnector1">
            <a:avLst/>
          </a:prstGeom>
          <a:ln w="15875">
            <a:solidFill>
              <a:srgbClr val="5E7391"/>
            </a:solidFill>
            <a:headEnd type="triangle"/>
            <a:tailEnd type="triangle"/>
          </a:ln>
        </p:spPr>
      </p:cxnSp>
      <p:sp>
        <p:nvSpPr>
          <p:cNvPr id="12" name="Shape 12"/>
          <p:cNvSpPr txBox="1"/>
          <p:nvPr/>
        </p:nvSpPr>
        <p:spPr>
          <a:xfrm>
            <a:off x="4978298" y="2532888"/>
            <a:ext cx="2235098" cy="502920"/>
          </a:xfrm>
          <a:prstGeom prst="rect">
            <a:avLst/>
          </a:prstGeom>
          <a:noFill/>
          <a:ln>
            <a:noFill/>
          </a:ln>
        </p:spPr>
        <p:txBody>
          <a:bodyPr wrap="square" lIns="0" tIns="0" rIns="0" bIns="0" anchor="t" rtlCol="0">
            <a:noAutofit/>
          </a:bodyPr>
          <a:lstStyle/>
          <a:p>
            <a:pPr algn="ctr" marL="0" indent="0">
              <a:spcBef>
                <a:spcPts val="0"/>
              </a:spcBef>
              <a:buNone/>
            </a:pPr>
            <a:r>
              <a:rPr lang="en-US" sz="1100" b="0">
                <a:solidFill>
                  <a:srgbClr val="5E7391"/>
                </a:solidFill>
                <a:latin typeface="Arial"/>
                <a:ea typeface="Arial"/>
                <a:cs typeface="Arial"/>
              </a:rPr>
              <a:t>移管ステータスの更新</a:t>
            </a:r>
          </a:p>
          <a:p>
            <a:pPr algn="ctr" marL="0" indent="0">
              <a:spcBef>
                <a:spcPts val="0"/>
              </a:spcBef>
              <a:buNone/>
            </a:pPr>
            <a:r>
              <a:rPr lang="en-US" sz="1100" b="0">
                <a:solidFill>
                  <a:srgbClr val="5E7391"/>
                </a:solidFill>
                <a:latin typeface="Arial"/>
                <a:ea typeface="Arial"/>
                <a:cs typeface="Arial"/>
              </a:rPr>
              <a:t>期限の相談</a:t>
            </a:r>
          </a:p>
        </p:txBody>
      </p:sp>
      <p:cxnSp>
        <p:nvCxnSpPr>
          <p:cNvPr id="13" name="Arrow 13"/>
          <p:cNvCxnSpPr/>
          <p:nvPr/>
        </p:nvCxnSpPr>
        <p:spPr>
          <a:xfrm>
            <a:off x="8795309" y="1965960"/>
            <a:ext cx="625754" cy="0"/>
          </a:xfrm>
          <a:prstGeom prst="straightConnector1">
            <a:avLst/>
          </a:prstGeom>
          <a:ln w="15875">
            <a:solidFill>
              <a:srgbClr val="5E7391"/>
            </a:solidFill>
            <a:headEnd type="triangle"/>
            <a:tailEnd type="triangle"/>
          </a:ln>
        </p:spPr>
      </p:cxnSp>
      <p:sp>
        <p:nvSpPr>
          <p:cNvPr id="14" name="Shape 14"/>
          <p:cNvSpPr txBox="1"/>
          <p:nvPr/>
        </p:nvSpPr>
        <p:spPr>
          <a:xfrm>
            <a:off x="7990637" y="2532888"/>
            <a:ext cx="2235098" cy="502920"/>
          </a:xfrm>
          <a:prstGeom prst="rect">
            <a:avLst/>
          </a:prstGeom>
          <a:noFill/>
          <a:ln>
            <a:noFill/>
          </a:ln>
        </p:spPr>
        <p:txBody>
          <a:bodyPr wrap="square" lIns="0" tIns="0" rIns="0" bIns="0" anchor="t" rtlCol="0">
            <a:noAutofit/>
          </a:bodyPr>
          <a:lstStyle/>
          <a:p>
            <a:pPr algn="ctr" marL="0" indent="0">
              <a:spcBef>
                <a:spcPts val="0"/>
              </a:spcBef>
              <a:buNone/>
            </a:pPr>
            <a:r>
              <a:rPr lang="en-US" sz="1100" b="0">
                <a:solidFill>
                  <a:srgbClr val="5E7391"/>
                </a:solidFill>
                <a:latin typeface="Arial"/>
                <a:ea typeface="Arial"/>
                <a:cs typeface="Arial"/>
              </a:rPr>
              <a:t>依頼・相談</a:t>
            </a:r>
          </a:p>
          <a:p>
            <a:pPr algn="ctr" marL="0" indent="0">
              <a:spcBef>
                <a:spcPts val="0"/>
              </a:spcBef>
              <a:buNone/>
            </a:pPr>
            <a:r>
              <a:rPr lang="en-US" sz="1100" b="0">
                <a:solidFill>
                  <a:srgbClr val="5E7391"/>
                </a:solidFill>
                <a:latin typeface="Arial"/>
                <a:ea typeface="Arial"/>
                <a:cs typeface="Arial"/>
              </a:rPr>
              <a:t>移管の稟議</a:t>
            </a:r>
          </a:p>
        </p:txBody>
      </p:sp>
      <p:sp>
        <p:nvSpPr>
          <p:cNvPr id="15" name="Shape 15"/>
          <p:cNvSpPr/>
          <p:nvPr/>
        </p:nvSpPr>
        <p:spPr>
          <a:xfrm>
            <a:off x="457200" y="3246120"/>
            <a:ext cx="2377440" cy="384048"/>
          </a:xfrm>
          <a:prstGeom prst="rect">
            <a:avLst/>
          </a:prstGeom>
          <a:solidFill>
            <a:srgbClr val="1C2B45"/>
          </a:solidFill>
          <a:ln>
            <a:noFill/>
          </a:ln>
        </p:spPr>
        <p:txBody>
          <a:bodyPr wrap="square" lIns="109728" tIns="109728" rIns="109728" bIns="109728" anchor="ctr" rtlCol="0">
            <a:noAutofit/>
          </a:bodyPr>
          <a:lstStyle/>
          <a:p>
            <a:pPr algn="l" marL="0" indent="0">
              <a:spcBef>
                <a:spcPts val="0"/>
              </a:spcBef>
              <a:buNone/>
            </a:pPr>
            <a:r>
              <a:rPr lang="en-US" sz="1200" b="1">
                <a:solidFill>
                  <a:srgbClr val="FFFFFF"/>
                </a:solidFill>
                <a:latin typeface="Arial"/>
                <a:ea typeface="Arial"/>
                <a:cs typeface="Arial"/>
              </a:rPr>
              <a:t>情報</a:t>
            </a:r>
          </a:p>
        </p:txBody>
      </p:sp>
      <p:sp>
        <p:nvSpPr>
          <p:cNvPr id="16" name="Shape 16"/>
          <p:cNvSpPr/>
          <p:nvPr/>
        </p:nvSpPr>
        <p:spPr>
          <a:xfrm>
            <a:off x="2834640" y="3246120"/>
            <a:ext cx="3840480" cy="384048"/>
          </a:xfrm>
          <a:prstGeom prst="rect">
            <a:avLst/>
          </a:prstGeom>
          <a:solidFill>
            <a:srgbClr val="1C2B45"/>
          </a:solidFill>
          <a:ln>
            <a:noFill/>
          </a:ln>
        </p:spPr>
        <p:txBody>
          <a:bodyPr wrap="square" lIns="109728" tIns="109728" rIns="109728" bIns="109728" anchor="ctr" rtlCol="0">
            <a:noAutofit/>
          </a:bodyPr>
          <a:lstStyle/>
          <a:p>
            <a:pPr algn="l" marL="0" indent="0">
              <a:spcBef>
                <a:spcPts val="0"/>
              </a:spcBef>
              <a:buNone/>
            </a:pPr>
            <a:r>
              <a:rPr lang="en-US" sz="1200" b="1">
                <a:solidFill>
                  <a:srgbClr val="FFFFFF"/>
                </a:solidFill>
                <a:latin typeface="Arial"/>
                <a:ea typeface="Arial"/>
                <a:cs typeface="Arial"/>
              </a:rPr>
              <a:t>置き場所・手段</a:t>
            </a:r>
          </a:p>
        </p:txBody>
      </p:sp>
      <p:sp>
        <p:nvSpPr>
          <p:cNvPr id="17" name="Shape 17"/>
          <p:cNvSpPr/>
          <p:nvPr/>
        </p:nvSpPr>
        <p:spPr>
          <a:xfrm>
            <a:off x="6675120" y="3246120"/>
            <a:ext cx="5059375" cy="384048"/>
          </a:xfrm>
          <a:prstGeom prst="rect">
            <a:avLst/>
          </a:prstGeom>
          <a:solidFill>
            <a:srgbClr val="1C2B45"/>
          </a:solidFill>
          <a:ln>
            <a:noFill/>
          </a:ln>
        </p:spPr>
        <p:txBody>
          <a:bodyPr wrap="square" lIns="109728" tIns="109728" rIns="109728" bIns="109728" anchor="ctr" rtlCol="0">
            <a:noAutofit/>
          </a:bodyPr>
          <a:lstStyle/>
          <a:p>
            <a:pPr algn="l" marL="0" indent="0">
              <a:spcBef>
                <a:spcPts val="0"/>
              </a:spcBef>
              <a:buNone/>
            </a:pPr>
            <a:r>
              <a:rPr lang="en-US" sz="1200" b="1">
                <a:solidFill>
                  <a:srgbClr val="FFFFFF"/>
                </a:solidFill>
                <a:latin typeface="Arial"/>
                <a:ea typeface="Arial"/>
                <a:cs typeface="Arial"/>
              </a:rPr>
              <a:t>更新と確認</a:t>
            </a:r>
          </a:p>
        </p:txBody>
      </p:sp>
      <p:sp>
        <p:nvSpPr>
          <p:cNvPr id="18" name="Shape 18"/>
          <p:cNvSpPr/>
          <p:nvPr/>
        </p:nvSpPr>
        <p:spPr>
          <a:xfrm>
            <a:off x="457200" y="3630168"/>
            <a:ext cx="2377440" cy="548640"/>
          </a:xfrm>
          <a:prstGeom prst="rect">
            <a:avLst/>
          </a:prstGeom>
          <a:solidFill>
            <a:srgbClr val="F4F6F9"/>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1">
                <a:solidFill>
                  <a:srgbClr val="1C2B45"/>
                </a:solidFill>
                <a:latin typeface="Arial"/>
                <a:ea typeface="Arial"/>
                <a:cs typeface="Arial"/>
              </a:rPr>
              <a:t>進捗・移管ステータス</a:t>
            </a:r>
          </a:p>
        </p:txBody>
      </p:sp>
      <p:sp>
        <p:nvSpPr>
          <p:cNvPr id="19" name="Shape 19"/>
          <p:cNvSpPr/>
          <p:nvPr/>
        </p:nvSpPr>
        <p:spPr>
          <a:xfrm>
            <a:off x="2834640" y="3630168"/>
            <a:ext cx="3840480"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予算移管シート（予算一覧・進捗）</a:t>
            </a:r>
          </a:p>
        </p:txBody>
      </p:sp>
      <p:sp>
        <p:nvSpPr>
          <p:cNvPr id="20" name="Shape 20"/>
          <p:cNvSpPr/>
          <p:nvPr/>
        </p:nvSpPr>
        <p:spPr>
          <a:xfrm>
            <a:off x="6675120" y="3630168"/>
            <a:ext cx="5059375"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窓口担当が随時更新し、事務局が毎日確認する</a:t>
            </a:r>
          </a:p>
        </p:txBody>
      </p:sp>
      <p:sp>
        <p:nvSpPr>
          <p:cNvPr id="21" name="Shape 21"/>
          <p:cNvSpPr/>
          <p:nvPr/>
        </p:nvSpPr>
        <p:spPr>
          <a:xfrm>
            <a:off x="457200" y="4178808"/>
            <a:ext cx="2377440" cy="548640"/>
          </a:xfrm>
          <a:prstGeom prst="rect">
            <a:avLst/>
          </a:prstGeom>
          <a:solidFill>
            <a:srgbClr val="F4F6F9"/>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1">
                <a:solidFill>
                  <a:srgbClr val="1C2B45"/>
                </a:solidFill>
                <a:latin typeface="Arial"/>
                <a:ea typeface="Arial"/>
                <a:cs typeface="Arial"/>
              </a:rPr>
              <a:t>部門とのやり取りの記録</a:t>
            </a:r>
          </a:p>
        </p:txBody>
      </p:sp>
      <p:sp>
        <p:nvSpPr>
          <p:cNvPr id="22" name="Shape 22"/>
          <p:cNvSpPr/>
          <p:nvPr/>
        </p:nvSpPr>
        <p:spPr>
          <a:xfrm>
            <a:off x="2834640" y="4178808"/>
            <a:ext cx="3840480"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双方が編集できる SharePoint フォルダ</a:t>
            </a:r>
          </a:p>
        </p:txBody>
      </p:sp>
      <p:sp>
        <p:nvSpPr>
          <p:cNvPr id="23" name="Shape 23"/>
          <p:cNvSpPr/>
          <p:nvPr/>
        </p:nvSpPr>
        <p:spPr>
          <a:xfrm>
            <a:off x="6675120" y="4178808"/>
            <a:ext cx="5059375"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ヒアリングの記録、受け取った資料、承認された合意文書を置く</a:t>
            </a:r>
          </a:p>
        </p:txBody>
      </p:sp>
      <p:sp>
        <p:nvSpPr>
          <p:cNvPr id="24" name="Shape 24"/>
          <p:cNvSpPr/>
          <p:nvPr/>
        </p:nvSpPr>
        <p:spPr>
          <a:xfrm>
            <a:off x="457200" y="4727448"/>
            <a:ext cx="2377440" cy="548640"/>
          </a:xfrm>
          <a:prstGeom prst="rect">
            <a:avLst/>
          </a:prstGeom>
          <a:solidFill>
            <a:srgbClr val="F4F6F9"/>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1">
                <a:solidFill>
                  <a:srgbClr val="1C2B45"/>
                </a:solidFill>
                <a:latin typeface="Arial"/>
                <a:ea typeface="Arial"/>
                <a:cs typeface="Arial"/>
              </a:rPr>
              <a:t>決まったこと</a:t>
            </a:r>
          </a:p>
        </p:txBody>
      </p:sp>
      <p:sp>
        <p:nvSpPr>
          <p:cNvPr id="25" name="Shape 25"/>
          <p:cNvSpPr/>
          <p:nvPr/>
        </p:nvSpPr>
        <p:spPr>
          <a:xfrm>
            <a:off x="2834640" y="4727448"/>
            <a:ext cx="3840480"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決定記録（BTR-F-15）</a:t>
            </a:r>
          </a:p>
        </p:txBody>
      </p:sp>
      <p:sp>
        <p:nvSpPr>
          <p:cNvPr id="26" name="Shape 26"/>
          <p:cNvSpPr/>
          <p:nvPr/>
        </p:nvSpPr>
        <p:spPr>
          <a:xfrm>
            <a:off x="6675120" y="4727448"/>
            <a:ext cx="5059375"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決定事項・保留課題と、承認された合意文書を登録する</a:t>
            </a:r>
          </a:p>
        </p:txBody>
      </p:sp>
      <p:sp>
        <p:nvSpPr>
          <p:cNvPr id="27" name="Shape 27"/>
          <p:cNvSpPr/>
          <p:nvPr/>
        </p:nvSpPr>
        <p:spPr>
          <a:xfrm>
            <a:off x="457200" y="5276088"/>
            <a:ext cx="2377440" cy="548640"/>
          </a:xfrm>
          <a:prstGeom prst="rect">
            <a:avLst/>
          </a:prstGeom>
          <a:solidFill>
            <a:srgbClr val="F4F6F9"/>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1">
                <a:solidFill>
                  <a:srgbClr val="1C2B45"/>
                </a:solidFill>
                <a:latin typeface="Arial"/>
                <a:ea typeface="Arial"/>
                <a:cs typeface="Arial"/>
              </a:rPr>
              <a:t>手順とルール</a:t>
            </a:r>
          </a:p>
        </p:txBody>
      </p:sp>
      <p:sp>
        <p:nvSpPr>
          <p:cNvPr id="28" name="Shape 28"/>
          <p:cNvSpPr/>
          <p:nvPr/>
        </p:nvSpPr>
        <p:spPr>
          <a:xfrm>
            <a:off x="2834640" y="5276088"/>
            <a:ext cx="3840480"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手順書・用語集など</a:t>
            </a:r>
          </a:p>
        </p:txBody>
      </p:sp>
      <p:sp>
        <p:nvSpPr>
          <p:cNvPr id="29" name="Shape 29"/>
          <p:cNvSpPr/>
          <p:nvPr/>
        </p:nvSpPr>
        <p:spPr>
          <a:xfrm>
            <a:off x="6675120" y="5276088"/>
            <a:ext cx="5059375" cy="548640"/>
          </a:xfrm>
          <a:prstGeom prst="rect">
            <a:avLst/>
          </a:prstGeom>
          <a:solidFill>
            <a:srgbClr val="FFFFFF"/>
          </a:solidFill>
          <a:ln w="9525">
            <a:solidFill>
              <a:srgbClr val="C9D0DA"/>
            </a:solidFill>
          </a:ln>
        </p:spPr>
        <p:txBody>
          <a:bodyPr wrap="square" lIns="109728" tIns="109728" rIns="109728" bIns="109728" anchor="ctr" rtlCol="0">
            <a:noAutofit/>
          </a:bodyPr>
          <a:lstStyle/>
          <a:p>
            <a:pPr algn="l" marL="0" indent="0">
              <a:spcBef>
                <a:spcPts val="0"/>
              </a:spcBef>
              <a:buNone/>
            </a:pPr>
            <a:r>
              <a:rPr lang="en-US" sz="1300" b="0">
                <a:solidFill>
                  <a:srgbClr val="222B38"/>
                </a:solidFill>
                <a:latin typeface="Arial"/>
                <a:ea typeface="Arial"/>
                <a:cs typeface="Arial"/>
              </a:rPr>
              <a:t>迷ったら手順書を見る。決まらないことは事務局に相談する</a:t>
            </a:r>
          </a:p>
        </p:txBody>
      </p:sp>
      <p:sp>
        <p:nvSpPr>
          <p:cNvPr id="30"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Q&amp;A：コミュニケーション</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部門との窓口は普段の窓口担当に一本化し、記録は決まった場所に残す</a:t>
            </a:r>
          </a:p>
        </p:txBody>
      </p:sp>
      <p:sp>
        <p:nvSpPr>
          <p:cNvPr id="5" name="Shape 5"/>
          <p:cNvSpPr/>
          <p:nvPr/>
        </p:nvSpPr>
        <p:spPr>
          <a:xfrm>
            <a:off x="457200"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6" name="Shape 6"/>
          <p:cNvSpPr/>
          <p:nvPr/>
        </p:nvSpPr>
        <p:spPr>
          <a:xfrm>
            <a:off x="685800"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7" name="Shape 7"/>
          <p:cNvSpPr txBox="1"/>
          <p:nvPr/>
        </p:nvSpPr>
        <p:spPr>
          <a:xfrm>
            <a:off x="1280160"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部門から、事務局に直接問い合わせが来たら</a:t>
            </a:r>
          </a:p>
        </p:txBody>
      </p:sp>
      <p:sp>
        <p:nvSpPr>
          <p:cNvPr id="8" name="Shape 8"/>
          <p:cNvSpPr txBox="1"/>
          <p:nvPr/>
        </p:nvSpPr>
        <p:spPr>
          <a:xfrm>
            <a:off x="685800"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9" name="Shape 9"/>
          <p:cNvSpPr txBox="1"/>
          <p:nvPr/>
        </p:nvSpPr>
        <p:spPr>
          <a:xfrm>
            <a:off x="1280160"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事務局が受けて、その案件の窓口担当につなぐ</a:t>
            </a:r>
          </a:p>
          <a:p>
            <a:pPr algn="l" marL="0" indent="0">
              <a:spcBef>
                <a:spcPts val="300"/>
              </a:spcBef>
              <a:buNone/>
            </a:pPr>
            <a:r>
              <a:rPr lang="en-US" sz="1400" b="0">
                <a:solidFill>
                  <a:srgbClr val="222B38"/>
                </a:solidFill>
                <a:latin typeface="Arial"/>
                <a:ea typeface="Arial"/>
                <a:cs typeface="Arial"/>
              </a:rPr>
              <a:t>部門とのやり取りは、普段の窓口担当に一本化する</a:t>
            </a:r>
          </a:p>
        </p:txBody>
      </p:sp>
      <p:sp>
        <p:nvSpPr>
          <p:cNvPr id="10" name="Shape 10"/>
          <p:cNvSpPr/>
          <p:nvPr/>
        </p:nvSpPr>
        <p:spPr>
          <a:xfrm>
            <a:off x="6210148" y="141732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p:nvPr/>
        </p:nvSpPr>
        <p:spPr>
          <a:xfrm>
            <a:off x="6438748" y="164592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2" name="Shape 12"/>
          <p:cNvSpPr txBox="1"/>
          <p:nvPr/>
        </p:nvSpPr>
        <p:spPr>
          <a:xfrm>
            <a:off x="7033108" y="161848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部門の担当者と合意した内容は、どこに残すか</a:t>
            </a:r>
          </a:p>
        </p:txBody>
      </p:sp>
      <p:sp>
        <p:nvSpPr>
          <p:cNvPr id="13" name="Shape 13"/>
          <p:cNvSpPr txBox="1"/>
          <p:nvPr/>
        </p:nvSpPr>
        <p:spPr>
          <a:xfrm>
            <a:off x="6438748" y="233172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4" name="Shape 14"/>
          <p:cNvSpPr txBox="1"/>
          <p:nvPr/>
        </p:nvSpPr>
        <p:spPr>
          <a:xfrm>
            <a:off x="7033108" y="233172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承認された合意文書を、双方が編集できる SharePoint フォルダに保存し、決定記録に登録する</a:t>
            </a:r>
          </a:p>
          <a:p>
            <a:pPr algn="l" marL="0" indent="0">
              <a:spcBef>
                <a:spcPts val="300"/>
              </a:spcBef>
              <a:buNone/>
            </a:pPr>
            <a:r>
              <a:rPr lang="en-US" sz="1400" b="0">
                <a:solidFill>
                  <a:srgbClr val="222B38"/>
                </a:solidFill>
                <a:latin typeface="Arial"/>
                <a:ea typeface="Arial"/>
                <a:cs typeface="Arial"/>
              </a:rPr>
              <a:t>口頭やメールだけの合意で終わらせない</a:t>
            </a:r>
          </a:p>
        </p:txBody>
      </p:sp>
      <p:sp>
        <p:nvSpPr>
          <p:cNvPr id="15" name="Shape 15"/>
          <p:cNvSpPr/>
          <p:nvPr/>
        </p:nvSpPr>
        <p:spPr>
          <a:xfrm>
            <a:off x="457200"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16" name="Shape 16"/>
          <p:cNvSpPr/>
          <p:nvPr/>
        </p:nvSpPr>
        <p:spPr>
          <a:xfrm>
            <a:off x="685800"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17" name="Shape 17"/>
          <p:cNvSpPr txBox="1"/>
          <p:nvPr/>
        </p:nvSpPr>
        <p:spPr>
          <a:xfrm>
            <a:off x="1280160"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進捗は、どのように報告すればよいか</a:t>
            </a:r>
          </a:p>
        </p:txBody>
      </p:sp>
      <p:sp>
        <p:nvSpPr>
          <p:cNvPr id="18" name="Shape 18"/>
          <p:cNvSpPr txBox="1"/>
          <p:nvPr/>
        </p:nvSpPr>
        <p:spPr>
          <a:xfrm>
            <a:off x="685800"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19" name="Shape 19"/>
          <p:cNvSpPr txBox="1"/>
          <p:nvPr/>
        </p:nvSpPr>
        <p:spPr>
          <a:xfrm>
            <a:off x="1280160"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報告書は作らない。予算移管シートの移管ステータスと「進捗」シートを更新すれば、事務局が毎日確認する</a:t>
            </a:r>
          </a:p>
        </p:txBody>
      </p:sp>
      <p:sp>
        <p:nvSpPr>
          <p:cNvPr id="20" name="Shape 20"/>
          <p:cNvSpPr/>
          <p:nvPr/>
        </p:nvSpPr>
        <p:spPr>
          <a:xfrm>
            <a:off x="6210148" y="3954780"/>
            <a:ext cx="5524348" cy="2308860"/>
          </a:xfrm>
          <a:prstGeom prst="rect">
            <a:avLst/>
          </a:prstGeom>
          <a:solidFill>
            <a:srgbClr val="F4F6F9"/>
          </a:solidFill>
          <a:ln>
            <a:noFill/>
          </a:ln>
        </p:spPr>
        <p:txBody>
          <a:bodyPr wrap="square" lIns="0" tIns="0" rIns="0" bIns="0" anchor="t" rtlCol="0">
            <a:noAutofit/>
          </a:bodyPr>
          <a:lstStyle/>
          <a:p>
            <a:endParaRPr lang="ja-JP"/>
          </a:p>
        </p:txBody>
      </p:sp>
      <p:sp>
        <p:nvSpPr>
          <p:cNvPr id="21" name="Shape 21"/>
          <p:cNvSpPr/>
          <p:nvPr/>
        </p:nvSpPr>
        <p:spPr>
          <a:xfrm>
            <a:off x="6438748" y="4183380"/>
            <a:ext cx="420624" cy="420624"/>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1400" b="1">
                <a:solidFill>
                  <a:srgbClr val="FFFFFF"/>
                </a:solidFill>
                <a:latin typeface="Arial"/>
                <a:ea typeface="Arial"/>
                <a:cs typeface="Arial"/>
              </a:rPr>
              <a:t>Q</a:t>
            </a:r>
          </a:p>
        </p:txBody>
      </p:sp>
      <p:sp>
        <p:nvSpPr>
          <p:cNvPr id="22" name="Shape 22"/>
          <p:cNvSpPr txBox="1"/>
          <p:nvPr/>
        </p:nvSpPr>
        <p:spPr>
          <a:xfrm>
            <a:off x="7033108" y="4155948"/>
            <a:ext cx="4472788" cy="566928"/>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IT部門長に相談したいことがあるときは</a:t>
            </a:r>
          </a:p>
        </p:txBody>
      </p:sp>
      <p:sp>
        <p:nvSpPr>
          <p:cNvPr id="23" name="Shape 23"/>
          <p:cNvSpPr txBox="1"/>
          <p:nvPr/>
        </p:nvSpPr>
        <p:spPr>
          <a:xfrm>
            <a:off x="6438748" y="4869180"/>
            <a:ext cx="420624" cy="365760"/>
          </a:xfrm>
          <a:prstGeom prst="rect">
            <a:avLst/>
          </a:prstGeom>
          <a:noFill/>
          <a:ln>
            <a:noFill/>
          </a:ln>
        </p:spPr>
        <p:txBody>
          <a:bodyPr wrap="square" lIns="0" tIns="0" rIns="0" bIns="0" anchor="t" rtlCol="0">
            <a:noAutofit/>
          </a:bodyPr>
          <a:lstStyle/>
          <a:p>
            <a:pPr algn="ctr" marL="0" indent="0">
              <a:spcBef>
                <a:spcPts val="0"/>
              </a:spcBef>
              <a:buNone/>
            </a:pPr>
            <a:r>
              <a:rPr lang="en-US" sz="1400" b="1">
                <a:solidFill>
                  <a:srgbClr val="5E7391"/>
                </a:solidFill>
                <a:latin typeface="Arial"/>
                <a:ea typeface="Arial"/>
                <a:cs typeface="Arial"/>
              </a:rPr>
              <a:t>A</a:t>
            </a:r>
          </a:p>
        </p:txBody>
      </p:sp>
      <p:sp>
        <p:nvSpPr>
          <p:cNvPr id="24" name="Shape 24"/>
          <p:cNvSpPr txBox="1"/>
          <p:nvPr/>
        </p:nvSpPr>
        <p:spPr>
          <a:xfrm>
            <a:off x="7033108" y="4869180"/>
            <a:ext cx="4472788" cy="1257300"/>
          </a:xfrm>
          <a:prstGeom prst="rect">
            <a:avLst/>
          </a:prstGeom>
          <a:noFill/>
          <a:ln>
            <a:noFill/>
          </a:ln>
        </p:spPr>
        <p:txBody>
          <a:bodyPr wrap="square" lIns="0" tIns="0" rIns="0" bIns="0" anchor="t" rtlCol="0">
            <a:noAutofit/>
          </a:bodyPr>
          <a:lstStyle/>
          <a:p>
            <a:pPr algn="l" marL="0" indent="0">
              <a:spcBef>
                <a:spcPts val="300"/>
              </a:spcBef>
              <a:buNone/>
            </a:pPr>
            <a:r>
              <a:rPr lang="en-US" sz="1400" b="0">
                <a:solidFill>
                  <a:srgbClr val="222B38"/>
                </a:solidFill>
                <a:latin typeface="Arial"/>
                <a:ea typeface="Arial"/>
                <a:cs typeface="Arial"/>
              </a:rPr>
              <a:t>事務局に伝える。IT部門長への依頼と相談は事務局が行う</a:t>
            </a:r>
          </a:p>
          <a:p>
            <a:pPr algn="l" marL="0" indent="0">
              <a:spcBef>
                <a:spcPts val="300"/>
              </a:spcBef>
              <a:buNone/>
            </a:pPr>
            <a:r>
              <a:rPr lang="en-US" sz="1400" b="0">
                <a:solidFill>
                  <a:srgbClr val="222B38"/>
                </a:solidFill>
                <a:latin typeface="Arial"/>
                <a:ea typeface="Arial"/>
                <a:cs typeface="Arial"/>
              </a:rPr>
              <a:t>決まったことは決定記録に登録し、全員が同じ内容を見られるようにする</a:t>
            </a:r>
          </a:p>
        </p:txBody>
      </p:sp>
      <p:sp>
        <p:nvSpPr>
          <p:cNvPr id="25"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連絡先と情報共有チャネル</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まず窓口担当、全体のことは予算移管事務局へ</a:t>
            </a:r>
          </a:p>
        </p:txBody>
      </p:sp>
      <p:sp>
        <p:nvSpPr>
          <p:cNvPr id="5" name="Shape 5"/>
          <p:cNvSpPr txBox="1"/>
          <p:nvPr/>
        </p:nvSpPr>
        <p:spPr>
          <a:xfrm>
            <a:off x="457200" y="1417320"/>
            <a:ext cx="5501488" cy="384048"/>
          </a:xfrm>
          <a:prstGeom prst="rect">
            <a:avLst/>
          </a:prstGeom>
          <a:noFill/>
          <a:ln>
            <a:noFill/>
          </a:ln>
        </p:spPr>
        <p:txBody>
          <a:bodyPr wrap="square" lIns="0" tIns="0" rIns="0" bIns="0" anchor="ctr" rtlCol="0">
            <a:noAutofit/>
          </a:bodyPr>
          <a:lstStyle/>
          <a:p>
            <a:pPr algn="l" marL="0" indent="0">
              <a:spcBef>
                <a:spcPts val="0"/>
              </a:spcBef>
              <a:buNone/>
            </a:pPr>
            <a:r>
              <a:rPr lang="en-US" sz="1500" b="1">
                <a:solidFill>
                  <a:srgbClr val="1C2B45"/>
                </a:solidFill>
                <a:latin typeface="Arial"/>
                <a:ea typeface="Arial"/>
                <a:cs typeface="Arial"/>
              </a:rPr>
              <a:t>連絡先</a:t>
            </a:r>
          </a:p>
        </p:txBody>
      </p:sp>
      <p:sp>
        <p:nvSpPr>
          <p:cNvPr id="6" name="Shape 6"/>
          <p:cNvSpPr txBox="1"/>
          <p:nvPr/>
        </p:nvSpPr>
        <p:spPr>
          <a:xfrm>
            <a:off x="6233008" y="1417320"/>
            <a:ext cx="5501488" cy="384048"/>
          </a:xfrm>
          <a:prstGeom prst="rect">
            <a:avLst/>
          </a:prstGeom>
          <a:noFill/>
          <a:ln>
            <a:noFill/>
          </a:ln>
        </p:spPr>
        <p:txBody>
          <a:bodyPr wrap="square" lIns="0" tIns="0" rIns="0" bIns="0" anchor="ctr" rtlCol="0">
            <a:noAutofit/>
          </a:bodyPr>
          <a:lstStyle/>
          <a:p>
            <a:pPr algn="l" marL="0" indent="0">
              <a:spcBef>
                <a:spcPts val="0"/>
              </a:spcBef>
              <a:buNone/>
            </a:pPr>
            <a:r>
              <a:rPr lang="en-US" sz="1500" b="1">
                <a:solidFill>
                  <a:srgbClr val="1C2B45"/>
                </a:solidFill>
                <a:latin typeface="Arial"/>
                <a:ea typeface="Arial"/>
                <a:cs typeface="Arial"/>
              </a:rPr>
              <a:t>情報共有チャネル</a:t>
            </a:r>
          </a:p>
        </p:txBody>
      </p:sp>
      <p:sp>
        <p:nvSpPr>
          <p:cNvPr id="7" name="Shape 7"/>
          <p:cNvSpPr/>
          <p:nvPr/>
        </p:nvSpPr>
        <p:spPr>
          <a:xfrm>
            <a:off x="457200" y="1920240"/>
            <a:ext cx="5501488" cy="1298448"/>
          </a:xfrm>
          <a:prstGeom prst="rect">
            <a:avLst/>
          </a:prstGeom>
          <a:solidFill>
            <a:srgbClr val="F4F6F9"/>
          </a:solidFill>
          <a:ln>
            <a:noFill/>
          </a:ln>
        </p:spPr>
        <p:txBody>
          <a:bodyPr wrap="square" lIns="0" tIns="0" rIns="0" bIns="0" anchor="t" rtlCol="0">
            <a:noAutofit/>
          </a:bodyPr>
          <a:lstStyle/>
          <a:p>
            <a:endParaRPr lang="ja-JP"/>
          </a:p>
        </p:txBody>
      </p:sp>
      <p:sp>
        <p:nvSpPr>
          <p:cNvPr id="8" name="Shape 8"/>
          <p:cNvSpPr txBox="1"/>
          <p:nvPr/>
        </p:nvSpPr>
        <p:spPr>
          <a:xfrm>
            <a:off x="685800" y="2029968"/>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予算移管事務局</a:t>
            </a:r>
          </a:p>
        </p:txBody>
      </p:sp>
      <p:sp>
        <p:nvSpPr>
          <p:cNvPr id="9" name="Shape 9"/>
          <p:cNvSpPr txBox="1"/>
          <p:nvPr/>
        </p:nvSpPr>
        <p:spPr>
          <a:xfrm>
            <a:off x="685800" y="2377440"/>
            <a:ext cx="5044288" cy="749808"/>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全体の進め方、期限、IT部門長への相談</a:t>
            </a:r>
          </a:p>
          <a:p>
            <a:pPr algn="l" marL="0" indent="0">
              <a:spcBef>
                <a:spcPts val="200"/>
              </a:spcBef>
              <a:buNone/>
            </a:pPr>
            <a:r>
              <a:rPr lang="en-US" sz="1300" b="0">
                <a:solidFill>
                  <a:srgbClr val="222B38"/>
                </a:solidFill>
                <a:latin typeface="Arial"/>
                <a:ea typeface="Arial"/>
                <a:cs typeface="Arial"/>
              </a:rPr>
              <a:t>［氏名・メールアドレスを記入］</a:t>
            </a:r>
          </a:p>
        </p:txBody>
      </p:sp>
      <p:sp>
        <p:nvSpPr>
          <p:cNvPr id="10" name="Shape 10"/>
          <p:cNvSpPr/>
          <p:nvPr/>
        </p:nvSpPr>
        <p:spPr>
          <a:xfrm>
            <a:off x="457200" y="3355848"/>
            <a:ext cx="5501488" cy="1298448"/>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txBox="1"/>
          <p:nvPr/>
        </p:nvSpPr>
        <p:spPr>
          <a:xfrm>
            <a:off x="685800" y="3465576"/>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窓口担当</a:t>
            </a:r>
          </a:p>
        </p:txBody>
      </p:sp>
      <p:sp>
        <p:nvSpPr>
          <p:cNvPr id="12" name="Shape 12"/>
          <p:cNvSpPr txBox="1"/>
          <p:nvPr/>
        </p:nvSpPr>
        <p:spPr>
          <a:xfrm>
            <a:off x="685800" y="3813048"/>
            <a:ext cx="5044288" cy="749808"/>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案件ごとの窓口</a:t>
            </a:r>
          </a:p>
          <a:p>
            <a:pPr algn="l" marL="0" indent="0">
              <a:spcBef>
                <a:spcPts val="200"/>
              </a:spcBef>
              <a:buNone/>
            </a:pPr>
            <a:r>
              <a:rPr lang="en-US" sz="1300" b="0">
                <a:solidFill>
                  <a:srgbClr val="222B38"/>
                </a:solidFill>
                <a:latin typeface="Arial"/>
                <a:ea typeface="Arial"/>
                <a:cs typeface="Arial"/>
              </a:rPr>
              <a:t>予算移管シート「予算一覧」の担当者の列で確かめる</a:t>
            </a:r>
          </a:p>
        </p:txBody>
      </p:sp>
      <p:sp>
        <p:nvSpPr>
          <p:cNvPr id="13" name="Shape 13"/>
          <p:cNvSpPr/>
          <p:nvPr/>
        </p:nvSpPr>
        <p:spPr>
          <a:xfrm>
            <a:off x="457200" y="4791456"/>
            <a:ext cx="5501488" cy="1298448"/>
          </a:xfrm>
          <a:prstGeom prst="rect">
            <a:avLst/>
          </a:prstGeom>
          <a:solidFill>
            <a:srgbClr val="F4F6F9"/>
          </a:solidFill>
          <a:ln>
            <a:noFill/>
          </a:ln>
        </p:spPr>
        <p:txBody>
          <a:bodyPr wrap="square" lIns="0" tIns="0" rIns="0" bIns="0" anchor="t" rtlCol="0">
            <a:noAutofit/>
          </a:bodyPr>
          <a:lstStyle/>
          <a:p>
            <a:endParaRPr lang="ja-JP"/>
          </a:p>
        </p:txBody>
      </p:sp>
      <p:sp>
        <p:nvSpPr>
          <p:cNvPr id="14" name="Shape 14"/>
          <p:cNvSpPr txBox="1"/>
          <p:nvPr/>
        </p:nvSpPr>
        <p:spPr>
          <a:xfrm>
            <a:off x="685800" y="4901184"/>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移管対象部門の責任者・担当者</a:t>
            </a:r>
          </a:p>
        </p:txBody>
      </p:sp>
      <p:sp>
        <p:nvSpPr>
          <p:cNvPr id="15" name="Shape 15"/>
          <p:cNvSpPr txBox="1"/>
          <p:nvPr/>
        </p:nvSpPr>
        <p:spPr>
          <a:xfrm>
            <a:off x="685800" y="5248656"/>
            <a:ext cx="5044288" cy="749808"/>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承認の依頼先・問い合わせ先</a:t>
            </a:r>
          </a:p>
          <a:p>
            <a:pPr algn="l" marL="0" indent="0">
              <a:spcBef>
                <a:spcPts val="200"/>
              </a:spcBef>
              <a:buNone/>
            </a:pPr>
            <a:r>
              <a:rPr lang="en-US" sz="1300" b="0">
                <a:solidFill>
                  <a:srgbClr val="222B38"/>
                </a:solidFill>
                <a:latin typeface="Arial"/>
                <a:ea typeface="Arial"/>
                <a:cs typeface="Arial"/>
              </a:rPr>
              <a:t>予算移管シート「窓口」シートで確かめる</a:t>
            </a:r>
          </a:p>
        </p:txBody>
      </p:sp>
      <p:sp>
        <p:nvSpPr>
          <p:cNvPr id="16" name="Shape 16"/>
          <p:cNvSpPr/>
          <p:nvPr/>
        </p:nvSpPr>
        <p:spPr>
          <a:xfrm>
            <a:off x="6233008" y="1920240"/>
            <a:ext cx="5501488" cy="941832"/>
          </a:xfrm>
          <a:prstGeom prst="rect">
            <a:avLst/>
          </a:prstGeom>
          <a:solidFill>
            <a:srgbClr val="F4F6F9"/>
          </a:solidFill>
          <a:ln>
            <a:noFill/>
          </a:ln>
        </p:spPr>
        <p:txBody>
          <a:bodyPr wrap="square" lIns="0" tIns="0" rIns="0" bIns="0" anchor="t" rtlCol="0">
            <a:noAutofit/>
          </a:bodyPr>
          <a:lstStyle/>
          <a:p>
            <a:endParaRPr lang="ja-JP"/>
          </a:p>
        </p:txBody>
      </p:sp>
      <p:sp>
        <p:nvSpPr>
          <p:cNvPr id="17" name="Shape 17"/>
          <p:cNvSpPr txBox="1"/>
          <p:nvPr/>
        </p:nvSpPr>
        <p:spPr>
          <a:xfrm>
            <a:off x="6461608" y="2029968"/>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質問・相談のチャネル</a:t>
            </a:r>
          </a:p>
        </p:txBody>
      </p:sp>
      <p:sp>
        <p:nvSpPr>
          <p:cNvPr id="18" name="Shape 18"/>
          <p:cNvSpPr txBox="1"/>
          <p:nvPr/>
        </p:nvSpPr>
        <p:spPr>
          <a:xfrm>
            <a:off x="6461608" y="2377440"/>
            <a:ext cx="5044288" cy="393192"/>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気づいたこと、迷ったことを共有する</a:t>
            </a:r>
          </a:p>
          <a:p>
            <a:pPr algn="l" marL="0" indent="0">
              <a:spcBef>
                <a:spcPts val="200"/>
              </a:spcBef>
              <a:buNone/>
            </a:pPr>
            <a:r>
              <a:rPr lang="en-US" sz="1300" b="0">
                <a:solidFill>
                  <a:srgbClr val="222B38"/>
                </a:solidFill>
                <a:latin typeface="Arial"/>
                <a:ea typeface="Arial"/>
                <a:cs typeface="Arial"/>
              </a:rPr>
              <a:t>［Teams のチャネル名などを記入］</a:t>
            </a:r>
          </a:p>
        </p:txBody>
      </p:sp>
      <p:sp>
        <p:nvSpPr>
          <p:cNvPr id="19" name="Shape 19"/>
          <p:cNvSpPr/>
          <p:nvPr/>
        </p:nvSpPr>
        <p:spPr>
          <a:xfrm>
            <a:off x="6233008" y="2999232"/>
            <a:ext cx="5501488" cy="941832"/>
          </a:xfrm>
          <a:prstGeom prst="rect">
            <a:avLst/>
          </a:prstGeom>
          <a:solidFill>
            <a:srgbClr val="F4F6F9"/>
          </a:solidFill>
          <a:ln>
            <a:noFill/>
          </a:ln>
        </p:spPr>
        <p:txBody>
          <a:bodyPr wrap="square" lIns="0" tIns="0" rIns="0" bIns="0" anchor="t" rtlCol="0">
            <a:noAutofit/>
          </a:bodyPr>
          <a:lstStyle/>
          <a:p>
            <a:endParaRPr lang="ja-JP"/>
          </a:p>
        </p:txBody>
      </p:sp>
      <p:sp>
        <p:nvSpPr>
          <p:cNvPr id="20" name="Shape 20"/>
          <p:cNvSpPr txBox="1"/>
          <p:nvPr/>
        </p:nvSpPr>
        <p:spPr>
          <a:xfrm>
            <a:off x="6461608" y="3108960"/>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予算移管シート</a:t>
            </a:r>
          </a:p>
        </p:txBody>
      </p:sp>
      <p:sp>
        <p:nvSpPr>
          <p:cNvPr id="21" name="Shape 21"/>
          <p:cNvSpPr txBox="1"/>
          <p:nvPr/>
        </p:nvSpPr>
        <p:spPr>
          <a:xfrm>
            <a:off x="6461608" y="3456432"/>
            <a:ext cx="5044288" cy="393192"/>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進捗と移管ステータス</a:t>
            </a:r>
          </a:p>
          <a:p>
            <a:pPr algn="l" marL="0" indent="0">
              <a:spcBef>
                <a:spcPts val="200"/>
              </a:spcBef>
              <a:buNone/>
            </a:pPr>
            <a:r>
              <a:rPr lang="en-US" sz="1300" b="0">
                <a:solidFill>
                  <a:srgbClr val="222B38"/>
                </a:solidFill>
                <a:latin typeface="Arial"/>
                <a:ea typeface="Arial"/>
                <a:cs typeface="Arial"/>
              </a:rPr>
              <a:t>窓口担当が随時更新、事務局が毎日確認</a:t>
            </a:r>
          </a:p>
        </p:txBody>
      </p:sp>
      <p:sp>
        <p:nvSpPr>
          <p:cNvPr id="22" name="Shape 22"/>
          <p:cNvSpPr/>
          <p:nvPr/>
        </p:nvSpPr>
        <p:spPr>
          <a:xfrm>
            <a:off x="6233008" y="4078224"/>
            <a:ext cx="5501488" cy="941832"/>
          </a:xfrm>
          <a:prstGeom prst="rect">
            <a:avLst/>
          </a:prstGeom>
          <a:solidFill>
            <a:srgbClr val="F4F6F9"/>
          </a:solidFill>
          <a:ln>
            <a:noFill/>
          </a:ln>
        </p:spPr>
        <p:txBody>
          <a:bodyPr wrap="square" lIns="0" tIns="0" rIns="0" bIns="0" anchor="t" rtlCol="0">
            <a:noAutofit/>
          </a:bodyPr>
          <a:lstStyle/>
          <a:p>
            <a:endParaRPr lang="ja-JP"/>
          </a:p>
        </p:txBody>
      </p:sp>
      <p:sp>
        <p:nvSpPr>
          <p:cNvPr id="23" name="Shape 23"/>
          <p:cNvSpPr txBox="1"/>
          <p:nvPr/>
        </p:nvSpPr>
        <p:spPr>
          <a:xfrm>
            <a:off x="6461608" y="4187952"/>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SharePoint フォルダ（案内済み）</a:t>
            </a:r>
          </a:p>
        </p:txBody>
      </p:sp>
      <p:sp>
        <p:nvSpPr>
          <p:cNvPr id="24" name="Shape 24"/>
          <p:cNvSpPr txBox="1"/>
          <p:nvPr/>
        </p:nvSpPr>
        <p:spPr>
          <a:xfrm>
            <a:off x="6461608" y="4535424"/>
            <a:ext cx="5044288" cy="393192"/>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ヒアリングの記録・資料・合意文書</a:t>
            </a:r>
          </a:p>
          <a:p>
            <a:pPr algn="l" marL="0" indent="0">
              <a:spcBef>
                <a:spcPts val="200"/>
              </a:spcBef>
              <a:buNone/>
            </a:pPr>
            <a:r>
              <a:rPr lang="en-US" sz="1300" b="0">
                <a:solidFill>
                  <a:srgbClr val="222B38"/>
                </a:solidFill>
                <a:latin typeface="Arial"/>
                <a:ea typeface="Arial"/>
                <a:cs typeface="Arial"/>
              </a:rPr>
              <a:t>事業部門と IT部門の双方が編集できる</a:t>
            </a:r>
          </a:p>
        </p:txBody>
      </p:sp>
      <p:sp>
        <p:nvSpPr>
          <p:cNvPr id="25" name="Shape 25"/>
          <p:cNvSpPr/>
          <p:nvPr/>
        </p:nvSpPr>
        <p:spPr>
          <a:xfrm>
            <a:off x="6233008" y="5157216"/>
            <a:ext cx="5501488" cy="941832"/>
          </a:xfrm>
          <a:prstGeom prst="rect">
            <a:avLst/>
          </a:prstGeom>
          <a:solidFill>
            <a:srgbClr val="F4F6F9"/>
          </a:solidFill>
          <a:ln>
            <a:noFill/>
          </a:ln>
        </p:spPr>
        <p:txBody>
          <a:bodyPr wrap="square" lIns="0" tIns="0" rIns="0" bIns="0" anchor="t" rtlCol="0">
            <a:noAutofit/>
          </a:bodyPr>
          <a:lstStyle/>
          <a:p>
            <a:endParaRPr lang="ja-JP"/>
          </a:p>
        </p:txBody>
      </p:sp>
      <p:sp>
        <p:nvSpPr>
          <p:cNvPr id="26" name="Shape 26"/>
          <p:cNvSpPr txBox="1"/>
          <p:nvPr/>
        </p:nvSpPr>
        <p:spPr>
          <a:xfrm>
            <a:off x="6461608" y="5266944"/>
            <a:ext cx="5044288" cy="329184"/>
          </a:xfrm>
          <a:prstGeom prst="rect">
            <a:avLst/>
          </a:prstGeom>
          <a:noFill/>
          <a:ln>
            <a:noFill/>
          </a:ln>
        </p:spPr>
        <p:txBody>
          <a:bodyPr wrap="square" lIns="0" tIns="0" rIns="0" bIns="0" anchor="ctr" rtlCol="0">
            <a:noAutofit/>
          </a:bodyPr>
          <a:lstStyle/>
          <a:p>
            <a:pPr algn="l" marL="0" indent="0">
              <a:spcBef>
                <a:spcPts val="0"/>
              </a:spcBef>
              <a:buNone/>
            </a:pPr>
            <a:r>
              <a:rPr lang="en-US" sz="1400" b="1">
                <a:solidFill>
                  <a:srgbClr val="1C2B45"/>
                </a:solidFill>
                <a:latin typeface="Arial"/>
                <a:ea typeface="Arial"/>
                <a:cs typeface="Arial"/>
              </a:rPr>
              <a:t>手順書・決定記録</a:t>
            </a:r>
          </a:p>
        </p:txBody>
      </p:sp>
      <p:sp>
        <p:nvSpPr>
          <p:cNvPr id="27" name="Shape 27"/>
          <p:cNvSpPr txBox="1"/>
          <p:nvPr/>
        </p:nvSpPr>
        <p:spPr>
          <a:xfrm>
            <a:off x="6461608" y="5614416"/>
            <a:ext cx="5044288" cy="393192"/>
          </a:xfrm>
          <a:prstGeom prst="rect">
            <a:avLst/>
          </a:prstGeom>
          <a:noFill/>
          <a:ln>
            <a:noFill/>
          </a:ln>
        </p:spPr>
        <p:txBody>
          <a:bodyPr wrap="square" lIns="0" tIns="0" rIns="0" bIns="0" anchor="t" rtlCol="0">
            <a:noAutofit/>
          </a:bodyPr>
          <a:lstStyle/>
          <a:p>
            <a:pPr algn="l" marL="0" indent="0">
              <a:spcBef>
                <a:spcPts val="200"/>
              </a:spcBef>
              <a:buNone/>
            </a:pPr>
            <a:r>
              <a:rPr lang="en-US" sz="1300" b="0">
                <a:solidFill>
                  <a:srgbClr val="5E7391"/>
                </a:solidFill>
                <a:latin typeface="Arial"/>
                <a:ea typeface="Arial"/>
                <a:cs typeface="Arial"/>
              </a:rPr>
              <a:t>手順、ルール、決まったこと</a:t>
            </a:r>
          </a:p>
          <a:p>
            <a:pPr algn="l" marL="0" indent="0">
              <a:spcBef>
                <a:spcPts val="200"/>
              </a:spcBef>
              <a:buNone/>
            </a:pPr>
            <a:r>
              <a:rPr lang="en-US" sz="1300" b="0">
                <a:solidFill>
                  <a:srgbClr val="222B38"/>
                </a:solidFill>
                <a:latin typeface="Arial"/>
                <a:ea typeface="Arial"/>
                <a:cs typeface="Arial"/>
              </a:rPr>
              <a:t>手順書、用語集、決定記録（BTR-F-15）</a:t>
            </a:r>
          </a:p>
        </p:txBody>
      </p:sp>
      <p:sp>
        <p:nvSpPr>
          <p:cNvPr id="28"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457200" y="274320"/>
            <a:ext cx="11274552" cy="594360"/>
          </a:xfrm>
          <a:prstGeom prst="rect">
            <a:avLst/>
          </a:prstGeom>
          <a:noFill/>
          <a:ln>
            <a:noFill/>
          </a:ln>
        </p:spPr>
        <p:txBody>
          <a:bodyPr anchor="ctr" lIns="0" tIns="0" rIns="0" bIns="0" wrap="square">
            <a:noAutofit/>
          </a:bodyPr>
          <a:lstStyle/>
          <a:p>
            <a:pPr algn="l" marL="0" indent="0">
              <a:buNone/>
            </a:pPr>
            <a:r>
              <a:rPr lang="en-US" sz="2600" b="1">
                <a:solidFill>
                  <a:srgbClr val="1C2B45"/>
                </a:solidFill>
                <a:latin typeface="Arial"/>
                <a:ea typeface="Arial"/>
                <a:cs typeface="Arial"/>
              </a:rPr>
              <a:t>本書で扱うこと</a:t>
            </a:r>
          </a:p>
        </p:txBody>
      </p:sp>
      <p:sp>
        <p:nvSpPr>
          <p:cNvPr id="4" name="Shape 4"/>
          <p:cNvSpPr txBox="1"/>
          <p:nvPr/>
        </p:nvSpPr>
        <p:spPr>
          <a:xfrm>
            <a:off x="457200" y="896112"/>
            <a:ext cx="11274552" cy="329184"/>
          </a:xfrm>
          <a:prstGeom prst="rect">
            <a:avLst/>
          </a:prstGeom>
          <a:noFill/>
          <a:ln>
            <a:noFill/>
          </a:ln>
        </p:spPr>
        <p:txBody>
          <a:bodyPr wrap="square" lIns="0" tIns="0" rIns="0" bIns="0" anchor="ctr" rtlCol="0">
            <a:noAutofit/>
          </a:bodyPr>
          <a:lstStyle/>
          <a:p>
            <a:pPr algn="l" marL="0" indent="0">
              <a:spcBef>
                <a:spcPts val="0"/>
              </a:spcBef>
              <a:buNone/>
            </a:pPr>
            <a:r>
              <a:rPr lang="en-US" sz="1300" b="1">
                <a:solidFill>
                  <a:srgbClr val="1C2B45"/>
                </a:solidFill>
                <a:latin typeface="Arial"/>
                <a:ea typeface="Arial"/>
                <a:cs typeface="Arial"/>
              </a:rPr>
              <a:t>本書は、予算移管を進めるうえで各チームが押さえる3つのことを扱う</a:t>
            </a:r>
          </a:p>
        </p:txBody>
      </p:sp>
      <p:sp>
        <p:nvSpPr>
          <p:cNvPr id="5" name="Shape 5"/>
          <p:cNvSpPr/>
          <p:nvPr/>
        </p:nvSpPr>
        <p:spPr>
          <a:xfrm>
            <a:off x="457200" y="1600200"/>
            <a:ext cx="11277295" cy="1188720"/>
          </a:xfrm>
          <a:prstGeom prst="rect">
            <a:avLst/>
          </a:prstGeom>
          <a:solidFill>
            <a:srgbClr val="F4F6F9"/>
          </a:solidFill>
          <a:ln>
            <a:noFill/>
          </a:ln>
        </p:spPr>
        <p:txBody>
          <a:bodyPr wrap="square" lIns="0" tIns="0" rIns="0" bIns="0" anchor="t" rtlCol="0">
            <a:noAutofit/>
          </a:bodyPr>
          <a:lstStyle/>
          <a:p>
            <a:endParaRPr lang="ja-JP"/>
          </a:p>
        </p:txBody>
      </p:sp>
      <p:sp>
        <p:nvSpPr>
          <p:cNvPr id="6" name="Shape 6"/>
          <p:cNvSpPr/>
          <p:nvPr/>
        </p:nvSpPr>
        <p:spPr>
          <a:xfrm>
            <a:off x="777240" y="1828800"/>
            <a:ext cx="731520" cy="731520"/>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1</a:t>
            </a:r>
          </a:p>
        </p:txBody>
      </p:sp>
      <p:sp>
        <p:nvSpPr>
          <p:cNvPr id="7" name="Shape 7"/>
          <p:cNvSpPr txBox="1"/>
          <p:nvPr/>
        </p:nvSpPr>
        <p:spPr>
          <a:xfrm>
            <a:off x="1828800" y="1755648"/>
            <a:ext cx="8138160"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1C2B45"/>
                </a:solidFill>
                <a:latin typeface="Arial"/>
                <a:ea typeface="Arial"/>
                <a:cs typeface="Arial"/>
              </a:rPr>
              <a:t>今期の目標と達成状態を理解する</a:t>
            </a:r>
          </a:p>
        </p:txBody>
      </p:sp>
      <p:sp>
        <p:nvSpPr>
          <p:cNvPr id="8" name="Shape 8"/>
          <p:cNvSpPr txBox="1"/>
          <p:nvPr/>
        </p:nvSpPr>
        <p:spPr>
          <a:xfrm>
            <a:off x="1828800" y="2313432"/>
            <a:ext cx="8138160"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222B38"/>
                </a:solidFill>
                <a:latin typeface="Arial"/>
                <a:ea typeface="Arial"/>
                <a:cs typeface="Arial"/>
              </a:rPr>
              <a:t>12月末までに移管の稟議が承認されている状態と、そこに至る進め方</a:t>
            </a:r>
          </a:p>
        </p:txBody>
      </p:sp>
      <p:sp>
        <p:nvSpPr>
          <p:cNvPr id="9" name="Shape 9"/>
          <p:cNvSpPr/>
          <p:nvPr/>
        </p:nvSpPr>
        <p:spPr>
          <a:xfrm>
            <a:off x="10058400" y="1965960"/>
            <a:ext cx="1417320" cy="457200"/>
          </a:xfrm>
          <a:prstGeom prst="rect">
            <a:avLst/>
          </a:prstGeom>
          <a:solidFill>
            <a:srgbClr val="FFFFFF"/>
          </a:solidFill>
          <a:ln w="9525">
            <a:solidFill>
              <a:srgbClr val="C9D0DA"/>
            </a:solidFill>
          </a:ln>
        </p:spPr>
        <p:txBody>
          <a:bodyPr wrap="square" lIns="0" tIns="0" rIns="0" bIns="0" anchor="ctr" rtlCol="0">
            <a:noAutofit/>
          </a:bodyPr>
          <a:lstStyle/>
          <a:p>
            <a:pPr algn="ctr" marL="0" indent="0">
              <a:spcBef>
                <a:spcPts val="0"/>
              </a:spcBef>
              <a:buNone/>
            </a:pPr>
            <a:r>
              <a:rPr lang="en-US" sz="1400" b="1">
                <a:solidFill>
                  <a:srgbClr val="1C2B45"/>
                </a:solidFill>
                <a:latin typeface="Arial"/>
                <a:ea typeface="Arial"/>
                <a:cs typeface="Arial"/>
              </a:rPr>
              <a:t>第1章</a:t>
            </a:r>
          </a:p>
        </p:txBody>
      </p:sp>
      <p:sp>
        <p:nvSpPr>
          <p:cNvPr id="10" name="Shape 10"/>
          <p:cNvSpPr/>
          <p:nvPr/>
        </p:nvSpPr>
        <p:spPr>
          <a:xfrm>
            <a:off x="457200" y="3017520"/>
            <a:ext cx="11277295" cy="1188720"/>
          </a:xfrm>
          <a:prstGeom prst="rect">
            <a:avLst/>
          </a:prstGeom>
          <a:solidFill>
            <a:srgbClr val="F4F6F9"/>
          </a:solidFill>
          <a:ln>
            <a:noFill/>
          </a:ln>
        </p:spPr>
        <p:txBody>
          <a:bodyPr wrap="square" lIns="0" tIns="0" rIns="0" bIns="0" anchor="t" rtlCol="0">
            <a:noAutofit/>
          </a:bodyPr>
          <a:lstStyle/>
          <a:p>
            <a:endParaRPr lang="ja-JP"/>
          </a:p>
        </p:txBody>
      </p:sp>
      <p:sp>
        <p:nvSpPr>
          <p:cNvPr id="11" name="Shape 11"/>
          <p:cNvSpPr/>
          <p:nvPr/>
        </p:nvSpPr>
        <p:spPr>
          <a:xfrm>
            <a:off x="777240" y="3246120"/>
            <a:ext cx="731520" cy="731520"/>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2</a:t>
            </a:r>
          </a:p>
        </p:txBody>
      </p:sp>
      <p:sp>
        <p:nvSpPr>
          <p:cNvPr id="12" name="Shape 12"/>
          <p:cNvSpPr txBox="1"/>
          <p:nvPr/>
        </p:nvSpPr>
        <p:spPr>
          <a:xfrm>
            <a:off x="1828800" y="3172968"/>
            <a:ext cx="8138160"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1C2B45"/>
                </a:solidFill>
                <a:latin typeface="Arial"/>
                <a:ea typeface="Arial"/>
                <a:cs typeface="Arial"/>
              </a:rPr>
              <a:t>移管後の役割の変更</a:t>
            </a:r>
          </a:p>
        </p:txBody>
      </p:sp>
      <p:sp>
        <p:nvSpPr>
          <p:cNvPr id="13" name="Shape 13"/>
          <p:cNvSpPr txBox="1"/>
          <p:nvPr/>
        </p:nvSpPr>
        <p:spPr>
          <a:xfrm>
            <a:off x="1828800" y="3730752"/>
            <a:ext cx="8138160"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222B38"/>
                </a:solidFill>
                <a:latin typeface="Arial"/>
                <a:ea typeface="Arial"/>
                <a:cs typeface="Arial"/>
              </a:rPr>
              <a:t>直接業務・IT関連業務・間接業務の分担と、RACI による役割の合意</a:t>
            </a:r>
          </a:p>
        </p:txBody>
      </p:sp>
      <p:sp>
        <p:nvSpPr>
          <p:cNvPr id="14" name="Shape 14"/>
          <p:cNvSpPr/>
          <p:nvPr/>
        </p:nvSpPr>
        <p:spPr>
          <a:xfrm>
            <a:off x="10058400" y="3383280"/>
            <a:ext cx="1417320" cy="457200"/>
          </a:xfrm>
          <a:prstGeom prst="rect">
            <a:avLst/>
          </a:prstGeom>
          <a:solidFill>
            <a:srgbClr val="FFFFFF"/>
          </a:solidFill>
          <a:ln w="9525">
            <a:solidFill>
              <a:srgbClr val="C9D0DA"/>
            </a:solidFill>
          </a:ln>
        </p:spPr>
        <p:txBody>
          <a:bodyPr wrap="square" lIns="0" tIns="0" rIns="0" bIns="0" anchor="ctr" rtlCol="0">
            <a:noAutofit/>
          </a:bodyPr>
          <a:lstStyle/>
          <a:p>
            <a:pPr algn="ctr" marL="0" indent="0">
              <a:spcBef>
                <a:spcPts val="0"/>
              </a:spcBef>
              <a:buNone/>
            </a:pPr>
            <a:r>
              <a:rPr lang="en-US" sz="1400" b="1">
                <a:solidFill>
                  <a:srgbClr val="1C2B45"/>
                </a:solidFill>
                <a:latin typeface="Arial"/>
                <a:ea typeface="Arial"/>
                <a:cs typeface="Arial"/>
              </a:rPr>
              <a:t>第2章</a:t>
            </a:r>
          </a:p>
        </p:txBody>
      </p:sp>
      <p:sp>
        <p:nvSpPr>
          <p:cNvPr id="15" name="Shape 15"/>
          <p:cNvSpPr/>
          <p:nvPr/>
        </p:nvSpPr>
        <p:spPr>
          <a:xfrm>
            <a:off x="457200" y="4434840"/>
            <a:ext cx="11277295" cy="1188720"/>
          </a:xfrm>
          <a:prstGeom prst="rect">
            <a:avLst/>
          </a:prstGeom>
          <a:solidFill>
            <a:srgbClr val="F4F6F9"/>
          </a:solidFill>
          <a:ln>
            <a:noFill/>
          </a:ln>
        </p:spPr>
        <p:txBody>
          <a:bodyPr wrap="square" lIns="0" tIns="0" rIns="0" bIns="0" anchor="t" rtlCol="0">
            <a:noAutofit/>
          </a:bodyPr>
          <a:lstStyle/>
          <a:p>
            <a:endParaRPr lang="ja-JP"/>
          </a:p>
        </p:txBody>
      </p:sp>
      <p:sp>
        <p:nvSpPr>
          <p:cNvPr id="16" name="Shape 16"/>
          <p:cNvSpPr/>
          <p:nvPr/>
        </p:nvSpPr>
        <p:spPr>
          <a:xfrm>
            <a:off x="777240" y="4663440"/>
            <a:ext cx="731520" cy="731520"/>
          </a:xfrm>
          <a:prstGeom prst="ellipse">
            <a:avLst/>
          </a:prstGeom>
          <a:solidFill>
            <a:srgbClr val="1C2B45"/>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3</a:t>
            </a:r>
          </a:p>
        </p:txBody>
      </p:sp>
      <p:sp>
        <p:nvSpPr>
          <p:cNvPr id="17" name="Shape 17"/>
          <p:cNvSpPr txBox="1"/>
          <p:nvPr/>
        </p:nvSpPr>
        <p:spPr>
          <a:xfrm>
            <a:off x="1828800" y="4590288"/>
            <a:ext cx="8138160"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1C2B45"/>
                </a:solidFill>
                <a:latin typeface="Arial"/>
                <a:ea typeface="Arial"/>
                <a:cs typeface="Arial"/>
              </a:rPr>
              <a:t>IT資産管理</a:t>
            </a:r>
          </a:p>
        </p:txBody>
      </p:sp>
      <p:sp>
        <p:nvSpPr>
          <p:cNvPr id="18" name="Shape 18"/>
          <p:cNvSpPr txBox="1"/>
          <p:nvPr/>
        </p:nvSpPr>
        <p:spPr>
          <a:xfrm>
            <a:off x="1828800" y="5148072"/>
            <a:ext cx="8138160"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222B38"/>
                </a:solidFill>
                <a:latin typeface="Arial"/>
                <a:ea typeface="Arial"/>
                <a:cs typeface="Arial"/>
              </a:rPr>
              <a:t>固定資産と償却費の持ち方（型A を標準とし、型B は個別に選ぶ）</a:t>
            </a:r>
          </a:p>
        </p:txBody>
      </p:sp>
      <p:sp>
        <p:nvSpPr>
          <p:cNvPr id="19" name="Shape 19"/>
          <p:cNvSpPr/>
          <p:nvPr/>
        </p:nvSpPr>
        <p:spPr>
          <a:xfrm>
            <a:off x="10058400" y="4800600"/>
            <a:ext cx="1417320" cy="457200"/>
          </a:xfrm>
          <a:prstGeom prst="rect">
            <a:avLst/>
          </a:prstGeom>
          <a:solidFill>
            <a:srgbClr val="FFFFFF"/>
          </a:solidFill>
          <a:ln w="9525">
            <a:solidFill>
              <a:srgbClr val="C9D0DA"/>
            </a:solidFill>
          </a:ln>
        </p:spPr>
        <p:txBody>
          <a:bodyPr wrap="square" lIns="0" tIns="0" rIns="0" bIns="0" anchor="ctr" rtlCol="0">
            <a:noAutofit/>
          </a:bodyPr>
          <a:lstStyle/>
          <a:p>
            <a:pPr algn="ctr" marL="0" indent="0">
              <a:spcBef>
                <a:spcPts val="0"/>
              </a:spcBef>
              <a:buNone/>
            </a:pPr>
            <a:r>
              <a:rPr lang="en-US" sz="1400" b="1">
                <a:solidFill>
                  <a:srgbClr val="1C2B45"/>
                </a:solidFill>
                <a:latin typeface="Arial"/>
                <a:ea typeface="Arial"/>
                <a:cs typeface="Arial"/>
              </a:rPr>
              <a:t>第3章</a:t>
            </a:r>
          </a:p>
        </p:txBody>
      </p:sp>
      <p:sp>
        <p:nvSpPr>
          <p:cNvPr id="20" name="Shape 20"/>
          <p:cNvSpPr txBox="1"/>
          <p:nvPr/>
        </p:nvSpPr>
        <p:spPr>
          <a:xfrm>
            <a:off x="457200" y="5897880"/>
            <a:ext cx="11277295" cy="365760"/>
          </a:xfrm>
          <a:prstGeom prst="rect">
            <a:avLst/>
          </a:prstGeom>
          <a:noFill/>
          <a:ln>
            <a:noFill/>
          </a:ln>
        </p:spPr>
        <p:txBody>
          <a:bodyPr wrap="square" lIns="0" tIns="0" rIns="0" bIns="0" anchor="ctr" rtlCol="0">
            <a:noAutofit/>
          </a:bodyPr>
          <a:lstStyle/>
          <a:p>
            <a:pPr algn="l" marL="0" indent="0">
              <a:spcBef>
                <a:spcPts val="0"/>
              </a:spcBef>
              <a:buNone/>
            </a:pPr>
            <a:r>
              <a:rPr lang="en-US" sz="1300" b="0">
                <a:solidFill>
                  <a:srgbClr val="5E7391"/>
                </a:solidFill>
                <a:latin typeface="Arial"/>
                <a:ea typeface="Arial"/>
                <a:cs typeface="Arial"/>
              </a:rPr>
              <a:t>第4章では、相談の流れと連絡先・情報共有の方法を示す</a:t>
            </a:r>
          </a:p>
        </p:txBody>
      </p:sp>
      <p:sp>
        <p:nvSpPr>
          <p:cNvPr id="21" name="Google Shape;45;p6"/>
          <p:cNvSpPr txBox="1"/>
          <p:nvPr>
            <p:ph idx="4294967295" type="sldNum"/>
          </p:nvPr>
        </p:nvSpPr>
        <p:spPr>
          <a:xfrm>
            <a:off x="11274552" y="644652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3"/>
                </a:solidFill>
                <a:latin typeface="Arial"/>
                <a:ea typeface="Arial"/>
                <a:cs typeface="Arial"/>
                <a:sym typeface="Arial"/>
              </a:rPr>
              <a:t>‹#›</a:t>
            </a:fld>
            <a:endParaRPr b="0" i="0" sz="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