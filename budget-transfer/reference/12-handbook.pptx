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45"/>
        </a:solidFill>
        <a:effectLst/>
      </p:bgPr>
    </p:bg>
    <p:spTree>
      <p:nvGrpSpPr>
        <p:cNvPr id="1" name=""/>
        <p:cNvGrpSpPr/>
        <p:nvPr/>
      </p:nvGrpSpPr>
      <p:grpSpPr/>
      <p:sp>
        <p:nvSpPr>
          <p:cNvPr id="2" name="TextBox 1"/>
          <p:cNvSpPr txBox="1"/>
          <p:nvPr/>
        </p:nvSpPr>
        <p:spPr>
          <a:xfrm>
            <a:off x="730799" y="2102400"/>
            <a:ext cx="10699200" cy="1281600"/>
          </a:xfrm>
          <a:prstGeom prst="rect">
            <a:avLst/>
          </a:prstGeom>
          <a:noFill/>
        </p:spPr>
        <p:txBody>
          <a:bodyPr wrap="square" lIns="0" rIns="0" tIns="0" bIns="0" anchor="b">
            <a:spAutoFit/>
          </a:bodyPr>
          <a:lstStyle/>
          <a:p>
            <a:r>
              <a:rPr sz="3800" b="1">
                <a:solidFill>
                  <a:srgbClr val="FFFFFF"/>
                </a:solidFill>
                <a:latin typeface="Yu Gothic"/>
                <a:ea typeface="Yu Gothic"/>
                <a:cs typeface="Yu Gothic"/>
              </a:rPr>
              <a:t>IT予算移管 移管対象部門ガイド</a:t>
            </a:r>
          </a:p>
        </p:txBody>
      </p:sp>
      <p:sp>
        <p:nvSpPr>
          <p:cNvPr id="3" name="TextBox 2"/>
          <p:cNvSpPr txBox="1"/>
          <p:nvPr/>
        </p:nvSpPr>
        <p:spPr>
          <a:xfrm>
            <a:off x="730799" y="3474000"/>
            <a:ext cx="10699200" cy="547200"/>
          </a:xfrm>
          <a:prstGeom prst="rect">
            <a:avLst/>
          </a:prstGeom>
          <a:noFill/>
        </p:spPr>
        <p:txBody>
          <a:bodyPr wrap="square" lIns="0" rIns="0" tIns="0" bIns="0" anchor="t">
            <a:spAutoFit/>
          </a:bodyPr>
          <a:lstStyle/>
          <a:p>
            <a:r>
              <a:rPr sz="1800" b="0">
                <a:solidFill>
                  <a:srgbClr val="CADCFC"/>
                </a:solidFill>
                <a:latin typeface="Yu Gothic"/>
                <a:ea typeface="Yu Gothic"/>
                <a:cs typeface="Yu Gothic"/>
              </a:rPr>
              <a:t>移管対象部門のための手引き（2027年度）</a:t>
            </a:r>
          </a:p>
        </p:txBody>
      </p:sp>
      <p:sp>
        <p:nvSpPr>
          <p:cNvPr id="4" name="TextBox 3"/>
          <p:cNvSpPr txBox="1"/>
          <p:nvPr/>
        </p:nvSpPr>
        <p:spPr>
          <a:xfrm>
            <a:off x="730799" y="5760000"/>
            <a:ext cx="10699200" cy="367200"/>
          </a:xfrm>
          <a:prstGeom prst="rect">
            <a:avLst/>
          </a:prstGeom>
          <a:noFill/>
        </p:spPr>
        <p:txBody>
          <a:bodyPr wrap="square" lIns="0" rIns="0" tIns="0" bIns="0" anchor="t">
            <a:spAutoFit/>
          </a:bodyPr>
          <a:lstStyle/>
          <a:p>
            <a:r>
              <a:rPr sz="1200" b="0">
                <a:solidFill>
                  <a:srgbClr val="CADCFC"/>
                </a:solidFill>
                <a:latin typeface="Yu Gothic"/>
                <a:ea typeface="Yu Gothic"/>
                <a:cs typeface="Yu Gothic"/>
              </a:rPr>
              <a:t>文書番号 BTR-F-12　｜　版 1.5　｜　所管 予算移管事務局　｜　承認者 IT部門長　｜　最終改訂日 2026-10-12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7200" y="320400"/>
            <a:ext cx="11062800" cy="640800"/>
          </a:xfrm>
          <a:prstGeom prst="rect">
            <a:avLst/>
          </a:prstGeom>
          <a:noFill/>
        </p:spPr>
        <p:txBody>
          <a:bodyPr wrap="square" lIns="0" rIns="0" tIns="0" bIns="0" anchor="ctr">
            <a:spAutoFit/>
          </a:bodyPr>
          <a:lstStyle/>
          <a:p>
            <a:r>
              <a:rPr sz="2600" b="1">
                <a:solidFill>
                  <a:srgbClr val="1C2B45"/>
                </a:solidFill>
                <a:latin typeface="Yu Gothic"/>
                <a:ea typeface="Yu Gothic"/>
                <a:cs typeface="Yu Gothic"/>
              </a:rPr>
              <a:t>このガイドについて</a:t>
            </a:r>
          </a:p>
        </p:txBody>
      </p:sp>
      <p:sp>
        <p:nvSpPr>
          <p:cNvPr id="3" name="TextBox 2"/>
          <p:cNvSpPr txBox="1"/>
          <p:nvPr/>
        </p:nvSpPr>
        <p:spPr>
          <a:xfrm>
            <a:off x="547200" y="6400800"/>
            <a:ext cx="8229600" cy="273600"/>
          </a:xfrm>
          <a:prstGeom prst="rect">
            <a:avLst/>
          </a:prstGeom>
          <a:noFill/>
        </p:spPr>
        <p:txBody>
          <a:bodyPr wrap="square" lIns="0" rIns="0" tIns="0" bIns="0" anchor="t">
            <a:spAutoFit/>
          </a:bodyPr>
          <a:lstStyle/>
          <a:p>
            <a:r>
              <a:rPr sz="900" b="0">
                <a:solidFill>
                  <a:srgbClr val="999999"/>
                </a:solidFill>
                <a:latin typeface="Yu Gothic"/>
                <a:ea typeface="Yu Gothic"/>
                <a:cs typeface="Yu Gothic"/>
              </a:rPr>
              <a:t>BTR-F-12　IT予算移管 移管対象部門ガイド</a:t>
            </a:r>
          </a:p>
        </p:txBody>
      </p:sp>
      <p:sp>
        <p:nvSpPr>
          <p:cNvPr id="4" name="TextBox 3"/>
          <p:cNvSpPr txBox="1"/>
          <p:nvPr/>
        </p:nvSpPr>
        <p:spPr>
          <a:xfrm>
            <a:off x="11156400" y="6400800"/>
            <a:ext cx="547200" cy="273600"/>
          </a:xfrm>
          <a:prstGeom prst="rect">
            <a:avLst/>
          </a:prstGeom>
          <a:noFill/>
        </p:spPr>
        <p:txBody>
          <a:bodyPr wrap="square" lIns="0" rIns="0" tIns="0" bIns="0" anchor="t">
            <a:spAutoFit/>
          </a:bodyPr>
          <a:lstStyle/>
          <a:p>
            <a:pPr algn="r"/>
            <a:r>
              <a:rPr sz="900" b="0">
                <a:solidFill>
                  <a:srgbClr val="999999"/>
                </a:solidFill>
                <a:latin typeface="Yu Gothic"/>
                <a:ea typeface="Yu Gothic"/>
                <a:cs typeface="Yu Gothic"/>
              </a:rPr>
              <a:t>2</a:t>
            </a:r>
          </a:p>
        </p:txBody>
      </p:sp>
      <p:graphicFrame>
        <p:nvGraphicFramePr>
          <p:cNvPr id="5" name="Table 4"/>
          <p:cNvGraphicFramePr>
            <a:graphicFrameLocks noGrp="1"/>
          </p:cNvGraphicFramePr>
          <p:nvPr/>
        </p:nvGraphicFramePr>
        <p:xfrm>
          <a:off x="547200" y="1188000"/>
          <a:ext cx="11062800" cy="2592000"/>
        </p:xfrm>
        <a:graphic>
          <a:graphicData uri="http://schemas.openxmlformats.org/drawingml/2006/table">
            <a:tbl>
              <a:tblPr firstRow="0" bandRow="0">
                <a:tableStyleId>{5940675A-B579-460E-94D1-54222C63F5DA}</a:tableStyleId>
              </a:tblPr>
              <a:tblGrid>
                <a:gridCol w="2880000"/>
                <a:gridCol w="8182800"/>
              </a:tblGrid>
              <a:tr h="324000">
                <a:tc>
                  <a:txBody>
                    <a:bodyPr wrap="square"/>
                    <a:lstStyle/>
                    <a:p>
                      <a:r>
                        <a:rPr sz="1300" b="1">
                          <a:solidFill>
                            <a:srgbClr val="FFFFFF"/>
                          </a:solidFill>
                          <a:latin typeface="Yu Gothic"/>
                          <a:ea typeface="Yu Gothic"/>
                          <a:cs typeface="Yu Gothic"/>
                        </a:rPr>
                        <a:t>項目</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300" b="1">
                          <a:solidFill>
                            <a:srgbClr val="FFFFFF"/>
                          </a:solidFill>
                          <a:latin typeface="Yu Gothic"/>
                          <a:ea typeface="Yu Gothic"/>
                          <a:cs typeface="Yu Gothic"/>
                        </a:rPr>
                        <a:t>内容</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r>
              <a:tr h="324000">
                <a:tc>
                  <a:txBody>
                    <a:bodyPr wrap="square"/>
                    <a:lstStyle/>
                    <a:p>
                      <a:r>
                        <a:rPr sz="1300" b="1">
                          <a:solidFill>
                            <a:srgbClr val="222B38"/>
                          </a:solidFill>
                          <a:latin typeface="Yu Gothic"/>
                          <a:ea typeface="Yu Gothic"/>
                          <a:cs typeface="Yu Gothic"/>
                        </a:rPr>
                        <a:t>対象者</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4F6F9"/>
                    </a:solidFill>
                  </a:tcPr>
                </a:tc>
                <a:tc>
                  <a:txBody>
                    <a:bodyPr wrap="square"/>
                    <a:lstStyle/>
                    <a:p>
                      <a:r>
                        <a:rPr sz="1300" b="0">
                          <a:solidFill>
                            <a:srgbClr val="222B38"/>
                          </a:solidFill>
                          <a:latin typeface="Yu Gothic"/>
                          <a:ea typeface="Yu Gothic"/>
                          <a:cs typeface="Yu Gothic"/>
                        </a:rPr>
                        <a:t>移管対象部門の責任者と担当者</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300" b="1">
                          <a:solidFill>
                            <a:srgbClr val="222B38"/>
                          </a:solidFill>
                          <a:latin typeface="Yu Gothic"/>
                          <a:ea typeface="Yu Gothic"/>
                          <a:cs typeface="Yu Gothic"/>
                        </a:rPr>
                        <a:t>このガイドでわかること</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4F6F9"/>
                    </a:solidFill>
                  </a:tcPr>
                </a:tc>
                <a:tc>
                  <a:txBody>
                    <a:bodyPr wrap="square"/>
                    <a:lstStyle/>
                    <a:p>
                      <a:r>
                        <a:rPr sz="1300" b="0">
                          <a:solidFill>
                            <a:srgbClr val="222B38"/>
                          </a:solidFill>
                          <a:latin typeface="Yu Gothic"/>
                          <a:ea typeface="Yu Gothic"/>
                          <a:cs typeface="Yu Gothic"/>
                        </a:rPr>
                        <a:t>移管するもの、全体の流れ、スケジュール、予算シートとヒアリングでお願いすること、移管の時期が決まったあとのこと</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300" b="1">
                          <a:solidFill>
                            <a:srgbClr val="222B38"/>
                          </a:solidFill>
                          <a:latin typeface="Yu Gothic"/>
                          <a:ea typeface="Yu Gothic"/>
                          <a:cs typeface="Yu Gothic"/>
                        </a:rPr>
                        <a:t>正式なルール（上位文書）</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4F6F9"/>
                    </a:solidFill>
                  </a:tcPr>
                </a:tc>
                <a:tc>
                  <a:txBody>
                    <a:bodyPr wrap="square"/>
                    <a:lstStyle/>
                    <a:p>
                      <a:r>
                        <a:rPr sz="1300" b="0">
                          <a:solidFill>
                            <a:srgbClr val="222B38"/>
                          </a:solidFill>
                          <a:latin typeface="Yu Gothic"/>
                          <a:ea typeface="Yu Gothic"/>
                          <a:cs typeface="Yu Gothic"/>
                        </a:rPr>
                        <a:t>IT予算移管 憲章（BTR-R-02）</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300" b="1">
                          <a:solidFill>
                            <a:srgbClr val="222B38"/>
                          </a:solidFill>
                          <a:latin typeface="Yu Gothic"/>
                          <a:ea typeface="Yu Gothic"/>
                          <a:cs typeface="Yu Gothic"/>
                        </a:rPr>
                        <a:t>問い合わせ先</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4F6F9"/>
                    </a:solidFill>
                  </a:tcPr>
                </a:tc>
                <a:tc>
                  <a:txBody>
                    <a:bodyPr wrap="square"/>
                    <a:lstStyle/>
                    <a:p>
                      <a:r>
                        <a:rPr sz="1300" b="0">
                          <a:solidFill>
                            <a:srgbClr val="222B38"/>
                          </a:solidFill>
                          <a:latin typeface="Yu Gothic"/>
                          <a:ea typeface="Yu Gothic"/>
                          <a:cs typeface="Yu Gothic"/>
                        </a:rPr>
                        <a:t>予算移管事務局（ご案内済みの窓口）</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300" b="1">
                          <a:solidFill>
                            <a:srgbClr val="222B38"/>
                          </a:solidFill>
                          <a:latin typeface="Yu Gothic"/>
                          <a:ea typeface="Yu Gothic"/>
                          <a:cs typeface="Yu Gothic"/>
                        </a:rPr>
                        <a:t>文書番号・版</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4F6F9"/>
                    </a:solidFill>
                  </a:tcPr>
                </a:tc>
                <a:tc>
                  <a:txBody>
                    <a:bodyPr wrap="square"/>
                    <a:lstStyle/>
                    <a:p>
                      <a:r>
                        <a:rPr sz="1300" b="0">
                          <a:solidFill>
                            <a:srgbClr val="222B38"/>
                          </a:solidFill>
                          <a:latin typeface="Yu Gothic"/>
                          <a:ea typeface="Yu Gothic"/>
                          <a:cs typeface="Yu Gothic"/>
                        </a:rPr>
                        <a:t>BTR-F-12　1.5（最終改訂日 2026-10-12）</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300" b="1">
                          <a:solidFill>
                            <a:srgbClr val="222B38"/>
                          </a:solidFill>
                          <a:latin typeface="Yu Gothic"/>
                          <a:ea typeface="Yu Gothic"/>
                          <a:cs typeface="Yu Gothic"/>
                        </a:rPr>
                        <a:t>所管・承認者</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4F6F9"/>
                    </a:solidFill>
                  </a:tcPr>
                </a:tc>
                <a:tc>
                  <a:txBody>
                    <a:bodyPr wrap="square"/>
                    <a:lstStyle/>
                    <a:p>
                      <a:r>
                        <a:rPr sz="1300" b="0">
                          <a:solidFill>
                            <a:srgbClr val="222B38"/>
                          </a:solidFill>
                          <a:latin typeface="Yu Gothic"/>
                          <a:ea typeface="Yu Gothic"/>
                          <a:cs typeface="Yu Gothic"/>
                        </a:rPr>
                        <a:t>予算移管事務局／IT部門長</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300" b="1">
                          <a:solidFill>
                            <a:srgbClr val="222B38"/>
                          </a:solidFill>
                          <a:latin typeface="Yu Gothic"/>
                          <a:ea typeface="Yu Gothic"/>
                          <a:cs typeface="Yu Gothic"/>
                        </a:rPr>
                        <a:t>見直し周期</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4F6F9"/>
                    </a:solidFill>
                  </a:tcPr>
                </a:tc>
                <a:tc>
                  <a:txBody>
                    <a:bodyPr wrap="square"/>
                    <a:lstStyle/>
                    <a:p>
                      <a:r>
                        <a:rPr sz="1300" b="0">
                          <a:solidFill>
                            <a:srgbClr val="222B38"/>
                          </a:solidFill>
                          <a:latin typeface="Yu Gothic"/>
                          <a:ea typeface="Yu Gothic"/>
                          <a:cs typeface="Yu Gothic"/>
                        </a:rPr>
                        <a:t>予算編成後に1回</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7200" y="320400"/>
            <a:ext cx="11062800" cy="640800"/>
          </a:xfrm>
          <a:prstGeom prst="rect">
            <a:avLst/>
          </a:prstGeom>
          <a:noFill/>
        </p:spPr>
        <p:txBody>
          <a:bodyPr wrap="square" lIns="0" rIns="0" tIns="0" bIns="0" anchor="ctr">
            <a:spAutoFit/>
          </a:bodyPr>
          <a:lstStyle/>
          <a:p>
            <a:r>
              <a:rPr sz="2600" b="1">
                <a:solidFill>
                  <a:srgbClr val="1C2B45"/>
                </a:solidFill>
                <a:latin typeface="Yu Gothic"/>
                <a:ea typeface="Yu Gothic"/>
                <a:cs typeface="Yu Gothic"/>
              </a:rPr>
              <a:t>全体の流れ</a:t>
            </a:r>
          </a:p>
        </p:txBody>
      </p:sp>
      <p:sp>
        <p:nvSpPr>
          <p:cNvPr id="3" name="TextBox 2"/>
          <p:cNvSpPr txBox="1"/>
          <p:nvPr/>
        </p:nvSpPr>
        <p:spPr>
          <a:xfrm>
            <a:off x="547200" y="6400800"/>
            <a:ext cx="8229600" cy="273600"/>
          </a:xfrm>
          <a:prstGeom prst="rect">
            <a:avLst/>
          </a:prstGeom>
          <a:noFill/>
        </p:spPr>
        <p:txBody>
          <a:bodyPr wrap="square" lIns="0" rIns="0" tIns="0" bIns="0" anchor="t">
            <a:spAutoFit/>
          </a:bodyPr>
          <a:lstStyle/>
          <a:p>
            <a:r>
              <a:rPr sz="900" b="0">
                <a:solidFill>
                  <a:srgbClr val="999999"/>
                </a:solidFill>
                <a:latin typeface="Yu Gothic"/>
                <a:ea typeface="Yu Gothic"/>
                <a:cs typeface="Yu Gothic"/>
              </a:rPr>
              <a:t>BTR-F-12　IT予算移管 移管対象部門ガイド</a:t>
            </a:r>
          </a:p>
        </p:txBody>
      </p:sp>
      <p:sp>
        <p:nvSpPr>
          <p:cNvPr id="4" name="TextBox 3"/>
          <p:cNvSpPr txBox="1"/>
          <p:nvPr/>
        </p:nvSpPr>
        <p:spPr>
          <a:xfrm>
            <a:off x="11156400" y="6400800"/>
            <a:ext cx="547200" cy="273600"/>
          </a:xfrm>
          <a:prstGeom prst="rect">
            <a:avLst/>
          </a:prstGeom>
          <a:noFill/>
        </p:spPr>
        <p:txBody>
          <a:bodyPr wrap="square" lIns="0" rIns="0" tIns="0" bIns="0" anchor="t">
            <a:spAutoFit/>
          </a:bodyPr>
          <a:lstStyle/>
          <a:p>
            <a:pPr algn="r"/>
            <a:r>
              <a:rPr sz="900" b="0">
                <a:solidFill>
                  <a:srgbClr val="999999"/>
                </a:solidFill>
                <a:latin typeface="Yu Gothic"/>
                <a:ea typeface="Yu Gothic"/>
                <a:cs typeface="Yu Gothic"/>
              </a:rPr>
              <a:t>3</a:t>
            </a:r>
          </a:p>
        </p:txBody>
      </p:sp>
      <p:sp>
        <p:nvSpPr>
          <p:cNvPr id="5" name="Oval 4"/>
          <p:cNvSpPr/>
          <p:nvPr/>
        </p:nvSpPr>
        <p:spPr>
          <a:xfrm>
            <a:off x="1324800" y="1371600"/>
            <a:ext cx="547200" cy="547200"/>
          </a:xfrm>
          <a:prstGeom prst="ellipse">
            <a:avLst/>
          </a:prstGeom>
          <a:solidFill>
            <a:srgbClr val="1C2B45"/>
          </a:solidFill>
          <a:ln w="15875">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FFFFFF"/>
                </a:solidFill>
                <a:latin typeface="Yu Gothic"/>
                <a:ea typeface="Yu Gothic"/>
                <a:cs typeface="Yu Gothic"/>
              </a:rPr>
              <a:t>1</a:t>
            </a:r>
          </a:p>
        </p:txBody>
      </p:sp>
      <p:sp>
        <p:nvSpPr>
          <p:cNvPr id="6" name="Rounded Rectangle 5"/>
          <p:cNvSpPr/>
          <p:nvPr/>
        </p:nvSpPr>
        <p:spPr>
          <a:xfrm>
            <a:off x="547200" y="2102400"/>
            <a:ext cx="2102400" cy="730799"/>
          </a:xfrm>
          <a:prstGeom prst="roundRect">
            <a:avLst/>
          </a:prstGeom>
          <a:solidFill>
            <a:srgbClr val="F4F6F9"/>
          </a:solidFill>
          <a:ln w="15875">
            <a:solidFill>
              <a:srgbClr val="5E7391"/>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222B38"/>
                </a:solidFill>
                <a:latin typeface="Yu Gothic"/>
                <a:ea typeface="Yu Gothic"/>
                <a:cs typeface="Yu Gothic"/>
              </a:rPr>
              <a:t>ヒアリング（10月）</a:t>
            </a:r>
          </a:p>
        </p:txBody>
      </p:sp>
      <p:sp>
        <p:nvSpPr>
          <p:cNvPr id="7" name="TextBox 6"/>
          <p:cNvSpPr txBox="1"/>
          <p:nvPr/>
        </p:nvSpPr>
        <p:spPr>
          <a:xfrm>
            <a:off x="619200" y="2973600"/>
            <a:ext cx="1958400" cy="1098000"/>
          </a:xfrm>
          <a:prstGeom prst="rect">
            <a:avLst/>
          </a:prstGeom>
          <a:noFill/>
        </p:spPr>
        <p:txBody>
          <a:bodyPr wrap="square" lIns="0" rIns="0" tIns="0" bIns="0" anchor="t">
            <a:spAutoFit/>
          </a:bodyPr>
          <a:lstStyle/>
          <a:p>
            <a:pPr algn="ctr"/>
            <a:r>
              <a:rPr sz="1200" b="0">
                <a:solidFill>
                  <a:srgbClr val="222B38"/>
                </a:solidFill>
                <a:latin typeface="Yu Gothic"/>
                <a:ea typeface="Yu Gothic"/>
                <a:cs typeface="Yu Gothic"/>
              </a:rPr>
              <a:t>普段の窓口の IT部門メンバー（案件担当）が、システム・業務・契約を伺い、整理します。1回60分程度、1〜2回です</a:t>
            </a:r>
          </a:p>
        </p:txBody>
      </p:sp>
      <p:cxnSp>
        <p:nvCxnSpPr>
          <p:cNvPr id="8" name="Connector 7"/>
          <p:cNvCxnSpPr/>
          <p:nvPr/>
        </p:nvCxnSpPr>
        <p:spPr>
          <a:xfrm>
            <a:off x="2649600" y="2467800"/>
            <a:ext cx="147600" cy="0"/>
          </a:xfrm>
          <a:prstGeom prst="line">
            <a:avLst/>
          </a:prstGeom>
          <a:ln w="19050">
            <a:solidFill>
              <a:srgbClr val="3F4F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574800" y="1371600"/>
            <a:ext cx="547200" cy="547200"/>
          </a:xfrm>
          <a:prstGeom prst="ellipse">
            <a:avLst/>
          </a:prstGeom>
          <a:solidFill>
            <a:srgbClr val="1C2B45"/>
          </a:solidFill>
          <a:ln w="15875">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FFFFFF"/>
                </a:solidFill>
                <a:latin typeface="Yu Gothic"/>
                <a:ea typeface="Yu Gothic"/>
                <a:cs typeface="Yu Gothic"/>
              </a:rPr>
              <a:t>2</a:t>
            </a:r>
          </a:p>
        </p:txBody>
      </p:sp>
      <p:sp>
        <p:nvSpPr>
          <p:cNvPr id="10" name="Rounded Rectangle 9"/>
          <p:cNvSpPr/>
          <p:nvPr/>
        </p:nvSpPr>
        <p:spPr>
          <a:xfrm>
            <a:off x="2797200" y="2102400"/>
            <a:ext cx="2102400" cy="730799"/>
          </a:xfrm>
          <a:prstGeom prst="roundRect">
            <a:avLst/>
          </a:prstGeom>
          <a:solidFill>
            <a:srgbClr val="F4F6F9"/>
          </a:solidFill>
          <a:ln w="15875">
            <a:solidFill>
              <a:srgbClr val="5E7391"/>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222B38"/>
                </a:solidFill>
                <a:latin typeface="Yu Gothic"/>
                <a:ea typeface="Yu Gothic"/>
                <a:cs typeface="Yu Gothic"/>
              </a:rPr>
              <a:t>内容の確認（11月）</a:t>
            </a:r>
          </a:p>
        </p:txBody>
      </p:sp>
      <p:sp>
        <p:nvSpPr>
          <p:cNvPr id="11" name="TextBox 10"/>
          <p:cNvSpPr txBox="1"/>
          <p:nvPr/>
        </p:nvSpPr>
        <p:spPr>
          <a:xfrm>
            <a:off x="2869200" y="2973600"/>
            <a:ext cx="1958400" cy="1098000"/>
          </a:xfrm>
          <a:prstGeom prst="rect">
            <a:avLst/>
          </a:prstGeom>
          <a:noFill/>
        </p:spPr>
        <p:txBody>
          <a:bodyPr wrap="square" lIns="0" rIns="0" tIns="0" bIns="0" anchor="t">
            <a:spAutoFit/>
          </a:bodyPr>
          <a:lstStyle/>
          <a:p>
            <a:pPr algn="ctr"/>
            <a:r>
              <a:rPr sz="1200" b="0">
                <a:solidFill>
                  <a:srgbClr val="222B38"/>
                </a:solidFill>
                <a:latin typeface="Yu Gothic"/>
                <a:ea typeface="Yu Gothic"/>
                <a:cs typeface="Yu Gothic"/>
              </a:rPr>
              <a:t>整理した内容を担当者に確かめていただきます</a:t>
            </a:r>
          </a:p>
        </p:txBody>
      </p:sp>
      <p:cxnSp>
        <p:nvCxnSpPr>
          <p:cNvPr id="12" name="Connector 11"/>
          <p:cNvCxnSpPr/>
          <p:nvPr/>
        </p:nvCxnSpPr>
        <p:spPr>
          <a:xfrm>
            <a:off x="4899600" y="2467800"/>
            <a:ext cx="147600" cy="0"/>
          </a:xfrm>
          <a:prstGeom prst="line">
            <a:avLst/>
          </a:prstGeom>
          <a:ln w="19050">
            <a:solidFill>
              <a:srgbClr val="3F4F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824800" y="1371600"/>
            <a:ext cx="547200" cy="547200"/>
          </a:xfrm>
          <a:prstGeom prst="ellipse">
            <a:avLst/>
          </a:prstGeom>
          <a:solidFill>
            <a:srgbClr val="1C2B45"/>
          </a:solidFill>
          <a:ln w="15875">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FFFFFF"/>
                </a:solidFill>
                <a:latin typeface="Yu Gothic"/>
                <a:ea typeface="Yu Gothic"/>
                <a:cs typeface="Yu Gothic"/>
              </a:rPr>
              <a:t>3</a:t>
            </a:r>
          </a:p>
        </p:txBody>
      </p:sp>
      <p:sp>
        <p:nvSpPr>
          <p:cNvPr id="14" name="Rounded Rectangle 13"/>
          <p:cNvSpPr/>
          <p:nvPr/>
        </p:nvSpPr>
        <p:spPr>
          <a:xfrm>
            <a:off x="5047200" y="2102400"/>
            <a:ext cx="2102400" cy="730799"/>
          </a:xfrm>
          <a:prstGeom prst="roundRect">
            <a:avLst/>
          </a:prstGeom>
          <a:solidFill>
            <a:srgbClr val="F4F6F9"/>
          </a:solidFill>
          <a:ln w="15875">
            <a:solidFill>
              <a:srgbClr val="5E7391"/>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222B38"/>
                </a:solidFill>
                <a:latin typeface="Yu Gothic"/>
                <a:ea typeface="Yu Gothic"/>
                <a:cs typeface="Yu Gothic"/>
              </a:rPr>
              <a:t>引継ぎの合意</a:t>
            </a:r>
          </a:p>
        </p:txBody>
      </p:sp>
      <p:sp>
        <p:nvSpPr>
          <p:cNvPr id="15" name="TextBox 14"/>
          <p:cNvSpPr txBox="1"/>
          <p:nvPr/>
        </p:nvSpPr>
        <p:spPr>
          <a:xfrm>
            <a:off x="5119200" y="2973600"/>
            <a:ext cx="1958400" cy="1098000"/>
          </a:xfrm>
          <a:prstGeom prst="rect">
            <a:avLst/>
          </a:prstGeom>
          <a:noFill/>
        </p:spPr>
        <p:txBody>
          <a:bodyPr wrap="square" lIns="0" rIns="0" tIns="0" bIns="0" anchor="t">
            <a:spAutoFit/>
          </a:bodyPr>
          <a:lstStyle/>
          <a:p>
            <a:pPr algn="ctr"/>
            <a:r>
              <a:rPr sz="1200" b="0">
                <a:solidFill>
                  <a:srgbClr val="222B38"/>
                </a:solidFill>
                <a:latin typeface="Yu Gothic"/>
                <a:ea typeface="Yu Gothic"/>
                <a:cs typeface="Yu Gothic"/>
              </a:rPr>
              <a:t>引継ぎの方法とシステムに関わる業務の役割分担（合意文書）の案を IT部門が作り、12月11日までに責任者に承認いただきます</a:t>
            </a:r>
          </a:p>
        </p:txBody>
      </p:sp>
      <p:cxnSp>
        <p:nvCxnSpPr>
          <p:cNvPr id="16" name="Connector 15"/>
          <p:cNvCxnSpPr/>
          <p:nvPr/>
        </p:nvCxnSpPr>
        <p:spPr>
          <a:xfrm>
            <a:off x="7149600" y="2467800"/>
            <a:ext cx="147600" cy="0"/>
          </a:xfrm>
          <a:prstGeom prst="line">
            <a:avLst/>
          </a:prstGeom>
          <a:ln w="19050">
            <a:solidFill>
              <a:srgbClr val="3F4F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074800" y="1371600"/>
            <a:ext cx="547200" cy="547200"/>
          </a:xfrm>
          <a:prstGeom prst="ellipse">
            <a:avLst/>
          </a:prstGeom>
          <a:solidFill>
            <a:srgbClr val="1C2B45"/>
          </a:solidFill>
          <a:ln w="15875">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FFFFFF"/>
                </a:solidFill>
                <a:latin typeface="Yu Gothic"/>
                <a:ea typeface="Yu Gothic"/>
                <a:cs typeface="Yu Gothic"/>
              </a:rPr>
              <a:t>4</a:t>
            </a:r>
          </a:p>
        </p:txBody>
      </p:sp>
      <p:sp>
        <p:nvSpPr>
          <p:cNvPr id="18" name="Rounded Rectangle 17"/>
          <p:cNvSpPr/>
          <p:nvPr/>
        </p:nvSpPr>
        <p:spPr>
          <a:xfrm>
            <a:off x="7297200" y="2102400"/>
            <a:ext cx="2102400" cy="730799"/>
          </a:xfrm>
          <a:prstGeom prst="roundRect">
            <a:avLst/>
          </a:prstGeom>
          <a:solidFill>
            <a:srgbClr val="F4F6F9"/>
          </a:solidFill>
          <a:ln w="15875">
            <a:solidFill>
              <a:srgbClr val="5E7391"/>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222B38"/>
                </a:solidFill>
                <a:latin typeface="Yu Gothic"/>
                <a:ea typeface="Yu Gothic"/>
                <a:cs typeface="Yu Gothic"/>
              </a:rPr>
              <a:t>移管の稟議</a:t>
            </a:r>
          </a:p>
        </p:txBody>
      </p:sp>
      <p:sp>
        <p:nvSpPr>
          <p:cNvPr id="19" name="TextBox 18"/>
          <p:cNvSpPr txBox="1"/>
          <p:nvPr/>
        </p:nvSpPr>
        <p:spPr>
          <a:xfrm>
            <a:off x="7369200" y="2973600"/>
            <a:ext cx="1958400" cy="1098000"/>
          </a:xfrm>
          <a:prstGeom prst="rect">
            <a:avLst/>
          </a:prstGeom>
          <a:noFill/>
        </p:spPr>
        <p:txBody>
          <a:bodyPr wrap="square" lIns="0" rIns="0" tIns="0" bIns="0" anchor="t">
            <a:spAutoFit/>
          </a:bodyPr>
          <a:lstStyle/>
          <a:p>
            <a:pPr algn="ctr"/>
            <a:r>
              <a:rPr sz="1200" b="0">
                <a:solidFill>
                  <a:srgbClr val="222B38"/>
                </a:solidFill>
                <a:latin typeface="Yu Gothic"/>
                <a:ea typeface="Yu Gothic"/>
                <a:cs typeface="Yu Gothic"/>
              </a:rPr>
              <a:t>移管する予算を、12月末までに責任者と IT部門長の合意による稟議で移します</a:t>
            </a:r>
          </a:p>
        </p:txBody>
      </p:sp>
      <p:cxnSp>
        <p:nvCxnSpPr>
          <p:cNvPr id="20" name="Connector 19"/>
          <p:cNvCxnSpPr/>
          <p:nvPr/>
        </p:nvCxnSpPr>
        <p:spPr>
          <a:xfrm>
            <a:off x="9399600" y="2467800"/>
            <a:ext cx="147600" cy="0"/>
          </a:xfrm>
          <a:prstGeom prst="line">
            <a:avLst/>
          </a:prstGeom>
          <a:ln w="19050">
            <a:solidFill>
              <a:srgbClr val="3F4F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0324800" y="1371600"/>
            <a:ext cx="547200" cy="547200"/>
          </a:xfrm>
          <a:prstGeom prst="ellipse">
            <a:avLst/>
          </a:prstGeom>
          <a:solidFill>
            <a:srgbClr val="1C2B45"/>
          </a:solidFill>
          <a:ln w="15875">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FFFFFF"/>
                </a:solidFill>
                <a:latin typeface="Yu Gothic"/>
                <a:ea typeface="Yu Gothic"/>
                <a:cs typeface="Yu Gothic"/>
              </a:rPr>
              <a:t>5</a:t>
            </a:r>
          </a:p>
        </p:txBody>
      </p:sp>
      <p:sp>
        <p:nvSpPr>
          <p:cNvPr id="22" name="Rounded Rectangle 21"/>
          <p:cNvSpPr/>
          <p:nvPr/>
        </p:nvSpPr>
        <p:spPr>
          <a:xfrm>
            <a:off x="9547200" y="2102400"/>
            <a:ext cx="2102400" cy="730799"/>
          </a:xfrm>
          <a:prstGeom prst="roundRect">
            <a:avLst/>
          </a:prstGeom>
          <a:solidFill>
            <a:srgbClr val="F4F6F9"/>
          </a:solidFill>
          <a:ln w="15875">
            <a:solidFill>
              <a:srgbClr val="5E7391"/>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r>
              <a:rPr sz="1400" b="1">
                <a:solidFill>
                  <a:srgbClr val="222B38"/>
                </a:solidFill>
                <a:latin typeface="Yu Gothic"/>
                <a:ea typeface="Yu Gothic"/>
                <a:cs typeface="Yu Gothic"/>
              </a:rPr>
              <a:t>移管（1月1日）</a:t>
            </a:r>
          </a:p>
        </p:txBody>
      </p:sp>
      <p:sp>
        <p:nvSpPr>
          <p:cNvPr id="23" name="TextBox 22"/>
          <p:cNvSpPr txBox="1"/>
          <p:nvPr/>
        </p:nvSpPr>
        <p:spPr>
          <a:xfrm>
            <a:off x="9619200" y="2973600"/>
            <a:ext cx="1958400" cy="1098000"/>
          </a:xfrm>
          <a:prstGeom prst="rect">
            <a:avLst/>
          </a:prstGeom>
          <a:noFill/>
        </p:spPr>
        <p:txBody>
          <a:bodyPr wrap="square" lIns="0" rIns="0" tIns="0" bIns="0" anchor="t">
            <a:spAutoFit/>
          </a:bodyPr>
          <a:lstStyle/>
          <a:p>
            <a:pPr algn="ctr"/>
            <a:r>
              <a:rPr sz="1200" b="0">
                <a:solidFill>
                  <a:srgbClr val="222B38"/>
                </a:solidFill>
                <a:latin typeface="Yu Gothic"/>
                <a:ea typeface="Yu Gothic"/>
                <a:cs typeface="Yu Gothic"/>
              </a:rPr>
              <a:t>1月1日から、契約の管理と請求書の支払いなどの間接業務を IT部門が行います。契約の内容も各部門の業務も変わりません</a:t>
            </a:r>
          </a:p>
        </p:txBody>
      </p:sp>
      <p:sp>
        <p:nvSpPr>
          <p:cNvPr id="24" name="TextBox 23"/>
          <p:cNvSpPr txBox="1"/>
          <p:nvPr/>
        </p:nvSpPr>
        <p:spPr>
          <a:xfrm>
            <a:off x="547200" y="5976000"/>
            <a:ext cx="11062800" cy="216000"/>
          </a:xfrm>
          <a:prstGeom prst="rect">
            <a:avLst/>
          </a:prstGeom>
          <a:noFill/>
        </p:spPr>
        <p:txBody>
          <a:bodyPr wrap="square" lIns="0" rIns="0" tIns="0" bIns="0" anchor="t">
            <a:spAutoFit/>
          </a:bodyPr>
          <a:lstStyle/>
          <a:p>
            <a:r>
              <a:rPr sz="1000" b="0">
                <a:solidFill>
                  <a:srgbClr val="5E7391"/>
                </a:solidFill>
                <a:latin typeface="Yu Gothic"/>
                <a:ea typeface="Yu Gothic"/>
                <a:cs typeface="Yu Gothic"/>
              </a:rPr>
              <a:t>根拠: 業務フロー定義（BTR-P-06）、憲章 第9条・第11条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7200" y="320400"/>
            <a:ext cx="11062800" cy="640800"/>
          </a:xfrm>
          <a:prstGeom prst="rect">
            <a:avLst/>
          </a:prstGeom>
          <a:noFill/>
        </p:spPr>
        <p:txBody>
          <a:bodyPr wrap="square" lIns="0" rIns="0" tIns="0" bIns="0" anchor="ctr">
            <a:spAutoFit/>
          </a:bodyPr>
          <a:lstStyle/>
          <a:p>
            <a:r>
              <a:rPr sz="2600" b="1">
                <a:solidFill>
                  <a:srgbClr val="1C2B45"/>
                </a:solidFill>
                <a:latin typeface="Yu Gothic"/>
                <a:ea typeface="Yu Gothic"/>
                <a:cs typeface="Yu Gothic"/>
              </a:rPr>
              <a:t>移管するもの・しないもの</a:t>
            </a:r>
          </a:p>
        </p:txBody>
      </p:sp>
      <p:sp>
        <p:nvSpPr>
          <p:cNvPr id="3" name="TextBox 2"/>
          <p:cNvSpPr txBox="1"/>
          <p:nvPr/>
        </p:nvSpPr>
        <p:spPr>
          <a:xfrm>
            <a:off x="547200" y="6400800"/>
            <a:ext cx="8229600" cy="273600"/>
          </a:xfrm>
          <a:prstGeom prst="rect">
            <a:avLst/>
          </a:prstGeom>
          <a:noFill/>
        </p:spPr>
        <p:txBody>
          <a:bodyPr wrap="square" lIns="0" rIns="0" tIns="0" bIns="0" anchor="t">
            <a:spAutoFit/>
          </a:bodyPr>
          <a:lstStyle/>
          <a:p>
            <a:r>
              <a:rPr sz="900" b="0">
                <a:solidFill>
                  <a:srgbClr val="999999"/>
                </a:solidFill>
                <a:latin typeface="Yu Gothic"/>
                <a:ea typeface="Yu Gothic"/>
                <a:cs typeface="Yu Gothic"/>
              </a:rPr>
              <a:t>BTR-F-12　IT予算移管 移管対象部門ガイド</a:t>
            </a:r>
          </a:p>
        </p:txBody>
      </p:sp>
      <p:sp>
        <p:nvSpPr>
          <p:cNvPr id="4" name="TextBox 3"/>
          <p:cNvSpPr txBox="1"/>
          <p:nvPr/>
        </p:nvSpPr>
        <p:spPr>
          <a:xfrm>
            <a:off x="11156400" y="6400800"/>
            <a:ext cx="547200" cy="273600"/>
          </a:xfrm>
          <a:prstGeom prst="rect">
            <a:avLst/>
          </a:prstGeom>
          <a:noFill/>
        </p:spPr>
        <p:txBody>
          <a:bodyPr wrap="square" lIns="0" rIns="0" tIns="0" bIns="0" anchor="t">
            <a:spAutoFit/>
          </a:bodyPr>
          <a:lstStyle/>
          <a:p>
            <a:pPr algn="r"/>
            <a:r>
              <a:rPr sz="900" b="0">
                <a:solidFill>
                  <a:srgbClr val="999999"/>
                </a:solidFill>
                <a:latin typeface="Yu Gothic"/>
                <a:ea typeface="Yu Gothic"/>
                <a:cs typeface="Yu Gothic"/>
              </a:rPr>
              <a:t>4</a:t>
            </a:r>
          </a:p>
        </p:txBody>
      </p:sp>
      <p:sp>
        <p:nvSpPr>
          <p:cNvPr id="5" name="Rectangle 4"/>
          <p:cNvSpPr/>
          <p:nvPr/>
        </p:nvSpPr>
        <p:spPr>
          <a:xfrm>
            <a:off x="547200" y="1188000"/>
            <a:ext cx="5436000" cy="3240000"/>
          </a:xfrm>
          <a:prstGeom prst="rect">
            <a:avLst/>
          </a:prstGeom>
          <a:solidFill>
            <a:srgbClr val="FFFFFF"/>
          </a:solidFill>
          <a:ln w="12700">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p>
        </p:txBody>
      </p:sp>
      <p:sp>
        <p:nvSpPr>
          <p:cNvPr id="6" name="TextBox 5"/>
          <p:cNvSpPr txBox="1"/>
          <p:nvPr/>
        </p:nvSpPr>
        <p:spPr>
          <a:xfrm>
            <a:off x="727200" y="1332000"/>
            <a:ext cx="5076000" cy="324000"/>
          </a:xfrm>
          <a:prstGeom prst="rect">
            <a:avLst/>
          </a:prstGeom>
          <a:noFill/>
        </p:spPr>
        <p:txBody>
          <a:bodyPr wrap="square" lIns="0" rIns="0" tIns="0" bIns="0" anchor="t">
            <a:spAutoFit/>
          </a:bodyPr>
          <a:lstStyle/>
          <a:p>
            <a:r>
              <a:rPr sz="1600" b="1">
                <a:solidFill>
                  <a:srgbClr val="1C2B45"/>
                </a:solidFill>
                <a:latin typeface="Yu Gothic"/>
                <a:ea typeface="Yu Gothic"/>
                <a:cs typeface="Yu Gothic"/>
              </a:rPr>
              <a:t>移管するもの</a:t>
            </a:r>
          </a:p>
        </p:txBody>
      </p:sp>
      <p:sp>
        <p:nvSpPr>
          <p:cNvPr id="7" name="TextBox 6"/>
          <p:cNvSpPr txBox="1"/>
          <p:nvPr/>
        </p:nvSpPr>
        <p:spPr>
          <a:xfrm>
            <a:off x="727200" y="1800000"/>
            <a:ext cx="5076000" cy="2520000"/>
          </a:xfrm>
          <a:prstGeom prst="rect">
            <a:avLst/>
          </a:prstGeom>
          <a:noFill/>
        </p:spPr>
        <p:txBody>
          <a:bodyPr wrap="square" lIns="0" rIns="0" tIns="0" bIns="0" anchor="t">
            <a:spAutoFit/>
          </a:bodyPr>
          <a:lstStyle/>
          <a:p>
            <a:r>
              <a:rPr sz="1300" b="0">
                <a:solidFill>
                  <a:srgbClr val="222B38"/>
                </a:solidFill>
                <a:latin typeface="Yu Gothic"/>
                <a:ea typeface="Yu Gothic"/>
                <a:cs typeface="Yu Gothic"/>
              </a:rPr>
              <a:t>・システムに関する予算（来年度に始まる新規導入・改修の投資予算と、保守・ライセンス・運用の経費予算）</a:t>
            </a:r>
          </a:p>
          <a:p>
            <a:r>
              <a:rPr sz="1300" b="0">
                <a:solidFill>
                  <a:srgbClr val="222B38"/>
                </a:solidFill>
                <a:latin typeface="Yu Gothic"/>
                <a:ea typeface="Yu Gothic"/>
                <a:cs typeface="Yu Gothic"/>
              </a:rPr>
              <a:t>・その予算で支払っている契約（利用・保守・開発・運用の委託など）</a:t>
            </a:r>
          </a:p>
          <a:p>
            <a:r>
              <a:rPr sz="1300" b="0">
                <a:solidFill>
                  <a:srgbClr val="222B38"/>
                </a:solidFill>
                <a:latin typeface="Yu Gothic"/>
                <a:ea typeface="Yu Gothic"/>
                <a:cs typeface="Yu Gothic"/>
              </a:rPr>
              <a:t>・契約に基づく間接業務（予算の管理、契約の管理、発注・検収・支払い、委託先の管理、契約に関する監査・規制対応）</a:t>
            </a:r>
          </a:p>
        </p:txBody>
      </p:sp>
      <p:sp>
        <p:nvSpPr>
          <p:cNvPr id="8" name="Rectangle 7"/>
          <p:cNvSpPr/>
          <p:nvPr/>
        </p:nvSpPr>
        <p:spPr>
          <a:xfrm>
            <a:off x="6163200" y="1188000"/>
            <a:ext cx="5436000" cy="3240000"/>
          </a:xfrm>
          <a:prstGeom prst="rect">
            <a:avLst/>
          </a:prstGeom>
          <a:solidFill>
            <a:srgbClr val="FFFFFF"/>
          </a:solidFill>
          <a:ln w="12700">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p>
        </p:txBody>
      </p:sp>
      <p:sp>
        <p:nvSpPr>
          <p:cNvPr id="9" name="TextBox 8"/>
          <p:cNvSpPr txBox="1"/>
          <p:nvPr/>
        </p:nvSpPr>
        <p:spPr>
          <a:xfrm>
            <a:off x="6343200" y="1332000"/>
            <a:ext cx="5076000" cy="324000"/>
          </a:xfrm>
          <a:prstGeom prst="rect">
            <a:avLst/>
          </a:prstGeom>
          <a:noFill/>
        </p:spPr>
        <p:txBody>
          <a:bodyPr wrap="square" lIns="0" rIns="0" tIns="0" bIns="0" anchor="t">
            <a:spAutoFit/>
          </a:bodyPr>
          <a:lstStyle/>
          <a:p>
            <a:r>
              <a:rPr sz="1600" b="1">
                <a:solidFill>
                  <a:srgbClr val="1C2B45"/>
                </a:solidFill>
                <a:latin typeface="Yu Gothic"/>
                <a:ea typeface="Yu Gothic"/>
                <a:cs typeface="Yu Gothic"/>
              </a:rPr>
              <a:t>移管しないもの（各部門に残るもの）</a:t>
            </a:r>
          </a:p>
        </p:txBody>
      </p:sp>
      <p:sp>
        <p:nvSpPr>
          <p:cNvPr id="10" name="TextBox 9"/>
          <p:cNvSpPr txBox="1"/>
          <p:nvPr/>
        </p:nvSpPr>
        <p:spPr>
          <a:xfrm>
            <a:off x="6343200" y="1800000"/>
            <a:ext cx="5076000" cy="2520000"/>
          </a:xfrm>
          <a:prstGeom prst="rect">
            <a:avLst/>
          </a:prstGeom>
          <a:noFill/>
        </p:spPr>
        <p:txBody>
          <a:bodyPr wrap="square" lIns="0" rIns="0" tIns="0" bIns="0" anchor="t">
            <a:spAutoFit/>
          </a:bodyPr>
          <a:lstStyle/>
          <a:p>
            <a:r>
              <a:rPr sz="1300" b="0">
                <a:solidFill>
                  <a:srgbClr val="222B38"/>
                </a:solidFill>
                <a:latin typeface="Yu Gothic"/>
                <a:ea typeface="Yu Gothic"/>
                <a:cs typeface="Yu Gothic"/>
              </a:rPr>
              <a:t>・各部門の本来の業務（直接業務）：業務要件の決定、システムを使った業務、受け入れの確認、部門で行う運用（ユーザー管理など）、利用者への教育</a:t>
            </a:r>
          </a:p>
          <a:p>
            <a:r>
              <a:rPr sz="1300" b="0">
                <a:solidFill>
                  <a:srgbClr val="222B38"/>
                </a:solidFill>
                <a:latin typeface="Yu Gothic"/>
                <a:ea typeface="Yu Gothic"/>
                <a:cs typeface="Yu Gothic"/>
              </a:rPr>
              <a:t>・案件の要否・目的・効果を決めること</a:t>
            </a:r>
          </a:p>
          <a:p>
            <a:r>
              <a:rPr sz="1300" b="0">
                <a:solidFill>
                  <a:srgbClr val="222B38"/>
                </a:solidFill>
                <a:latin typeface="Yu Gothic"/>
                <a:ea typeface="Yu Gothic"/>
                <a:cs typeface="Yu Gothic"/>
              </a:rPr>
              <a:t>・今年度から続く投資案件の予算（1回限りの発注・検収は部門で行います。次の継続は IT部門へ）</a:t>
            </a:r>
          </a:p>
          <a:p>
            <a:r>
              <a:rPr sz="1300" b="0">
                <a:solidFill>
                  <a:srgbClr val="222B38"/>
                </a:solidFill>
                <a:latin typeface="Yu Gothic"/>
                <a:ea typeface="Yu Gothic"/>
                <a:cs typeface="Yu Gothic"/>
              </a:rPr>
              <a:t>・システムと関係のない予算・契約・業務（例: 書籍や情報サービスの購読）</a:t>
            </a:r>
          </a:p>
        </p:txBody>
      </p:sp>
      <p:sp>
        <p:nvSpPr>
          <p:cNvPr id="11" name="TextBox 10"/>
          <p:cNvSpPr txBox="1"/>
          <p:nvPr/>
        </p:nvSpPr>
        <p:spPr>
          <a:xfrm>
            <a:off x="547200" y="4608000"/>
            <a:ext cx="11062800" cy="684000"/>
          </a:xfrm>
          <a:prstGeom prst="rect">
            <a:avLst/>
          </a:prstGeom>
          <a:noFill/>
        </p:spPr>
        <p:txBody>
          <a:bodyPr wrap="square" lIns="0" rIns="0" tIns="0" bIns="0" anchor="t">
            <a:spAutoFit/>
          </a:bodyPr>
          <a:lstStyle/>
          <a:p>
            <a:r>
              <a:rPr sz="1300" b="1">
                <a:solidFill>
                  <a:srgbClr val="1C2B45"/>
                </a:solidFill>
                <a:latin typeface="Yu Gothic"/>
                <a:ea typeface="Yu Gothic"/>
                <a:cs typeface="Yu Gothic"/>
              </a:rPr>
              <a:t>移管するのは、予算・契約と、契約に基づく間接業務です。各部門の業務は、組織のミッション・業務分掌・職務権限に基づき、これまでどおり各部門が担います。</a:t>
            </a:r>
          </a:p>
          <a:p>
            <a:r>
              <a:rPr sz="1300" b="1">
                <a:solidFill>
                  <a:srgbClr val="1C2B45"/>
                </a:solidFill>
                <a:latin typeface="Yu Gothic"/>
                <a:ea typeface="Yu Gothic"/>
                <a:cs typeface="Yu Gothic"/>
              </a:rPr>
              <a:t>システムに関する予算・契約・間接業務は、影響の範囲や契約の残り期間にかかわらず全て移管します（今年度から続く投資案件を除く）。</a:t>
            </a:r>
          </a:p>
        </p:txBody>
      </p:sp>
      <p:sp>
        <p:nvSpPr>
          <p:cNvPr id="12" name="TextBox 11"/>
          <p:cNvSpPr txBox="1"/>
          <p:nvPr/>
        </p:nvSpPr>
        <p:spPr>
          <a:xfrm>
            <a:off x="547200" y="5976000"/>
            <a:ext cx="11062800" cy="216000"/>
          </a:xfrm>
          <a:prstGeom prst="rect">
            <a:avLst/>
          </a:prstGeom>
          <a:noFill/>
        </p:spPr>
        <p:txBody>
          <a:bodyPr wrap="square" lIns="0" rIns="0" tIns="0" bIns="0" anchor="t">
            <a:spAutoFit/>
          </a:bodyPr>
          <a:lstStyle/>
          <a:p>
            <a:r>
              <a:rPr sz="1000" b="0">
                <a:solidFill>
                  <a:srgbClr val="5E7391"/>
                </a:solidFill>
                <a:latin typeface="Yu Gothic"/>
                <a:ea typeface="Yu Gothic"/>
                <a:cs typeface="Yu Gothic"/>
              </a:rPr>
              <a:t>根拠: 憲章 第4条・第7条・第8条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7200" y="320400"/>
            <a:ext cx="11062800" cy="640800"/>
          </a:xfrm>
          <a:prstGeom prst="rect">
            <a:avLst/>
          </a:prstGeom>
          <a:noFill/>
        </p:spPr>
        <p:txBody>
          <a:bodyPr wrap="square" lIns="0" rIns="0" tIns="0" bIns="0" anchor="ctr">
            <a:spAutoFit/>
          </a:bodyPr>
          <a:lstStyle/>
          <a:p>
            <a:r>
              <a:rPr sz="2600" b="1">
                <a:solidFill>
                  <a:srgbClr val="1C2B45"/>
                </a:solidFill>
                <a:latin typeface="Yu Gothic"/>
                <a:ea typeface="Yu Gothic"/>
                <a:cs typeface="Yu Gothic"/>
              </a:rPr>
              <a:t>移管の後の役割分担</a:t>
            </a:r>
          </a:p>
        </p:txBody>
      </p:sp>
      <p:sp>
        <p:nvSpPr>
          <p:cNvPr id="3" name="TextBox 2"/>
          <p:cNvSpPr txBox="1"/>
          <p:nvPr/>
        </p:nvSpPr>
        <p:spPr>
          <a:xfrm>
            <a:off x="547200" y="6400800"/>
            <a:ext cx="8229600" cy="273600"/>
          </a:xfrm>
          <a:prstGeom prst="rect">
            <a:avLst/>
          </a:prstGeom>
          <a:noFill/>
        </p:spPr>
        <p:txBody>
          <a:bodyPr wrap="square" lIns="0" rIns="0" tIns="0" bIns="0" anchor="t">
            <a:spAutoFit/>
          </a:bodyPr>
          <a:lstStyle/>
          <a:p>
            <a:r>
              <a:rPr sz="900" b="0">
                <a:solidFill>
                  <a:srgbClr val="999999"/>
                </a:solidFill>
                <a:latin typeface="Yu Gothic"/>
                <a:ea typeface="Yu Gothic"/>
                <a:cs typeface="Yu Gothic"/>
              </a:rPr>
              <a:t>BTR-F-12　IT予算移管 移管対象部門ガイド</a:t>
            </a:r>
          </a:p>
        </p:txBody>
      </p:sp>
      <p:sp>
        <p:nvSpPr>
          <p:cNvPr id="4" name="TextBox 3"/>
          <p:cNvSpPr txBox="1"/>
          <p:nvPr/>
        </p:nvSpPr>
        <p:spPr>
          <a:xfrm>
            <a:off x="11156400" y="6400800"/>
            <a:ext cx="547200" cy="273600"/>
          </a:xfrm>
          <a:prstGeom prst="rect">
            <a:avLst/>
          </a:prstGeom>
          <a:noFill/>
        </p:spPr>
        <p:txBody>
          <a:bodyPr wrap="square" lIns="0" rIns="0" tIns="0" bIns="0" anchor="t">
            <a:spAutoFit/>
          </a:bodyPr>
          <a:lstStyle/>
          <a:p>
            <a:pPr algn="r"/>
            <a:r>
              <a:rPr sz="900" b="0">
                <a:solidFill>
                  <a:srgbClr val="999999"/>
                </a:solidFill>
                <a:latin typeface="Yu Gothic"/>
                <a:ea typeface="Yu Gothic"/>
                <a:cs typeface="Yu Gothic"/>
              </a:rPr>
              <a:t>5</a:t>
            </a:r>
          </a:p>
        </p:txBody>
      </p:sp>
      <p:graphicFrame>
        <p:nvGraphicFramePr>
          <p:cNvPr id="5" name="Table 4"/>
          <p:cNvGraphicFramePr>
            <a:graphicFrameLocks noGrp="1"/>
          </p:cNvGraphicFramePr>
          <p:nvPr/>
        </p:nvGraphicFramePr>
        <p:xfrm>
          <a:off x="547200" y="1188000"/>
          <a:ext cx="11062800" cy="2880000"/>
        </p:xfrm>
        <a:graphic>
          <a:graphicData uri="http://schemas.openxmlformats.org/drawingml/2006/table">
            <a:tbl>
              <a:tblPr firstRow="0" bandRow="0">
                <a:tableStyleId>{5940675A-B579-460E-94D1-54222C63F5DA}</a:tableStyleId>
              </a:tblPr>
              <a:tblGrid>
                <a:gridCol w="4680000"/>
                <a:gridCol w="1440000"/>
                <a:gridCol w="2448000"/>
                <a:gridCol w="2494800"/>
              </a:tblGrid>
              <a:tr h="360000">
                <a:tc>
                  <a:txBody>
                    <a:bodyPr wrap="square"/>
                    <a:lstStyle/>
                    <a:p>
                      <a:r>
                        <a:rPr sz="1200" b="1">
                          <a:solidFill>
                            <a:srgbClr val="FFFFFF"/>
                          </a:solidFill>
                          <a:latin typeface="Yu Gothic"/>
                          <a:ea typeface="Yu Gothic"/>
                          <a:cs typeface="Yu Gothic"/>
                        </a:rPr>
                        <a:t>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区分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移管対象部門</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IT部門</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r>
              <a:tr h="360000">
                <a:tc>
                  <a:txBody>
                    <a:bodyPr wrap="square"/>
                    <a:lstStyle/>
                    <a:p>
                      <a:r>
                        <a:rPr sz="1200" b="0">
                          <a:solidFill>
                            <a:srgbClr val="222B38"/>
                          </a:solidFill>
                          <a:latin typeface="Yu Gothic"/>
                          <a:ea typeface="Yu Gothic"/>
                          <a:cs typeface="Yu Gothic"/>
                        </a:rPr>
                        <a:t>予算の計上・執行・管理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間接業務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相談を受ける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担う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60000">
                <a:tc>
                  <a:txBody>
                    <a:bodyPr wrap="square"/>
                    <a:lstStyle/>
                    <a:p>
                      <a:r>
                        <a:rPr sz="1200" b="0">
                          <a:solidFill>
                            <a:srgbClr val="222B38"/>
                          </a:solidFill>
                          <a:latin typeface="Yu Gothic"/>
                          <a:ea typeface="Yu Gothic"/>
                          <a:cs typeface="Yu Gothic"/>
                        </a:rPr>
                        <a:t>契約の締結・更新・変更・解約</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間接業務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相談を受ける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担う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60000">
                <a:tc>
                  <a:txBody>
                    <a:bodyPr wrap="square"/>
                    <a:lstStyle/>
                    <a:p>
                      <a:r>
                        <a:rPr sz="1200" b="0">
                          <a:solidFill>
                            <a:srgbClr val="222B38"/>
                          </a:solidFill>
                          <a:latin typeface="Yu Gothic"/>
                          <a:ea typeface="Yu Gothic"/>
                          <a:cs typeface="Yu Gothic"/>
                        </a:rPr>
                        <a:t>発注・検収・支払い</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間接業務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相談を受ける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担う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60000">
                <a:tc>
                  <a:txBody>
                    <a:bodyPr wrap="square"/>
                    <a:lstStyle/>
                    <a:p>
                      <a:r>
                        <a:rPr sz="1200" b="0">
                          <a:solidFill>
                            <a:srgbClr val="222B38"/>
                          </a:solidFill>
                          <a:latin typeface="Yu Gothic"/>
                          <a:ea typeface="Yu Gothic"/>
                          <a:cs typeface="Yu Gothic"/>
                        </a:rPr>
                        <a:t>委託先の管理（指示・報告の確認）</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間接業務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相談を受ける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担う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60000">
                <a:tc>
                  <a:txBody>
                    <a:bodyPr wrap="square"/>
                    <a:lstStyle/>
                    <a:p>
                      <a:r>
                        <a:rPr sz="1200" b="0">
                          <a:solidFill>
                            <a:srgbClr val="222B38"/>
                          </a:solidFill>
                          <a:latin typeface="Yu Gothic"/>
                          <a:ea typeface="Yu Gothic"/>
                          <a:cs typeface="Yu Gothic"/>
                        </a:rPr>
                        <a:t>案件の要否・目的・効果、業務要件の決定</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直接業務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担う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相談を受ける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60000">
                <a:tc>
                  <a:txBody>
                    <a:bodyPr wrap="square"/>
                    <a:lstStyle/>
                    <a:p>
                      <a:r>
                        <a:rPr sz="1200" b="0">
                          <a:solidFill>
                            <a:srgbClr val="222B38"/>
                          </a:solidFill>
                          <a:latin typeface="Yu Gothic"/>
                          <a:ea typeface="Yu Gothic"/>
                          <a:cs typeface="Yu Gothic"/>
                        </a:rPr>
                        <a:t>システムを使った業務、受け入れの確認</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直接業務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担う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（受け入れは相談を受ける）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60000">
                <a:tc>
                  <a:txBody>
                    <a:bodyPr wrap="square"/>
                    <a:lstStyle/>
                    <a:p>
                      <a:r>
                        <a:rPr sz="1200" b="0">
                          <a:solidFill>
                            <a:srgbClr val="222B38"/>
                          </a:solidFill>
                          <a:latin typeface="Yu Gothic"/>
                          <a:ea typeface="Yu Gothic"/>
                          <a:cs typeface="Yu Gothic"/>
                        </a:rPr>
                        <a:t>部門で行う運用（ユーザー管理など）、利用者への教育</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直接業務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担う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bl>
          </a:graphicData>
        </a:graphic>
      </p:graphicFrame>
      <p:sp>
        <p:nvSpPr>
          <p:cNvPr id="6" name="TextBox 5"/>
          <p:cNvSpPr txBox="1"/>
          <p:nvPr/>
        </p:nvSpPr>
        <p:spPr>
          <a:xfrm>
            <a:off x="547200" y="4392000"/>
            <a:ext cx="11062800" cy="684000"/>
          </a:xfrm>
          <a:prstGeom prst="rect">
            <a:avLst/>
          </a:prstGeom>
          <a:noFill/>
        </p:spPr>
        <p:txBody>
          <a:bodyPr wrap="square" lIns="0" rIns="0" tIns="0" bIns="0" anchor="t">
            <a:spAutoFit/>
          </a:bodyPr>
          <a:lstStyle/>
          <a:p>
            <a:r>
              <a:rPr sz="1300" b="1">
                <a:solidFill>
                  <a:srgbClr val="1C2B45"/>
                </a:solidFill>
                <a:latin typeface="Yu Gothic"/>
                <a:ea typeface="Yu Gothic"/>
                <a:cs typeface="Yu Gothic"/>
              </a:rPr>
              <a:t>この分担は全ての部門・案件で同じです。例えば営業部門の予算を移管しても、IT部門が営業活動をすることはありません。</a:t>
            </a:r>
          </a:p>
          <a:p>
            <a:r>
              <a:rPr sz="1300" b="1">
                <a:solidFill>
                  <a:srgbClr val="1C2B45"/>
                </a:solidFill>
                <a:latin typeface="Yu Gothic"/>
                <a:ea typeface="Yu Gothic"/>
                <a:cs typeface="Yu Gothic"/>
              </a:rPr>
              <a:t>移管の作業は、IT部門の進行役と、案件ごとの案件担当（普段の窓口のメンバー）が行います。各部門の責任者には承認を、担当者には情報と資料のご提供をお願いします。</a:t>
            </a:r>
          </a:p>
        </p:txBody>
      </p:sp>
      <p:sp>
        <p:nvSpPr>
          <p:cNvPr id="7" name="TextBox 6"/>
          <p:cNvSpPr txBox="1"/>
          <p:nvPr/>
        </p:nvSpPr>
        <p:spPr>
          <a:xfrm>
            <a:off x="547200" y="5976000"/>
            <a:ext cx="11062800" cy="216000"/>
          </a:xfrm>
          <a:prstGeom prst="rect">
            <a:avLst/>
          </a:prstGeom>
          <a:noFill/>
        </p:spPr>
        <p:txBody>
          <a:bodyPr wrap="square" lIns="0" rIns="0" tIns="0" bIns="0" anchor="t">
            <a:spAutoFit/>
          </a:bodyPr>
          <a:lstStyle/>
          <a:p>
            <a:r>
              <a:rPr sz="1000" b="0">
                <a:solidFill>
                  <a:srgbClr val="5E7391"/>
                </a:solidFill>
                <a:latin typeface="Yu Gothic"/>
                <a:ea typeface="Yu Gothic"/>
                <a:cs typeface="Yu Gothic"/>
              </a:rPr>
              <a:t>根拠: 憲章 第4条第3項・第4項、業務フロー定義（BTR-P-06）RACI（2）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7200" y="320400"/>
            <a:ext cx="11062800" cy="640800"/>
          </a:xfrm>
          <a:prstGeom prst="rect">
            <a:avLst/>
          </a:prstGeom>
          <a:noFill/>
        </p:spPr>
        <p:txBody>
          <a:bodyPr wrap="square" lIns="0" rIns="0" tIns="0" bIns="0" anchor="ctr">
            <a:spAutoFit/>
          </a:bodyPr>
          <a:lstStyle/>
          <a:p>
            <a:r>
              <a:rPr sz="2600" b="1">
                <a:solidFill>
                  <a:srgbClr val="1C2B45"/>
                </a:solidFill>
                <a:latin typeface="Yu Gothic"/>
                <a:ea typeface="Yu Gothic"/>
                <a:cs typeface="Yu Gothic"/>
              </a:rPr>
              <a:t>スケジュール</a:t>
            </a:r>
          </a:p>
        </p:txBody>
      </p:sp>
      <p:sp>
        <p:nvSpPr>
          <p:cNvPr id="3" name="TextBox 2"/>
          <p:cNvSpPr txBox="1"/>
          <p:nvPr/>
        </p:nvSpPr>
        <p:spPr>
          <a:xfrm>
            <a:off x="547200" y="6400800"/>
            <a:ext cx="8229600" cy="273600"/>
          </a:xfrm>
          <a:prstGeom prst="rect">
            <a:avLst/>
          </a:prstGeom>
          <a:noFill/>
        </p:spPr>
        <p:txBody>
          <a:bodyPr wrap="square" lIns="0" rIns="0" tIns="0" bIns="0" anchor="t">
            <a:spAutoFit/>
          </a:bodyPr>
          <a:lstStyle/>
          <a:p>
            <a:r>
              <a:rPr sz="900" b="0">
                <a:solidFill>
                  <a:srgbClr val="999999"/>
                </a:solidFill>
                <a:latin typeface="Yu Gothic"/>
                <a:ea typeface="Yu Gothic"/>
                <a:cs typeface="Yu Gothic"/>
              </a:rPr>
              <a:t>BTR-F-12　IT予算移管 移管対象部門ガイド</a:t>
            </a:r>
          </a:p>
        </p:txBody>
      </p:sp>
      <p:sp>
        <p:nvSpPr>
          <p:cNvPr id="4" name="TextBox 3"/>
          <p:cNvSpPr txBox="1"/>
          <p:nvPr/>
        </p:nvSpPr>
        <p:spPr>
          <a:xfrm>
            <a:off x="11156400" y="6400800"/>
            <a:ext cx="547200" cy="273600"/>
          </a:xfrm>
          <a:prstGeom prst="rect">
            <a:avLst/>
          </a:prstGeom>
          <a:noFill/>
        </p:spPr>
        <p:txBody>
          <a:bodyPr wrap="square" lIns="0" rIns="0" tIns="0" bIns="0" anchor="t">
            <a:spAutoFit/>
          </a:bodyPr>
          <a:lstStyle/>
          <a:p>
            <a:pPr algn="r"/>
            <a:r>
              <a:rPr sz="900" b="0">
                <a:solidFill>
                  <a:srgbClr val="999999"/>
                </a:solidFill>
                <a:latin typeface="Yu Gothic"/>
                <a:ea typeface="Yu Gothic"/>
                <a:cs typeface="Yu Gothic"/>
              </a:rPr>
              <a:t>6</a:t>
            </a:r>
          </a:p>
        </p:txBody>
      </p:sp>
      <p:graphicFrame>
        <p:nvGraphicFramePr>
          <p:cNvPr id="5" name="Table 4"/>
          <p:cNvGraphicFramePr>
            <a:graphicFrameLocks noGrp="1"/>
          </p:cNvGraphicFramePr>
          <p:nvPr/>
        </p:nvGraphicFramePr>
        <p:xfrm>
          <a:off x="547200" y="1188000"/>
          <a:ext cx="11062800" cy="1944000"/>
        </p:xfrm>
        <a:graphic>
          <a:graphicData uri="http://schemas.openxmlformats.org/drawingml/2006/table">
            <a:tbl>
              <a:tblPr firstRow="0" bandRow="0">
                <a:tableStyleId>{5940675A-B579-460E-94D1-54222C63F5DA}</a:tableStyleId>
              </a:tblPr>
              <a:tblGrid>
                <a:gridCol w="3780000"/>
                <a:gridCol w="3240000"/>
                <a:gridCol w="4042800"/>
              </a:tblGrid>
              <a:tr h="324000">
                <a:tc>
                  <a:txBody>
                    <a:bodyPr wrap="square"/>
                    <a:lstStyle/>
                    <a:p>
                      <a:r>
                        <a:rPr sz="1200" b="1">
                          <a:solidFill>
                            <a:srgbClr val="FFFFFF"/>
                          </a:solidFill>
                          <a:latin typeface="Yu Gothic"/>
                          <a:ea typeface="Yu Gothic"/>
                          <a:cs typeface="Yu Gothic"/>
                        </a:rPr>
                        <a:t>時期</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イベント</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移管対象部門がすること</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r>
              <a:tr h="324000">
                <a:tc>
                  <a:txBody>
                    <a:bodyPr wrap="square"/>
                    <a:lstStyle/>
                    <a:p>
                      <a:r>
                        <a:rPr sz="1200" b="0">
                          <a:solidFill>
                            <a:srgbClr val="222B38"/>
                          </a:solidFill>
                          <a:latin typeface="Yu Gothic"/>
                          <a:ea typeface="Yu Gothic"/>
                          <a:cs typeface="Yu Gothic"/>
                        </a:rPr>
                        <a:t>2026-10-01〜10-31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ヒアリング（事前の情報整理）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案件担当の質問に答え、手元の資料を渡す（担当者）</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200" b="0">
                          <a:solidFill>
                            <a:srgbClr val="222B38"/>
                          </a:solidFill>
                          <a:latin typeface="Yu Gothic"/>
                          <a:ea typeface="Yu Gothic"/>
                          <a:cs typeface="Yu Gothic"/>
                        </a:rPr>
                        <a:t>11月</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内容の確認</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整理した内容を確かめる（担当者）</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200" b="0">
                          <a:solidFill>
                            <a:srgbClr val="222B38"/>
                          </a:solidFill>
                          <a:latin typeface="Yu Gothic"/>
                          <a:ea typeface="Yu Gothic"/>
                          <a:cs typeface="Yu Gothic"/>
                        </a:rPr>
                        <a:t>2026-12-11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合意の期限</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引継ぎの方法と役割分担（合意文書）を承認する（責任者）</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200" b="0">
                          <a:solidFill>
                            <a:srgbClr val="222B38"/>
                          </a:solidFill>
                          <a:latin typeface="Yu Gothic"/>
                          <a:ea typeface="Yu Gothic"/>
                          <a:cs typeface="Yu Gothic"/>
                        </a:rPr>
                        <a:t>〜2026-12-31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移管の稟議</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移管する予算の稟議を、IT部門長と合意して承認する（責任者）</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200" b="0">
                          <a:solidFill>
                            <a:srgbClr val="222B38"/>
                          </a:solidFill>
                          <a:latin typeface="Yu Gothic"/>
                          <a:ea typeface="Yu Gothic"/>
                          <a:cs typeface="Yu Gothic"/>
                        </a:rPr>
                        <a:t>2027-01-01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一括移管の実施日</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間接業務の引継ぎに協力する（請求書の宛名の変更は IT部門が連絡）</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bl>
          </a:graphicData>
        </a:graphic>
      </p:graphicFrame>
      <p:sp>
        <p:nvSpPr>
          <p:cNvPr id="6" name="TextBox 5"/>
          <p:cNvSpPr txBox="1"/>
          <p:nvPr/>
        </p:nvSpPr>
        <p:spPr>
          <a:xfrm>
            <a:off x="547200" y="3960000"/>
            <a:ext cx="11062800" cy="503999"/>
          </a:xfrm>
          <a:prstGeom prst="rect">
            <a:avLst/>
          </a:prstGeom>
          <a:noFill/>
        </p:spPr>
        <p:txBody>
          <a:bodyPr wrap="square" lIns="0" rIns="0" tIns="0" bIns="0" anchor="t">
            <a:spAutoFit/>
          </a:bodyPr>
          <a:lstStyle/>
          <a:p>
            <a:r>
              <a:rPr sz="1200" b="0">
                <a:solidFill>
                  <a:srgbClr val="222B38"/>
                </a:solidFill>
                <a:latin typeface="Yu Gothic"/>
                <a:ea typeface="Yu Gothic"/>
                <a:cs typeface="Yu Gothic"/>
              </a:rPr>
              <a:t>転記元: 年間カレンダー（BTR-F-17）「カレンダー」</a:t>
            </a:r>
          </a:p>
          <a:p>
            <a:r>
              <a:rPr sz="1200" b="0">
                <a:solidFill>
                  <a:srgbClr val="222B38"/>
                </a:solidFill>
                <a:latin typeface="Yu Gothic"/>
                <a:ea typeface="Yu Gothic"/>
                <a:cs typeface="Yu Gothic"/>
              </a:rPr>
              <a:t>移管する予算も含めて、必要な予算はこれまでどおり部門の予算に計上してください。確認や承認が期限に間に合わない場合は、期限の前に案件担当か予算移管事務局に相談してください。</a:t>
            </a:r>
          </a:p>
        </p:txBody>
      </p:sp>
      <p:sp>
        <p:nvSpPr>
          <p:cNvPr id="7" name="TextBox 6"/>
          <p:cNvSpPr txBox="1"/>
          <p:nvPr/>
        </p:nvSpPr>
        <p:spPr>
          <a:xfrm>
            <a:off x="547200" y="5976000"/>
            <a:ext cx="11062800" cy="216000"/>
          </a:xfrm>
          <a:prstGeom prst="rect">
            <a:avLst/>
          </a:prstGeom>
          <a:noFill/>
        </p:spPr>
        <p:txBody>
          <a:bodyPr wrap="square" lIns="0" rIns="0" tIns="0" bIns="0" anchor="t">
            <a:spAutoFit/>
          </a:bodyPr>
          <a:lstStyle/>
          <a:p>
            <a:r>
              <a:rPr sz="1000" b="0">
                <a:solidFill>
                  <a:srgbClr val="5E7391"/>
                </a:solidFill>
                <a:latin typeface="Yu Gothic"/>
                <a:ea typeface="Yu Gothic"/>
                <a:cs typeface="Yu Gothic"/>
              </a:rPr>
              <a:t>根拠: 年間カレンダー（BTR-F-17）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7200" y="320400"/>
            <a:ext cx="11062800" cy="640800"/>
          </a:xfrm>
          <a:prstGeom prst="rect">
            <a:avLst/>
          </a:prstGeom>
          <a:noFill/>
        </p:spPr>
        <p:txBody>
          <a:bodyPr wrap="square" lIns="0" rIns="0" tIns="0" bIns="0" anchor="ctr">
            <a:spAutoFit/>
          </a:bodyPr>
          <a:lstStyle/>
          <a:p>
            <a:r>
              <a:rPr sz="2600" b="1">
                <a:solidFill>
                  <a:srgbClr val="1C2B45"/>
                </a:solidFill>
                <a:latin typeface="Yu Gothic"/>
                <a:ea typeface="Yu Gothic"/>
                <a:cs typeface="Yu Gothic"/>
              </a:rPr>
              <a:t>予算シートとヒアリングでお願いすること</a:t>
            </a:r>
          </a:p>
        </p:txBody>
      </p:sp>
      <p:sp>
        <p:nvSpPr>
          <p:cNvPr id="3" name="TextBox 2"/>
          <p:cNvSpPr txBox="1"/>
          <p:nvPr/>
        </p:nvSpPr>
        <p:spPr>
          <a:xfrm>
            <a:off x="547200" y="6400800"/>
            <a:ext cx="8229600" cy="273600"/>
          </a:xfrm>
          <a:prstGeom prst="rect">
            <a:avLst/>
          </a:prstGeom>
          <a:noFill/>
        </p:spPr>
        <p:txBody>
          <a:bodyPr wrap="square" lIns="0" rIns="0" tIns="0" bIns="0" anchor="t">
            <a:spAutoFit/>
          </a:bodyPr>
          <a:lstStyle/>
          <a:p>
            <a:r>
              <a:rPr sz="900" b="0">
                <a:solidFill>
                  <a:srgbClr val="999999"/>
                </a:solidFill>
                <a:latin typeface="Yu Gothic"/>
                <a:ea typeface="Yu Gothic"/>
                <a:cs typeface="Yu Gothic"/>
              </a:rPr>
              <a:t>BTR-F-12　IT予算移管 移管対象部門ガイド</a:t>
            </a:r>
          </a:p>
        </p:txBody>
      </p:sp>
      <p:sp>
        <p:nvSpPr>
          <p:cNvPr id="4" name="TextBox 3"/>
          <p:cNvSpPr txBox="1"/>
          <p:nvPr/>
        </p:nvSpPr>
        <p:spPr>
          <a:xfrm>
            <a:off x="11156400" y="6400800"/>
            <a:ext cx="547200" cy="273600"/>
          </a:xfrm>
          <a:prstGeom prst="rect">
            <a:avLst/>
          </a:prstGeom>
          <a:noFill/>
        </p:spPr>
        <p:txBody>
          <a:bodyPr wrap="square" lIns="0" rIns="0" tIns="0" bIns="0" anchor="t">
            <a:spAutoFit/>
          </a:bodyPr>
          <a:lstStyle/>
          <a:p>
            <a:pPr algn="r"/>
            <a:r>
              <a:rPr sz="900" b="0">
                <a:solidFill>
                  <a:srgbClr val="999999"/>
                </a:solidFill>
                <a:latin typeface="Yu Gothic"/>
                <a:ea typeface="Yu Gothic"/>
                <a:cs typeface="Yu Gothic"/>
              </a:rPr>
              <a:t>7</a:t>
            </a:r>
          </a:p>
        </p:txBody>
      </p:sp>
      <p:graphicFrame>
        <p:nvGraphicFramePr>
          <p:cNvPr id="5" name="Table 4"/>
          <p:cNvGraphicFramePr>
            <a:graphicFrameLocks noGrp="1"/>
          </p:cNvGraphicFramePr>
          <p:nvPr/>
        </p:nvGraphicFramePr>
        <p:xfrm>
          <a:off x="547200" y="1188000"/>
          <a:ext cx="11062800" cy="3456000"/>
        </p:xfrm>
        <a:graphic>
          <a:graphicData uri="http://schemas.openxmlformats.org/drawingml/2006/table">
            <a:tbl>
              <a:tblPr firstRow="0" bandRow="0">
                <a:tableStyleId>{5940675A-B579-460E-94D1-54222C63F5DA}</a:tableStyleId>
              </a:tblPr>
              <a:tblGrid>
                <a:gridCol w="1800000"/>
                <a:gridCol w="3600000"/>
                <a:gridCol w="2880000"/>
                <a:gridCol w="2782800"/>
              </a:tblGrid>
              <a:tr h="576000">
                <a:tc>
                  <a:txBody>
                    <a:bodyPr wrap="square"/>
                    <a:lstStyle/>
                    <a:p>
                      <a:r>
                        <a:rPr sz="1100" b="1">
                          <a:solidFill>
                            <a:srgbClr val="FFFFFF"/>
                          </a:solidFill>
                          <a:latin typeface="Yu Gothic"/>
                          <a:ea typeface="Yu Gothic"/>
                          <a:cs typeface="Yu Gothic"/>
                        </a:rPr>
                        <a:t>項目</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100" b="1">
                          <a:solidFill>
                            <a:srgbClr val="FFFFFF"/>
                          </a:solidFill>
                          <a:latin typeface="Yu Gothic"/>
                          <a:ea typeface="Yu Gothic"/>
                          <a:cs typeface="Yu Gothic"/>
                        </a:rPr>
                        <a:t>書くこと・伺うこと</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100" b="1">
                          <a:solidFill>
                            <a:srgbClr val="FFFFFF"/>
                          </a:solidFill>
                          <a:latin typeface="Yu Gothic"/>
                          <a:ea typeface="Yu Gothic"/>
                          <a:cs typeface="Yu Gothic"/>
                        </a:rPr>
                        <a:t>良い例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100" b="1">
                          <a:solidFill>
                            <a:srgbClr val="FFFFFF"/>
                          </a:solidFill>
                          <a:latin typeface="Yu Gothic"/>
                          <a:ea typeface="Yu Gothic"/>
                          <a:cs typeface="Yu Gothic"/>
                        </a:rPr>
                        <a:t>避けたい例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r>
              <a:tr h="576000">
                <a:tc>
                  <a:txBody>
                    <a:bodyPr wrap="square"/>
                    <a:lstStyle/>
                    <a:p>
                      <a:r>
                        <a:rPr sz="1100" b="0">
                          <a:solidFill>
                            <a:srgbClr val="222B38"/>
                          </a:solidFill>
                          <a:latin typeface="Yu Gothic"/>
                          <a:ea typeface="Yu Gothic"/>
                          <a:cs typeface="Yu Gothic"/>
                        </a:rPr>
                        <a:t>予算シートの行</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案件ごとに1行。新規導入・改修と、保守・ライセンス・運用が混ざる案件は行を分ける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「○○システム改修」と「○○システム保守」を2行に分ける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改修と保守を1行にまとめる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576000">
                <a:tc>
                  <a:txBody>
                    <a:bodyPr wrap="square"/>
                    <a:lstStyle/>
                    <a:p>
                      <a:r>
                        <a:rPr sz="1100" b="0">
                          <a:solidFill>
                            <a:srgbClr val="222B38"/>
                          </a:solidFill>
                          <a:latin typeface="Yu Gothic"/>
                          <a:ea typeface="Yu Gothic"/>
                          <a:cs typeface="Yu Gothic"/>
                        </a:rPr>
                        <a:t>システム</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案件の予算で費用を払っているシステム</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「○○システム（品質文書の管理）」</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「研究関係のシステム一式」</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576000">
                <a:tc>
                  <a:txBody>
                    <a:bodyPr wrap="square"/>
                    <a:lstStyle/>
                    <a:p>
                      <a:r>
                        <a:rPr sz="1100" b="0">
                          <a:solidFill>
                            <a:srgbClr val="222B38"/>
                          </a:solidFill>
                          <a:latin typeface="Yu Gothic"/>
                          <a:ea typeface="Yu Gothic"/>
                          <a:cs typeface="Yu Gothic"/>
                        </a:rPr>
                        <a:t>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システムに関わって部門が行っている業務（委託先への指示、契約・予算の管理、部門で行う運用など）と、その実施者・頻度・おおよその年間工数</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「委託先の月次報告の確認（月1回、年12人日程度）」</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「保守全般」</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576000">
                <a:tc>
                  <a:txBody>
                    <a:bodyPr wrap="square"/>
                    <a:lstStyle/>
                    <a:p>
                      <a:r>
                        <a:rPr sz="1100" b="0">
                          <a:solidFill>
                            <a:srgbClr val="222B38"/>
                          </a:solidFill>
                          <a:latin typeface="Yu Gothic"/>
                          <a:ea typeface="Yu Gothic"/>
                          <a:cs typeface="Yu Gothic"/>
                        </a:rPr>
                        <a:t>契約</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契約名・相手先・期間・自動更新・解約予告・年間金額と、管理している業務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「○○社 保守契約（年額○○万円、3か月前に予告）」</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契約書が手元にないので空欄にする（分かる範囲で伺います）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576000">
                <a:tc>
                  <a:txBody>
                    <a:bodyPr wrap="square"/>
                    <a:lstStyle/>
                    <a:p>
                      <a:r>
                        <a:rPr sz="1100" b="0">
                          <a:solidFill>
                            <a:srgbClr val="222B38"/>
                          </a:solidFill>
                          <a:latin typeface="Yu Gothic"/>
                          <a:ea typeface="Yu Gothic"/>
                          <a:cs typeface="Yu Gothic"/>
                        </a:rPr>
                        <a:t>懸念・条件</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一括移管で心配なこと、間接業務の引継ぎで守ってほしいこと</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「GxPの手順を変えずに引き継いでほしい」</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100" b="0">
                          <a:solidFill>
                            <a:srgbClr val="222B38"/>
                          </a:solidFill>
                          <a:latin typeface="Yu Gothic"/>
                          <a:ea typeface="Yu Gothic"/>
                          <a:cs typeface="Yu Gothic"/>
                        </a:rPr>
                        <a:t>「移管したくない」（移すかどうかは変わらないため、懸念を具体的に伺います）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bl>
          </a:graphicData>
        </a:graphic>
      </p:graphicFrame>
      <p:sp>
        <p:nvSpPr>
          <p:cNvPr id="6" name="TextBox 5"/>
          <p:cNvSpPr txBox="1"/>
          <p:nvPr/>
        </p:nvSpPr>
        <p:spPr>
          <a:xfrm>
            <a:off x="547200" y="4896000"/>
            <a:ext cx="11062800" cy="648000"/>
          </a:xfrm>
          <a:prstGeom prst="rect">
            <a:avLst/>
          </a:prstGeom>
          <a:noFill/>
        </p:spPr>
        <p:txBody>
          <a:bodyPr wrap="square" lIns="0" rIns="0" tIns="0" bIns="0" anchor="t">
            <a:spAutoFit/>
          </a:bodyPr>
          <a:lstStyle/>
          <a:p>
            <a:r>
              <a:rPr sz="1200" b="0">
                <a:solidFill>
                  <a:srgbClr val="222B38"/>
                </a:solidFill>
                <a:latin typeface="Yu Gothic"/>
                <a:ea typeface="Yu Gothic"/>
                <a:cs typeface="Yu Gothic"/>
              </a:rPr>
              <a:t>業務が直接業務か間接業務かは、ヒアリングで一緒に確認します。</a:t>
            </a:r>
          </a:p>
          <a:p>
            <a:r>
              <a:rPr sz="1200" b="0">
                <a:solidFill>
                  <a:srgbClr val="222B38"/>
                </a:solidFill>
                <a:latin typeface="Yu Gothic"/>
                <a:ea typeface="Yu Gothic"/>
                <a:cs typeface="Yu Gothic"/>
              </a:rPr>
              <a:t>事前にご用意いただきたい資料: 契約書（写し）、システム構成図・設計書、運用手順書・SOP、委託先からの報告書（手元にあるものだけで結構です）</a:t>
            </a:r>
          </a:p>
        </p:txBody>
      </p:sp>
      <p:sp>
        <p:nvSpPr>
          <p:cNvPr id="7" name="TextBox 6"/>
          <p:cNvSpPr txBox="1"/>
          <p:nvPr/>
        </p:nvSpPr>
        <p:spPr>
          <a:xfrm>
            <a:off x="547200" y="5976000"/>
            <a:ext cx="11062800" cy="216000"/>
          </a:xfrm>
          <a:prstGeom prst="rect">
            <a:avLst/>
          </a:prstGeom>
          <a:noFill/>
        </p:spPr>
        <p:txBody>
          <a:bodyPr wrap="square" lIns="0" rIns="0" tIns="0" bIns="0" anchor="t">
            <a:spAutoFit/>
          </a:bodyPr>
          <a:lstStyle/>
          <a:p>
            <a:r>
              <a:rPr sz="1000" b="0">
                <a:solidFill>
                  <a:srgbClr val="5E7391"/>
                </a:solidFill>
                <a:latin typeface="Yu Gothic"/>
                <a:ea typeface="Yu Gothic"/>
                <a:cs typeface="Yu Gothic"/>
              </a:rPr>
              <a:t>根拠: 憲章 第8条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7200" y="320400"/>
            <a:ext cx="11062800" cy="640800"/>
          </a:xfrm>
          <a:prstGeom prst="rect">
            <a:avLst/>
          </a:prstGeom>
          <a:noFill/>
        </p:spPr>
        <p:txBody>
          <a:bodyPr wrap="square" lIns="0" rIns="0" tIns="0" bIns="0" anchor="ctr">
            <a:spAutoFit/>
          </a:bodyPr>
          <a:lstStyle/>
          <a:p>
            <a:r>
              <a:rPr sz="2600" b="1">
                <a:solidFill>
                  <a:srgbClr val="1C2B45"/>
                </a:solidFill>
                <a:latin typeface="Yu Gothic"/>
                <a:ea typeface="Yu Gothic"/>
                <a:cs typeface="Yu Gothic"/>
              </a:rPr>
              <a:t>移管の時期と次のステップ</a:t>
            </a:r>
          </a:p>
        </p:txBody>
      </p:sp>
      <p:sp>
        <p:nvSpPr>
          <p:cNvPr id="3" name="TextBox 2"/>
          <p:cNvSpPr txBox="1"/>
          <p:nvPr/>
        </p:nvSpPr>
        <p:spPr>
          <a:xfrm>
            <a:off x="547200" y="6400800"/>
            <a:ext cx="8229600" cy="273600"/>
          </a:xfrm>
          <a:prstGeom prst="rect">
            <a:avLst/>
          </a:prstGeom>
          <a:noFill/>
        </p:spPr>
        <p:txBody>
          <a:bodyPr wrap="square" lIns="0" rIns="0" tIns="0" bIns="0" anchor="t">
            <a:spAutoFit/>
          </a:bodyPr>
          <a:lstStyle/>
          <a:p>
            <a:r>
              <a:rPr sz="900" b="0">
                <a:solidFill>
                  <a:srgbClr val="999999"/>
                </a:solidFill>
                <a:latin typeface="Yu Gothic"/>
                <a:ea typeface="Yu Gothic"/>
                <a:cs typeface="Yu Gothic"/>
              </a:rPr>
              <a:t>BTR-F-12　IT予算移管 移管対象部門ガイド</a:t>
            </a:r>
          </a:p>
        </p:txBody>
      </p:sp>
      <p:sp>
        <p:nvSpPr>
          <p:cNvPr id="4" name="TextBox 3"/>
          <p:cNvSpPr txBox="1"/>
          <p:nvPr/>
        </p:nvSpPr>
        <p:spPr>
          <a:xfrm>
            <a:off x="11156400" y="6400800"/>
            <a:ext cx="547200" cy="273600"/>
          </a:xfrm>
          <a:prstGeom prst="rect">
            <a:avLst/>
          </a:prstGeom>
          <a:noFill/>
        </p:spPr>
        <p:txBody>
          <a:bodyPr wrap="square" lIns="0" rIns="0" tIns="0" bIns="0" anchor="t">
            <a:spAutoFit/>
          </a:bodyPr>
          <a:lstStyle/>
          <a:p>
            <a:pPr algn="r"/>
            <a:r>
              <a:rPr sz="900" b="0">
                <a:solidFill>
                  <a:srgbClr val="999999"/>
                </a:solidFill>
                <a:latin typeface="Yu Gothic"/>
                <a:ea typeface="Yu Gothic"/>
                <a:cs typeface="Yu Gothic"/>
              </a:rPr>
              <a:t>8</a:t>
            </a:r>
          </a:p>
        </p:txBody>
      </p:sp>
      <p:sp>
        <p:nvSpPr>
          <p:cNvPr id="5" name="Rectangle 4"/>
          <p:cNvSpPr/>
          <p:nvPr/>
        </p:nvSpPr>
        <p:spPr>
          <a:xfrm>
            <a:off x="547200" y="1188000"/>
            <a:ext cx="2610000" cy="2880000"/>
          </a:xfrm>
          <a:prstGeom prst="rect">
            <a:avLst/>
          </a:prstGeom>
          <a:solidFill>
            <a:srgbClr val="F4F6F9"/>
          </a:solidFill>
          <a:ln w="12700">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p>
        </p:txBody>
      </p:sp>
      <p:sp>
        <p:nvSpPr>
          <p:cNvPr id="6" name="TextBox 5"/>
          <p:cNvSpPr txBox="1"/>
          <p:nvPr/>
        </p:nvSpPr>
        <p:spPr>
          <a:xfrm>
            <a:off x="691200" y="1332000"/>
            <a:ext cx="2322000" cy="324000"/>
          </a:xfrm>
          <a:prstGeom prst="rect">
            <a:avLst/>
          </a:prstGeom>
          <a:noFill/>
        </p:spPr>
        <p:txBody>
          <a:bodyPr wrap="square" lIns="0" rIns="0" tIns="0" bIns="0" anchor="t">
            <a:spAutoFit/>
          </a:bodyPr>
          <a:lstStyle/>
          <a:p>
            <a:r>
              <a:rPr sz="1500" b="1">
                <a:solidFill>
                  <a:srgbClr val="1C2B45"/>
                </a:solidFill>
                <a:latin typeface="Yu Gothic"/>
                <a:ea typeface="Yu Gothic"/>
                <a:cs typeface="Yu Gothic"/>
              </a:rPr>
              <a:t>一括移管</a:t>
            </a:r>
          </a:p>
        </p:txBody>
      </p:sp>
      <p:sp>
        <p:nvSpPr>
          <p:cNvPr id="7" name="TextBox 6"/>
          <p:cNvSpPr txBox="1"/>
          <p:nvPr/>
        </p:nvSpPr>
        <p:spPr>
          <a:xfrm>
            <a:off x="691200" y="1764000"/>
            <a:ext cx="2322000" cy="2160000"/>
          </a:xfrm>
          <a:prstGeom prst="rect">
            <a:avLst/>
          </a:prstGeom>
          <a:noFill/>
        </p:spPr>
        <p:txBody>
          <a:bodyPr wrap="square" lIns="0" rIns="0" tIns="0" bIns="0" anchor="t">
            <a:spAutoFit/>
          </a:bodyPr>
          <a:lstStyle/>
          <a:p>
            <a:r>
              <a:rPr sz="1200" b="0">
                <a:solidFill>
                  <a:srgbClr val="222B38"/>
                </a:solidFill>
                <a:latin typeface="Yu Gothic"/>
                <a:ea typeface="Yu Gothic"/>
                <a:cs typeface="Yu Gothic"/>
              </a:rPr>
              <a:t>すべての予算は12月末までの稟議で、間接業務は1月1日に移します。契約の内容は変わらず、次回の更新から署名者が IT部門になります。請求書の宛名の変更は IT部門が相手先に連絡します。</a:t>
            </a:r>
          </a:p>
        </p:txBody>
      </p:sp>
      <p:sp>
        <p:nvSpPr>
          <p:cNvPr id="8" name="Rectangle 7"/>
          <p:cNvSpPr/>
          <p:nvPr/>
        </p:nvSpPr>
        <p:spPr>
          <a:xfrm>
            <a:off x="3337200" y="1188000"/>
            <a:ext cx="2610000" cy="2880000"/>
          </a:xfrm>
          <a:prstGeom prst="rect">
            <a:avLst/>
          </a:prstGeom>
          <a:solidFill>
            <a:srgbClr val="F4F6F9"/>
          </a:solidFill>
          <a:ln w="12700">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p>
        </p:txBody>
      </p:sp>
      <p:sp>
        <p:nvSpPr>
          <p:cNvPr id="9" name="TextBox 8"/>
          <p:cNvSpPr txBox="1"/>
          <p:nvPr/>
        </p:nvSpPr>
        <p:spPr>
          <a:xfrm>
            <a:off x="3481200" y="1332000"/>
            <a:ext cx="2322000" cy="324000"/>
          </a:xfrm>
          <a:prstGeom prst="rect">
            <a:avLst/>
          </a:prstGeom>
          <a:noFill/>
        </p:spPr>
        <p:txBody>
          <a:bodyPr wrap="square" lIns="0" rIns="0" tIns="0" bIns="0" anchor="t">
            <a:spAutoFit/>
          </a:bodyPr>
          <a:lstStyle/>
          <a:p>
            <a:r>
              <a:rPr sz="1500" b="1">
                <a:solidFill>
                  <a:srgbClr val="1C2B45"/>
                </a:solidFill>
                <a:latin typeface="Yu Gothic"/>
                <a:ea typeface="Yu Gothic"/>
                <a:cs typeface="Yu Gothic"/>
              </a:rPr>
              <a:t>経過措置</a:t>
            </a:r>
          </a:p>
        </p:txBody>
      </p:sp>
      <p:sp>
        <p:nvSpPr>
          <p:cNvPr id="10" name="TextBox 9"/>
          <p:cNvSpPr txBox="1"/>
          <p:nvPr/>
        </p:nvSpPr>
        <p:spPr>
          <a:xfrm>
            <a:off x="3481200" y="1764000"/>
            <a:ext cx="2322000" cy="2160000"/>
          </a:xfrm>
          <a:prstGeom prst="rect">
            <a:avLst/>
          </a:prstGeom>
          <a:noFill/>
        </p:spPr>
        <p:txBody>
          <a:bodyPr wrap="square" lIns="0" rIns="0" tIns="0" bIns="0" anchor="t">
            <a:spAutoFit/>
          </a:bodyPr>
          <a:lstStyle/>
          <a:p>
            <a:r>
              <a:rPr sz="1200" b="0">
                <a:solidFill>
                  <a:srgbClr val="222B38"/>
                </a:solidFill>
                <a:latin typeface="Yu Gothic"/>
                <a:ea typeface="Yu Gothic"/>
                <a:cs typeface="Yu Gothic"/>
              </a:rPr>
              <a:t>承認済みの文書（SOP・規程・職務分掌など）で担当が定められ、変更に正式な手続き（GxPの変更管理など）が要る業務は、手続きが終わるまで今の担当が続けます。予算は1月1日に移します。完了予定は合意文書に記録します。</a:t>
            </a:r>
          </a:p>
        </p:txBody>
      </p:sp>
      <p:sp>
        <p:nvSpPr>
          <p:cNvPr id="11" name="Rectangle 10"/>
          <p:cNvSpPr/>
          <p:nvPr/>
        </p:nvSpPr>
        <p:spPr>
          <a:xfrm>
            <a:off x="6127200" y="1188000"/>
            <a:ext cx="2610000" cy="2880000"/>
          </a:xfrm>
          <a:prstGeom prst="rect">
            <a:avLst/>
          </a:prstGeom>
          <a:solidFill>
            <a:srgbClr val="F4F6F9"/>
          </a:solidFill>
          <a:ln w="12700">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p>
        </p:txBody>
      </p:sp>
      <p:sp>
        <p:nvSpPr>
          <p:cNvPr id="12" name="TextBox 11"/>
          <p:cNvSpPr txBox="1"/>
          <p:nvPr/>
        </p:nvSpPr>
        <p:spPr>
          <a:xfrm>
            <a:off x="6271199" y="1332000"/>
            <a:ext cx="2322000" cy="324000"/>
          </a:xfrm>
          <a:prstGeom prst="rect">
            <a:avLst/>
          </a:prstGeom>
          <a:noFill/>
        </p:spPr>
        <p:txBody>
          <a:bodyPr wrap="square" lIns="0" rIns="0" tIns="0" bIns="0" anchor="t">
            <a:spAutoFit/>
          </a:bodyPr>
          <a:lstStyle/>
          <a:p>
            <a:r>
              <a:rPr sz="1500" b="1">
                <a:solidFill>
                  <a:srgbClr val="1C2B45"/>
                </a:solidFill>
                <a:latin typeface="Yu Gothic"/>
                <a:ea typeface="Yu Gothic"/>
                <a:cs typeface="Yu Gothic"/>
              </a:rPr>
              <a:t>対象外</a:t>
            </a:r>
          </a:p>
        </p:txBody>
      </p:sp>
      <p:sp>
        <p:nvSpPr>
          <p:cNvPr id="13" name="TextBox 12"/>
          <p:cNvSpPr txBox="1"/>
          <p:nvPr/>
        </p:nvSpPr>
        <p:spPr>
          <a:xfrm>
            <a:off x="6271199" y="1764000"/>
            <a:ext cx="2322000" cy="2160000"/>
          </a:xfrm>
          <a:prstGeom prst="rect">
            <a:avLst/>
          </a:prstGeom>
          <a:noFill/>
        </p:spPr>
        <p:txBody>
          <a:bodyPr wrap="square" lIns="0" rIns="0" tIns="0" bIns="0" anchor="t">
            <a:spAutoFit/>
          </a:bodyPr>
          <a:lstStyle/>
          <a:p>
            <a:r>
              <a:rPr sz="1200" b="0">
                <a:solidFill>
                  <a:srgbClr val="222B38"/>
                </a:solidFill>
                <a:latin typeface="Yu Gothic"/>
                <a:ea typeface="Yu Gothic"/>
                <a:cs typeface="Yu Gothic"/>
              </a:rPr>
              <a:t>システムと関係のない予算・契約・業務、今年度から続く投資案件、各部門の業務（直接業務）は、各部門に残ります。</a:t>
            </a:r>
          </a:p>
        </p:txBody>
      </p:sp>
      <p:sp>
        <p:nvSpPr>
          <p:cNvPr id="14" name="Rectangle 13"/>
          <p:cNvSpPr/>
          <p:nvPr/>
        </p:nvSpPr>
        <p:spPr>
          <a:xfrm>
            <a:off x="8917200" y="1188000"/>
            <a:ext cx="2610000" cy="2880000"/>
          </a:xfrm>
          <a:prstGeom prst="rect">
            <a:avLst/>
          </a:prstGeom>
          <a:solidFill>
            <a:srgbClr val="F4F6F9"/>
          </a:solidFill>
          <a:ln w="12700">
            <a:solidFill>
              <a:srgbClr val="1C2B4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10800" bIns="10800"/>
          <a:lstStyle/>
          <a:p>
            <a:pPr algn="ctr"/>
          </a:p>
        </p:txBody>
      </p:sp>
      <p:sp>
        <p:nvSpPr>
          <p:cNvPr id="15" name="TextBox 14"/>
          <p:cNvSpPr txBox="1"/>
          <p:nvPr/>
        </p:nvSpPr>
        <p:spPr>
          <a:xfrm>
            <a:off x="9061200" y="1332000"/>
            <a:ext cx="2322000" cy="324000"/>
          </a:xfrm>
          <a:prstGeom prst="rect">
            <a:avLst/>
          </a:prstGeom>
          <a:noFill/>
        </p:spPr>
        <p:txBody>
          <a:bodyPr wrap="square" lIns="0" rIns="0" tIns="0" bIns="0" anchor="t">
            <a:spAutoFit/>
          </a:bodyPr>
          <a:lstStyle/>
          <a:p>
            <a:r>
              <a:rPr sz="1500" b="1">
                <a:solidFill>
                  <a:srgbClr val="1C2B45"/>
                </a:solidFill>
                <a:latin typeface="Yu Gothic"/>
                <a:ea typeface="Yu Gothic"/>
                <a:cs typeface="Yu Gothic"/>
              </a:rPr>
              <a:t>判定保留</a:t>
            </a:r>
          </a:p>
        </p:txBody>
      </p:sp>
      <p:sp>
        <p:nvSpPr>
          <p:cNvPr id="16" name="TextBox 15"/>
          <p:cNvSpPr txBox="1"/>
          <p:nvPr/>
        </p:nvSpPr>
        <p:spPr>
          <a:xfrm>
            <a:off x="9061200" y="1764000"/>
            <a:ext cx="2322000" cy="2160000"/>
          </a:xfrm>
          <a:prstGeom prst="rect">
            <a:avLst/>
          </a:prstGeom>
          <a:noFill/>
        </p:spPr>
        <p:txBody>
          <a:bodyPr wrap="square" lIns="0" rIns="0" tIns="0" bIns="0" anchor="t">
            <a:spAutoFit/>
          </a:bodyPr>
          <a:lstStyle/>
          <a:p>
            <a:r>
              <a:rPr sz="1200" b="0">
                <a:solidFill>
                  <a:srgbClr val="222B38"/>
                </a:solidFill>
                <a:latin typeface="Yu Gothic"/>
                <a:ea typeface="Yu Gothic"/>
                <a:cs typeface="Yu Gothic"/>
              </a:rPr>
              <a:t>判定に必要な情報が足りない状態です。追加で伺います。</a:t>
            </a:r>
          </a:p>
        </p:txBody>
      </p:sp>
      <p:sp>
        <p:nvSpPr>
          <p:cNvPr id="17" name="TextBox 16"/>
          <p:cNvSpPr txBox="1"/>
          <p:nvPr/>
        </p:nvSpPr>
        <p:spPr>
          <a:xfrm>
            <a:off x="547200" y="4320000"/>
            <a:ext cx="11062800" cy="648000"/>
          </a:xfrm>
          <a:prstGeom prst="rect">
            <a:avLst/>
          </a:prstGeom>
          <a:noFill/>
        </p:spPr>
        <p:txBody>
          <a:bodyPr wrap="square" lIns="0" rIns="0" tIns="0" bIns="0" anchor="t">
            <a:spAutoFit/>
          </a:bodyPr>
          <a:lstStyle/>
          <a:p>
            <a:r>
              <a:rPr sz="1200" b="0">
                <a:solidFill>
                  <a:srgbClr val="222B38"/>
                </a:solidFill>
                <a:latin typeface="Yu Gothic"/>
                <a:ea typeface="Yu Gothic"/>
                <a:cs typeface="Yu Gothic"/>
              </a:rPr>
              <a:t>移管の後も、各部門の業務（直接業務）は変わりません。システムに関わる業務（IT関連業務）は、案件ごとに合意した役割分担で進めます。移管した間接業務（発注・検収・支払い、委託先への指示など）の手順は、移管の直後は変えません。</a:t>
            </a:r>
          </a:p>
          <a:p>
            <a:r>
              <a:rPr sz="1200" b="0">
                <a:solidFill>
                  <a:srgbClr val="222B38"/>
                </a:solidFill>
                <a:latin typeface="Yu Gothic"/>
                <a:ea typeface="Yu Gothic"/>
                <a:cs typeface="Yu Gothic"/>
              </a:rPr>
              <a:t>契約・委託先に関する依頼への回答期限、軽微な変更の扱い、費用の単価と内訳は、移管の前にお示しします。</a:t>
            </a:r>
          </a:p>
        </p:txBody>
      </p:sp>
      <p:sp>
        <p:nvSpPr>
          <p:cNvPr id="18" name="TextBox 17"/>
          <p:cNvSpPr txBox="1"/>
          <p:nvPr/>
        </p:nvSpPr>
        <p:spPr>
          <a:xfrm>
            <a:off x="547200" y="5976000"/>
            <a:ext cx="11062800" cy="216000"/>
          </a:xfrm>
          <a:prstGeom prst="rect">
            <a:avLst/>
          </a:prstGeom>
          <a:noFill/>
        </p:spPr>
        <p:txBody>
          <a:bodyPr wrap="square" lIns="0" rIns="0" tIns="0" bIns="0" anchor="t">
            <a:spAutoFit/>
          </a:bodyPr>
          <a:lstStyle/>
          <a:p>
            <a:r>
              <a:rPr sz="1000" b="0">
                <a:solidFill>
                  <a:srgbClr val="5E7391"/>
                </a:solidFill>
                <a:latin typeface="Yu Gothic"/>
                <a:ea typeface="Yu Gothic"/>
                <a:cs typeface="Yu Gothic"/>
              </a:rPr>
              <a:t>根拠: 憲章 第8条〜第11条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7200" y="320400"/>
            <a:ext cx="11062800" cy="640800"/>
          </a:xfrm>
          <a:prstGeom prst="rect">
            <a:avLst/>
          </a:prstGeom>
          <a:noFill/>
        </p:spPr>
        <p:txBody>
          <a:bodyPr wrap="square" lIns="0" rIns="0" tIns="0" bIns="0" anchor="ctr">
            <a:spAutoFit/>
          </a:bodyPr>
          <a:lstStyle/>
          <a:p>
            <a:r>
              <a:rPr sz="2600" b="1">
                <a:solidFill>
                  <a:srgbClr val="1C2B45"/>
                </a:solidFill>
                <a:latin typeface="Yu Gothic"/>
                <a:ea typeface="Yu Gothic"/>
                <a:cs typeface="Yu Gothic"/>
              </a:rPr>
              <a:t>よくある間違いと問い合わせ先</a:t>
            </a:r>
          </a:p>
        </p:txBody>
      </p:sp>
      <p:sp>
        <p:nvSpPr>
          <p:cNvPr id="3" name="TextBox 2"/>
          <p:cNvSpPr txBox="1"/>
          <p:nvPr/>
        </p:nvSpPr>
        <p:spPr>
          <a:xfrm>
            <a:off x="547200" y="6400800"/>
            <a:ext cx="8229600" cy="273600"/>
          </a:xfrm>
          <a:prstGeom prst="rect">
            <a:avLst/>
          </a:prstGeom>
          <a:noFill/>
        </p:spPr>
        <p:txBody>
          <a:bodyPr wrap="square" lIns="0" rIns="0" tIns="0" bIns="0" anchor="t">
            <a:spAutoFit/>
          </a:bodyPr>
          <a:lstStyle/>
          <a:p>
            <a:r>
              <a:rPr sz="900" b="0">
                <a:solidFill>
                  <a:srgbClr val="999999"/>
                </a:solidFill>
                <a:latin typeface="Yu Gothic"/>
                <a:ea typeface="Yu Gothic"/>
                <a:cs typeface="Yu Gothic"/>
              </a:rPr>
              <a:t>BTR-F-12　IT予算移管 移管対象部門ガイド</a:t>
            </a:r>
          </a:p>
        </p:txBody>
      </p:sp>
      <p:sp>
        <p:nvSpPr>
          <p:cNvPr id="4" name="TextBox 3"/>
          <p:cNvSpPr txBox="1"/>
          <p:nvPr/>
        </p:nvSpPr>
        <p:spPr>
          <a:xfrm>
            <a:off x="11156400" y="6400800"/>
            <a:ext cx="547200" cy="273600"/>
          </a:xfrm>
          <a:prstGeom prst="rect">
            <a:avLst/>
          </a:prstGeom>
          <a:noFill/>
        </p:spPr>
        <p:txBody>
          <a:bodyPr wrap="square" lIns="0" rIns="0" tIns="0" bIns="0" anchor="t">
            <a:spAutoFit/>
          </a:bodyPr>
          <a:lstStyle/>
          <a:p>
            <a:pPr algn="r"/>
            <a:r>
              <a:rPr sz="900" b="0">
                <a:solidFill>
                  <a:srgbClr val="999999"/>
                </a:solidFill>
                <a:latin typeface="Yu Gothic"/>
                <a:ea typeface="Yu Gothic"/>
                <a:cs typeface="Yu Gothic"/>
              </a:rPr>
              <a:t>9</a:t>
            </a:r>
          </a:p>
        </p:txBody>
      </p:sp>
      <p:graphicFrame>
        <p:nvGraphicFramePr>
          <p:cNvPr id="5" name="Table 4"/>
          <p:cNvGraphicFramePr>
            <a:graphicFrameLocks noGrp="1"/>
          </p:cNvGraphicFramePr>
          <p:nvPr/>
        </p:nvGraphicFramePr>
        <p:xfrm>
          <a:off x="547200" y="1188000"/>
          <a:ext cx="11062800" cy="1980000"/>
        </p:xfrm>
        <a:graphic>
          <a:graphicData uri="http://schemas.openxmlformats.org/drawingml/2006/table">
            <a:tbl>
              <a:tblPr firstRow="0" bandRow="0">
                <a:tableStyleId>{5940675A-B579-460E-94D1-54222C63F5DA}</a:tableStyleId>
              </a:tblPr>
              <a:tblGrid>
                <a:gridCol w="4320000"/>
                <a:gridCol w="6742800"/>
              </a:tblGrid>
              <a:tr h="396000">
                <a:tc>
                  <a:txBody>
                    <a:bodyPr wrap="square"/>
                    <a:lstStyle/>
                    <a:p>
                      <a:r>
                        <a:rPr sz="1200" b="1">
                          <a:solidFill>
                            <a:srgbClr val="FFFFFF"/>
                          </a:solidFill>
                          <a:latin typeface="Yu Gothic"/>
                          <a:ea typeface="Yu Gothic"/>
                          <a:cs typeface="Yu Gothic"/>
                        </a:rPr>
                        <a:t>よくある間違い</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どうすればよいか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r>
              <a:tr h="396000">
                <a:tc>
                  <a:txBody>
                    <a:bodyPr wrap="square"/>
                    <a:lstStyle/>
                    <a:p>
                      <a:r>
                        <a:rPr sz="1200" b="0">
                          <a:solidFill>
                            <a:srgbClr val="222B38"/>
                          </a:solidFill>
                          <a:latin typeface="Yu Gothic"/>
                          <a:ea typeface="Yu Gothic"/>
                          <a:cs typeface="Yu Gothic"/>
                        </a:rPr>
                        <a:t>IT部門が部門の業務も引き受けると考える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移管するのは予算・契約と、発注・検収・支払いなどの間接業務だけです。業務要件の決定や部門の業務は、各部門に残ります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96000">
                <a:tc>
                  <a:txBody>
                    <a:bodyPr wrap="square"/>
                    <a:lstStyle/>
                    <a:p>
                      <a:r>
                        <a:rPr sz="1200" b="0">
                          <a:solidFill>
                            <a:srgbClr val="222B38"/>
                          </a:solidFill>
                          <a:latin typeface="Yu Gothic"/>
                          <a:ea typeface="Yu Gothic"/>
                          <a:cs typeface="Yu Gothic"/>
                        </a:rPr>
                        <a:t>改修と保守を1行にまとめて書く</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新規導入・改修と、保守・運用で行を分けてください</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96000">
                <a:tc>
                  <a:txBody>
                    <a:bodyPr wrap="square"/>
                    <a:lstStyle/>
                    <a:p>
                      <a:r>
                        <a:rPr sz="1200" b="0">
                          <a:solidFill>
                            <a:srgbClr val="222B38"/>
                          </a:solidFill>
                          <a:latin typeface="Yu Gothic"/>
                          <a:ea typeface="Yu Gothic"/>
                          <a:cs typeface="Yu Gothic"/>
                        </a:rPr>
                        <a:t>システムと関係のない契約も移管されると考える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書籍や情報サービスの購読などは移管しません。予算シートにはそのまま書いてください</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96000">
                <a:tc>
                  <a:txBody>
                    <a:bodyPr wrap="square"/>
                    <a:lstStyle/>
                    <a:p>
                      <a:r>
                        <a:rPr sz="1200" b="0">
                          <a:solidFill>
                            <a:srgbClr val="222B38"/>
                          </a:solidFill>
                          <a:latin typeface="Yu Gothic"/>
                          <a:ea typeface="Yu Gothic"/>
                          <a:cs typeface="Yu Gothic"/>
                        </a:rPr>
                        <a:t>契約の期間が残っているので移管しないと考える</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契約期間で移すかどうかは変わりません。契約はそのまま移し、次回の更新から署名者が IT部門になります</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bl>
          </a:graphicData>
        </a:graphic>
      </p:graphicFrame>
      <p:graphicFrame>
        <p:nvGraphicFramePr>
          <p:cNvPr id="6" name="Table 5"/>
          <p:cNvGraphicFramePr>
            <a:graphicFrameLocks noGrp="1"/>
          </p:cNvGraphicFramePr>
          <p:nvPr/>
        </p:nvGraphicFramePr>
        <p:xfrm>
          <a:off x="547200" y="4176000"/>
          <a:ext cx="11062800" cy="648000"/>
        </p:xfrm>
        <a:graphic>
          <a:graphicData uri="http://schemas.openxmlformats.org/drawingml/2006/table">
            <a:tbl>
              <a:tblPr firstRow="0" bandRow="0">
                <a:tableStyleId>{5940675A-B579-460E-94D1-54222C63F5DA}</a:tableStyleId>
              </a:tblPr>
              <a:tblGrid>
                <a:gridCol w="4320000"/>
                <a:gridCol w="6742800"/>
              </a:tblGrid>
              <a:tr h="324000">
                <a:tc>
                  <a:txBody>
                    <a:bodyPr wrap="square"/>
                    <a:lstStyle/>
                    <a:p>
                      <a:r>
                        <a:rPr sz="1200" b="1">
                          <a:solidFill>
                            <a:srgbClr val="FFFFFF"/>
                          </a:solidFill>
                          <a:latin typeface="Yu Gothic"/>
                          <a:ea typeface="Yu Gothic"/>
                          <a:cs typeface="Yu Gothic"/>
                        </a:rPr>
                        <a:t>問い合わせ先</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連絡先</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r>
              <a:tr h="324000">
                <a:tc>
                  <a:txBody>
                    <a:bodyPr wrap="square"/>
                    <a:lstStyle/>
                    <a:p>
                      <a:r>
                        <a:rPr sz="1200" b="0">
                          <a:solidFill>
                            <a:srgbClr val="222B38"/>
                          </a:solidFill>
                          <a:latin typeface="Yu Gothic"/>
                          <a:ea typeface="Yu Gothic"/>
                          <a:cs typeface="Yu Gothic"/>
                        </a:rPr>
                        <a:t>予算移管事務局</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ご案内済みの窓口</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bl>
          </a:graphicData>
        </a:graphic>
      </p:graphicFrame>
      <p:sp>
        <p:nvSpPr>
          <p:cNvPr id="7" name="TextBox 6"/>
          <p:cNvSpPr txBox="1"/>
          <p:nvPr/>
        </p:nvSpPr>
        <p:spPr>
          <a:xfrm>
            <a:off x="547200" y="5976000"/>
            <a:ext cx="11062800" cy="216000"/>
          </a:xfrm>
          <a:prstGeom prst="rect">
            <a:avLst/>
          </a:prstGeom>
          <a:noFill/>
        </p:spPr>
        <p:txBody>
          <a:bodyPr wrap="square" lIns="0" rIns="0" tIns="0" bIns="0" anchor="t">
            <a:spAutoFit/>
          </a:bodyPr>
          <a:lstStyle/>
          <a:p>
            <a:r>
              <a:rPr sz="1000" b="0">
                <a:solidFill>
                  <a:srgbClr val="5E7391"/>
                </a:solidFill>
                <a:latin typeface="Yu Gothic"/>
                <a:ea typeface="Yu Gothic"/>
                <a:cs typeface="Yu Gothic"/>
              </a:rPr>
              <a:t>根拠: 憲章 第4条・第8条・第9条</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7200" y="320400"/>
            <a:ext cx="11062800" cy="640800"/>
          </a:xfrm>
          <a:prstGeom prst="rect">
            <a:avLst/>
          </a:prstGeom>
          <a:noFill/>
        </p:spPr>
        <p:txBody>
          <a:bodyPr wrap="square" lIns="0" rIns="0" tIns="0" bIns="0" anchor="ctr">
            <a:spAutoFit/>
          </a:bodyPr>
          <a:lstStyle/>
          <a:p>
            <a:r>
              <a:rPr sz="2600" b="1">
                <a:solidFill>
                  <a:srgbClr val="1C2B45"/>
                </a:solidFill>
                <a:latin typeface="Yu Gothic"/>
                <a:ea typeface="Yu Gothic"/>
                <a:cs typeface="Yu Gothic"/>
              </a:rPr>
              <a:t>改訂履歴</a:t>
            </a:r>
          </a:p>
        </p:txBody>
      </p:sp>
      <p:sp>
        <p:nvSpPr>
          <p:cNvPr id="3" name="TextBox 2"/>
          <p:cNvSpPr txBox="1"/>
          <p:nvPr/>
        </p:nvSpPr>
        <p:spPr>
          <a:xfrm>
            <a:off x="547200" y="6400800"/>
            <a:ext cx="8229600" cy="273600"/>
          </a:xfrm>
          <a:prstGeom prst="rect">
            <a:avLst/>
          </a:prstGeom>
          <a:noFill/>
        </p:spPr>
        <p:txBody>
          <a:bodyPr wrap="square" lIns="0" rIns="0" tIns="0" bIns="0" anchor="t">
            <a:spAutoFit/>
          </a:bodyPr>
          <a:lstStyle/>
          <a:p>
            <a:r>
              <a:rPr sz="900" b="0">
                <a:solidFill>
                  <a:srgbClr val="999999"/>
                </a:solidFill>
                <a:latin typeface="Yu Gothic"/>
                <a:ea typeface="Yu Gothic"/>
                <a:cs typeface="Yu Gothic"/>
              </a:rPr>
              <a:t>BTR-F-12　IT予算移管 移管対象部門ガイド</a:t>
            </a:r>
          </a:p>
        </p:txBody>
      </p:sp>
      <p:sp>
        <p:nvSpPr>
          <p:cNvPr id="4" name="TextBox 3"/>
          <p:cNvSpPr txBox="1"/>
          <p:nvPr/>
        </p:nvSpPr>
        <p:spPr>
          <a:xfrm>
            <a:off x="11156400" y="6400800"/>
            <a:ext cx="547200" cy="273600"/>
          </a:xfrm>
          <a:prstGeom prst="rect">
            <a:avLst/>
          </a:prstGeom>
          <a:noFill/>
        </p:spPr>
        <p:txBody>
          <a:bodyPr wrap="square" lIns="0" rIns="0" tIns="0" bIns="0" anchor="t">
            <a:spAutoFit/>
          </a:bodyPr>
          <a:lstStyle/>
          <a:p>
            <a:pPr algn="r"/>
            <a:r>
              <a:rPr sz="900" b="0">
                <a:solidFill>
                  <a:srgbClr val="999999"/>
                </a:solidFill>
                <a:latin typeface="Yu Gothic"/>
                <a:ea typeface="Yu Gothic"/>
                <a:cs typeface="Yu Gothic"/>
              </a:rPr>
              <a:t>10</a:t>
            </a:r>
          </a:p>
        </p:txBody>
      </p:sp>
      <p:graphicFrame>
        <p:nvGraphicFramePr>
          <p:cNvPr id="5" name="Table 4"/>
          <p:cNvGraphicFramePr>
            <a:graphicFrameLocks noGrp="1"/>
          </p:cNvGraphicFramePr>
          <p:nvPr/>
        </p:nvGraphicFramePr>
        <p:xfrm>
          <a:off x="547200" y="1188000"/>
          <a:ext cx="11062800" cy="648000"/>
        </p:xfrm>
        <a:graphic>
          <a:graphicData uri="http://schemas.openxmlformats.org/drawingml/2006/table">
            <a:tbl>
              <a:tblPr firstRow="0" bandRow="0">
                <a:tableStyleId>{5940675A-B579-460E-94D1-54222C63F5DA}</a:tableStyleId>
              </a:tblPr>
              <a:tblGrid>
                <a:gridCol w="900000"/>
                <a:gridCol w="1440000"/>
                <a:gridCol w="5040000"/>
                <a:gridCol w="1980000"/>
                <a:gridCol w="1702800"/>
              </a:tblGrid>
              <a:tr h="324000">
                <a:tc>
                  <a:txBody>
                    <a:bodyPr wrap="square"/>
                    <a:lstStyle/>
                    <a:p>
                      <a:r>
                        <a:rPr sz="1200" b="1">
                          <a:solidFill>
                            <a:srgbClr val="FFFFFF"/>
                          </a:solidFill>
                          <a:latin typeface="Yu Gothic"/>
                          <a:ea typeface="Yu Gothic"/>
                          <a:cs typeface="Yu Gothic"/>
                        </a:rPr>
                        <a:t>版</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日付</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改訂内容</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改訂者</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c>
                  <a:txBody>
                    <a:bodyPr wrap="square"/>
                    <a:lstStyle/>
                    <a:p>
                      <a:r>
                        <a:rPr sz="1200" b="1">
                          <a:solidFill>
                            <a:srgbClr val="FFFFFF"/>
                          </a:solidFill>
                          <a:latin typeface="Yu Gothic"/>
                          <a:ea typeface="Yu Gothic"/>
                          <a:cs typeface="Yu Gothic"/>
                        </a:rPr>
                        <a:t>承認者</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1C2B45"/>
                    </a:solidFill>
                  </a:tcPr>
                </a:tc>
              </a:tr>
              <a:tr h="324000">
                <a:tc>
                  <a:txBody>
                    <a:bodyPr wrap="square"/>
                    <a:lstStyle/>
                    <a:p>
                      <a:r>
                        <a:rPr sz="1200" b="0">
                          <a:solidFill>
                            <a:srgbClr val="222B38"/>
                          </a:solidFill>
                          <a:latin typeface="Yu Gothic"/>
                          <a:ea typeface="Yu Gothic"/>
                          <a:cs typeface="Yu Gothic"/>
                        </a:rPr>
                        <a:t>1.5</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2026-10-12</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個別移管と保留を廃止し、すべての予算を1月1日に一括で移すことにした。承認済みの文書で担当が定められた業務は経過措置とした。移管時期の合意を合意文書（引継ぎの方法と役割分担）の承認に改めた</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予算移管事務局</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200" b="0">
                          <a:solidFill>
                            <a:srgbClr val="222B38"/>
                          </a:solidFill>
                          <a:latin typeface="Yu Gothic"/>
                          <a:ea typeface="Yu Gothic"/>
                          <a:cs typeface="Yu Gothic"/>
                        </a:rPr>
                        <a:t>1.4</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2026-10-11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キックオフ（IT部門内）を部門の流れとスケジュールから外し、移管の稟議を流れに加えた（p.3・p.6）。問い合わせ先を案内済みの窓口とした（p.2・p.9）</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予算移管事務局</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200" b="0">
                          <a:solidFill>
                            <a:srgbClr val="222B38"/>
                          </a:solidFill>
                          <a:latin typeface="Yu Gothic"/>
                          <a:ea typeface="Yu Gothic"/>
                          <a:cs typeface="Yu Gothic"/>
                        </a:rPr>
                        <a:t>1.3</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2026-10-11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棚卸しの結果の責任者による承認をなくした（p.3・p.6）。GxPの変更管理は、12月末までに起票できれば1月1日に移すことにした（p.8）</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予算移管事務局</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200" b="0">
                          <a:solidFill>
                            <a:srgbClr val="222B38"/>
                          </a:solidFill>
                          <a:latin typeface="Yu Gothic"/>
                          <a:ea typeface="Yu Gothic"/>
                          <a:cs typeface="Yu Gothic"/>
                        </a:rPr>
                        <a:t>1.2</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2026-10-11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ヒアリングをキックオフの前（10月）とし、確認と承認をキックオフの後（11月）にした。移管時期の合意の期限（12/11）を入れた。契約は移管の時点で手続きがないこと（名義変更なし、請求書の宛名の変更は IT部門が連絡）と、個別移管は GxP の変更管理だけで案件ごと移すことに改めた</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予算移管事務局</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200" b="0">
                          <a:solidFill>
                            <a:srgbClr val="222B38"/>
                          </a:solidFill>
                          <a:latin typeface="Yu Gothic"/>
                          <a:ea typeface="Yu Gothic"/>
                          <a:cs typeface="Yu Gothic"/>
                        </a:rPr>
                        <a:t>1.1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2026-10-11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案件担当がヒアリングすること、予算は稟議で12月末までに移すこと、今年度から続く投資案件と個別移管分の予算は部門に残ることを加えた</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予算移管事務局</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r h="324000">
                <a:tc>
                  <a:txBody>
                    <a:bodyPr wrap="square"/>
                    <a:lstStyle/>
                    <a:p>
                      <a:r>
                        <a:rPr sz="1200" b="0">
                          <a:solidFill>
                            <a:srgbClr val="222B38"/>
                          </a:solidFill>
                          <a:latin typeface="Yu Gothic"/>
                          <a:ea typeface="Yu Gothic"/>
                          <a:cs typeface="Yu Gothic"/>
                        </a:rPr>
                        <a:t>1.0</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2026-10-11</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制定（承認前の案）</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予算移管事務局</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c>
                  <a:txBody>
                    <a:bodyPr wrap="square"/>
                    <a:lstStyle/>
                    <a:p>
                      <a:r>
                        <a:rPr sz="1200" b="0">
                          <a:solidFill>
                            <a:srgbClr val="222B38"/>
                          </a:solidFill>
                          <a:latin typeface="Yu Gothic"/>
                          <a:ea typeface="Yu Gothic"/>
                          <a:cs typeface="Yu Gothic"/>
                        </a:rPr>
                        <a:t/>
                      </a:r>
                    </a:p>
                  </a:txBody>
                  <a:tcPr marL="54000" marR="54000" marT="28800" marB="28800" anchor="ctr">
                    <a:lnL w="9525">
                      <a:solidFill>
                        <a:srgbClr val="9AA5B5"/>
                      </a:solidFill>
                    </a:lnL>
                    <a:lnR w="9525">
                      <a:solidFill>
                        <a:srgbClr val="9AA5B5"/>
                      </a:solidFill>
                    </a:lnR>
                    <a:lnT w="9525">
                      <a:solidFill>
                        <a:srgbClr val="9AA5B5"/>
                      </a:solidFill>
                    </a:lnT>
                    <a:lnB w="9525">
                      <a:solidFill>
                        <a:srgbClr val="9AA5B5"/>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