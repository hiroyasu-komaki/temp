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0799" y="2102400"/>
            <a:ext cx="10699200" cy="128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IT予算移管 業務フロー定義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0799" y="3474000"/>
            <a:ext cx="106992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Yu Gothic"/>
                <a:ea typeface="Yu Gothic"/>
                <a:cs typeface="Yu Gothic"/>
              </a:rPr>
              <a:t>全体の流れ・関係者・RACI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0799" y="5760000"/>
            <a:ext cx="10699200" cy="36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Yu Gothic"/>
                <a:ea typeface="Yu Gothic"/>
                <a:cs typeface="Yu Gothic"/>
              </a:rPr>
              <a:t>文書番号 BTR-P-06　｜　版 1.6　｜　所管 予算移管事務局　｜　承認者 IT部門長　｜　最終改訂日 2026-10-17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320400"/>
            <a:ext cx="11062800" cy="64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C2B45"/>
                </a:solidFill>
                <a:latin typeface="Yu Gothic"/>
                <a:ea typeface="Yu Gothic"/>
                <a:cs typeface="Yu Gothic"/>
              </a:rPr>
              <a:t>文書管理情報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200" y="6400800"/>
            <a:ext cx="8229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BTR-P-06　IT予算移管 業務フロー定義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6400" y="6400800"/>
            <a:ext cx="5472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7200" y="1188000"/>
          <a:ext cx="11062800" cy="2592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6000"/>
                <a:gridCol w="8686800"/>
              </a:tblGrid>
              <a:tr h="324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文書番号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BTR-P-06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版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1.6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所管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予算移管事務局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承認者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IT部門長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最終改訂日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2026-10-17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上位文書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IT予算移管 憲章（BTR-R-02）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見直し周期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予算編成後に1回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320400"/>
            <a:ext cx="11062800" cy="64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C2B45"/>
                </a:solidFill>
                <a:latin typeface="Yu Gothic"/>
                <a:ea typeface="Yu Gothic"/>
                <a:cs typeface="Yu Gothic"/>
              </a:rPr>
              <a:t>目的と適用範囲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200" y="6400800"/>
            <a:ext cx="8229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BTR-P-06　IT予算移管 業務フロー定義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6400" y="6400800"/>
            <a:ext cx="5472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7200" y="1188000"/>
          <a:ext cx="11062800" cy="2268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6000"/>
                <a:gridCol w="8686800"/>
              </a:tblGrid>
              <a:tr h="324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目的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ヒアリングから移管の稟議の承認（12月末のゴール）までの流れと、関係者の責任を示す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開始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（1）⏱ ヒアリングの開始の前　（2）⏱ ヒアリングの開始の前　（3）棚卸し済みになった</a:t>
                      </a:r>
                    </a:p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（4）合意済みになった　（5）⏱ 毎日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終了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（1）棚卸し済みになった　（2）引継ぎ要領が整った　（3）合意済みになった</a:t>
                      </a:r>
                    </a:p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（4）稟議が承認され、準備が完了した（12月末のゴール）　（5）まとめを受け取った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移管対象部門の2027年度予算のうち、システムに関する予算・契約と、契約に基づく間接業務（憲章 第4条）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対象外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移管対象部門の直接業務（憲章 第4条第3項）、移管対象外の部門の予算、システムと関係のない予算・契約・業務、移管したものの決裁権、移管した費用の配賦（憲章 第4条）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関係者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実務：予算移管担当（事務局、窓口担当（各チーム））　情報の提供：移管対象部門の担当者</a:t>
                      </a:r>
                    </a:p>
                    <a:p>
                      <a:r>
                        <a:rPr sz="13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承認：移管元の責任者、IT部門長（移管の稟議は部門長同士の合意）　移管の後の受け手：ベンダーマネジメント担当、事務担当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320400"/>
            <a:ext cx="11062800" cy="64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C2B45"/>
                </a:solidFill>
                <a:latin typeface="Yu Gothic"/>
                <a:ea typeface="Yu Gothic"/>
                <a:cs typeface="Yu Gothic"/>
              </a:rPr>
              <a:t>全体フロー（1）準備と棚卸し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200" y="6400800"/>
            <a:ext cx="8229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BTR-P-06　IT予算移管 業務フロー定義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6400" y="6400800"/>
            <a:ext cx="5472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7200" y="1141200"/>
            <a:ext cx="11062800" cy="11988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7200" y="1141200"/>
            <a:ext cx="1555200" cy="11988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事務局と窓口担当</a:t>
            </a:r>
          </a:p>
        </p:txBody>
      </p:sp>
      <p:sp>
        <p:nvSpPr>
          <p:cNvPr id="9" name="Oval 8"/>
          <p:cNvSpPr/>
          <p:nvPr/>
        </p:nvSpPr>
        <p:spPr>
          <a:xfrm>
            <a:off x="2250000" y="1596599"/>
            <a:ext cx="288000" cy="2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2000" y="2046599"/>
            <a:ext cx="93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⏱ ヒアリングの開始の前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00000" y="14526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② 予算シート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を登録する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事務局 §3.2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41999" y="14526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③ ヒアリングで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情報を集める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窓口担当 §3.1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84000" y="14526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④ 予算移管シート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に記入する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窓口担当 §3.2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26000" y="14526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① 活動の開始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を開催する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事務局 §3.1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8000" y="14526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⑤ 部門の確認を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得る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窓口担当 §3.3</a:t>
            </a:r>
          </a:p>
        </p:txBody>
      </p:sp>
      <p:sp>
        <p:nvSpPr>
          <p:cNvPr id="16" name="Diamond 15"/>
          <p:cNvSpPr/>
          <p:nvPr/>
        </p:nvSpPr>
        <p:spPr>
          <a:xfrm>
            <a:off x="8910000" y="1560600"/>
            <a:ext cx="360000" cy="3600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8000" y="19638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判定保留は残っているか？</a:t>
            </a:r>
          </a:p>
        </p:txBody>
      </p:sp>
      <p:sp>
        <p:nvSpPr>
          <p:cNvPr id="19" name="Oval 18"/>
          <p:cNvSpPr/>
          <p:nvPr/>
        </p:nvSpPr>
        <p:spPr>
          <a:xfrm>
            <a:off x="10300000" y="1596600"/>
            <a:ext cx="288000" cy="288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4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76000" y="1964600"/>
            <a:ext cx="93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棚卸し済み</a:t>
            </a:r>
          </a:p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になった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38000" y="1740600"/>
            <a:ext cx="162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80000" y="1740600"/>
            <a:ext cx="161999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2000" y="1740600"/>
            <a:ext cx="162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63999" y="1740600"/>
            <a:ext cx="162001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06000" y="1740600"/>
            <a:ext cx="162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748000" y="1740600"/>
            <a:ext cx="162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090000" y="1272600"/>
            <a:ext cx="0" cy="288000"/>
          </a:xfrm>
          <a:prstGeom prst="line">
            <a:avLst/>
          </a:prstGeom>
          <a:ln w="19050">
            <a:solidFill>
              <a:srgbClr val="3F4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103000" y="1272600"/>
            <a:ext cx="3987000" cy="0"/>
          </a:xfrm>
          <a:prstGeom prst="line">
            <a:avLst/>
          </a:prstGeom>
          <a:ln w="19050">
            <a:solidFill>
              <a:srgbClr val="3F4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103000" y="1272600"/>
            <a:ext cx="0" cy="468000"/>
          </a:xfrm>
          <a:prstGeom prst="line">
            <a:avLst/>
          </a:prstGeom>
          <a:ln w="19050">
            <a:solidFill>
              <a:srgbClr val="3F4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103000" y="1740600"/>
            <a:ext cx="81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26000" y="136260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はい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70000" y="1740600"/>
            <a:ext cx="1030000" cy="0"/>
          </a:xfrm>
          <a:prstGeom prst="line">
            <a:avLst/>
          </a:prstGeom>
          <a:ln w="19050">
            <a:solidFill>
              <a:srgbClr val="3F4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288000" y="1542600"/>
            <a:ext cx="557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いいえ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7200" y="4863600"/>
            <a:ext cx="11062800" cy="51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丸数字はプロセス一覧の No.、§ は担当の Runbook（事務局編・窓口担当編）の節を示す。</a:t>
            </a:r>
          </a:p>
          <a:p>
            <a:r>
              <a:rPr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②は事務局がヒアリングの前に行う（案件ごとに窓口担当を割り当てる）。③④は、活動の開始の前の事前の情報整理として窓口担当が10月（2026-10-01〜10-31）に行う。①の活動の開始（2026-11-02。IT部門内で窓口担当に説明する）の後、⑤で部門の担当者に記入内容を確かめ、判定保留がなければ棚卸し済みにする（11月。移管元の責任者の承認は要さない）。移管対象部門の担当者は情報と資料を提供する（実務は行わない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320400"/>
            <a:ext cx="11062800" cy="64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C2B45"/>
                </a:solidFill>
                <a:latin typeface="Yu Gothic"/>
                <a:ea typeface="Yu Gothic"/>
                <a:cs typeface="Yu Gothic"/>
              </a:rPr>
              <a:t>全体フロー（2）引継ぎの準備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200" y="6400800"/>
            <a:ext cx="8229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BTR-P-06　IT予算移管 業務フロー定義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6400" y="6400800"/>
            <a:ext cx="5472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7200" y="1141200"/>
            <a:ext cx="11062800" cy="11988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7200" y="1141200"/>
            <a:ext cx="1555200" cy="11988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事務局</a:t>
            </a:r>
          </a:p>
        </p:txBody>
      </p:sp>
      <p:sp>
        <p:nvSpPr>
          <p:cNvPr id="11" name="Oval 10"/>
          <p:cNvSpPr/>
          <p:nvPr/>
        </p:nvSpPr>
        <p:spPr>
          <a:xfrm>
            <a:off x="2250000" y="1596599"/>
            <a:ext cx="288000" cy="2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2000" y="2046599"/>
            <a:ext cx="93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⏱ ヒアリングの開始の前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4056" y="1453896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⑥ 引継ぎ要領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を整える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事務局 §3.3</a:t>
            </a:r>
          </a:p>
        </p:txBody>
      </p:sp>
      <p:sp>
        <p:nvSpPr>
          <p:cNvPr id="18" name="Oval 17"/>
          <p:cNvSpPr/>
          <p:nvPr/>
        </p:nvSpPr>
        <p:spPr>
          <a:xfrm>
            <a:off x="4014216" y="1600200"/>
            <a:ext cx="288000" cy="288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4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048256"/>
            <a:ext cx="93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引継ぎ要領</a:t>
            </a:r>
          </a:p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が整った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651760"/>
            <a:ext cx="11062800" cy="51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丸数字はプロセス一覧の No.、§ は担当の Runbook の節を示す。</a:t>
            </a:r>
          </a:p>
          <a:p>
            <a:r>
              <a:rPr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⑥は、移管の後に間接業務を担うベンダーマネジメント担当（契約）と事務担当（事務手続き）に相談して作り、窓口担当編の付録「引継ぎ要領」として置く（IT部門長の承認は要さない）。活動の開始の前（2026-10-30）までに確定させる（予算移管の開始条件）。窓口担当は、間接業務の引継ぎ（⑩）で使う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532888" y="1741932"/>
            <a:ext cx="201168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13048" y="1741932"/>
            <a:ext cx="201168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320400"/>
            <a:ext cx="11062800" cy="64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C2B45"/>
                </a:solidFill>
                <a:latin typeface="Yu Gothic"/>
                <a:ea typeface="Yu Gothic"/>
                <a:cs typeface="Yu Gothic"/>
              </a:rPr>
              <a:t>全体フロー（3）引継ぎとIT関連業務の扱いの合意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200" y="6400800"/>
            <a:ext cx="8229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BTR-P-06　IT予算移管 業務フロー定義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6400" y="6400800"/>
            <a:ext cx="5472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7200" y="1141200"/>
            <a:ext cx="11062800" cy="11988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7200" y="1141200"/>
            <a:ext cx="1555200" cy="11988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事務局と窓口担当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7200" y="2340000"/>
            <a:ext cx="11062800" cy="11988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7200" y="2340000"/>
            <a:ext cx="1555200" cy="11988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移管元の責任者</a:t>
            </a:r>
          </a:p>
        </p:txBody>
      </p:sp>
      <p:sp>
        <p:nvSpPr>
          <p:cNvPr id="11" name="Oval 10"/>
          <p:cNvSpPr/>
          <p:nvPr/>
        </p:nvSpPr>
        <p:spPr>
          <a:xfrm>
            <a:off x="2250000" y="1596599"/>
            <a:ext cx="288000" cy="2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2000" y="2046599"/>
            <a:ext cx="93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棚卸し済み</a:t>
            </a:r>
          </a:p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になった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6000" y="14526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⑦ 合意文書の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案を作る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窓口担当 §3.4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14000" y="2651399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9A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合意文書を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承認する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8000" y="14526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⑧ 合意を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記録する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窓口担当 §3.5</a:t>
            </a:r>
          </a:p>
        </p:txBody>
      </p:sp>
      <p:sp>
        <p:nvSpPr>
          <p:cNvPr id="19" name="Oval 18"/>
          <p:cNvSpPr/>
          <p:nvPr/>
        </p:nvSpPr>
        <p:spPr>
          <a:xfrm>
            <a:off x="8424000" y="1596599"/>
            <a:ext cx="288000" cy="288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4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9999" y="2046599"/>
            <a:ext cx="93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合意済み</a:t>
            </a:r>
          </a:p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になった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38000" y="1740600"/>
            <a:ext cx="19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16000" y="1740600"/>
            <a:ext cx="99000" cy="0"/>
          </a:xfrm>
          <a:prstGeom prst="line">
            <a:avLst/>
          </a:prstGeom>
          <a:ln w="19050">
            <a:solidFill>
              <a:srgbClr val="3F4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915000" y="1740600"/>
            <a:ext cx="0" cy="1198799"/>
          </a:xfrm>
          <a:prstGeom prst="line">
            <a:avLst/>
          </a:prstGeom>
          <a:ln w="19050">
            <a:solidFill>
              <a:srgbClr val="3F4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15000" y="2939399"/>
            <a:ext cx="99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94000" y="2939399"/>
            <a:ext cx="99000" cy="0"/>
          </a:xfrm>
          <a:prstGeom prst="line">
            <a:avLst/>
          </a:prstGeom>
          <a:ln w="19050">
            <a:solidFill>
              <a:srgbClr val="3F4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193000" y="1740600"/>
            <a:ext cx="0" cy="1198799"/>
          </a:xfrm>
          <a:prstGeom prst="line">
            <a:avLst/>
          </a:prstGeom>
          <a:ln w="19050">
            <a:solidFill>
              <a:srgbClr val="3F4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193000" y="1740600"/>
            <a:ext cx="1938528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08000" y="1740600"/>
            <a:ext cx="216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7200" y="4863600"/>
            <a:ext cx="11062800" cy="51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丸数字はプロセス一覧の No.、§ は担当の Runbook の節を示す。</a:t>
            </a:r>
          </a:p>
          <a:p>
            <a:r>
              <a:rPr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⑦⑧は窓口担当が行う。合意文書は、案件ごとにカスタマイズした RACI（IT関連業務（中間層）の扱い）、経過措置と完了予定、引継ぎの方法をまとめたもの。承認済みの文書（SOP・規程・職務分掌など）で担当が定められ、変更に正式な手続き（GxP の変更管理など）が要る業務は、経過措置として手続きが終わるまで今の担当が続ける。予算は経過措置があっても2027-01-01に一括で移す。⑧の後、合意済みの案件は⑫ 移管の稟議に使う。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320400"/>
            <a:ext cx="11062800" cy="64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C2B45"/>
                </a:solidFill>
                <a:latin typeface="Yu Gothic"/>
                <a:ea typeface="Yu Gothic"/>
                <a:cs typeface="Yu Gothic"/>
              </a:rPr>
              <a:t>全体フロー（4）引継ぎと移管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200" y="6400800"/>
            <a:ext cx="8229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BTR-P-06　IT予算移管 業務フロー定義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6400" y="6400800"/>
            <a:ext cx="5472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7200" y="1141200"/>
            <a:ext cx="11062800" cy="1062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7200" y="1141200"/>
            <a:ext cx="1555200" cy="1062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窓口担当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7200" y="2203200"/>
            <a:ext cx="11062800" cy="1062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7200" y="2203200"/>
            <a:ext cx="1555200" cy="1062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事務局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7200" y="3265200"/>
            <a:ext cx="11062800" cy="10620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7200" y="3265200"/>
            <a:ext cx="1555200" cy="10620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移管元の部門長・IT部門長（稟議）</a:t>
            </a:r>
          </a:p>
        </p:txBody>
      </p:sp>
      <p:sp>
        <p:nvSpPr>
          <p:cNvPr id="13" name="Oval 12"/>
          <p:cNvSpPr/>
          <p:nvPr/>
        </p:nvSpPr>
        <p:spPr>
          <a:xfrm>
            <a:off x="2250000" y="1528199"/>
            <a:ext cx="288000" cy="2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2000" y="1978199"/>
            <a:ext cx="93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合意済み</a:t>
            </a:r>
          </a:p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になった</a:t>
            </a:r>
          </a:p>
        </p:txBody>
      </p:sp>
      <p:sp>
        <p:nvSpPr>
          <p:cNvPr id="15" name="Diamond 14"/>
          <p:cNvSpPr/>
          <p:nvPr/>
        </p:nvSpPr>
        <p:spPr>
          <a:xfrm>
            <a:off x="2700000" y="1492199"/>
            <a:ext cx="360000" cy="3600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2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17136" y="1380744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⑩ 間接業務を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引き継ぐ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窓口担当 §3.7</a:t>
            </a:r>
          </a:p>
        </p:txBody>
      </p:sp>
      <p:sp>
        <p:nvSpPr>
          <p:cNvPr id="18" name="Diamond 17"/>
          <p:cNvSpPr/>
          <p:nvPr/>
        </p:nvSpPr>
        <p:spPr>
          <a:xfrm>
            <a:off x="8412480" y="1490472"/>
            <a:ext cx="360000" cy="3600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2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97296" y="1380744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⑪ 準備完了を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確認する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窓口担当 §3.8</a:t>
            </a:r>
          </a:p>
        </p:txBody>
      </p:sp>
      <p:sp>
        <p:nvSpPr>
          <p:cNvPr id="20" name="Diamond 19"/>
          <p:cNvSpPr/>
          <p:nvPr/>
        </p:nvSpPr>
        <p:spPr>
          <a:xfrm>
            <a:off x="7077456" y="1490472"/>
            <a:ext cx="360000" cy="3600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920240"/>
            <a:ext cx="118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準備は完了したか？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36976" y="2450592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9A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⑫ 移管の稟議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を起票する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事務局 §3.4</a:t>
            </a:r>
          </a:p>
        </p:txBody>
      </p:sp>
      <p:sp>
        <p:nvSpPr>
          <p:cNvPr id="24" name="Oval 23"/>
          <p:cNvSpPr/>
          <p:nvPr/>
        </p:nvSpPr>
        <p:spPr>
          <a:xfrm>
            <a:off x="8961120" y="1527048"/>
            <a:ext cx="288000" cy="288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4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7120" y="1975104"/>
            <a:ext cx="133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12月末のゴール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96912" y="1261872"/>
            <a:ext cx="557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いいえ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1463040"/>
            <a:ext cx="43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はい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200" y="5472000"/>
            <a:ext cx="11062800" cy="51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丸数字はプロセス一覧の No.、§ は担当の Runbook の節を示す。＋のひし形は並列ゲートウェイ（⑩⑪と⑫を同時に進め、両方が終わったら12月末のゴールに達する。⑨・⑬・⑭は欠番）。</a:t>
            </a:r>
          </a:p>
          <a:p>
            <a:r>
              <a:rPr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⑫は、部門の案件の移管ステータスが埋まった（合意済み・準備完了・対象外）時点で部門ごとに起票し、2026-12-31までに承認を得る。すべての予算を⑫で一括して移す（経過措置の業務がある案件も含む）。移管の時点で契約の手続きはない（請求書の宛名の変更は、移管の後にベンダーマネジメント担当が2月初旬までに連絡する）。準備が完了しない案件は、⑩に戻って⑪を繰り返す。</a:t>
            </a:r>
          </a:p>
        </p:txBody>
      </p:sp>
      <p:sp>
        <p:nvSpPr>
          <p:cNvPr id="90" name="Rounded Rectangle 21"/>
          <p:cNvSpPr/>
          <p:nvPr/>
        </p:nvSpPr>
        <p:spPr>
          <a:xfrm>
            <a:off x="4517136" y="3511296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9A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移管の稟議を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承認する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2532888" y="1668780"/>
            <a:ext cx="164592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054096" y="1668780"/>
            <a:ext cx="146304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875788" y="1847088"/>
            <a:ext cx="0" cy="891540"/>
          </a:xfrm>
          <a:prstGeom prst="line">
            <a:avLst/>
          </a:prstGeom>
          <a:ln w="19050">
            <a:solidFill>
              <a:srgbClr val="3F4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875788" y="2738628"/>
            <a:ext cx="361188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596128" y="1668780"/>
            <a:ext cx="201168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876288" y="1668780"/>
            <a:ext cx="201168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434072" y="1668780"/>
            <a:ext cx="978408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4315968" y="2738628"/>
            <a:ext cx="100584" cy="0"/>
          </a:xfrm>
          <a:prstGeom prst="line">
            <a:avLst/>
          </a:prstGeom>
          <a:ln w="19050">
            <a:solidFill>
              <a:srgbClr val="3F4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416552" y="2738628"/>
            <a:ext cx="0" cy="1060704"/>
          </a:xfrm>
          <a:prstGeom prst="line">
            <a:avLst/>
          </a:prstGeom>
          <a:ln w="19050">
            <a:solidFill>
              <a:srgbClr val="3F4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4416552" y="3799332"/>
            <a:ext cx="100584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596128" y="3799332"/>
            <a:ext cx="2994660" cy="0"/>
          </a:xfrm>
          <a:prstGeom prst="line">
            <a:avLst/>
          </a:prstGeom>
          <a:ln w="19050">
            <a:solidFill>
              <a:srgbClr val="3F4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590788" y="1847088"/>
            <a:ext cx="0" cy="1952244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769096" y="1668780"/>
            <a:ext cx="192024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255764" y="1243584"/>
            <a:ext cx="0" cy="246888"/>
          </a:xfrm>
          <a:prstGeom prst="line">
            <a:avLst/>
          </a:prstGeom>
          <a:ln w="19050">
            <a:solidFill>
              <a:srgbClr val="3F4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5057136" y="1243584"/>
            <a:ext cx="2198628" cy="0"/>
          </a:xfrm>
          <a:prstGeom prst="line">
            <a:avLst/>
          </a:prstGeom>
          <a:ln w="19050">
            <a:solidFill>
              <a:srgbClr val="3F4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057136" y="1243584"/>
            <a:ext cx="0" cy="13716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320400"/>
            <a:ext cx="11062800" cy="64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C2B45"/>
                </a:solidFill>
                <a:latin typeface="Yu Gothic"/>
                <a:ea typeface="Yu Gothic"/>
                <a:cs typeface="Yu Gothic"/>
              </a:rPr>
              <a:t>全体フロー（5）日々のモニタリング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200" y="6400800"/>
            <a:ext cx="8229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BTR-P-06　IT予算移管 業務フロー定義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6400" y="6400800"/>
            <a:ext cx="5472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7200" y="1141200"/>
            <a:ext cx="11062800" cy="11988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7200" y="1141200"/>
            <a:ext cx="1555200" cy="11988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事務局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7200" y="2340000"/>
            <a:ext cx="11062800" cy="119880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7200" y="2340000"/>
            <a:ext cx="1555200" cy="1198800"/>
          </a:xfrm>
          <a:prstGeom prst="rect">
            <a:avLst/>
          </a:prstGeom>
          <a:solidFill>
            <a:srgbClr val="DCE3EC"/>
          </a:solidFill>
          <a:ln w="9525">
            <a:solidFill>
              <a:srgbClr val="CF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100" b="1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IT部門長</a:t>
            </a:r>
          </a:p>
        </p:txBody>
      </p:sp>
      <p:sp>
        <p:nvSpPr>
          <p:cNvPr id="9" name="Oval 8"/>
          <p:cNvSpPr/>
          <p:nvPr/>
        </p:nvSpPr>
        <p:spPr>
          <a:xfrm>
            <a:off x="2250000" y="1596599"/>
            <a:ext cx="288000" cy="288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F4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2000" y="2046599"/>
            <a:ext cx="93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⏱ 毎日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36000" y="14526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⑮ 移管ステータス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と進捗を確認する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事務局 §3.6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14000" y="1452600"/>
            <a:ext cx="1080000" cy="576000"/>
          </a:xfrm>
          <a:prstGeom prst="roundRect">
            <a:avLst/>
          </a:prstGeom>
          <a:solidFill>
            <a:srgbClr val="F7F8FA"/>
          </a:solidFill>
          <a:ln w="15875">
            <a:solidFill>
              <a:srgbClr val="5E7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⑯ 進捗を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まとめる</a:t>
            </a:r>
          </a:p>
          <a:p>
            <a:pPr algn="ctr"/>
            <a:r>
              <a:rPr sz="10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事務局 §3.7</a:t>
            </a:r>
          </a:p>
        </p:txBody>
      </p:sp>
      <p:sp>
        <p:nvSpPr>
          <p:cNvPr id="18" name="Oval 17"/>
          <p:cNvSpPr/>
          <p:nvPr/>
        </p:nvSpPr>
        <p:spPr>
          <a:xfrm>
            <a:off x="5292000" y="2795399"/>
            <a:ext cx="288000" cy="288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4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" rIns="14400" tIns="10800" bIns="108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68000" y="3143399"/>
            <a:ext cx="93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まとめを</a:t>
            </a:r>
          </a:p>
          <a:p>
            <a:pPr algn="ctr"/>
            <a:r>
              <a:rPr sz="900" b="0">
                <a:solidFill>
                  <a:srgbClr val="222B38"/>
                </a:solidFill>
                <a:latin typeface="Yu Gothic"/>
                <a:ea typeface="Yu Gothic"/>
                <a:cs typeface="Yu Gothic"/>
              </a:rPr>
              <a:t>受け取った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38000" y="1740600"/>
            <a:ext cx="19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816000" y="1740600"/>
            <a:ext cx="198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94000" y="1740600"/>
            <a:ext cx="99000" cy="0"/>
          </a:xfrm>
          <a:prstGeom prst="line">
            <a:avLst/>
          </a:prstGeom>
          <a:ln w="19050">
            <a:solidFill>
              <a:srgbClr val="3F4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93000" y="1740600"/>
            <a:ext cx="0" cy="1198799"/>
          </a:xfrm>
          <a:prstGeom prst="line">
            <a:avLst/>
          </a:prstGeom>
          <a:ln w="19050">
            <a:solidFill>
              <a:srgbClr val="3F4F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93000" y="2939399"/>
            <a:ext cx="99000" cy="0"/>
          </a:xfrm>
          <a:prstGeom prst="line">
            <a:avLst/>
          </a:prstGeom>
          <a:ln w="19050">
            <a:solidFill>
              <a:srgbClr val="3F4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7200" y="4863600"/>
            <a:ext cx="11062800" cy="51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丸数字はプロセス一覧の No.、§ は担当の Runbook の節を示す。</a:t>
            </a:r>
          </a:p>
          <a:p>
            <a:r>
              <a:rPr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⑮で「確認（自動）」が空でない案件は、窓口担当に移管ステータスの見直しを依頼する（窓口担当編 §3.10）。⑯は、IT部門長に求められたときと、移管の稟議が承認されたときに行う。経営層への報告は行わない。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320400"/>
            <a:ext cx="11062800" cy="64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C2B45"/>
                </a:solidFill>
                <a:latin typeface="Yu Gothic"/>
                <a:ea typeface="Yu Gothic"/>
                <a:cs typeface="Yu Gothic"/>
              </a:rPr>
              <a:t>プロセス一覧（1）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200" y="6400800"/>
            <a:ext cx="8229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BTR-P-06　IT予算移管 業務フロー定義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6400" y="6400800"/>
            <a:ext cx="5472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7200" y="1080000"/>
          <a:ext cx="11062799" cy="345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68000"/>
                <a:gridCol w="2015999"/>
                <a:gridCol w="1944000"/>
                <a:gridCol w="2376000"/>
                <a:gridCol w="1368000"/>
                <a:gridCol w="1800000"/>
                <a:gridCol w="1090800"/>
              </a:tblGrid>
              <a:tr h="432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No.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プロセス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入力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出力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担当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期限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関連手順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ガイドラインを公開し、説明する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Runbook、予算移管シート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窓口担当への説明（進め方、12月末のゴール、引継ぎ要領）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事務局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活動の開始の当日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事務局編 §3.1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予算シートを登録し、窓口担当を割り当てる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予算シート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予算一覧の案件、窓口担当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事務局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ヒアリングの開始の前日まで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事務局編 §3.2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3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ヒアリングで情報を集める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予算一覧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システム・業務・契約の情報、懸念・条件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ヒアリングの終了まで（10/31。活動の開始の前）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窓口担当編 §3.1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4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予算移管シートに記入する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ヒアリングの記録、資料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紐付け・システム・業務・契約の行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ヒアリングの終了まで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窓口担当編 §3.2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5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判定保留を確認し、棚卸しを終える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予算一覧の移管判定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確認する項目の一覧、「棚卸し済み」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合意の目安に間に合うように（11月）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窓口担当編 §3.3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6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引継ぎ要領を整える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受け手（ベンダーマネジメント担当・事務担当）の既存の手順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引継ぎ要領（窓口担当編 付録）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事務局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引継ぎ要領の確定の期限（10/30。活動の開始の前）まで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事務局編 §3.3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7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合意文書の案を作る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困難度・移管の方法、契約、引継ぎ要領、標準 RACI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合意文書の案（カスタマイズした RACI、経過措置と完了予定、引継ぎの方法）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合意の目安（12/11）まで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窓口担当編 §3.4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8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合意を記録する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承認された合意文書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保存した合意文書、業務の行の経過措置の記入、「合意済み」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合意の目安（12/11）まで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窓口担当編 §3.5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320400"/>
            <a:ext cx="11062800" cy="64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C2B45"/>
                </a:solidFill>
                <a:latin typeface="Yu Gothic"/>
                <a:ea typeface="Yu Gothic"/>
                <a:cs typeface="Yu Gothic"/>
              </a:rPr>
              <a:t>プロセス一覧（2）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200" y="6400800"/>
            <a:ext cx="8229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BTR-P-06　IT予算移管 業務フロー定義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6400" y="6400800"/>
            <a:ext cx="5472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7200" y="1080000"/>
          <a:ext cx="11062799" cy="3888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68000"/>
                <a:gridCol w="2015999"/>
                <a:gridCol w="1944000"/>
                <a:gridCol w="2376000"/>
                <a:gridCol w="1368000"/>
                <a:gridCol w="1800000"/>
                <a:gridCol w="1090800"/>
              </a:tblGrid>
              <a:tr h="432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No.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プロセス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入力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出力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担当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期限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関連手順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9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（欠番）契約の名義変更は行わない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10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間接業務を引き継ぐ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移管する間接業務、部門の資料、引継ぎ要領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受け手に渡した手順・資料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準備完了の確認の目安（12/18）まで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窓口担当編 §3.7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11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準備完了を確認する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準備完了チェック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チェックの記録、「準備完了」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準備完了の確認の目安（12/18）まで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窓口担当編 §3.8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12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移管の稟議を起票する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合意済みの案件の一覧と予算（全額）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移管の稟議の承認（部門ごと）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事務局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部門の移管ステータスが埋まった時点〜2026-12-31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事務局編 §3.4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13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（欠番。移管の完了は記録しない）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14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（欠番。個別移管は行わない）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15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移管ステータスと進捗を確認する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予算一覧、進捗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見直しの依頼、期限超過の確認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事務局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毎日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事務局編 §3.6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16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進捗をまとめる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モニタリング、決定記録の集計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進捗のまとめ、稟議が承認された案件の一覧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事務局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随時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事務局編 §3.7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320400"/>
            <a:ext cx="11062800" cy="64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C2B45"/>
                </a:solidFill>
                <a:latin typeface="Yu Gothic"/>
                <a:ea typeface="Yu Gothic"/>
                <a:cs typeface="Yu Gothic"/>
              </a:rPr>
              <a:t>RACI（1）準備から合意まで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200" y="6400800"/>
            <a:ext cx="8229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BTR-P-06　IT予算移管 業務フロー定義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6400" y="6400800"/>
            <a:ext cx="5472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7200" y="1007999"/>
          <a:ext cx="11062800" cy="4233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924000"/>
                <a:gridCol w="1404000"/>
                <a:gridCol w="1404000"/>
                <a:gridCol w="1404000"/>
                <a:gridCol w="1404000"/>
                <a:gridCol w="1522800"/>
              </a:tblGrid>
              <a:tr h="3024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活動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事務局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移管元の責任者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移管対象部門 の担当者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IT部門長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① ガイドラインを公開し、説明する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② 予算シートを登録し、窓口担当を割り当てる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③ ヒアリングで情報を集める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④ 予算移管シートに記入する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⑤ 判定保留を確認し、棚卸しを終える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⑥ 引継ぎ要領を整える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⑦ 合意文書の案を作る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合意文書を承認する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⑧ 合意を記録する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7200" y="5760000"/>
            <a:ext cx="110628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R＝実行、A＝最終責任（1行に1つ。移管の稟議は部門長同士の合意のため、移管元の責任者と IT部門長の両方が A）、C＝相談、I＝連絡。実務（R）は事務局と窓口担当だけが持つ。</a:t>
            </a:r>
          </a:p>
          <a:p>
            <a:r>
              <a:rPr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この表は主な登場人物の要約。ベンダーマネジメント担当・事務担当・契約の相手先・Tier の運営主体を含む全体の RACI は、Runbook 全体編（BTR-P-08-00）§3 を正とする。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320400"/>
            <a:ext cx="11062800" cy="64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C2B45"/>
                </a:solidFill>
                <a:latin typeface="Yu Gothic"/>
                <a:ea typeface="Yu Gothic"/>
                <a:cs typeface="Yu Gothic"/>
              </a:rPr>
              <a:t>RACI（2）引継ぎから報告まで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200" y="6400800"/>
            <a:ext cx="8229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BTR-P-06　IT予算移管 業務フロー定義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6400" y="6400800"/>
            <a:ext cx="5472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7200" y="1007999"/>
          <a:ext cx="11062800" cy="3326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924000"/>
                <a:gridCol w="1404000"/>
                <a:gridCol w="1404000"/>
                <a:gridCol w="1404000"/>
                <a:gridCol w="1404000"/>
                <a:gridCol w="1522800"/>
              </a:tblGrid>
              <a:tr h="3024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活動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事務局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窓口担当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移管元の責任者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移管対象部門 の担当者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IT部門長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⑨（欠番）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⑩ 間接業務を引き継ぐ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⑪ 準備完了を確認する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⑫ 移管の稟議を起票する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移管の稟議を承認する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⑭（欠番）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⑮ 移管ステータスと進捗を確認する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⑯ 進捗をまとめる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確認依頼と保留課題を決める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7200" y="5760000"/>
            <a:ext cx="110628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R＝実行、A＝最終責任（1行に1つ。移管の稟議は部門長同士の合意のため、移管元の責任者と IT部門長の両方が A）、C＝相談、I＝連絡。実務（R）は事務局と窓口担当だけが持つ。</a:t>
            </a:r>
          </a:p>
          <a:p>
            <a:r>
              <a:rPr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この表は主な登場人物の要約。ベンダーマネジメント担当・事務担当・契約の相手先・Tier の運営主体を含む全体の RACI は、Runbook 全体編（BTR-P-08-00）§3 を正とする。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320400"/>
            <a:ext cx="11062800" cy="64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C2B45"/>
                </a:solidFill>
                <a:latin typeface="Yu Gothic"/>
                <a:ea typeface="Yu Gothic"/>
                <a:cs typeface="Yu Gothic"/>
              </a:rPr>
              <a:t>RACI（3）移管後の直接業務と間接業務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200" y="6400800"/>
            <a:ext cx="8229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BTR-P-06　IT予算移管 業務フロー定義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6400" y="6400800"/>
            <a:ext cx="5472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7200" y="1007999"/>
          <a:ext cx="11062799" cy="4104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680000"/>
                <a:gridCol w="1296000"/>
                <a:gridCol w="1655999"/>
                <a:gridCol w="1728000"/>
                <a:gridCol w="1702800"/>
              </a:tblGrid>
              <a:tr h="342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活動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区分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移管対象部門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ベンダーマネジメント担当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事務担当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予算の計上・執行・管理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間接業務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契約の締結・更新・変更・解約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間接業務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発注・検収・支払い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間接業務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継続している投資案件の、1回限りの支出の発注・検収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対象外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委託先の管理（指示・報告の確認）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間接業務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契約に関する監査・規制対応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間接業務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案件の要否・目的・効果（ビジネスオーナーシップ）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直接業務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業務要件の決定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直接業務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システムを使った業務の遂行（データの登録・更新、業務上の判断）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直接業務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受け入れの確認（業務要件を満たすか）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直接業務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部門で行う運用（ユーザー管理など）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直接業務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利用者への教育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直接業務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A/R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7200" y="5544000"/>
            <a:ext cx="110628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移管の後の、全ての案件に共通する分担（憲章 第4条第3項・第4項）。案件ごとに変えない。直接業務は、各部門の組織のミッション・業務分掌・職務権限に基づき、移管の後も従前どおり各部門が担う。</a:t>
            </a:r>
          </a:p>
          <a:p>
            <a:r>
              <a:rPr sz="1000" b="0">
                <a:solidFill>
                  <a:srgbClr val="5E7391"/>
                </a:solidFill>
                <a:latin typeface="Yu Gothic"/>
                <a:ea typeface="Yu Gothic"/>
                <a:cs typeface="Yu Gothic"/>
              </a:rPr>
              <a:t>間接業務はIT部門が一元的に管理する（契約はベンダーマネジメント担当、事務手続きは事務担当（既存の体制を増強））。移管したものの決裁権は、新しいITガバナンス（Tier）が決める。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320400"/>
            <a:ext cx="11062800" cy="64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C2B45"/>
                </a:solidFill>
                <a:latin typeface="Yu Gothic"/>
                <a:ea typeface="Yu Gothic"/>
                <a:cs typeface="Yu Gothic"/>
              </a:rPr>
              <a:t>他のプロセス・部署との受け渡し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200" y="6400800"/>
            <a:ext cx="8229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BTR-P-06　IT予算移管 業務フロー定義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6400" y="6400800"/>
            <a:ext cx="5472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7200" y="1080000"/>
          <a:ext cx="11062800" cy="327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04000"/>
                <a:gridCol w="3096000"/>
                <a:gridCol w="936000"/>
                <a:gridCol w="2520000"/>
                <a:gridCol w="2206800"/>
              </a:tblGrid>
              <a:tr h="468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相手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渡すもの／受け取るもの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タイミング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手段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</a:tr>
              <a:tr h="468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移管対象部門の担当者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予算シート（今年度実績・来年度予算）、資料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受け取る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活動の開始の前（受領済み）、ヒアリング（10月）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予算シートのファイル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移管元の責任者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合意文書（承認の依頼）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渡す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⑦の後（窓口担当）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予算移管シートの該当部分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IT部門長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進捗のまとめ（報告）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渡す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⑯の後（事務局）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決定記録、まとめの資料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移管元の部門長・IT部門長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移管の稟議（部門の予算の全額）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渡す／受け取る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部門の案件の移管ステータスが埋まった後、2026-12-31まで（⑫）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稟議システム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ベンダーマネジメント担当・事務担当（移管の後の受け手）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間接業務の手順・資料（契約書の写しと相手先の請求の窓口を含む）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渡す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⑩（窓口担当）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周知済みの置き場所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新しいITガバナンス（Tier）の運営主体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移管の稟議が承認された案件の一覧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渡す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稟議の承認の後（⑯）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予算移管シートの抜粋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320400"/>
            <a:ext cx="11062800" cy="64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>
                <a:solidFill>
                  <a:srgbClr val="1C2B45"/>
                </a:solidFill>
                <a:latin typeface="Yu Gothic"/>
                <a:ea typeface="Yu Gothic"/>
                <a:cs typeface="Yu Gothic"/>
              </a:rPr>
              <a:t>改訂履歴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7200" y="6400800"/>
            <a:ext cx="8229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BTR-P-06　IT予算移管 業務フロー定義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6400" y="6400800"/>
            <a:ext cx="5472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7200" y="1188000"/>
          <a:ext cx="11062800" cy="648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00000"/>
                <a:gridCol w="1440000"/>
                <a:gridCol w="5040000"/>
                <a:gridCol w="1980000"/>
                <a:gridCol w="1702800"/>
              </a:tblGrid>
              <a:tr h="324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版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日付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改訂内容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改訂者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承認者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1C2B45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1.6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2026-10-17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IT予算移管ガイドラインに合わせ、進行役を事務局、案件担当を窓口担当、キックオフを活動の開始（ガイドラインの公開と説明）に改めた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予算移管事務局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1.5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2026-10-12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個別移管と保留を廃止し、すべての予算を2027-01-01に一括で移すことにした。⑭を欠番とし、個別移管の決定と個別移管分の稟議を削除した（全体フロー（3）（4）・プロセス一覧・RACI・他部署との受け渡し）。⑦⑧を合意文書（カスタマイズした RACI・経過措置・引継ぎの方法）の作成と記録に改めた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予算移管事務局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1.4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2026-10-11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キックオフを IT部門内にした。移管の完了の記録（⑬）と経営層への報告を廃止した（全体フロー（4）（5）・プロセス一覧・RACI）。移管ステータスは毎日確認し、部門の移管ステータスが埋まった時点で⑫を起票する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予算移管事務局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1.3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2026-10-11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棚卸しの結果の承認を廃止した（全体フロー（1）・プロセス一覧・RACI・他部署との受け渡し）。引継ぎ要領をキックオフの前（10/30）に確定させ、予算移管の開始条件とした（全体フロー（2））。キックオフで12月末のゴールを説明することにした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予算移管事務局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1.2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2026-10-11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ヒアリング（③④）をキックオフの前（10月）に移し、⑤を部門の確認と承認の依頼にした（全体フロー（1））。⑨ 契約の名義変更を廃止し、欠番とした（全体フロー（4）・プロセス一覧・RACI）。個別移管がある案件は保留にすることを加えた。RACI（2）に紛れ込んでいた改訂履歴の行を削除した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予算移管事務局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1.1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2026-10-11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実務を進行役と案件担当の二者に整理し、プロセスを16に組み直した。予算振替（財務部門）を移管の稟議（部門長同士の合意）に改めた。継続している投資案件を RACI（3）に加えた。受け入れ手順を引継ぎ要領に改め、承認を外した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予算移管事務局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1.0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2026-10-11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制定（承認前の案）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予算移管事務局</a:t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B38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000" marR="54000" marT="28800" marB="28800" anchor="ctr">
                    <a:lnL w="9525">
                      <a:solidFill>
                        <a:srgbClr val="9AA5B5"/>
                      </a:solidFill>
                    </a:lnL>
                    <a:lnR w="9525">
                      <a:solidFill>
                        <a:srgbClr val="9AA5B5"/>
                      </a:solidFill>
                    </a:lnR>
                    <a:lnT w="9525">
                      <a:solidFill>
                        <a:srgbClr val="9AA5B5"/>
                      </a:solidFill>
                    </a:lnT>
                    <a:lnB w="9525">
                      <a:solidFill>
                        <a:srgbClr val="9AA5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