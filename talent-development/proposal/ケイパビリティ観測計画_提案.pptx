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6" r:id="rId7"/>
    <p:sldId id="259" r:id="rId10"/>
    <p:sldId id="260" r:id="rId11"/>
    <p:sldId id="261" r:id="rId12"/>
    <p:sldId id="262" r:id="rId13"/>
    <p:sldId id="263" r:id="rId14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slide" Target="slides/slide8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72558" y="295349"/>
            <a:ext cx="15358140" cy="5434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500" b="1">
                <a:solidFill>
                  <a:srgbClr val="1A1A1A"/>
                </a:solidFill>
                <a:latin typeface="Yu Gothic"/>
              </a:rPr>
              <a:t>2つの型は、投資の目的の違い　─　飽和型（左）と創発型（右）</a:t>
            </a:r>
          </a:p>
        </p:txBody>
      </p:sp>
      <p:cxnSp>
        <p:nvCxnSpPr>
          <p:cNvPr id="3" name="y軸_L"/>
          <p:cNvCxnSpPr/>
          <p:nvPr/>
        </p:nvCxnSpPr>
        <p:spPr>
          <a:xfrm>
            <a:off x="933302" y="1417674"/>
            <a:ext cx="0" cy="3981303"/>
          </a:xfrm>
          <a:prstGeom prst="line">
            <a:avLst/>
          </a:prstGeom>
          <a:ln w="35448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x軸_L"/>
          <p:cNvCxnSpPr/>
          <p:nvPr/>
        </p:nvCxnSpPr>
        <p:spPr>
          <a:xfrm>
            <a:off x="909674" y="5398977"/>
            <a:ext cx="6757582" cy="0"/>
          </a:xfrm>
          <a:prstGeom prst="line">
            <a:avLst/>
          </a:prstGeom>
          <a:ln w="35448" cap="rnd">
            <a:solidFill>
              <a:srgbClr val="1A1A1A"/>
            </a:solidFill>
            <a:tailEnd type="triangle" w="med" len="me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目標水準ライン_L"/>
          <p:cNvCxnSpPr/>
          <p:nvPr/>
        </p:nvCxnSpPr>
        <p:spPr>
          <a:xfrm>
            <a:off x="945116" y="2587256"/>
            <a:ext cx="6568558" cy="0"/>
          </a:xfrm>
          <a:prstGeom prst="line">
            <a:avLst/>
          </a:prstGeom>
          <a:ln w="47264" cap="rnd">
            <a:solidFill>
              <a:srgbClr val="4A4A4A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y軸_R"/>
          <p:cNvCxnSpPr/>
          <p:nvPr/>
        </p:nvCxnSpPr>
        <p:spPr>
          <a:xfrm>
            <a:off x="9014047" y="1417674"/>
            <a:ext cx="0" cy="3981303"/>
          </a:xfrm>
          <a:prstGeom prst="line">
            <a:avLst/>
          </a:prstGeom>
          <a:ln w="35448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x軸_R"/>
          <p:cNvCxnSpPr/>
          <p:nvPr/>
        </p:nvCxnSpPr>
        <p:spPr>
          <a:xfrm>
            <a:off x="8990419" y="5398977"/>
            <a:ext cx="6745767" cy="0"/>
          </a:xfrm>
          <a:prstGeom prst="line">
            <a:avLst/>
          </a:prstGeom>
          <a:ln w="35448" cap="rnd">
            <a:solidFill>
              <a:srgbClr val="1A1A1A"/>
            </a:solidFill>
            <a:tailEnd type="triangle" w="med" len="me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目標水準ライン_R"/>
          <p:cNvCxnSpPr/>
          <p:nvPr/>
        </p:nvCxnSpPr>
        <p:spPr>
          <a:xfrm>
            <a:off x="9037674" y="2587256"/>
            <a:ext cx="6544931" cy="0"/>
          </a:xfrm>
          <a:prstGeom prst="line">
            <a:avLst/>
          </a:prstGeom>
          <a:ln w="47264" cap="rnd">
            <a:solidFill>
              <a:srgbClr val="4A4A4A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仕切り線"/>
          <p:cNvCxnSpPr/>
          <p:nvPr/>
        </p:nvCxnSpPr>
        <p:spPr>
          <a:xfrm>
            <a:off x="8128000" y="1134140"/>
            <a:ext cx="0" cy="4690139"/>
          </a:xfrm>
          <a:prstGeom prst="line">
            <a:avLst/>
          </a:prstGeom>
          <a:ln w="18905" cap="rnd">
            <a:solidFill>
              <a:srgbClr val="C8C8C8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曲線_StrategicA_左"/>
          <p:cNvSpPr/>
          <p:nvPr/>
        </p:nvSpPr>
        <p:spPr>
          <a:xfrm>
            <a:off x="945116" y="3146450"/>
            <a:ext cx="6568558" cy="2217085"/>
          </a:xfrm>
          <a:custGeom>
            <a:avLst/>
            <a:gdLst/>
            <a:ahLst/>
            <a:cxnLst/>
            <a:rect l="0" t="0" r="6568558" b="2217085"/>
            <a:pathLst>
              <a:path w="6568558" h="2217085">
                <a:moveTo>
                  <a:pt x="0" y="2217085"/>
                </a:moveTo>
                <a:cubicBezTo>
                  <a:pt x="68915" y="2143248"/>
                  <a:pt x="275659" y="1922721"/>
                  <a:pt x="413488" y="1774062"/>
                </a:cubicBezTo>
                <a:cubicBezTo>
                  <a:pt x="551318" y="1625403"/>
                  <a:pt x="679302" y="1474775"/>
                  <a:pt x="826977" y="1325132"/>
                </a:cubicBezTo>
                <a:cubicBezTo>
                  <a:pt x="974651" y="1175488"/>
                  <a:pt x="1132171" y="1016984"/>
                  <a:pt x="1299535" y="876202"/>
                </a:cubicBezTo>
                <a:cubicBezTo>
                  <a:pt x="1466899" y="735419"/>
                  <a:pt x="1644109" y="592667"/>
                  <a:pt x="1831163" y="480434"/>
                </a:cubicBezTo>
                <a:cubicBezTo>
                  <a:pt x="2018217" y="368202"/>
                  <a:pt x="2205271" y="270736"/>
                  <a:pt x="2421860" y="202806"/>
                </a:cubicBezTo>
                <a:cubicBezTo>
                  <a:pt x="2638450" y="134876"/>
                  <a:pt x="2864884" y="102388"/>
                  <a:pt x="3130698" y="72853"/>
                </a:cubicBezTo>
                <a:cubicBezTo>
                  <a:pt x="3396512" y="43318"/>
                  <a:pt x="3691860" y="35442"/>
                  <a:pt x="4016744" y="25597"/>
                </a:cubicBezTo>
                <a:cubicBezTo>
                  <a:pt x="4341628" y="15752"/>
                  <a:pt x="4725581" y="17721"/>
                  <a:pt x="5080000" y="13783"/>
                </a:cubicBezTo>
                <a:cubicBezTo>
                  <a:pt x="5434419" y="9845"/>
                  <a:pt x="5895163" y="3938"/>
                  <a:pt x="6143256" y="1969"/>
                </a:cubicBezTo>
                <a:cubicBezTo>
                  <a:pt x="6391349" y="0"/>
                  <a:pt x="6497674" y="1969"/>
                  <a:pt x="6568558" y="1969"/>
                </a:cubicBezTo>
              </a:path>
            </a:pathLst>
          </a:custGeom>
          <a:effectLst/>
          <a:noFill/>
          <a:ln w="59080" cap="rnd">
            <a:solidFill>
              <a:srgbClr val="1A1A1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曲線_StrategicB_左"/>
          <p:cNvSpPr/>
          <p:nvPr/>
        </p:nvSpPr>
        <p:spPr>
          <a:xfrm>
            <a:off x="945116" y="3238008"/>
            <a:ext cx="6568558" cy="2160969"/>
          </a:xfrm>
          <a:custGeom>
            <a:avLst/>
            <a:gdLst/>
            <a:ahLst/>
            <a:cxnLst/>
            <a:rect l="0" t="0" r="6568558" b="2160969"/>
            <a:pathLst>
              <a:path w="6568558" h="2160969">
                <a:moveTo>
                  <a:pt x="0" y="2160969"/>
                </a:moveTo>
                <a:cubicBezTo>
                  <a:pt x="118140" y="2159000"/>
                  <a:pt x="492248" y="2154078"/>
                  <a:pt x="708837" y="2149155"/>
                </a:cubicBezTo>
                <a:cubicBezTo>
                  <a:pt x="925426" y="2144233"/>
                  <a:pt x="1112481" y="2148171"/>
                  <a:pt x="1299535" y="2131434"/>
                </a:cubicBezTo>
                <a:cubicBezTo>
                  <a:pt x="1486589" y="2114698"/>
                  <a:pt x="1673643" y="2084178"/>
                  <a:pt x="1831163" y="2048736"/>
                </a:cubicBezTo>
                <a:cubicBezTo>
                  <a:pt x="1988682" y="2013295"/>
                  <a:pt x="2116667" y="1976868"/>
                  <a:pt x="2244651" y="1918783"/>
                </a:cubicBezTo>
                <a:cubicBezTo>
                  <a:pt x="2372636" y="1860698"/>
                  <a:pt x="2480930" y="1802612"/>
                  <a:pt x="2599070" y="1700225"/>
                </a:cubicBezTo>
                <a:cubicBezTo>
                  <a:pt x="2717209" y="1597837"/>
                  <a:pt x="2835349" y="1454101"/>
                  <a:pt x="2953488" y="1304457"/>
                </a:cubicBezTo>
                <a:cubicBezTo>
                  <a:pt x="3071628" y="1154814"/>
                  <a:pt x="3179922" y="956930"/>
                  <a:pt x="3307907" y="802364"/>
                </a:cubicBezTo>
                <a:cubicBezTo>
                  <a:pt x="3435891" y="647798"/>
                  <a:pt x="3563876" y="488310"/>
                  <a:pt x="3721395" y="377062"/>
                </a:cubicBezTo>
                <a:cubicBezTo>
                  <a:pt x="3878915" y="265814"/>
                  <a:pt x="4046279" y="191977"/>
                  <a:pt x="4253023" y="134876"/>
                </a:cubicBezTo>
                <a:cubicBezTo>
                  <a:pt x="4459767" y="77775"/>
                  <a:pt x="4705891" y="56116"/>
                  <a:pt x="4961860" y="34457"/>
                </a:cubicBezTo>
                <a:cubicBezTo>
                  <a:pt x="5217829" y="12798"/>
                  <a:pt x="5521054" y="9845"/>
                  <a:pt x="5788837" y="4922"/>
                </a:cubicBezTo>
                <a:cubicBezTo>
                  <a:pt x="6056620" y="0"/>
                  <a:pt x="6438605" y="4922"/>
                  <a:pt x="6568558" y="4922"/>
                </a:cubicBezTo>
              </a:path>
            </a:pathLst>
          </a:custGeom>
          <a:effectLst/>
          <a:noFill/>
          <a:ln w="59080" cap="rnd">
            <a:solidFill>
              <a:srgbClr val="8A8A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曲線_StrategicA_右"/>
          <p:cNvSpPr/>
          <p:nvPr/>
        </p:nvSpPr>
        <p:spPr>
          <a:xfrm>
            <a:off x="9025860" y="1742558"/>
            <a:ext cx="6533116" cy="3650512"/>
          </a:xfrm>
          <a:custGeom>
            <a:avLst/>
            <a:gdLst/>
            <a:ahLst/>
            <a:cxnLst/>
            <a:rect l="0" t="0" r="6533116" b="3650512"/>
            <a:pathLst>
              <a:path w="6533116" h="3650512">
                <a:moveTo>
                  <a:pt x="0" y="3650512"/>
                </a:moveTo>
                <a:cubicBezTo>
                  <a:pt x="129953" y="3615070"/>
                  <a:pt x="531628" y="3531388"/>
                  <a:pt x="779721" y="3437860"/>
                </a:cubicBezTo>
                <a:cubicBezTo>
                  <a:pt x="1027814" y="3344333"/>
                  <a:pt x="1271969" y="3245884"/>
                  <a:pt x="1488558" y="3089349"/>
                </a:cubicBezTo>
                <a:cubicBezTo>
                  <a:pt x="1705147" y="2932814"/>
                  <a:pt x="1892202" y="2733946"/>
                  <a:pt x="2079256" y="2498651"/>
                </a:cubicBezTo>
                <a:cubicBezTo>
                  <a:pt x="2266310" y="2263357"/>
                  <a:pt x="2453364" y="1912876"/>
                  <a:pt x="2610884" y="1677581"/>
                </a:cubicBezTo>
                <a:cubicBezTo>
                  <a:pt x="2768403" y="1442287"/>
                  <a:pt x="2886543" y="1253264"/>
                  <a:pt x="3024372" y="1086884"/>
                </a:cubicBezTo>
                <a:cubicBezTo>
                  <a:pt x="3162202" y="920504"/>
                  <a:pt x="3280341" y="795473"/>
                  <a:pt x="3437860" y="679302"/>
                </a:cubicBezTo>
                <a:cubicBezTo>
                  <a:pt x="3595380" y="563132"/>
                  <a:pt x="3762744" y="471574"/>
                  <a:pt x="3969488" y="389860"/>
                </a:cubicBezTo>
                <a:cubicBezTo>
                  <a:pt x="4176233" y="308147"/>
                  <a:pt x="4402667" y="244155"/>
                  <a:pt x="4678326" y="189023"/>
                </a:cubicBezTo>
                <a:cubicBezTo>
                  <a:pt x="4953984" y="133891"/>
                  <a:pt x="5314310" y="90574"/>
                  <a:pt x="5623442" y="59070"/>
                </a:cubicBezTo>
                <a:cubicBezTo>
                  <a:pt x="5932574" y="27566"/>
                  <a:pt x="6381504" y="9845"/>
                  <a:pt x="6533116" y="0"/>
                </a:cubicBezTo>
              </a:path>
            </a:pathLst>
          </a:custGeom>
          <a:effectLst/>
          <a:noFill/>
          <a:ln w="59080" cap="rnd">
            <a:solidFill>
              <a:srgbClr val="1A1A1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曲線_StrategicB_右"/>
          <p:cNvSpPr/>
          <p:nvPr/>
        </p:nvSpPr>
        <p:spPr>
          <a:xfrm>
            <a:off x="9025860" y="1760279"/>
            <a:ext cx="4997302" cy="3638698"/>
          </a:xfrm>
          <a:custGeom>
            <a:avLst/>
            <a:gdLst/>
            <a:ahLst/>
            <a:cxnLst/>
            <a:rect l="0" t="0" r="4997302" b="3638698"/>
            <a:pathLst>
              <a:path w="4997302" h="3638698">
                <a:moveTo>
                  <a:pt x="0" y="3638698"/>
                </a:moveTo>
                <a:cubicBezTo>
                  <a:pt x="169333" y="3623930"/>
                  <a:pt x="728527" y="3578643"/>
                  <a:pt x="1016000" y="3550093"/>
                </a:cubicBezTo>
                <a:cubicBezTo>
                  <a:pt x="1303473" y="3521543"/>
                  <a:pt x="1488558" y="3512682"/>
                  <a:pt x="1724837" y="3467395"/>
                </a:cubicBezTo>
                <a:cubicBezTo>
                  <a:pt x="1961116" y="3422109"/>
                  <a:pt x="2217085" y="3354178"/>
                  <a:pt x="2433674" y="3278372"/>
                </a:cubicBezTo>
                <a:cubicBezTo>
                  <a:pt x="2650264" y="3202566"/>
                  <a:pt x="2847163" y="3114946"/>
                  <a:pt x="3024372" y="3012558"/>
                </a:cubicBezTo>
                <a:cubicBezTo>
                  <a:pt x="3201581" y="2910171"/>
                  <a:pt x="3349256" y="2798922"/>
                  <a:pt x="3496930" y="2664047"/>
                </a:cubicBezTo>
                <a:cubicBezTo>
                  <a:pt x="3644605" y="2529171"/>
                  <a:pt x="3782434" y="2370667"/>
                  <a:pt x="3910419" y="2203302"/>
                </a:cubicBezTo>
                <a:cubicBezTo>
                  <a:pt x="4038403" y="2035938"/>
                  <a:pt x="4156543" y="1850853"/>
                  <a:pt x="4264837" y="1659860"/>
                </a:cubicBezTo>
                <a:cubicBezTo>
                  <a:pt x="4373132" y="1468868"/>
                  <a:pt x="4471581" y="1251295"/>
                  <a:pt x="4560186" y="1057349"/>
                </a:cubicBezTo>
                <a:cubicBezTo>
                  <a:pt x="4648791" y="863403"/>
                  <a:pt x="4723612" y="672411"/>
                  <a:pt x="4796465" y="496186"/>
                </a:cubicBezTo>
                <a:cubicBezTo>
                  <a:pt x="4869318" y="319961"/>
                  <a:pt x="4963829" y="82698"/>
                  <a:pt x="4997302" y="0"/>
                </a:cubicBezTo>
              </a:path>
            </a:pathLst>
          </a:custGeom>
          <a:effectLst/>
          <a:noFill/>
          <a:ln w="59080" cap="rnd">
            <a:solidFill>
              <a:srgbClr val="8A8A8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差分エリア"/>
          <p:cNvSpPr/>
          <p:nvPr/>
        </p:nvSpPr>
        <p:spPr>
          <a:xfrm>
            <a:off x="4193953" y="2616791"/>
            <a:ext cx="2356884" cy="484372"/>
          </a:xfrm>
          <a:prstGeom prst="rect">
            <a:avLst/>
          </a:prstGeom>
          <a:effectLst/>
          <a:solidFill>
            <a:srgbClr val="EDEDED"/>
          </a:solidFill>
          <a:ln w="11816" cap="flat">
            <a:solidFill>
              <a:srgbClr val="76767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差分ブレース"/>
          <p:cNvSpPr/>
          <p:nvPr/>
        </p:nvSpPr>
        <p:spPr>
          <a:xfrm>
            <a:off x="6580372" y="2622698"/>
            <a:ext cx="118140" cy="472558"/>
          </a:xfrm>
          <a:prstGeom prst="rightBrace">
            <a:avLst/>
          </a:prstGeom>
          <a:effectLst/>
          <a:solidFill>
            <a:srgbClr val="E8E8E8"/>
          </a:solidFill>
          <a:ln w="23632" cap="rnd">
            <a:solidFill>
              <a:srgbClr val="76767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突破点_縦1040"/>
          <p:cNvCxnSpPr/>
          <p:nvPr/>
        </p:nvCxnSpPr>
        <p:spPr>
          <a:xfrm>
            <a:off x="12286512" y="2398233"/>
            <a:ext cx="0" cy="378046"/>
          </a:xfrm>
          <a:prstGeom prst="line">
            <a:avLst/>
          </a:prstGeom>
          <a:ln w="25995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突破点_横1040"/>
          <p:cNvCxnSpPr/>
          <p:nvPr/>
        </p:nvCxnSpPr>
        <p:spPr>
          <a:xfrm>
            <a:off x="12109302" y="2587256"/>
            <a:ext cx="354419" cy="0"/>
          </a:xfrm>
          <a:prstGeom prst="line">
            <a:avLst/>
          </a:prstGeom>
          <a:ln w="25995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突破点_縦1160"/>
          <p:cNvCxnSpPr/>
          <p:nvPr/>
        </p:nvCxnSpPr>
        <p:spPr>
          <a:xfrm>
            <a:off x="13704186" y="2398233"/>
            <a:ext cx="0" cy="378046"/>
          </a:xfrm>
          <a:prstGeom prst="line">
            <a:avLst/>
          </a:prstGeom>
          <a:ln w="25995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突破点_横1160"/>
          <p:cNvCxnSpPr/>
          <p:nvPr/>
        </p:nvCxnSpPr>
        <p:spPr>
          <a:xfrm>
            <a:off x="13526977" y="2587256"/>
            <a:ext cx="354418" cy="0"/>
          </a:xfrm>
          <a:prstGeom prst="line">
            <a:avLst/>
          </a:prstGeom>
          <a:ln w="25995" cap="rnd">
            <a:solidFill>
              <a:srgbClr val="1A1A1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引出線1"/>
          <p:cNvCxnSpPr/>
          <p:nvPr/>
        </p:nvCxnSpPr>
        <p:spPr>
          <a:xfrm flipH="1" flipV="1">
            <a:off x="12428279" y="2729023"/>
            <a:ext cx="1311349" cy="720651"/>
          </a:xfrm>
          <a:prstGeom prst="line">
            <a:avLst/>
          </a:prstGeom>
          <a:ln w="16542" cap="rnd">
            <a:solidFill>
              <a:srgbClr val="1A1A1A"/>
            </a:solidFill>
            <a:tailEnd type="triangle" w="med" len="me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引出線2"/>
          <p:cNvCxnSpPr/>
          <p:nvPr/>
        </p:nvCxnSpPr>
        <p:spPr>
          <a:xfrm flipH="1" flipV="1">
            <a:off x="13822326" y="2752651"/>
            <a:ext cx="283534" cy="555256"/>
          </a:xfrm>
          <a:prstGeom prst="line">
            <a:avLst/>
          </a:prstGeom>
          <a:ln w="16542" cap="rnd">
            <a:solidFill>
              <a:srgbClr val="1A1A1A"/>
            </a:solidFill>
            <a:tailEnd type="triangle" w="med" len="me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y軸ラベル_左"/>
          <p:cNvSpPr txBox="1"/>
          <p:nvPr/>
        </p:nvSpPr>
        <p:spPr>
          <a:xfrm>
            <a:off x="401674" y="2226930"/>
            <a:ext cx="519814" cy="2362791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can-do到達率</a:t>
            </a:r>
          </a:p>
        </p:txBody>
      </p:sp>
      <p:sp>
        <p:nvSpPr>
          <p:cNvPr id="23" name="y軸ラベル_右"/>
          <p:cNvSpPr txBox="1"/>
          <p:nvPr/>
        </p:nvSpPr>
        <p:spPr>
          <a:xfrm>
            <a:off x="8482419" y="2226930"/>
            <a:ext cx="519814" cy="2362791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can-do到達率</a:t>
            </a:r>
          </a:p>
        </p:txBody>
      </p:sp>
      <p:sp>
        <p:nvSpPr>
          <p:cNvPr id="24" name="x軸ラベル_左"/>
          <p:cNvSpPr txBox="1"/>
          <p:nvPr/>
        </p:nvSpPr>
        <p:spPr>
          <a:xfrm>
            <a:off x="2717209" y="5469860"/>
            <a:ext cx="3071628" cy="35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時間経過</a:t>
            </a:r>
          </a:p>
        </p:txBody>
      </p:sp>
      <p:sp>
        <p:nvSpPr>
          <p:cNvPr id="25" name="x軸ラベル_右"/>
          <p:cNvSpPr txBox="1"/>
          <p:nvPr/>
        </p:nvSpPr>
        <p:spPr>
          <a:xfrm>
            <a:off x="10797953" y="5469860"/>
            <a:ext cx="3071628" cy="35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時間経過</a:t>
            </a:r>
          </a:p>
        </p:txBody>
      </p:sp>
      <p:sp>
        <p:nvSpPr>
          <p:cNvPr id="26" name="目標水準ラベル_左"/>
          <p:cNvSpPr txBox="1"/>
          <p:nvPr/>
        </p:nvSpPr>
        <p:spPr>
          <a:xfrm>
            <a:off x="643860" y="2203302"/>
            <a:ext cx="3780465" cy="33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要求ケイパビリティ（＝100）</a:t>
            </a:r>
          </a:p>
        </p:txBody>
      </p:sp>
      <p:sp>
        <p:nvSpPr>
          <p:cNvPr id="27" name="目標水準ラベル_右"/>
          <p:cNvSpPr txBox="1"/>
          <p:nvPr/>
        </p:nvSpPr>
        <p:spPr>
          <a:xfrm>
            <a:off x="8712791" y="2203302"/>
            <a:ext cx="3780465" cy="33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要求ケイパビリティ（＝100）</a:t>
            </a:r>
          </a:p>
        </p:txBody>
      </p:sp>
      <p:sp>
        <p:nvSpPr>
          <p:cNvPr id="28" name="ラベルA_左"/>
          <p:cNvSpPr txBox="1"/>
          <p:nvPr/>
        </p:nvSpPr>
        <p:spPr>
          <a:xfrm>
            <a:off x="956930" y="3260651"/>
            <a:ext cx="2599070" cy="33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Strategic A</a:t>
            </a:r>
          </a:p>
        </p:txBody>
      </p:sp>
      <p:sp>
        <p:nvSpPr>
          <p:cNvPr id="29" name="ラベルB_左"/>
          <p:cNvSpPr txBox="1"/>
          <p:nvPr/>
        </p:nvSpPr>
        <p:spPr>
          <a:xfrm>
            <a:off x="3343349" y="4134884"/>
            <a:ext cx="2599070" cy="33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8A8A8A"/>
                </a:solidFill>
                <a:latin typeface="Yu Gothic"/>
              </a:rPr>
              <a:t>Strategic B</a:t>
            </a:r>
          </a:p>
        </p:txBody>
      </p:sp>
      <p:sp>
        <p:nvSpPr>
          <p:cNvPr id="30" name="差分ラベル"/>
          <p:cNvSpPr txBox="1"/>
          <p:nvPr/>
        </p:nvSpPr>
        <p:spPr>
          <a:xfrm>
            <a:off x="6432698" y="2658140"/>
            <a:ext cx="1653953" cy="35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『差分』</a:t>
            </a:r>
          </a:p>
        </p:txBody>
      </p:sp>
      <p:sp>
        <p:nvSpPr>
          <p:cNvPr id="31" name="ラベルA_右"/>
          <p:cNvSpPr txBox="1"/>
          <p:nvPr/>
        </p:nvSpPr>
        <p:spPr>
          <a:xfrm>
            <a:off x="10160000" y="1429488"/>
            <a:ext cx="5198140" cy="35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Strategic A（パレート曲線）</a:t>
            </a:r>
          </a:p>
        </p:txBody>
      </p:sp>
      <p:sp>
        <p:nvSpPr>
          <p:cNvPr id="32" name="ラベルB_右"/>
          <p:cNvSpPr txBox="1"/>
          <p:nvPr/>
        </p:nvSpPr>
        <p:spPr>
          <a:xfrm>
            <a:off x="10538047" y="4595628"/>
            <a:ext cx="5198140" cy="354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8A8A8A"/>
                </a:solidFill>
                <a:latin typeface="Yu Gothic"/>
              </a:rPr>
              <a:t>Strategic B（等比級数曲線）</a:t>
            </a:r>
          </a:p>
        </p:txBody>
      </p:sp>
      <p:sp>
        <p:nvSpPr>
          <p:cNvPr id="33" name="突破ラベル"/>
          <p:cNvSpPr txBox="1"/>
          <p:nvPr/>
        </p:nvSpPr>
        <p:spPr>
          <a:xfrm>
            <a:off x="11750040" y="3310128"/>
            <a:ext cx="3931920" cy="330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要求水準の突破＝過剰投資の兆候</a:t>
            </a:r>
          </a:p>
        </p:txBody>
      </p:sp>
      <p:graphicFrame>
        <p:nvGraphicFramePr>
          <p:cNvPr id="34" name="説明表_左"/>
          <p:cNvGraphicFramePr>
            <a:graphicFrameLocks noGrp="1"/>
          </p:cNvGraphicFramePr>
          <p:nvPr/>
        </p:nvGraphicFramePr>
        <p:xfrm>
          <a:off x="508000" y="6053328"/>
          <a:ext cx="7194698" cy="2468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194698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【投資の目的】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要求水準に到達させ、そこで止める。届いたら、それ以上は投資しない。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【どういう領域か】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範囲が確定し、それ以上の広がりを求めない領域。ERP領域など。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【実測がこうなら】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超えて伸び続ける → 過剰投資。／ 届かず収束 → 採用・外部活用へ。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説明表_右"/>
          <p:cNvGraphicFramePr>
            <a:graphicFrameLocks noGrp="1"/>
          </p:cNvGraphicFramePr>
          <p:nvPr/>
        </p:nvGraphicFramePr>
        <p:xfrm>
          <a:off x="8541488" y="6053328"/>
          <a:ext cx="7277395" cy="2468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277395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【投資の目的】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能力が新たな能力を生む状態そのものを作ることを狙う。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【どういう領域か】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要求の範囲が確定せず、広がりに価値がある領域。新規事業など。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Yu Gothic"/>
                        </a:rPr>
                        <a:t>【実測がこうなら】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3D3D3D"/>
                          </a:solidFill>
                          <a:latin typeface="Yu Gothic"/>
                        </a:rPr>
                        <a:t>飽和カーブに収まる → 狙いが外れている。／ 加速 → 狙いどおり。</a:t>
                      </a:r>
                    </a:p>
                  </a:txBody>
                  <a:tcPr marL="106326" marR="106326" marT="64008" marB="64008" anchor="t">
                    <a:lnL w="9525" cap="flat">
                      <a:solidFill>
                        <a:srgbClr val="1A1A1A"/>
                      </a:solidFill>
                      <a:prstDash val="solid"/>
                    </a:lnL>
                    <a:lnR w="9525" cap="flat">
                      <a:solidFill>
                        <a:srgbClr val="1A1A1A"/>
                      </a:solidFill>
                      <a:prstDash val="solid"/>
                    </a:lnR>
                    <a:lnT w="9525" cap="flat">
                      <a:solidFill>
                        <a:srgbClr val="1A1A1A"/>
                      </a:solidFill>
                      <a:prstDash val="solid"/>
                    </a:lnT>
                    <a:lnB w="9525" cap="flat">
                      <a:solidFill>
                        <a:srgbClr val="1A1A1A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20" cy="914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46120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Yu Gothic"/>
              </a:rPr>
              <a:t>組織ケイパビリティ観測計画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434840"/>
            <a:ext cx="1234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C8C8"/>
                </a:solidFill>
                <a:latin typeface="Yu Gothic"/>
              </a:rPr>
              <a:t>要求ケイパビリティへの到達を観測し、過剰投資を避ける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89320"/>
            <a:ext cx="1234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Yu Gothic"/>
              </a:rPr>
              <a:t>SWPサイクル ステップ6「進捗のモニタリング」 実装案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7A7A"/>
                </a:solidFill>
                <a:latin typeface="Yu Gothic"/>
              </a:rPr>
              <a:t>2026年8月22日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45186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</a:rPr>
              <a:t>観測の目的は、ケイパビリティへの過剰投資をしないこと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16736"/>
            <a:ext cx="145186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要求ケイパビリティには上限がある。それを超えて伸ばした分は、事業にとっての価値を生まない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7589520" cy="2148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判断の基準は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A1A1A"/>
                </a:solidFill>
                <a:latin typeface="Yu Gothic"/>
              </a:rPr>
              <a:t>「まだ伸びるかどうか」ではなく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Yu Gothic"/>
              </a:rPr>
              <a:t>「もう足りているかどうか」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67328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67676"/>
                </a:solidFill>
                <a:latin typeface="Yu Gothic"/>
              </a:rPr>
              <a:t>伸ばせることと、伸ばすべきことは違う。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Yu Gothic"/>
              </a:rPr>
              <a:t>たとえば、ERP領域の場合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7589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3D3D3D"/>
                </a:solidFill>
                <a:latin typeface="Yu Gothic"/>
              </a:rPr>
              <a:t>ERP領域は、確立された製品仕様の範囲で回る領域であり、そこに創発的な広がりを求めていません。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3D3D3D"/>
                </a:solidFill>
                <a:latin typeface="Yu Gothic"/>
              </a:rPr>
              <a:t>この領域を専任で担当するビジネスパートナーは、職種としては、投資すれば等比級数的に伸びる余地を持っています。しかしERP領域が必要としているのは、そこまでではありません。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Yu Gothic"/>
              </a:rPr>
              <a:t>要求水準に届いた時点で、それ以上の育成投資は行わない、という判断をします。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2057400"/>
            <a:ext cx="6362212" cy="17556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6024" y="2313432"/>
            <a:ext cx="5740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A9A"/>
                </a:solidFill>
                <a:latin typeface="Yu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024" y="2660904"/>
            <a:ext cx="57404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要求ケイパビリティには上限がある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6024" y="3063240"/>
            <a:ext cx="57404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その領域の仕事を回すのに、どこまでできてほしいか。事業側の必要から決まっていて、青天井ではない。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5128" y="3950208"/>
            <a:ext cx="6362212" cy="17556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6024" y="4206240"/>
            <a:ext cx="5740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A9A"/>
                </a:solidFill>
                <a:latin typeface="Yu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6024" y="4553712"/>
            <a:ext cx="57404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超えた分は、価値を生まない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4956048"/>
            <a:ext cx="57404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能力としては価値があるが、その領域の要求に対しては余剰。そこにかけた分が過剰投資にあたる。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5843016"/>
            <a:ext cx="6362212" cy="17556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6099048"/>
            <a:ext cx="5740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A9A"/>
                </a:solidFill>
                <a:latin typeface="Yu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6446520"/>
            <a:ext cx="57404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水準は「職種×担当領域」で決める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6848856"/>
            <a:ext cx="5740420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同じビジネスパートナーでも、ERP専任と新規事業担当では求められる水準が違う。100の位置は組み合わせごとに置く。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45186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</a:rPr>
              <a:t>何を、どう測るか ─ 案件ごとに、二軸を5段階で採点する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16736"/>
            <a:ext cx="145186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「担当領域の何割をこなせるか」は聞かない。抽象的な問いは、本人か上司しか答えられず、評価する側の期待が点数に入る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29968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二軸で採点する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50592"/>
            <a:ext cx="7589520" cy="12984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9576" y="2706624"/>
            <a:ext cx="6967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関与者からのフィードバック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3108960"/>
            <a:ext cx="6967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その案件に関わった人が、この人の関与をどう見たか。上限がなく、担当案件の外へ影響が及ぶほど高くなる。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877056"/>
            <a:ext cx="7589520" cy="12984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133088"/>
            <a:ext cx="6967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成果物の品質とコスト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4535424"/>
            <a:ext cx="6967728" cy="43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求められる品質を満たしたか、どれだけの手間で作ったか。品質を落として手間を削った案件は高く出ない設計とする。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13248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合成の重み（職種別）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833872"/>
            <a:ext cx="7589520" cy="3657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925312"/>
            <a:ext cx="35442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職種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6398" y="5925312"/>
            <a:ext cx="14191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フィードバック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7883" y="5925312"/>
            <a:ext cx="14191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品質・コスト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6240780"/>
            <a:ext cx="758952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6323076"/>
            <a:ext cx="35442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ビジネスパートナー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6398" y="6323076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7883" y="6323076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6702552"/>
            <a:ext cx="758952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6784848"/>
            <a:ext cx="35442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ITサービスマネジャー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6398" y="6784848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7883" y="6784848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7164324"/>
            <a:ext cx="758952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7246620"/>
            <a:ext cx="35442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上記以外の5職種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6398" y="7246620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7883" y="7246620"/>
            <a:ext cx="14191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7699248"/>
            <a:ext cx="75895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採点基準はゼロから作らず、SFIA等の外部標準を下敷きにする。レベル3の状態記述を、職種×担当領域ごとに書く。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029968"/>
            <a:ext cx="6362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採点の目盛り ─ 要求水準はレベル3に置く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2450592"/>
            <a:ext cx="6362212" cy="3657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2542032"/>
            <a:ext cx="5254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レベル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4118" y="2542032"/>
            <a:ext cx="42367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どういう状態か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93231" y="2542032"/>
            <a:ext cx="3929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2857500"/>
            <a:ext cx="6362212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2939796"/>
            <a:ext cx="5254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54118" y="2939796"/>
            <a:ext cx="42367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この人の関与をきっかけに、他の人や他の案件のやり方自体が変わった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93231" y="2939796"/>
            <a:ext cx="392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167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5128" y="3502152"/>
            <a:ext cx="6362212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6296" y="3584448"/>
            <a:ext cx="5254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4118" y="3584448"/>
            <a:ext cx="42367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担当範囲を超えて、他の案件や他のメンバーにも良い影響が及んだ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793231" y="3584448"/>
            <a:ext cx="392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133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4146804"/>
            <a:ext cx="6362212" cy="60350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6296" y="4229100"/>
            <a:ext cx="5254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4118" y="4229100"/>
            <a:ext cx="42367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要求水準｜任せるべき範囲を、確認なしで任せられた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93231" y="4229100"/>
            <a:ext cx="392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Yu Gothic"/>
              </a:rPr>
              <a:t>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5128" y="4791456"/>
            <a:ext cx="6362212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6296" y="4873752"/>
            <a:ext cx="5254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4118" y="4873752"/>
            <a:ext cx="42367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決められた範囲は任せられるが、判断は周囲に確認しながらだった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93231" y="4873752"/>
            <a:ext cx="392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67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5128" y="5436108"/>
            <a:ext cx="6362212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6296" y="5518404"/>
            <a:ext cx="5254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Yu Gothic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54118" y="5518404"/>
            <a:ext cx="42367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単独では任せられなかった。手戻りや補助が必要だった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93231" y="5518404"/>
            <a:ext cx="392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33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5128" y="6291072"/>
            <a:ext cx="6362212" cy="1371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36024" y="6528816"/>
            <a:ext cx="57404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Yu Gothic"/>
              </a:rPr>
              <a:t>上端を要求水準にしない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物差しの上端を要求水準に置くと、レベル4・5が存在しません。要求を超えて伸びている状態＝過剰投資が起きている状態が見えなくなります。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5128" y="7882127"/>
            <a:ext cx="636221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四半期の値は、直近12か月に完了した案件の平均から出す。1件ごとは5段階でも、ならすことで滑らかな数字になる。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45186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</a:rPr>
              <a:t>誰が点を付けるのか ─ 本人は、自分の点を付けない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16736"/>
            <a:ext cx="145186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品質も工数も記録から機械的には取れないため、いずれも人が付ける点として設計する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4534753" cy="2670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97864" y="2359152"/>
            <a:ext cx="38763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Yu Gothic"/>
              </a:rPr>
              <a:t>関与者アンケート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2761488"/>
            <a:ext cx="38763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案件の関与者　3名以上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3255264"/>
            <a:ext cx="387638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フィードバック軸を5段階で採点する。平均ではなく中央値を使う。誰に聞くかは本人に選ばせず、案件責任者が指名する。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0633" y="2057400"/>
            <a:ext cx="4534753" cy="2670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9817" y="2359152"/>
            <a:ext cx="38763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Yu Gothic"/>
              </a:rPr>
              <a:t>案件責任者の採点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9817" y="2761488"/>
            <a:ext cx="38763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案件責任者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9817" y="3255264"/>
            <a:ext cx="387638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品質・コスト軸を5段階で採点する。あわせて案件の難易度区分を付け、アンケートを送る関与者を指名する。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52586" y="2057400"/>
            <a:ext cx="4534753" cy="267004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81770" y="2359152"/>
            <a:ext cx="387638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Yu Gothic"/>
              </a:rPr>
              <a:t>レビュアーの採点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1770" y="2761488"/>
            <a:ext cx="38763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設計レビュー等の担当者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1770" y="3255264"/>
            <a:ext cx="387638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品質・コスト軸を5段階で採点する。案件責任者とは別の人が望ましい。二人で独立に付け、その平均を使う。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6"/>
            <a:ext cx="145186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3D3D"/>
                </a:solidFill>
                <a:latin typeface="Yu Gothic"/>
              </a:rPr>
              <a:t>設問は「満足しましたか」と聞かない。「この人が関与していなかったら、この案件はどうなっていたと思うか」のように、いなかった場合と比べる聞き方にすると、人柄ではなく能力の話に寄る。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870448"/>
            <a:ext cx="14518660" cy="26517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6199632"/>
            <a:ext cx="137505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Yu Gothic"/>
              </a:rPr>
              <a:t>前提：案件台帳が要る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6675120"/>
            <a:ext cx="6766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案件ごとの関与者・見積・実績工数を機械的に取り出せる仕組みが、現状ありません。この計画は、そこがないと成り立ちません。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全社的な案件管理は重すぎるため、対象者が関わる案件に限った簡易な台帳を用意します。表計算ソフト1枚で足ります。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6675120"/>
            <a:ext cx="606960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Yu Gothic"/>
              </a:rPr>
              <a:t>記録する項目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案件ID・名称・完了日　／　対象者とその役割　／　難易度区分（3段階）　／　関与者（3名以上）　／　二軸の採点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67676"/>
                </a:solidFill>
                <a:latin typeface="Yu Gothic"/>
              </a:rPr>
              <a:t>記入は案件責任者が完了時に1回、5分程度。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45186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</a:rPr>
              <a:t>測る単位は職種（ジョブロール）。機能軸は補助として使う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16736"/>
            <a:ext cx="145186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SWPの需給予測もギャップ分析も配置の判断も、すべて職種ごとの人数で行われているため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5943600" cy="2560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2432304"/>
            <a:ext cx="5175504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単位をそろえる理由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3D3D"/>
                </a:solidFill>
                <a:latin typeface="Yu Gothic"/>
              </a:rPr>
              <a:t>測る単位が機能軸だと、結果をギャップ分析に戻すときに単位の変換が必要になり、そこでつながりが切れます。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3D3D"/>
                </a:solidFill>
                <a:latin typeface="Yu Gothic"/>
              </a:rPr>
              <a:t>報告のための測定ではなく、次のサイクルの入力になる測定にするため、単位は意思決定の単位に合わせます。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892040"/>
            <a:ext cx="5943600" cy="22402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5266944"/>
            <a:ext cx="517550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機能軸は「従」として使う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3D3D"/>
                </a:solidFill>
                <a:latin typeface="Yu Gothic"/>
              </a:rPr>
              <a:t>機能軸の数字は既存の業務ログから低コストで取れます。判定の主役にはしませんが、警告灯として使います。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3D3D"/>
                </a:solidFill>
                <a:latin typeface="Yu Gothic"/>
              </a:rPr>
              <a:t>職種の点数は伸びているのに機能軸の成果が動かない場合、疑うべきは施策ではなく点数の付け方です。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2057400"/>
            <a:ext cx="8008132" cy="47548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2148840"/>
            <a:ext cx="135945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2165" y="2148840"/>
            <a:ext cx="27208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機能軸（5領域）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65336" y="2148840"/>
            <a:ext cx="27208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ジョブロール軸（7職種）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257403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2656332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測定単位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2165" y="265633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組織・チームが持つ能力の総量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65336" y="265633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個人の習熟度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9208" y="332841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3410712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SWPへの接続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2165" y="341071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単位の変換が要る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65336" y="341071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そのまま戻せる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9208" y="408279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4165091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測定コスト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165" y="4165091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低い。業務ログから半自動で取れる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65336" y="4165091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高い。人数分の採点が要る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483717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4919472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人の入れ替わり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2165" y="491947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強い。誰かが抜けてもカバーされる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65336" y="491947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弱い。異動・退職で記録が途切れる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9208" y="559155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0376" y="5673852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創発型の検出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2165" y="567385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しやすい。成果が業務の数字に直接出る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65336" y="567385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しにくい。協働の成果を個人に帰属させにくい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9208" y="6345936"/>
            <a:ext cx="800813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0376" y="6428232"/>
            <a:ext cx="135945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立ち上げやすさ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2165" y="642823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早い。既存データで始められる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65336" y="6428232"/>
            <a:ext cx="272083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遅い。評価の仕組みを新規に作る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7370064"/>
            <a:ext cx="80081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ジョブロール軸は、ほぼすべての観点で機能軸に劣る。それでも選ぶのは、SWPの意思決定単位と一致するという一点による。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45186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</a:rPr>
              <a:t>SWPステップ6として、投資判断に返す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16736"/>
            <a:ext cx="145186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</a:rPr>
              <a:t>測る対象は内部育成（Build）に限る。採用・外部活用は段階的な変化であり、なめらかな曲線では表せない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4160520" cy="14813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9576" y="2286000"/>
            <a:ext cx="35387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</a:rPr>
              <a:t>ステップ1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2615184"/>
            <a:ext cx="3538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要求ケイパビリティの定義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3017520"/>
            <a:ext cx="35387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職種×担当領域ごとに、100の位置を決める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12080" y="2688336"/>
            <a:ext cx="292608" cy="219456"/>
          </a:xfrm>
          <a:prstGeom prst="righ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87568" y="2057400"/>
            <a:ext cx="4160520" cy="148132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8464" y="2286000"/>
            <a:ext cx="35387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</a:rPr>
              <a:t>ステップ6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2615184"/>
            <a:ext cx="3538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この観測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3017520"/>
            <a:ext cx="35387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方針としての型と、実測のカーブのずれを読む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030967" y="2688336"/>
            <a:ext cx="292608" cy="219456"/>
          </a:xfrm>
          <a:prstGeom prst="righ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06455" y="2057400"/>
            <a:ext cx="4160520" cy="14813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17351" y="2286000"/>
            <a:ext cx="35387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</a:rPr>
              <a:t>ステップ4・5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1" y="2615184"/>
            <a:ext cx="3538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ギャップ分析／施策の実施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1" y="3017520"/>
            <a:ext cx="35387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</a:rPr>
              <a:t>育成・採用・外部活用の配分を決め直す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68496"/>
            <a:ext cx="145186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</a:rPr>
              <a:t>読み取れた状態を、どの打ち手に返すか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389120"/>
            <a:ext cx="14518660" cy="402336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480559"/>
            <a:ext cx="48243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読み取れた状態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6565" y="4480559"/>
            <a:ext cx="65666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打つ手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65522" y="4480559"/>
            <a:ext cx="192064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</a:rPr>
              <a:t>戻し先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832604"/>
            <a:ext cx="14518660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914900"/>
            <a:ext cx="48243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すでに要求水準に到達している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6565" y="4914900"/>
            <a:ext cx="65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その領域への育成投資を止め、維持だけに切り替える。空いた分は、まだ届いていない領域へ回す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65522" y="4914900"/>
            <a:ext cx="1920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ステップ5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477256"/>
            <a:ext cx="14518660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5559552"/>
            <a:ext cx="48243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創発型のカーブを描いており、このままいくと要求水準を大きく超える見込み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6565" y="5559552"/>
            <a:ext cx="65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到達の見込み時期の手前から、投資を絞り始める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65522" y="5559552"/>
            <a:ext cx="1920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ステップ5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6121908"/>
            <a:ext cx="14518660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6204204"/>
            <a:ext cx="48243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飽和カーブに収束しつつあり、その上限が要求水準に届かない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6565" y="6204204"/>
            <a:ext cx="65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育成だけでは埋まらない。採用や外部活用で埋める判断に切り替える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65522" y="6204204"/>
            <a:ext cx="1920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ステップ4・5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6766560"/>
            <a:ext cx="14518660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6848856"/>
            <a:ext cx="48243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想定したカーブより伸びが遅く、期限に間に合わない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6565" y="6848856"/>
            <a:ext cx="65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投資を厚くするか、期限か要求水準のほうを見直す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65522" y="6848856"/>
            <a:ext cx="1920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ステップ1・4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7411212"/>
            <a:ext cx="14518660" cy="60350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" y="7493508"/>
            <a:ext cx="48243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Yu Gothic"/>
              </a:rPr>
              <a:t>想定したカーブより伸びが速い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6565" y="7493508"/>
            <a:ext cx="65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要求水準に早く届く。投資を絞る時期を前倒しできる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65522" y="7493508"/>
            <a:ext cx="19206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3D3D"/>
                </a:solidFill>
                <a:latin typeface="Yu Gothic"/>
              </a:rPr>
              <a:t>ステップ5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8284464"/>
            <a:ext cx="145186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</a:rPr>
              <a:t>1年未満のデータでは伸び方の型を見分けられないため、正式な判定は観測開始から1年半〜2年後とする。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8680" y="658368"/>
            <a:ext cx="1452067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Yu Gothic"/>
                <a:ea typeface="Yu Gothic"/>
              </a:rPr>
              <a:t>ツールは観測を代替しない。判断の材料と、判断の記録を補強する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8680" y="1316736"/>
            <a:ext cx="1452067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67676"/>
                </a:solidFill>
                <a:latin typeface="Yu Gothic"/>
                <a:ea typeface="Yu Gothic"/>
              </a:rPr>
              <a:t>Excelでの調査・分析・可視化は3製品とも置き換えられない。補強できるのは、材料を先に出すことと、根拠を後に残すことに絞られる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8680" y="1874520"/>
            <a:ext cx="145206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  <a:ea typeface="Yu Gothic"/>
              </a:rPr>
              <a:t>ツールごとの補強ポイント（上から、組織寄り → 個人寄り）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868680" y="2286000"/>
            <a:ext cx="14520672" cy="402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69848" y="23591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  <a:ea typeface="Yu Gothic"/>
              </a:rPr>
              <a:t>ツール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07208" y="235915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  <a:ea typeface="Yu Gothic"/>
              </a:rPr>
              <a:t>ツールが有する機能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13448" y="235915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  <a:ea typeface="Yu Gothic"/>
              </a:rPr>
              <a:t>観測計画に対する補強ポイント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11128" y="2359152"/>
            <a:ext cx="387705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Yu Gothic"/>
                <a:ea typeface="Yu Gothic"/>
              </a:rPr>
              <a:t>工数低減の算出方法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68680" y="2734056"/>
            <a:ext cx="14520672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1069848" y="2843784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Yu Gothic"/>
                <a:ea typeface="Yu Gothic"/>
              </a:rPr>
              <a:t>Cloud Assess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07208" y="2843784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評価基準と必要な証拠（成果物や記録）を登録しておき、採点する人が画面で基準を見ながら点を付ける。誰がいつ何を見て判定したかが日時つきで残る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3448" y="2843784"/>
            <a:ext cx="41605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点の付き方にばらつきが出ても、後から根拠をたどれる。最終判断が人である以上、判断をやり直せる状態が要る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11128" y="2843784"/>
            <a:ext cx="3877056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案件数 ×（回答の転記時間 ＋ 記入漏れの確認時間）＋ 根拠をさかのぼる件数 × 問い合わせ時間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8680" y="3602736"/>
            <a:ext cx="14520672" cy="8229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69848" y="3712464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Yu Gothic"/>
                <a:ea typeface="Yu Gothic"/>
              </a:rPr>
              <a:t>Cloud Assess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07208" y="3712464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同じ職種の要件を拠点ごとに登録し、並べて比較して、食い違いを自動で洗い出す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13448" y="3712464"/>
            <a:ext cx="41605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Yu Gothic"/>
                <a:ea typeface="Yu Gothic"/>
              </a:rPr>
              <a:t>「3地域で定義が違う」というロールリードの指摘に直接当たる。定義が揃うのを待たずに、差分を目に見える形にできる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1128" y="3712464"/>
            <a:ext cx="3877056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対象職種数 × 拠点数 × 定義書を読み解く時間 ＋ 差分表にまとめる時間。これを改訂のたびに繰り返す回数で掛ける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68680" y="4471416"/>
            <a:ext cx="14520672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069848" y="4581144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Yu Gothic"/>
                <a:ea typeface="Yu Gothic"/>
              </a:rPr>
              <a:t>Track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07208" y="4581144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既成の分類にない自社独自の職種を定義し、必要なスキルを紐づけて、テスト形式の検定を実施できる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3448" y="4581144"/>
            <a:ext cx="41605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テストには採点する人がいないため、案件の成否にも採点者の気分にも左右されない。主観の点数と並べると、甘め・辛めの見当がつく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11128" y="4581144"/>
            <a:ext cx="3877056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対象者数 × 点数の妥当性を確かめる時間 −（検定とくい違った人数 × 同じ時間）−（検定の作成・保守時間 ÷ 使い回せる期数）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68680" y="5340096"/>
            <a:ext cx="14520672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1069848" y="5449824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Yu Gothic"/>
                <a:ea typeface="Yu Gothic"/>
              </a:rPr>
              <a:t>MuchSkills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07208" y="5449824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一人ひとりについて、できること（習熟度）とは別に、やりたいこと（意欲）を記録し、並べて表示する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3448" y="5449824"/>
            <a:ext cx="416052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観測は「投資を止める」までしか教えてくれない。止めたあと、配置を変えるか維持するかを決める材料になる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11128" y="5449824"/>
            <a:ext cx="3877056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D3D3D"/>
                </a:solidFill>
                <a:latin typeface="Yu Gothic"/>
                <a:ea typeface="Yu Gothic"/>
              </a:rPr>
              <a:t>要求水準に届いた人数 × ヒアリング時間 × 聞く相手の人数 のうち、記録を見れば済ませられる分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8680" y="6309360"/>
            <a:ext cx="145206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  <a:ea typeface="Yu Gothic"/>
              </a:rPr>
              <a:t>導入の順序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68680" y="6675120"/>
            <a:ext cx="4620768" cy="1417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1179576" y="6876288"/>
            <a:ext cx="399897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  <a:ea typeface="Yu Gothic"/>
              </a:rPr>
              <a:t>まず着手：Cloud Assess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9576" y="7205472"/>
            <a:ext cx="399897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  <a:ea typeface="Yu Gothic"/>
              </a:rPr>
              <a:t>拠点間の定義比較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9576" y="7589520"/>
            <a:ext cx="3998976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  <a:ea typeface="Yu Gothic"/>
              </a:rPr>
              <a:t>9月キックオフの前提が崩れている箇所に直接当たる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818632" y="6675120"/>
            <a:ext cx="4620768" cy="1417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6129528" y="6876288"/>
            <a:ext cx="399897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  <a:ea typeface="Yu Gothic"/>
              </a:rPr>
              <a:t>次に検討：Track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29528" y="7205472"/>
            <a:ext cx="399897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  <a:ea typeface="Yu Gothic"/>
              </a:rPr>
              <a:t>職種を定義しての検定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129528" y="7589520"/>
            <a:ext cx="3998976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  <a:ea typeface="Yu Gothic"/>
              </a:rPr>
              <a:t>揺れを人が引き受けるという方針の、裏付けになる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768584" y="6675120"/>
            <a:ext cx="4620768" cy="1417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11079480" y="6876288"/>
            <a:ext cx="399897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A9A9A"/>
                </a:solidFill>
                <a:latin typeface="Yu Gothic"/>
                <a:ea typeface="Yu Gothic"/>
              </a:rPr>
              <a:t>規模が出てから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79480" y="7205472"/>
            <a:ext cx="399897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Yu Gothic"/>
                <a:ea typeface="Yu Gothic"/>
              </a:rPr>
              <a:t>採点の証跡と、意欲の記録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79480" y="7589520"/>
            <a:ext cx="3998976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3D3D"/>
                </a:solidFill>
                <a:latin typeface="Yu Gothic"/>
                <a:ea typeface="Yu Gothic"/>
              </a:rPr>
              <a:t>全ロール・全拠点へ広げた時点で効いてくる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8680" y="8321040"/>
            <a:ext cx="1452067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  <a:latin typeface="Yu Gothic"/>
                <a:ea typeface="Yu Gothic"/>
              </a:rPr>
              <a:t>工数低減は算出方法のみを示す。Trackの行だけは「全員を確認する」から「一部に絞る」への転換であり、絞り込みの効きを初年度に実測しないと見積もれない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