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4792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F47920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1371600"/>
            <a:ext cx="1097280" cy="1097280"/>
          </a:xfrm>
          <a:prstGeom prst="ellipse">
            <a:avLst/>
          </a:prstGeom>
          <a:solidFill>
            <a:srgbClr val="F47920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Talent Development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the Skill Foundation &amp; Global Expansion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919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 2024-2026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4919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 on our past skill development initiatives and incorporating Lessons Learned, we are taking on two challenges over the next 3 years: Strengthening the Skill Foundation and Global Expansion.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479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Reflection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640080" cy="0"/>
          </a:xfrm>
          <a:prstGeom prst="line">
            <a:avLst/>
          </a:prstGeom>
          <a:noFill/>
          <a:ln w="25400">
            <a:solidFill>
              <a:srgbClr val="F47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487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2011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479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77840" y="2651760"/>
            <a:ext cx="640080" cy="0"/>
          </a:xfrm>
          <a:prstGeom prst="line">
            <a:avLst/>
          </a:prstGeom>
          <a:noFill/>
          <a:ln w="25400">
            <a:solidFill>
              <a:srgbClr val="F479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487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2011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47920"/>
          </a:solidFill>
          <a:ln w="25400">
            <a:solidFill>
              <a:srgbClr val="F479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Upcoming Challenges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reflect on past skill development efforts to apply the insights gained to our future initiatives.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141732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600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and standardization of skills are prerequisites for placement, training, and hiring decisions.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417320"/>
            <a:ext cx="54864" cy="141732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288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600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talent data makes it difficult to understand the organization overall skill status and to plan effectively.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290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learning is disconnected from evaluation and careers, individual growth is hard to reflect in the system.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3017520"/>
            <a:ext cx="54864" cy="141732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4290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a common framework (e.g., SFIA) enables dialogue across regions and roles.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Background (SWOT Analysis)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rapid changes in the external environment with current internal challenges.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402336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(S)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Accumulated skill development efforts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Lessons Learned base and high motivation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63040"/>
            <a:ext cx="402336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(O)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Rapid advancement of GenAI and related technologies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Acceleration of global knowledge sharing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4023360" cy="73152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27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(W)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Silos across regions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disconnect, lack of a common language (SFIA)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402336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127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(T)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Severe shortage of IT talent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Accelerated speed of technological change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Derivation (Cross SWOT Analysis)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402336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External Factors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1155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will not wait (Force for change)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機会 (O)：Rapid advancement of GenAI and related technologies / Acceleration of global knowledge sharing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脅威 (T)：Severe shortage of IT talent / Accelerated speed of technological change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22960"/>
            <a:ext cx="402336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Internal Factors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1155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 have reached their limits (Cannot win as is)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 (S)：Accumulated skill development efforts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弱み (W)：Silos across regions / Data disconnect, lack of a common language (SFIA)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743200"/>
            <a:ext cx="54864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3291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 w="25400">
            <a:solidFill>
              <a:srgbClr val="F479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3364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Cross Analysis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leverage strengths, overcome weaknesses, and seize opportunities, we must steer towards the Two Challenges.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103120" y="3950208"/>
            <a:ext cx="4937760" cy="502920"/>
          </a:xfrm>
          <a:prstGeom prst="roundRect">
            <a:avLst>
              <a:gd name="adj" fmla="val 45455"/>
            </a:avLst>
          </a:prstGeom>
          <a:solidFill>
            <a:srgbClr val="F47920"/>
          </a:solidFill>
          <a:ln/>
        </p:spPr>
      </p:sp>
      <p:sp>
        <p:nvSpPr>
          <p:cNvPr id="20" name="Text 17"/>
          <p:cNvSpPr/>
          <p:nvPr/>
        </p:nvSpPr>
        <p:spPr>
          <a:xfrm>
            <a:off x="2103120" y="39502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the Foundation and Global Integration are essential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Challenges for the Next 3 Years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SWOT analysis, we have identified the following two pillars as our top priorities.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298448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417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Skill Foundation Strengthening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94360" y="1874520"/>
            <a:ext cx="3749040" cy="27432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skill inventory and adopt SFIA 9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2788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skill assessment, visualization, and learning platforms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" y="3611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the talent management system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1298448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17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1417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Global Expansion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4800600" y="1874520"/>
            <a:ext cx="3749040" cy="27432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8" name="Text 13"/>
          <p:cNvSpPr/>
          <p:nvPr/>
        </p:nvSpPr>
        <p:spPr>
          <a:xfrm>
            <a:off x="484632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talent development to North America and EMEA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46320" y="2788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consensus on optimal talent placement per region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3611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the foundation for cross-regional career ladders and job challenge programs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Skill Foundation Strengthening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7160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skill inventory and adopt SFIA 9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3756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3484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685800" cy="685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skill assessment, visualization, and learning platforms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7220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9" name="Shape 15"/>
          <p:cNvSpPr/>
          <p:nvPr/>
        </p:nvSpPr>
        <p:spPr>
          <a:xfrm>
            <a:off x="726948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26948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685800" cy="685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the talent management system to centralize talent data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Global Expansion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7160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talent development activities, previously limited to Japan, to North America &amp; EMEA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3756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3484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685800" cy="685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 consensus on optimal talent placement for each region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72200" y="100584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9" name="Shape 15"/>
          <p:cNvSpPr/>
          <p:nvPr/>
        </p:nvSpPr>
        <p:spPr>
          <a:xfrm>
            <a:off x="7269480" y="795528"/>
            <a:ext cx="411480" cy="411480"/>
          </a:xfrm>
          <a:prstGeom prst="ellipse">
            <a:avLst/>
          </a:prstGeom>
          <a:solidFill>
            <a:srgbClr val="F47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26948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685800" cy="685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foundation for cross-regional career ladders and job challenge systems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453542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SFIA? (Skills Framework for the Information Age)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SFIA defines the skills and competencies required by professionals who design, develop, implement, manage, and protect the technology that powers the digital world. It is a globally adopted common framework.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54864" cy="68580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574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capabilities via 7 levels of responsibility and professional skills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743200"/>
            <a:ext cx="54864" cy="68580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80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diverse roles including software engineering, data science, and cybersecurity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566160"/>
            <a:ext cx="54864" cy="685800"/>
          </a:xfrm>
          <a:prstGeom prst="rect">
            <a:avLst/>
          </a:prstGeom>
          <a:solidFill>
            <a:srgbClr val="F479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03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in ~200 countries by governments, enterprises, and individuals (SFIA 9 released October 2024)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035040" y="777240"/>
            <a:ext cx="2743200" cy="3794760"/>
          </a:xfrm>
          <a:prstGeom prst="rect">
            <a:avLst/>
          </a:prstGeom>
          <a:solidFill>
            <a:srgbClr val="FFF3E0"/>
          </a:solidFill>
          <a:ln w="19050">
            <a:solidFill>
              <a:srgbClr val="F479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675120" y="1097280"/>
            <a:ext cx="1463040" cy="1463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8076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SFIA 9</a:t>
            </a:r>
            <a:endParaRPr lang="en-US" sz="4200" dirty="0"/>
          </a:p>
        </p:txBody>
      </p:sp>
      <p:sp>
        <p:nvSpPr>
          <p:cNvPr id="21" name="Text 15"/>
          <p:cNvSpPr/>
          <p:nvPr/>
        </p:nvSpPr>
        <p:spPr>
          <a:xfrm>
            <a:off x="6080760" y="3383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Standard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Oct 2024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Current Term Goals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411480"/>
          </a:xfrm>
          <a:prstGeom prst="roundRect">
            <a:avLst>
              <a:gd name="adj" fmla="val 44444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Term Goals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68096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103120"/>
            <a:ext cx="457200" cy="457200"/>
          </a:xfrm>
          <a:prstGeom prst="ellipse">
            <a:avLst/>
          </a:prstGeom>
          <a:solidFill>
            <a:srgbClr val="F47920"/>
          </a:solidFill>
          <a:ln w="50800">
            <a:solidFill>
              <a:srgbClr val="FAF9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121408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27432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5156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of each initiative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2103120"/>
            <a:ext cx="457200" cy="457200"/>
          </a:xfrm>
          <a:prstGeom prst="ellipse">
            <a:avLst/>
          </a:prstGeom>
          <a:solidFill>
            <a:srgbClr val="F47920"/>
          </a:solidFill>
          <a:ln w="50800">
            <a:solidFill>
              <a:srgbClr val="FAF9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121408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49040" y="27432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88620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of the talent database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949440" y="2103120"/>
            <a:ext cx="457200" cy="457200"/>
          </a:xfrm>
          <a:prstGeom prst="ellipse">
            <a:avLst/>
          </a:prstGeom>
          <a:solidFill>
            <a:srgbClr val="F47920"/>
          </a:solidFill>
          <a:ln w="50800">
            <a:solidFill>
              <a:srgbClr val="FAF9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121408"/>
            <a:ext cx="411480" cy="411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400800" y="27432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53796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 near real-time updates for the skill inventory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4406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046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Talent Development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8046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2011680" cy="128016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7043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(Background &amp; Purpose)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261872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improvements are insufficient due to rapid external changes (GenAI advancement, IT talent shortage) and internal issues (regional silos, data disconnect), requiring fundamental transformation.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2011680" cy="128016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9631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(Goals &amp; Challenges)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2496312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587752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 two top-priority challenges over the next 3 years: 1. Strengthening the Skill Foundation and 2. Global Expansion.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2011680" cy="128016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2219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(Execution Approach)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68880" y="3822192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3913632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global standard SFIA 9 to integrate assessment, visualization, learning, and talent management, expand to North America/EMEA, and build cross-regional career ladders and job challenge programs.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92040"/>
            <a:ext cx="228600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" y="4910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IT Team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4910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 IT Department Talent Strategy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IT部門におけるタレントデベロップメント</dc:title>
  <dc:subject>PptxGenJS Presentation</dc:subject>
  <dc:creator>PptxGenJS</dc:creator>
  <cp:lastModifiedBy>PptxGenJS</cp:lastModifiedBy>
  <cp:revision>1</cp:revision>
  <dcterms:created xsi:type="dcterms:W3CDTF">2026-03-14T00:57:43Z</dcterms:created>
  <dcterms:modified xsi:type="dcterms:W3CDTF">2026-03-14T00:57:43Z</dcterms:modified>
</cp:coreProperties>
</file>