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プロジェクトチャーター冒頭部。背景と目的、課題と対応方針、想定される問いへの回答、状態目標の4章構成。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第1章 背景と目的。要求ケイパビリティ（To-Be）と組織ケイパビリティ（As-Is）の対比構造を示す。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第2章 課題と対応方針。4つの課題それぞれについて現状と対応を示す。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第3章 想定される問いへの回答。参加者・プロジェクトオーナーから繰り返し寄せられている問いに対する回答。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第4章 状態目標。終了時点で満たすべき4つの状態と、それぞれの主な成果物。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6"/>
        </a:solidFill>
      </p:bgPr>
    </p:bg>
    <p:spTree>
      <p:nvGrpSpPr>
        <p:cNvPr id="1" name=""/>
        <p:cNvGrpSpPr/>
        <p:nvPr/>
      </p:nvGrpSpPr>
      <p:grpSpPr>
        <a:xfrm>
          <a:off x="0" y="0"/>
          <a:ext cx="0" cy="0"/>
          <a:chOff x="0" y="0"/>
          <a:chExt cx="0" cy="0"/>
        </a:xfrm>
      </p:grpSpPr>
      <p:sp>
        <p:nvSpPr>
          <p:cNvPr id="2" name="Shape 0"/>
          <p:cNvSpPr/>
          <p:nvPr/>
        </p:nvSpPr>
        <p:spPr>
          <a:xfrm>
            <a:off x="8732520" y="1417320"/>
            <a:ext cx="603504" cy="603504"/>
          </a:xfrm>
          <a:prstGeom prst="roundRect">
            <a:avLst>
              <a:gd name="adj" fmla="val 9091"/>
            </a:avLst>
          </a:prstGeom>
          <a:solidFill>
            <a:srgbClr val="1E2A36"/>
          </a:solidFill>
          <a:ln w="12700">
            <a:solidFill>
              <a:srgbClr val="5A7D9A"/>
            </a:solidFill>
            <a:prstDash val="solid"/>
          </a:ln>
        </p:spPr>
      </p:sp>
      <p:sp>
        <p:nvSpPr>
          <p:cNvPr id="3" name="Text 1"/>
          <p:cNvSpPr/>
          <p:nvPr/>
        </p:nvSpPr>
        <p:spPr>
          <a:xfrm>
            <a:off x="8732520" y="1417320"/>
            <a:ext cx="603504" cy="603504"/>
          </a:xfrm>
          <a:prstGeom prst="rect">
            <a:avLst/>
          </a:prstGeom>
          <a:noFill/>
          <a:ln/>
        </p:spPr>
        <p:txBody>
          <a:bodyPr wrap="square" lIns="0" tIns="0" rIns="0" bIns="0" rtlCol="0" anchor="ctr"/>
          <a:lstStyle/>
          <a:p>
            <a:pPr algn="ctr" indent="0" marL="0">
              <a:buNone/>
            </a:pPr>
            <a:r>
              <a:rPr lang="en-US" sz="1700" b="1" dirty="0">
                <a:solidFill>
                  <a:srgbClr val="5A7D9A"/>
                </a:solidFill>
                <a:latin typeface="Calibri" pitchFamily="34" charset="0"/>
                <a:ea typeface="Calibri" pitchFamily="34" charset="-122"/>
                <a:cs typeface="Calibri" pitchFamily="34" charset="-120"/>
              </a:rPr>
              <a:t>1</a:t>
            </a:r>
            <a:endParaRPr lang="en-US" sz="1700" dirty="0"/>
          </a:p>
        </p:txBody>
      </p:sp>
      <p:sp>
        <p:nvSpPr>
          <p:cNvPr id="4" name="Shape 2"/>
          <p:cNvSpPr/>
          <p:nvPr/>
        </p:nvSpPr>
        <p:spPr>
          <a:xfrm>
            <a:off x="8732520" y="2203704"/>
            <a:ext cx="603504" cy="603504"/>
          </a:xfrm>
          <a:prstGeom prst="roundRect">
            <a:avLst>
              <a:gd name="adj" fmla="val 9091"/>
            </a:avLst>
          </a:prstGeom>
          <a:solidFill>
            <a:srgbClr val="1E2A36"/>
          </a:solidFill>
          <a:ln w="12700">
            <a:solidFill>
              <a:srgbClr val="5A7D9A"/>
            </a:solidFill>
            <a:prstDash val="solid"/>
          </a:ln>
        </p:spPr>
      </p:sp>
      <p:sp>
        <p:nvSpPr>
          <p:cNvPr id="5" name="Text 3"/>
          <p:cNvSpPr/>
          <p:nvPr/>
        </p:nvSpPr>
        <p:spPr>
          <a:xfrm>
            <a:off x="8732520" y="2203704"/>
            <a:ext cx="603504" cy="603504"/>
          </a:xfrm>
          <a:prstGeom prst="rect">
            <a:avLst/>
          </a:prstGeom>
          <a:noFill/>
          <a:ln/>
        </p:spPr>
        <p:txBody>
          <a:bodyPr wrap="square" lIns="0" tIns="0" rIns="0" bIns="0" rtlCol="0" anchor="ctr"/>
          <a:lstStyle/>
          <a:p>
            <a:pPr algn="ctr" indent="0" marL="0">
              <a:buNone/>
            </a:pPr>
            <a:r>
              <a:rPr lang="en-US" sz="1700" b="1" dirty="0">
                <a:solidFill>
                  <a:srgbClr val="5A7D9A"/>
                </a:solidFill>
                <a:latin typeface="Calibri" pitchFamily="34" charset="0"/>
                <a:ea typeface="Calibri" pitchFamily="34" charset="-122"/>
                <a:cs typeface="Calibri" pitchFamily="34" charset="-120"/>
              </a:rPr>
              <a:t>2</a:t>
            </a:r>
            <a:endParaRPr lang="en-US" sz="1700" dirty="0"/>
          </a:p>
        </p:txBody>
      </p:sp>
      <p:sp>
        <p:nvSpPr>
          <p:cNvPr id="6" name="Shape 4"/>
          <p:cNvSpPr/>
          <p:nvPr/>
        </p:nvSpPr>
        <p:spPr>
          <a:xfrm>
            <a:off x="8732520" y="2990088"/>
            <a:ext cx="603504" cy="603504"/>
          </a:xfrm>
          <a:prstGeom prst="roundRect">
            <a:avLst>
              <a:gd name="adj" fmla="val 9091"/>
            </a:avLst>
          </a:prstGeom>
          <a:solidFill>
            <a:srgbClr val="1E2A36"/>
          </a:solidFill>
          <a:ln w="12700">
            <a:solidFill>
              <a:srgbClr val="5A7D9A"/>
            </a:solidFill>
            <a:prstDash val="solid"/>
          </a:ln>
        </p:spPr>
      </p:sp>
      <p:sp>
        <p:nvSpPr>
          <p:cNvPr id="7" name="Text 5"/>
          <p:cNvSpPr/>
          <p:nvPr/>
        </p:nvSpPr>
        <p:spPr>
          <a:xfrm>
            <a:off x="8732520" y="2990088"/>
            <a:ext cx="603504" cy="603504"/>
          </a:xfrm>
          <a:prstGeom prst="rect">
            <a:avLst/>
          </a:prstGeom>
          <a:noFill/>
          <a:ln/>
        </p:spPr>
        <p:txBody>
          <a:bodyPr wrap="square" lIns="0" tIns="0" rIns="0" bIns="0" rtlCol="0" anchor="ctr"/>
          <a:lstStyle/>
          <a:p>
            <a:pPr algn="ctr" indent="0" marL="0">
              <a:buNone/>
            </a:pPr>
            <a:r>
              <a:rPr lang="en-US" sz="1700" b="1" dirty="0">
                <a:solidFill>
                  <a:srgbClr val="5A7D9A"/>
                </a:solidFill>
                <a:latin typeface="Calibri" pitchFamily="34" charset="0"/>
                <a:ea typeface="Calibri" pitchFamily="34" charset="-122"/>
                <a:cs typeface="Calibri" pitchFamily="34" charset="-120"/>
              </a:rPr>
              <a:t>3</a:t>
            </a:r>
            <a:endParaRPr lang="en-US" sz="1700" dirty="0"/>
          </a:p>
        </p:txBody>
      </p:sp>
      <p:sp>
        <p:nvSpPr>
          <p:cNvPr id="8" name="Shape 6"/>
          <p:cNvSpPr/>
          <p:nvPr/>
        </p:nvSpPr>
        <p:spPr>
          <a:xfrm>
            <a:off x="8732520" y="3776472"/>
            <a:ext cx="603504" cy="603504"/>
          </a:xfrm>
          <a:prstGeom prst="roundRect">
            <a:avLst>
              <a:gd name="adj" fmla="val 9091"/>
            </a:avLst>
          </a:prstGeom>
          <a:solidFill>
            <a:srgbClr val="1E2A36"/>
          </a:solidFill>
          <a:ln w="12700">
            <a:solidFill>
              <a:srgbClr val="5A7D9A"/>
            </a:solidFill>
            <a:prstDash val="solid"/>
          </a:ln>
        </p:spPr>
      </p:sp>
      <p:sp>
        <p:nvSpPr>
          <p:cNvPr id="9" name="Text 7"/>
          <p:cNvSpPr/>
          <p:nvPr/>
        </p:nvSpPr>
        <p:spPr>
          <a:xfrm>
            <a:off x="8732520" y="3776472"/>
            <a:ext cx="603504" cy="603504"/>
          </a:xfrm>
          <a:prstGeom prst="rect">
            <a:avLst/>
          </a:prstGeom>
          <a:noFill/>
          <a:ln/>
        </p:spPr>
        <p:txBody>
          <a:bodyPr wrap="square" lIns="0" tIns="0" rIns="0" bIns="0" rtlCol="0" anchor="ctr"/>
          <a:lstStyle/>
          <a:p>
            <a:pPr algn="ctr" indent="0" marL="0">
              <a:buNone/>
            </a:pPr>
            <a:r>
              <a:rPr lang="en-US" sz="1700" b="1" dirty="0">
                <a:solidFill>
                  <a:srgbClr val="5A7D9A"/>
                </a:solidFill>
                <a:latin typeface="Calibri" pitchFamily="34" charset="0"/>
                <a:ea typeface="Calibri" pitchFamily="34" charset="-122"/>
                <a:cs typeface="Calibri" pitchFamily="34" charset="-120"/>
              </a:rPr>
              <a:t>4</a:t>
            </a:r>
            <a:endParaRPr lang="en-US" sz="1700" dirty="0"/>
          </a:p>
        </p:txBody>
      </p:sp>
      <p:sp>
        <p:nvSpPr>
          <p:cNvPr id="10" name="Text 8"/>
          <p:cNvSpPr/>
          <p:nvPr/>
        </p:nvSpPr>
        <p:spPr>
          <a:xfrm>
            <a:off x="9509760" y="1417320"/>
            <a:ext cx="2286000" cy="603504"/>
          </a:xfrm>
          <a:prstGeom prst="rect">
            <a:avLst/>
          </a:prstGeom>
          <a:noFill/>
          <a:ln/>
        </p:spPr>
        <p:txBody>
          <a:bodyPr wrap="square" lIns="0" tIns="0" rIns="0" bIns="0" rtlCol="0" anchor="ctr"/>
          <a:lstStyle/>
          <a:p>
            <a:pPr indent="0" marL="0">
              <a:buNone/>
            </a:pPr>
            <a:r>
              <a:rPr lang="en-US" sz="1150" dirty="0">
                <a:solidFill>
                  <a:srgbClr val="C3D0DB"/>
                </a:solidFill>
                <a:latin typeface="Meiryo" pitchFamily="34" charset="0"/>
                <a:ea typeface="Meiryo" pitchFamily="34" charset="-122"/>
                <a:cs typeface="Meiryo" pitchFamily="34" charset="-120"/>
              </a:rPr>
              <a:t>背景と目的</a:t>
            </a:r>
            <a:endParaRPr lang="en-US" sz="1150" dirty="0"/>
          </a:p>
        </p:txBody>
      </p:sp>
      <p:sp>
        <p:nvSpPr>
          <p:cNvPr id="11" name="Text 9"/>
          <p:cNvSpPr/>
          <p:nvPr/>
        </p:nvSpPr>
        <p:spPr>
          <a:xfrm>
            <a:off x="9509760" y="2203704"/>
            <a:ext cx="2286000" cy="603504"/>
          </a:xfrm>
          <a:prstGeom prst="rect">
            <a:avLst/>
          </a:prstGeom>
          <a:noFill/>
          <a:ln/>
        </p:spPr>
        <p:txBody>
          <a:bodyPr wrap="square" lIns="0" tIns="0" rIns="0" bIns="0" rtlCol="0" anchor="ctr"/>
          <a:lstStyle/>
          <a:p>
            <a:pPr indent="0" marL="0">
              <a:buNone/>
            </a:pPr>
            <a:r>
              <a:rPr lang="en-US" sz="1150" dirty="0">
                <a:solidFill>
                  <a:srgbClr val="C3D0DB"/>
                </a:solidFill>
                <a:latin typeface="Meiryo" pitchFamily="34" charset="0"/>
                <a:ea typeface="Meiryo" pitchFamily="34" charset="-122"/>
                <a:cs typeface="Meiryo" pitchFamily="34" charset="-120"/>
              </a:rPr>
              <a:t>課題と対応方針</a:t>
            </a:r>
            <a:endParaRPr lang="en-US" sz="1150" dirty="0"/>
          </a:p>
        </p:txBody>
      </p:sp>
      <p:sp>
        <p:nvSpPr>
          <p:cNvPr id="12" name="Text 10"/>
          <p:cNvSpPr/>
          <p:nvPr/>
        </p:nvSpPr>
        <p:spPr>
          <a:xfrm>
            <a:off x="9509760" y="2990088"/>
            <a:ext cx="2286000" cy="603504"/>
          </a:xfrm>
          <a:prstGeom prst="rect">
            <a:avLst/>
          </a:prstGeom>
          <a:noFill/>
          <a:ln/>
        </p:spPr>
        <p:txBody>
          <a:bodyPr wrap="square" lIns="0" tIns="0" rIns="0" bIns="0" rtlCol="0" anchor="ctr"/>
          <a:lstStyle/>
          <a:p>
            <a:pPr indent="0" marL="0">
              <a:buNone/>
            </a:pPr>
            <a:r>
              <a:rPr lang="en-US" sz="1150" dirty="0">
                <a:solidFill>
                  <a:srgbClr val="C3D0DB"/>
                </a:solidFill>
                <a:latin typeface="Meiryo" pitchFamily="34" charset="0"/>
                <a:ea typeface="Meiryo" pitchFamily="34" charset="-122"/>
                <a:cs typeface="Meiryo" pitchFamily="34" charset="-120"/>
              </a:rPr>
              <a:t>想定される問いへの回答</a:t>
            </a:r>
            <a:endParaRPr lang="en-US" sz="1150" dirty="0"/>
          </a:p>
        </p:txBody>
      </p:sp>
      <p:sp>
        <p:nvSpPr>
          <p:cNvPr id="13" name="Text 11"/>
          <p:cNvSpPr/>
          <p:nvPr/>
        </p:nvSpPr>
        <p:spPr>
          <a:xfrm>
            <a:off x="9509760" y="3776472"/>
            <a:ext cx="2286000" cy="603504"/>
          </a:xfrm>
          <a:prstGeom prst="rect">
            <a:avLst/>
          </a:prstGeom>
          <a:noFill/>
          <a:ln/>
        </p:spPr>
        <p:txBody>
          <a:bodyPr wrap="square" lIns="0" tIns="0" rIns="0" bIns="0" rtlCol="0" anchor="ctr"/>
          <a:lstStyle/>
          <a:p>
            <a:pPr indent="0" marL="0">
              <a:buNone/>
            </a:pPr>
            <a:r>
              <a:rPr lang="en-US" sz="1150" dirty="0">
                <a:solidFill>
                  <a:srgbClr val="C3D0DB"/>
                </a:solidFill>
                <a:latin typeface="Meiryo" pitchFamily="34" charset="0"/>
                <a:ea typeface="Meiryo" pitchFamily="34" charset="-122"/>
                <a:cs typeface="Meiryo" pitchFamily="34" charset="-120"/>
              </a:rPr>
              <a:t>本プロジェクトの状態目標</a:t>
            </a:r>
            <a:endParaRPr lang="en-US" sz="1150" dirty="0"/>
          </a:p>
        </p:txBody>
      </p:sp>
      <p:sp>
        <p:nvSpPr>
          <p:cNvPr id="14" name="Text 12"/>
          <p:cNvSpPr/>
          <p:nvPr/>
        </p:nvSpPr>
        <p:spPr>
          <a:xfrm>
            <a:off x="822960" y="1691640"/>
            <a:ext cx="7589520" cy="457200"/>
          </a:xfrm>
          <a:prstGeom prst="rect">
            <a:avLst/>
          </a:prstGeom>
          <a:noFill/>
          <a:ln/>
        </p:spPr>
        <p:txBody>
          <a:bodyPr wrap="square" lIns="0" tIns="0" rIns="0" bIns="0" rtlCol="0" anchor="ctr"/>
          <a:lstStyle/>
          <a:p>
            <a:pPr indent="0" marL="0">
              <a:buNone/>
            </a:pPr>
            <a:r>
              <a:rPr lang="en-US" sz="1500" spc="200" kern="0" dirty="0">
                <a:solidFill>
                  <a:srgbClr val="5A7D9A"/>
                </a:solidFill>
                <a:latin typeface="Meiryo" pitchFamily="34" charset="0"/>
                <a:ea typeface="Meiryo" pitchFamily="34" charset="-122"/>
                <a:cs typeface="Meiryo" pitchFamily="34" charset="-120"/>
              </a:rPr>
              <a:t>プロジェクトチャーター</a:t>
            </a:r>
            <a:endParaRPr lang="en-US" sz="1500" dirty="0"/>
          </a:p>
        </p:txBody>
      </p:sp>
      <p:sp>
        <p:nvSpPr>
          <p:cNvPr id="15" name="Text 13"/>
          <p:cNvSpPr/>
          <p:nvPr/>
        </p:nvSpPr>
        <p:spPr>
          <a:xfrm>
            <a:off x="822960" y="2194560"/>
            <a:ext cx="7589520" cy="1737360"/>
          </a:xfrm>
          <a:prstGeom prst="rect">
            <a:avLst/>
          </a:prstGeom>
          <a:noFill/>
          <a:ln/>
        </p:spPr>
        <p:txBody>
          <a:bodyPr wrap="square" lIns="0" tIns="0" rIns="0" bIns="0" rtlCol="0" anchor="t"/>
          <a:lstStyle/>
          <a:p>
            <a:pPr indent="0" marL="0">
              <a:lnSpc>
                <a:spcPts val="4800"/>
              </a:lnSpc>
              <a:buNone/>
            </a:pPr>
            <a:r>
              <a:rPr lang="en-US" sz="3800" b="1" dirty="0">
                <a:solidFill>
                  <a:srgbClr val="FFFFFF"/>
                </a:solidFill>
                <a:latin typeface="Meiryo" pitchFamily="34" charset="0"/>
                <a:ea typeface="Meiryo" pitchFamily="34" charset="-122"/>
                <a:cs typeface="Meiryo" pitchFamily="34" charset="-120"/>
              </a:rPr>
              <a:t>スキルアセスメント</a:t>
            </a:r>
            <a:endParaRPr lang="en-US" sz="3800" dirty="0"/>
          </a:p>
          <a:p>
            <a:pPr indent="0" marL="0">
              <a:lnSpc>
                <a:spcPts val="4800"/>
              </a:lnSpc>
              <a:buNone/>
            </a:pPr>
            <a:r>
              <a:rPr lang="en-US" sz="3800" b="1" dirty="0">
                <a:solidFill>
                  <a:srgbClr val="FFFFFF"/>
                </a:solidFill>
                <a:latin typeface="Meiryo" pitchFamily="34" charset="0"/>
                <a:ea typeface="Meiryo" pitchFamily="34" charset="-122"/>
                <a:cs typeface="Meiryo" pitchFamily="34" charset="-120"/>
              </a:rPr>
              <a:t>トライアルプロジェクト</a:t>
            </a:r>
            <a:endParaRPr lang="en-US" sz="3800" dirty="0"/>
          </a:p>
        </p:txBody>
      </p:sp>
      <p:sp>
        <p:nvSpPr>
          <p:cNvPr id="16" name="Text 14"/>
          <p:cNvSpPr/>
          <p:nvPr/>
        </p:nvSpPr>
        <p:spPr>
          <a:xfrm>
            <a:off x="822960" y="4114800"/>
            <a:ext cx="7589520" cy="365760"/>
          </a:xfrm>
          <a:prstGeom prst="rect">
            <a:avLst/>
          </a:prstGeom>
          <a:noFill/>
          <a:ln/>
        </p:spPr>
        <p:txBody>
          <a:bodyPr wrap="square" lIns="0" tIns="0" rIns="0" bIns="0" rtlCol="0" anchor="ctr"/>
          <a:lstStyle/>
          <a:p>
            <a:pPr indent="0" marL="0">
              <a:buNone/>
            </a:pPr>
            <a:r>
              <a:rPr lang="en-US" sz="1300" dirty="0">
                <a:solidFill>
                  <a:srgbClr val="C3D0DB"/>
                </a:solidFill>
                <a:latin typeface="Meiryo" pitchFamily="34" charset="0"/>
                <a:ea typeface="Meiryo" pitchFamily="34" charset="-122"/>
                <a:cs typeface="Meiryo" pitchFamily="34" charset="-120"/>
              </a:rPr>
              <a:t>スキルとケイパビリティのレンズを通して、新たな組織運営の確立に資する</a:t>
            </a:r>
            <a:endParaRPr lang="en-US" sz="1300" dirty="0"/>
          </a:p>
        </p:txBody>
      </p:sp>
      <p:sp>
        <p:nvSpPr>
          <p:cNvPr id="17" name="Shape 15"/>
          <p:cNvSpPr/>
          <p:nvPr/>
        </p:nvSpPr>
        <p:spPr>
          <a:xfrm>
            <a:off x="822960" y="4892040"/>
            <a:ext cx="7589520" cy="0"/>
          </a:xfrm>
          <a:prstGeom prst="line">
            <a:avLst/>
          </a:prstGeom>
          <a:noFill/>
          <a:ln w="12700">
            <a:solidFill>
              <a:srgbClr val="44586B"/>
            </a:solidFill>
            <a:prstDash val="solid"/>
          </a:ln>
        </p:spPr>
      </p:sp>
      <p:sp>
        <p:nvSpPr>
          <p:cNvPr id="18" name="Text 16"/>
          <p:cNvSpPr/>
          <p:nvPr/>
        </p:nvSpPr>
        <p:spPr>
          <a:xfrm>
            <a:off x="822960" y="5029200"/>
            <a:ext cx="7589520" cy="320040"/>
          </a:xfrm>
          <a:prstGeom prst="rect">
            <a:avLst/>
          </a:prstGeom>
          <a:noFill/>
          <a:ln/>
        </p:spPr>
        <p:txBody>
          <a:bodyPr wrap="square" lIns="0" tIns="0" rIns="0" bIns="0" rtlCol="0" anchor="ctr"/>
          <a:lstStyle/>
          <a:p>
            <a:pPr indent="0" marL="0">
              <a:buNone/>
            </a:pPr>
            <a:r>
              <a:rPr lang="en-US" sz="1150" dirty="0">
                <a:solidFill>
                  <a:srgbClr val="8FA3B4"/>
                </a:solidFill>
                <a:latin typeface="Meiryo" pitchFamily="34" charset="0"/>
                <a:ea typeface="Meiryo" pitchFamily="34" charset="-122"/>
                <a:cs typeface="Meiryo" pitchFamily="34" charset="-120"/>
              </a:rPr>
              <a:t>IT組織 組織開発・人材開発</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20624" cy="420624"/>
          </a:xfrm>
          <a:prstGeom prst="roundRect">
            <a:avLst>
              <a:gd name="adj" fmla="val 13043"/>
            </a:avLst>
          </a:prstGeom>
          <a:solidFill>
            <a:srgbClr val="2B3A4A"/>
          </a:solidFill>
          <a:ln w="12700">
            <a:solidFill>
              <a:srgbClr val="2B3A4A"/>
            </a:solidFill>
            <a:prstDash val="solid"/>
          </a:ln>
        </p:spPr>
      </p:sp>
      <p:sp>
        <p:nvSpPr>
          <p:cNvPr id="3" name="Text 1"/>
          <p:cNvSpPr/>
          <p:nvPr/>
        </p:nvSpPr>
        <p:spPr>
          <a:xfrm>
            <a:off x="457200" y="31089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p:nvPr/>
        </p:nvSpPr>
        <p:spPr>
          <a:xfrm>
            <a:off x="1005840" y="274320"/>
            <a:ext cx="7863840" cy="502920"/>
          </a:xfrm>
          <a:prstGeom prst="rect">
            <a:avLst/>
          </a:prstGeom>
          <a:noFill/>
          <a:ln/>
        </p:spPr>
        <p:txBody>
          <a:bodyPr wrap="square" lIns="0" tIns="0" rIns="0" bIns="0" rtlCol="0" anchor="ctr"/>
          <a:lstStyle/>
          <a:p>
            <a:pPr indent="0" marL="0">
              <a:buNone/>
            </a:pPr>
            <a:r>
              <a:rPr lang="en-US" sz="2300" b="1" dirty="0">
                <a:solidFill>
                  <a:srgbClr val="2B3A4A"/>
                </a:solidFill>
                <a:latin typeface="Meiryo" pitchFamily="34" charset="0"/>
                <a:ea typeface="Meiryo" pitchFamily="34" charset="-122"/>
                <a:cs typeface="Meiryo" pitchFamily="34" charset="-120"/>
              </a:rPr>
              <a:t>背景と目的</a:t>
            </a:r>
            <a:endParaRPr lang="en-US" sz="2300" dirty="0"/>
          </a:p>
        </p:txBody>
      </p:sp>
      <p:sp>
        <p:nvSpPr>
          <p:cNvPr id="5" name="Text 3"/>
          <p:cNvSpPr/>
          <p:nvPr/>
        </p:nvSpPr>
        <p:spPr>
          <a:xfrm>
            <a:off x="8778240" y="384048"/>
            <a:ext cx="2926080" cy="329184"/>
          </a:xfrm>
          <a:prstGeom prst="rect">
            <a:avLst/>
          </a:prstGeom>
          <a:noFill/>
          <a:ln/>
        </p:spPr>
        <p:txBody>
          <a:bodyPr wrap="square" lIns="0" tIns="0" rIns="0" bIns="0" rtlCol="0" anchor="ctr"/>
          <a:lstStyle/>
          <a:p>
            <a:pPr algn="r" indent="0" marL="0">
              <a:buNone/>
            </a:pPr>
            <a:r>
              <a:rPr lang="en-US" sz="950" dirty="0">
                <a:solidFill>
                  <a:srgbClr val="6B7885"/>
                </a:solidFill>
                <a:latin typeface="Meiryo" pitchFamily="34" charset="0"/>
                <a:ea typeface="Meiryo" pitchFamily="34" charset="-122"/>
                <a:cs typeface="Meiryo" pitchFamily="34" charset="-120"/>
              </a:rPr>
              <a:t>Project Charter｜スキルアセスメント トライアル</a:t>
            </a:r>
            <a:endParaRPr lang="en-US" sz="950" dirty="0"/>
          </a:p>
        </p:txBody>
      </p:sp>
      <p:sp>
        <p:nvSpPr>
          <p:cNvPr id="6" name="Text 4"/>
          <p:cNvSpPr/>
          <p:nvPr/>
        </p:nvSpPr>
        <p:spPr>
          <a:xfrm>
            <a:off x="457200" y="1097280"/>
            <a:ext cx="6537960" cy="3200400"/>
          </a:xfrm>
          <a:prstGeom prst="rect">
            <a:avLst/>
          </a:prstGeom>
          <a:noFill/>
          <a:ln/>
        </p:spPr>
        <p:txBody>
          <a:bodyPr wrap="square" lIns="0" tIns="0" rIns="0" bIns="0" rtlCol="0" anchor="t"/>
          <a:lstStyle/>
          <a:p>
            <a:pPr indent="0" marL="0">
              <a:lnSpc>
                <a:spcPts val="2000"/>
              </a:lnSpc>
              <a:spcAft>
                <a:spcPts val="1000"/>
              </a:spcAft>
              <a:buNone/>
            </a:pPr>
            <a:r>
              <a:rPr lang="en-US" sz="1250" dirty="0">
                <a:solidFill>
                  <a:srgbClr val="1F2933"/>
                </a:solidFill>
                <a:latin typeface="Meiryo" pitchFamily="34" charset="0"/>
                <a:ea typeface="Meiryo" pitchFamily="34" charset="-122"/>
                <a:cs typeface="Meiryo" pitchFamily="34" charset="-120"/>
              </a:rPr>
              <a:t>当社IT組織では、Workforce Planning（WFP）により、将来のIT組織像と、そこに必要な要求ケイパビリティを検討している。この議論を実のあるものにするには、それに対比される組織ケイパビリティ——今この組織が実際に何をどこまでできるのか——が見えている必要がある。</a:t>
            </a:r>
            <a:endParaRPr lang="en-US" sz="1250" dirty="0"/>
          </a:p>
          <a:p>
            <a:pPr indent="0" marL="0">
              <a:lnSpc>
                <a:spcPts val="2000"/>
              </a:lnSpc>
              <a:buNone/>
            </a:pPr>
            <a:r>
              <a:rPr lang="en-US" sz="1250" dirty="0">
                <a:solidFill>
                  <a:srgbClr val="1F2933"/>
                </a:solidFill>
                <a:latin typeface="Meiryo" pitchFamily="34" charset="0"/>
                <a:ea typeface="Meiryo" pitchFamily="34" charset="-122"/>
                <a:cs typeface="Meiryo" pitchFamily="34" charset="-120"/>
              </a:rPr>
              <a:t>本プロジェクトが目指すのは、</a:t>
            </a:r>
            <a:pPr indent="0" marL="0">
              <a:lnSpc>
                <a:spcPts val="2000"/>
              </a:lnSpc>
              <a:buNone/>
            </a:pPr>
            <a:r>
              <a:rPr lang="en-US" sz="1250" b="1" dirty="0">
                <a:solidFill>
                  <a:srgbClr val="2B3A4A"/>
                </a:solidFill>
                <a:latin typeface="Meiryo" pitchFamily="34" charset="0"/>
                <a:ea typeface="Meiryo" pitchFamily="34" charset="-122"/>
                <a:cs typeface="Meiryo" pitchFamily="34" charset="-120"/>
              </a:rPr>
              <a:t>スキルとケイパビリティのレンズを通して、新たな組織運営の確立に資すること</a:t>
            </a:r>
            <a:pPr indent="0" marL="0">
              <a:lnSpc>
                <a:spcPts val="2000"/>
              </a:lnSpc>
              <a:spcAft>
                <a:spcPts val="1000"/>
              </a:spcAft>
              <a:buNone/>
            </a:pPr>
            <a:r>
              <a:rPr lang="en-US" sz="1250" dirty="0">
                <a:solidFill>
                  <a:srgbClr val="1F2933"/>
                </a:solidFill>
                <a:latin typeface="Meiryo" pitchFamily="34" charset="0"/>
                <a:ea typeface="Meiryo" pitchFamily="34" charset="-122"/>
                <a:cs typeface="Meiryo" pitchFamily="34" charset="-120"/>
              </a:rPr>
              <a:t>である。誰が何をどこまでできるかを共通の言葉で語れるようになれば、組織設計も、育成投資も、要員計画も、根拠を持って議論できるようになる。</a:t>
            </a:r>
            <a:endParaRPr lang="en-US" sz="1250" dirty="0"/>
          </a:p>
          <a:p>
            <a:pPr indent="0" marL="0">
              <a:lnSpc>
                <a:spcPts val="2000"/>
              </a:lnSpc>
              <a:buNone/>
            </a:pPr>
            <a:r>
              <a:rPr lang="en-US" sz="1250" dirty="0">
                <a:solidFill>
                  <a:srgbClr val="1F2933"/>
                </a:solidFill>
                <a:latin typeface="Meiryo" pitchFamily="34" charset="0"/>
                <a:ea typeface="Meiryo" pitchFamily="34" charset="-122"/>
                <a:cs typeface="Meiryo" pitchFamily="34" charset="-120"/>
              </a:rPr>
              <a:t>その実現に向け、本プロジェクトでは、この領域が抱える課題を</a:t>
            </a:r>
            <a:pPr indent="0" marL="0">
              <a:lnSpc>
                <a:spcPts val="2000"/>
              </a:lnSpc>
              <a:buNone/>
            </a:pPr>
            <a:r>
              <a:rPr lang="en-US" sz="1250" b="1" dirty="0">
                <a:solidFill>
                  <a:srgbClr val="2B3A4A"/>
                </a:solidFill>
                <a:latin typeface="Meiryo" pitchFamily="34" charset="0"/>
                <a:ea typeface="Meiryo" pitchFamily="34" charset="-122"/>
                <a:cs typeface="Meiryo" pitchFamily="34" charset="-120"/>
              </a:rPr>
              <a:t>解決可能な粒度まで詳細化・具体化する</a:t>
            </a:r>
            <a:pPr indent="0" marL="0">
              <a:lnSpc>
                <a:spcPts val="2000"/>
              </a:lnSpc>
              <a:spcAft>
                <a:spcPts val="1000"/>
              </a:spcAft>
              <a:buNone/>
            </a:pPr>
            <a:r>
              <a:rPr lang="en-US" sz="1250" dirty="0">
                <a:solidFill>
                  <a:srgbClr val="1F2933"/>
                </a:solidFill>
                <a:latin typeface="Meiryo" pitchFamily="34" charset="0"/>
                <a:ea typeface="Meiryo" pitchFamily="34" charset="-122"/>
                <a:cs typeface="Meiryo" pitchFamily="34" charset="-120"/>
              </a:rPr>
              <a:t>。対象は1つのジョブロール、対象者も日本国内の一部に限定する。この範囲で組織ケイパビリティが見えるようになるわけではない。しかし、範囲を絞って実際に一巡させることでしか、課題は具体化しない。</a:t>
            </a:r>
            <a:endParaRPr lang="en-US" sz="1250" dirty="0"/>
          </a:p>
          <a:p>
            <a:pPr indent="0" marL="0">
              <a:lnSpc>
                <a:spcPts val="2000"/>
              </a:lnSpc>
              <a:buNone/>
            </a:pPr>
            <a:r>
              <a:rPr lang="en-US" sz="1250" dirty="0">
                <a:solidFill>
                  <a:srgbClr val="1F2933"/>
                </a:solidFill>
                <a:latin typeface="Meiryo" pitchFamily="34" charset="0"/>
                <a:ea typeface="Meiryo" pitchFamily="34" charset="-122"/>
                <a:cs typeface="Meiryo" pitchFamily="34" charset="-120"/>
              </a:rPr>
              <a:t>以下、本プロジェクトが取り組む4つの課題と、その対応方針を示す。</a:t>
            </a:r>
            <a:endParaRPr lang="en-US" sz="1250" dirty="0"/>
          </a:p>
        </p:txBody>
      </p:sp>
      <p:sp>
        <p:nvSpPr>
          <p:cNvPr id="7" name="Shape 5"/>
          <p:cNvSpPr/>
          <p:nvPr/>
        </p:nvSpPr>
        <p:spPr>
          <a:xfrm>
            <a:off x="7360920" y="1097280"/>
            <a:ext cx="4343400" cy="3310128"/>
          </a:xfrm>
          <a:prstGeom prst="roundRect">
            <a:avLst>
              <a:gd name="adj" fmla="val 829"/>
            </a:avLst>
          </a:prstGeom>
          <a:solidFill>
            <a:srgbClr val="F3F5F7"/>
          </a:solidFill>
          <a:ln w="12700">
            <a:solidFill>
              <a:srgbClr val="F3F5F7"/>
            </a:solidFill>
            <a:prstDash val="solid"/>
          </a:ln>
        </p:spPr>
      </p:sp>
      <p:sp>
        <p:nvSpPr>
          <p:cNvPr id="8" name="Text 6"/>
          <p:cNvSpPr/>
          <p:nvPr/>
        </p:nvSpPr>
        <p:spPr>
          <a:xfrm>
            <a:off x="7616952" y="1243584"/>
            <a:ext cx="3831336" cy="274320"/>
          </a:xfrm>
          <a:prstGeom prst="rect">
            <a:avLst/>
          </a:prstGeom>
          <a:noFill/>
          <a:ln/>
        </p:spPr>
        <p:txBody>
          <a:bodyPr wrap="square" lIns="0" tIns="0" rIns="0" bIns="0" rtlCol="0" anchor="ctr"/>
          <a:lstStyle/>
          <a:p>
            <a:pPr indent="0" marL="0">
              <a:buNone/>
            </a:pPr>
            <a:r>
              <a:rPr lang="en-US" sz="1050" b="1" dirty="0">
                <a:solidFill>
                  <a:srgbClr val="6B7885"/>
                </a:solidFill>
                <a:latin typeface="Meiryo" pitchFamily="34" charset="0"/>
                <a:ea typeface="Meiryo" pitchFamily="34" charset="-122"/>
                <a:cs typeface="Meiryo" pitchFamily="34" charset="-120"/>
              </a:rPr>
              <a:t>WFPの議論を実のあるものにする構造</a:t>
            </a:r>
            <a:endParaRPr lang="en-US" sz="1050" dirty="0"/>
          </a:p>
        </p:txBody>
      </p:sp>
      <p:sp>
        <p:nvSpPr>
          <p:cNvPr id="9" name="Shape 7"/>
          <p:cNvSpPr/>
          <p:nvPr/>
        </p:nvSpPr>
        <p:spPr>
          <a:xfrm>
            <a:off x="7616952" y="1609344"/>
            <a:ext cx="3831336" cy="786384"/>
          </a:xfrm>
          <a:prstGeom prst="roundRect">
            <a:avLst>
              <a:gd name="adj" fmla="val 5814"/>
            </a:avLst>
          </a:prstGeom>
          <a:solidFill>
            <a:srgbClr val="2B3A4A"/>
          </a:solidFill>
          <a:ln w="12700">
            <a:solidFill>
              <a:srgbClr val="2B3A4A"/>
            </a:solidFill>
            <a:prstDash val="solid"/>
          </a:ln>
        </p:spPr>
      </p:sp>
      <p:sp>
        <p:nvSpPr>
          <p:cNvPr id="10" name="Text 8"/>
          <p:cNvSpPr/>
          <p:nvPr/>
        </p:nvSpPr>
        <p:spPr>
          <a:xfrm>
            <a:off x="7616952" y="1609344"/>
            <a:ext cx="3831336" cy="786384"/>
          </a:xfrm>
          <a:prstGeom prst="rect">
            <a:avLst/>
          </a:prstGeom>
          <a:noFill/>
          <a:ln/>
        </p:spPr>
        <p:txBody>
          <a:bodyPr wrap="square" lIns="0" tIns="0" rIns="0" bIns="0" rtlCol="0" anchor="ctr"/>
          <a:lstStyle/>
          <a:p>
            <a:pPr algn="ctr" indent="0" marL="0">
              <a:lnSpc>
                <a:spcPts val="1500"/>
              </a:lnSpc>
              <a:buNone/>
            </a:pPr>
            <a:r>
              <a:rPr lang="en-US" sz="1300" b="1" dirty="0">
                <a:solidFill>
                  <a:srgbClr val="FFFFFF"/>
                </a:solidFill>
                <a:latin typeface="Meiryo" pitchFamily="34" charset="0"/>
                <a:ea typeface="Meiryo" pitchFamily="34" charset="-122"/>
                <a:cs typeface="Meiryo" pitchFamily="34" charset="-120"/>
              </a:rPr>
              <a:t>要求ケイパビリティ</a:t>
            </a:r>
            <a:endParaRPr lang="en-US" sz="1300" dirty="0"/>
          </a:p>
          <a:p>
            <a:pPr algn="ctr" indent="0" marL="0">
              <a:lnSpc>
                <a:spcPts val="1500"/>
              </a:lnSpc>
              <a:buNone/>
            </a:pPr>
            <a:r>
              <a:rPr lang="en-US" sz="950" dirty="0">
                <a:solidFill>
                  <a:srgbClr val="C3D0DB"/>
                </a:solidFill>
                <a:latin typeface="Meiryo" pitchFamily="34" charset="0"/>
                <a:ea typeface="Meiryo" pitchFamily="34" charset="-122"/>
                <a:cs typeface="Meiryo" pitchFamily="34" charset="-120"/>
              </a:rPr>
              <a:t>将来のIT組織像から導く（To-Be）</a:t>
            </a:r>
            <a:endParaRPr lang="en-US" sz="1300" dirty="0"/>
          </a:p>
        </p:txBody>
      </p:sp>
      <p:sp>
        <p:nvSpPr>
          <p:cNvPr id="11" name="Shape 9"/>
          <p:cNvSpPr/>
          <p:nvPr/>
        </p:nvSpPr>
        <p:spPr>
          <a:xfrm>
            <a:off x="8778240" y="2523744"/>
            <a:ext cx="1508760" cy="438912"/>
          </a:xfrm>
          <a:prstGeom prst="roundRect">
            <a:avLst>
              <a:gd name="adj" fmla="val 10417"/>
            </a:avLst>
          </a:prstGeom>
          <a:solidFill>
            <a:srgbClr val="FFFFFF"/>
          </a:solidFill>
          <a:ln w="12700">
            <a:solidFill>
              <a:srgbClr val="5A7D9A"/>
            </a:solidFill>
            <a:prstDash val="solid"/>
          </a:ln>
        </p:spPr>
      </p:sp>
      <p:sp>
        <p:nvSpPr>
          <p:cNvPr id="12" name="Text 10"/>
          <p:cNvSpPr/>
          <p:nvPr/>
        </p:nvSpPr>
        <p:spPr>
          <a:xfrm>
            <a:off x="8778240" y="2523744"/>
            <a:ext cx="1508760" cy="438912"/>
          </a:xfrm>
          <a:prstGeom prst="rect">
            <a:avLst/>
          </a:prstGeom>
          <a:noFill/>
          <a:ln/>
        </p:spPr>
        <p:txBody>
          <a:bodyPr wrap="square" lIns="0" tIns="0" rIns="0" bIns="0" rtlCol="0" anchor="ctr"/>
          <a:lstStyle/>
          <a:p>
            <a:pPr algn="ctr" indent="0" marL="0">
              <a:buNone/>
            </a:pPr>
            <a:r>
              <a:rPr lang="en-US" sz="1100" b="1" dirty="0">
                <a:solidFill>
                  <a:srgbClr val="5A7D9A"/>
                </a:solidFill>
                <a:latin typeface="Meiryo" pitchFamily="34" charset="0"/>
                <a:ea typeface="Meiryo" pitchFamily="34" charset="-122"/>
                <a:cs typeface="Meiryo" pitchFamily="34" charset="-120"/>
              </a:rPr>
              <a:t>ギャップ</a:t>
            </a:r>
            <a:endParaRPr lang="en-US" sz="1100" dirty="0"/>
          </a:p>
        </p:txBody>
      </p:sp>
      <p:sp>
        <p:nvSpPr>
          <p:cNvPr id="13" name="Shape 11"/>
          <p:cNvSpPr/>
          <p:nvPr/>
        </p:nvSpPr>
        <p:spPr>
          <a:xfrm>
            <a:off x="8183880" y="2743200"/>
            <a:ext cx="548640" cy="0"/>
          </a:xfrm>
          <a:prstGeom prst="line">
            <a:avLst/>
          </a:prstGeom>
          <a:noFill/>
          <a:ln w="15875">
            <a:solidFill>
              <a:srgbClr val="5A7D9A"/>
            </a:solidFill>
            <a:prstDash val="solid"/>
            <a:tailEnd type="triangle"/>
          </a:ln>
        </p:spPr>
      </p:sp>
      <p:sp>
        <p:nvSpPr>
          <p:cNvPr id="14" name="Shape 12"/>
          <p:cNvSpPr/>
          <p:nvPr/>
        </p:nvSpPr>
        <p:spPr>
          <a:xfrm>
            <a:off x="10332720" y="2743200"/>
            <a:ext cx="548640" cy="0"/>
          </a:xfrm>
          <a:prstGeom prst="line">
            <a:avLst/>
          </a:prstGeom>
          <a:noFill/>
          <a:ln w="15875">
            <a:solidFill>
              <a:srgbClr val="5A7D9A"/>
            </a:solidFill>
            <a:prstDash val="solid"/>
            <a:headEnd type="triangle"/>
          </a:ln>
        </p:spPr>
      </p:sp>
      <p:sp>
        <p:nvSpPr>
          <p:cNvPr id="15" name="Shape 13"/>
          <p:cNvSpPr/>
          <p:nvPr/>
        </p:nvSpPr>
        <p:spPr>
          <a:xfrm>
            <a:off x="7616952" y="3090672"/>
            <a:ext cx="3831336" cy="786384"/>
          </a:xfrm>
          <a:prstGeom prst="roundRect">
            <a:avLst>
              <a:gd name="adj" fmla="val 5814"/>
            </a:avLst>
          </a:prstGeom>
          <a:solidFill>
            <a:srgbClr val="FFFFFF"/>
          </a:solidFill>
          <a:ln w="15875">
            <a:solidFill>
              <a:srgbClr val="5A7D9A"/>
            </a:solidFill>
            <a:prstDash val="solid"/>
          </a:ln>
        </p:spPr>
      </p:sp>
      <p:sp>
        <p:nvSpPr>
          <p:cNvPr id="16" name="Text 14"/>
          <p:cNvSpPr/>
          <p:nvPr/>
        </p:nvSpPr>
        <p:spPr>
          <a:xfrm>
            <a:off x="7616952" y="3090672"/>
            <a:ext cx="3831336" cy="786384"/>
          </a:xfrm>
          <a:prstGeom prst="rect">
            <a:avLst/>
          </a:prstGeom>
          <a:noFill/>
          <a:ln/>
        </p:spPr>
        <p:txBody>
          <a:bodyPr wrap="square" lIns="0" tIns="0" rIns="0" bIns="0" rtlCol="0" anchor="ctr"/>
          <a:lstStyle/>
          <a:p>
            <a:pPr algn="ctr" indent="0" marL="0">
              <a:lnSpc>
                <a:spcPts val="1500"/>
              </a:lnSpc>
              <a:buNone/>
            </a:pPr>
            <a:r>
              <a:rPr lang="en-US" sz="1300" b="1" dirty="0">
                <a:solidFill>
                  <a:srgbClr val="2B3A4A"/>
                </a:solidFill>
                <a:latin typeface="Meiryo" pitchFamily="34" charset="0"/>
                <a:ea typeface="Meiryo" pitchFamily="34" charset="-122"/>
                <a:cs typeface="Meiryo" pitchFamily="34" charset="-120"/>
              </a:rPr>
              <a:t>組織ケイパビリティ</a:t>
            </a:r>
            <a:endParaRPr lang="en-US" sz="1300" dirty="0"/>
          </a:p>
          <a:p>
            <a:pPr algn="ctr" indent="0" marL="0">
              <a:lnSpc>
                <a:spcPts val="1500"/>
              </a:lnSpc>
              <a:buNone/>
            </a:pPr>
            <a:r>
              <a:rPr lang="en-US" sz="950" dirty="0">
                <a:solidFill>
                  <a:srgbClr val="6B7885"/>
                </a:solidFill>
                <a:latin typeface="Meiryo" pitchFamily="34" charset="0"/>
                <a:ea typeface="Meiryo" pitchFamily="34" charset="-122"/>
                <a:cs typeface="Meiryo" pitchFamily="34" charset="-120"/>
              </a:rPr>
              <a:t>今この組織が何をどこまでできるのか（As-Is）</a:t>
            </a:r>
            <a:endParaRPr lang="en-US" sz="1300" dirty="0"/>
          </a:p>
        </p:txBody>
      </p:sp>
      <p:sp>
        <p:nvSpPr>
          <p:cNvPr id="17" name="Text 15"/>
          <p:cNvSpPr/>
          <p:nvPr/>
        </p:nvSpPr>
        <p:spPr>
          <a:xfrm>
            <a:off x="7616952" y="3950208"/>
            <a:ext cx="3831336" cy="274320"/>
          </a:xfrm>
          <a:prstGeom prst="rect">
            <a:avLst/>
          </a:prstGeom>
          <a:noFill/>
          <a:ln/>
        </p:spPr>
        <p:txBody>
          <a:bodyPr wrap="square" lIns="0" tIns="0" rIns="0" bIns="0" rtlCol="0" anchor="ctr"/>
          <a:lstStyle/>
          <a:p>
            <a:pPr algn="ctr" indent="0" marL="0">
              <a:buNone/>
            </a:pPr>
            <a:r>
              <a:rPr lang="en-US" sz="950" dirty="0">
                <a:solidFill>
                  <a:srgbClr val="6B7885"/>
                </a:solidFill>
                <a:latin typeface="Meiryo" pitchFamily="34" charset="0"/>
                <a:ea typeface="Meiryo" pitchFamily="34" charset="-122"/>
                <a:cs typeface="Meiryo" pitchFamily="34" charset="-120"/>
              </a:rPr>
              <a:t>本プロジェクトが可視化を目指す側</a:t>
            </a:r>
            <a:endParaRPr lang="en-US" sz="950" dirty="0"/>
          </a:p>
        </p:txBody>
      </p:sp>
      <p:sp>
        <p:nvSpPr>
          <p:cNvPr id="18" name="Shape 16"/>
          <p:cNvSpPr/>
          <p:nvPr/>
        </p:nvSpPr>
        <p:spPr>
          <a:xfrm>
            <a:off x="7360920" y="4572000"/>
            <a:ext cx="4343400" cy="1828800"/>
          </a:xfrm>
          <a:prstGeom prst="roundRect">
            <a:avLst>
              <a:gd name="adj" fmla="val 1500"/>
            </a:avLst>
          </a:prstGeom>
          <a:solidFill>
            <a:srgbClr val="1E2A36"/>
          </a:solidFill>
          <a:ln w="12700">
            <a:solidFill>
              <a:srgbClr val="1E2A36"/>
            </a:solidFill>
            <a:prstDash val="solid"/>
          </a:ln>
        </p:spPr>
      </p:sp>
      <p:sp>
        <p:nvSpPr>
          <p:cNvPr id="19" name="Text 17"/>
          <p:cNvSpPr/>
          <p:nvPr/>
        </p:nvSpPr>
        <p:spPr>
          <a:xfrm>
            <a:off x="7616952" y="4718304"/>
            <a:ext cx="3831336" cy="274320"/>
          </a:xfrm>
          <a:prstGeom prst="rect">
            <a:avLst/>
          </a:prstGeom>
          <a:noFill/>
          <a:ln/>
        </p:spPr>
        <p:txBody>
          <a:bodyPr wrap="square" lIns="0" tIns="0" rIns="0" bIns="0" rtlCol="0" anchor="ctr"/>
          <a:lstStyle/>
          <a:p>
            <a:pPr indent="0" marL="0">
              <a:buNone/>
            </a:pPr>
            <a:r>
              <a:rPr lang="en-US" sz="1050" b="1" dirty="0">
                <a:solidFill>
                  <a:srgbClr val="8FA3B4"/>
                </a:solidFill>
                <a:latin typeface="Meiryo" pitchFamily="34" charset="0"/>
                <a:ea typeface="Meiryo" pitchFamily="34" charset="-122"/>
                <a:cs typeface="Meiryo" pitchFamily="34" charset="-120"/>
              </a:rPr>
              <a:t>本トライアルの対象範囲</a:t>
            </a:r>
            <a:endParaRPr lang="en-US" sz="1050" dirty="0"/>
          </a:p>
        </p:txBody>
      </p:sp>
      <p:sp>
        <p:nvSpPr>
          <p:cNvPr id="20" name="Text 18"/>
          <p:cNvSpPr/>
          <p:nvPr/>
        </p:nvSpPr>
        <p:spPr>
          <a:xfrm>
            <a:off x="7616952" y="5029200"/>
            <a:ext cx="3831336" cy="685800"/>
          </a:xfrm>
          <a:prstGeom prst="rect">
            <a:avLst/>
          </a:prstGeom>
          <a:noFill/>
          <a:ln/>
        </p:spPr>
        <p:txBody>
          <a:bodyPr wrap="square" lIns="0" tIns="0" rIns="0" bIns="0" rtlCol="0" anchor="t"/>
          <a:lstStyle/>
          <a:p>
            <a:pPr indent="0" marL="0">
              <a:lnSpc>
                <a:spcPts val="2200"/>
              </a:lnSpc>
              <a:buNone/>
            </a:pPr>
            <a:r>
              <a:rPr lang="en-US" sz="1500" b="1" dirty="0">
                <a:solidFill>
                  <a:srgbClr val="FFFFFF"/>
                </a:solidFill>
                <a:latin typeface="Meiryo" pitchFamily="34" charset="0"/>
                <a:ea typeface="Meiryo" pitchFamily="34" charset="-122"/>
                <a:cs typeface="Meiryo" pitchFamily="34" charset="-120"/>
              </a:rPr>
              <a:t>1つのジョブロール</a:t>
            </a:r>
            <a:endParaRPr lang="en-US" sz="1500" dirty="0"/>
          </a:p>
          <a:p>
            <a:pPr indent="0" marL="0">
              <a:lnSpc>
                <a:spcPts val="2200"/>
              </a:lnSpc>
              <a:buNone/>
            </a:pPr>
            <a:r>
              <a:rPr lang="en-US" sz="1100" dirty="0">
                <a:solidFill>
                  <a:srgbClr val="C3D0DB"/>
                </a:solidFill>
                <a:latin typeface="Meiryo" pitchFamily="34" charset="0"/>
                <a:ea typeface="Meiryo" pitchFamily="34" charset="-122"/>
                <a:cs typeface="Meiryo" pitchFamily="34" charset="-120"/>
              </a:rPr>
              <a:t>対象者は日本国内の一部に限定</a:t>
            </a:r>
            <a:endParaRPr lang="en-US" sz="1500" dirty="0"/>
          </a:p>
        </p:txBody>
      </p:sp>
      <p:sp>
        <p:nvSpPr>
          <p:cNvPr id="21" name="Shape 19"/>
          <p:cNvSpPr/>
          <p:nvPr/>
        </p:nvSpPr>
        <p:spPr>
          <a:xfrm>
            <a:off x="7616952" y="5724144"/>
            <a:ext cx="3831336" cy="0"/>
          </a:xfrm>
          <a:prstGeom prst="line">
            <a:avLst/>
          </a:prstGeom>
          <a:noFill/>
          <a:ln w="12700">
            <a:solidFill>
              <a:srgbClr val="44586B"/>
            </a:solidFill>
            <a:prstDash val="solid"/>
          </a:ln>
        </p:spPr>
      </p:sp>
      <p:sp>
        <p:nvSpPr>
          <p:cNvPr id="22" name="Text 20"/>
          <p:cNvSpPr/>
          <p:nvPr/>
        </p:nvSpPr>
        <p:spPr>
          <a:xfrm>
            <a:off x="7616952" y="5797296"/>
            <a:ext cx="3831336" cy="237744"/>
          </a:xfrm>
          <a:prstGeom prst="rect">
            <a:avLst/>
          </a:prstGeom>
          <a:noFill/>
          <a:ln/>
        </p:spPr>
        <p:txBody>
          <a:bodyPr wrap="square" lIns="0" tIns="0" rIns="0" bIns="0" rtlCol="0" anchor="ctr"/>
          <a:lstStyle/>
          <a:p>
            <a:pPr indent="0" marL="0">
              <a:buNone/>
            </a:pPr>
            <a:r>
              <a:rPr lang="en-US" sz="950" dirty="0">
                <a:solidFill>
                  <a:srgbClr val="8FA3B4"/>
                </a:solidFill>
                <a:latin typeface="Meiryo" pitchFamily="34" charset="0"/>
                <a:ea typeface="Meiryo" pitchFamily="34" charset="-122"/>
                <a:cs typeface="Meiryo" pitchFamily="34" charset="-120"/>
              </a:rPr>
              <a:t>この範囲で1サイクルを一巡させる</a:t>
            </a:r>
            <a:endParaRPr lang="en-US" sz="950" dirty="0"/>
          </a:p>
        </p:txBody>
      </p:sp>
      <p:sp>
        <p:nvSpPr>
          <p:cNvPr id="23" name="Shape 21"/>
          <p:cNvSpPr/>
          <p:nvPr/>
        </p:nvSpPr>
        <p:spPr>
          <a:xfrm>
            <a:off x="7616952" y="6035040"/>
            <a:ext cx="822960" cy="292608"/>
          </a:xfrm>
          <a:prstGeom prst="roundRect">
            <a:avLst>
              <a:gd name="adj" fmla="val 18750"/>
            </a:avLst>
          </a:prstGeom>
          <a:solidFill>
            <a:srgbClr val="1E2A36"/>
          </a:solidFill>
          <a:ln w="12700">
            <a:solidFill>
              <a:srgbClr val="5A7D9A"/>
            </a:solidFill>
            <a:prstDash val="solid"/>
          </a:ln>
        </p:spPr>
      </p:sp>
      <p:sp>
        <p:nvSpPr>
          <p:cNvPr id="24" name="Text 22"/>
          <p:cNvSpPr/>
          <p:nvPr/>
        </p:nvSpPr>
        <p:spPr>
          <a:xfrm>
            <a:off x="7616952" y="6035040"/>
            <a:ext cx="822960" cy="292608"/>
          </a:xfrm>
          <a:prstGeom prst="rect">
            <a:avLst/>
          </a:prstGeom>
          <a:noFill/>
          <a:ln/>
        </p:spPr>
        <p:txBody>
          <a:bodyPr wrap="square" lIns="0" tIns="0" rIns="0" bIns="0" rtlCol="0" anchor="ctr"/>
          <a:lstStyle/>
          <a:p>
            <a:pPr algn="ctr" indent="0" marL="0">
              <a:buNone/>
            </a:pPr>
            <a:r>
              <a:rPr lang="en-US" sz="800" dirty="0">
                <a:solidFill>
                  <a:srgbClr val="FFFFFF"/>
                </a:solidFill>
                <a:latin typeface="Meiryo" pitchFamily="34" charset="0"/>
                <a:ea typeface="Meiryo" pitchFamily="34" charset="-122"/>
                <a:cs typeface="Meiryo" pitchFamily="34" charset="-120"/>
              </a:rPr>
              <a:t>軸の翻訳</a:t>
            </a:r>
            <a:endParaRPr lang="en-US" sz="800" dirty="0"/>
          </a:p>
        </p:txBody>
      </p:sp>
      <p:sp>
        <p:nvSpPr>
          <p:cNvPr id="25" name="Shape 23"/>
          <p:cNvSpPr/>
          <p:nvPr/>
        </p:nvSpPr>
        <p:spPr>
          <a:xfrm>
            <a:off x="8458200" y="6181344"/>
            <a:ext cx="100584" cy="0"/>
          </a:xfrm>
          <a:prstGeom prst="line">
            <a:avLst/>
          </a:prstGeom>
          <a:noFill/>
          <a:ln w="12700">
            <a:solidFill>
              <a:srgbClr val="5A7D9A"/>
            </a:solidFill>
            <a:prstDash val="solid"/>
            <a:tailEnd type="triangle"/>
          </a:ln>
        </p:spPr>
      </p:sp>
      <p:sp>
        <p:nvSpPr>
          <p:cNvPr id="26" name="Shape 24"/>
          <p:cNvSpPr/>
          <p:nvPr/>
        </p:nvSpPr>
        <p:spPr>
          <a:xfrm>
            <a:off x="8577072" y="6035040"/>
            <a:ext cx="822960" cy="292608"/>
          </a:xfrm>
          <a:prstGeom prst="roundRect">
            <a:avLst>
              <a:gd name="adj" fmla="val 18750"/>
            </a:avLst>
          </a:prstGeom>
          <a:solidFill>
            <a:srgbClr val="1E2A36"/>
          </a:solidFill>
          <a:ln w="12700">
            <a:solidFill>
              <a:srgbClr val="5A7D9A"/>
            </a:solidFill>
            <a:prstDash val="solid"/>
          </a:ln>
        </p:spPr>
      </p:sp>
      <p:sp>
        <p:nvSpPr>
          <p:cNvPr id="27" name="Text 25"/>
          <p:cNvSpPr/>
          <p:nvPr/>
        </p:nvSpPr>
        <p:spPr>
          <a:xfrm>
            <a:off x="8577072" y="6035040"/>
            <a:ext cx="822960" cy="292608"/>
          </a:xfrm>
          <a:prstGeom prst="rect">
            <a:avLst/>
          </a:prstGeom>
          <a:noFill/>
          <a:ln/>
        </p:spPr>
        <p:txBody>
          <a:bodyPr wrap="square" lIns="0" tIns="0" rIns="0" bIns="0" rtlCol="0" anchor="ctr"/>
          <a:lstStyle/>
          <a:p>
            <a:pPr algn="ctr" indent="0" marL="0">
              <a:buNone/>
            </a:pPr>
            <a:r>
              <a:rPr lang="en-US" sz="800" dirty="0">
                <a:solidFill>
                  <a:srgbClr val="FFFFFF"/>
                </a:solidFill>
                <a:latin typeface="Meiryo" pitchFamily="34" charset="0"/>
                <a:ea typeface="Meiryo" pitchFamily="34" charset="-122"/>
                <a:cs typeface="Meiryo" pitchFamily="34" charset="-120"/>
              </a:rPr>
              <a:t>アセスメント実施</a:t>
            </a:r>
            <a:endParaRPr lang="en-US" sz="800" dirty="0"/>
          </a:p>
        </p:txBody>
      </p:sp>
      <p:sp>
        <p:nvSpPr>
          <p:cNvPr id="28" name="Shape 26"/>
          <p:cNvSpPr/>
          <p:nvPr/>
        </p:nvSpPr>
        <p:spPr>
          <a:xfrm>
            <a:off x="9418320" y="6181344"/>
            <a:ext cx="100584" cy="0"/>
          </a:xfrm>
          <a:prstGeom prst="line">
            <a:avLst/>
          </a:prstGeom>
          <a:noFill/>
          <a:ln w="12700">
            <a:solidFill>
              <a:srgbClr val="5A7D9A"/>
            </a:solidFill>
            <a:prstDash val="solid"/>
            <a:tailEnd type="triangle"/>
          </a:ln>
        </p:spPr>
      </p:sp>
      <p:sp>
        <p:nvSpPr>
          <p:cNvPr id="29" name="Shape 27"/>
          <p:cNvSpPr/>
          <p:nvPr/>
        </p:nvSpPr>
        <p:spPr>
          <a:xfrm>
            <a:off x="9537192" y="6035040"/>
            <a:ext cx="822960" cy="292608"/>
          </a:xfrm>
          <a:prstGeom prst="roundRect">
            <a:avLst>
              <a:gd name="adj" fmla="val 18750"/>
            </a:avLst>
          </a:prstGeom>
          <a:solidFill>
            <a:srgbClr val="1E2A36"/>
          </a:solidFill>
          <a:ln w="12700">
            <a:solidFill>
              <a:srgbClr val="5A7D9A"/>
            </a:solidFill>
            <a:prstDash val="solid"/>
          </a:ln>
        </p:spPr>
      </p:sp>
      <p:sp>
        <p:nvSpPr>
          <p:cNvPr id="30" name="Text 28"/>
          <p:cNvSpPr/>
          <p:nvPr/>
        </p:nvSpPr>
        <p:spPr>
          <a:xfrm>
            <a:off x="9537192" y="6035040"/>
            <a:ext cx="822960" cy="292608"/>
          </a:xfrm>
          <a:prstGeom prst="rect">
            <a:avLst/>
          </a:prstGeom>
          <a:noFill/>
          <a:ln/>
        </p:spPr>
        <p:txBody>
          <a:bodyPr wrap="square" lIns="0" tIns="0" rIns="0" bIns="0" rtlCol="0" anchor="ctr"/>
          <a:lstStyle/>
          <a:p>
            <a:pPr algn="ctr" indent="0" marL="0">
              <a:buNone/>
            </a:pPr>
            <a:r>
              <a:rPr lang="en-US" sz="800" dirty="0">
                <a:solidFill>
                  <a:srgbClr val="FFFFFF"/>
                </a:solidFill>
                <a:latin typeface="Meiryo" pitchFamily="34" charset="0"/>
                <a:ea typeface="Meiryo" pitchFamily="34" charset="-122"/>
                <a:cs typeface="Meiryo" pitchFamily="34" charset="-120"/>
              </a:rPr>
              <a:t>結果の集約</a:t>
            </a:r>
            <a:endParaRPr lang="en-US" sz="800" dirty="0"/>
          </a:p>
        </p:txBody>
      </p:sp>
      <p:sp>
        <p:nvSpPr>
          <p:cNvPr id="31" name="Shape 29"/>
          <p:cNvSpPr/>
          <p:nvPr/>
        </p:nvSpPr>
        <p:spPr>
          <a:xfrm>
            <a:off x="10378440" y="6181344"/>
            <a:ext cx="100584" cy="0"/>
          </a:xfrm>
          <a:prstGeom prst="line">
            <a:avLst/>
          </a:prstGeom>
          <a:noFill/>
          <a:ln w="12700">
            <a:solidFill>
              <a:srgbClr val="5A7D9A"/>
            </a:solidFill>
            <a:prstDash val="solid"/>
            <a:tailEnd type="triangle"/>
          </a:ln>
        </p:spPr>
      </p:sp>
      <p:sp>
        <p:nvSpPr>
          <p:cNvPr id="32" name="Shape 30"/>
          <p:cNvSpPr/>
          <p:nvPr/>
        </p:nvSpPr>
        <p:spPr>
          <a:xfrm>
            <a:off x="10497312" y="6035040"/>
            <a:ext cx="822960" cy="292608"/>
          </a:xfrm>
          <a:prstGeom prst="roundRect">
            <a:avLst>
              <a:gd name="adj" fmla="val 18750"/>
            </a:avLst>
          </a:prstGeom>
          <a:solidFill>
            <a:srgbClr val="1E2A36"/>
          </a:solidFill>
          <a:ln w="12700">
            <a:solidFill>
              <a:srgbClr val="5A7D9A"/>
            </a:solidFill>
            <a:prstDash val="solid"/>
          </a:ln>
        </p:spPr>
      </p:sp>
      <p:sp>
        <p:nvSpPr>
          <p:cNvPr id="33" name="Text 31"/>
          <p:cNvSpPr/>
          <p:nvPr/>
        </p:nvSpPr>
        <p:spPr>
          <a:xfrm>
            <a:off x="10497312" y="6035040"/>
            <a:ext cx="822960" cy="292608"/>
          </a:xfrm>
          <a:prstGeom prst="rect">
            <a:avLst/>
          </a:prstGeom>
          <a:noFill/>
          <a:ln/>
        </p:spPr>
        <p:txBody>
          <a:bodyPr wrap="square" lIns="0" tIns="0" rIns="0" bIns="0" rtlCol="0" anchor="ctr"/>
          <a:lstStyle/>
          <a:p>
            <a:pPr algn="ctr" indent="0" marL="0">
              <a:buNone/>
            </a:pPr>
            <a:r>
              <a:rPr lang="en-US" sz="800" dirty="0">
                <a:solidFill>
                  <a:srgbClr val="FFFFFF"/>
                </a:solidFill>
                <a:latin typeface="Meiryo" pitchFamily="34" charset="0"/>
                <a:ea typeface="Meiryo" pitchFamily="34" charset="-122"/>
                <a:cs typeface="Meiryo" pitchFamily="34" charset="-120"/>
              </a:rPr>
              <a:t>振り返り</a:t>
            </a:r>
            <a:endParaRPr lang="en-US" sz="800" dirty="0"/>
          </a:p>
        </p:txBody>
      </p:sp>
      <p:sp>
        <p:nvSpPr>
          <p:cNvPr id="34" name="Shape 32"/>
          <p:cNvSpPr/>
          <p:nvPr/>
        </p:nvSpPr>
        <p:spPr>
          <a:xfrm>
            <a:off x="457200" y="4572000"/>
            <a:ext cx="6537960" cy="1828800"/>
          </a:xfrm>
          <a:prstGeom prst="roundRect">
            <a:avLst>
              <a:gd name="adj" fmla="val 1500"/>
            </a:avLst>
          </a:prstGeom>
          <a:solidFill>
            <a:srgbClr val="F3F5F7"/>
          </a:solidFill>
          <a:ln w="12700">
            <a:solidFill>
              <a:srgbClr val="F3F5F7"/>
            </a:solidFill>
            <a:prstDash val="solid"/>
          </a:ln>
        </p:spPr>
      </p:sp>
      <p:sp>
        <p:nvSpPr>
          <p:cNvPr id="35" name="Text 33"/>
          <p:cNvSpPr/>
          <p:nvPr/>
        </p:nvSpPr>
        <p:spPr>
          <a:xfrm>
            <a:off x="713232" y="4718304"/>
            <a:ext cx="6035040" cy="274320"/>
          </a:xfrm>
          <a:prstGeom prst="rect">
            <a:avLst/>
          </a:prstGeom>
          <a:noFill/>
          <a:ln/>
        </p:spPr>
        <p:txBody>
          <a:bodyPr wrap="square" lIns="0" tIns="0" rIns="0" bIns="0" rtlCol="0" anchor="ctr"/>
          <a:lstStyle/>
          <a:p>
            <a:pPr indent="0" marL="0">
              <a:buNone/>
            </a:pPr>
            <a:r>
              <a:rPr lang="en-US" sz="1050" b="1" dirty="0">
                <a:solidFill>
                  <a:srgbClr val="6B7885"/>
                </a:solidFill>
                <a:latin typeface="Meiryo" pitchFamily="34" charset="0"/>
                <a:ea typeface="Meiryo" pitchFamily="34" charset="-122"/>
                <a:cs typeface="Meiryo" pitchFamily="34" charset="-120"/>
              </a:rPr>
              <a:t>本プロジェクトが取り組む4つの課題</a:t>
            </a:r>
            <a:endParaRPr lang="en-US" sz="1050" dirty="0"/>
          </a:p>
        </p:txBody>
      </p:sp>
      <p:sp>
        <p:nvSpPr>
          <p:cNvPr id="36" name="Shape 34"/>
          <p:cNvSpPr/>
          <p:nvPr/>
        </p:nvSpPr>
        <p:spPr>
          <a:xfrm>
            <a:off x="713232" y="5074920"/>
            <a:ext cx="237744" cy="237744"/>
          </a:xfrm>
          <a:prstGeom prst="roundRect">
            <a:avLst>
              <a:gd name="adj" fmla="val 23077"/>
            </a:avLst>
          </a:prstGeom>
          <a:solidFill>
            <a:srgbClr val="5A7D9A"/>
          </a:solidFill>
          <a:ln w="12700">
            <a:solidFill>
              <a:srgbClr val="5A7D9A"/>
            </a:solidFill>
            <a:prstDash val="solid"/>
          </a:ln>
        </p:spPr>
      </p:sp>
      <p:sp>
        <p:nvSpPr>
          <p:cNvPr id="37" name="Text 35"/>
          <p:cNvSpPr/>
          <p:nvPr/>
        </p:nvSpPr>
        <p:spPr>
          <a:xfrm>
            <a:off x="713232" y="507492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8" name="Text 36"/>
          <p:cNvSpPr/>
          <p:nvPr/>
        </p:nvSpPr>
        <p:spPr>
          <a:xfrm>
            <a:off x="1042416" y="5074920"/>
            <a:ext cx="5669280" cy="237744"/>
          </a:xfrm>
          <a:prstGeom prst="rect">
            <a:avLst/>
          </a:prstGeom>
          <a:noFill/>
          <a:ln/>
        </p:spPr>
        <p:txBody>
          <a:bodyPr wrap="square" lIns="0" tIns="0" rIns="0" bIns="0" rtlCol="0" anchor="ctr"/>
          <a:lstStyle/>
          <a:p>
            <a:pPr indent="0" marL="0">
              <a:buNone/>
            </a:pPr>
            <a:r>
              <a:rPr lang="en-US" sz="1100" dirty="0">
                <a:solidFill>
                  <a:srgbClr val="1F2933"/>
                </a:solidFill>
                <a:latin typeface="Meiryo" pitchFamily="34" charset="0"/>
                <a:ea typeface="Meiryo" pitchFamily="34" charset="-122"/>
                <a:cs typeface="Meiryo" pitchFamily="34" charset="-120"/>
              </a:rPr>
              <a:t>鶏と卵の関係で、議論が止まっている</a:t>
            </a:r>
            <a:endParaRPr lang="en-US" sz="1100" dirty="0"/>
          </a:p>
        </p:txBody>
      </p:sp>
      <p:sp>
        <p:nvSpPr>
          <p:cNvPr id="39" name="Shape 37"/>
          <p:cNvSpPr/>
          <p:nvPr/>
        </p:nvSpPr>
        <p:spPr>
          <a:xfrm>
            <a:off x="713232" y="5394960"/>
            <a:ext cx="237744" cy="237744"/>
          </a:xfrm>
          <a:prstGeom prst="roundRect">
            <a:avLst>
              <a:gd name="adj" fmla="val 23077"/>
            </a:avLst>
          </a:prstGeom>
          <a:solidFill>
            <a:srgbClr val="5A7D9A"/>
          </a:solidFill>
          <a:ln w="12700">
            <a:solidFill>
              <a:srgbClr val="5A7D9A"/>
            </a:solidFill>
            <a:prstDash val="solid"/>
          </a:ln>
        </p:spPr>
      </p:sp>
      <p:sp>
        <p:nvSpPr>
          <p:cNvPr id="40" name="Text 38"/>
          <p:cNvSpPr/>
          <p:nvPr/>
        </p:nvSpPr>
        <p:spPr>
          <a:xfrm>
            <a:off x="713232" y="53949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1" name="Text 39"/>
          <p:cNvSpPr/>
          <p:nvPr/>
        </p:nvSpPr>
        <p:spPr>
          <a:xfrm>
            <a:off x="1042416" y="5394960"/>
            <a:ext cx="5669280" cy="237744"/>
          </a:xfrm>
          <a:prstGeom prst="rect">
            <a:avLst/>
          </a:prstGeom>
          <a:noFill/>
          <a:ln/>
        </p:spPr>
        <p:txBody>
          <a:bodyPr wrap="square" lIns="0" tIns="0" rIns="0" bIns="0" rtlCol="0" anchor="ctr"/>
          <a:lstStyle/>
          <a:p>
            <a:pPr indent="0" marL="0">
              <a:buNone/>
            </a:pPr>
            <a:r>
              <a:rPr lang="en-US" sz="1100" dirty="0">
                <a:solidFill>
                  <a:srgbClr val="1F2933"/>
                </a:solidFill>
                <a:latin typeface="Meiryo" pitchFamily="34" charset="0"/>
                <a:ea typeface="Meiryo" pitchFamily="34" charset="-122"/>
                <a:cs typeface="Meiryo" pitchFamily="34" charset="-120"/>
              </a:rPr>
              <a:t>何を軸に測るべきか、まだ答えを持っていない</a:t>
            </a:r>
            <a:endParaRPr lang="en-US" sz="1100" dirty="0"/>
          </a:p>
        </p:txBody>
      </p:sp>
      <p:sp>
        <p:nvSpPr>
          <p:cNvPr id="42" name="Shape 40"/>
          <p:cNvSpPr/>
          <p:nvPr/>
        </p:nvSpPr>
        <p:spPr>
          <a:xfrm>
            <a:off x="713232" y="5715000"/>
            <a:ext cx="237744" cy="237744"/>
          </a:xfrm>
          <a:prstGeom prst="roundRect">
            <a:avLst>
              <a:gd name="adj" fmla="val 23077"/>
            </a:avLst>
          </a:prstGeom>
          <a:solidFill>
            <a:srgbClr val="5A7D9A"/>
          </a:solidFill>
          <a:ln w="12700">
            <a:solidFill>
              <a:srgbClr val="5A7D9A"/>
            </a:solidFill>
            <a:prstDash val="solid"/>
          </a:ln>
        </p:spPr>
      </p:sp>
      <p:sp>
        <p:nvSpPr>
          <p:cNvPr id="43" name="Text 41"/>
          <p:cNvSpPr/>
          <p:nvPr/>
        </p:nvSpPr>
        <p:spPr>
          <a:xfrm>
            <a:off x="713232" y="571500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4" name="Text 42"/>
          <p:cNvSpPr/>
          <p:nvPr/>
        </p:nvSpPr>
        <p:spPr>
          <a:xfrm>
            <a:off x="1042416" y="5715000"/>
            <a:ext cx="5669280" cy="237744"/>
          </a:xfrm>
          <a:prstGeom prst="rect">
            <a:avLst/>
          </a:prstGeom>
          <a:noFill/>
          <a:ln/>
        </p:spPr>
        <p:txBody>
          <a:bodyPr wrap="square" lIns="0" tIns="0" rIns="0" bIns="0" rtlCol="0" anchor="ctr"/>
          <a:lstStyle/>
          <a:p>
            <a:pPr indent="0" marL="0">
              <a:buNone/>
            </a:pPr>
            <a:r>
              <a:rPr lang="en-US" sz="1100" dirty="0">
                <a:solidFill>
                  <a:srgbClr val="1F2933"/>
                </a:solidFill>
                <a:latin typeface="Meiryo" pitchFamily="34" charset="0"/>
                <a:ea typeface="Meiryo" pitchFamily="34" charset="-122"/>
                <a:cs typeface="Meiryo" pitchFamily="34" charset="-120"/>
              </a:rPr>
              <a:t>誰がどう測れば意味のある結果になるか、わかっていない</a:t>
            </a:r>
            <a:endParaRPr lang="en-US" sz="1100" dirty="0"/>
          </a:p>
        </p:txBody>
      </p:sp>
      <p:sp>
        <p:nvSpPr>
          <p:cNvPr id="45" name="Shape 43"/>
          <p:cNvSpPr/>
          <p:nvPr/>
        </p:nvSpPr>
        <p:spPr>
          <a:xfrm>
            <a:off x="713232" y="6035040"/>
            <a:ext cx="237744" cy="237744"/>
          </a:xfrm>
          <a:prstGeom prst="roundRect">
            <a:avLst>
              <a:gd name="adj" fmla="val 23077"/>
            </a:avLst>
          </a:prstGeom>
          <a:solidFill>
            <a:srgbClr val="5A7D9A"/>
          </a:solidFill>
          <a:ln w="12700">
            <a:solidFill>
              <a:srgbClr val="5A7D9A"/>
            </a:solidFill>
            <a:prstDash val="solid"/>
          </a:ln>
        </p:spPr>
      </p:sp>
      <p:sp>
        <p:nvSpPr>
          <p:cNvPr id="46" name="Text 44"/>
          <p:cNvSpPr/>
          <p:nvPr/>
        </p:nvSpPr>
        <p:spPr>
          <a:xfrm>
            <a:off x="713232" y="60350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7" name="Text 45"/>
          <p:cNvSpPr/>
          <p:nvPr/>
        </p:nvSpPr>
        <p:spPr>
          <a:xfrm>
            <a:off x="1042416" y="6035040"/>
            <a:ext cx="5669280" cy="237744"/>
          </a:xfrm>
          <a:prstGeom prst="rect">
            <a:avLst/>
          </a:prstGeom>
          <a:noFill/>
          <a:ln/>
        </p:spPr>
        <p:txBody>
          <a:bodyPr wrap="square" lIns="0" tIns="0" rIns="0" bIns="0" rtlCol="0" anchor="ctr"/>
          <a:lstStyle/>
          <a:p>
            <a:pPr indent="0" marL="0">
              <a:buNone/>
            </a:pPr>
            <a:r>
              <a:rPr lang="en-US" sz="1100" dirty="0">
                <a:solidFill>
                  <a:srgbClr val="1F2933"/>
                </a:solidFill>
                <a:latin typeface="Meiryo" pitchFamily="34" charset="0"/>
                <a:ea typeface="Meiryo" pitchFamily="34" charset="-122"/>
                <a:cs typeface="Meiryo" pitchFamily="34" charset="-120"/>
              </a:rPr>
              <a:t>スキルを磨くことが処遇につながる道筋が、見えていない</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20624" cy="420624"/>
          </a:xfrm>
          <a:prstGeom prst="roundRect">
            <a:avLst>
              <a:gd name="adj" fmla="val 13043"/>
            </a:avLst>
          </a:prstGeom>
          <a:solidFill>
            <a:srgbClr val="2B3A4A"/>
          </a:solidFill>
          <a:ln w="12700">
            <a:solidFill>
              <a:srgbClr val="2B3A4A"/>
            </a:solidFill>
            <a:prstDash val="solid"/>
          </a:ln>
        </p:spPr>
      </p:sp>
      <p:sp>
        <p:nvSpPr>
          <p:cNvPr id="3" name="Text 1"/>
          <p:cNvSpPr/>
          <p:nvPr/>
        </p:nvSpPr>
        <p:spPr>
          <a:xfrm>
            <a:off x="457200" y="31089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p:nvPr/>
        </p:nvSpPr>
        <p:spPr>
          <a:xfrm>
            <a:off x="1005840" y="274320"/>
            <a:ext cx="7863840" cy="502920"/>
          </a:xfrm>
          <a:prstGeom prst="rect">
            <a:avLst/>
          </a:prstGeom>
          <a:noFill/>
          <a:ln/>
        </p:spPr>
        <p:txBody>
          <a:bodyPr wrap="square" lIns="0" tIns="0" rIns="0" bIns="0" rtlCol="0" anchor="ctr"/>
          <a:lstStyle/>
          <a:p>
            <a:pPr indent="0" marL="0">
              <a:buNone/>
            </a:pPr>
            <a:r>
              <a:rPr lang="en-US" sz="2300" b="1" dirty="0">
                <a:solidFill>
                  <a:srgbClr val="2B3A4A"/>
                </a:solidFill>
                <a:latin typeface="Meiryo" pitchFamily="34" charset="0"/>
                <a:ea typeface="Meiryo" pitchFamily="34" charset="-122"/>
                <a:cs typeface="Meiryo" pitchFamily="34" charset="-120"/>
              </a:rPr>
              <a:t>課題と対応方針</a:t>
            </a:r>
            <a:endParaRPr lang="en-US" sz="2300" dirty="0"/>
          </a:p>
        </p:txBody>
      </p:sp>
      <p:sp>
        <p:nvSpPr>
          <p:cNvPr id="5" name="Text 3"/>
          <p:cNvSpPr/>
          <p:nvPr/>
        </p:nvSpPr>
        <p:spPr>
          <a:xfrm>
            <a:off x="8778240" y="384048"/>
            <a:ext cx="2926080" cy="329184"/>
          </a:xfrm>
          <a:prstGeom prst="rect">
            <a:avLst/>
          </a:prstGeom>
          <a:noFill/>
          <a:ln/>
        </p:spPr>
        <p:txBody>
          <a:bodyPr wrap="square" lIns="0" tIns="0" rIns="0" bIns="0" rtlCol="0" anchor="ctr"/>
          <a:lstStyle/>
          <a:p>
            <a:pPr algn="r" indent="0" marL="0">
              <a:buNone/>
            </a:pPr>
            <a:r>
              <a:rPr lang="en-US" sz="950" dirty="0">
                <a:solidFill>
                  <a:srgbClr val="6B7885"/>
                </a:solidFill>
                <a:latin typeface="Meiryo" pitchFamily="34" charset="0"/>
                <a:ea typeface="Meiryo" pitchFamily="34" charset="-122"/>
                <a:cs typeface="Meiryo" pitchFamily="34" charset="-120"/>
              </a:rPr>
              <a:t>4つの課題 ／ 現状と対応</a:t>
            </a:r>
            <a:endParaRPr lang="en-US" sz="950" dirty="0"/>
          </a:p>
        </p:txBody>
      </p:sp>
      <p:sp>
        <p:nvSpPr>
          <p:cNvPr id="6" name="Shape 4"/>
          <p:cNvSpPr/>
          <p:nvPr/>
        </p:nvSpPr>
        <p:spPr>
          <a:xfrm>
            <a:off x="457200" y="932688"/>
            <a:ext cx="11247120" cy="274320"/>
          </a:xfrm>
          <a:prstGeom prst="roundRect">
            <a:avLst>
              <a:gd name="adj" fmla="val 10000"/>
            </a:avLst>
          </a:prstGeom>
          <a:solidFill>
            <a:srgbClr val="E9EDF1"/>
          </a:solidFill>
          <a:ln w="12700">
            <a:solidFill>
              <a:srgbClr val="E9EDF1"/>
            </a:solidFill>
            <a:prstDash val="solid"/>
          </a:ln>
        </p:spPr>
      </p:sp>
      <p:sp>
        <p:nvSpPr>
          <p:cNvPr id="7" name="Text 5"/>
          <p:cNvSpPr/>
          <p:nvPr/>
        </p:nvSpPr>
        <p:spPr>
          <a:xfrm>
            <a:off x="658368" y="932688"/>
            <a:ext cx="2286000" cy="274320"/>
          </a:xfrm>
          <a:prstGeom prst="rect">
            <a:avLst/>
          </a:prstGeom>
          <a:noFill/>
          <a:ln/>
        </p:spPr>
        <p:txBody>
          <a:bodyPr wrap="square" lIns="0" tIns="0" rIns="0" bIns="0" rtlCol="0" anchor="ctr"/>
          <a:lstStyle/>
          <a:p>
            <a:pPr indent="0" marL="0">
              <a:buNone/>
            </a:pPr>
            <a:r>
              <a:rPr lang="en-US" sz="950" b="1" spc="100" kern="0" dirty="0">
                <a:solidFill>
                  <a:srgbClr val="6B7885"/>
                </a:solidFill>
                <a:latin typeface="Meiryo" pitchFamily="34" charset="0"/>
                <a:ea typeface="Meiryo" pitchFamily="34" charset="-122"/>
                <a:cs typeface="Meiryo" pitchFamily="34" charset="-120"/>
              </a:rPr>
              <a:t>課題</a:t>
            </a:r>
            <a:endParaRPr lang="en-US" sz="950" dirty="0"/>
          </a:p>
        </p:txBody>
      </p:sp>
      <p:sp>
        <p:nvSpPr>
          <p:cNvPr id="8" name="Text 6"/>
          <p:cNvSpPr/>
          <p:nvPr/>
        </p:nvSpPr>
        <p:spPr>
          <a:xfrm>
            <a:off x="2871216" y="932688"/>
            <a:ext cx="3364992" cy="274320"/>
          </a:xfrm>
          <a:prstGeom prst="rect">
            <a:avLst/>
          </a:prstGeom>
          <a:noFill/>
          <a:ln/>
        </p:spPr>
        <p:txBody>
          <a:bodyPr wrap="square" lIns="0" tIns="0" rIns="0" bIns="0" rtlCol="0" anchor="ctr"/>
          <a:lstStyle/>
          <a:p>
            <a:pPr indent="0" marL="0">
              <a:buNone/>
            </a:pPr>
            <a:r>
              <a:rPr lang="en-US" sz="950" b="1" spc="100" kern="0" dirty="0">
                <a:solidFill>
                  <a:srgbClr val="6B7885"/>
                </a:solidFill>
                <a:latin typeface="Meiryo" pitchFamily="34" charset="0"/>
                <a:ea typeface="Meiryo" pitchFamily="34" charset="-122"/>
                <a:cs typeface="Meiryo" pitchFamily="34" charset="-120"/>
              </a:rPr>
              <a:t>現状</a:t>
            </a:r>
            <a:endParaRPr lang="en-US" sz="950" dirty="0"/>
          </a:p>
        </p:txBody>
      </p:sp>
      <p:sp>
        <p:nvSpPr>
          <p:cNvPr id="9" name="Text 7"/>
          <p:cNvSpPr/>
          <p:nvPr/>
        </p:nvSpPr>
        <p:spPr>
          <a:xfrm>
            <a:off x="6345936" y="932688"/>
            <a:ext cx="5376672" cy="274320"/>
          </a:xfrm>
          <a:prstGeom prst="rect">
            <a:avLst/>
          </a:prstGeom>
          <a:noFill/>
          <a:ln/>
        </p:spPr>
        <p:txBody>
          <a:bodyPr wrap="square" lIns="0" tIns="0" rIns="0" bIns="0" rtlCol="0" anchor="ctr"/>
          <a:lstStyle/>
          <a:p>
            <a:pPr indent="0" marL="0">
              <a:buNone/>
            </a:pPr>
            <a:r>
              <a:rPr lang="en-US" sz="950" b="1" spc="100" kern="0" dirty="0">
                <a:solidFill>
                  <a:srgbClr val="5A7D9A"/>
                </a:solidFill>
                <a:latin typeface="Meiryo" pitchFamily="34" charset="0"/>
                <a:ea typeface="Meiryo" pitchFamily="34" charset="-122"/>
                <a:cs typeface="Meiryo" pitchFamily="34" charset="-120"/>
              </a:rPr>
              <a:t>対応</a:t>
            </a:r>
            <a:endParaRPr lang="en-US" sz="950" dirty="0"/>
          </a:p>
        </p:txBody>
      </p:sp>
      <p:sp>
        <p:nvSpPr>
          <p:cNvPr id="10" name="Shape 8"/>
          <p:cNvSpPr/>
          <p:nvPr/>
        </p:nvSpPr>
        <p:spPr>
          <a:xfrm>
            <a:off x="457200" y="1261872"/>
            <a:ext cx="11247120" cy="1060704"/>
          </a:xfrm>
          <a:prstGeom prst="roundRect">
            <a:avLst>
              <a:gd name="adj" fmla="val 2586"/>
            </a:avLst>
          </a:prstGeom>
          <a:solidFill>
            <a:srgbClr val="F3F5F7"/>
          </a:solidFill>
          <a:ln w="12700">
            <a:solidFill>
              <a:srgbClr val="F3F5F7"/>
            </a:solidFill>
            <a:prstDash val="solid"/>
          </a:ln>
        </p:spPr>
      </p:sp>
      <p:sp>
        <p:nvSpPr>
          <p:cNvPr id="11" name="Shape 9"/>
          <p:cNvSpPr/>
          <p:nvPr/>
        </p:nvSpPr>
        <p:spPr>
          <a:xfrm>
            <a:off x="658368" y="1444752"/>
            <a:ext cx="274320" cy="274320"/>
          </a:xfrm>
          <a:prstGeom prst="roundRect">
            <a:avLst>
              <a:gd name="adj" fmla="val 20000"/>
            </a:avLst>
          </a:prstGeom>
          <a:solidFill>
            <a:srgbClr val="2B3A4A"/>
          </a:solidFill>
          <a:ln w="12700">
            <a:solidFill>
              <a:srgbClr val="2B3A4A"/>
            </a:solidFill>
            <a:prstDash val="solid"/>
          </a:ln>
        </p:spPr>
      </p:sp>
      <p:sp>
        <p:nvSpPr>
          <p:cNvPr id="12" name="Text 10"/>
          <p:cNvSpPr/>
          <p:nvPr/>
        </p:nvSpPr>
        <p:spPr>
          <a:xfrm>
            <a:off x="658368" y="14447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1"/>
          <p:cNvSpPr/>
          <p:nvPr/>
        </p:nvSpPr>
        <p:spPr>
          <a:xfrm>
            <a:off x="658368" y="1773936"/>
            <a:ext cx="1993392" cy="420624"/>
          </a:xfrm>
          <a:prstGeom prst="rect">
            <a:avLst/>
          </a:prstGeom>
          <a:noFill/>
          <a:ln/>
        </p:spPr>
        <p:txBody>
          <a:bodyPr wrap="square" lIns="0" tIns="0" rIns="0" bIns="0" rtlCol="0" anchor="t"/>
          <a:lstStyle/>
          <a:p>
            <a:pPr indent="0" marL="0">
              <a:lnSpc>
                <a:spcPts val="1400"/>
              </a:lnSpc>
              <a:buNone/>
            </a:pPr>
            <a:r>
              <a:rPr lang="en-US" sz="1050" b="1" dirty="0">
                <a:solidFill>
                  <a:srgbClr val="2B3A4A"/>
                </a:solidFill>
                <a:latin typeface="Meiryo" pitchFamily="34" charset="0"/>
                <a:ea typeface="Meiryo" pitchFamily="34" charset="-122"/>
                <a:cs typeface="Meiryo" pitchFamily="34" charset="-120"/>
              </a:rPr>
              <a:t>鶏と卵の関係で、議論が止まっている</a:t>
            </a:r>
            <a:endParaRPr lang="en-US" sz="1050" dirty="0"/>
          </a:p>
        </p:txBody>
      </p:sp>
      <p:sp>
        <p:nvSpPr>
          <p:cNvPr id="14" name="Text 12"/>
          <p:cNvSpPr/>
          <p:nvPr/>
        </p:nvSpPr>
        <p:spPr>
          <a:xfrm>
            <a:off x="2852928" y="1408176"/>
            <a:ext cx="3364992" cy="786384"/>
          </a:xfrm>
          <a:prstGeom prst="rect">
            <a:avLst/>
          </a:prstGeom>
          <a:noFill/>
          <a:ln/>
        </p:spPr>
        <p:txBody>
          <a:bodyPr wrap="square" lIns="0" tIns="0" rIns="0" bIns="0" rtlCol="0" anchor="t"/>
          <a:lstStyle/>
          <a:p>
            <a:pPr indent="0" marL="0">
              <a:lnSpc>
                <a:spcPts val="1120"/>
              </a:lnSpc>
              <a:spcAft>
                <a:spcPts val="300"/>
              </a:spcAft>
              <a:buNone/>
            </a:pPr>
            <a:r>
              <a:rPr lang="en-US" sz="800" dirty="0">
                <a:solidFill>
                  <a:srgbClr val="1F2933"/>
                </a:solidFill>
                <a:latin typeface="Meiryo" pitchFamily="34" charset="0"/>
                <a:ea typeface="Meiryo" pitchFamily="34" charset="-122"/>
                <a:cs typeface="Meiryo" pitchFamily="34" charset="-120"/>
              </a:rPr>
              <a:t>要求ケイパビリティを議論するには、組織ケイパビリティがわからないと机上の空論になる。かといって、測る軸を決めるには要求ケイパビリティが先に要る。互いが相手を待ち、デッドロックに陥っている。</a:t>
            </a:r>
            <a:endParaRPr lang="en-US" sz="800" dirty="0"/>
          </a:p>
          <a:p>
            <a:pPr indent="0" marL="0">
              <a:lnSpc>
                <a:spcPts val="1120"/>
              </a:lnSpc>
              <a:spcAft>
                <a:spcPts val="300"/>
              </a:spcAft>
              <a:buNone/>
            </a:pPr>
            <a:r>
              <a:rPr lang="en-US" sz="800" dirty="0">
                <a:solidFill>
                  <a:srgbClr val="1F2933"/>
                </a:solidFill>
                <a:latin typeface="Meiryo" pitchFamily="34" charset="0"/>
                <a:ea typeface="Meiryo" pitchFamily="34" charset="-122"/>
                <a:cs typeface="Meiryo" pitchFamily="34" charset="-120"/>
              </a:rPr>
              <a:t>この取り組みは規模が大きく、数年単位の時間がかかる。最初から完全な設計を用意しようとすれば、重すぎて動き出せない。</a:t>
            </a:r>
            <a:endParaRPr lang="en-US" sz="800" dirty="0"/>
          </a:p>
        </p:txBody>
      </p:sp>
      <p:sp>
        <p:nvSpPr>
          <p:cNvPr id="15" name="Text 13"/>
          <p:cNvSpPr/>
          <p:nvPr/>
        </p:nvSpPr>
        <p:spPr>
          <a:xfrm>
            <a:off x="6327648" y="1408176"/>
            <a:ext cx="5376672" cy="786384"/>
          </a:xfrm>
          <a:prstGeom prst="rect">
            <a:avLst/>
          </a:prstGeom>
          <a:noFill/>
          <a:ln/>
        </p:spPr>
        <p:txBody>
          <a:bodyPr wrap="square" lIns="0" tIns="0" rIns="0" bIns="0" rtlCol="0" anchor="t"/>
          <a:lstStyle/>
          <a:p>
            <a:pPr indent="0" marL="0">
              <a:lnSpc>
                <a:spcPts val="1120"/>
              </a:lnSpc>
              <a:spcAft>
                <a:spcPts val="300"/>
              </a:spcAft>
              <a:buNone/>
            </a:pPr>
            <a:r>
              <a:rPr lang="en-US" sz="800" dirty="0">
                <a:solidFill>
                  <a:srgbClr val="1F2933"/>
                </a:solidFill>
                <a:latin typeface="Meiryo" pitchFamily="34" charset="0"/>
                <a:ea typeface="Meiryo" pitchFamily="34" charset="-122"/>
                <a:cs typeface="Meiryo" pitchFamily="34" charset="-120"/>
              </a:rPr>
              <a:t>小さく始めて、動かす。</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1つのジョブロール、限定された対象者で、実際に1サイクル回す</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完成度ではなく、動き出すことを優先する</a:t>
            </a:r>
            <a:endParaRPr lang="en-US" sz="800" dirty="0"/>
          </a:p>
          <a:p>
            <a:pPr marL="127000" indent="-127000">
              <a:lnSpc>
                <a:spcPts val="1120"/>
              </a:lnSpc>
              <a:spcAft>
                <a:spcPts val="500"/>
              </a:spcAft>
              <a:buSzPct val="100000"/>
              <a:buChar char="▪"/>
            </a:pPr>
            <a:r>
              <a:rPr lang="en-US" sz="800" dirty="0">
                <a:solidFill>
                  <a:srgbClr val="1F2933"/>
                </a:solidFill>
                <a:latin typeface="Meiryo" pitchFamily="34" charset="0"/>
                <a:ea typeface="Meiryo" pitchFamily="34" charset="-122"/>
                <a:cs typeface="Meiryo" pitchFamily="34" charset="-120"/>
              </a:rPr>
              <a:t>動かすことで初めて見えるものを、次のサイクルへの入力とする</a:t>
            </a:r>
            <a:endParaRPr lang="en-US" sz="800" dirty="0"/>
          </a:p>
          <a:p>
            <a:pPr indent="0" marL="0">
              <a:lnSpc>
                <a:spcPts val="1120"/>
              </a:lnSpc>
              <a:buNone/>
            </a:pPr>
            <a:r>
              <a:rPr lang="en-US" sz="800" b="1" dirty="0">
                <a:solidFill>
                  <a:srgbClr val="2B3A4A"/>
                </a:solidFill>
                <a:latin typeface="Meiryo" pitchFamily="34" charset="0"/>
                <a:ea typeface="Meiryo" pitchFamily="34" charset="-122"/>
                <a:cs typeface="Meiryo" pitchFamily="34" charset="-120"/>
              </a:rPr>
              <a:t>止まっている状態から抜け出し、モメンタムを作ること自体が、本プロジェクトの成果である。</a:t>
            </a:r>
            <a:endParaRPr lang="en-US" sz="800" dirty="0"/>
          </a:p>
        </p:txBody>
      </p:sp>
      <p:sp>
        <p:nvSpPr>
          <p:cNvPr id="16" name="Shape 14"/>
          <p:cNvSpPr/>
          <p:nvPr/>
        </p:nvSpPr>
        <p:spPr>
          <a:xfrm>
            <a:off x="457200" y="2432304"/>
            <a:ext cx="11247120" cy="1243584"/>
          </a:xfrm>
          <a:prstGeom prst="roundRect">
            <a:avLst>
              <a:gd name="adj" fmla="val 2206"/>
            </a:avLst>
          </a:prstGeom>
          <a:solidFill>
            <a:srgbClr val="F3F5F7"/>
          </a:solidFill>
          <a:ln w="12700">
            <a:solidFill>
              <a:srgbClr val="F3F5F7"/>
            </a:solidFill>
            <a:prstDash val="solid"/>
          </a:ln>
        </p:spPr>
      </p:sp>
      <p:sp>
        <p:nvSpPr>
          <p:cNvPr id="17" name="Shape 15"/>
          <p:cNvSpPr/>
          <p:nvPr/>
        </p:nvSpPr>
        <p:spPr>
          <a:xfrm>
            <a:off x="658368" y="2615184"/>
            <a:ext cx="274320" cy="274320"/>
          </a:xfrm>
          <a:prstGeom prst="roundRect">
            <a:avLst>
              <a:gd name="adj" fmla="val 20000"/>
            </a:avLst>
          </a:prstGeom>
          <a:solidFill>
            <a:srgbClr val="2B3A4A"/>
          </a:solidFill>
          <a:ln w="12700">
            <a:solidFill>
              <a:srgbClr val="2B3A4A"/>
            </a:solidFill>
            <a:prstDash val="solid"/>
          </a:ln>
        </p:spPr>
      </p:sp>
      <p:sp>
        <p:nvSpPr>
          <p:cNvPr id="18" name="Text 16"/>
          <p:cNvSpPr/>
          <p:nvPr/>
        </p:nvSpPr>
        <p:spPr>
          <a:xfrm>
            <a:off x="658368" y="26151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Text 17"/>
          <p:cNvSpPr/>
          <p:nvPr/>
        </p:nvSpPr>
        <p:spPr>
          <a:xfrm>
            <a:off x="658368" y="2944368"/>
            <a:ext cx="1993392" cy="603504"/>
          </a:xfrm>
          <a:prstGeom prst="rect">
            <a:avLst/>
          </a:prstGeom>
          <a:noFill/>
          <a:ln/>
        </p:spPr>
        <p:txBody>
          <a:bodyPr wrap="square" lIns="0" tIns="0" rIns="0" bIns="0" rtlCol="0" anchor="t"/>
          <a:lstStyle/>
          <a:p>
            <a:pPr indent="0" marL="0">
              <a:lnSpc>
                <a:spcPts val="1400"/>
              </a:lnSpc>
              <a:buNone/>
            </a:pPr>
            <a:r>
              <a:rPr lang="en-US" sz="1050" b="1" dirty="0">
                <a:solidFill>
                  <a:srgbClr val="2B3A4A"/>
                </a:solidFill>
                <a:latin typeface="Meiryo" pitchFamily="34" charset="0"/>
                <a:ea typeface="Meiryo" pitchFamily="34" charset="-122"/>
                <a:cs typeface="Meiryo" pitchFamily="34" charset="-120"/>
              </a:rPr>
              <a:t>何を軸に測るべきか、まだ答えを持っていない</a:t>
            </a:r>
            <a:endParaRPr lang="en-US" sz="1050" dirty="0"/>
          </a:p>
        </p:txBody>
      </p:sp>
      <p:sp>
        <p:nvSpPr>
          <p:cNvPr id="20" name="Text 18"/>
          <p:cNvSpPr/>
          <p:nvPr/>
        </p:nvSpPr>
        <p:spPr>
          <a:xfrm>
            <a:off x="2852928" y="2578608"/>
            <a:ext cx="3364992" cy="969264"/>
          </a:xfrm>
          <a:prstGeom prst="rect">
            <a:avLst/>
          </a:prstGeom>
          <a:noFill/>
          <a:ln/>
        </p:spPr>
        <p:txBody>
          <a:bodyPr wrap="square" lIns="0" tIns="0" rIns="0" bIns="0" rtlCol="0" anchor="t"/>
          <a:lstStyle/>
          <a:p>
            <a:pPr indent="0" marL="0">
              <a:lnSpc>
                <a:spcPts val="1120"/>
              </a:lnSpc>
              <a:spcAft>
                <a:spcPts val="300"/>
              </a:spcAft>
              <a:buNone/>
            </a:pPr>
            <a:r>
              <a:rPr lang="en-US" sz="800" dirty="0">
                <a:solidFill>
                  <a:srgbClr val="1F2933"/>
                </a:solidFill>
                <a:latin typeface="Meiryo" pitchFamily="34" charset="0"/>
                <a:ea typeface="Meiryo" pitchFamily="34" charset="-122"/>
                <a:cs typeface="Meiryo" pitchFamily="34" charset="-120"/>
              </a:rPr>
              <a:t>自分たちで軸を作れば、「都合よく作られたのでは」という疑いが残る。短期間で納得感のある定義を作ることも難しい。</a:t>
            </a:r>
            <a:endParaRPr lang="en-US" sz="800" dirty="0"/>
          </a:p>
          <a:p>
            <a:pPr indent="0" marL="0">
              <a:lnSpc>
                <a:spcPts val="1120"/>
              </a:lnSpc>
              <a:spcAft>
                <a:spcPts val="300"/>
              </a:spcAft>
              <a:buNone/>
            </a:pPr>
            <a:r>
              <a:rPr lang="en-US" sz="800" dirty="0">
                <a:solidFill>
                  <a:srgbClr val="1F2933"/>
                </a:solidFill>
                <a:latin typeface="Meiryo" pitchFamily="34" charset="0"/>
                <a:ea typeface="Meiryo" pitchFamily="34" charset="-122"/>
                <a:cs typeface="Meiryo" pitchFamily="34" charset="-120"/>
              </a:rPr>
              <a:t>逆に、外部標準をそのまま使えば、記述が抽象的すぎて、自分の仕事が当てはまるか判断できない。</a:t>
            </a:r>
            <a:endParaRPr lang="en-US" sz="800" dirty="0"/>
          </a:p>
          <a:p>
            <a:pPr indent="0" marL="0">
              <a:lnSpc>
                <a:spcPts val="1120"/>
              </a:lnSpc>
              <a:spcAft>
                <a:spcPts val="300"/>
              </a:spcAft>
              <a:buNone/>
            </a:pPr>
            <a:r>
              <a:rPr lang="en-US" sz="800" dirty="0">
                <a:solidFill>
                  <a:srgbClr val="1F2933"/>
                </a:solidFill>
                <a:latin typeface="Meiryo" pitchFamily="34" charset="0"/>
                <a:ea typeface="Meiryo" pitchFamily="34" charset="-122"/>
                <a:cs typeface="Meiryo" pitchFamily="34" charset="-120"/>
              </a:rPr>
              <a:t>さらに、軸は作って終わりではない。技術も事業も変わる中で、すぐに陳腐化しないものにするにはどうすればよいか——これも、まだ答えを持っていない。</a:t>
            </a:r>
            <a:endParaRPr lang="en-US" sz="800" dirty="0"/>
          </a:p>
        </p:txBody>
      </p:sp>
      <p:sp>
        <p:nvSpPr>
          <p:cNvPr id="21" name="Text 19"/>
          <p:cNvSpPr/>
          <p:nvPr/>
        </p:nvSpPr>
        <p:spPr>
          <a:xfrm>
            <a:off x="6327648" y="2578608"/>
            <a:ext cx="5376672" cy="969264"/>
          </a:xfrm>
          <a:prstGeom prst="rect">
            <a:avLst/>
          </a:prstGeom>
          <a:noFill/>
          <a:ln/>
        </p:spPr>
        <p:txBody>
          <a:bodyPr wrap="square" lIns="0" tIns="0" rIns="0" bIns="0" rtlCol="0" anchor="t"/>
          <a:lstStyle/>
          <a:p>
            <a:pPr indent="0" marL="0">
              <a:lnSpc>
                <a:spcPts val="1120"/>
              </a:lnSpc>
              <a:spcAft>
                <a:spcPts val="300"/>
              </a:spcAft>
              <a:buNone/>
            </a:pPr>
            <a:r>
              <a:rPr lang="en-US" sz="800" dirty="0">
                <a:solidFill>
                  <a:srgbClr val="1F2933"/>
                </a:solidFill>
                <a:latin typeface="Meiryo" pitchFamily="34" charset="0"/>
                <a:ea typeface="Meiryo" pitchFamily="34" charset="-122"/>
                <a:cs typeface="Meiryo" pitchFamily="34" charset="-120"/>
              </a:rPr>
              <a:t>SFIA等のベストプラクティスを土台としつつ、自社で運用できる形に落とし込む。その方法自体を、今回の1サイクルで探る。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レベルの段数や定義軸といった構造は、標準に依拠する。自社で発明しない</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記述や例示は、自社の業務・成果物の言葉に翻訳する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翻訳作業は、対象ジョブロールの現場管理者とともに行う</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どこまで標準に沿い、どこから自社語にすべきか。どう合意し、どう更新し続けるか。この線引き自体が、今回得たい成果である</a:t>
            </a:r>
            <a:endParaRPr lang="en-US" sz="800" dirty="0"/>
          </a:p>
        </p:txBody>
      </p:sp>
      <p:sp>
        <p:nvSpPr>
          <p:cNvPr id="22" name="Shape 20"/>
          <p:cNvSpPr/>
          <p:nvPr/>
        </p:nvSpPr>
        <p:spPr>
          <a:xfrm>
            <a:off x="457200" y="3785616"/>
            <a:ext cx="11247120" cy="950976"/>
          </a:xfrm>
          <a:prstGeom prst="roundRect">
            <a:avLst>
              <a:gd name="adj" fmla="val 2885"/>
            </a:avLst>
          </a:prstGeom>
          <a:solidFill>
            <a:srgbClr val="F3F5F7"/>
          </a:solidFill>
          <a:ln w="12700">
            <a:solidFill>
              <a:srgbClr val="F3F5F7"/>
            </a:solidFill>
            <a:prstDash val="solid"/>
          </a:ln>
        </p:spPr>
      </p:sp>
      <p:sp>
        <p:nvSpPr>
          <p:cNvPr id="23" name="Shape 21"/>
          <p:cNvSpPr/>
          <p:nvPr/>
        </p:nvSpPr>
        <p:spPr>
          <a:xfrm>
            <a:off x="658368" y="3968496"/>
            <a:ext cx="274320" cy="274320"/>
          </a:xfrm>
          <a:prstGeom prst="roundRect">
            <a:avLst>
              <a:gd name="adj" fmla="val 20000"/>
            </a:avLst>
          </a:prstGeom>
          <a:solidFill>
            <a:srgbClr val="2B3A4A"/>
          </a:solidFill>
          <a:ln w="12700">
            <a:solidFill>
              <a:srgbClr val="2B3A4A"/>
            </a:solidFill>
            <a:prstDash val="solid"/>
          </a:ln>
        </p:spPr>
      </p:sp>
      <p:sp>
        <p:nvSpPr>
          <p:cNvPr id="24" name="Text 22"/>
          <p:cNvSpPr/>
          <p:nvPr/>
        </p:nvSpPr>
        <p:spPr>
          <a:xfrm>
            <a:off x="658368" y="39684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658368" y="4297680"/>
            <a:ext cx="1993392" cy="310896"/>
          </a:xfrm>
          <a:prstGeom prst="rect">
            <a:avLst/>
          </a:prstGeom>
          <a:noFill/>
          <a:ln/>
        </p:spPr>
        <p:txBody>
          <a:bodyPr wrap="square" lIns="0" tIns="0" rIns="0" bIns="0" rtlCol="0" anchor="t"/>
          <a:lstStyle/>
          <a:p>
            <a:pPr indent="0" marL="0">
              <a:lnSpc>
                <a:spcPts val="1400"/>
              </a:lnSpc>
              <a:buNone/>
            </a:pPr>
            <a:r>
              <a:rPr lang="en-US" sz="1050" b="1" dirty="0">
                <a:solidFill>
                  <a:srgbClr val="2B3A4A"/>
                </a:solidFill>
                <a:latin typeface="Meiryo" pitchFamily="34" charset="0"/>
                <a:ea typeface="Meiryo" pitchFamily="34" charset="-122"/>
                <a:cs typeface="Meiryo" pitchFamily="34" charset="-120"/>
              </a:rPr>
              <a:t>誰がどう測れば意味のある結果になるか、わかっていない</a:t>
            </a:r>
            <a:endParaRPr lang="en-US" sz="1050" dirty="0"/>
          </a:p>
        </p:txBody>
      </p:sp>
      <p:sp>
        <p:nvSpPr>
          <p:cNvPr id="26" name="Text 24"/>
          <p:cNvSpPr/>
          <p:nvPr/>
        </p:nvSpPr>
        <p:spPr>
          <a:xfrm>
            <a:off x="2852928" y="3931920"/>
            <a:ext cx="3364992" cy="676656"/>
          </a:xfrm>
          <a:prstGeom prst="rect">
            <a:avLst/>
          </a:prstGeom>
          <a:noFill/>
          <a:ln/>
        </p:spPr>
        <p:txBody>
          <a:bodyPr wrap="square" lIns="0" tIns="0" rIns="0" bIns="0" rtlCol="0" anchor="t"/>
          <a:lstStyle/>
          <a:p>
            <a:pPr indent="0" marL="0">
              <a:lnSpc>
                <a:spcPts val="1120"/>
              </a:lnSpc>
              <a:spcAft>
                <a:spcPts val="300"/>
              </a:spcAft>
              <a:buNone/>
            </a:pPr>
            <a:r>
              <a:rPr lang="en-US" sz="800" dirty="0">
                <a:solidFill>
                  <a:srgbClr val="1F2933"/>
                </a:solidFill>
                <a:latin typeface="Meiryo" pitchFamily="34" charset="0"/>
                <a:ea typeface="Meiryo" pitchFamily="34" charset="-122"/>
                <a:cs typeface="Meiryo" pitchFamily="34" charset="-120"/>
              </a:rPr>
              <a:t>本人の自己申告だけでよいのか。管理者が見るべきか。第三者の目が要るのか。評価する人によって基準がずれないか。</a:t>
            </a:r>
            <a:endParaRPr lang="en-US" sz="800" dirty="0"/>
          </a:p>
          <a:p>
            <a:pPr indent="0" marL="0">
              <a:lnSpc>
                <a:spcPts val="1120"/>
              </a:lnSpc>
              <a:spcAft>
                <a:spcPts val="300"/>
              </a:spcAft>
              <a:buNone/>
            </a:pPr>
            <a:r>
              <a:rPr lang="en-US" sz="800" dirty="0">
                <a:solidFill>
                  <a:srgbClr val="1F2933"/>
                </a:solidFill>
                <a:latin typeface="Meiryo" pitchFamily="34" charset="0"/>
                <a:ea typeface="Meiryo" pitchFamily="34" charset="-122"/>
                <a:cs typeface="Meiryo" pitchFamily="34" charset="-120"/>
              </a:rPr>
              <a:t>測る仕組みが定まらないまま結果だけを集めても、使えるデータにはならない。</a:t>
            </a:r>
            <a:endParaRPr lang="en-US" sz="800" dirty="0"/>
          </a:p>
        </p:txBody>
      </p:sp>
      <p:sp>
        <p:nvSpPr>
          <p:cNvPr id="27" name="Text 25"/>
          <p:cNvSpPr/>
          <p:nvPr/>
        </p:nvSpPr>
        <p:spPr>
          <a:xfrm>
            <a:off x="6327648" y="3931920"/>
            <a:ext cx="5376672" cy="676656"/>
          </a:xfrm>
          <a:prstGeom prst="rect">
            <a:avLst/>
          </a:prstGeom>
          <a:noFill/>
          <a:ln/>
        </p:spPr>
        <p:txBody>
          <a:bodyPr wrap="square" lIns="0" tIns="0" rIns="0" bIns="0" rtlCol="0" anchor="t"/>
          <a:lstStyle/>
          <a:p>
            <a:pPr indent="0" marL="0">
              <a:lnSpc>
                <a:spcPts val="1120"/>
              </a:lnSpc>
              <a:spcAft>
                <a:spcPts val="300"/>
              </a:spcAft>
              <a:buNone/>
            </a:pPr>
            <a:r>
              <a:rPr lang="en-US" sz="800" dirty="0">
                <a:solidFill>
                  <a:srgbClr val="1F2933"/>
                </a:solidFill>
                <a:latin typeface="Meiryo" pitchFamily="34" charset="0"/>
                <a:ea typeface="Meiryo" pitchFamily="34" charset="-122"/>
                <a:cs typeface="Meiryo" pitchFamily="34" charset="-120"/>
              </a:rPr>
              <a:t>本人・管理者・第三者による多面アセスメントを実施し、測り方そのものを検証する。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目的は、自己申告の正しさを照合することではない</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同じ対象を複数の目で見たときに生じる「ずれの発見」が成果である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ずれた箇所は、記述の曖昧さやレベル定義の伝わりにくさを示している。次のサイクルの改訂に反映する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回答を強制せず、完璧さも求めない。ただし、ずれを見つけるには真剣な回答が必要である</a:t>
            </a:r>
            <a:endParaRPr lang="en-US" sz="800" dirty="0"/>
          </a:p>
        </p:txBody>
      </p:sp>
      <p:sp>
        <p:nvSpPr>
          <p:cNvPr id="28" name="Shape 26"/>
          <p:cNvSpPr/>
          <p:nvPr/>
        </p:nvSpPr>
        <p:spPr>
          <a:xfrm>
            <a:off x="457200" y="4846320"/>
            <a:ext cx="11247120" cy="1627632"/>
          </a:xfrm>
          <a:prstGeom prst="roundRect">
            <a:avLst>
              <a:gd name="adj" fmla="val 1685"/>
            </a:avLst>
          </a:prstGeom>
          <a:solidFill>
            <a:srgbClr val="F3F5F7"/>
          </a:solidFill>
          <a:ln w="12700">
            <a:solidFill>
              <a:srgbClr val="F3F5F7"/>
            </a:solidFill>
            <a:prstDash val="solid"/>
          </a:ln>
        </p:spPr>
      </p:sp>
      <p:sp>
        <p:nvSpPr>
          <p:cNvPr id="29" name="Shape 27"/>
          <p:cNvSpPr/>
          <p:nvPr/>
        </p:nvSpPr>
        <p:spPr>
          <a:xfrm>
            <a:off x="658368" y="5029200"/>
            <a:ext cx="274320" cy="274320"/>
          </a:xfrm>
          <a:prstGeom prst="roundRect">
            <a:avLst>
              <a:gd name="adj" fmla="val 20000"/>
            </a:avLst>
          </a:prstGeom>
          <a:solidFill>
            <a:srgbClr val="2B3A4A"/>
          </a:solidFill>
          <a:ln w="12700">
            <a:solidFill>
              <a:srgbClr val="2B3A4A"/>
            </a:solidFill>
            <a:prstDash val="solid"/>
          </a:ln>
        </p:spPr>
      </p:sp>
      <p:sp>
        <p:nvSpPr>
          <p:cNvPr id="30" name="Text 28"/>
          <p:cNvSpPr/>
          <p:nvPr/>
        </p:nvSpPr>
        <p:spPr>
          <a:xfrm>
            <a:off x="658368" y="50292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Text 29"/>
          <p:cNvSpPr/>
          <p:nvPr/>
        </p:nvSpPr>
        <p:spPr>
          <a:xfrm>
            <a:off x="658368" y="5358384"/>
            <a:ext cx="1993392" cy="987552"/>
          </a:xfrm>
          <a:prstGeom prst="rect">
            <a:avLst/>
          </a:prstGeom>
          <a:noFill/>
          <a:ln/>
        </p:spPr>
        <p:txBody>
          <a:bodyPr wrap="square" lIns="0" tIns="0" rIns="0" bIns="0" rtlCol="0" anchor="t"/>
          <a:lstStyle/>
          <a:p>
            <a:pPr indent="0" marL="0">
              <a:lnSpc>
                <a:spcPts val="1400"/>
              </a:lnSpc>
              <a:buNone/>
            </a:pPr>
            <a:r>
              <a:rPr lang="en-US" sz="1050" b="1" dirty="0">
                <a:solidFill>
                  <a:srgbClr val="2B3A4A"/>
                </a:solidFill>
                <a:latin typeface="Meiryo" pitchFamily="34" charset="0"/>
                <a:ea typeface="Meiryo" pitchFamily="34" charset="-122"/>
                <a:cs typeface="Meiryo" pitchFamily="34" charset="-120"/>
              </a:rPr>
              <a:t>スキルを磨くことが処遇につながる道筋が、見えていない</a:t>
            </a:r>
            <a:endParaRPr lang="en-US" sz="1050" dirty="0"/>
          </a:p>
        </p:txBody>
      </p:sp>
      <p:sp>
        <p:nvSpPr>
          <p:cNvPr id="32" name="Text 30"/>
          <p:cNvSpPr/>
          <p:nvPr/>
        </p:nvSpPr>
        <p:spPr>
          <a:xfrm>
            <a:off x="2852928" y="4992624"/>
            <a:ext cx="3364992" cy="1353312"/>
          </a:xfrm>
          <a:prstGeom prst="rect">
            <a:avLst/>
          </a:prstGeom>
          <a:noFill/>
          <a:ln/>
        </p:spPr>
        <p:txBody>
          <a:bodyPr wrap="square" lIns="0" tIns="0" rIns="0" bIns="0" rtlCol="0" anchor="t"/>
          <a:lstStyle/>
          <a:p>
            <a:pPr indent="0" marL="0">
              <a:lnSpc>
                <a:spcPts val="1120"/>
              </a:lnSpc>
              <a:spcAft>
                <a:spcPts val="300"/>
              </a:spcAft>
              <a:buNone/>
            </a:pPr>
            <a:r>
              <a:rPr lang="en-US" sz="800" dirty="0">
                <a:solidFill>
                  <a:srgbClr val="1F2933"/>
                </a:solidFill>
                <a:latin typeface="Meiryo" pitchFamily="34" charset="0"/>
                <a:ea typeface="Meiryo" pitchFamily="34" charset="-122"/>
                <a:cs typeface="Meiryo" pitchFamily="34" charset="-120"/>
              </a:rPr>
              <a:t>処遇に響くかもしれないと思われている限り、正直な回答は集まらない。かといって「一切使わない」とも言えない。将来つなげる構想は実際にある。</a:t>
            </a:r>
            <a:endParaRPr lang="en-US" sz="800" dirty="0"/>
          </a:p>
          <a:p>
            <a:pPr indent="0" marL="0">
              <a:lnSpc>
                <a:spcPts val="1120"/>
              </a:lnSpc>
              <a:spcAft>
                <a:spcPts val="300"/>
              </a:spcAft>
              <a:buNone/>
            </a:pPr>
            <a:r>
              <a:rPr lang="en-US" sz="800" dirty="0">
                <a:solidFill>
                  <a:srgbClr val="1F2933"/>
                </a:solidFill>
                <a:latin typeface="Meiryo" pitchFamily="34" charset="0"/>
                <a:ea typeface="Meiryo" pitchFamily="34" charset="-122"/>
                <a:cs typeface="Meiryo" pitchFamily="34" charset="-120"/>
              </a:rPr>
              <a:t>一方で、組織にとっても個人にとっても、スキルを磨くことが正当に報われる仕組みは必要である。現場の時間も、私的な時間も使ってスキルを磨く。それが評価される道筋がなければ、個人が投資する理由がない。</a:t>
            </a:r>
            <a:endParaRPr lang="en-US" sz="800" dirty="0"/>
          </a:p>
        </p:txBody>
      </p:sp>
      <p:sp>
        <p:nvSpPr>
          <p:cNvPr id="33" name="Text 31"/>
          <p:cNvSpPr/>
          <p:nvPr/>
        </p:nvSpPr>
        <p:spPr>
          <a:xfrm>
            <a:off x="6327648" y="4992624"/>
            <a:ext cx="5376672" cy="1353312"/>
          </a:xfrm>
          <a:prstGeom prst="rect">
            <a:avLst/>
          </a:prstGeom>
          <a:noFill/>
          <a:ln/>
        </p:spPr>
        <p:txBody>
          <a:bodyPr wrap="square" lIns="0" tIns="0" rIns="0" bIns="0" rtlCol="0" anchor="t"/>
          <a:lstStyle/>
          <a:p>
            <a:pPr indent="0" marL="0">
              <a:lnSpc>
                <a:spcPts val="1120"/>
              </a:lnSpc>
              <a:spcAft>
                <a:spcPts val="300"/>
              </a:spcAft>
              <a:buNone/>
            </a:pPr>
            <a:r>
              <a:rPr lang="en-US" sz="800" dirty="0">
                <a:solidFill>
                  <a:srgbClr val="1F2933"/>
                </a:solidFill>
                <a:latin typeface="Meiryo" pitchFamily="34" charset="0"/>
                <a:ea typeface="Meiryo" pitchFamily="34" charset="-122"/>
                <a:cs typeface="Meiryo" pitchFamily="34" charset="-120"/>
              </a:rPr>
              <a:t>将来、ジョブアーキテクチャと接続し、処遇に反映させることを目指す。ただし、時期も具体的な形も、現時点では確定していない。</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本プロジェクトおよび当面の間、アセスメント結果を人事評価・処遇・配置の判断には使用しない</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本プロジェクトで取得したデータが、遡って処遇判断に使われることはない</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接続の時期は、1年先か2年先か、現時点では約束できない。今回のアプローチがそのまま延長されるとも限らない</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接続する際は、測定手法を設計し直し、事前に告知する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前提として、ジョブロール定義とレベル定義が継続運用されていること、成果物・実績に基づく評価に移行していること、評価者のキャリブレーションが機能していること、等級制度が整合していること、そして可視化されたギャップに対して育成機会が実際に提供されていること</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20624" cy="420624"/>
          </a:xfrm>
          <a:prstGeom prst="roundRect">
            <a:avLst>
              <a:gd name="adj" fmla="val 13043"/>
            </a:avLst>
          </a:prstGeom>
          <a:solidFill>
            <a:srgbClr val="2B3A4A"/>
          </a:solidFill>
          <a:ln w="12700">
            <a:solidFill>
              <a:srgbClr val="2B3A4A"/>
            </a:solidFill>
            <a:prstDash val="solid"/>
          </a:ln>
        </p:spPr>
      </p:sp>
      <p:sp>
        <p:nvSpPr>
          <p:cNvPr id="3" name="Text 1"/>
          <p:cNvSpPr/>
          <p:nvPr/>
        </p:nvSpPr>
        <p:spPr>
          <a:xfrm>
            <a:off x="457200" y="31089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p:nvPr/>
        </p:nvSpPr>
        <p:spPr>
          <a:xfrm>
            <a:off x="1005840" y="274320"/>
            <a:ext cx="7863840" cy="502920"/>
          </a:xfrm>
          <a:prstGeom prst="rect">
            <a:avLst/>
          </a:prstGeom>
          <a:noFill/>
          <a:ln/>
        </p:spPr>
        <p:txBody>
          <a:bodyPr wrap="square" lIns="0" tIns="0" rIns="0" bIns="0" rtlCol="0" anchor="ctr"/>
          <a:lstStyle/>
          <a:p>
            <a:pPr indent="0" marL="0">
              <a:buNone/>
            </a:pPr>
            <a:r>
              <a:rPr lang="en-US" sz="2300" b="1" dirty="0">
                <a:solidFill>
                  <a:srgbClr val="2B3A4A"/>
                </a:solidFill>
                <a:latin typeface="Meiryo" pitchFamily="34" charset="0"/>
                <a:ea typeface="Meiryo" pitchFamily="34" charset="-122"/>
                <a:cs typeface="Meiryo" pitchFamily="34" charset="-120"/>
              </a:rPr>
              <a:t>想定される問いへの回答</a:t>
            </a:r>
            <a:endParaRPr lang="en-US" sz="2300" dirty="0"/>
          </a:p>
        </p:txBody>
      </p:sp>
      <p:sp>
        <p:nvSpPr>
          <p:cNvPr id="5" name="Text 3"/>
          <p:cNvSpPr/>
          <p:nvPr/>
        </p:nvSpPr>
        <p:spPr>
          <a:xfrm>
            <a:off x="8778240" y="384048"/>
            <a:ext cx="2926080" cy="329184"/>
          </a:xfrm>
          <a:prstGeom prst="rect">
            <a:avLst/>
          </a:prstGeom>
          <a:noFill/>
          <a:ln/>
        </p:spPr>
        <p:txBody>
          <a:bodyPr wrap="square" lIns="0" tIns="0" rIns="0" bIns="0" rtlCol="0" anchor="ctr"/>
          <a:lstStyle/>
          <a:p>
            <a:pPr algn="r" indent="0" marL="0">
              <a:buNone/>
            </a:pPr>
            <a:r>
              <a:rPr lang="en-US" sz="950" dirty="0">
                <a:solidFill>
                  <a:srgbClr val="6B7885"/>
                </a:solidFill>
                <a:latin typeface="Meiryo" pitchFamily="34" charset="0"/>
                <a:ea typeface="Meiryo" pitchFamily="34" charset="-122"/>
                <a:cs typeface="Meiryo" pitchFamily="34" charset="-120"/>
              </a:rPr>
              <a:t>参加者への説明として、あらかじめ示す</a:t>
            </a:r>
            <a:endParaRPr lang="en-US" sz="950" dirty="0"/>
          </a:p>
        </p:txBody>
      </p:sp>
      <p:sp>
        <p:nvSpPr>
          <p:cNvPr id="6" name="Text 4"/>
          <p:cNvSpPr/>
          <p:nvPr/>
        </p:nvSpPr>
        <p:spPr>
          <a:xfrm>
            <a:off x="457200" y="1005840"/>
            <a:ext cx="11247120" cy="310896"/>
          </a:xfrm>
          <a:prstGeom prst="rect">
            <a:avLst/>
          </a:prstGeom>
          <a:noFill/>
          <a:ln/>
        </p:spPr>
        <p:txBody>
          <a:bodyPr wrap="square" lIns="0" tIns="0" rIns="0" bIns="0" rtlCol="0" anchor="ctr"/>
          <a:lstStyle/>
          <a:p>
            <a:pPr indent="0" marL="0">
              <a:buNone/>
            </a:pPr>
            <a:r>
              <a:rPr lang="en-US" sz="1200" dirty="0">
                <a:solidFill>
                  <a:srgbClr val="1F2933"/>
                </a:solidFill>
                <a:latin typeface="Meiryo" pitchFamily="34" charset="0"/>
                <a:ea typeface="Meiryo" pitchFamily="34" charset="-122"/>
                <a:cs typeface="Meiryo" pitchFamily="34" charset="-120"/>
              </a:rPr>
              <a:t>本プロジェクトに対しては、以下の問いが繰り返し寄せられている。参加者に対する説明として、あらかじめ回答を示す。</a:t>
            </a:r>
            <a:endParaRPr lang="en-US" sz="1200" dirty="0"/>
          </a:p>
        </p:txBody>
      </p:sp>
      <p:sp>
        <p:nvSpPr>
          <p:cNvPr id="7" name="Shape 5"/>
          <p:cNvSpPr/>
          <p:nvPr/>
        </p:nvSpPr>
        <p:spPr>
          <a:xfrm>
            <a:off x="457200" y="1426464"/>
            <a:ext cx="3639312" cy="4590288"/>
          </a:xfrm>
          <a:prstGeom prst="roundRect">
            <a:avLst>
              <a:gd name="adj" fmla="val 754"/>
            </a:avLst>
          </a:prstGeom>
          <a:solidFill>
            <a:srgbClr val="F3F5F7"/>
          </a:solidFill>
          <a:ln w="12700">
            <a:solidFill>
              <a:srgbClr val="F3F5F7"/>
            </a:solidFill>
            <a:prstDash val="solid"/>
          </a:ln>
        </p:spPr>
      </p:sp>
      <p:sp>
        <p:nvSpPr>
          <p:cNvPr id="8" name="Shape 6"/>
          <p:cNvSpPr/>
          <p:nvPr/>
        </p:nvSpPr>
        <p:spPr>
          <a:xfrm>
            <a:off x="713232" y="1682496"/>
            <a:ext cx="365760" cy="365760"/>
          </a:xfrm>
          <a:prstGeom prst="roundRect">
            <a:avLst>
              <a:gd name="adj" fmla="val 15000"/>
            </a:avLst>
          </a:prstGeom>
          <a:solidFill>
            <a:srgbClr val="2B3A4A"/>
          </a:solidFill>
          <a:ln w="12700">
            <a:solidFill>
              <a:srgbClr val="2B3A4A"/>
            </a:solidFill>
            <a:prstDash val="solid"/>
          </a:ln>
        </p:spPr>
      </p:sp>
      <p:sp>
        <p:nvSpPr>
          <p:cNvPr id="9" name="Text 7"/>
          <p:cNvSpPr/>
          <p:nvPr/>
        </p:nvSpPr>
        <p:spPr>
          <a:xfrm>
            <a:off x="713232" y="1682496"/>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Q1</a:t>
            </a:r>
            <a:endParaRPr lang="en-US" sz="1150" dirty="0"/>
          </a:p>
        </p:txBody>
      </p:sp>
      <p:sp>
        <p:nvSpPr>
          <p:cNvPr id="10" name="Text 8"/>
          <p:cNvSpPr/>
          <p:nvPr/>
        </p:nvSpPr>
        <p:spPr>
          <a:xfrm>
            <a:off x="713232" y="2157984"/>
            <a:ext cx="3127248" cy="786384"/>
          </a:xfrm>
          <a:prstGeom prst="rect">
            <a:avLst/>
          </a:prstGeom>
          <a:noFill/>
          <a:ln/>
        </p:spPr>
        <p:txBody>
          <a:bodyPr wrap="square" lIns="0" tIns="0" rIns="0" bIns="0" rtlCol="0" anchor="t"/>
          <a:lstStyle/>
          <a:p>
            <a:pPr indent="0" marL="0">
              <a:lnSpc>
                <a:spcPts val="1900"/>
              </a:lnSpc>
              <a:buNone/>
            </a:pPr>
            <a:r>
              <a:rPr lang="en-US" sz="1350" b="1" dirty="0">
                <a:solidFill>
                  <a:srgbClr val="2B3A4A"/>
                </a:solidFill>
                <a:latin typeface="Meiryo" pitchFamily="34" charset="0"/>
                <a:ea typeface="Meiryo" pitchFamily="34" charset="-122"/>
                <a:cs typeface="Meiryo" pitchFamily="34" charset="-120"/>
              </a:rPr>
              <a:t>なぜ、1つのジョブロールだけを対象とするのか</a:t>
            </a:r>
            <a:endParaRPr lang="en-US" sz="1350" dirty="0"/>
          </a:p>
        </p:txBody>
      </p:sp>
      <p:sp>
        <p:nvSpPr>
          <p:cNvPr id="11" name="Shape 9"/>
          <p:cNvSpPr/>
          <p:nvPr/>
        </p:nvSpPr>
        <p:spPr>
          <a:xfrm>
            <a:off x="713232" y="2999232"/>
            <a:ext cx="3127248" cy="0"/>
          </a:xfrm>
          <a:prstGeom prst="line">
            <a:avLst/>
          </a:prstGeom>
          <a:noFill/>
          <a:ln w="12700">
            <a:solidFill>
              <a:srgbClr val="CFD8E0"/>
            </a:solidFill>
            <a:prstDash val="solid"/>
          </a:ln>
        </p:spPr>
      </p:sp>
      <p:sp>
        <p:nvSpPr>
          <p:cNvPr id="12" name="Text 10"/>
          <p:cNvSpPr/>
          <p:nvPr/>
        </p:nvSpPr>
        <p:spPr>
          <a:xfrm>
            <a:off x="713232" y="3145536"/>
            <a:ext cx="3127248" cy="1956816"/>
          </a:xfrm>
          <a:prstGeom prst="rect">
            <a:avLst/>
          </a:prstGeom>
          <a:noFill/>
          <a:ln/>
        </p:spPr>
        <p:txBody>
          <a:bodyPr wrap="square" lIns="0" tIns="0" rIns="0" bIns="0" rtlCol="0" anchor="t"/>
          <a:lstStyle/>
          <a:p>
            <a:pPr indent="0" marL="0">
              <a:lnSpc>
                <a:spcPts val="1700"/>
              </a:lnSpc>
              <a:spcAft>
                <a:spcPts val="800"/>
              </a:spcAft>
              <a:buNone/>
            </a:pPr>
            <a:r>
              <a:rPr lang="en-US" sz="1100" dirty="0">
                <a:solidFill>
                  <a:srgbClr val="1F2933"/>
                </a:solidFill>
                <a:latin typeface="Meiryo" pitchFamily="34" charset="0"/>
                <a:ea typeface="Meiryo" pitchFamily="34" charset="-122"/>
                <a:cs typeface="Meiryo" pitchFamily="34" charset="-120"/>
              </a:rPr>
              <a:t>軸を翻訳し、多面で測り、ずれを検証し、改訂する。この一連の流れを実際に回してみるには、範囲を絞る必要がある。</a:t>
            </a:r>
            <a:endParaRPr lang="en-US" sz="1100" dirty="0"/>
          </a:p>
          <a:p>
            <a:pPr indent="0" marL="0">
              <a:lnSpc>
                <a:spcPts val="1700"/>
              </a:lnSpc>
              <a:buNone/>
            </a:pPr>
            <a:r>
              <a:rPr lang="en-US" sz="1100" dirty="0">
                <a:solidFill>
                  <a:srgbClr val="1F2933"/>
                </a:solidFill>
                <a:latin typeface="Meiryo" pitchFamily="34" charset="0"/>
                <a:ea typeface="Meiryo" pitchFamily="34" charset="-122"/>
                <a:cs typeface="Meiryo" pitchFamily="34" charset="-120"/>
              </a:rPr>
              <a:t>複数ロールに広げれば、それだけ調整と合意に時間がかかり、1サイクルを終える前に力尽きる。広げるのは、回し方がわかってからでよい。</a:t>
            </a:r>
            <a:endParaRPr lang="en-US" sz="1100" dirty="0"/>
          </a:p>
        </p:txBody>
      </p:sp>
      <p:sp>
        <p:nvSpPr>
          <p:cNvPr id="13" name="Shape 11"/>
          <p:cNvSpPr/>
          <p:nvPr/>
        </p:nvSpPr>
        <p:spPr>
          <a:xfrm>
            <a:off x="713232" y="5157216"/>
            <a:ext cx="3127248" cy="603504"/>
          </a:xfrm>
          <a:prstGeom prst="roundRect">
            <a:avLst>
              <a:gd name="adj" fmla="val 7576"/>
            </a:avLst>
          </a:prstGeom>
          <a:solidFill>
            <a:srgbClr val="1E2A36"/>
          </a:solidFill>
          <a:ln w="12700">
            <a:solidFill>
              <a:srgbClr val="1E2A36"/>
            </a:solidFill>
            <a:prstDash val="solid"/>
          </a:ln>
        </p:spPr>
      </p:sp>
      <p:sp>
        <p:nvSpPr>
          <p:cNvPr id="14" name="Text 12"/>
          <p:cNvSpPr/>
          <p:nvPr/>
        </p:nvSpPr>
        <p:spPr>
          <a:xfrm>
            <a:off x="786384" y="5157216"/>
            <a:ext cx="2980944" cy="603504"/>
          </a:xfrm>
          <a:prstGeom prst="rect">
            <a:avLst/>
          </a:prstGeom>
          <a:noFill/>
          <a:ln/>
        </p:spPr>
        <p:txBody>
          <a:bodyPr wrap="square" lIns="0" tIns="0" rIns="0" bIns="0" rtlCol="0" anchor="ctr"/>
          <a:lstStyle/>
          <a:p>
            <a:pPr algn="ctr" indent="0" marL="0">
              <a:lnSpc>
                <a:spcPts val="1500"/>
              </a:lnSpc>
              <a:buNone/>
            </a:pPr>
            <a:r>
              <a:rPr lang="en-US" sz="1150" b="1" dirty="0">
                <a:solidFill>
                  <a:srgbClr val="FFFFFF"/>
                </a:solidFill>
                <a:latin typeface="Meiryo" pitchFamily="34" charset="0"/>
                <a:ea typeface="Meiryo" pitchFamily="34" charset="-122"/>
                <a:cs typeface="Meiryo" pitchFamily="34" charset="-120"/>
              </a:rPr>
              <a:t>広げるのは、回し方がわかってから</a:t>
            </a:r>
            <a:endParaRPr lang="en-US" sz="1150" dirty="0"/>
          </a:p>
        </p:txBody>
      </p:sp>
      <p:sp>
        <p:nvSpPr>
          <p:cNvPr id="15" name="Shape 13"/>
          <p:cNvSpPr/>
          <p:nvPr/>
        </p:nvSpPr>
        <p:spPr>
          <a:xfrm>
            <a:off x="4270248" y="1426464"/>
            <a:ext cx="3639312" cy="4590288"/>
          </a:xfrm>
          <a:prstGeom prst="roundRect">
            <a:avLst>
              <a:gd name="adj" fmla="val 754"/>
            </a:avLst>
          </a:prstGeom>
          <a:solidFill>
            <a:srgbClr val="F3F5F7"/>
          </a:solidFill>
          <a:ln w="12700">
            <a:solidFill>
              <a:srgbClr val="F3F5F7"/>
            </a:solidFill>
            <a:prstDash val="solid"/>
          </a:ln>
        </p:spPr>
      </p:sp>
      <p:sp>
        <p:nvSpPr>
          <p:cNvPr id="16" name="Shape 14"/>
          <p:cNvSpPr/>
          <p:nvPr/>
        </p:nvSpPr>
        <p:spPr>
          <a:xfrm>
            <a:off x="4526280" y="1682496"/>
            <a:ext cx="365760" cy="365760"/>
          </a:xfrm>
          <a:prstGeom prst="roundRect">
            <a:avLst>
              <a:gd name="adj" fmla="val 15000"/>
            </a:avLst>
          </a:prstGeom>
          <a:solidFill>
            <a:srgbClr val="2B3A4A"/>
          </a:solidFill>
          <a:ln w="12700">
            <a:solidFill>
              <a:srgbClr val="2B3A4A"/>
            </a:solidFill>
            <a:prstDash val="solid"/>
          </a:ln>
        </p:spPr>
      </p:sp>
      <p:sp>
        <p:nvSpPr>
          <p:cNvPr id="17" name="Text 15"/>
          <p:cNvSpPr/>
          <p:nvPr/>
        </p:nvSpPr>
        <p:spPr>
          <a:xfrm>
            <a:off x="4526280" y="1682496"/>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Q2</a:t>
            </a:r>
            <a:endParaRPr lang="en-US" sz="1150" dirty="0"/>
          </a:p>
        </p:txBody>
      </p:sp>
      <p:sp>
        <p:nvSpPr>
          <p:cNvPr id="18" name="Text 16"/>
          <p:cNvSpPr/>
          <p:nvPr/>
        </p:nvSpPr>
        <p:spPr>
          <a:xfrm>
            <a:off x="4526280" y="2157984"/>
            <a:ext cx="3127248" cy="786384"/>
          </a:xfrm>
          <a:prstGeom prst="rect">
            <a:avLst/>
          </a:prstGeom>
          <a:noFill/>
          <a:ln/>
        </p:spPr>
        <p:txBody>
          <a:bodyPr wrap="square" lIns="0" tIns="0" rIns="0" bIns="0" rtlCol="0" anchor="t"/>
          <a:lstStyle/>
          <a:p>
            <a:pPr indent="0" marL="0">
              <a:lnSpc>
                <a:spcPts val="1900"/>
              </a:lnSpc>
              <a:buNone/>
            </a:pPr>
            <a:r>
              <a:rPr lang="en-US" sz="1350" b="1" dirty="0">
                <a:solidFill>
                  <a:srgbClr val="2B3A4A"/>
                </a:solidFill>
                <a:latin typeface="Meiryo" pitchFamily="34" charset="0"/>
                <a:ea typeface="Meiryo" pitchFamily="34" charset="-122"/>
                <a:cs typeface="Meiryo" pitchFamily="34" charset="-120"/>
              </a:rPr>
              <a:t>なぜ、まだ固まっていない基準で測るのか</a:t>
            </a:r>
            <a:endParaRPr lang="en-US" sz="1350" dirty="0"/>
          </a:p>
        </p:txBody>
      </p:sp>
      <p:sp>
        <p:nvSpPr>
          <p:cNvPr id="19" name="Shape 17"/>
          <p:cNvSpPr/>
          <p:nvPr/>
        </p:nvSpPr>
        <p:spPr>
          <a:xfrm>
            <a:off x="4526280" y="2999232"/>
            <a:ext cx="3127248" cy="0"/>
          </a:xfrm>
          <a:prstGeom prst="line">
            <a:avLst/>
          </a:prstGeom>
          <a:noFill/>
          <a:ln w="12700">
            <a:solidFill>
              <a:srgbClr val="CFD8E0"/>
            </a:solidFill>
            <a:prstDash val="solid"/>
          </a:ln>
        </p:spPr>
      </p:sp>
      <p:sp>
        <p:nvSpPr>
          <p:cNvPr id="20" name="Text 18"/>
          <p:cNvSpPr/>
          <p:nvPr/>
        </p:nvSpPr>
        <p:spPr>
          <a:xfrm>
            <a:off x="4526280" y="3145536"/>
            <a:ext cx="3127248" cy="1956816"/>
          </a:xfrm>
          <a:prstGeom prst="rect">
            <a:avLst/>
          </a:prstGeom>
          <a:noFill/>
          <a:ln/>
        </p:spPr>
        <p:txBody>
          <a:bodyPr wrap="square" lIns="0" tIns="0" rIns="0" bIns="0" rtlCol="0" anchor="t"/>
          <a:lstStyle/>
          <a:p>
            <a:pPr indent="0" marL="0">
              <a:lnSpc>
                <a:spcPts val="1700"/>
              </a:lnSpc>
              <a:spcAft>
                <a:spcPts val="800"/>
              </a:spcAft>
              <a:buNone/>
            </a:pPr>
            <a:r>
              <a:rPr lang="en-US" sz="1100" dirty="0">
                <a:solidFill>
                  <a:srgbClr val="1F2933"/>
                </a:solidFill>
                <a:latin typeface="Meiryo" pitchFamily="34" charset="0"/>
                <a:ea typeface="Meiryo" pitchFamily="34" charset="-122"/>
                <a:cs typeface="Meiryo" pitchFamily="34" charset="-120"/>
              </a:rPr>
              <a:t>固めてから測ることはできない。軸が妥当かどうかは、実際に測ってみなければわからないからである。</a:t>
            </a:r>
            <a:endParaRPr lang="en-US" sz="1100" dirty="0"/>
          </a:p>
          <a:p>
            <a:pPr indent="0" marL="0">
              <a:lnSpc>
                <a:spcPts val="1700"/>
              </a:lnSpc>
              <a:buNone/>
            </a:pPr>
            <a:r>
              <a:rPr lang="en-US" sz="1100" dirty="0">
                <a:solidFill>
                  <a:srgbClr val="1F2933"/>
                </a:solidFill>
                <a:latin typeface="Meiryo" pitchFamily="34" charset="0"/>
                <a:ea typeface="Meiryo" pitchFamily="34" charset="-122"/>
                <a:cs typeface="Meiryo" pitchFamily="34" charset="-120"/>
              </a:rPr>
              <a:t>今回は、完成した軸で測るのではない。</a:t>
            </a:r>
            <a:pPr indent="0" marL="0">
              <a:lnSpc>
                <a:spcPts val="1700"/>
              </a:lnSpc>
              <a:buNone/>
            </a:pPr>
            <a:r>
              <a:rPr lang="en-US" sz="1100" b="1" dirty="0">
                <a:solidFill>
                  <a:srgbClr val="2B3A4A"/>
                </a:solidFill>
                <a:latin typeface="Meiryo" pitchFamily="34" charset="0"/>
                <a:ea typeface="Meiryo" pitchFamily="34" charset="-122"/>
                <a:cs typeface="Meiryo" pitchFamily="34" charset="-120"/>
              </a:rPr>
              <a:t>軸を作る方法を確かめるために測る。</a:t>
            </a:r>
            <a:pPr indent="0" marL="0">
              <a:lnSpc>
                <a:spcPts val="1700"/>
              </a:lnSpc>
              <a:buNone/>
            </a:pPr>
            <a:r>
              <a:rPr lang="en-US" sz="1100" dirty="0">
                <a:solidFill>
                  <a:srgbClr val="1F2933"/>
                </a:solidFill>
                <a:latin typeface="Meiryo" pitchFamily="34" charset="0"/>
                <a:ea typeface="Meiryo" pitchFamily="34" charset="-122"/>
                <a:cs typeface="Meiryo" pitchFamily="34" charset="-120"/>
              </a:rPr>
              <a:t>測定結果そのものより、測ってみて何が起きたかが、本プロジェクトの成果物である。</a:t>
            </a:r>
            <a:endParaRPr lang="en-US" sz="1100" dirty="0"/>
          </a:p>
        </p:txBody>
      </p:sp>
      <p:sp>
        <p:nvSpPr>
          <p:cNvPr id="21" name="Shape 19"/>
          <p:cNvSpPr/>
          <p:nvPr/>
        </p:nvSpPr>
        <p:spPr>
          <a:xfrm>
            <a:off x="4526280" y="5157216"/>
            <a:ext cx="3127248" cy="603504"/>
          </a:xfrm>
          <a:prstGeom prst="roundRect">
            <a:avLst>
              <a:gd name="adj" fmla="val 7576"/>
            </a:avLst>
          </a:prstGeom>
          <a:solidFill>
            <a:srgbClr val="1E2A36"/>
          </a:solidFill>
          <a:ln w="12700">
            <a:solidFill>
              <a:srgbClr val="1E2A36"/>
            </a:solidFill>
            <a:prstDash val="solid"/>
          </a:ln>
        </p:spPr>
      </p:sp>
      <p:sp>
        <p:nvSpPr>
          <p:cNvPr id="22" name="Text 20"/>
          <p:cNvSpPr/>
          <p:nvPr/>
        </p:nvSpPr>
        <p:spPr>
          <a:xfrm>
            <a:off x="4599432" y="5157216"/>
            <a:ext cx="2980944" cy="603504"/>
          </a:xfrm>
          <a:prstGeom prst="rect">
            <a:avLst/>
          </a:prstGeom>
          <a:noFill/>
          <a:ln/>
        </p:spPr>
        <p:txBody>
          <a:bodyPr wrap="square" lIns="0" tIns="0" rIns="0" bIns="0" rtlCol="0" anchor="ctr"/>
          <a:lstStyle/>
          <a:p>
            <a:pPr algn="ctr" indent="0" marL="0">
              <a:lnSpc>
                <a:spcPts val="1500"/>
              </a:lnSpc>
              <a:buNone/>
            </a:pPr>
            <a:r>
              <a:rPr lang="en-US" sz="1150" b="1" dirty="0">
                <a:solidFill>
                  <a:srgbClr val="FFFFFF"/>
                </a:solidFill>
                <a:latin typeface="Meiryo" pitchFamily="34" charset="0"/>
                <a:ea typeface="Meiryo" pitchFamily="34" charset="-122"/>
                <a:cs typeface="Meiryo" pitchFamily="34" charset="-120"/>
              </a:rPr>
              <a:t>軸を作る方法を確かめるために測る</a:t>
            </a:r>
            <a:endParaRPr lang="en-US" sz="1150" dirty="0"/>
          </a:p>
        </p:txBody>
      </p:sp>
      <p:sp>
        <p:nvSpPr>
          <p:cNvPr id="23" name="Shape 21"/>
          <p:cNvSpPr/>
          <p:nvPr/>
        </p:nvSpPr>
        <p:spPr>
          <a:xfrm>
            <a:off x="8083296" y="1426464"/>
            <a:ext cx="3639312" cy="4590288"/>
          </a:xfrm>
          <a:prstGeom prst="roundRect">
            <a:avLst>
              <a:gd name="adj" fmla="val 754"/>
            </a:avLst>
          </a:prstGeom>
          <a:solidFill>
            <a:srgbClr val="F3F5F7"/>
          </a:solidFill>
          <a:ln w="12700">
            <a:solidFill>
              <a:srgbClr val="F3F5F7"/>
            </a:solidFill>
            <a:prstDash val="solid"/>
          </a:ln>
        </p:spPr>
      </p:sp>
      <p:sp>
        <p:nvSpPr>
          <p:cNvPr id="24" name="Shape 22"/>
          <p:cNvSpPr/>
          <p:nvPr/>
        </p:nvSpPr>
        <p:spPr>
          <a:xfrm>
            <a:off x="8339328" y="1682496"/>
            <a:ext cx="365760" cy="365760"/>
          </a:xfrm>
          <a:prstGeom prst="roundRect">
            <a:avLst>
              <a:gd name="adj" fmla="val 15000"/>
            </a:avLst>
          </a:prstGeom>
          <a:solidFill>
            <a:srgbClr val="2B3A4A"/>
          </a:solidFill>
          <a:ln w="12700">
            <a:solidFill>
              <a:srgbClr val="2B3A4A"/>
            </a:solidFill>
            <a:prstDash val="solid"/>
          </a:ln>
        </p:spPr>
      </p:sp>
      <p:sp>
        <p:nvSpPr>
          <p:cNvPr id="25" name="Text 23"/>
          <p:cNvSpPr/>
          <p:nvPr/>
        </p:nvSpPr>
        <p:spPr>
          <a:xfrm>
            <a:off x="8339328" y="1682496"/>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Q3</a:t>
            </a:r>
            <a:endParaRPr lang="en-US" sz="1150" dirty="0"/>
          </a:p>
        </p:txBody>
      </p:sp>
      <p:sp>
        <p:nvSpPr>
          <p:cNvPr id="26" name="Text 24"/>
          <p:cNvSpPr/>
          <p:nvPr/>
        </p:nvSpPr>
        <p:spPr>
          <a:xfrm>
            <a:off x="8339328" y="2157984"/>
            <a:ext cx="3127248" cy="786384"/>
          </a:xfrm>
          <a:prstGeom prst="rect">
            <a:avLst/>
          </a:prstGeom>
          <a:noFill/>
          <a:ln/>
        </p:spPr>
        <p:txBody>
          <a:bodyPr wrap="square" lIns="0" tIns="0" rIns="0" bIns="0" rtlCol="0" anchor="t"/>
          <a:lstStyle/>
          <a:p>
            <a:pPr indent="0" marL="0">
              <a:lnSpc>
                <a:spcPts val="1900"/>
              </a:lnSpc>
              <a:buNone/>
            </a:pPr>
            <a:r>
              <a:rPr lang="en-US" sz="1350" b="1" dirty="0">
                <a:solidFill>
                  <a:srgbClr val="2B3A4A"/>
                </a:solidFill>
                <a:latin typeface="Meiryo" pitchFamily="34" charset="0"/>
                <a:ea typeface="Meiryo" pitchFamily="34" charset="-122"/>
                <a:cs typeface="Meiryo" pitchFamily="34" charset="-120"/>
              </a:rPr>
              <a:t>なぜ、不確実なまま進めるのか</a:t>
            </a:r>
            <a:endParaRPr lang="en-US" sz="1350" dirty="0"/>
          </a:p>
        </p:txBody>
      </p:sp>
      <p:sp>
        <p:nvSpPr>
          <p:cNvPr id="27" name="Shape 25"/>
          <p:cNvSpPr/>
          <p:nvPr/>
        </p:nvSpPr>
        <p:spPr>
          <a:xfrm>
            <a:off x="8339328" y="2999232"/>
            <a:ext cx="3127248" cy="0"/>
          </a:xfrm>
          <a:prstGeom prst="line">
            <a:avLst/>
          </a:prstGeom>
          <a:noFill/>
          <a:ln w="12700">
            <a:solidFill>
              <a:srgbClr val="CFD8E0"/>
            </a:solidFill>
            <a:prstDash val="solid"/>
          </a:ln>
        </p:spPr>
      </p:sp>
      <p:sp>
        <p:nvSpPr>
          <p:cNvPr id="28" name="Text 26"/>
          <p:cNvSpPr/>
          <p:nvPr/>
        </p:nvSpPr>
        <p:spPr>
          <a:xfrm>
            <a:off x="8339328" y="3145536"/>
            <a:ext cx="3127248" cy="1956816"/>
          </a:xfrm>
          <a:prstGeom prst="rect">
            <a:avLst/>
          </a:prstGeom>
          <a:noFill/>
          <a:ln/>
        </p:spPr>
        <p:txBody>
          <a:bodyPr wrap="square" lIns="0" tIns="0" rIns="0" bIns="0" rtlCol="0" anchor="t"/>
          <a:lstStyle/>
          <a:p>
            <a:pPr indent="0" marL="0">
              <a:lnSpc>
                <a:spcPts val="1700"/>
              </a:lnSpc>
              <a:spcAft>
                <a:spcPts val="800"/>
              </a:spcAft>
              <a:buNone/>
            </a:pPr>
            <a:r>
              <a:rPr lang="en-US" sz="1100" dirty="0">
                <a:solidFill>
                  <a:srgbClr val="1F2933"/>
                </a:solidFill>
                <a:latin typeface="Meiryo" pitchFamily="34" charset="0"/>
                <a:ea typeface="Meiryo" pitchFamily="34" charset="-122"/>
                <a:cs typeface="Meiryo" pitchFamily="34" charset="-120"/>
              </a:rPr>
              <a:t>確実になってから動くことはできない。動かなければ、何も確実にならない。</a:t>
            </a:r>
            <a:endParaRPr lang="en-US" sz="1100" dirty="0"/>
          </a:p>
          <a:p>
            <a:pPr indent="0" marL="0">
              <a:lnSpc>
                <a:spcPts val="1700"/>
              </a:lnSpc>
              <a:buNone/>
            </a:pPr>
            <a:r>
              <a:rPr lang="en-US" sz="1100" dirty="0">
                <a:solidFill>
                  <a:srgbClr val="1F2933"/>
                </a:solidFill>
                <a:latin typeface="Meiryo" pitchFamily="34" charset="0"/>
                <a:ea typeface="Meiryo" pitchFamily="34" charset="-122"/>
                <a:cs typeface="Meiryo" pitchFamily="34" charset="-120"/>
              </a:rPr>
              <a:t>処遇との接続も、その時期も形も、現時点では見えていない。だが1サイクル回すことで、何が可能で何が難しいのかが具体的になる。</a:t>
            </a:r>
            <a:pPr indent="0" marL="0">
              <a:lnSpc>
                <a:spcPts val="1700"/>
              </a:lnSpc>
              <a:buNone/>
            </a:pPr>
            <a:r>
              <a:rPr lang="en-US" sz="1100" b="1" dirty="0">
                <a:solidFill>
                  <a:srgbClr val="2B3A4A"/>
                </a:solidFill>
                <a:latin typeface="Meiryo" pitchFamily="34" charset="0"/>
                <a:ea typeface="Meiryo" pitchFamily="34" charset="-122"/>
                <a:cs typeface="Meiryo" pitchFamily="34" charset="-120"/>
              </a:rPr>
              <a:t>課題を解決可能な粒度まで落とし込むことが、動く目的である。</a:t>
            </a:r>
            <a:endParaRPr lang="en-US" sz="1100" dirty="0"/>
          </a:p>
        </p:txBody>
      </p:sp>
      <p:sp>
        <p:nvSpPr>
          <p:cNvPr id="29" name="Shape 27"/>
          <p:cNvSpPr/>
          <p:nvPr/>
        </p:nvSpPr>
        <p:spPr>
          <a:xfrm>
            <a:off x="8339328" y="5157216"/>
            <a:ext cx="3127248" cy="603504"/>
          </a:xfrm>
          <a:prstGeom prst="roundRect">
            <a:avLst>
              <a:gd name="adj" fmla="val 7576"/>
            </a:avLst>
          </a:prstGeom>
          <a:solidFill>
            <a:srgbClr val="1E2A36"/>
          </a:solidFill>
          <a:ln w="12700">
            <a:solidFill>
              <a:srgbClr val="1E2A36"/>
            </a:solidFill>
            <a:prstDash val="solid"/>
          </a:ln>
        </p:spPr>
      </p:sp>
      <p:sp>
        <p:nvSpPr>
          <p:cNvPr id="30" name="Text 28"/>
          <p:cNvSpPr/>
          <p:nvPr/>
        </p:nvSpPr>
        <p:spPr>
          <a:xfrm>
            <a:off x="8412480" y="5157216"/>
            <a:ext cx="2980944" cy="603504"/>
          </a:xfrm>
          <a:prstGeom prst="rect">
            <a:avLst/>
          </a:prstGeom>
          <a:noFill/>
          <a:ln/>
        </p:spPr>
        <p:txBody>
          <a:bodyPr wrap="square" lIns="0" tIns="0" rIns="0" bIns="0" rtlCol="0" anchor="ctr"/>
          <a:lstStyle/>
          <a:p>
            <a:pPr algn="ctr" indent="0" marL="0">
              <a:lnSpc>
                <a:spcPts val="1500"/>
              </a:lnSpc>
              <a:buNone/>
            </a:pPr>
            <a:r>
              <a:rPr lang="en-US" sz="1150" b="1" dirty="0">
                <a:solidFill>
                  <a:srgbClr val="FFFFFF"/>
                </a:solidFill>
                <a:latin typeface="Meiryo" pitchFamily="34" charset="0"/>
                <a:ea typeface="Meiryo" pitchFamily="34" charset="-122"/>
                <a:cs typeface="Meiryo" pitchFamily="34" charset="-120"/>
              </a:rPr>
              <a:t>課題を解決可能な粒度まで落とし込む</a:t>
            </a:r>
            <a:endParaRPr lang="en-US" sz="1150" dirty="0"/>
          </a:p>
        </p:txBody>
      </p:sp>
      <p:sp>
        <p:nvSpPr>
          <p:cNvPr id="31" name="Text 29"/>
          <p:cNvSpPr/>
          <p:nvPr/>
        </p:nvSpPr>
        <p:spPr>
          <a:xfrm>
            <a:off x="457200" y="6199632"/>
            <a:ext cx="11247120" cy="365760"/>
          </a:xfrm>
          <a:prstGeom prst="rect">
            <a:avLst/>
          </a:prstGeom>
          <a:noFill/>
          <a:ln/>
        </p:spPr>
        <p:txBody>
          <a:bodyPr wrap="square" lIns="0" tIns="0" rIns="0" bIns="0" rtlCol="0" anchor="ctr"/>
          <a:lstStyle/>
          <a:p>
            <a:pPr indent="0" marL="0">
              <a:buNone/>
            </a:pPr>
            <a:r>
              <a:rPr lang="en-US" sz="1150" dirty="0">
                <a:solidFill>
                  <a:srgbClr val="6B7885"/>
                </a:solidFill>
                <a:latin typeface="Meiryo" pitchFamily="34" charset="0"/>
                <a:ea typeface="Meiryo" pitchFamily="34" charset="-122"/>
                <a:cs typeface="Meiryo" pitchFamily="34" charset="-120"/>
              </a:rPr>
              <a:t>いずれの問いも、「測るために測る」のではなく「測り方をつくるために測る」という一点に帰着する。</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20624" cy="420624"/>
          </a:xfrm>
          <a:prstGeom prst="roundRect">
            <a:avLst>
              <a:gd name="adj" fmla="val 13043"/>
            </a:avLst>
          </a:prstGeom>
          <a:solidFill>
            <a:srgbClr val="2B3A4A"/>
          </a:solidFill>
          <a:ln w="12700">
            <a:solidFill>
              <a:srgbClr val="2B3A4A"/>
            </a:solidFill>
            <a:prstDash val="solid"/>
          </a:ln>
        </p:spPr>
      </p:sp>
      <p:sp>
        <p:nvSpPr>
          <p:cNvPr id="3" name="Text 1"/>
          <p:cNvSpPr/>
          <p:nvPr/>
        </p:nvSpPr>
        <p:spPr>
          <a:xfrm>
            <a:off x="457200" y="31089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p:nvPr/>
        </p:nvSpPr>
        <p:spPr>
          <a:xfrm>
            <a:off x="1005840" y="274320"/>
            <a:ext cx="7863840" cy="502920"/>
          </a:xfrm>
          <a:prstGeom prst="rect">
            <a:avLst/>
          </a:prstGeom>
          <a:noFill/>
          <a:ln/>
        </p:spPr>
        <p:txBody>
          <a:bodyPr wrap="square" lIns="0" tIns="0" rIns="0" bIns="0" rtlCol="0" anchor="ctr"/>
          <a:lstStyle/>
          <a:p>
            <a:pPr indent="0" marL="0">
              <a:buNone/>
            </a:pPr>
            <a:r>
              <a:rPr lang="en-US" sz="2300" b="1" dirty="0">
                <a:solidFill>
                  <a:srgbClr val="2B3A4A"/>
                </a:solidFill>
                <a:latin typeface="Meiryo" pitchFamily="34" charset="0"/>
                <a:ea typeface="Meiryo" pitchFamily="34" charset="-122"/>
                <a:cs typeface="Meiryo" pitchFamily="34" charset="-120"/>
              </a:rPr>
              <a:t>本プロジェクトの状態目標</a:t>
            </a:r>
            <a:endParaRPr lang="en-US" sz="2300" dirty="0"/>
          </a:p>
        </p:txBody>
      </p:sp>
      <p:sp>
        <p:nvSpPr>
          <p:cNvPr id="5" name="Text 3"/>
          <p:cNvSpPr/>
          <p:nvPr/>
        </p:nvSpPr>
        <p:spPr>
          <a:xfrm>
            <a:off x="8778240" y="384048"/>
            <a:ext cx="2926080" cy="329184"/>
          </a:xfrm>
          <a:prstGeom prst="rect">
            <a:avLst/>
          </a:prstGeom>
          <a:noFill/>
          <a:ln/>
        </p:spPr>
        <p:txBody>
          <a:bodyPr wrap="square" lIns="0" tIns="0" rIns="0" bIns="0" rtlCol="0" anchor="ctr"/>
          <a:lstStyle/>
          <a:p>
            <a:pPr algn="r" indent="0" marL="0">
              <a:buNone/>
            </a:pPr>
            <a:r>
              <a:rPr lang="en-US" sz="950" dirty="0">
                <a:solidFill>
                  <a:srgbClr val="6B7885"/>
                </a:solidFill>
                <a:latin typeface="Meiryo" pitchFamily="34" charset="0"/>
                <a:ea typeface="Meiryo" pitchFamily="34" charset="-122"/>
                <a:cs typeface="Meiryo" pitchFamily="34" charset="-120"/>
              </a:rPr>
              <a:t>終了時点で満たすべき4つの状態</a:t>
            </a:r>
            <a:endParaRPr lang="en-US" sz="950" dirty="0"/>
          </a:p>
        </p:txBody>
      </p:sp>
      <p:sp>
        <p:nvSpPr>
          <p:cNvPr id="6" name="Shape 4"/>
          <p:cNvSpPr/>
          <p:nvPr/>
        </p:nvSpPr>
        <p:spPr>
          <a:xfrm>
            <a:off x="457200" y="896112"/>
            <a:ext cx="11247120" cy="603504"/>
          </a:xfrm>
          <a:prstGeom prst="roundRect">
            <a:avLst>
              <a:gd name="adj" fmla="val 4545"/>
            </a:avLst>
          </a:prstGeom>
          <a:solidFill>
            <a:srgbClr val="F3F5F7"/>
          </a:solidFill>
          <a:ln w="12700">
            <a:solidFill>
              <a:srgbClr val="F3F5F7"/>
            </a:solidFill>
            <a:prstDash val="solid"/>
          </a:ln>
        </p:spPr>
      </p:sp>
      <p:sp>
        <p:nvSpPr>
          <p:cNvPr id="7" name="Text 5"/>
          <p:cNvSpPr/>
          <p:nvPr/>
        </p:nvSpPr>
        <p:spPr>
          <a:xfrm>
            <a:off x="713232" y="896112"/>
            <a:ext cx="10735056" cy="603504"/>
          </a:xfrm>
          <a:prstGeom prst="rect">
            <a:avLst/>
          </a:prstGeom>
          <a:noFill/>
          <a:ln/>
        </p:spPr>
        <p:txBody>
          <a:bodyPr wrap="square" lIns="0" tIns="0" rIns="0" bIns="0" rtlCol="0" anchor="ctr"/>
          <a:lstStyle/>
          <a:p>
            <a:pPr indent="0" marL="0">
              <a:lnSpc>
                <a:spcPts val="1800"/>
              </a:lnSpc>
              <a:buNone/>
            </a:pPr>
            <a:r>
              <a:rPr lang="en-US" sz="1200" dirty="0">
                <a:solidFill>
                  <a:srgbClr val="1F2933"/>
                </a:solidFill>
                <a:latin typeface="Meiryo" pitchFamily="34" charset="0"/>
                <a:ea typeface="Meiryo" pitchFamily="34" charset="-122"/>
                <a:cs typeface="Meiryo" pitchFamily="34" charset="-120"/>
              </a:rPr>
              <a:t>本プロジェクトは、組織ケイパビリティの可視化そのものを目的としない。目指すのは、</a:t>
            </a:r>
            <a:pPr indent="0" marL="0">
              <a:lnSpc>
                <a:spcPts val="1800"/>
              </a:lnSpc>
              <a:buNone/>
            </a:pPr>
            <a:r>
              <a:rPr lang="en-US" sz="1200" b="1" dirty="0">
                <a:solidFill>
                  <a:srgbClr val="2B3A4A"/>
                </a:solidFill>
                <a:latin typeface="Meiryo" pitchFamily="34" charset="0"/>
                <a:ea typeface="Meiryo" pitchFamily="34" charset="-122"/>
                <a:cs typeface="Meiryo" pitchFamily="34" charset="-120"/>
              </a:rPr>
              <a:t>次のサイクルを設計できる状態に到達すること</a:t>
            </a:r>
            <a:pPr indent="0" marL="0">
              <a:lnSpc>
                <a:spcPts val="1800"/>
              </a:lnSpc>
              <a:buNone/>
            </a:pPr>
            <a:r>
              <a:rPr lang="en-US" sz="1200" dirty="0">
                <a:solidFill>
                  <a:srgbClr val="1F2933"/>
                </a:solidFill>
                <a:latin typeface="Meiryo" pitchFamily="34" charset="0"/>
                <a:ea typeface="Meiryo" pitchFamily="34" charset="-122"/>
                <a:cs typeface="Meiryo" pitchFamily="34" charset="-120"/>
              </a:rPr>
              <a:t>である。以下の4つの状態を、本プロジェクトの終了時点で満たすことを目標とする。</a:t>
            </a:r>
            <a:endParaRPr lang="en-US" sz="1200" dirty="0"/>
          </a:p>
        </p:txBody>
      </p:sp>
      <p:sp>
        <p:nvSpPr>
          <p:cNvPr id="8" name="Shape 6"/>
          <p:cNvSpPr/>
          <p:nvPr/>
        </p:nvSpPr>
        <p:spPr>
          <a:xfrm>
            <a:off x="457200" y="1591056"/>
            <a:ext cx="11247120" cy="256032"/>
          </a:xfrm>
          <a:prstGeom prst="roundRect">
            <a:avLst>
              <a:gd name="adj" fmla="val 10714"/>
            </a:avLst>
          </a:prstGeom>
          <a:solidFill>
            <a:srgbClr val="E9EDF1"/>
          </a:solidFill>
          <a:ln w="12700">
            <a:solidFill>
              <a:srgbClr val="E9EDF1"/>
            </a:solidFill>
            <a:prstDash val="solid"/>
          </a:ln>
        </p:spPr>
      </p:sp>
      <p:sp>
        <p:nvSpPr>
          <p:cNvPr id="9" name="Text 7"/>
          <p:cNvSpPr/>
          <p:nvPr/>
        </p:nvSpPr>
        <p:spPr>
          <a:xfrm>
            <a:off x="658368" y="1591056"/>
            <a:ext cx="2395728" cy="256032"/>
          </a:xfrm>
          <a:prstGeom prst="rect">
            <a:avLst/>
          </a:prstGeom>
          <a:noFill/>
          <a:ln/>
        </p:spPr>
        <p:txBody>
          <a:bodyPr wrap="square" lIns="0" tIns="0" rIns="0" bIns="0" rtlCol="0" anchor="ctr"/>
          <a:lstStyle/>
          <a:p>
            <a:pPr indent="0" marL="0">
              <a:buNone/>
            </a:pPr>
            <a:r>
              <a:rPr lang="en-US" sz="950" b="1" spc="100" kern="0" dirty="0">
                <a:solidFill>
                  <a:srgbClr val="6B7885"/>
                </a:solidFill>
                <a:latin typeface="Meiryo" pitchFamily="34" charset="0"/>
                <a:ea typeface="Meiryo" pitchFamily="34" charset="-122"/>
                <a:cs typeface="Meiryo" pitchFamily="34" charset="-120"/>
              </a:rPr>
              <a:t>状態目標</a:t>
            </a:r>
            <a:endParaRPr lang="en-US" sz="950" dirty="0"/>
          </a:p>
        </p:txBody>
      </p:sp>
      <p:sp>
        <p:nvSpPr>
          <p:cNvPr id="10" name="Text 8"/>
          <p:cNvSpPr/>
          <p:nvPr/>
        </p:nvSpPr>
        <p:spPr>
          <a:xfrm>
            <a:off x="2980944" y="1591056"/>
            <a:ext cx="4718304" cy="256032"/>
          </a:xfrm>
          <a:prstGeom prst="rect">
            <a:avLst/>
          </a:prstGeom>
          <a:noFill/>
          <a:ln/>
        </p:spPr>
        <p:txBody>
          <a:bodyPr wrap="square" lIns="0" tIns="0" rIns="0" bIns="0" rtlCol="0" anchor="ctr"/>
          <a:lstStyle/>
          <a:p>
            <a:pPr indent="0" marL="0">
              <a:buNone/>
            </a:pPr>
            <a:r>
              <a:rPr lang="en-US" sz="950" b="1" spc="100" kern="0" dirty="0">
                <a:solidFill>
                  <a:srgbClr val="6B7885"/>
                </a:solidFill>
                <a:latin typeface="Meiryo" pitchFamily="34" charset="0"/>
                <a:ea typeface="Meiryo" pitchFamily="34" charset="-122"/>
                <a:cs typeface="Meiryo" pitchFamily="34" charset="-120"/>
              </a:rPr>
              <a:t>到達したい状態</a:t>
            </a:r>
            <a:endParaRPr lang="en-US" sz="950" dirty="0"/>
          </a:p>
        </p:txBody>
      </p:sp>
      <p:sp>
        <p:nvSpPr>
          <p:cNvPr id="11" name="Text 9"/>
          <p:cNvSpPr/>
          <p:nvPr/>
        </p:nvSpPr>
        <p:spPr>
          <a:xfrm>
            <a:off x="7808976" y="1591056"/>
            <a:ext cx="3913632" cy="256032"/>
          </a:xfrm>
          <a:prstGeom prst="rect">
            <a:avLst/>
          </a:prstGeom>
          <a:noFill/>
          <a:ln/>
        </p:spPr>
        <p:txBody>
          <a:bodyPr wrap="square" lIns="0" tIns="0" rIns="0" bIns="0" rtlCol="0" anchor="ctr"/>
          <a:lstStyle/>
          <a:p>
            <a:pPr indent="0" marL="0">
              <a:buNone/>
            </a:pPr>
            <a:r>
              <a:rPr lang="en-US" sz="950" b="1" spc="100" kern="0" dirty="0">
                <a:solidFill>
                  <a:srgbClr val="5A7D9A"/>
                </a:solidFill>
                <a:latin typeface="Meiryo" pitchFamily="34" charset="0"/>
                <a:ea typeface="Meiryo" pitchFamily="34" charset="-122"/>
                <a:cs typeface="Meiryo" pitchFamily="34" charset="-120"/>
              </a:rPr>
              <a:t>主な成果物</a:t>
            </a:r>
            <a:endParaRPr lang="en-US" sz="950" dirty="0"/>
          </a:p>
        </p:txBody>
      </p:sp>
      <p:sp>
        <p:nvSpPr>
          <p:cNvPr id="12" name="Shape 10"/>
          <p:cNvSpPr/>
          <p:nvPr/>
        </p:nvSpPr>
        <p:spPr>
          <a:xfrm>
            <a:off x="457200" y="1920240"/>
            <a:ext cx="11247120" cy="1005840"/>
          </a:xfrm>
          <a:prstGeom prst="roundRect">
            <a:avLst>
              <a:gd name="adj" fmla="val 2727"/>
            </a:avLst>
          </a:prstGeom>
          <a:solidFill>
            <a:srgbClr val="F3F5F7"/>
          </a:solidFill>
          <a:ln w="12700">
            <a:solidFill>
              <a:srgbClr val="F3F5F7"/>
            </a:solidFill>
            <a:prstDash val="solid"/>
          </a:ln>
        </p:spPr>
      </p:sp>
      <p:sp>
        <p:nvSpPr>
          <p:cNvPr id="13" name="Shape 11"/>
          <p:cNvSpPr/>
          <p:nvPr/>
        </p:nvSpPr>
        <p:spPr>
          <a:xfrm>
            <a:off x="658368" y="2103120"/>
            <a:ext cx="274320" cy="274320"/>
          </a:xfrm>
          <a:prstGeom prst="roundRect">
            <a:avLst>
              <a:gd name="adj" fmla="val 20000"/>
            </a:avLst>
          </a:prstGeom>
          <a:solidFill>
            <a:srgbClr val="2B3A4A"/>
          </a:solidFill>
          <a:ln w="12700">
            <a:solidFill>
              <a:srgbClr val="2B3A4A"/>
            </a:solidFill>
            <a:prstDash val="solid"/>
          </a:ln>
        </p:spPr>
      </p:sp>
      <p:sp>
        <p:nvSpPr>
          <p:cNvPr id="14" name="Text 12"/>
          <p:cNvSpPr/>
          <p:nvPr/>
        </p:nvSpPr>
        <p:spPr>
          <a:xfrm>
            <a:off x="658368" y="21031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58368" y="2432304"/>
            <a:ext cx="2103120" cy="365760"/>
          </a:xfrm>
          <a:prstGeom prst="rect">
            <a:avLst/>
          </a:prstGeom>
          <a:noFill/>
          <a:ln/>
        </p:spPr>
        <p:txBody>
          <a:bodyPr wrap="square" lIns="0" tIns="0" rIns="0" bIns="0" rtlCol="0" anchor="t"/>
          <a:lstStyle/>
          <a:p>
            <a:pPr indent="0" marL="0">
              <a:lnSpc>
                <a:spcPts val="1400"/>
              </a:lnSpc>
              <a:buNone/>
            </a:pPr>
            <a:r>
              <a:rPr lang="en-US" sz="1050" b="1" dirty="0">
                <a:solidFill>
                  <a:srgbClr val="2B3A4A"/>
                </a:solidFill>
                <a:latin typeface="Meiryo" pitchFamily="34" charset="0"/>
                <a:ea typeface="Meiryo" pitchFamily="34" charset="-122"/>
                <a:cs typeface="Meiryo" pitchFamily="34" charset="-120"/>
              </a:rPr>
              <a:t>1サイクルを完走した実績がある</a:t>
            </a:r>
            <a:endParaRPr lang="en-US" sz="1050" dirty="0"/>
          </a:p>
        </p:txBody>
      </p:sp>
      <p:sp>
        <p:nvSpPr>
          <p:cNvPr id="16" name="Text 14"/>
          <p:cNvSpPr/>
          <p:nvPr/>
        </p:nvSpPr>
        <p:spPr>
          <a:xfrm>
            <a:off x="2962656" y="2066544"/>
            <a:ext cx="4718304" cy="731520"/>
          </a:xfrm>
          <a:prstGeom prst="rect">
            <a:avLst/>
          </a:prstGeom>
          <a:noFill/>
          <a:ln/>
        </p:spPr>
        <p:txBody>
          <a:bodyPr wrap="square" lIns="0" tIns="0" rIns="0" bIns="0" rtlCol="0" anchor="t"/>
          <a:lstStyle/>
          <a:p>
            <a:pPr indent="0" marL="0">
              <a:lnSpc>
                <a:spcPts val="1120"/>
              </a:lnSpc>
              <a:spcAft>
                <a:spcPts val="400"/>
              </a:spcAft>
              <a:buNone/>
            </a:pPr>
            <a:r>
              <a:rPr lang="en-US" sz="800" dirty="0">
                <a:solidFill>
                  <a:srgbClr val="1F2933"/>
                </a:solidFill>
                <a:latin typeface="Meiryo" pitchFamily="34" charset="0"/>
                <a:ea typeface="Meiryo" pitchFamily="34" charset="-122"/>
                <a:cs typeface="Meiryo" pitchFamily="34" charset="-120"/>
              </a:rPr>
              <a:t>対象ジョブロールについて、軸の翻訳から、アセスメントの実施、結果の集約、振り返りまでを、実際に一巡させている。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途中で止まらず、最後まで通した経験が組織内にある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各工程で何にどれだけ時間がかかったかが記録されている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誰が何を担い、どこにボトルネックがあったかが明らかになっている</a:t>
            </a:r>
            <a:endParaRPr lang="en-US" sz="800" dirty="0"/>
          </a:p>
        </p:txBody>
      </p:sp>
      <p:sp>
        <p:nvSpPr>
          <p:cNvPr id="17" name="Text 15"/>
          <p:cNvSpPr/>
          <p:nvPr/>
        </p:nvSpPr>
        <p:spPr>
          <a:xfrm>
            <a:off x="7790688" y="2066544"/>
            <a:ext cx="3913632" cy="731520"/>
          </a:xfrm>
          <a:prstGeom prst="rect">
            <a:avLst/>
          </a:prstGeom>
          <a:noFill/>
          <a:ln/>
        </p:spPr>
        <p:txBody>
          <a:bodyPr wrap="square" lIns="0" tIns="0" rIns="0" bIns="0" rtlCol="0" anchor="t"/>
          <a:lstStyle/>
          <a:p>
            <a:pPr marL="127000" indent="-127000">
              <a:lnSpc>
                <a:spcPts val="1120"/>
              </a:lnSpc>
              <a:spcAft>
                <a:spcPts val="200"/>
              </a:spcAft>
              <a:buSzPct val="100000"/>
              <a:buChar char="▪"/>
            </a:pPr>
            <a:r>
              <a:rPr lang="en-US" sz="800" dirty="0">
                <a:solidFill>
                  <a:srgbClr val="1F2933"/>
                </a:solidFill>
                <a:latin typeface="Meiryo" pitchFamily="34" charset="0"/>
                <a:ea typeface="Meiryo" pitchFamily="34" charset="-122"/>
                <a:cs typeface="Meiryo" pitchFamily="34" charset="-120"/>
              </a:rPr>
              <a:t>実施記録（工程別の所要期間、関与者、発生した問題と対処）</a:t>
            </a:r>
            <a:endParaRPr lang="en-US" sz="800" dirty="0"/>
          </a:p>
          <a:p>
            <a:pPr marL="127000" indent="-127000">
              <a:lnSpc>
                <a:spcPts val="1120"/>
              </a:lnSpc>
              <a:spcAft>
                <a:spcPts val="200"/>
              </a:spcAft>
              <a:buSzPct val="100000"/>
              <a:buChar char="▪"/>
            </a:pPr>
            <a:r>
              <a:rPr lang="en-US" sz="800" dirty="0">
                <a:solidFill>
                  <a:srgbClr val="1F2933"/>
                </a:solidFill>
                <a:latin typeface="Meiryo" pitchFamily="34" charset="0"/>
                <a:ea typeface="Meiryo" pitchFamily="34" charset="-122"/>
                <a:cs typeface="Meiryo" pitchFamily="34" charset="-120"/>
              </a:rPr>
              <a:t>振り返り結果（ボトルネックの特定、次サイクルへの申し送り事項）</a:t>
            </a:r>
            <a:endParaRPr lang="en-US" sz="800" dirty="0"/>
          </a:p>
        </p:txBody>
      </p:sp>
      <p:sp>
        <p:nvSpPr>
          <p:cNvPr id="18" name="Shape 16"/>
          <p:cNvSpPr/>
          <p:nvPr/>
        </p:nvSpPr>
        <p:spPr>
          <a:xfrm>
            <a:off x="457200" y="3035808"/>
            <a:ext cx="11247120" cy="1115568"/>
          </a:xfrm>
          <a:prstGeom prst="roundRect">
            <a:avLst>
              <a:gd name="adj" fmla="val 2459"/>
            </a:avLst>
          </a:prstGeom>
          <a:solidFill>
            <a:srgbClr val="F3F5F7"/>
          </a:solidFill>
          <a:ln w="12700">
            <a:solidFill>
              <a:srgbClr val="F3F5F7"/>
            </a:solidFill>
            <a:prstDash val="solid"/>
          </a:ln>
        </p:spPr>
      </p:sp>
      <p:sp>
        <p:nvSpPr>
          <p:cNvPr id="19" name="Shape 17"/>
          <p:cNvSpPr/>
          <p:nvPr/>
        </p:nvSpPr>
        <p:spPr>
          <a:xfrm>
            <a:off x="658368" y="3218688"/>
            <a:ext cx="274320" cy="274320"/>
          </a:xfrm>
          <a:prstGeom prst="roundRect">
            <a:avLst>
              <a:gd name="adj" fmla="val 20000"/>
            </a:avLst>
          </a:prstGeom>
          <a:solidFill>
            <a:srgbClr val="2B3A4A"/>
          </a:solidFill>
          <a:ln w="12700">
            <a:solidFill>
              <a:srgbClr val="2B3A4A"/>
            </a:solidFill>
            <a:prstDash val="solid"/>
          </a:ln>
        </p:spPr>
      </p:sp>
      <p:sp>
        <p:nvSpPr>
          <p:cNvPr id="20" name="Text 18"/>
          <p:cNvSpPr/>
          <p:nvPr/>
        </p:nvSpPr>
        <p:spPr>
          <a:xfrm>
            <a:off x="658368" y="32186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Text 19"/>
          <p:cNvSpPr/>
          <p:nvPr/>
        </p:nvSpPr>
        <p:spPr>
          <a:xfrm>
            <a:off x="658368" y="3547872"/>
            <a:ext cx="2103120" cy="475488"/>
          </a:xfrm>
          <a:prstGeom prst="rect">
            <a:avLst/>
          </a:prstGeom>
          <a:noFill/>
          <a:ln/>
        </p:spPr>
        <p:txBody>
          <a:bodyPr wrap="square" lIns="0" tIns="0" rIns="0" bIns="0" rtlCol="0" anchor="t"/>
          <a:lstStyle/>
          <a:p>
            <a:pPr indent="0" marL="0">
              <a:lnSpc>
                <a:spcPts val="1400"/>
              </a:lnSpc>
              <a:buNone/>
            </a:pPr>
            <a:r>
              <a:rPr lang="en-US" sz="1050" b="1" dirty="0">
                <a:solidFill>
                  <a:srgbClr val="2B3A4A"/>
                </a:solidFill>
                <a:latin typeface="Meiryo" pitchFamily="34" charset="0"/>
                <a:ea typeface="Meiryo" pitchFamily="34" charset="-122"/>
                <a:cs typeface="Meiryo" pitchFamily="34" charset="-120"/>
              </a:rPr>
              <a:t>標準を自社に翻訳する方法が、手順として言語化されている</a:t>
            </a:r>
            <a:endParaRPr lang="en-US" sz="1050" dirty="0"/>
          </a:p>
        </p:txBody>
      </p:sp>
      <p:sp>
        <p:nvSpPr>
          <p:cNvPr id="22" name="Text 20"/>
          <p:cNvSpPr/>
          <p:nvPr/>
        </p:nvSpPr>
        <p:spPr>
          <a:xfrm>
            <a:off x="2962656" y="3182112"/>
            <a:ext cx="4718304" cy="841248"/>
          </a:xfrm>
          <a:prstGeom prst="rect">
            <a:avLst/>
          </a:prstGeom>
          <a:noFill/>
          <a:ln/>
        </p:spPr>
        <p:txBody>
          <a:bodyPr wrap="square" lIns="0" tIns="0" rIns="0" bIns="0" rtlCol="0" anchor="t"/>
          <a:lstStyle/>
          <a:p>
            <a:pPr indent="0" marL="0">
              <a:lnSpc>
                <a:spcPts val="1120"/>
              </a:lnSpc>
              <a:spcAft>
                <a:spcPts val="400"/>
              </a:spcAft>
              <a:buNone/>
            </a:pPr>
            <a:r>
              <a:rPr lang="en-US" sz="800" dirty="0">
                <a:solidFill>
                  <a:srgbClr val="1F2933"/>
                </a:solidFill>
                <a:latin typeface="Meiryo" pitchFamily="34" charset="0"/>
                <a:ea typeface="Meiryo" pitchFamily="34" charset="-122"/>
                <a:cs typeface="Meiryo" pitchFamily="34" charset="-120"/>
              </a:rPr>
              <a:t>SFIA等の標準を自社の言葉に落とし込む作業が、属人的な試行錯誤ではなく、再現可能な手順として整理されている。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どこまでを標準に依拠し、どこから自社語にするか、線引きの基準が定まっている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翻訳の議論を誰とどう進めるか、進め方が定型化している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翻訳結果をどう合意し、承認するかのプロセスが定まっている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軸を改訂する際のトリガーと頻度について、方針が示されている</a:t>
            </a:r>
            <a:endParaRPr lang="en-US" sz="800" dirty="0"/>
          </a:p>
        </p:txBody>
      </p:sp>
      <p:sp>
        <p:nvSpPr>
          <p:cNvPr id="23" name="Text 21"/>
          <p:cNvSpPr/>
          <p:nvPr/>
        </p:nvSpPr>
        <p:spPr>
          <a:xfrm>
            <a:off x="7790688" y="3182112"/>
            <a:ext cx="3913632" cy="841248"/>
          </a:xfrm>
          <a:prstGeom prst="rect">
            <a:avLst/>
          </a:prstGeom>
          <a:noFill/>
          <a:ln/>
        </p:spPr>
        <p:txBody>
          <a:bodyPr wrap="square" lIns="0" tIns="0" rIns="0" bIns="0" rtlCol="0" anchor="t"/>
          <a:lstStyle/>
          <a:p>
            <a:pPr marL="127000" indent="-127000">
              <a:lnSpc>
                <a:spcPts val="1120"/>
              </a:lnSpc>
              <a:spcAft>
                <a:spcPts val="200"/>
              </a:spcAft>
              <a:buSzPct val="100000"/>
              <a:buChar char="▪"/>
            </a:pPr>
            <a:r>
              <a:rPr lang="en-US" sz="800" dirty="0">
                <a:solidFill>
                  <a:srgbClr val="1F2933"/>
                </a:solidFill>
                <a:latin typeface="Meiryo" pitchFamily="34" charset="0"/>
                <a:ea typeface="Meiryo" pitchFamily="34" charset="-122"/>
                <a:cs typeface="Meiryo" pitchFamily="34" charset="-120"/>
              </a:rPr>
              <a:t>翻訳作業手順書（進め方、参加者、合意プロセス、所要工数の実績値）</a:t>
            </a:r>
            <a:endParaRPr lang="en-US" sz="800" dirty="0"/>
          </a:p>
          <a:p>
            <a:pPr marL="127000" indent="-127000">
              <a:lnSpc>
                <a:spcPts val="1120"/>
              </a:lnSpc>
              <a:spcAft>
                <a:spcPts val="200"/>
              </a:spcAft>
              <a:buSzPct val="100000"/>
              <a:buChar char="▪"/>
            </a:pPr>
            <a:r>
              <a:rPr lang="en-US" sz="800" dirty="0">
                <a:solidFill>
                  <a:srgbClr val="1F2933"/>
                </a:solidFill>
                <a:latin typeface="Meiryo" pitchFamily="34" charset="0"/>
                <a:ea typeface="Meiryo" pitchFamily="34" charset="-122"/>
                <a:cs typeface="Meiryo" pitchFamily="34" charset="-120"/>
              </a:rPr>
              <a:t>標準と自社語の線引き基準</a:t>
            </a:r>
            <a:endParaRPr lang="en-US" sz="800" dirty="0"/>
          </a:p>
          <a:p>
            <a:pPr marL="127000" indent="-127000">
              <a:lnSpc>
                <a:spcPts val="1120"/>
              </a:lnSpc>
              <a:spcAft>
                <a:spcPts val="200"/>
              </a:spcAft>
              <a:buSzPct val="100000"/>
              <a:buChar char="▪"/>
            </a:pPr>
            <a:r>
              <a:rPr lang="en-US" sz="800" dirty="0">
                <a:solidFill>
                  <a:srgbClr val="1F2933"/>
                </a:solidFill>
                <a:latin typeface="Meiryo" pitchFamily="34" charset="0"/>
                <a:ea typeface="Meiryo" pitchFamily="34" charset="-122"/>
                <a:cs typeface="Meiryo" pitchFamily="34" charset="-120"/>
              </a:rPr>
              <a:t>対象ジョブロールのスキル定義（翻訳済み）</a:t>
            </a:r>
            <a:endParaRPr lang="en-US" sz="800" dirty="0"/>
          </a:p>
          <a:p>
            <a:pPr marL="127000" indent="-127000">
              <a:lnSpc>
                <a:spcPts val="1120"/>
              </a:lnSpc>
              <a:spcAft>
                <a:spcPts val="200"/>
              </a:spcAft>
              <a:buSzPct val="100000"/>
              <a:buChar char="▪"/>
            </a:pPr>
            <a:r>
              <a:rPr lang="en-US" sz="800" dirty="0">
                <a:solidFill>
                  <a:srgbClr val="1F2933"/>
                </a:solidFill>
                <a:latin typeface="Meiryo" pitchFamily="34" charset="0"/>
                <a:ea typeface="Meiryo" pitchFamily="34" charset="-122"/>
                <a:cs typeface="Meiryo" pitchFamily="34" charset="-120"/>
              </a:rPr>
              <a:t>軸の改訂方針（トリガー、頻度、改訂プロセス）</a:t>
            </a:r>
            <a:endParaRPr lang="en-US" sz="800" dirty="0"/>
          </a:p>
        </p:txBody>
      </p:sp>
      <p:sp>
        <p:nvSpPr>
          <p:cNvPr id="24" name="Shape 22"/>
          <p:cNvSpPr/>
          <p:nvPr/>
        </p:nvSpPr>
        <p:spPr>
          <a:xfrm>
            <a:off x="457200" y="4261104"/>
            <a:ext cx="11247120" cy="1115568"/>
          </a:xfrm>
          <a:prstGeom prst="roundRect">
            <a:avLst>
              <a:gd name="adj" fmla="val 2459"/>
            </a:avLst>
          </a:prstGeom>
          <a:solidFill>
            <a:srgbClr val="F3F5F7"/>
          </a:solidFill>
          <a:ln w="12700">
            <a:solidFill>
              <a:srgbClr val="F3F5F7"/>
            </a:solidFill>
            <a:prstDash val="solid"/>
          </a:ln>
        </p:spPr>
      </p:sp>
      <p:sp>
        <p:nvSpPr>
          <p:cNvPr id="25" name="Shape 23"/>
          <p:cNvSpPr/>
          <p:nvPr/>
        </p:nvSpPr>
        <p:spPr>
          <a:xfrm>
            <a:off x="658368" y="4443984"/>
            <a:ext cx="274320" cy="274320"/>
          </a:xfrm>
          <a:prstGeom prst="roundRect">
            <a:avLst>
              <a:gd name="adj" fmla="val 20000"/>
            </a:avLst>
          </a:prstGeom>
          <a:solidFill>
            <a:srgbClr val="2B3A4A"/>
          </a:solidFill>
          <a:ln w="12700">
            <a:solidFill>
              <a:srgbClr val="2B3A4A"/>
            </a:solidFill>
            <a:prstDash val="solid"/>
          </a:ln>
        </p:spPr>
      </p:sp>
      <p:sp>
        <p:nvSpPr>
          <p:cNvPr id="26" name="Text 24"/>
          <p:cNvSpPr/>
          <p:nvPr/>
        </p:nvSpPr>
        <p:spPr>
          <a:xfrm>
            <a:off x="658368" y="44439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Text 25"/>
          <p:cNvSpPr/>
          <p:nvPr/>
        </p:nvSpPr>
        <p:spPr>
          <a:xfrm>
            <a:off x="658368" y="4773168"/>
            <a:ext cx="2103120" cy="475488"/>
          </a:xfrm>
          <a:prstGeom prst="rect">
            <a:avLst/>
          </a:prstGeom>
          <a:noFill/>
          <a:ln/>
        </p:spPr>
        <p:txBody>
          <a:bodyPr wrap="square" lIns="0" tIns="0" rIns="0" bIns="0" rtlCol="0" anchor="t"/>
          <a:lstStyle/>
          <a:p>
            <a:pPr indent="0" marL="0">
              <a:lnSpc>
                <a:spcPts val="1400"/>
              </a:lnSpc>
              <a:buNone/>
            </a:pPr>
            <a:r>
              <a:rPr lang="en-US" sz="1050" b="1" dirty="0">
                <a:solidFill>
                  <a:srgbClr val="2B3A4A"/>
                </a:solidFill>
                <a:latin typeface="Meiryo" pitchFamily="34" charset="0"/>
                <a:ea typeface="Meiryo" pitchFamily="34" charset="-122"/>
                <a:cs typeface="Meiryo" pitchFamily="34" charset="-120"/>
              </a:rPr>
              <a:t>アセスメントの実施方法について、有効な形と限界が判明している</a:t>
            </a:r>
            <a:endParaRPr lang="en-US" sz="1050" dirty="0"/>
          </a:p>
        </p:txBody>
      </p:sp>
      <p:sp>
        <p:nvSpPr>
          <p:cNvPr id="28" name="Text 26"/>
          <p:cNvSpPr/>
          <p:nvPr/>
        </p:nvSpPr>
        <p:spPr>
          <a:xfrm>
            <a:off x="2962656" y="4407408"/>
            <a:ext cx="4718304" cy="841248"/>
          </a:xfrm>
          <a:prstGeom prst="rect">
            <a:avLst/>
          </a:prstGeom>
          <a:noFill/>
          <a:ln/>
        </p:spPr>
        <p:txBody>
          <a:bodyPr wrap="square" lIns="0" tIns="0" rIns="0" bIns="0" rtlCol="0" anchor="t"/>
          <a:lstStyle/>
          <a:p>
            <a:pPr indent="0" marL="0">
              <a:lnSpc>
                <a:spcPts val="1120"/>
              </a:lnSpc>
              <a:spcAft>
                <a:spcPts val="400"/>
              </a:spcAft>
              <a:buNone/>
            </a:pPr>
            <a:r>
              <a:rPr lang="en-US" sz="800" dirty="0">
                <a:solidFill>
                  <a:srgbClr val="1F2933"/>
                </a:solidFill>
                <a:latin typeface="Meiryo" pitchFamily="34" charset="0"/>
                <a:ea typeface="Meiryo" pitchFamily="34" charset="-122"/>
                <a:cs typeface="Meiryo" pitchFamily="34" charset="-120"/>
              </a:rPr>
              <a:t>本人・管理者・第三者による多面実施を通じて、測り方に関する知見が得られている。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評価者間でどの程度のずれが生じるか、実測値がある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ずれの原因が、記述の曖昧さ、レベル定義の不明瞭さ、評価者の目線差のいずれに起因するか、分類されている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自己申告のみで足りる項目と、第三者の目が必要な項目の区別がついている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一人あたりの所要時間、評価者の負荷が実測されている</a:t>
            </a:r>
            <a:endParaRPr lang="en-US" sz="800" dirty="0"/>
          </a:p>
        </p:txBody>
      </p:sp>
      <p:sp>
        <p:nvSpPr>
          <p:cNvPr id="29" name="Text 27"/>
          <p:cNvSpPr/>
          <p:nvPr/>
        </p:nvSpPr>
        <p:spPr>
          <a:xfrm>
            <a:off x="7790688" y="4407408"/>
            <a:ext cx="3913632" cy="841248"/>
          </a:xfrm>
          <a:prstGeom prst="rect">
            <a:avLst/>
          </a:prstGeom>
          <a:noFill/>
          <a:ln/>
        </p:spPr>
        <p:txBody>
          <a:bodyPr wrap="square" lIns="0" tIns="0" rIns="0" bIns="0" rtlCol="0" anchor="t"/>
          <a:lstStyle/>
          <a:p>
            <a:pPr marL="127000" indent="-127000">
              <a:lnSpc>
                <a:spcPts val="1120"/>
              </a:lnSpc>
              <a:spcAft>
                <a:spcPts val="200"/>
              </a:spcAft>
              <a:buSzPct val="100000"/>
              <a:buChar char="▪"/>
            </a:pPr>
            <a:r>
              <a:rPr lang="en-US" sz="800" dirty="0">
                <a:solidFill>
                  <a:srgbClr val="1F2933"/>
                </a:solidFill>
                <a:latin typeface="Meiryo" pitchFamily="34" charset="0"/>
                <a:ea typeface="Meiryo" pitchFamily="34" charset="-122"/>
                <a:cs typeface="Meiryo" pitchFamily="34" charset="-120"/>
              </a:rPr>
              <a:t>アセスメント実施要領（評価者の範囲、実施手順、所要時間の実績値）</a:t>
            </a:r>
            <a:endParaRPr lang="en-US" sz="800" dirty="0"/>
          </a:p>
          <a:p>
            <a:pPr marL="127000" indent="-127000">
              <a:lnSpc>
                <a:spcPts val="1120"/>
              </a:lnSpc>
              <a:spcAft>
                <a:spcPts val="200"/>
              </a:spcAft>
              <a:buSzPct val="100000"/>
              <a:buChar char="▪"/>
            </a:pPr>
            <a:r>
              <a:rPr lang="en-US" sz="800" dirty="0">
                <a:solidFill>
                  <a:srgbClr val="1F2933"/>
                </a:solidFill>
                <a:latin typeface="Meiryo" pitchFamily="34" charset="0"/>
                <a:ea typeface="Meiryo" pitchFamily="34" charset="-122"/>
                <a:cs typeface="Meiryo" pitchFamily="34" charset="-120"/>
              </a:rPr>
              <a:t>評価者間差異の分析結果（ずれの大きい項目、原因分類）</a:t>
            </a:r>
            <a:endParaRPr lang="en-US" sz="800" dirty="0"/>
          </a:p>
          <a:p>
            <a:pPr marL="127000" indent="-127000">
              <a:lnSpc>
                <a:spcPts val="1120"/>
              </a:lnSpc>
              <a:spcAft>
                <a:spcPts val="200"/>
              </a:spcAft>
              <a:buSzPct val="100000"/>
              <a:buChar char="▪"/>
            </a:pPr>
            <a:r>
              <a:rPr lang="en-US" sz="800" dirty="0">
                <a:solidFill>
                  <a:srgbClr val="1F2933"/>
                </a:solidFill>
                <a:latin typeface="Meiryo" pitchFamily="34" charset="0"/>
                <a:ea typeface="Meiryo" pitchFamily="34" charset="-122"/>
                <a:cs typeface="Meiryo" pitchFamily="34" charset="-120"/>
              </a:rPr>
              <a:t>スキル定義およびレベル定義の改訂案</a:t>
            </a:r>
            <a:endParaRPr lang="en-US" sz="800" dirty="0"/>
          </a:p>
          <a:p>
            <a:pPr marL="127000" indent="-127000">
              <a:lnSpc>
                <a:spcPts val="1120"/>
              </a:lnSpc>
              <a:spcAft>
                <a:spcPts val="200"/>
              </a:spcAft>
              <a:buSzPct val="100000"/>
              <a:buChar char="▪"/>
            </a:pPr>
            <a:r>
              <a:rPr lang="en-US" sz="800" dirty="0">
                <a:solidFill>
                  <a:srgbClr val="1F2933"/>
                </a:solidFill>
                <a:latin typeface="Meiryo" pitchFamily="34" charset="0"/>
                <a:ea typeface="Meiryo" pitchFamily="34" charset="-122"/>
                <a:cs typeface="Meiryo" pitchFamily="34" charset="-120"/>
              </a:rPr>
              <a:t>次サイクルにおける評価者構成の提案</a:t>
            </a:r>
            <a:endParaRPr lang="en-US" sz="800" dirty="0"/>
          </a:p>
        </p:txBody>
      </p:sp>
      <p:sp>
        <p:nvSpPr>
          <p:cNvPr id="30" name="Shape 28"/>
          <p:cNvSpPr/>
          <p:nvPr/>
        </p:nvSpPr>
        <p:spPr>
          <a:xfrm>
            <a:off x="457200" y="5486400"/>
            <a:ext cx="11247120" cy="1051560"/>
          </a:xfrm>
          <a:prstGeom prst="roundRect">
            <a:avLst>
              <a:gd name="adj" fmla="val 2609"/>
            </a:avLst>
          </a:prstGeom>
          <a:solidFill>
            <a:srgbClr val="F3F5F7"/>
          </a:solidFill>
          <a:ln w="12700">
            <a:solidFill>
              <a:srgbClr val="F3F5F7"/>
            </a:solidFill>
            <a:prstDash val="solid"/>
          </a:ln>
        </p:spPr>
      </p:sp>
      <p:sp>
        <p:nvSpPr>
          <p:cNvPr id="31" name="Shape 29"/>
          <p:cNvSpPr/>
          <p:nvPr/>
        </p:nvSpPr>
        <p:spPr>
          <a:xfrm>
            <a:off x="658368" y="5669280"/>
            <a:ext cx="274320" cy="274320"/>
          </a:xfrm>
          <a:prstGeom prst="roundRect">
            <a:avLst>
              <a:gd name="adj" fmla="val 20000"/>
            </a:avLst>
          </a:prstGeom>
          <a:solidFill>
            <a:srgbClr val="2B3A4A"/>
          </a:solidFill>
          <a:ln w="12700">
            <a:solidFill>
              <a:srgbClr val="2B3A4A"/>
            </a:solidFill>
            <a:prstDash val="solid"/>
          </a:ln>
        </p:spPr>
      </p:sp>
      <p:sp>
        <p:nvSpPr>
          <p:cNvPr id="32" name="Text 30"/>
          <p:cNvSpPr/>
          <p:nvPr/>
        </p:nvSpPr>
        <p:spPr>
          <a:xfrm>
            <a:off x="658368" y="56692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3" name="Text 31"/>
          <p:cNvSpPr/>
          <p:nvPr/>
        </p:nvSpPr>
        <p:spPr>
          <a:xfrm>
            <a:off x="658368" y="5998464"/>
            <a:ext cx="2103120" cy="411480"/>
          </a:xfrm>
          <a:prstGeom prst="rect">
            <a:avLst/>
          </a:prstGeom>
          <a:noFill/>
          <a:ln/>
        </p:spPr>
        <p:txBody>
          <a:bodyPr wrap="square" lIns="0" tIns="0" rIns="0" bIns="0" rtlCol="0" anchor="t"/>
          <a:lstStyle/>
          <a:p>
            <a:pPr indent="0" marL="0">
              <a:lnSpc>
                <a:spcPts val="1400"/>
              </a:lnSpc>
              <a:buNone/>
            </a:pPr>
            <a:r>
              <a:rPr lang="en-US" sz="1050" b="1" dirty="0">
                <a:solidFill>
                  <a:srgbClr val="2B3A4A"/>
                </a:solidFill>
                <a:latin typeface="Meiryo" pitchFamily="34" charset="0"/>
                <a:ea typeface="Meiryo" pitchFamily="34" charset="-122"/>
                <a:cs typeface="Meiryo" pitchFamily="34" charset="-120"/>
              </a:rPr>
              <a:t>参加者が、この取り組みの意味を説明できる</a:t>
            </a:r>
            <a:endParaRPr lang="en-US" sz="1050" dirty="0"/>
          </a:p>
        </p:txBody>
      </p:sp>
      <p:sp>
        <p:nvSpPr>
          <p:cNvPr id="34" name="Text 32"/>
          <p:cNvSpPr/>
          <p:nvPr/>
        </p:nvSpPr>
        <p:spPr>
          <a:xfrm>
            <a:off x="2962656" y="5632704"/>
            <a:ext cx="4718304" cy="777240"/>
          </a:xfrm>
          <a:prstGeom prst="rect">
            <a:avLst/>
          </a:prstGeom>
          <a:noFill/>
          <a:ln/>
        </p:spPr>
        <p:txBody>
          <a:bodyPr wrap="square" lIns="0" tIns="0" rIns="0" bIns="0" rtlCol="0" anchor="t"/>
          <a:lstStyle/>
          <a:p>
            <a:pPr indent="0" marL="0">
              <a:lnSpc>
                <a:spcPts val="1120"/>
              </a:lnSpc>
              <a:spcAft>
                <a:spcPts val="400"/>
              </a:spcAft>
              <a:buNone/>
            </a:pPr>
            <a:r>
              <a:rPr lang="en-US" sz="800" dirty="0">
                <a:solidFill>
                  <a:srgbClr val="1F2933"/>
                </a:solidFill>
                <a:latin typeface="Meiryo" pitchFamily="34" charset="0"/>
                <a:ea typeface="Meiryo" pitchFamily="34" charset="-122"/>
                <a:cs typeface="Meiryo" pitchFamily="34" charset="-120"/>
              </a:rPr>
              <a:t>トライアル参加者が、この取り組みが何のためのもので、自分にとって何の意味があるかを、自分の言葉で語れる。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処遇との関係について、誤解や不安が解消されている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次のサイクルへの協力に前向きな参加者が一定数いる</a:t>
            </a:r>
            <a:endParaRPr lang="en-US" sz="800" dirty="0"/>
          </a:p>
          <a:p>
            <a:pPr marL="127000" indent="-127000">
              <a:lnSpc>
                <a:spcPts val="1120"/>
              </a:lnSpc>
              <a:spcAft>
                <a:spcPts val="100"/>
              </a:spcAft>
              <a:buSzPct val="100000"/>
              <a:buChar char="▪"/>
            </a:pPr>
            <a:r>
              <a:rPr lang="en-US" sz="800" dirty="0">
                <a:solidFill>
                  <a:srgbClr val="1F2933"/>
                </a:solidFill>
                <a:latin typeface="Meiryo" pitchFamily="34" charset="0"/>
                <a:ea typeface="Meiryo" pitchFamily="34" charset="-122"/>
                <a:cs typeface="Meiryo" pitchFamily="34" charset="-120"/>
              </a:rPr>
              <a:t>参加者から、軸や実施方法に対する具体的な改善意見が出ている</a:t>
            </a:r>
            <a:endParaRPr lang="en-US" sz="800" dirty="0"/>
          </a:p>
        </p:txBody>
      </p:sp>
      <p:sp>
        <p:nvSpPr>
          <p:cNvPr id="35" name="Text 33"/>
          <p:cNvSpPr/>
          <p:nvPr/>
        </p:nvSpPr>
        <p:spPr>
          <a:xfrm>
            <a:off x="7790688" y="5632704"/>
            <a:ext cx="3913632" cy="777240"/>
          </a:xfrm>
          <a:prstGeom prst="rect">
            <a:avLst/>
          </a:prstGeom>
          <a:noFill/>
          <a:ln/>
        </p:spPr>
        <p:txBody>
          <a:bodyPr wrap="square" lIns="0" tIns="0" rIns="0" bIns="0" rtlCol="0" anchor="t"/>
          <a:lstStyle/>
          <a:p>
            <a:pPr marL="127000" indent="-127000">
              <a:lnSpc>
                <a:spcPts val="1120"/>
              </a:lnSpc>
              <a:spcAft>
                <a:spcPts val="200"/>
              </a:spcAft>
              <a:buSzPct val="100000"/>
              <a:buChar char="▪"/>
            </a:pPr>
            <a:r>
              <a:rPr lang="en-US" sz="800" dirty="0">
                <a:solidFill>
                  <a:srgbClr val="1F2933"/>
                </a:solidFill>
                <a:latin typeface="Meiryo" pitchFamily="34" charset="0"/>
                <a:ea typeface="Meiryo" pitchFamily="34" charset="-122"/>
                <a:cs typeface="Meiryo" pitchFamily="34" charset="-120"/>
              </a:rPr>
              <a:t>参加者アンケートおよびヒアリング結果</a:t>
            </a:r>
            <a:endParaRPr lang="en-US" sz="800" dirty="0"/>
          </a:p>
          <a:p>
            <a:pPr marL="127000" indent="-127000">
              <a:lnSpc>
                <a:spcPts val="1120"/>
              </a:lnSpc>
              <a:spcAft>
                <a:spcPts val="200"/>
              </a:spcAft>
              <a:buSzPct val="100000"/>
              <a:buChar char="▪"/>
            </a:pPr>
            <a:r>
              <a:rPr lang="en-US" sz="800" dirty="0">
                <a:solidFill>
                  <a:srgbClr val="1F2933"/>
                </a:solidFill>
                <a:latin typeface="Meiryo" pitchFamily="34" charset="0"/>
                <a:ea typeface="Meiryo" pitchFamily="34" charset="-122"/>
                <a:cs typeface="Meiryo" pitchFamily="34" charset="-120"/>
              </a:rPr>
              <a:t>参加者から提起された改善要望の一覧</a:t>
            </a:r>
            <a:endParaRPr lang="en-US" sz="800" dirty="0"/>
          </a:p>
          <a:p>
            <a:pPr marL="127000" indent="-127000">
              <a:lnSpc>
                <a:spcPts val="1120"/>
              </a:lnSpc>
              <a:spcAft>
                <a:spcPts val="200"/>
              </a:spcAft>
              <a:buSzPct val="100000"/>
              <a:buChar char="▪"/>
            </a:pPr>
            <a:r>
              <a:rPr lang="en-US" sz="800" dirty="0">
                <a:solidFill>
                  <a:srgbClr val="1F2933"/>
                </a:solidFill>
                <a:latin typeface="Meiryo" pitchFamily="34" charset="0"/>
                <a:ea typeface="Meiryo" pitchFamily="34" charset="-122"/>
                <a:cs typeface="Meiryo" pitchFamily="34" charset="-120"/>
              </a:rPr>
              <a:t>次サイクルに向けた説明資料（参加者の疑問と回答を反映したもの）</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プロジェクトチャーター｜スキルアセスメント トライアルプロジェクト</dc:title>
  <dc:subject>PptxGenJS Presentation</dc:subject>
  <dc:creator>IT組織開発・人材開発</dc:creator>
  <cp:lastModifiedBy>IT組織開発・人材開発</cp:lastModifiedBy>
  <cp:revision>1</cp:revision>
  <dcterms:created xsi:type="dcterms:W3CDTF">2026-08-25T23:01:20Z</dcterms:created>
  <dcterms:modified xsi:type="dcterms:W3CDTF">2026-08-25T23:01:20Z</dcterms:modified>
</cp:coreProperties>
</file>