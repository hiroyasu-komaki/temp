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年度IT投資予算の申請プロセス説明用。事業部門向け。ポイントは3つ：(1)申請Formには評価ではなく事実を書いてもらう、(2)自部門価値が小さい案件も申請してもらう（救済枠の対象になるため）、(3)共通性の評価はIT部門が行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次年度 IT投資予算 申請プロセスと注意事項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事業部門の皆さまへ ─ 申請Formに記入いただく内容と、その理由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18320" y="292608"/>
            <a:ext cx="2286000" cy="749808"/>
          </a:xfrm>
          <a:prstGeom prst="rect">
            <a:avLst/>
          </a:prstGeom>
          <a:solidFill>
            <a:srgbClr val="FDF2EA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0" y="3474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今年からの変更点
</a:t>
            </a:r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A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「事実項目」の記入欄を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A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新設しました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申請から決定までの流れ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670048" cy="1481328"/>
          </a:xfrm>
          <a:prstGeom prst="rect">
            <a:avLst/>
          </a:prstGeom>
          <a:solidFill>
            <a:srgbClr val="F5F7FA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709928"/>
            <a:ext cx="329184" cy="329184"/>
          </a:xfrm>
          <a:prstGeom prst="ellipse">
            <a:avLst/>
          </a:prstGeom>
          <a:solidFill>
            <a:srgbClr val="12305E"/>
          </a:solidFill>
          <a:ln w="12700">
            <a:solidFill>
              <a:srgbClr val="1230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72821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4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事業部門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" y="21031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予算案・施策概要を申請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5054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便益・必要性・重要性を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定量／定性で記載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45536" y="213969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38144" y="1572768"/>
            <a:ext cx="2670048" cy="1481328"/>
          </a:xfrm>
          <a:prstGeom prst="rect">
            <a:avLst/>
          </a:prstGeom>
          <a:solidFill>
            <a:srgbClr val="FDF2EA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84448" y="1709928"/>
            <a:ext cx="329184" cy="32918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05072" y="172821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事業部門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84448" y="21031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A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事実項目を記入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84448" y="25054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受益範囲・連携システム・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保守期限などの事実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13969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19088" y="1572768"/>
            <a:ext cx="2670048" cy="1481328"/>
          </a:xfrm>
          <a:prstGeom prst="rect">
            <a:avLst/>
          </a:prstGeom>
          <a:solidFill>
            <a:srgbClr val="F5F7FA"/>
          </a:solidFill>
          <a:ln w="12700">
            <a:solidFill>
              <a:srgbClr val="D7DD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65392" y="1709928"/>
            <a:ext cx="329184" cy="329184"/>
          </a:xfrm>
          <a:prstGeom prst="ellipse">
            <a:avLst/>
          </a:prstGeom>
          <a:solidFill>
            <a:srgbClr val="12305E"/>
          </a:solidFill>
          <a:ln w="12700">
            <a:solidFill>
              <a:srgbClr val="1230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86016" y="172821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4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IT＋経営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65392" y="21031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全社で優先度を議論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65392" y="25054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全部門の申請を横並びで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比較し、優先度を決定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07424" y="213969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00032" y="1572768"/>
            <a:ext cx="2670048" cy="1481328"/>
          </a:xfrm>
          <a:prstGeom prst="rect">
            <a:avLst/>
          </a:prstGeom>
          <a:solidFill>
            <a:srgbClr val="FDF2EA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46336" y="1709928"/>
            <a:ext cx="329184" cy="32918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46336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966960" y="172821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IT部門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546336" y="21031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A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不採択案件をIT枠で救済判定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46336" y="25054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共通性・持続性の観点で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拾い上げる案件を選定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310128"/>
            <a:ext cx="5394960" cy="3035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230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310128"/>
            <a:ext cx="5394960" cy="384048"/>
          </a:xfrm>
          <a:prstGeom prst="rect">
            <a:avLst/>
          </a:prstGeom>
          <a:solidFill>
            <a:srgbClr val="12305E"/>
          </a:solidFill>
          <a:ln w="12700">
            <a:solidFill>
              <a:srgbClr val="1230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3101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記入いただく「事実項目」 ─ 評価は不要です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8368" y="3877056"/>
            <a:ext cx="1691640" cy="347472"/>
          </a:xfrm>
          <a:prstGeom prst="rect">
            <a:avLst/>
          </a:prstGeom>
          <a:solidFill>
            <a:srgbClr val="F5F7FA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8770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受益範囲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487168" y="38770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利用部門・利用者数・対象業務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" y="4361688"/>
            <a:ext cx="1691640" cy="347472"/>
          </a:xfrm>
          <a:prstGeom prst="rect">
            <a:avLst/>
          </a:prstGeom>
          <a:solidFill>
            <a:srgbClr val="F5F7FA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43616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連携システム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487168" y="43616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接続する既存システム／インターフェース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" y="4846320"/>
            <a:ext cx="1691640" cy="347472"/>
          </a:xfrm>
          <a:prstGeom prst="rect">
            <a:avLst/>
          </a:prstGeom>
          <a:solidFill>
            <a:srgbClr val="F5F7FA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8463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対象データ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487168" y="48463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扱うデータの種類（マスタ・個人情報 等）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8368" y="5330952"/>
            <a:ext cx="1691640" cy="347472"/>
          </a:xfrm>
          <a:prstGeom prst="rect">
            <a:avLst/>
          </a:prstGeom>
          <a:solidFill>
            <a:srgbClr val="F5F7FA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53309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新規／更新の別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487168" y="53309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新規構築か、既存システムの更新か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8368" y="5815584"/>
            <a:ext cx="1691640" cy="347472"/>
          </a:xfrm>
          <a:prstGeom prst="rect">
            <a:avLst/>
          </a:prstGeom>
          <a:solidFill>
            <a:srgbClr val="F5F7FA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58155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現行製品の保守期限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487168" y="58155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EOL・サポート終了日（判明している範囲で）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053328" y="3310128"/>
            <a:ext cx="5650992" cy="3035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53328" y="3310128"/>
            <a:ext cx="5650992" cy="3840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33101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申請にあたっての注意事項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236208" y="3867912"/>
            <a:ext cx="182880" cy="1828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36208" y="38679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510528" y="384048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自部門への価値が小さくても、申請してください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510528" y="405993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全社基盤やEOL対応など、自部門の得だけでは説明しにくい施策こそ、IT枠での救済対象になり得ます。申請されなければ、拾い上げることができません。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36208" y="4489704"/>
            <a:ext cx="182880" cy="1828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36208" y="4489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510528" y="446227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「共通性が高い」という評価は書かないでください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510528" y="468172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他部門の計画・依存関係・全社標準は、事業部門からは見えません。評価はIT部門が行います。皆さまには事実のみをお願いします。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236208" y="5111496"/>
            <a:ext cx="182880" cy="1828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36208" y="51114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510528" y="508406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「全社便益あり」と書いても加点にはなりません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6510528" y="53035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評価はIT部門が保有する情報（依存関係・保守期限・標準）に基づいて行います。記載の巧拙で結果は変わりません。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36208" y="5733288"/>
            <a:ext cx="182880" cy="1828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36208" y="5733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510528" y="570585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不採択は「終わり」ではありません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6510528" y="592531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全社優先度で通らなかった案件は、IT枠での救済判定に回ります。判定理由は文書で残し、必要に応じて説明します。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申請Formの「事実項目」は、IT部門が全社の依存関係・保守期限を把握するための台帳の基礎になります。正確な記入にご協力ください。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IT</dc:creator>
  <cp:lastModifiedBy>IT</cp:lastModifiedBy>
  <cp:revision>1</cp:revision>
  <dcterms:created xsi:type="dcterms:W3CDTF">2026-07-11T06:18:40Z</dcterms:created>
  <dcterms:modified xsi:type="dcterms:W3CDTF">2026-07-11T06:18:40Z</dcterms:modified>
</cp:coreProperties>
</file>