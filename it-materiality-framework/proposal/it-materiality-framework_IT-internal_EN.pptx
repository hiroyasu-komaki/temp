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5" r:id="rId16"/>
    <p:sldId id="258" r:id="rId4"/>
    <p:sldId id="266" r:id="rId17"/>
    <p:sldId id="261" r:id="rId7"/>
    <p:sldId id="267" r:id="rId18"/>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4.xml"/><Relationship Id="rId7" Type="http://schemas.openxmlformats.org/officeDocument/2006/relationships/slide" Target="slides/slide6.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slide" Target="slides/slide3.xml"/><Relationship Id="rId17" Type="http://schemas.openxmlformats.org/officeDocument/2006/relationships/slide" Target="slides/slide5.xml"/><Relationship Id="rId1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dairy farming as the example. One herder wants to raise milk output so dairy products become easier to buy. Another wants to make the finest cheese. Another wants to deliver fresh milk to more homes. Each genuinely wants to deliver value not just for themselves but for the consumers beyond them.
The pasture still seems to have room, so one herder invests their own capital in more cows. The added profit is theirs; the loss of grass is shared by everyone. The other herders do the same. Then one day they realize their pasture has been laid waste.
This is the parable of the tragedy of the commons. Closing line: no one is at fault. Good intentions and rational decisions destroy the shared resource.
Economics calls this an "externality": benefits and costs spilling outside the decision-maker's own calculation. That is why we solve it with mechanisms, not with appeals to "take a company-wide view."
(Next page: applying this to our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to installing the "nesting" from the previous page correctly in our company is sorting what departments decide and what the company decides. Today we sort by amount under the approval authority rules. Going forward, we also sort by commonality.
The most important thing on this page is the definition of commonality: how far an investment's benefits and costs reach beyond the deciding department and the current year. Gains and losses that stay within the department and the year are already in the department's calculation. The problem is what spills outside.
It spills in two directions. Reaching other departments is Foundation (if we don't act now, will something else suffer?) — the question that protects horizontal links, i.e., flexibility to change. Reaching the future is Debt (if we don't act now, will future costs rise?) — the question that finds hidden technical debt.
Commonality is not the size of the amount. As in the lower-right of the chart, small projects can have high commonality. Adding a point-to-point interface to an existing system, non-standard builds, or EOL extensions fall below the amount thresholds and never reach company-wide deliberation today. Large projects in the upper-right do reach deliberation today, but tend to be rubber-stamped. Going forward we deliberate them properly by the commonality yardstick. Conversely, as in the upper-left, some projects are large yet self-contained. Nor is commonality just the number of users; it includes costs that reach the future.
Build the nesting (vertical) correctly, and use commonality (horizontal links and debt) as the criterion at its entrance.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in the deliberation flow do we check commonality? The entrance is issue framing. IT looks at the application facts element by element (previous page), answers the Foundation and Debt questions, and turns them into questions the committee must decide (issues). The secretariat has one person from IT and one from the proposing department; when one's own department is the proposer, the assignment changes.
The committee decides each issue by the commonality yardstick and does not rubber-stamp company-wide projects. Results go back to the proposer with the rationale for each issue, and the reasons are recorded in the registry, which feeds the next commonality check.
Nesting means leaving departmental matters to departments and deciding company-wide only the issues with commonality. For that, commonality is found in issue framing, decided in deliberation, and recorded in the registry.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end of issue framing, classify every issue into three groups.
Issues for deliberation are related to commonality and still need a company-wide decision after consulting owners. Write them as decision questions ("We need to decide ...") and separate facts from assessments.
Issues reported as confirmed are related to commonality but have been confirmed with owners as posing no problem. State which owners confirmed and what they confirmed. The committee accepts them on the basis of that confirmation.
Not issues are matters unrelated to commonality, decided within the proposing department: business requirements and feature priorities, cost-effectiveness within the department, vendor selection, schedule, and team. If resolved by the time of deliberation, share them as information; if unresolved, just note them. If the proposer wants advice, they should say so. Leaving departmental matters to departments is the very idea of nesting.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example comes from the committee response for the global talent data platform (conditional approval). Even after approval, decisions continue at a review gate 12–18 months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set out to convey three things. First, even sound, rational individual decisions erode the company-wide commons when externalities exist; three things are eroding — deliberation and approval, hidden technical debt, and flexibility to change. Second, the tragedy is not inevitable (Ostrom); what we lack most is nested governance. The key is sorting what the company decides by commonality, in addition to amount. Commonality is how far an investment's benefits and costs reach beyond the deciding department and the current year, seen through Foundation and Debt.
Third: if you agree with these two points, we want the IT Department to start framing IT investment issues through the commonality lens and to build the mechanisms to support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structure, applied to our IT.
The starting point, like the herders, is sound and rational business judgment. Departments' motives for IT investment fall into types. They need to change business processes to meet regulatory or legal change, but modifying legacy systems is expensive, so they want a new system that also brings AI and automation. They want to stand up a PoC environment quickly to keep pace with the modality shift in pharma. They want to replace old, hard-to-use systems with SaaS. Each is a correct reading of the problem and a rational response.
Because budget and decisions sit with the departments, each moves ahead on its own. Execution plans are made by the department alone, and IT and management are asked to ratify afterwards. Systems and databases are designed for local optimum, so across the company we get duplicate — or, if not duplicate, similar — functions. On top of that, vendor-specific design approaches, optimized for the department that contracts them, take root, and lock-in and silos grow.
Even when decisions are sound and rational, externalities exist. As they accumulate, the company-wide commons erode.
First: deliberation and approval — the vertical links. When a plan has already been drawn up in isolation and the deadline is near, there is no time to resolve the information asymmetry, and a proper decision cannot be expected. We ask management to decide not because the approval-amount thresholds say so, but so that they can judge from a perspective only they have; the same goes for IT. What IT should deliberate and approve, and what management should deliberate and approve, stop functioning.
Second: hidden technical debt. Additional investment in locally optimized systems, separate operations contracts for each system, separate changes because functions are duplicated or on different versions. Try to partially consolidate at some point and yet another investment is needed. All of this is technical debt created by the initial locally optimized design. The problem is that it is not recognized as debt. What is called IT investment may really be debt repayment.
Third: flexibility to change — the horizontal links. A system is a whole made of elements and the relationships between them. Today's ideal is independent systems, loosely coupled, with connections that adapt flexibly to change. When vendor-specific designs take root department by department, connections harden into point-to-point links, and every change in the environment takes longer to respond to. That is lost opportunity. Integration that was once orderly around master data and a data hub has broken down over the past decade as SaaS spread.
Erosion is not inevitable. Ostrom studied commons, fisheries, and irrigation associations around the world and showed many communities that sustained shared resources for a long time (2009 Nobel Prize in Economics). Of the eight conditions they share, five are relevant here: clear boundaries of the resource and its users (→ define the common layer, owned by IT); rules that fit local conditions (→ start with two questions and refine step by step); participation of those affected in designing rules (→ departments provide facts and receive decisions and rationale); monitored, visible usage (→ registry and usage visibility); and, at scale, nested governance. Nested governance protects deliberation and approval (vertical), visibility of usage exposes hidden technical debt, and clear boundaries protect flexibility to change (horizontal). The core of this deck is the nesting; the following pages explain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Inside commonality. The previous page showed two axes for commonality: Foundation and Debt. Still, we do not ask applicants "Is Foundation OK?" or "Is Debt OK?" They could not answer, and since the assessment drives budget, self-reporting is always biased.
We ask applicants only for facts: scope of benefit, existing systems and interface methods, data handled, new or renewal, support end dates of current products, and the operation and maintenance setup. Dependencies and deviation from standards are invisible to applicants, so we don't ask; IT reads them from the registry and the architecture.
IT looks at the facts element by element and answers the two questions. Foundation: do benefits extend beyond the department, does it touch key enterprise data or integrations, do other plans or systems depend on it? Debt: will deferral force emergency work, is this investment itself debt repayment, does it deviate from standards, does a similar function already exist, will siloed operation, changes, or later consolidation add future cost?
Record the answers as Yes/No with reasons, and frame them as issues for deliberation. In the first year we start with these two questions; we grow the collected facts into a registry and, from the second year on, assess the degree of each element.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frame issues. When an application arrives, the assigned IT lead frames the issues through the lens of commonality.
Facts can simply be confirmed with the proposer. Commonality issues cannot be framed that way alone. Map the capabilities the project touches using the capability map, and consult the IT members who own them. Have the owners assess each capability from the Foundation and Debt perspectives. If information is missing, gather it from the proposer, the owners, and the registry.
Finally, classify the issues. Those related to commonality that still need a company-wide decision after consultation are issues for deliberation. Those confirmed with owners as posing no problem are issues reported as confirmed; for these, state which owners confirmed and what they confirmed. Issues unrelated to commonality are not raised and are decided within the department.
The mapping at lower left is an example: consult the owners of demand management and application portfolio management for scope of benefit; system integration and master data management for connections; architecture design for dependencies; software license and SaaS management and configuration management for support end dates; technology standards and architecture review for deviation from standards; and application portfolio management and supplier evaluation and oversight for duplication and siloed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8" Type="http://schemas.openxmlformats.org/officeDocument/2006/relationships/image" Target="../media/image-2-8.png"/><Relationship Id="rId23" Type="http://schemas.openxmlformats.org/officeDocument/2006/relationships/image" Target="../media/image-2-23.png"/><Relationship Id="rId26" Type="http://schemas.openxmlformats.org/officeDocument/2006/relationships/image" Target="../media/image-2-26.png"/><Relationship Id="rId34" Type="http://schemas.openxmlformats.org/officeDocument/2006/relationships/slideLayout" Target="../slideLayouts/slideLayout1.xml"/><Relationship Id="rId35" Type="http://schemas.openxmlformats.org/officeDocument/2006/relationships/notesSlide" Target="../notesSlides/notesSlide2.xml"/><Relationship Id="rId50" Type="http://schemas.openxmlformats.org/officeDocument/2006/relationships/image" Target="../media/image-herder.png"/><Relationship Id="rId51" Type="http://schemas.openxmlformats.org/officeDocument/2006/relationships/image" Target="../media/image-herder-faded.png"/></Relationships>
</file>

<file path=ppt/slides/_rels/slide3.xml.rels><?xml version='1.0' encoding='UTF-8' standalone='yes'?>
<Relationships xmlns="http://schemas.openxmlformats.org/package/2006/relationships"><Relationship Id="rId34" Type="http://schemas.openxmlformats.org/officeDocument/2006/relationships/slideLayout" Target="../slideLayouts/slideLayout1.xml"/><Relationship Id="rId90" Type="http://schemas.openxmlformats.org/officeDocument/2006/relationships/notesSlide" Target="../notesSlides/notesSlide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90" Type="http://schemas.openxmlformats.org/officeDocument/2006/relationships/notesSlide" Target="../notesSlides/notesSlide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90" Type="http://schemas.openxmlformats.org/officeDocument/2006/relationships/notesSlide" Target="../notesSlides/notesSlide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38"/>
        </a:solidFill>
      </p:bgPr>
    </p:bg>
    <p:spTree>
      <p:grpSpPr>
        <a:xfrm>
          <a:off x="0" y="0"/>
          <a:ext cx="0" cy="0"/>
          <a:chOff x="0" y="0"/>
          <a:chExt cx="0" cy="0"/>
        </a:xfrm>
      </p:grpSpPr>
      <p:sp>
        <p:nvSpPr>
          <p:cNvPr id="2" name="Text 0"/>
          <p:cNvSpPr txBox="1"/>
          <p:nvPr/>
        </p:nvSpPr>
        <p:spPr>
          <a:xfrm>
            <a:off x="731520" y="1874519"/>
            <a:ext cx="9144000" cy="365760"/>
          </a:xfrm>
          <a:prstGeom prst="rect">
            <a:avLst/>
          </a:prstGeom>
          <a:noFill/>
          <a:ln/>
        </p:spPr>
        <p:txBody>
          <a:bodyPr wrap="square" lIns="0" tIns="0" rIns="0" bIns="0" rtlCol="0" anchor="t"/>
          <a:lstStyle/>
          <a:p>
            <a:pPr indent="0" marL="0">
              <a:buNone/>
            </a:pPr>
            <a:r>
              <a:rPr lang="en-US" sz="1400" b="1" dirty="0">
                <a:solidFill>
                  <a:srgbClr val="E8B84A"/>
                </a:solidFill>
                <a:latin typeface="Arial" pitchFamily="34" charset="0"/>
                <a:ea typeface="Yu Gothic" pitchFamily="34" charset="-122"/>
                <a:cs typeface="Yu Gothic" pitchFamily="34" charset="-120"/>
              </a:rPr>
              <a:t>IT Department internal briefing ｜ September 2026</a:t>
            </a:r>
            <a:endParaRPr lang="en-US" sz="1400" dirty="0"/>
          </a:p>
        </p:txBody>
      </p:sp>
      <p:sp>
        <p:nvSpPr>
          <p:cNvPr id="3" name="Text 1"/>
          <p:cNvSpPr txBox="1"/>
          <p:nvPr/>
        </p:nvSpPr>
        <p:spPr>
          <a:xfrm>
            <a:off x="731520" y="2286000"/>
            <a:ext cx="10698480" cy="123444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Yu Gothic" pitchFamily="34" charset="-122"/>
                <a:cs typeface="Yu Gothic" pitchFamily="34" charset="-120"/>
              </a:rPr>
              <a:t>A Proposal on IT Investment Deliberation</a:t>
            </a:r>
            <a:endParaRPr lang="en-US" sz="4000" dirty="0"/>
          </a:p>
          <a:p>
            <a:pPr indent="0" marL="0">
              <a:buNone/>
            </a:pPr>
            <a:r>
              <a:rPr lang="en-US" sz="3400" b="1" dirty="0">
                <a:solidFill>
                  <a:srgbClr val="FFFFFF"/>
                </a:solidFill>
                <a:latin typeface="Arial" pitchFamily="34" charset="0"/>
                <a:ea typeface="Yu Gothic" pitchFamily="34" charset="-122"/>
                <a:cs typeface="Yu Gothic" pitchFamily="34" charset="-120"/>
              </a:rPr>
              <a:t>under the New Governance Model</a:t>
            </a:r>
            <a:endParaRPr lang="en-US" sz="4000" dirty="0"/>
          </a:p>
        </p:txBody>
      </p:sp>
      <p:sp>
        <p:nvSpPr>
          <p:cNvPr id="4" name="Text 2"/>
          <p:cNvSpPr txBox="1"/>
          <p:nvPr/>
        </p:nvSpPr>
        <p:spPr>
          <a:xfrm>
            <a:off x="731520" y="3611880"/>
            <a:ext cx="10698480" cy="548640"/>
          </a:xfrm>
          <a:prstGeom prst="rect">
            <a:avLst/>
          </a:prstGeom>
          <a:noFill/>
          <a:ln/>
        </p:spPr>
        <p:txBody>
          <a:bodyPr wrap="square" lIns="0" tIns="0" rIns="0" bIns="0" rtlCol="0" anchor="t"/>
          <a:lstStyle/>
          <a:p>
            <a:pPr indent="0" marL="0">
              <a:buNone/>
            </a:pPr>
            <a:r>
              <a:rPr lang="en-US" sz="2000" dirty="0">
                <a:solidFill>
                  <a:srgbClr val="C9D3DD"/>
                </a:solidFill>
                <a:latin typeface="Arial" pitchFamily="34" charset="0"/>
                <a:ea typeface="Yu Gothic" pitchFamily="34" charset="-122"/>
                <a:cs typeface="Yu Gothic" pitchFamily="34" charset="-120"/>
              </a:rPr>
              <a:t>The IT Department's new role ── framing issues through the lens of commonality</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4" name="Text 2"/>
          <p:cNvSpPr txBox="1"/>
          <p:nvPr/>
        </p:nvSpPr>
        <p:spPr>
          <a:xfrm>
            <a:off x="548640" y="685800"/>
            <a:ext cx="11064240" cy="548640"/>
          </a:xfrm>
          <a:prstGeom prst="rect">
            <a:avLst/>
          </a:prstGeom>
          <a:noFill/>
          <a:ln/>
        </p:spPr>
        <p:txBody>
          <a:bodyPr wrap="square" lIns="0" tIns="0" rIns="0" bIns="0" rtlCol="0" anchor="ctr"/>
          <a:lstStyle/>
          <a:p>
            <a:pPr indent="0" marL="0">
              <a:buNone/>
            </a:pPr>
            <a:r>
              <a:rPr lang="en-US" sz="2400" b="1" dirty="0">
                <a:solidFill>
                  <a:srgbClr val="1B2A38"/>
                </a:solidFill>
                <a:latin typeface="Arial" pitchFamily="34" charset="0"/>
                <a:ea typeface="Yu Gothic" pitchFamily="34" charset="-122"/>
                <a:cs typeface="Yu Gothic" pitchFamily="34" charset="-120"/>
              </a:rPr>
              <a:t>What happens on a shared pasture</a:t>
            </a:r>
            <a:endParaRPr lang="en-US" sz="2400" dirty="0"/>
          </a:p>
        </p:txBody>
      </p:sp>
      <p:sp>
        <p:nvSpPr>
          <p:cNvPr id="5" name="Text 3"/>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900" dirty="0">
                <a:solidFill>
                  <a:srgbClr val="66717C"/>
                </a:solidFill>
                <a:latin typeface="Arial" pitchFamily="34" charset="0"/>
                <a:ea typeface="Yu Gothic" pitchFamily="34" charset="-122"/>
                <a:cs typeface="Yu Gothic" pitchFamily="34" charset="-120"/>
              </a:rPr>
              <a:t>IT Materiality ｜ IT Department internal alignment</a:t>
            </a:r>
            <a:endParaRPr lang="en-US" sz="900" dirty="0"/>
          </a:p>
        </p:txBody>
      </p:sp>
      <p:sp>
        <p:nvSpPr>
          <p:cNvPr id="6" name="Text 4"/>
          <p:cNvSpPr txBox="1"/>
          <p:nvPr/>
        </p:nvSpPr>
        <p:spPr>
          <a:xfrm>
            <a:off x="11155680" y="6446520"/>
            <a:ext cx="457200" cy="274320"/>
          </a:xfrm>
          <a:prstGeom prst="rect">
            <a:avLst/>
          </a:prstGeom>
          <a:noFill/>
          <a:ln/>
        </p:spPr>
        <p:txBody>
          <a:bodyPr wrap="square" lIns="0" tIns="0" rIns="0" bIns="0" rtlCol="0" anchor="t"/>
          <a:lstStyle/>
          <a:p>
            <a:pPr algn="r" indent="0" marL="0">
              <a:buNone/>
            </a:pPr>
            <a:r>
              <a:rPr lang="en-US" sz="900" dirty="0">
                <a:solidFill>
                  <a:srgbClr val="66717C"/>
                </a:solidFill>
                <a:latin typeface="Arial" pitchFamily="34" charset="0"/>
                <a:ea typeface="Yu Gothic" pitchFamily="34" charset="-122"/>
                <a:cs typeface="Yu Gothic" pitchFamily="34" charset="-120"/>
              </a:rPr>
              <a:t>2</a:t>
            </a:r>
            <a:endParaRPr lang="en-US" sz="900" dirty="0"/>
          </a:p>
        </p:txBody>
      </p:sp>
      <p:sp>
        <p:nvSpPr>
          <p:cNvPr id="7" name="Shape 5"/>
          <p:cNvSpPr/>
          <p:nvPr/>
        </p:nvSpPr>
        <p:spPr>
          <a:xfrm>
            <a:off x="548640" y="1463040"/>
            <a:ext cx="457200" cy="457200"/>
          </a:xfrm>
          <a:prstGeom prst="ellipse">
            <a:avLst/>
          </a:prstGeom>
          <a:solidFill>
            <a:srgbClr val="1F7A68"/>
          </a:solidFill>
          <a:ln/>
        </p:spPr>
      </p:sp>
      <p:sp>
        <p:nvSpPr>
          <p:cNvPr id="8" name="Text 6"/>
          <p:cNvSpPr txBox="1"/>
          <p:nvPr/>
        </p:nvSpPr>
        <p:spPr>
          <a:xfrm>
            <a:off x="548640" y="1463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Yu Gothic" pitchFamily="34" charset="-122"/>
                <a:cs typeface="Yu Gothic" pitchFamily="34" charset="-120"/>
              </a:rPr>
              <a:t>1</a:t>
            </a:r>
            <a:endParaRPr lang="en-US" sz="1500" dirty="0"/>
          </a:p>
        </p:txBody>
      </p:sp>
      <p:sp>
        <p:nvSpPr>
          <p:cNvPr id="9" name="Text 7"/>
          <p:cNvSpPr txBox="1"/>
          <p:nvPr/>
        </p:nvSpPr>
        <p:spPr>
          <a:xfrm>
            <a:off x="1115568" y="1463040"/>
            <a:ext cx="2843784" cy="457200"/>
          </a:xfrm>
          <a:prstGeom prst="rect">
            <a:avLst/>
          </a:prstGeom>
          <a:noFill/>
          <a:ln/>
        </p:spPr>
        <p:txBody>
          <a:bodyPr wrap="square" lIns="0" tIns="0" rIns="0" bIns="0" rtlCol="0" anchor="ctr"/>
          <a:lstStyle/>
          <a:p>
            <a:pPr indent="0" marL="0">
              <a:buNone/>
            </a:pPr>
            <a:r>
              <a:rPr lang="en-US" sz="1500" b="1" dirty="0">
                <a:solidFill>
                  <a:srgbClr val="1B2A38"/>
                </a:solidFill>
                <a:latin typeface="Arial" pitchFamily="34" charset="0"/>
                <a:ea typeface="Yu Gothic" pitchFamily="34" charset="-122"/>
                <a:cs typeface="Yu Gothic" pitchFamily="34" charset="-120"/>
              </a:rPr>
              <a:t>A pasture everyone shares</a:t>
            </a:r>
            <a:endParaRPr lang="en-US" sz="1500" dirty="0"/>
          </a:p>
        </p:txBody>
      </p:sp>
      <p:sp>
        <p:nvSpPr>
          <p:cNvPr id="10" name="Shape 8"/>
          <p:cNvSpPr/>
          <p:nvPr/>
        </p:nvSpPr>
        <p:spPr>
          <a:xfrm>
            <a:off x="548640" y="2057400"/>
            <a:ext cx="3410712" cy="2011680"/>
          </a:xfrm>
          <a:prstGeom prst="roundRect">
            <a:avLst>
              <a:gd name="adj" fmla="val 8065"/>
            </a:avLst>
          </a:prstGeom>
          <a:solidFill>
            <a:srgbClr val="DDEFD9"/>
          </a:solidFill>
          <a:ln/>
        </p:spPr>
      </p:sp>
      <p:sp>
        <p:nvSpPr>
          <p:cNvPr id="96" name="Shape 14"/>
          <p:cNvSpPr/>
          <p:nvPr/>
        </p:nvSpPr>
        <p:spPr>
          <a:xfrm>
            <a:off x="5243322" y="2818638"/>
            <a:ext cx="228600" cy="228600"/>
          </a:xfrm>
          <a:prstGeom prst="ellipse">
            <a:avLst/>
          </a:prstGeom>
          <a:solidFill>
            <a:srgbClr val="C98A12"/>
          </a:solidFill>
          <a:ln/>
        </p:spPr>
      </p:sp>
      <p:sp>
        <p:nvSpPr>
          <p:cNvPr id="97" name="Text 15"/>
          <p:cNvSpPr txBox="1"/>
          <p:nvPr/>
        </p:nvSpPr>
        <p:spPr>
          <a:xfrm>
            <a:off x="5243322" y="2818638"/>
            <a:ext cx="228600" cy="228600"/>
          </a:xfrm>
          <a:prstGeom prst="rect">
            <a:avLst/>
          </a:prstGeom>
          <a:noFill/>
          <a:ln/>
        </p:spPr>
        <p:txBody>
          <a:bodyPr wrap="square" lIns="0" tIns="0" rIns="0" bIns="0" rtlCol="0" anchor="ctr"/>
          <a:lstStyle/>
          <a:p>
            <a:pPr algn="ctr" indent="0" marL="0">
              <a:buNone/>
            </a:pPr>
            <a:r>
              <a:rPr lang="en-US" sz="810" b="1" dirty="0">
                <a:solidFill>
                  <a:srgbClr val="FFFFFF"/>
                </a:solidFill>
                <a:latin typeface="Arial" pitchFamily="34" charset="0"/>
                <a:ea typeface="Yu Gothic" pitchFamily="34" charset="-122"/>
                <a:cs typeface="Yu Gothic" pitchFamily="34" charset="-120"/>
              </a:rPr>
              <a:t>+1</a:t>
            </a:r>
            <a:endParaRPr lang="en-US" sz="900" dirty="0"/>
          </a:p>
        </p:txBody>
      </p:sp>
      <p:sp>
        <p:nvSpPr>
          <p:cNvPr id="101" name="Shape 14"/>
          <p:cNvSpPr/>
          <p:nvPr/>
        </p:nvSpPr>
        <p:spPr>
          <a:xfrm>
            <a:off x="6380226" y="2818638"/>
            <a:ext cx="228600" cy="228600"/>
          </a:xfrm>
          <a:prstGeom prst="ellipse">
            <a:avLst/>
          </a:prstGeom>
          <a:solidFill>
            <a:srgbClr val="C98A12"/>
          </a:solidFill>
          <a:ln/>
        </p:spPr>
      </p:sp>
      <p:sp>
        <p:nvSpPr>
          <p:cNvPr id="102" name="Text 15"/>
          <p:cNvSpPr txBox="1"/>
          <p:nvPr/>
        </p:nvSpPr>
        <p:spPr>
          <a:xfrm>
            <a:off x="6380226" y="2818638"/>
            <a:ext cx="228600" cy="228600"/>
          </a:xfrm>
          <a:prstGeom prst="rect">
            <a:avLst/>
          </a:prstGeom>
          <a:noFill/>
          <a:ln/>
        </p:spPr>
        <p:txBody>
          <a:bodyPr wrap="square" lIns="0" tIns="0" rIns="0" bIns="0" rtlCol="0" anchor="ctr"/>
          <a:lstStyle/>
          <a:p>
            <a:pPr algn="ctr" indent="0" marL="0">
              <a:buNone/>
            </a:pPr>
            <a:r>
              <a:rPr lang="en-US" sz="810" b="1" dirty="0">
                <a:solidFill>
                  <a:srgbClr val="FFFFFF"/>
                </a:solidFill>
                <a:latin typeface="Arial" pitchFamily="34" charset="0"/>
                <a:ea typeface="Yu Gothic" pitchFamily="34" charset="-122"/>
                <a:cs typeface="Yu Gothic" pitchFamily="34" charset="-120"/>
              </a:rPr>
              <a:t>+1</a:t>
            </a:r>
            <a:endParaRPr lang="en-US" sz="900" dirty="0"/>
          </a:p>
        </p:txBody>
      </p:sp>
      <p:sp>
        <p:nvSpPr>
          <p:cNvPr id="106" name="Shape 14"/>
          <p:cNvSpPr/>
          <p:nvPr/>
        </p:nvSpPr>
        <p:spPr>
          <a:xfrm>
            <a:off x="7517130" y="2818638"/>
            <a:ext cx="228600" cy="228600"/>
          </a:xfrm>
          <a:prstGeom prst="ellipse">
            <a:avLst/>
          </a:prstGeom>
          <a:solidFill>
            <a:srgbClr val="C98A12"/>
          </a:solidFill>
          <a:ln/>
        </p:spPr>
      </p:sp>
      <p:sp>
        <p:nvSpPr>
          <p:cNvPr id="107" name="Text 15"/>
          <p:cNvSpPr txBox="1"/>
          <p:nvPr/>
        </p:nvSpPr>
        <p:spPr>
          <a:xfrm>
            <a:off x="7517130" y="2818638"/>
            <a:ext cx="228600" cy="228600"/>
          </a:xfrm>
          <a:prstGeom prst="rect">
            <a:avLst/>
          </a:prstGeom>
          <a:noFill/>
          <a:ln/>
        </p:spPr>
        <p:txBody>
          <a:bodyPr wrap="square" lIns="0" tIns="0" rIns="0" bIns="0" rtlCol="0" anchor="ctr"/>
          <a:lstStyle/>
          <a:p>
            <a:pPr algn="ctr" indent="0" marL="0">
              <a:buNone/>
            </a:pPr>
            <a:r>
              <a:rPr lang="en-US" sz="810" b="1" dirty="0">
                <a:solidFill>
                  <a:srgbClr val="FFFFFF"/>
                </a:solidFill>
                <a:latin typeface="Arial" pitchFamily="34" charset="0"/>
                <a:ea typeface="Yu Gothic" pitchFamily="34" charset="-122"/>
                <a:cs typeface="Yu Gothic" pitchFamily="34" charset="-120"/>
              </a:rPr>
              <a:t>+1</a:t>
            </a:r>
            <a:endParaRPr lang="en-US" sz="900" dirty="0"/>
          </a:p>
        </p:txBody>
      </p:sp>
      <p:sp>
        <p:nvSpPr>
          <p:cNvPr id="22" name="Shape 9"/>
          <p:cNvSpPr/>
          <p:nvPr/>
        </p:nvSpPr>
        <p:spPr>
          <a:xfrm>
            <a:off x="4069080" y="2880360"/>
            <a:ext cx="274320" cy="365760"/>
          </a:xfrm>
          <a:prstGeom prst="rightArrow">
            <a:avLst/>
          </a:prstGeom>
          <a:solidFill>
            <a:srgbClr val="66717C"/>
          </a:solidFill>
          <a:ln/>
        </p:spPr>
      </p:sp>
      <p:sp>
        <p:nvSpPr>
          <p:cNvPr id="23" name="Shape 10"/>
          <p:cNvSpPr/>
          <p:nvPr/>
        </p:nvSpPr>
        <p:spPr>
          <a:xfrm>
            <a:off x="4389120" y="1463040"/>
            <a:ext cx="457200" cy="457200"/>
          </a:xfrm>
          <a:prstGeom prst="ellipse">
            <a:avLst/>
          </a:prstGeom>
          <a:solidFill>
            <a:srgbClr val="1F7A68"/>
          </a:solidFill>
          <a:ln/>
        </p:spPr>
      </p:sp>
      <p:sp>
        <p:nvSpPr>
          <p:cNvPr id="24" name="Text 11"/>
          <p:cNvSpPr txBox="1"/>
          <p:nvPr/>
        </p:nvSpPr>
        <p:spPr>
          <a:xfrm>
            <a:off x="4389120" y="1463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Yu Gothic" pitchFamily="34" charset="-122"/>
                <a:cs typeface="Yu Gothic" pitchFamily="34" charset="-120"/>
              </a:rPr>
              <a:t>2</a:t>
            </a:r>
            <a:endParaRPr lang="en-US" sz="1500" dirty="0"/>
          </a:p>
        </p:txBody>
      </p:sp>
      <p:sp>
        <p:nvSpPr>
          <p:cNvPr id="25" name="Text 12"/>
          <p:cNvSpPr txBox="1"/>
          <p:nvPr/>
        </p:nvSpPr>
        <p:spPr>
          <a:xfrm>
            <a:off x="4956048" y="1463040"/>
            <a:ext cx="2843784" cy="457200"/>
          </a:xfrm>
          <a:prstGeom prst="rect">
            <a:avLst/>
          </a:prstGeom>
          <a:noFill/>
          <a:ln/>
        </p:spPr>
        <p:txBody>
          <a:bodyPr wrap="square" lIns="0" tIns="0" rIns="0" bIns="0" rtlCol="0" anchor="ctr"/>
          <a:lstStyle/>
          <a:p>
            <a:pPr indent="0" marL="0">
              <a:buNone/>
            </a:pPr>
            <a:r>
              <a:rPr lang="en-US" sz="1500" b="1" dirty="0">
                <a:solidFill>
                  <a:srgbClr val="1B2A38"/>
                </a:solidFill>
                <a:latin typeface="Arial" pitchFamily="34" charset="0"/>
                <a:ea typeface="Yu Gothic" pitchFamily="34" charset="-122"/>
                <a:cs typeface="Yu Gothic" pitchFamily="34" charset="-120"/>
              </a:rPr>
              <a:t>Add one cow, and the gain is yours</a:t>
            </a:r>
            <a:endParaRPr lang="en-US" sz="1500" dirty="0"/>
          </a:p>
        </p:txBody>
      </p:sp>
      <p:sp>
        <p:nvSpPr>
          <p:cNvPr id="26" name="Shape 13"/>
          <p:cNvSpPr/>
          <p:nvPr/>
        </p:nvSpPr>
        <p:spPr>
          <a:xfrm>
            <a:off x="4389120" y="2057400"/>
            <a:ext cx="3410712" cy="2011680"/>
          </a:xfrm>
          <a:prstGeom prst="roundRect">
            <a:avLst>
              <a:gd name="adj" fmla="val 8065"/>
            </a:avLst>
          </a:prstGeom>
          <a:solidFill>
            <a:srgbClr val="E8F0D8"/>
          </a:solidFill>
          <a:ln/>
        </p:spPr>
      </p:sp>
      <p:sp>
        <p:nvSpPr>
          <p:cNvPr id="46" name="Shape 22"/>
          <p:cNvSpPr/>
          <p:nvPr/>
        </p:nvSpPr>
        <p:spPr>
          <a:xfrm>
            <a:off x="7909560" y="2880360"/>
            <a:ext cx="274320" cy="365760"/>
          </a:xfrm>
          <a:prstGeom prst="rightArrow">
            <a:avLst/>
          </a:prstGeom>
          <a:solidFill>
            <a:srgbClr val="66717C"/>
          </a:solidFill>
          <a:ln/>
        </p:spPr>
      </p:sp>
      <p:sp>
        <p:nvSpPr>
          <p:cNvPr id="47" name="Shape 23"/>
          <p:cNvSpPr/>
          <p:nvPr/>
        </p:nvSpPr>
        <p:spPr>
          <a:xfrm>
            <a:off x="8229600" y="1463040"/>
            <a:ext cx="457200" cy="457200"/>
          </a:xfrm>
          <a:prstGeom prst="ellipse">
            <a:avLst/>
          </a:prstGeom>
          <a:solidFill>
            <a:srgbClr val="B5472F"/>
          </a:solidFill>
          <a:ln/>
        </p:spPr>
      </p:sp>
      <p:sp>
        <p:nvSpPr>
          <p:cNvPr id="48" name="Text 24"/>
          <p:cNvSpPr txBox="1"/>
          <p:nvPr/>
        </p:nvSpPr>
        <p:spPr>
          <a:xfrm>
            <a:off x="8229600" y="1463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Yu Gothic" pitchFamily="34" charset="-122"/>
                <a:cs typeface="Yu Gothic" pitchFamily="34" charset="-120"/>
              </a:rPr>
              <a:t>3</a:t>
            </a:r>
            <a:endParaRPr lang="en-US" sz="1500" dirty="0"/>
          </a:p>
        </p:txBody>
      </p:sp>
      <p:sp>
        <p:nvSpPr>
          <p:cNvPr id="49" name="Text 25"/>
          <p:cNvSpPr txBox="1"/>
          <p:nvPr/>
        </p:nvSpPr>
        <p:spPr>
          <a:xfrm>
            <a:off x="8796528" y="1463040"/>
            <a:ext cx="2843784" cy="457200"/>
          </a:xfrm>
          <a:prstGeom prst="rect">
            <a:avLst/>
          </a:prstGeom>
          <a:noFill/>
          <a:ln/>
        </p:spPr>
        <p:txBody>
          <a:bodyPr wrap="square" lIns="0" tIns="0" rIns="0" bIns="0" rtlCol="0" anchor="ctr"/>
          <a:lstStyle/>
          <a:p>
            <a:pPr indent="0" marL="0">
              <a:buNone/>
            </a:pPr>
            <a:r>
              <a:rPr lang="en-US" sz="1500" b="1" dirty="0">
                <a:solidFill>
                  <a:srgbClr val="B5472F"/>
                </a:solidFill>
                <a:latin typeface="Arial" pitchFamily="34" charset="0"/>
                <a:ea typeface="Yu Gothic" pitchFamily="34" charset="-122"/>
                <a:cs typeface="Yu Gothic" pitchFamily="34" charset="-120"/>
              </a:rPr>
              <a:t>The grass runs out, and everyone loses</a:t>
            </a:r>
            <a:endParaRPr lang="en-US" sz="1500" dirty="0"/>
          </a:p>
        </p:txBody>
      </p:sp>
      <p:sp>
        <p:nvSpPr>
          <p:cNvPr id="50" name="Shape 26"/>
          <p:cNvSpPr/>
          <p:nvPr/>
        </p:nvSpPr>
        <p:spPr>
          <a:xfrm>
            <a:off x="8229600" y="2057400"/>
            <a:ext cx="3410712" cy="2011680"/>
          </a:xfrm>
          <a:prstGeom prst="roundRect">
            <a:avLst>
              <a:gd name="adj" fmla="val 8065"/>
            </a:avLst>
          </a:prstGeom>
          <a:solidFill>
            <a:srgbClr val="EFE4CC"/>
          </a:solidFill>
          <a:ln/>
        </p:spPr>
      </p:sp>
      <p:sp>
        <p:nvSpPr>
          <p:cNvPr id="73" name="Text 38"/>
          <p:cNvSpPr txBox="1"/>
          <p:nvPr/>
        </p:nvSpPr>
        <p:spPr>
          <a:xfrm>
            <a:off x="8412480" y="6309360"/>
            <a:ext cx="3227832" cy="182880"/>
          </a:xfrm>
          <a:prstGeom prst="rect">
            <a:avLst/>
          </a:prstGeom>
          <a:noFill/>
          <a:ln/>
        </p:spPr>
        <p:txBody>
          <a:bodyPr wrap="square" lIns="0" tIns="0" rIns="0" bIns="0" rtlCol="0" anchor="t"/>
          <a:lstStyle/>
          <a:p>
            <a:pPr algn="r" indent="0" marL="0">
              <a:buNone/>
            </a:pPr>
            <a:r>
              <a:rPr lang="en-US" sz="900" dirty="0">
                <a:solidFill>
                  <a:srgbClr val="66717C"/>
                </a:solidFill>
                <a:latin typeface="Arial" pitchFamily="34" charset="0"/>
                <a:ea typeface="Yu Gothic" pitchFamily="34" charset="-122"/>
                <a:cs typeface="Yu Gothic" pitchFamily="34" charset="-120"/>
              </a:rPr>
              <a:t>The Tragedy of the Commons (Hardin, 1968)</a:t>
            </a:r>
            <a:endParaRPr lang="en-US" sz="900" dirty="0"/>
          </a:p>
        </p:txBody>
      </p:sp>
      <p:sp>
        <p:nvSpPr>
          <p:cNvPr id="74" name="Caption 1"/>
          <p:cNvSpPr txBox="1"/>
          <p:nvPr/>
        </p:nvSpPr>
        <p:spPr>
          <a:xfrm>
            <a:off x="594360" y="4178808"/>
            <a:ext cx="3319272" cy="850392"/>
          </a:xfrm>
          <a:prstGeom prst="rect">
            <a:avLst/>
          </a:prstGeom>
          <a:noFill/>
          <a:ln/>
        </p:spPr>
        <p:txBody>
          <a:bodyPr wrap="square" lIns="0" tIns="0" rIns="0" bIns="0" rtlCol="0" anchor="t"/>
          <a:lstStyle/>
          <a:p>
            <a:pPr indent="0" marL="0">
              <a:lnSpc>
                <a:spcPct val="115000"/>
              </a:lnSpc>
              <a:buNone/>
            </a:pPr>
            <a:r>
              <a:rPr lang="en-US" altLang="en-US" sz="1200" b="0" dirty="0">
                <a:solidFill>
                  <a:srgbClr val="1B2A38"/>
                </a:solidFill>
                <a:latin typeface="Arial" pitchFamily="34" charset="0"/>
                <a:ea typeface="Yu Gothic" pitchFamily="34" charset="-122"/>
                <a:cs typeface="Yu Gothic" pitchFamily="34" charset="-120"/>
              </a:rPr>
              <a:t>Each herder envisions </a:t>
            </a:r>
            <a:r>
              <a:rPr lang="en-US" altLang="en-US" sz="1200" b="1" dirty="0">
                <a:solidFill>
                  <a:srgbClr val="1B2A38"/>
                </a:solidFill>
                <a:latin typeface="Arial" pitchFamily="34" charset="0"/>
                <a:ea typeface="Yu Gothic" pitchFamily="34" charset="-122"/>
                <a:cs typeface="Yu Gothic" pitchFamily="34" charset="-120"/>
              </a:rPr>
              <a:t>the value they want to deliver to consumers</a:t>
            </a:r>
            <a:r>
              <a:rPr lang="en-US" altLang="en-US" sz="1200" b="0" dirty="0">
                <a:solidFill>
                  <a:srgbClr val="1B2A38"/>
                </a:solidFill>
                <a:latin typeface="Arial" pitchFamily="34" charset="0"/>
                <a:ea typeface="Yu Gothic" pitchFamily="34" charset="-122"/>
                <a:cs typeface="Yu Gothic" pitchFamily="34" charset="-120"/>
              </a:rPr>
              <a:t>. The pasture still seems to have room.</a:t>
            </a:r>
          </a:p>
        </p:txBody>
      </p:sp>
      <p:sp>
        <p:nvSpPr>
          <p:cNvPr id="75" name="Caption 2"/>
          <p:cNvSpPr txBox="1"/>
          <p:nvPr/>
        </p:nvSpPr>
        <p:spPr>
          <a:xfrm>
            <a:off x="4434840" y="4178808"/>
            <a:ext cx="3319272" cy="850392"/>
          </a:xfrm>
          <a:prstGeom prst="rect">
            <a:avLst/>
          </a:prstGeom>
          <a:noFill/>
          <a:ln/>
        </p:spPr>
        <p:txBody>
          <a:bodyPr wrap="square" lIns="0" tIns="0" rIns="0" bIns="0" rtlCol="0" anchor="t"/>
          <a:lstStyle/>
          <a:p>
            <a:pPr indent="0" marL="0">
              <a:lnSpc>
                <a:spcPct val="115000"/>
              </a:lnSpc>
              <a:buNone/>
            </a:pPr>
            <a:r>
              <a:rPr lang="en-US" altLang="en-US" sz="1200" b="0" dirty="0">
                <a:solidFill>
                  <a:srgbClr val="1B2A38"/>
                </a:solidFill>
                <a:latin typeface="Arial" pitchFamily="34" charset="0"/>
                <a:ea typeface="Yu Gothic" pitchFamily="34" charset="-122"/>
                <a:cs typeface="Yu Gothic" pitchFamily="34" charset="-120"/>
              </a:rPr>
              <a:t>One herder invests their own capital in more cows; others follow. The profit is </a:t>
            </a:r>
            <a:r>
              <a:rPr lang="en-US" altLang="en-US" sz="1200" b="1" dirty="0">
                <a:solidFill>
                  <a:srgbClr val="1B2A38"/>
                </a:solidFill>
                <a:latin typeface="Arial" pitchFamily="34" charset="0"/>
                <a:ea typeface="Yu Gothic" pitchFamily="34" charset="-122"/>
                <a:cs typeface="Yu Gothic" pitchFamily="34" charset="-120"/>
              </a:rPr>
              <a:t>all theirs</a:t>
            </a:r>
            <a:r>
              <a:rPr lang="en-US" altLang="en-US" sz="1200" b="0" dirty="0">
                <a:solidFill>
                  <a:srgbClr val="1B2A38"/>
                </a:solidFill>
                <a:latin typeface="Arial" pitchFamily="34" charset="0"/>
                <a:ea typeface="Yu Gothic" pitchFamily="34" charset="-122"/>
                <a:cs typeface="Yu Gothic" pitchFamily="34" charset="-120"/>
              </a:rPr>
              <a:t>; the loss of grass is </a:t>
            </a:r>
            <a:r>
              <a:rPr lang="en-US" altLang="en-US" sz="1200" b="1" dirty="0">
                <a:solidFill>
                  <a:srgbClr val="1B2A38"/>
                </a:solidFill>
                <a:latin typeface="Arial" pitchFamily="34" charset="0"/>
                <a:ea typeface="Yu Gothic" pitchFamily="34" charset="-122"/>
                <a:cs typeface="Yu Gothic" pitchFamily="34" charset="-120"/>
              </a:rPr>
              <a:t>shared by everyone</a:t>
            </a:r>
            <a:r>
              <a:rPr lang="en-US" altLang="en-US" sz="1200" b="0" dirty="0">
                <a:solidFill>
                  <a:srgbClr val="1B2A38"/>
                </a:solidFill>
                <a:latin typeface="Arial" pitchFamily="34" charset="0"/>
                <a:ea typeface="Yu Gothic" pitchFamily="34" charset="-122"/>
                <a:cs typeface="Yu Gothic" pitchFamily="34" charset="-120"/>
              </a:rPr>
              <a:t>.</a:t>
            </a:r>
          </a:p>
        </p:txBody>
      </p:sp>
      <p:sp>
        <p:nvSpPr>
          <p:cNvPr id="76" name="Caption 3"/>
          <p:cNvSpPr txBox="1"/>
          <p:nvPr/>
        </p:nvSpPr>
        <p:spPr>
          <a:xfrm>
            <a:off x="8275320" y="4178808"/>
            <a:ext cx="3319272" cy="850392"/>
          </a:xfrm>
          <a:prstGeom prst="rect">
            <a:avLst/>
          </a:prstGeom>
          <a:noFill/>
          <a:ln/>
        </p:spPr>
        <p:txBody>
          <a:bodyPr wrap="square" lIns="0" tIns="0" rIns="0" bIns="0" rtlCol="0" anchor="t"/>
          <a:lstStyle/>
          <a:p>
            <a:pPr indent="0" marL="0">
              <a:lnSpc>
                <a:spcPct val="115000"/>
              </a:lnSpc>
              <a:buNone/>
            </a:pPr>
            <a:r>
              <a:rPr lang="en-US" altLang="en-US" sz="1200" b="0" dirty="0">
                <a:solidFill>
                  <a:srgbClr val="1B2A38"/>
                </a:solidFill>
                <a:latin typeface="Arial" pitchFamily="34" charset="0"/>
                <a:ea typeface="Yu Gothic" pitchFamily="34" charset="-122"/>
                <a:cs typeface="Yu Gothic" pitchFamily="34" charset="-120"/>
              </a:rPr>
              <a:t>One day, they realize </a:t>
            </a:r>
            <a:r>
              <a:rPr lang="en-US" altLang="en-US" sz="1200" b="1" dirty="0">
                <a:solidFill>
                  <a:srgbClr val="1B2A38"/>
                </a:solidFill>
                <a:latin typeface="Arial" pitchFamily="34" charset="0"/>
                <a:ea typeface="Yu Gothic" pitchFamily="34" charset="-122"/>
                <a:cs typeface="Yu Gothic" pitchFamily="34" charset="-120"/>
              </a:rPr>
              <a:t>their own pasture has been laid waste</a:t>
            </a:r>
            <a:r>
              <a:rPr lang="en-US" altLang="en-US" sz="1200" b="0" dirty="0">
                <a:solidFill>
                  <a:srgbClr val="1B2A38"/>
                </a:solidFill>
                <a:latin typeface="Arial" pitchFamily="34" charset="0"/>
                <a:ea typeface="Yu Gothic" pitchFamily="34" charset="-122"/>
                <a:cs typeface="Yu Gothic" pitchFamily="34" charset="-120"/>
              </a:rPr>
              <a:t>.</a:t>
            </a:r>
          </a:p>
        </p:txBody>
      </p:sp>
      <p:sp>
        <p:nvSpPr>
          <p:cNvPr id="77" name="Band"/>
          <p:cNvSpPr/>
          <p:nvPr/>
        </p:nvSpPr>
        <p:spPr>
          <a:xfrm>
            <a:off x="548640" y="5120640"/>
            <a:ext cx="11091672" cy="1143000"/>
          </a:xfrm>
          <a:prstGeom prst="roundRect">
            <a:avLst>
              <a:gd name="adj" fmla="val 6667"/>
            </a:avLst>
          </a:prstGeom>
          <a:solidFill>
            <a:srgbClr val="F2F4F6"/>
          </a:solidFill>
          <a:ln/>
        </p:spPr>
      </p:sp>
      <p:sp>
        <p:nvSpPr>
          <p:cNvPr id="79" name="Band Divider"/>
          <p:cNvSpPr/>
          <p:nvPr/>
        </p:nvSpPr>
        <p:spPr>
          <a:xfrm>
            <a:off x="3108960" y="5349240"/>
            <a:ext cx="9144" cy="685800"/>
          </a:xfrm>
          <a:prstGeom prst="rect">
            <a:avLst/>
          </a:prstGeom>
          <a:solidFill>
            <a:srgbClr val="C9CFD5"/>
          </a:solidFill>
          <a:ln/>
        </p:spPr>
      </p:sp>
      <p:pic>
        <p:nvPicPr>
          <p:cNvPr id="108" name="Herder 1-1" descr="preencoded.png">    </p:cNvPr>
          <p:cNvPicPr>
            <a:picLocks noChangeAspect="1"/>
          </p:cNvPicPr>
          <p:nvPr/>
        </p:nvPicPr>
        <p:blipFill>
          <a:blip r:embed="rId50"/>
          <a:stretch>
            <a:fillRect/>
          </a:stretch>
        </p:blipFill>
        <p:spPr>
          <a:xfrm>
            <a:off x="879348" y="2642616"/>
            <a:ext cx="475488" cy="475488"/>
          </a:xfrm>
          <a:prstGeom prst="rect">
            <a:avLst/>
          </a:prstGeom>
        </p:spPr>
      </p:pic>
      <p:pic>
        <p:nvPicPr>
          <p:cNvPr id="109" name="Cow 1-1" descr="preencoded.png">    </p:cNvPr>
          <p:cNvPicPr>
            <a:picLocks noChangeAspect="1"/>
          </p:cNvPicPr>
          <p:nvPr/>
        </p:nvPicPr>
        <p:blipFill>
          <a:blip r:embed="rId8"/>
          <a:stretch>
            <a:fillRect/>
          </a:stretch>
        </p:blipFill>
        <p:spPr>
          <a:xfrm>
            <a:off x="897636" y="3154680"/>
            <a:ext cx="438912" cy="438912"/>
          </a:xfrm>
          <a:prstGeom prst="rect">
            <a:avLst/>
          </a:prstGeom>
        </p:spPr>
      </p:pic>
      <p:pic>
        <p:nvPicPr>
          <p:cNvPr id="110" name="Herder 1-2" descr="preencoded.png">    </p:cNvPr>
          <p:cNvPicPr>
            <a:picLocks noChangeAspect="1"/>
          </p:cNvPicPr>
          <p:nvPr/>
        </p:nvPicPr>
        <p:blipFill>
          <a:blip r:embed="rId50"/>
          <a:stretch>
            <a:fillRect/>
          </a:stretch>
        </p:blipFill>
        <p:spPr>
          <a:xfrm>
            <a:off x="2016252" y="2642616"/>
            <a:ext cx="475488" cy="475488"/>
          </a:xfrm>
          <a:prstGeom prst="rect">
            <a:avLst/>
          </a:prstGeom>
        </p:spPr>
      </p:pic>
      <p:pic>
        <p:nvPicPr>
          <p:cNvPr id="111" name="Cow 1-2" descr="preencoded.png">    </p:cNvPr>
          <p:cNvPicPr>
            <a:picLocks noChangeAspect="1"/>
          </p:cNvPicPr>
          <p:nvPr/>
        </p:nvPicPr>
        <p:blipFill>
          <a:blip r:embed="rId8"/>
          <a:stretch>
            <a:fillRect/>
          </a:stretch>
        </p:blipFill>
        <p:spPr>
          <a:xfrm>
            <a:off x="2034540" y="3154680"/>
            <a:ext cx="438912" cy="438912"/>
          </a:xfrm>
          <a:prstGeom prst="rect">
            <a:avLst/>
          </a:prstGeom>
        </p:spPr>
      </p:pic>
      <p:pic>
        <p:nvPicPr>
          <p:cNvPr id="112" name="Herder 1-3" descr="preencoded.png">    </p:cNvPr>
          <p:cNvPicPr>
            <a:picLocks noChangeAspect="1"/>
          </p:cNvPicPr>
          <p:nvPr/>
        </p:nvPicPr>
        <p:blipFill>
          <a:blip r:embed="rId50"/>
          <a:stretch>
            <a:fillRect/>
          </a:stretch>
        </p:blipFill>
        <p:spPr>
          <a:xfrm>
            <a:off x="3153156" y="2642616"/>
            <a:ext cx="475488" cy="475488"/>
          </a:xfrm>
          <a:prstGeom prst="rect">
            <a:avLst/>
          </a:prstGeom>
        </p:spPr>
      </p:pic>
      <p:pic>
        <p:nvPicPr>
          <p:cNvPr id="113" name="Cow 1-3" descr="preencoded.png">    </p:cNvPr>
          <p:cNvPicPr>
            <a:picLocks noChangeAspect="1"/>
          </p:cNvPicPr>
          <p:nvPr/>
        </p:nvPicPr>
        <p:blipFill>
          <a:blip r:embed="rId8"/>
          <a:stretch>
            <a:fillRect/>
          </a:stretch>
        </p:blipFill>
        <p:spPr>
          <a:xfrm>
            <a:off x="3171444" y="3154680"/>
            <a:ext cx="438912" cy="438912"/>
          </a:xfrm>
          <a:prstGeom prst="rect">
            <a:avLst/>
          </a:prstGeom>
        </p:spPr>
      </p:pic>
      <p:pic>
        <p:nvPicPr>
          <p:cNvPr id="114" name="Grass 1-1" descr="preencoded.png">    </p:cNvPr>
          <p:cNvPicPr>
            <a:picLocks noChangeAspect="1"/>
          </p:cNvPicPr>
          <p:nvPr/>
        </p:nvPicPr>
        <p:blipFill>
          <a:blip r:embed="rId1"/>
          <a:stretch>
            <a:fillRect/>
          </a:stretch>
        </p:blipFill>
        <p:spPr>
          <a:xfrm>
            <a:off x="685800" y="3703320"/>
            <a:ext cx="274320" cy="274320"/>
          </a:xfrm>
          <a:prstGeom prst="rect">
            <a:avLst/>
          </a:prstGeom>
        </p:spPr>
      </p:pic>
      <p:pic>
        <p:nvPicPr>
          <p:cNvPr id="115" name="Grass 1-2" descr="preencoded.png">    </p:cNvPr>
          <p:cNvPicPr>
            <a:picLocks noChangeAspect="1"/>
          </p:cNvPicPr>
          <p:nvPr/>
        </p:nvPicPr>
        <p:blipFill>
          <a:blip r:embed="rId1"/>
          <a:stretch>
            <a:fillRect/>
          </a:stretch>
        </p:blipFill>
        <p:spPr>
          <a:xfrm>
            <a:off x="1280160" y="3703320"/>
            <a:ext cx="274320" cy="274320"/>
          </a:xfrm>
          <a:prstGeom prst="rect">
            <a:avLst/>
          </a:prstGeom>
        </p:spPr>
      </p:pic>
      <p:pic>
        <p:nvPicPr>
          <p:cNvPr id="116" name="Grass 1-3" descr="preencoded.png">    </p:cNvPr>
          <p:cNvPicPr>
            <a:picLocks noChangeAspect="1"/>
          </p:cNvPicPr>
          <p:nvPr/>
        </p:nvPicPr>
        <p:blipFill>
          <a:blip r:embed="rId1"/>
          <a:stretch>
            <a:fillRect/>
          </a:stretch>
        </p:blipFill>
        <p:spPr>
          <a:xfrm>
            <a:off x="1892808" y="3703320"/>
            <a:ext cx="274320" cy="274320"/>
          </a:xfrm>
          <a:prstGeom prst="rect">
            <a:avLst/>
          </a:prstGeom>
        </p:spPr>
      </p:pic>
      <p:pic>
        <p:nvPicPr>
          <p:cNvPr id="117" name="Grass 1-4" descr="preencoded.png">    </p:cNvPr>
          <p:cNvPicPr>
            <a:picLocks noChangeAspect="1"/>
          </p:cNvPicPr>
          <p:nvPr/>
        </p:nvPicPr>
        <p:blipFill>
          <a:blip r:embed="rId1"/>
          <a:stretch>
            <a:fillRect/>
          </a:stretch>
        </p:blipFill>
        <p:spPr>
          <a:xfrm>
            <a:off x="2514600" y="3703320"/>
            <a:ext cx="274320" cy="274320"/>
          </a:xfrm>
          <a:prstGeom prst="rect">
            <a:avLst/>
          </a:prstGeom>
        </p:spPr>
      </p:pic>
      <p:pic>
        <p:nvPicPr>
          <p:cNvPr id="118" name="Grass 1-5" descr="preencoded.png">    </p:cNvPr>
          <p:cNvPicPr>
            <a:picLocks noChangeAspect="1"/>
          </p:cNvPicPr>
          <p:nvPr/>
        </p:nvPicPr>
        <p:blipFill>
          <a:blip r:embed="rId1"/>
          <a:stretch>
            <a:fillRect/>
          </a:stretch>
        </p:blipFill>
        <p:spPr>
          <a:xfrm>
            <a:off x="3108960" y="3703320"/>
            <a:ext cx="274320" cy="274320"/>
          </a:xfrm>
          <a:prstGeom prst="rect">
            <a:avLst/>
          </a:prstGeom>
        </p:spPr>
      </p:pic>
      <p:pic>
        <p:nvPicPr>
          <p:cNvPr id="119" name="Grass 1-6" descr="preencoded.png">    </p:cNvPr>
          <p:cNvPicPr>
            <a:picLocks noChangeAspect="1"/>
          </p:cNvPicPr>
          <p:nvPr/>
        </p:nvPicPr>
        <p:blipFill>
          <a:blip r:embed="rId1"/>
          <a:stretch>
            <a:fillRect/>
          </a:stretch>
        </p:blipFill>
        <p:spPr>
          <a:xfrm>
            <a:off x="3566160" y="3703320"/>
            <a:ext cx="274320" cy="274320"/>
          </a:xfrm>
          <a:prstGeom prst="rect">
            <a:avLst/>
          </a:prstGeom>
        </p:spPr>
      </p:pic>
      <p:pic>
        <p:nvPicPr>
          <p:cNvPr id="120" name="Herder 2-1" descr="preencoded.png">    </p:cNvPr>
          <p:cNvPicPr>
            <a:picLocks noChangeAspect="1"/>
          </p:cNvPicPr>
          <p:nvPr/>
        </p:nvPicPr>
        <p:blipFill>
          <a:blip r:embed="rId50"/>
          <a:stretch>
            <a:fillRect/>
          </a:stretch>
        </p:blipFill>
        <p:spPr>
          <a:xfrm>
            <a:off x="4719828" y="2642616"/>
            <a:ext cx="475488" cy="475488"/>
          </a:xfrm>
          <a:prstGeom prst="rect">
            <a:avLst/>
          </a:prstGeom>
        </p:spPr>
      </p:pic>
      <p:pic>
        <p:nvPicPr>
          <p:cNvPr id="121" name="Cow 2-1a" descr="preencoded.png">    </p:cNvPr>
          <p:cNvPicPr>
            <a:picLocks noChangeAspect="1"/>
          </p:cNvPicPr>
          <p:nvPr/>
        </p:nvPicPr>
        <p:blipFill>
          <a:blip r:embed="rId8"/>
          <a:stretch>
            <a:fillRect/>
          </a:stretch>
        </p:blipFill>
        <p:spPr>
          <a:xfrm>
            <a:off x="4504944" y="3154680"/>
            <a:ext cx="438912" cy="438912"/>
          </a:xfrm>
          <a:prstGeom prst="rect">
            <a:avLst/>
          </a:prstGeom>
        </p:spPr>
      </p:pic>
      <p:pic>
        <p:nvPicPr>
          <p:cNvPr id="122" name="Cow 2-1b" descr="preencoded.png">    </p:cNvPr>
          <p:cNvPicPr>
            <a:picLocks noChangeAspect="1"/>
          </p:cNvPicPr>
          <p:nvPr/>
        </p:nvPicPr>
        <p:blipFill>
          <a:blip r:embed="rId8"/>
          <a:stretch>
            <a:fillRect/>
          </a:stretch>
        </p:blipFill>
        <p:spPr>
          <a:xfrm>
            <a:off x="4971288" y="3154680"/>
            <a:ext cx="438912" cy="438912"/>
          </a:xfrm>
          <a:prstGeom prst="rect">
            <a:avLst/>
          </a:prstGeom>
        </p:spPr>
      </p:pic>
      <p:sp>
        <p:nvSpPr>
          <p:cNvPr id="123" name="Badge"/>
          <p:cNvSpPr/>
          <p:nvPr/>
        </p:nvSpPr>
        <p:spPr>
          <a:xfrm>
            <a:off x="5261610" y="3074670"/>
            <a:ext cx="228600" cy="228600"/>
          </a:xfrm>
          <a:prstGeom prst="ellipse">
            <a:avLst/>
          </a:prstGeom>
          <a:solidFill>
            <a:srgbClr val="C98A12"/>
          </a:solidFill>
          <a:ln/>
        </p:spPr>
      </p:sp>
      <p:sp>
        <p:nvSpPr>
          <p:cNvPr id="124" name="Badge"/>
          <p:cNvSpPr txBox="1"/>
          <p:nvPr/>
        </p:nvSpPr>
        <p:spPr>
          <a:xfrm>
            <a:off x="5261610" y="3074670"/>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Yu Gothic" pitchFamily="34" charset="-122"/>
                <a:cs typeface="Yu Gothic" pitchFamily="34" charset="-120"/>
              </a:rPr>
              <a:t>+1</a:t>
            </a:r>
            <a:endParaRPr lang="en-US" sz="900" dirty="0"/>
          </a:p>
        </p:txBody>
      </p:sp>
      <p:pic>
        <p:nvPicPr>
          <p:cNvPr id="125" name="Herder 2-2" descr="preencoded.png">    </p:cNvPr>
          <p:cNvPicPr>
            <a:picLocks noChangeAspect="1"/>
          </p:cNvPicPr>
          <p:nvPr/>
        </p:nvPicPr>
        <p:blipFill>
          <a:blip r:embed="rId50"/>
          <a:stretch>
            <a:fillRect/>
          </a:stretch>
        </p:blipFill>
        <p:spPr>
          <a:xfrm>
            <a:off x="5856732" y="2642616"/>
            <a:ext cx="475488" cy="475488"/>
          </a:xfrm>
          <a:prstGeom prst="rect">
            <a:avLst/>
          </a:prstGeom>
        </p:spPr>
      </p:pic>
      <p:pic>
        <p:nvPicPr>
          <p:cNvPr id="126" name="Cow 2-2a" descr="preencoded.png">    </p:cNvPr>
          <p:cNvPicPr>
            <a:picLocks noChangeAspect="1"/>
          </p:cNvPicPr>
          <p:nvPr/>
        </p:nvPicPr>
        <p:blipFill>
          <a:blip r:embed="rId8"/>
          <a:stretch>
            <a:fillRect/>
          </a:stretch>
        </p:blipFill>
        <p:spPr>
          <a:xfrm>
            <a:off x="5641848" y="3154680"/>
            <a:ext cx="438912" cy="438912"/>
          </a:xfrm>
          <a:prstGeom prst="rect">
            <a:avLst/>
          </a:prstGeom>
        </p:spPr>
      </p:pic>
      <p:pic>
        <p:nvPicPr>
          <p:cNvPr id="127" name="Cow 2-2b" descr="preencoded.png">    </p:cNvPr>
          <p:cNvPicPr>
            <a:picLocks noChangeAspect="1"/>
          </p:cNvPicPr>
          <p:nvPr/>
        </p:nvPicPr>
        <p:blipFill>
          <a:blip r:embed="rId8"/>
          <a:stretch>
            <a:fillRect/>
          </a:stretch>
        </p:blipFill>
        <p:spPr>
          <a:xfrm>
            <a:off x="6108192" y="3154680"/>
            <a:ext cx="438912" cy="438912"/>
          </a:xfrm>
          <a:prstGeom prst="rect">
            <a:avLst/>
          </a:prstGeom>
        </p:spPr>
      </p:pic>
      <p:sp>
        <p:nvSpPr>
          <p:cNvPr id="128" name="Badge"/>
          <p:cNvSpPr/>
          <p:nvPr/>
        </p:nvSpPr>
        <p:spPr>
          <a:xfrm>
            <a:off x="6398514" y="3074670"/>
            <a:ext cx="228600" cy="228600"/>
          </a:xfrm>
          <a:prstGeom prst="ellipse">
            <a:avLst/>
          </a:prstGeom>
          <a:solidFill>
            <a:srgbClr val="C98A12"/>
          </a:solidFill>
          <a:ln/>
        </p:spPr>
      </p:sp>
      <p:sp>
        <p:nvSpPr>
          <p:cNvPr id="129" name="Badge"/>
          <p:cNvSpPr txBox="1"/>
          <p:nvPr/>
        </p:nvSpPr>
        <p:spPr>
          <a:xfrm>
            <a:off x="6398514" y="3074670"/>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Yu Gothic" pitchFamily="34" charset="-122"/>
                <a:cs typeface="Yu Gothic" pitchFamily="34" charset="-120"/>
              </a:rPr>
              <a:t>+1</a:t>
            </a:r>
            <a:endParaRPr lang="en-US" sz="900" dirty="0"/>
          </a:p>
        </p:txBody>
      </p:sp>
      <p:pic>
        <p:nvPicPr>
          <p:cNvPr id="130" name="Herder 2-3" descr="preencoded.png">    </p:cNvPr>
          <p:cNvPicPr>
            <a:picLocks noChangeAspect="1"/>
          </p:cNvPicPr>
          <p:nvPr/>
        </p:nvPicPr>
        <p:blipFill>
          <a:blip r:embed="rId50"/>
          <a:stretch>
            <a:fillRect/>
          </a:stretch>
        </p:blipFill>
        <p:spPr>
          <a:xfrm>
            <a:off x="6993636" y="2642616"/>
            <a:ext cx="475488" cy="475488"/>
          </a:xfrm>
          <a:prstGeom prst="rect">
            <a:avLst/>
          </a:prstGeom>
        </p:spPr>
      </p:pic>
      <p:pic>
        <p:nvPicPr>
          <p:cNvPr id="131" name="Cow 2-3a" descr="preencoded.png">    </p:cNvPr>
          <p:cNvPicPr>
            <a:picLocks noChangeAspect="1"/>
          </p:cNvPicPr>
          <p:nvPr/>
        </p:nvPicPr>
        <p:blipFill>
          <a:blip r:embed="rId8"/>
          <a:stretch>
            <a:fillRect/>
          </a:stretch>
        </p:blipFill>
        <p:spPr>
          <a:xfrm>
            <a:off x="6778752" y="3154680"/>
            <a:ext cx="438912" cy="438912"/>
          </a:xfrm>
          <a:prstGeom prst="rect">
            <a:avLst/>
          </a:prstGeom>
        </p:spPr>
      </p:pic>
      <p:pic>
        <p:nvPicPr>
          <p:cNvPr id="132" name="Cow 2-3b" descr="preencoded.png">    </p:cNvPr>
          <p:cNvPicPr>
            <a:picLocks noChangeAspect="1"/>
          </p:cNvPicPr>
          <p:nvPr/>
        </p:nvPicPr>
        <p:blipFill>
          <a:blip r:embed="rId8"/>
          <a:stretch>
            <a:fillRect/>
          </a:stretch>
        </p:blipFill>
        <p:spPr>
          <a:xfrm>
            <a:off x="7245096" y="3154680"/>
            <a:ext cx="438912" cy="438912"/>
          </a:xfrm>
          <a:prstGeom prst="rect">
            <a:avLst/>
          </a:prstGeom>
        </p:spPr>
      </p:pic>
      <p:sp>
        <p:nvSpPr>
          <p:cNvPr id="133" name="Badge"/>
          <p:cNvSpPr/>
          <p:nvPr/>
        </p:nvSpPr>
        <p:spPr>
          <a:xfrm>
            <a:off x="7535418" y="3074670"/>
            <a:ext cx="228600" cy="228600"/>
          </a:xfrm>
          <a:prstGeom prst="ellipse">
            <a:avLst/>
          </a:prstGeom>
          <a:solidFill>
            <a:srgbClr val="C98A12"/>
          </a:solidFill>
          <a:ln/>
        </p:spPr>
      </p:sp>
      <p:sp>
        <p:nvSpPr>
          <p:cNvPr id="134" name="Badge"/>
          <p:cNvSpPr txBox="1"/>
          <p:nvPr/>
        </p:nvSpPr>
        <p:spPr>
          <a:xfrm>
            <a:off x="7535418" y="3074670"/>
            <a:ext cx="22860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Yu Gothic" pitchFamily="34" charset="-122"/>
                <a:cs typeface="Yu Gothic" pitchFamily="34" charset="-120"/>
              </a:rPr>
              <a:t>+1</a:t>
            </a:r>
            <a:endParaRPr lang="en-US" sz="900" dirty="0"/>
          </a:p>
        </p:txBody>
      </p:sp>
      <p:pic>
        <p:nvPicPr>
          <p:cNvPr id="135" name="Grass 2-1" descr="preencoded.png">    </p:cNvPr>
          <p:cNvPicPr>
            <a:picLocks noChangeAspect="1"/>
          </p:cNvPicPr>
          <p:nvPr/>
        </p:nvPicPr>
        <p:blipFill>
          <a:blip r:embed="rId1"/>
          <a:stretch>
            <a:fillRect/>
          </a:stretch>
        </p:blipFill>
        <p:spPr>
          <a:xfrm>
            <a:off x="4617720" y="2221992"/>
            <a:ext cx="274320" cy="274320"/>
          </a:xfrm>
          <a:prstGeom prst="rect">
            <a:avLst/>
          </a:prstGeom>
        </p:spPr>
      </p:pic>
      <p:pic>
        <p:nvPicPr>
          <p:cNvPr id="136" name="Grass 2-2" descr="preencoded.png">    </p:cNvPr>
          <p:cNvPicPr>
            <a:picLocks noChangeAspect="1"/>
          </p:cNvPicPr>
          <p:nvPr/>
        </p:nvPicPr>
        <p:blipFill>
          <a:blip r:embed="rId1"/>
          <a:stretch>
            <a:fillRect/>
          </a:stretch>
        </p:blipFill>
        <p:spPr>
          <a:xfrm>
            <a:off x="7269480" y="2221992"/>
            <a:ext cx="274320" cy="274320"/>
          </a:xfrm>
          <a:prstGeom prst="rect">
            <a:avLst/>
          </a:prstGeom>
        </p:spPr>
      </p:pic>
      <p:pic>
        <p:nvPicPr>
          <p:cNvPr id="137" name="Grass 2-3" descr="preencoded.png">    </p:cNvPr>
          <p:cNvPicPr>
            <a:picLocks noChangeAspect="1"/>
          </p:cNvPicPr>
          <p:nvPr/>
        </p:nvPicPr>
        <p:blipFill>
          <a:blip r:embed="rId1"/>
          <a:stretch>
            <a:fillRect/>
          </a:stretch>
        </p:blipFill>
        <p:spPr>
          <a:xfrm>
            <a:off x="5733288" y="3703320"/>
            <a:ext cx="274320" cy="274320"/>
          </a:xfrm>
          <a:prstGeom prst="rect">
            <a:avLst/>
          </a:prstGeom>
        </p:spPr>
      </p:pic>
      <p:pic>
        <p:nvPicPr>
          <p:cNvPr id="138" name="Grass 2-4" descr="preencoded.png">    </p:cNvPr>
          <p:cNvPicPr>
            <a:picLocks noChangeAspect="1"/>
          </p:cNvPicPr>
          <p:nvPr/>
        </p:nvPicPr>
        <p:blipFill>
          <a:blip r:embed="rId1"/>
          <a:stretch>
            <a:fillRect/>
          </a:stretch>
        </p:blipFill>
        <p:spPr>
          <a:xfrm>
            <a:off x="6949440" y="3703320"/>
            <a:ext cx="274320" cy="274320"/>
          </a:xfrm>
          <a:prstGeom prst="rect">
            <a:avLst/>
          </a:prstGeom>
        </p:spPr>
      </p:pic>
      <p:pic>
        <p:nvPicPr>
          <p:cNvPr id="139" name="Herder 3-1" descr="preencoded.png">    </p:cNvPr>
          <p:cNvPicPr>
            <a:picLocks noChangeAspect="1"/>
          </p:cNvPicPr>
          <p:nvPr/>
        </p:nvPicPr>
        <p:blipFill>
          <a:blip r:embed="rId51"/>
          <a:stretch>
            <a:fillRect/>
          </a:stretch>
        </p:blipFill>
        <p:spPr>
          <a:xfrm>
            <a:off x="8560308" y="2642616"/>
            <a:ext cx="475488" cy="475488"/>
          </a:xfrm>
          <a:prstGeom prst="rect">
            <a:avLst/>
          </a:prstGeom>
        </p:spPr>
      </p:pic>
      <p:pic>
        <p:nvPicPr>
          <p:cNvPr id="140" name="Cow 3-1a" descr="preencoded.png">    </p:cNvPr>
          <p:cNvPicPr>
            <a:picLocks noChangeAspect="1"/>
          </p:cNvPicPr>
          <p:nvPr/>
        </p:nvPicPr>
        <p:blipFill>
          <a:blip r:embed="rId26"/>
          <a:stretch>
            <a:fillRect/>
          </a:stretch>
        </p:blipFill>
        <p:spPr>
          <a:xfrm>
            <a:off x="8345424" y="3154680"/>
            <a:ext cx="438912" cy="438912"/>
          </a:xfrm>
          <a:prstGeom prst="rect">
            <a:avLst/>
          </a:prstGeom>
        </p:spPr>
      </p:pic>
      <p:pic>
        <p:nvPicPr>
          <p:cNvPr id="141" name="Cow 3-1b" descr="preencoded.png">    </p:cNvPr>
          <p:cNvPicPr>
            <a:picLocks noChangeAspect="1"/>
          </p:cNvPicPr>
          <p:nvPr/>
        </p:nvPicPr>
        <p:blipFill>
          <a:blip r:embed="rId26"/>
          <a:stretch>
            <a:fillRect/>
          </a:stretch>
        </p:blipFill>
        <p:spPr>
          <a:xfrm>
            <a:off x="8811768" y="3154680"/>
            <a:ext cx="438912" cy="438912"/>
          </a:xfrm>
          <a:prstGeom prst="rect">
            <a:avLst/>
          </a:prstGeom>
        </p:spPr>
      </p:pic>
      <p:pic>
        <p:nvPicPr>
          <p:cNvPr id="142" name="Herder 3-2" descr="preencoded.png">    </p:cNvPr>
          <p:cNvPicPr>
            <a:picLocks noChangeAspect="1"/>
          </p:cNvPicPr>
          <p:nvPr/>
        </p:nvPicPr>
        <p:blipFill>
          <a:blip r:embed="rId51"/>
          <a:stretch>
            <a:fillRect/>
          </a:stretch>
        </p:blipFill>
        <p:spPr>
          <a:xfrm>
            <a:off x="9697212" y="2642616"/>
            <a:ext cx="475488" cy="475488"/>
          </a:xfrm>
          <a:prstGeom prst="rect">
            <a:avLst/>
          </a:prstGeom>
        </p:spPr>
      </p:pic>
      <p:pic>
        <p:nvPicPr>
          <p:cNvPr id="143" name="Cow 3-2a" descr="preencoded.png">    </p:cNvPr>
          <p:cNvPicPr>
            <a:picLocks noChangeAspect="1"/>
          </p:cNvPicPr>
          <p:nvPr/>
        </p:nvPicPr>
        <p:blipFill>
          <a:blip r:embed="rId26"/>
          <a:stretch>
            <a:fillRect/>
          </a:stretch>
        </p:blipFill>
        <p:spPr>
          <a:xfrm>
            <a:off x="9482328" y="3154680"/>
            <a:ext cx="438912" cy="438912"/>
          </a:xfrm>
          <a:prstGeom prst="rect">
            <a:avLst/>
          </a:prstGeom>
        </p:spPr>
      </p:pic>
      <p:pic>
        <p:nvPicPr>
          <p:cNvPr id="144" name="Cow 3-2b" descr="preencoded.png">    </p:cNvPr>
          <p:cNvPicPr>
            <a:picLocks noChangeAspect="1"/>
          </p:cNvPicPr>
          <p:nvPr/>
        </p:nvPicPr>
        <p:blipFill>
          <a:blip r:embed="rId26"/>
          <a:stretch>
            <a:fillRect/>
          </a:stretch>
        </p:blipFill>
        <p:spPr>
          <a:xfrm>
            <a:off x="9948672" y="3154680"/>
            <a:ext cx="438912" cy="438912"/>
          </a:xfrm>
          <a:prstGeom prst="rect">
            <a:avLst/>
          </a:prstGeom>
        </p:spPr>
      </p:pic>
      <p:pic>
        <p:nvPicPr>
          <p:cNvPr id="145" name="Herder 3-3" descr="preencoded.png">    </p:cNvPr>
          <p:cNvPicPr>
            <a:picLocks noChangeAspect="1"/>
          </p:cNvPicPr>
          <p:nvPr/>
        </p:nvPicPr>
        <p:blipFill>
          <a:blip r:embed="rId51"/>
          <a:stretch>
            <a:fillRect/>
          </a:stretch>
        </p:blipFill>
        <p:spPr>
          <a:xfrm>
            <a:off x="10834116" y="2642616"/>
            <a:ext cx="475488" cy="475488"/>
          </a:xfrm>
          <a:prstGeom prst="rect">
            <a:avLst/>
          </a:prstGeom>
        </p:spPr>
      </p:pic>
      <p:pic>
        <p:nvPicPr>
          <p:cNvPr id="146" name="Cow 3-3a" descr="preencoded.png">    </p:cNvPr>
          <p:cNvPicPr>
            <a:picLocks noChangeAspect="1"/>
          </p:cNvPicPr>
          <p:nvPr/>
        </p:nvPicPr>
        <p:blipFill>
          <a:blip r:embed="rId26"/>
          <a:stretch>
            <a:fillRect/>
          </a:stretch>
        </p:blipFill>
        <p:spPr>
          <a:xfrm>
            <a:off x="10619232" y="3154680"/>
            <a:ext cx="438912" cy="438912"/>
          </a:xfrm>
          <a:prstGeom prst="rect">
            <a:avLst/>
          </a:prstGeom>
        </p:spPr>
      </p:pic>
      <p:pic>
        <p:nvPicPr>
          <p:cNvPr id="147" name="Cow 3-3b" descr="preencoded.png">    </p:cNvPr>
          <p:cNvPicPr>
            <a:picLocks noChangeAspect="1"/>
          </p:cNvPicPr>
          <p:nvPr/>
        </p:nvPicPr>
        <p:blipFill>
          <a:blip r:embed="rId26"/>
          <a:stretch>
            <a:fillRect/>
          </a:stretch>
        </p:blipFill>
        <p:spPr>
          <a:xfrm>
            <a:off x="11085576" y="3154680"/>
            <a:ext cx="438912" cy="438912"/>
          </a:xfrm>
          <a:prstGeom prst="rect">
            <a:avLst/>
          </a:prstGeom>
        </p:spPr>
      </p:pic>
      <p:pic>
        <p:nvPicPr>
          <p:cNvPr id="148" name="Grass 3-1" descr="preencoded.png">    </p:cNvPr>
          <p:cNvPicPr>
            <a:picLocks noChangeAspect="1"/>
          </p:cNvPicPr>
          <p:nvPr/>
        </p:nvPicPr>
        <p:blipFill>
          <a:blip r:embed="rId23"/>
          <a:stretch>
            <a:fillRect/>
          </a:stretch>
        </p:blipFill>
        <p:spPr>
          <a:xfrm>
            <a:off x="9646920" y="2221992"/>
            <a:ext cx="274320" cy="274320"/>
          </a:xfrm>
          <a:prstGeom prst="rect">
            <a:avLst/>
          </a:prstGeom>
        </p:spPr>
      </p:pic>
      <p:pic>
        <p:nvPicPr>
          <p:cNvPr id="149" name="Grass 3-2" descr="preencoded.png">    </p:cNvPr>
          <p:cNvPicPr>
            <a:picLocks noChangeAspect="1"/>
          </p:cNvPicPr>
          <p:nvPr/>
        </p:nvPicPr>
        <p:blipFill>
          <a:blip r:embed="rId23"/>
          <a:stretch>
            <a:fillRect/>
          </a:stretch>
        </p:blipFill>
        <p:spPr>
          <a:xfrm>
            <a:off x="8458200" y="3703320"/>
            <a:ext cx="274320" cy="274320"/>
          </a:xfrm>
          <a:prstGeom prst="rect">
            <a:avLst/>
          </a:prstGeom>
        </p:spPr>
      </p:pic>
      <p:pic>
        <p:nvPicPr>
          <p:cNvPr id="150" name="Grass 3-3" descr="preencoded.png">    </p:cNvPr>
          <p:cNvPicPr>
            <a:picLocks noChangeAspect="1"/>
          </p:cNvPicPr>
          <p:nvPr/>
        </p:nvPicPr>
        <p:blipFill>
          <a:blip r:embed="rId23"/>
          <a:stretch>
            <a:fillRect/>
          </a:stretch>
        </p:blipFill>
        <p:spPr>
          <a:xfrm>
            <a:off x="11109960" y="3703320"/>
            <a:ext cx="274320" cy="274320"/>
          </a:xfrm>
          <a:prstGeom prst="rect">
            <a:avLst/>
          </a:prstGeom>
        </p:spPr>
      </p:pic>
      <p:sp>
        <p:nvSpPr>
          <p:cNvPr id="151" name="Bubble 1"/>
          <p:cNvSpPr/>
          <p:nvPr/>
        </p:nvSpPr>
        <p:spPr>
          <a:xfrm>
            <a:off x="614172" y="2148840"/>
            <a:ext cx="1005840" cy="402336"/>
          </a:xfrm>
          <a:prstGeom prst="wedgeRoundRectCallout">
            <a:avLst>
              <a:gd name="adj1" fmla="val -12000"/>
              <a:gd name="adj2" fmla="val 72000"/>
              <a:gd name="adj3" fmla="val 16667"/>
            </a:avLst>
          </a:prstGeom>
          <a:solidFill>
            <a:srgbClr val="FFFFFF"/>
          </a:solidFill>
          <a:ln w="9525">
            <a:solidFill>
              <a:srgbClr val="1F7A68"/>
            </a:solidFill>
          </a:ln>
        </p:spPr>
        <p:txBody>
          <a:bodyPr wrap="square" lIns="45720" tIns="0" rIns="45720" bIns="0" rtlCol="0" anchor="ctr"/>
          <a:lstStyle/>
          <a:p>
            <a:pPr algn="ctr">
              <a:lnSpc>
                <a:spcPct val="100000"/>
              </a:lnSpc>
            </a:pPr>
            <a:r>
              <a:rPr lang="en-US" altLang="en-US" sz="950" b="1" dirty="0">
                <a:solidFill>
                  <a:srgbClr val="1B2A38"/>
                </a:solidFill>
                <a:latin typeface="Arial" pitchFamily="34" charset="0"/>
                <a:ea typeface="Yu Gothic" pitchFamily="34" charset="-122"/>
                <a:cs typeface="Yu Gothic" pitchFamily="34" charset="-120"/>
              </a:rPr>
              <a:t>Affordable</a:t>
            </a:r>
          </a:p>
          <a:p>
            <a:pPr algn="ctr">
              <a:lnSpc>
                <a:spcPct val="100000"/>
              </a:lnSpc>
            </a:pPr>
            <a:r>
              <a:rPr lang="en-US" altLang="en-US" sz="950" b="0" dirty="0">
                <a:solidFill>
                  <a:srgbClr val="1B2A38"/>
                </a:solidFill>
                <a:latin typeface="Arial" pitchFamily="34" charset="0"/>
                <a:ea typeface="Yu Gothic" pitchFamily="34" charset="-122"/>
                <a:cs typeface="Yu Gothic" pitchFamily="34" charset="-120"/>
              </a:rPr>
              <a:t>dairy for all</a:t>
            </a:r>
          </a:p>
        </p:txBody>
      </p:sp>
      <p:sp>
        <p:nvSpPr>
          <p:cNvPr id="152" name="Bubble 2"/>
          <p:cNvSpPr/>
          <p:nvPr/>
        </p:nvSpPr>
        <p:spPr>
          <a:xfrm>
            <a:off x="1751076" y="2148840"/>
            <a:ext cx="1005840" cy="402336"/>
          </a:xfrm>
          <a:prstGeom prst="wedgeRoundRectCallout">
            <a:avLst>
              <a:gd name="adj1" fmla="val -12000"/>
              <a:gd name="adj2" fmla="val 72000"/>
              <a:gd name="adj3" fmla="val 16667"/>
            </a:avLst>
          </a:prstGeom>
          <a:solidFill>
            <a:srgbClr val="FFFFFF"/>
          </a:solidFill>
          <a:ln w="9525">
            <a:solidFill>
              <a:srgbClr val="1F7A68"/>
            </a:solidFill>
          </a:ln>
        </p:spPr>
        <p:txBody>
          <a:bodyPr wrap="square" lIns="45720" tIns="0" rIns="45720" bIns="0" rtlCol="0" anchor="ctr"/>
          <a:lstStyle/>
          <a:p>
            <a:pPr algn="ctr">
              <a:lnSpc>
                <a:spcPct val="100000"/>
              </a:lnSpc>
            </a:pPr>
            <a:r>
              <a:rPr lang="en-US" altLang="en-US" sz="950" b="1" dirty="0">
                <a:solidFill>
                  <a:srgbClr val="1B2A38"/>
                </a:solidFill>
                <a:latin typeface="Arial" pitchFamily="34" charset="0"/>
                <a:ea typeface="Yu Gothic" pitchFamily="34" charset="-122"/>
                <a:cs typeface="Yu Gothic" pitchFamily="34" charset="-120"/>
              </a:rPr>
              <a:t>The finest</a:t>
            </a:r>
          </a:p>
          <a:p>
            <a:pPr algn="ctr">
              <a:lnSpc>
                <a:spcPct val="100000"/>
              </a:lnSpc>
            </a:pPr>
            <a:r>
              <a:rPr lang="en-US" altLang="en-US" sz="950" b="0" dirty="0">
                <a:solidFill>
                  <a:srgbClr val="1B2A38"/>
                </a:solidFill>
                <a:latin typeface="Arial" pitchFamily="34" charset="0"/>
                <a:ea typeface="Yu Gothic" pitchFamily="34" charset="-122"/>
                <a:cs typeface="Yu Gothic" pitchFamily="34" charset="-120"/>
              </a:rPr>
              <a:t>cheese</a:t>
            </a:r>
          </a:p>
        </p:txBody>
      </p:sp>
      <p:sp>
        <p:nvSpPr>
          <p:cNvPr id="153" name="Bubble 3"/>
          <p:cNvSpPr/>
          <p:nvPr/>
        </p:nvSpPr>
        <p:spPr>
          <a:xfrm>
            <a:off x="2887980" y="2148840"/>
            <a:ext cx="1005840" cy="402336"/>
          </a:xfrm>
          <a:prstGeom prst="wedgeRoundRectCallout">
            <a:avLst>
              <a:gd name="adj1" fmla="val -12000"/>
              <a:gd name="adj2" fmla="val 72000"/>
              <a:gd name="adj3" fmla="val 16667"/>
            </a:avLst>
          </a:prstGeom>
          <a:solidFill>
            <a:srgbClr val="FFFFFF"/>
          </a:solidFill>
          <a:ln w="9525">
            <a:solidFill>
              <a:srgbClr val="1F7A68"/>
            </a:solidFill>
          </a:ln>
        </p:spPr>
        <p:txBody>
          <a:bodyPr wrap="square" lIns="45720" tIns="0" rIns="45720" bIns="0" rtlCol="0" anchor="ctr"/>
          <a:lstStyle/>
          <a:p>
            <a:pPr algn="ctr">
              <a:lnSpc>
                <a:spcPct val="100000"/>
              </a:lnSpc>
            </a:pPr>
            <a:r>
              <a:rPr lang="en-US" altLang="en-US" sz="950" b="1" dirty="0">
                <a:solidFill>
                  <a:srgbClr val="1B2A38"/>
                </a:solidFill>
                <a:latin typeface="Arial" pitchFamily="34" charset="0"/>
                <a:ea typeface="Yu Gothic" pitchFamily="34" charset="-122"/>
                <a:cs typeface="Yu Gothic" pitchFamily="34" charset="-120"/>
              </a:rPr>
              <a:t>Fresh milk</a:t>
            </a:r>
          </a:p>
          <a:p>
            <a:pPr algn="ctr">
              <a:lnSpc>
                <a:spcPct val="100000"/>
              </a:lnSpc>
            </a:pPr>
            <a:r>
              <a:rPr lang="en-US" altLang="en-US" sz="950" b="0" dirty="0">
                <a:solidFill>
                  <a:srgbClr val="1B2A38"/>
                </a:solidFill>
                <a:latin typeface="Arial" pitchFamily="34" charset="0"/>
                <a:ea typeface="Yu Gothic" pitchFamily="34" charset="-122"/>
                <a:cs typeface="Yu Gothic" pitchFamily="34" charset="-120"/>
              </a:rPr>
              <a:t>to more homes</a:t>
            </a:r>
          </a:p>
        </p:txBody>
      </p:sp>
      <p:sp>
        <p:nvSpPr>
          <p:cNvPr id="178" name="Band Label"/>
          <p:cNvSpPr txBox="1"/>
          <p:nvPr/>
        </p:nvSpPr>
        <p:spPr>
          <a:xfrm>
            <a:off x="777240" y="5120640"/>
            <a:ext cx="2286000" cy="1143000"/>
          </a:xfrm>
          <a:prstGeom prst="rect">
            <a:avLst/>
          </a:prstGeom>
          <a:noFill/>
          <a:ln/>
        </p:spPr>
        <p:txBody>
          <a:bodyPr wrap="square" lIns="0" tIns="0" rIns="0" bIns="0" rtlCol="0" anchor="ctr"/>
          <a:lstStyle/>
          <a:p>
            <a:pPr indent="0" marL="0">
              <a:lnSpc>
                <a:spcPct val="115000"/>
              </a:lnSpc>
              <a:buNone/>
            </a:pPr>
            <a:r>
              <a:rPr lang="en-US" altLang="en-US" sz="1600" b="1" dirty="0">
                <a:solidFill>
                  <a:srgbClr val="B5472F"/>
                </a:solidFill>
                <a:latin typeface="Arial" pitchFamily="34" charset="0"/>
                <a:ea typeface="Yu Gothic" pitchFamily="34" charset="-122"/>
                <a:cs typeface="Yu Gothic" pitchFamily="34" charset="-120"/>
              </a:rPr>
              <a:t>This is an "externality"</a:t>
            </a:r>
          </a:p>
        </p:txBody>
      </p:sp>
      <p:sp>
        <p:nvSpPr>
          <p:cNvPr id="179" name="Band Text"/>
          <p:cNvSpPr txBox="1"/>
          <p:nvPr/>
        </p:nvSpPr>
        <p:spPr>
          <a:xfrm>
            <a:off x="3337560" y="5120640"/>
            <a:ext cx="8074152" cy="1143000"/>
          </a:xfrm>
          <a:prstGeom prst="rect">
            <a:avLst/>
          </a:prstGeom>
          <a:noFill/>
          <a:ln/>
        </p:spPr>
        <p:txBody>
          <a:bodyPr wrap="square" lIns="0" tIns="0" rIns="0" bIns="0" rtlCol="0" anchor="ctr"/>
          <a:lstStyle/>
          <a:p>
            <a:pPr indent="0" marL="0">
              <a:lnSpc>
                <a:spcPct val="115000"/>
              </a:lnSpc>
              <a:buNone/>
            </a:pPr>
            <a:r>
              <a:rPr lang="en-US" altLang="en-US" sz="1500" b="1" dirty="0">
                <a:solidFill>
                  <a:srgbClr val="1B2A38"/>
                </a:solidFill>
                <a:latin typeface="Arial" pitchFamily="34" charset="0"/>
                <a:ea typeface="Yu Gothic" pitchFamily="34" charset="-122"/>
                <a:cs typeface="Yu Gothic" pitchFamily="34" charset="-120"/>
              </a:rPr>
              <a:t>No one is at fault. The gain goes to the decision-maker; the loss spills over to everyone and to the future</a:t>
            </a:r>
          </a:p>
          <a:p>
            <a:pPr indent="0" marL="0">
              <a:lnSpc>
                <a:spcPct val="115000"/>
              </a:lnSpc>
              <a:spcBef>
                <a:spcPts val="400"/>
              </a:spcBef>
              <a:buNone/>
            </a:pPr>
            <a:r>
              <a:rPr lang="en-US" altLang="en-US" sz="1150" b="0" dirty="0">
                <a:solidFill>
                  <a:srgbClr val="3E4A56"/>
                </a:solidFill>
                <a:latin typeface="Arial" pitchFamily="34" charset="0"/>
                <a:ea typeface="Yu Gothic" pitchFamily="34" charset="-122"/>
                <a:cs typeface="Yu Gothic" pitchFamily="34" charset="-120"/>
              </a:rPr>
              <a:t>Even well-meant, rational decisions leave their impact on others out of the calculation. So we solve it with mechanisms, not appeals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4" name="Text 2"/>
          <p:cNvSpPr txBox="1"/>
          <p:nvPr/>
        </p:nvSpPr>
        <p:spPr>
          <a:xfrm>
            <a:off x="548640" y="685800"/>
            <a:ext cx="11064240" cy="548640"/>
          </a:xfrm>
          <a:prstGeom prst="rect">
            <a:avLst/>
          </a:prstGeom>
          <a:noFill/>
          <a:ln/>
        </p:spPr>
        <p:txBody>
          <a:bodyPr wrap="square" lIns="0" tIns="0" rIns="0" bIns="0" rtlCol="0" anchor="ctr"/>
          <a:lstStyle/>
          <a:p>
            <a:pPr indent="0" marL="0">
              <a:buNone/>
            </a:pPr>
            <a:r>
              <a:rPr lang="en-US" sz="2400" b="1" dirty="0">
                <a:solidFill>
                  <a:srgbClr val="1B2A38"/>
                </a:solidFill>
                <a:latin typeface="Arial" pitchFamily="34" charset="0"/>
                <a:ea typeface="Yu Gothic" pitchFamily="34" charset="-122"/>
                <a:cs typeface="Yu Gothic" pitchFamily="34" charset="-120"/>
              </a:rPr>
              <a:t>What is happening in our IT</a:t>
            </a:r>
            <a:endParaRPr lang="en-US" sz="2400" dirty="0"/>
          </a:p>
        </p:txBody>
      </p:sp>
      <p:sp>
        <p:nvSpPr>
          <p:cNvPr id="5" name="Text 3"/>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900" dirty="0">
                <a:solidFill>
                  <a:srgbClr val="66717C"/>
                </a:solidFill>
                <a:latin typeface="Arial" pitchFamily="34" charset="0"/>
                <a:ea typeface="Yu Gothic" pitchFamily="34" charset="-122"/>
                <a:cs typeface="Yu Gothic" pitchFamily="34" charset="-120"/>
              </a:rPr>
              <a:t>IT Materiality ｜ IT Department internal alignment</a:t>
            </a:r>
            <a:endParaRPr lang="en-US" sz="900" dirty="0"/>
          </a:p>
        </p:txBody>
      </p:sp>
      <p:sp>
        <p:nvSpPr>
          <p:cNvPr id="6" name="Text 4"/>
          <p:cNvSpPr txBox="1"/>
          <p:nvPr/>
        </p:nvSpPr>
        <p:spPr>
          <a:xfrm>
            <a:off x="11155680" y="6446520"/>
            <a:ext cx="457200" cy="274320"/>
          </a:xfrm>
          <a:prstGeom prst="rect">
            <a:avLst/>
          </a:prstGeom>
          <a:noFill/>
          <a:ln/>
        </p:spPr>
        <p:txBody>
          <a:bodyPr wrap="square" lIns="0" tIns="0" rIns="0" bIns="0" rtlCol="0" anchor="t"/>
          <a:lstStyle/>
          <a:p>
            <a:pPr algn="r" indent="0" marL="0">
              <a:buNone/>
            </a:pPr>
            <a:r>
              <a:rPr lang="en-US" sz="900" dirty="0">
                <a:solidFill>
                  <a:srgbClr val="66717C"/>
                </a:solidFill>
                <a:latin typeface="Arial" pitchFamily="34" charset="0"/>
                <a:ea typeface="Yu Gothic" pitchFamily="34" charset="-122"/>
                <a:cs typeface="Yu Gothic" pitchFamily="34" charset="-120"/>
              </a:rPr>
              <a:t>3</a:t>
            </a:r>
            <a:endParaRPr lang="en-US" sz="900" dirty="0"/>
          </a:p>
        </p:txBody>
      </p:sp>
      <p:sp>
        <p:nvSpPr>
          <p:cNvPr id="7" name="Shape 5"/>
          <p:cNvSpPr/>
          <p:nvPr/>
        </p:nvSpPr>
        <p:spPr>
          <a:xfrm>
            <a:off x="548640" y="1463040"/>
            <a:ext cx="457200" cy="457200"/>
          </a:xfrm>
          <a:prstGeom prst="ellipse">
            <a:avLst/>
          </a:prstGeom>
          <a:solidFill>
            <a:srgbClr val="1F7A68"/>
          </a:solidFill>
          <a:ln/>
        </p:spPr>
      </p:sp>
      <p:sp>
        <p:nvSpPr>
          <p:cNvPr id="8" name="Text 6"/>
          <p:cNvSpPr txBox="1"/>
          <p:nvPr/>
        </p:nvSpPr>
        <p:spPr>
          <a:xfrm>
            <a:off x="548640" y="1463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Yu Gothic" pitchFamily="34" charset="-122"/>
                <a:cs typeface="Yu Gothic" pitchFamily="34" charset="-120"/>
              </a:rPr>
              <a:t>1</a:t>
            </a:r>
            <a:endParaRPr lang="en-US" sz="1500" dirty="0"/>
          </a:p>
        </p:txBody>
      </p:sp>
      <p:sp>
        <p:nvSpPr>
          <p:cNvPr id="9" name="Text 7"/>
          <p:cNvSpPr txBox="1"/>
          <p:nvPr/>
        </p:nvSpPr>
        <p:spPr>
          <a:xfrm>
            <a:off x="1115568" y="1463040"/>
            <a:ext cx="2843784" cy="457200"/>
          </a:xfrm>
          <a:prstGeom prst="rect">
            <a:avLst/>
          </a:prstGeom>
          <a:noFill/>
          <a:ln/>
        </p:spPr>
        <p:txBody>
          <a:bodyPr wrap="square" lIns="0" tIns="0" rIns="0" bIns="0" rtlCol="0" anchor="ctr"/>
          <a:lstStyle/>
          <a:p>
            <a:pPr indent="0" marL="0">
              <a:buNone/>
            </a:pPr>
            <a:r>
              <a:rPr lang="en-US" sz="1500" b="1" dirty="0">
                <a:solidFill>
                  <a:srgbClr val="1B2A38"/>
                </a:solidFill>
                <a:latin typeface="Arial" pitchFamily="34" charset="0"/>
                <a:ea typeface="Yu Gothic" pitchFamily="34" charset="-122"/>
                <a:cs typeface="Yu Gothic" pitchFamily="34" charset="-120"/>
              </a:rPr>
              <a:t>A rational answer to a real problem</a:t>
            </a:r>
            <a:endParaRPr lang="en-US" sz="1500" dirty="0"/>
          </a:p>
        </p:txBody>
      </p:sp>
      <p:sp>
        <p:nvSpPr>
          <p:cNvPr id="10" name="Shape 8"/>
          <p:cNvSpPr/>
          <p:nvPr/>
        </p:nvSpPr>
        <p:spPr>
          <a:xfrm>
            <a:off x="548640" y="2057400"/>
            <a:ext cx="3410712" cy="2011680"/>
          </a:xfrm>
          <a:prstGeom prst="roundRect">
            <a:avLst>
              <a:gd name="adj" fmla="val 8065"/>
            </a:avLst>
          </a:prstGeom>
          <a:solidFill>
            <a:srgbClr val="DDEFD9"/>
          </a:solidFill>
          <a:ln/>
        </p:spPr>
      </p:sp>
      <p:sp>
        <p:nvSpPr>
          <p:cNvPr id="22" name="Shape 9"/>
          <p:cNvSpPr/>
          <p:nvPr/>
        </p:nvSpPr>
        <p:spPr>
          <a:xfrm>
            <a:off x="4069080" y="2880360"/>
            <a:ext cx="274320" cy="365760"/>
          </a:xfrm>
          <a:prstGeom prst="rightArrow">
            <a:avLst/>
          </a:prstGeom>
          <a:solidFill>
            <a:srgbClr val="66717C"/>
          </a:solidFill>
          <a:ln/>
        </p:spPr>
      </p:sp>
      <p:sp>
        <p:nvSpPr>
          <p:cNvPr id="23" name="Shape 10"/>
          <p:cNvSpPr/>
          <p:nvPr/>
        </p:nvSpPr>
        <p:spPr>
          <a:xfrm>
            <a:off x="4389120" y="1463040"/>
            <a:ext cx="457200" cy="457200"/>
          </a:xfrm>
          <a:prstGeom prst="ellipse">
            <a:avLst/>
          </a:prstGeom>
          <a:solidFill>
            <a:srgbClr val="1F7A68"/>
          </a:solidFill>
          <a:ln/>
        </p:spPr>
      </p:sp>
      <p:sp>
        <p:nvSpPr>
          <p:cNvPr id="24" name="Text 11"/>
          <p:cNvSpPr txBox="1"/>
          <p:nvPr/>
        </p:nvSpPr>
        <p:spPr>
          <a:xfrm>
            <a:off x="4389120" y="1463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Yu Gothic" pitchFamily="34" charset="-122"/>
                <a:cs typeface="Yu Gothic" pitchFamily="34" charset="-120"/>
              </a:rPr>
              <a:t>2</a:t>
            </a:r>
            <a:endParaRPr lang="en-US" sz="1500" dirty="0"/>
          </a:p>
        </p:txBody>
      </p:sp>
      <p:sp>
        <p:nvSpPr>
          <p:cNvPr id="25" name="Text 12"/>
          <p:cNvSpPr txBox="1"/>
          <p:nvPr/>
        </p:nvSpPr>
        <p:spPr>
          <a:xfrm>
            <a:off x="4956048" y="1463040"/>
            <a:ext cx="2843784" cy="457200"/>
          </a:xfrm>
          <a:prstGeom prst="rect">
            <a:avLst/>
          </a:prstGeom>
          <a:noFill/>
          <a:ln/>
        </p:spPr>
        <p:txBody>
          <a:bodyPr wrap="square" lIns="0" tIns="0" rIns="0" bIns="0" rtlCol="0" anchor="ctr"/>
          <a:lstStyle/>
          <a:p>
            <a:pPr indent="0" marL="0">
              <a:buNone/>
            </a:pPr>
            <a:r>
              <a:rPr lang="en-US" sz="1500" b="1" dirty="0">
                <a:solidFill>
                  <a:srgbClr val="1B2A38"/>
                </a:solidFill>
                <a:latin typeface="Arial" pitchFamily="34" charset="0"/>
                <a:ea typeface="Yu Gothic" pitchFamily="34" charset="-122"/>
                <a:cs typeface="Yu Gothic" pitchFamily="34" charset="-120"/>
              </a:rPr>
              <a:t>Each department goes its own way</a:t>
            </a:r>
            <a:endParaRPr lang="en-US" sz="1500" dirty="0"/>
          </a:p>
        </p:txBody>
      </p:sp>
      <p:sp>
        <p:nvSpPr>
          <p:cNvPr id="26" name="Shape 13"/>
          <p:cNvSpPr/>
          <p:nvPr/>
        </p:nvSpPr>
        <p:spPr>
          <a:xfrm>
            <a:off x="4389120" y="2057400"/>
            <a:ext cx="3410712" cy="2011680"/>
          </a:xfrm>
          <a:prstGeom prst="roundRect">
            <a:avLst>
              <a:gd name="adj" fmla="val 8065"/>
            </a:avLst>
          </a:prstGeom>
          <a:solidFill>
            <a:srgbClr val="E8F0D8"/>
          </a:solidFill>
          <a:ln/>
        </p:spPr>
      </p:sp>
      <p:sp>
        <p:nvSpPr>
          <p:cNvPr id="46" name="Shape 22"/>
          <p:cNvSpPr/>
          <p:nvPr/>
        </p:nvSpPr>
        <p:spPr>
          <a:xfrm>
            <a:off x="7909560" y="2880360"/>
            <a:ext cx="274320" cy="365760"/>
          </a:xfrm>
          <a:prstGeom prst="rightArrow">
            <a:avLst/>
          </a:prstGeom>
          <a:solidFill>
            <a:srgbClr val="66717C"/>
          </a:solidFill>
          <a:ln/>
        </p:spPr>
      </p:sp>
      <p:sp>
        <p:nvSpPr>
          <p:cNvPr id="47" name="Shape 23"/>
          <p:cNvSpPr/>
          <p:nvPr/>
        </p:nvSpPr>
        <p:spPr>
          <a:xfrm>
            <a:off x="8229600" y="1463040"/>
            <a:ext cx="457200" cy="457200"/>
          </a:xfrm>
          <a:prstGeom prst="ellipse">
            <a:avLst/>
          </a:prstGeom>
          <a:solidFill>
            <a:srgbClr val="B5472F"/>
          </a:solidFill>
          <a:ln/>
        </p:spPr>
      </p:sp>
      <p:sp>
        <p:nvSpPr>
          <p:cNvPr id="48" name="Text 24"/>
          <p:cNvSpPr txBox="1"/>
          <p:nvPr/>
        </p:nvSpPr>
        <p:spPr>
          <a:xfrm>
            <a:off x="8229600" y="1463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Yu Gothic" pitchFamily="34" charset="-122"/>
                <a:cs typeface="Yu Gothic" pitchFamily="34" charset="-120"/>
              </a:rPr>
              <a:t>3</a:t>
            </a:r>
            <a:endParaRPr lang="en-US" sz="1500" dirty="0"/>
          </a:p>
        </p:txBody>
      </p:sp>
      <p:sp>
        <p:nvSpPr>
          <p:cNvPr id="49" name="Text 25"/>
          <p:cNvSpPr txBox="1"/>
          <p:nvPr/>
        </p:nvSpPr>
        <p:spPr>
          <a:xfrm>
            <a:off x="8796528" y="1463040"/>
            <a:ext cx="2843784" cy="457200"/>
          </a:xfrm>
          <a:prstGeom prst="rect">
            <a:avLst/>
          </a:prstGeom>
          <a:noFill/>
          <a:ln/>
        </p:spPr>
        <p:txBody>
          <a:bodyPr wrap="square" lIns="0" tIns="0" rIns="0" bIns="0" rtlCol="0" anchor="ctr"/>
          <a:lstStyle/>
          <a:p>
            <a:pPr indent="0" marL="0">
              <a:buNone/>
            </a:pPr>
            <a:r>
              <a:rPr lang="en-US" sz="1500" b="1" dirty="0">
                <a:solidFill>
                  <a:srgbClr val="B5472F"/>
                </a:solidFill>
                <a:latin typeface="Arial" pitchFamily="34" charset="0"/>
                <a:ea typeface="Yu Gothic" pitchFamily="34" charset="-122"/>
                <a:cs typeface="Yu Gothic" pitchFamily="34" charset="-120"/>
              </a:rPr>
              <a:t>Company-wide commons erode</a:t>
            </a:r>
            <a:endParaRPr lang="en-US" sz="1500" dirty="0"/>
          </a:p>
        </p:txBody>
      </p:sp>
      <p:sp>
        <p:nvSpPr>
          <p:cNvPr id="50" name="Shape 26"/>
          <p:cNvSpPr/>
          <p:nvPr/>
        </p:nvSpPr>
        <p:spPr>
          <a:xfrm>
            <a:off x="8229600" y="2057400"/>
            <a:ext cx="3410712" cy="2011680"/>
          </a:xfrm>
          <a:prstGeom prst="roundRect">
            <a:avLst>
              <a:gd name="adj" fmla="val 8065"/>
            </a:avLst>
          </a:prstGeom>
          <a:solidFill>
            <a:srgbClr val="EFE4CC"/>
          </a:solidFill>
          <a:ln/>
        </p:spPr>
      </p:sp>
      <p:sp>
        <p:nvSpPr>
          <p:cNvPr id="549" name="Card 00"/>
          <p:cNvSpPr/>
          <p:nvPr/>
        </p:nvSpPr>
        <p:spPr>
          <a:xfrm>
            <a:off x="640080" y="2148840"/>
            <a:ext cx="3227832" cy="548640"/>
          </a:xfrm>
          <a:prstGeom prst="roundRect">
            <a:avLst>
              <a:gd name="adj" fmla="val 10000"/>
            </a:avLst>
          </a:prstGeom>
          <a:solidFill>
            <a:srgbClr val="FFFFFF"/>
          </a:solidFill>
          <a:ln/>
        </p:spPr>
      </p:sp>
      <p:sp>
        <p:nvSpPr>
          <p:cNvPr id="550" name="Card Text 00"/>
          <p:cNvSpPr txBox="1"/>
          <p:nvPr/>
        </p:nvSpPr>
        <p:spPr>
          <a:xfrm>
            <a:off x="640080" y="2148840"/>
            <a:ext cx="3227832" cy="548640"/>
          </a:xfrm>
          <a:prstGeom prst="rect">
            <a:avLst/>
          </a:prstGeom>
          <a:noFill/>
          <a:ln/>
        </p:spPr>
        <p:txBody>
          <a:bodyPr wrap="square" lIns="91440" tIns="0" rIns="91440" bIns="0" rtlCol="0" anchor="ctr"/>
          <a:lstStyle/>
          <a:p>
            <a:pPr indent="0" marL="0">
              <a:lnSpc>
                <a:spcPct val="115000"/>
              </a:lnSpc>
              <a:buNone/>
            </a:pPr>
            <a:r>
              <a:rPr lang="en-US" altLang="en-US" sz="1200" b="1" dirty="0">
                <a:solidFill>
                  <a:srgbClr val="1F7A68"/>
                </a:solidFill>
                <a:latin typeface="Arial" pitchFamily="34" charset="0"/>
                <a:ea typeface="Yu Gothic" pitchFamily="34" charset="-122"/>
                <a:cs typeface="Yu Gothic" pitchFamily="34" charset="-120"/>
              </a:rPr>
              <a:t>Regulatory and legal change</a:t>
            </a:r>
          </a:p>
          <a:p>
            <a:pPr indent="0" marL="0">
              <a:lnSpc>
                <a:spcPct val="115000"/>
              </a:lnSpc>
              <a:spcBef>
                <a:spcPts val="100"/>
              </a:spcBef>
              <a:buNone/>
            </a:pPr>
            <a:r>
              <a:rPr lang="en-US" altLang="en-US" sz="1000" b="0" dirty="0">
                <a:solidFill>
                  <a:srgbClr val="3E4A56"/>
                </a:solidFill>
                <a:latin typeface="Arial" pitchFamily="34" charset="0"/>
                <a:ea typeface="Yu Gothic" pitchFamily="34" charset="-122"/>
                <a:cs typeface="Yu Gothic" pitchFamily="34" charset="-120"/>
              </a:rPr>
              <a:t>Legacy fixes cost too much; build new instead</a:t>
            </a:r>
          </a:p>
        </p:txBody>
      </p:sp>
      <p:sp>
        <p:nvSpPr>
          <p:cNvPr id="551" name="Card 01"/>
          <p:cNvSpPr/>
          <p:nvPr/>
        </p:nvSpPr>
        <p:spPr>
          <a:xfrm>
            <a:off x="4480560" y="2148840"/>
            <a:ext cx="3227832" cy="548640"/>
          </a:xfrm>
          <a:prstGeom prst="roundRect">
            <a:avLst>
              <a:gd name="adj" fmla="val 10000"/>
            </a:avLst>
          </a:prstGeom>
          <a:solidFill>
            <a:srgbClr val="FFFFFF"/>
          </a:solidFill>
          <a:ln/>
        </p:spPr>
      </p:sp>
      <p:sp>
        <p:nvSpPr>
          <p:cNvPr id="552" name="Card Text 01"/>
          <p:cNvSpPr txBox="1"/>
          <p:nvPr/>
        </p:nvSpPr>
        <p:spPr>
          <a:xfrm>
            <a:off x="4480560" y="2148840"/>
            <a:ext cx="3227832" cy="548640"/>
          </a:xfrm>
          <a:prstGeom prst="rect">
            <a:avLst/>
          </a:prstGeom>
          <a:noFill/>
          <a:ln/>
        </p:spPr>
        <p:txBody>
          <a:bodyPr wrap="square" lIns="91440" tIns="0" rIns="91440" bIns="0" rtlCol="0" anchor="ctr"/>
          <a:lstStyle/>
          <a:p>
            <a:pPr indent="0" marL="0">
              <a:lnSpc>
                <a:spcPct val="115000"/>
              </a:lnSpc>
              <a:buNone/>
            </a:pPr>
            <a:r>
              <a:rPr lang="en-US" altLang="en-US" sz="1200" b="1" dirty="0">
                <a:solidFill>
                  <a:srgbClr val="1B2A38"/>
                </a:solidFill>
                <a:latin typeface="Arial" pitchFamily="34" charset="0"/>
                <a:ea typeface="Yu Gothic" pitchFamily="34" charset="-122"/>
                <a:cs typeface="Yu Gothic" pitchFamily="34" charset="-120"/>
              </a:rPr>
              <a:t>Plans made in isolation</a:t>
            </a:r>
          </a:p>
          <a:p>
            <a:pPr indent="0" marL="0">
              <a:lnSpc>
                <a:spcPct val="115000"/>
              </a:lnSpc>
              <a:spcBef>
                <a:spcPts val="100"/>
              </a:spcBef>
              <a:buNone/>
            </a:pPr>
            <a:r>
              <a:rPr lang="en-US" altLang="en-US" sz="1000" b="0" dirty="0">
                <a:solidFill>
                  <a:srgbClr val="3E4A56"/>
                </a:solidFill>
                <a:latin typeface="Arial" pitchFamily="34" charset="0"/>
                <a:ea typeface="Yu Gothic" pitchFamily="34" charset="-122"/>
                <a:cs typeface="Yu Gothic" pitchFamily="34" charset="-120"/>
              </a:rPr>
              <a:t>IT and management asked to ratify after the fact</a:t>
            </a:r>
          </a:p>
        </p:txBody>
      </p:sp>
      <p:sp>
        <p:nvSpPr>
          <p:cNvPr id="553" name="Card 02"/>
          <p:cNvSpPr/>
          <p:nvPr/>
        </p:nvSpPr>
        <p:spPr>
          <a:xfrm>
            <a:off x="8321040" y="2148840"/>
            <a:ext cx="3227832" cy="548640"/>
          </a:xfrm>
          <a:prstGeom prst="roundRect">
            <a:avLst>
              <a:gd name="adj" fmla="val 10000"/>
            </a:avLst>
          </a:prstGeom>
          <a:solidFill>
            <a:srgbClr val="FFFFFF"/>
          </a:solidFill>
          <a:ln/>
        </p:spPr>
      </p:sp>
      <p:sp>
        <p:nvSpPr>
          <p:cNvPr id="554" name="Card Text 02"/>
          <p:cNvSpPr txBox="1"/>
          <p:nvPr/>
        </p:nvSpPr>
        <p:spPr>
          <a:xfrm>
            <a:off x="8321040" y="2148840"/>
            <a:ext cx="3227832" cy="548640"/>
          </a:xfrm>
          <a:prstGeom prst="rect">
            <a:avLst/>
          </a:prstGeom>
          <a:noFill/>
          <a:ln/>
        </p:spPr>
        <p:txBody>
          <a:bodyPr wrap="square" lIns="91440" tIns="0" rIns="91440" bIns="0" rtlCol="0" anchor="ctr"/>
          <a:lstStyle/>
          <a:p>
            <a:pPr indent="0" marL="0">
              <a:lnSpc>
                <a:spcPct val="115000"/>
              </a:lnSpc>
              <a:buNone/>
            </a:pPr>
            <a:r>
              <a:rPr lang="en-US" altLang="en-US" sz="1200" b="1" dirty="0">
                <a:solidFill>
                  <a:srgbClr val="B5472F"/>
                </a:solidFill>
                <a:latin typeface="Arial" pitchFamily="34" charset="0"/>
                <a:ea typeface="Yu Gothic" pitchFamily="34" charset="-122"/>
                <a:cs typeface="Yu Gothic" pitchFamily="34" charset="-120"/>
              </a:rPr>
              <a:t>Deliberation and approval</a:t>
            </a:r>
          </a:p>
          <a:p>
            <a:pPr indent="0" marL="0">
              <a:lnSpc>
                <a:spcPct val="115000"/>
              </a:lnSpc>
              <a:spcBef>
                <a:spcPts val="100"/>
              </a:spcBef>
              <a:buNone/>
            </a:pPr>
            <a:r>
              <a:rPr lang="en-US" altLang="en-US" sz="1000" b="0" dirty="0">
                <a:solidFill>
                  <a:srgbClr val="3E4A56"/>
                </a:solidFill>
                <a:latin typeface="Arial" pitchFamily="34" charset="0"/>
                <a:ea typeface="Yu Gothic" pitchFamily="34" charset="-122"/>
                <a:cs typeface="Yu Gothic" pitchFamily="34" charset="-120"/>
              </a:rPr>
              <a:t>Mere ratification sidelines IT and management</a:t>
            </a:r>
          </a:p>
        </p:txBody>
      </p:sp>
      <p:sp>
        <p:nvSpPr>
          <p:cNvPr id="555" name="Card 10"/>
          <p:cNvSpPr/>
          <p:nvPr/>
        </p:nvSpPr>
        <p:spPr>
          <a:xfrm>
            <a:off x="640080" y="2788920"/>
            <a:ext cx="3227832" cy="548640"/>
          </a:xfrm>
          <a:prstGeom prst="roundRect">
            <a:avLst>
              <a:gd name="adj" fmla="val 10000"/>
            </a:avLst>
          </a:prstGeom>
          <a:solidFill>
            <a:srgbClr val="FFFFFF"/>
          </a:solidFill>
          <a:ln/>
        </p:spPr>
      </p:sp>
      <p:sp>
        <p:nvSpPr>
          <p:cNvPr id="556" name="Card Text 10"/>
          <p:cNvSpPr txBox="1"/>
          <p:nvPr/>
        </p:nvSpPr>
        <p:spPr>
          <a:xfrm>
            <a:off x="640080" y="2788920"/>
            <a:ext cx="3227832" cy="548640"/>
          </a:xfrm>
          <a:prstGeom prst="rect">
            <a:avLst/>
          </a:prstGeom>
          <a:noFill/>
          <a:ln/>
        </p:spPr>
        <p:txBody>
          <a:bodyPr wrap="square" lIns="91440" tIns="0" rIns="91440" bIns="0" rtlCol="0" anchor="ctr"/>
          <a:lstStyle/>
          <a:p>
            <a:pPr indent="0" marL="0">
              <a:lnSpc>
                <a:spcPct val="115000"/>
              </a:lnSpc>
              <a:buNone/>
            </a:pPr>
            <a:r>
              <a:rPr lang="en-US" altLang="en-US" sz="1200" b="1" dirty="0">
                <a:solidFill>
                  <a:srgbClr val="1F7A68"/>
                </a:solidFill>
                <a:latin typeface="Arial" pitchFamily="34" charset="0"/>
                <a:ea typeface="Yu Gothic" pitchFamily="34" charset="-122"/>
                <a:cs typeface="Yu Gothic" pitchFamily="34" charset="-120"/>
              </a:rPr>
              <a:t>Keeping pace with new modalities</a:t>
            </a:r>
          </a:p>
          <a:p>
            <a:pPr indent="0" marL="0">
              <a:lnSpc>
                <a:spcPct val="115000"/>
              </a:lnSpc>
              <a:spcBef>
                <a:spcPts val="100"/>
              </a:spcBef>
              <a:buNone/>
            </a:pPr>
            <a:r>
              <a:rPr lang="en-US" altLang="en-US" sz="1000" b="0" dirty="0">
                <a:solidFill>
                  <a:srgbClr val="3E4A56"/>
                </a:solidFill>
                <a:latin typeface="Arial" pitchFamily="34" charset="0"/>
                <a:ea typeface="Yu Gothic" pitchFamily="34" charset="-122"/>
                <a:cs typeface="Yu Gothic" pitchFamily="34" charset="-120"/>
              </a:rPr>
              <a:t>Stand up a PoC environment for new modalities, fast</a:t>
            </a:r>
          </a:p>
        </p:txBody>
      </p:sp>
      <p:sp>
        <p:nvSpPr>
          <p:cNvPr id="557" name="Card 11"/>
          <p:cNvSpPr/>
          <p:nvPr/>
        </p:nvSpPr>
        <p:spPr>
          <a:xfrm>
            <a:off x="4480560" y="2788920"/>
            <a:ext cx="3227832" cy="548640"/>
          </a:xfrm>
          <a:prstGeom prst="roundRect">
            <a:avLst>
              <a:gd name="adj" fmla="val 10000"/>
            </a:avLst>
          </a:prstGeom>
          <a:solidFill>
            <a:srgbClr val="FFFFFF"/>
          </a:solidFill>
          <a:ln/>
        </p:spPr>
      </p:sp>
      <p:sp>
        <p:nvSpPr>
          <p:cNvPr id="558" name="Card Text 11"/>
          <p:cNvSpPr txBox="1"/>
          <p:nvPr/>
        </p:nvSpPr>
        <p:spPr>
          <a:xfrm>
            <a:off x="4480560" y="2788920"/>
            <a:ext cx="3227832" cy="548640"/>
          </a:xfrm>
          <a:prstGeom prst="rect">
            <a:avLst/>
          </a:prstGeom>
          <a:noFill/>
          <a:ln/>
        </p:spPr>
        <p:txBody>
          <a:bodyPr wrap="square" lIns="91440" tIns="0" rIns="91440" bIns="0" rtlCol="0" anchor="ctr"/>
          <a:lstStyle/>
          <a:p>
            <a:pPr indent="0" marL="0">
              <a:lnSpc>
                <a:spcPct val="115000"/>
              </a:lnSpc>
              <a:buNone/>
            </a:pPr>
            <a:r>
              <a:rPr lang="en-US" altLang="en-US" sz="1200" b="1" dirty="0">
                <a:solidFill>
                  <a:srgbClr val="1B2A38"/>
                </a:solidFill>
                <a:latin typeface="Arial" pitchFamily="34" charset="0"/>
                <a:ea typeface="Yu Gothic" pitchFamily="34" charset="-122"/>
                <a:cs typeface="Yu Gothic" pitchFamily="34" charset="-120"/>
              </a:rPr>
              <a:t>Locally optimized design</a:t>
            </a:r>
          </a:p>
          <a:p>
            <a:pPr indent="0" marL="0">
              <a:lnSpc>
                <a:spcPct val="115000"/>
              </a:lnSpc>
              <a:spcBef>
                <a:spcPts val="100"/>
              </a:spcBef>
              <a:buNone/>
            </a:pPr>
            <a:r>
              <a:rPr lang="en-US" altLang="en-US" sz="1000" b="0" dirty="0">
                <a:solidFill>
                  <a:srgbClr val="3E4A56"/>
                </a:solidFill>
                <a:latin typeface="Arial" pitchFamily="34" charset="0"/>
                <a:ea typeface="Yu Gothic" pitchFamily="34" charset="-122"/>
                <a:cs typeface="Yu Gothic" pitchFamily="34" charset="-120"/>
              </a:rPr>
              <a:t>Seen as a whole, duplicate or similar functions appear</a:t>
            </a:r>
          </a:p>
        </p:txBody>
      </p:sp>
      <p:sp>
        <p:nvSpPr>
          <p:cNvPr id="559" name="Card 12"/>
          <p:cNvSpPr/>
          <p:nvPr/>
        </p:nvSpPr>
        <p:spPr>
          <a:xfrm>
            <a:off x="8321040" y="2788920"/>
            <a:ext cx="3227832" cy="548640"/>
          </a:xfrm>
          <a:prstGeom prst="roundRect">
            <a:avLst>
              <a:gd name="adj" fmla="val 10000"/>
            </a:avLst>
          </a:prstGeom>
          <a:solidFill>
            <a:srgbClr val="FFFFFF"/>
          </a:solidFill>
          <a:ln/>
        </p:spPr>
      </p:sp>
      <p:sp>
        <p:nvSpPr>
          <p:cNvPr id="560" name="Card Text 12"/>
          <p:cNvSpPr txBox="1"/>
          <p:nvPr/>
        </p:nvSpPr>
        <p:spPr>
          <a:xfrm>
            <a:off x="8321040" y="2788920"/>
            <a:ext cx="3227832" cy="548640"/>
          </a:xfrm>
          <a:prstGeom prst="rect">
            <a:avLst/>
          </a:prstGeom>
          <a:noFill/>
          <a:ln/>
        </p:spPr>
        <p:txBody>
          <a:bodyPr wrap="square" lIns="91440" tIns="0" rIns="91440" bIns="0" rtlCol="0" anchor="ctr"/>
          <a:lstStyle/>
          <a:p>
            <a:pPr indent="0" marL="0">
              <a:lnSpc>
                <a:spcPct val="115000"/>
              </a:lnSpc>
              <a:buNone/>
            </a:pPr>
            <a:r>
              <a:rPr lang="en-US" altLang="en-US" sz="1200" b="1" dirty="0">
                <a:solidFill>
                  <a:srgbClr val="B5472F"/>
                </a:solidFill>
                <a:latin typeface="Arial" pitchFamily="34" charset="0"/>
                <a:ea typeface="Yu Gothic" pitchFamily="34" charset="-122"/>
                <a:cs typeface="Yu Gothic" pitchFamily="34" charset="-120"/>
              </a:rPr>
              <a:t>Hidden technical debt</a:t>
            </a:r>
          </a:p>
          <a:p>
            <a:pPr indent="0" marL="0">
              <a:lnSpc>
                <a:spcPct val="115000"/>
              </a:lnSpc>
              <a:spcBef>
                <a:spcPts val="100"/>
              </a:spcBef>
              <a:buNone/>
            </a:pPr>
            <a:r>
              <a:rPr lang="en-US" altLang="en-US" sz="1000" b="0" dirty="0">
                <a:solidFill>
                  <a:srgbClr val="3E4A56"/>
                </a:solidFill>
                <a:latin typeface="Arial" pitchFamily="34" charset="0"/>
                <a:ea typeface="Yu Gothic" pitchFamily="34" charset="-122"/>
                <a:cs typeface="Yu Gothic" pitchFamily="34" charset="-120"/>
              </a:rPr>
              <a:t>Apparent IT investment may be debt repayment</a:t>
            </a:r>
          </a:p>
        </p:txBody>
      </p:sp>
      <p:sp>
        <p:nvSpPr>
          <p:cNvPr id="561" name="Card 20"/>
          <p:cNvSpPr/>
          <p:nvPr/>
        </p:nvSpPr>
        <p:spPr>
          <a:xfrm>
            <a:off x="640080" y="3429000"/>
            <a:ext cx="3227832" cy="548640"/>
          </a:xfrm>
          <a:prstGeom prst="roundRect">
            <a:avLst>
              <a:gd name="adj" fmla="val 10000"/>
            </a:avLst>
          </a:prstGeom>
          <a:solidFill>
            <a:srgbClr val="FFFFFF"/>
          </a:solidFill>
          <a:ln/>
        </p:spPr>
      </p:sp>
      <p:sp>
        <p:nvSpPr>
          <p:cNvPr id="562" name="Card Text 20"/>
          <p:cNvSpPr txBox="1"/>
          <p:nvPr/>
        </p:nvSpPr>
        <p:spPr>
          <a:xfrm>
            <a:off x="640080" y="3429000"/>
            <a:ext cx="3227832" cy="548640"/>
          </a:xfrm>
          <a:prstGeom prst="rect">
            <a:avLst/>
          </a:prstGeom>
          <a:noFill/>
          <a:ln/>
        </p:spPr>
        <p:txBody>
          <a:bodyPr wrap="square" lIns="91440" tIns="0" rIns="91440" bIns="0" rtlCol="0" anchor="ctr"/>
          <a:lstStyle/>
          <a:p>
            <a:pPr indent="0" marL="0">
              <a:lnSpc>
                <a:spcPct val="115000"/>
              </a:lnSpc>
              <a:buNone/>
            </a:pPr>
            <a:r>
              <a:rPr lang="en-US" altLang="en-US" sz="1200" b="1" dirty="0">
                <a:solidFill>
                  <a:srgbClr val="1F7A68"/>
                </a:solidFill>
                <a:latin typeface="Arial" pitchFamily="34" charset="0"/>
                <a:ea typeface="Yu Gothic" pitchFamily="34" charset="-122"/>
                <a:cs typeface="Yu Gothic" pitchFamily="34" charset="-120"/>
              </a:rPr>
              <a:t>Dealing with legacy systems</a:t>
            </a:r>
          </a:p>
          <a:p>
            <a:pPr indent="0" marL="0">
              <a:lnSpc>
                <a:spcPct val="115000"/>
              </a:lnSpc>
              <a:spcBef>
                <a:spcPts val="100"/>
              </a:spcBef>
              <a:buNone/>
            </a:pPr>
            <a:r>
              <a:rPr lang="en-US" altLang="en-US" sz="1000" b="0" dirty="0">
                <a:solidFill>
                  <a:srgbClr val="3E4A56"/>
                </a:solidFill>
                <a:latin typeface="Arial" pitchFamily="34" charset="0"/>
                <a:ea typeface="Yu Gothic" pitchFamily="34" charset="-122"/>
                <a:cs typeface="Yu Gothic" pitchFamily="34" charset="-120"/>
              </a:rPr>
              <a:t>Replace old, hard-to-use systems with SaaS</a:t>
            </a:r>
          </a:p>
        </p:txBody>
      </p:sp>
      <p:sp>
        <p:nvSpPr>
          <p:cNvPr id="563" name="Card 21"/>
          <p:cNvSpPr/>
          <p:nvPr/>
        </p:nvSpPr>
        <p:spPr>
          <a:xfrm>
            <a:off x="4480560" y="3429000"/>
            <a:ext cx="3227832" cy="548640"/>
          </a:xfrm>
          <a:prstGeom prst="roundRect">
            <a:avLst>
              <a:gd name="adj" fmla="val 10000"/>
            </a:avLst>
          </a:prstGeom>
          <a:solidFill>
            <a:srgbClr val="FFFFFF"/>
          </a:solidFill>
          <a:ln/>
        </p:spPr>
      </p:sp>
      <p:sp>
        <p:nvSpPr>
          <p:cNvPr id="564" name="Card Text 21"/>
          <p:cNvSpPr txBox="1"/>
          <p:nvPr/>
        </p:nvSpPr>
        <p:spPr>
          <a:xfrm>
            <a:off x="4480560" y="3429000"/>
            <a:ext cx="3227832" cy="548640"/>
          </a:xfrm>
          <a:prstGeom prst="rect">
            <a:avLst/>
          </a:prstGeom>
          <a:noFill/>
          <a:ln/>
        </p:spPr>
        <p:txBody>
          <a:bodyPr wrap="square" lIns="91440" tIns="0" rIns="91440" bIns="0" rtlCol="0" anchor="ctr"/>
          <a:lstStyle/>
          <a:p>
            <a:pPr indent="0" marL="0">
              <a:lnSpc>
                <a:spcPct val="115000"/>
              </a:lnSpc>
              <a:buNone/>
            </a:pPr>
            <a:r>
              <a:rPr lang="en-US" altLang="en-US" sz="1200" b="1" dirty="0">
                <a:solidFill>
                  <a:srgbClr val="1B2A38"/>
                </a:solidFill>
                <a:latin typeface="Arial" pitchFamily="34" charset="0"/>
                <a:ea typeface="Yu Gothic" pitchFamily="34" charset="-122"/>
                <a:cs typeface="Yu Gothic" pitchFamily="34" charset="-120"/>
              </a:rPr>
              <a:t>Vendor-specific design takes root</a:t>
            </a:r>
          </a:p>
          <a:p>
            <a:pPr indent="0" marL="0">
              <a:lnSpc>
                <a:spcPct val="115000"/>
              </a:lnSpc>
              <a:spcBef>
                <a:spcPts val="100"/>
              </a:spcBef>
              <a:buNone/>
            </a:pPr>
            <a:r>
              <a:rPr lang="en-US" altLang="en-US" sz="1000" b="0" dirty="0">
                <a:solidFill>
                  <a:srgbClr val="3E4A56"/>
                </a:solidFill>
                <a:latin typeface="Arial" pitchFamily="34" charset="0"/>
                <a:ea typeface="Yu Gothic" pitchFamily="34" charset="-122"/>
                <a:cs typeface="Yu Gothic" pitchFamily="34" charset="-120"/>
              </a:rPr>
              <a:t>For vendors, silos act as a barrier to entry</a:t>
            </a:r>
          </a:p>
        </p:txBody>
      </p:sp>
      <p:sp>
        <p:nvSpPr>
          <p:cNvPr id="565" name="Card 22"/>
          <p:cNvSpPr/>
          <p:nvPr/>
        </p:nvSpPr>
        <p:spPr>
          <a:xfrm>
            <a:off x="8321040" y="3429000"/>
            <a:ext cx="3227832" cy="548640"/>
          </a:xfrm>
          <a:prstGeom prst="roundRect">
            <a:avLst>
              <a:gd name="adj" fmla="val 10000"/>
            </a:avLst>
          </a:prstGeom>
          <a:solidFill>
            <a:srgbClr val="FFFFFF"/>
          </a:solidFill>
          <a:ln/>
        </p:spPr>
      </p:sp>
      <p:sp>
        <p:nvSpPr>
          <p:cNvPr id="566" name="Card Text 22"/>
          <p:cNvSpPr txBox="1"/>
          <p:nvPr/>
        </p:nvSpPr>
        <p:spPr>
          <a:xfrm>
            <a:off x="8321040" y="3429000"/>
            <a:ext cx="3227832" cy="548640"/>
          </a:xfrm>
          <a:prstGeom prst="rect">
            <a:avLst/>
          </a:prstGeom>
          <a:noFill/>
          <a:ln/>
        </p:spPr>
        <p:txBody>
          <a:bodyPr wrap="square" lIns="91440" tIns="0" rIns="91440" bIns="0" rtlCol="0" anchor="ctr"/>
          <a:lstStyle/>
          <a:p>
            <a:pPr indent="0" marL="0">
              <a:lnSpc>
                <a:spcPct val="115000"/>
              </a:lnSpc>
              <a:buNone/>
            </a:pPr>
            <a:r>
              <a:rPr lang="en-US" altLang="en-US" sz="1200" b="1" dirty="0">
                <a:solidFill>
                  <a:srgbClr val="B5472F"/>
                </a:solidFill>
                <a:latin typeface="Arial" pitchFamily="34" charset="0"/>
                <a:ea typeface="Yu Gothic" pitchFamily="34" charset="-122"/>
                <a:cs typeface="Yu Gothic" pitchFamily="34" charset="-120"/>
              </a:rPr>
              <a:t>Flexibility to change</a:t>
            </a:r>
          </a:p>
          <a:p>
            <a:pPr indent="0" marL="0">
              <a:lnSpc>
                <a:spcPct val="115000"/>
              </a:lnSpc>
              <a:spcBef>
                <a:spcPts val="100"/>
              </a:spcBef>
              <a:buNone/>
            </a:pPr>
            <a:r>
              <a:rPr lang="en-US" altLang="en-US" sz="1000" b="0" dirty="0">
                <a:solidFill>
                  <a:srgbClr val="3E4A56"/>
                </a:solidFill>
                <a:latin typeface="Arial" pitchFamily="34" charset="0"/>
                <a:ea typeface="Yu Gothic" pitchFamily="34" charset="-122"/>
                <a:cs typeface="Yu Gothic" pitchFamily="34" charset="-120"/>
              </a:rPr>
              <a:t>Rigid links slow transformation and miss opportunities</a:t>
            </a:r>
          </a:p>
        </p:txBody>
      </p:sp>
      <p:sp>
        <p:nvSpPr>
          <p:cNvPr id="567" name="Caption 1"/>
          <p:cNvSpPr txBox="1"/>
          <p:nvPr/>
        </p:nvSpPr>
        <p:spPr>
          <a:xfrm>
            <a:off x="594360" y="4178808"/>
            <a:ext cx="3319272" cy="850392"/>
          </a:xfrm>
          <a:prstGeom prst="rect">
            <a:avLst/>
          </a:prstGeom>
          <a:noFill/>
          <a:ln/>
        </p:spPr>
        <p:txBody>
          <a:bodyPr wrap="square" lIns="0" tIns="0" rIns="0" bIns="0" rtlCol="0" anchor="t"/>
          <a:lstStyle/>
          <a:p>
            <a:pPr indent="0" marL="0">
              <a:lnSpc>
                <a:spcPct val="115000"/>
              </a:lnSpc>
              <a:buNone/>
            </a:pPr>
            <a:r>
              <a:rPr lang="en-US" altLang="en-US" sz="1200" b="0" dirty="0">
                <a:solidFill>
                  <a:srgbClr val="1B2A38"/>
                </a:solidFill>
                <a:latin typeface="Arial" pitchFamily="34" charset="0"/>
                <a:ea typeface="Yu Gothic" pitchFamily="34" charset="-122"/>
                <a:cs typeface="Yu Gothic" pitchFamily="34" charset="-120"/>
              </a:rPr>
              <a:t>All are </a:t>
            </a:r>
            <a:r>
              <a:rPr lang="en-US" altLang="en-US" sz="1200" b="1" dirty="0">
                <a:solidFill>
                  <a:srgbClr val="1B2A38"/>
                </a:solidFill>
                <a:latin typeface="Arial" pitchFamily="34" charset="0"/>
                <a:ea typeface="Yu Gothic" pitchFamily="34" charset="-122"/>
                <a:cs typeface="Yu Gothic" pitchFamily="34" charset="-120"/>
              </a:rPr>
              <a:t>sound problem definitions and rational responses</a:t>
            </a:r>
            <a:r>
              <a:rPr lang="en-US" altLang="en-US" sz="1200" b="0" dirty="0">
                <a:solidFill>
                  <a:srgbClr val="1B2A38"/>
                </a:solidFill>
                <a:latin typeface="Arial" pitchFamily="34" charset="0"/>
                <a:ea typeface="Yu Gothic" pitchFamily="34" charset="-122"/>
                <a:cs typeface="Yu Gothic" pitchFamily="34" charset="-120"/>
              </a:rPr>
              <a:t>.</a:t>
            </a:r>
          </a:p>
        </p:txBody>
      </p:sp>
      <p:sp>
        <p:nvSpPr>
          <p:cNvPr id="568" name="Caption 2"/>
          <p:cNvSpPr txBox="1"/>
          <p:nvPr/>
        </p:nvSpPr>
        <p:spPr>
          <a:xfrm>
            <a:off x="4434840" y="4178808"/>
            <a:ext cx="3319272" cy="850392"/>
          </a:xfrm>
          <a:prstGeom prst="rect">
            <a:avLst/>
          </a:prstGeom>
          <a:noFill/>
          <a:ln/>
        </p:spPr>
        <p:txBody>
          <a:bodyPr wrap="square" lIns="0" tIns="0" rIns="0" bIns="0" rtlCol="0" anchor="t"/>
          <a:lstStyle/>
          <a:p>
            <a:pPr indent="0" marL="0">
              <a:lnSpc>
                <a:spcPct val="115000"/>
              </a:lnSpc>
              <a:buNone/>
            </a:pPr>
            <a:r>
              <a:rPr lang="en-US" altLang="en-US" sz="1200" b="0" dirty="0">
                <a:solidFill>
                  <a:srgbClr val="1B2A38"/>
                </a:solidFill>
                <a:latin typeface="Arial" pitchFamily="34" charset="0"/>
                <a:ea typeface="Yu Gothic" pitchFamily="34" charset="-122"/>
                <a:cs typeface="Yu Gothic" pitchFamily="34" charset="-120"/>
              </a:rPr>
              <a:t>Budget and decisions sit with each department, which moves ahead with </a:t>
            </a:r>
            <a:r>
              <a:rPr lang="en-US" altLang="en-US" sz="1200" b="1" dirty="0">
                <a:solidFill>
                  <a:srgbClr val="1B2A38"/>
                </a:solidFill>
                <a:latin typeface="Arial" pitchFamily="34" charset="0"/>
                <a:ea typeface="Yu Gothic" pitchFamily="34" charset="-122"/>
                <a:cs typeface="Yu Gothic" pitchFamily="34" charset="-120"/>
              </a:rPr>
              <a:t>vendors optimizing for the department that hired them</a:t>
            </a:r>
            <a:r>
              <a:rPr lang="en-US" altLang="en-US" sz="1200" b="0" dirty="0">
                <a:solidFill>
                  <a:srgbClr val="1B2A38"/>
                </a:solidFill>
                <a:latin typeface="Arial" pitchFamily="34" charset="0"/>
                <a:ea typeface="Yu Gothic" pitchFamily="34" charset="-122"/>
                <a:cs typeface="Yu Gothic" pitchFamily="34" charset="-120"/>
              </a:rPr>
              <a:t>.</a:t>
            </a:r>
          </a:p>
        </p:txBody>
      </p:sp>
      <p:sp>
        <p:nvSpPr>
          <p:cNvPr id="569" name="Caption 3"/>
          <p:cNvSpPr txBox="1"/>
          <p:nvPr/>
        </p:nvSpPr>
        <p:spPr>
          <a:xfrm>
            <a:off x="8275320" y="4178808"/>
            <a:ext cx="3319272" cy="850392"/>
          </a:xfrm>
          <a:prstGeom prst="rect">
            <a:avLst/>
          </a:prstGeom>
          <a:noFill/>
          <a:ln/>
        </p:spPr>
        <p:txBody>
          <a:bodyPr wrap="square" lIns="0" tIns="0" rIns="0" bIns="0" rtlCol="0" anchor="t"/>
          <a:lstStyle/>
          <a:p>
            <a:pPr indent="0" marL="0">
              <a:lnSpc>
                <a:spcPct val="115000"/>
              </a:lnSpc>
              <a:buNone/>
            </a:pPr>
            <a:r>
              <a:rPr lang="en-US" altLang="en-US" sz="1200" b="0" dirty="0">
                <a:solidFill>
                  <a:srgbClr val="1B2A38"/>
                </a:solidFill>
                <a:latin typeface="Arial" pitchFamily="34" charset="0"/>
                <a:ea typeface="Yu Gothic" pitchFamily="34" charset="-122"/>
                <a:cs typeface="Yu Gothic" pitchFamily="34" charset="-120"/>
              </a:rPr>
              <a:t>Even as sound decisions accumulate, </a:t>
            </a:r>
            <a:r>
              <a:rPr lang="en-US" altLang="en-US" sz="1200" b="1" dirty="0">
                <a:solidFill>
                  <a:srgbClr val="1B2A38"/>
                </a:solidFill>
                <a:latin typeface="Arial" pitchFamily="34" charset="0"/>
                <a:ea typeface="Yu Gothic" pitchFamily="34" charset="-122"/>
                <a:cs typeface="Yu Gothic" pitchFamily="34" charset="-120"/>
              </a:rPr>
              <a:t>the company-wide commons erode</a:t>
            </a:r>
            <a:r>
              <a:rPr lang="en-US" altLang="en-US" sz="1200" b="0" dirty="0">
                <a:solidFill>
                  <a:srgbClr val="1B2A38"/>
                </a:solidFill>
                <a:latin typeface="Arial" pitchFamily="34" charset="0"/>
                <a:ea typeface="Yu Gothic" pitchFamily="34" charset="-122"/>
                <a:cs typeface="Yu Gothic" pitchFamily="34" charset="-120"/>
              </a:rPr>
              <a:t>.</a:t>
            </a:r>
          </a:p>
        </p:txBody>
      </p:sp>
      <p:sp>
        <p:nvSpPr>
          <p:cNvPr id="570" name="Band"/>
          <p:cNvSpPr/>
          <p:nvPr/>
        </p:nvSpPr>
        <p:spPr>
          <a:xfrm>
            <a:off x="548640" y="5120640"/>
            <a:ext cx="11091672" cy="1143000"/>
          </a:xfrm>
          <a:prstGeom prst="roundRect">
            <a:avLst>
              <a:gd name="adj" fmla="val 6667"/>
            </a:avLst>
          </a:prstGeom>
          <a:solidFill>
            <a:srgbClr val="F2F4F6"/>
          </a:solidFill>
          <a:ln/>
        </p:spPr>
      </p:sp>
      <p:sp>
        <p:nvSpPr>
          <p:cNvPr id="571" name="Band Label"/>
          <p:cNvSpPr txBox="1"/>
          <p:nvPr/>
        </p:nvSpPr>
        <p:spPr>
          <a:xfrm>
            <a:off x="731520" y="5120640"/>
            <a:ext cx="1920240" cy="1143000"/>
          </a:xfrm>
          <a:prstGeom prst="rect">
            <a:avLst/>
          </a:prstGeom>
          <a:noFill/>
          <a:ln/>
        </p:spPr>
        <p:txBody>
          <a:bodyPr wrap="square" lIns="0" tIns="0" rIns="0" bIns="0" rtlCol="0" anchor="ctr"/>
          <a:lstStyle/>
          <a:p>
            <a:pPr indent="0" marL="0">
              <a:lnSpc>
                <a:spcPct val="115000"/>
              </a:lnSpc>
              <a:buNone/>
            </a:pPr>
            <a:r>
              <a:rPr lang="en-US" altLang="en-US" sz="1400" b="1" dirty="0">
                <a:solidFill>
                  <a:srgbClr val="1F7A68"/>
                </a:solidFill>
                <a:latin typeface="Arial" pitchFamily="34" charset="0"/>
                <a:ea typeface="Yu Gothic" pitchFamily="34" charset="-122"/>
                <a:cs typeface="Yu Gothic" pitchFamily="34" charset="-120"/>
              </a:rPr>
              <a:t>5 of 8 conditions</a:t>
            </a:r>
          </a:p>
          <a:p>
            <a:pPr indent="0" marL="0">
              <a:lnSpc>
                <a:spcPct val="115000"/>
              </a:lnSpc>
              <a:buNone/>
            </a:pPr>
            <a:r>
              <a:rPr lang="en-US" altLang="en-US" sz="1400" b="1" dirty="0">
                <a:solidFill>
                  <a:srgbClr val="1F7A68"/>
                </a:solidFill>
                <a:latin typeface="Arial" pitchFamily="34" charset="0"/>
                <a:ea typeface="Yu Gothic" pitchFamily="34" charset="-122"/>
                <a:cs typeface="Yu Gothic" pitchFamily="34" charset="-120"/>
              </a:rPr>
              <a:t>that prevent erosion</a:t>
            </a:r>
          </a:p>
          <a:p>
            <a:pPr indent="0" marL="0">
              <a:lnSpc>
                <a:spcPct val="115000"/>
              </a:lnSpc>
              <a:spcBef>
                <a:spcPts val="300"/>
              </a:spcBef>
              <a:buNone/>
            </a:pPr>
            <a:r>
              <a:rPr lang="en-US" altLang="en-US" sz="900" b="0" dirty="0">
                <a:solidFill>
                  <a:srgbClr val="66717C"/>
                </a:solidFill>
                <a:latin typeface="Arial" pitchFamily="34" charset="0"/>
                <a:ea typeface="Yu Gothic" pitchFamily="34" charset="-122"/>
                <a:cs typeface="Yu Gothic" pitchFamily="34" charset="-120"/>
              </a:rPr>
              <a:t>E. Ostrom (1990)</a:t>
            </a:r>
          </a:p>
          <a:p>
            <a:pPr indent="0" marL="0">
              <a:lnSpc>
                <a:spcPct val="115000"/>
              </a:lnSpc>
              <a:buNone/>
            </a:pPr>
            <a:r>
              <a:rPr lang="en-US" altLang="en-US" sz="900" b="0" dirty="0">
                <a:solidFill>
                  <a:srgbClr val="66717C"/>
                </a:solidFill>
                <a:latin typeface="Arial" pitchFamily="34" charset="0"/>
                <a:ea typeface="Yu Gothic" pitchFamily="34" charset="-122"/>
                <a:cs typeface="Yu Gothic" pitchFamily="34" charset="-120"/>
              </a:rPr>
              <a:t>2009 Nobel Prize in Economics</a:t>
            </a:r>
          </a:p>
        </p:txBody>
      </p:sp>
      <p:sp>
        <p:nvSpPr>
          <p:cNvPr id="572" name="Down Arrow"/>
          <p:cNvSpPr/>
          <p:nvPr/>
        </p:nvSpPr>
        <p:spPr>
          <a:xfrm>
            <a:off x="1508760" y="4617720"/>
            <a:ext cx="365760" cy="402336"/>
          </a:xfrm>
          <a:prstGeom prst="downArrow">
            <a:avLst/>
          </a:prstGeom>
          <a:solidFill>
            <a:srgbClr val="66717C"/>
          </a:solidFill>
          <a:ln/>
        </p:spPr>
      </p:sp>
      <p:sp>
        <p:nvSpPr>
          <p:cNvPr id="573" name="Band Divider"/>
          <p:cNvSpPr/>
          <p:nvPr/>
        </p:nvSpPr>
        <p:spPr>
          <a:xfrm>
            <a:off x="2697480" y="5349240"/>
            <a:ext cx="9144" cy="685800"/>
          </a:xfrm>
          <a:prstGeom prst="rect">
            <a:avLst/>
          </a:prstGeom>
          <a:solidFill>
            <a:srgbClr val="C9CFD5"/>
          </a:solidFill>
          <a:ln/>
        </p:spPr>
      </p:sp>
      <p:sp>
        <p:nvSpPr>
          <p:cNvPr id="574" name="Ostrom Card 1"/>
          <p:cNvSpPr/>
          <p:nvPr/>
        </p:nvSpPr>
        <p:spPr>
          <a:xfrm>
            <a:off x="2834640" y="5239512"/>
            <a:ext cx="1660550" cy="905256"/>
          </a:xfrm>
          <a:prstGeom prst="roundRect">
            <a:avLst>
              <a:gd name="adj" fmla="val 10000"/>
            </a:avLst>
          </a:prstGeom>
          <a:solidFill>
            <a:srgbClr val="FFFFFF"/>
          </a:solidFill>
          <a:ln w="22225">
            <a:solidFill>
              <a:srgbClr val="B5472F"/>
            </a:solidFill>
          </a:ln>
        </p:spPr>
      </p:sp>
      <p:sp>
        <p:nvSpPr>
          <p:cNvPr id="575" name="Ostrom Text 1"/>
          <p:cNvSpPr txBox="1"/>
          <p:nvPr/>
        </p:nvSpPr>
        <p:spPr>
          <a:xfrm>
            <a:off x="2834640" y="5239512"/>
            <a:ext cx="1660550" cy="905256"/>
          </a:xfrm>
          <a:prstGeom prst="rect">
            <a:avLst/>
          </a:prstGeom>
          <a:noFill/>
          <a:ln/>
        </p:spPr>
        <p:txBody>
          <a:bodyPr wrap="square" lIns="73152" tIns="0" rIns="73152" bIns="0" rtlCol="0" anchor="ctr"/>
          <a:lstStyle/>
          <a:p>
            <a:pPr indent="0" marL="0">
              <a:lnSpc>
                <a:spcPct val="115000"/>
              </a:lnSpc>
              <a:buNone/>
            </a:pPr>
            <a:r>
              <a:rPr lang="en-US" altLang="en-US" sz="1050" b="1" dirty="0">
                <a:solidFill>
                  <a:srgbClr val="1B2A38"/>
                </a:solidFill>
                <a:latin typeface="Arial" pitchFamily="34" charset="0"/>
                <a:ea typeface="Yu Gothic" pitchFamily="34" charset="-122"/>
                <a:cs typeface="Yu Gothic" pitchFamily="34" charset="-120"/>
              </a:rPr>
              <a:t>Clear boundaries</a:t>
            </a:r>
          </a:p>
          <a:p>
            <a:pPr indent="0" marL="0">
              <a:lnSpc>
                <a:spcPct val="115000"/>
              </a:lnSpc>
              <a:spcBef>
                <a:spcPts val="150"/>
              </a:spcBef>
              <a:buNone/>
            </a:pPr>
            <a:r>
              <a:rPr lang="en-US" altLang="en-US" sz="850" b="0" dirty="0">
                <a:solidFill>
                  <a:srgbClr val="3E4A56"/>
                </a:solidFill>
                <a:latin typeface="Arial" pitchFamily="34" charset="0"/>
                <a:ea typeface="Yu Gothic" pitchFamily="34" charset="-122"/>
                <a:cs typeface="Yu Gothic" pitchFamily="34" charset="-120"/>
              </a:rPr>
              <a:t>Scope and users are defined</a:t>
            </a:r>
          </a:p>
          <a:p>
            <a:pPr indent="0" marL="0">
              <a:lnSpc>
                <a:spcPct val="115000"/>
              </a:lnSpc>
              <a:spcBef>
                <a:spcPts val="250"/>
              </a:spcBef>
              <a:buNone/>
            </a:pPr>
            <a:r>
              <a:rPr lang="en-US" altLang="en-US" sz="850" b="1" dirty="0">
                <a:solidFill>
                  <a:srgbClr val="1F7A68"/>
                </a:solidFill>
                <a:latin typeface="Arial" pitchFamily="34" charset="0"/>
                <a:ea typeface="Yu Gothic" pitchFamily="34" charset="-122"/>
                <a:cs typeface="Yu Gothic" pitchFamily="34" charset="-120"/>
              </a:rPr>
              <a:t>Proposal: define the common layer, owned by IT</a:t>
            </a:r>
          </a:p>
        </p:txBody>
      </p:sp>
      <p:sp>
        <p:nvSpPr>
          <p:cNvPr id="576" name="Ostrom Card 2"/>
          <p:cNvSpPr/>
          <p:nvPr/>
        </p:nvSpPr>
        <p:spPr>
          <a:xfrm>
            <a:off x="4586630" y="5239512"/>
            <a:ext cx="1660550" cy="905256"/>
          </a:xfrm>
          <a:prstGeom prst="roundRect">
            <a:avLst>
              <a:gd name="adj" fmla="val 10000"/>
            </a:avLst>
          </a:prstGeom>
          <a:solidFill>
            <a:srgbClr val="FFFFFF"/>
          </a:solidFill>
          <a:ln/>
        </p:spPr>
      </p:sp>
      <p:sp>
        <p:nvSpPr>
          <p:cNvPr id="577" name="Ostrom Text 2"/>
          <p:cNvSpPr txBox="1"/>
          <p:nvPr/>
        </p:nvSpPr>
        <p:spPr>
          <a:xfrm>
            <a:off x="4586630" y="5239512"/>
            <a:ext cx="1660550" cy="905256"/>
          </a:xfrm>
          <a:prstGeom prst="rect">
            <a:avLst/>
          </a:prstGeom>
          <a:noFill/>
          <a:ln/>
        </p:spPr>
        <p:txBody>
          <a:bodyPr wrap="square" lIns="73152" tIns="0" rIns="73152" bIns="0" rtlCol="0" anchor="ctr"/>
          <a:lstStyle/>
          <a:p>
            <a:pPr indent="0" marL="0">
              <a:lnSpc>
                <a:spcPct val="115000"/>
              </a:lnSpc>
              <a:buNone/>
            </a:pPr>
            <a:r>
              <a:rPr lang="en-US" altLang="en-US" sz="1050" b="1" dirty="0">
                <a:solidFill>
                  <a:srgbClr val="1B2A38"/>
                </a:solidFill>
                <a:latin typeface="Arial" pitchFamily="34" charset="0"/>
                <a:ea typeface="Yu Gothic" pitchFamily="34" charset="-122"/>
                <a:cs typeface="Yu Gothic" pitchFamily="34" charset="-120"/>
              </a:rPr>
              <a:t>Rules that fit</a:t>
            </a:r>
          </a:p>
          <a:p>
            <a:pPr indent="0" marL="0">
              <a:lnSpc>
                <a:spcPct val="115000"/>
              </a:lnSpc>
              <a:spcBef>
                <a:spcPts val="150"/>
              </a:spcBef>
              <a:buNone/>
            </a:pPr>
            <a:r>
              <a:rPr lang="en-US" altLang="en-US" sz="850" b="0" dirty="0">
                <a:solidFill>
                  <a:srgbClr val="3E4A56"/>
                </a:solidFill>
                <a:latin typeface="Arial" pitchFamily="34" charset="0"/>
                <a:ea typeface="Yu Gothic" pitchFamily="34" charset="-122"/>
                <a:cs typeface="Yu Gothic" pitchFamily="34" charset="-120"/>
              </a:rPr>
              <a:t>Not one-size-fits-all</a:t>
            </a:r>
          </a:p>
          <a:p>
            <a:pPr indent="0" marL="0">
              <a:lnSpc>
                <a:spcPct val="115000"/>
              </a:lnSpc>
              <a:spcBef>
                <a:spcPts val="250"/>
              </a:spcBef>
              <a:buNone/>
            </a:pPr>
            <a:r>
              <a:rPr lang="en-US" altLang="en-US" sz="850" b="1" dirty="0">
                <a:solidFill>
                  <a:srgbClr val="1F7A68"/>
                </a:solidFill>
                <a:latin typeface="Arial" pitchFamily="34" charset="0"/>
                <a:ea typeface="Yu Gothic" pitchFamily="34" charset="-122"/>
                <a:cs typeface="Yu Gothic" pitchFamily="34" charset="-120"/>
              </a:rPr>
              <a:t>Proposal: start with two questions, then refine</a:t>
            </a:r>
          </a:p>
        </p:txBody>
      </p:sp>
      <p:sp>
        <p:nvSpPr>
          <p:cNvPr id="578" name="Ostrom Card 3"/>
          <p:cNvSpPr/>
          <p:nvPr/>
        </p:nvSpPr>
        <p:spPr>
          <a:xfrm>
            <a:off x="6338620" y="5239512"/>
            <a:ext cx="1660550" cy="905256"/>
          </a:xfrm>
          <a:prstGeom prst="roundRect">
            <a:avLst>
              <a:gd name="adj" fmla="val 10000"/>
            </a:avLst>
          </a:prstGeom>
          <a:solidFill>
            <a:srgbClr val="FFFFFF"/>
          </a:solidFill>
          <a:ln/>
        </p:spPr>
      </p:sp>
      <p:sp>
        <p:nvSpPr>
          <p:cNvPr id="579" name="Ostrom Text 3"/>
          <p:cNvSpPr txBox="1"/>
          <p:nvPr/>
        </p:nvSpPr>
        <p:spPr>
          <a:xfrm>
            <a:off x="6338620" y="5239512"/>
            <a:ext cx="1660550" cy="905256"/>
          </a:xfrm>
          <a:prstGeom prst="rect">
            <a:avLst/>
          </a:prstGeom>
          <a:noFill/>
          <a:ln/>
        </p:spPr>
        <p:txBody>
          <a:bodyPr wrap="square" lIns="73152" tIns="0" rIns="73152" bIns="0" rtlCol="0" anchor="ctr"/>
          <a:lstStyle/>
          <a:p>
            <a:pPr indent="0" marL="0">
              <a:lnSpc>
                <a:spcPct val="115000"/>
              </a:lnSpc>
              <a:buNone/>
            </a:pPr>
            <a:r>
              <a:rPr lang="en-US" altLang="en-US" sz="1050" b="1" dirty="0">
                <a:solidFill>
                  <a:srgbClr val="1B2A38"/>
                </a:solidFill>
                <a:latin typeface="Arial" pitchFamily="34" charset="0"/>
                <a:ea typeface="Yu Gothic" pitchFamily="34" charset="-122"/>
                <a:cs typeface="Yu Gothic" pitchFamily="34" charset="-120"/>
              </a:rPr>
              <a:t>Participation</a:t>
            </a:r>
          </a:p>
          <a:p>
            <a:pPr indent="0" marL="0">
              <a:lnSpc>
                <a:spcPct val="115000"/>
              </a:lnSpc>
              <a:spcBef>
                <a:spcPts val="150"/>
              </a:spcBef>
              <a:buNone/>
            </a:pPr>
            <a:r>
              <a:rPr lang="en-US" altLang="en-US" sz="850" b="0" dirty="0">
                <a:solidFill>
                  <a:srgbClr val="3E4A56"/>
                </a:solidFill>
                <a:latin typeface="Arial" pitchFamily="34" charset="0"/>
                <a:ea typeface="Yu Gothic" pitchFamily="34" charset="-122"/>
                <a:cs typeface="Yu Gothic" pitchFamily="34" charset="-120"/>
              </a:rPr>
              <a:t>Those affected shape rules</a:t>
            </a:r>
          </a:p>
          <a:p>
            <a:pPr indent="0" marL="0">
              <a:lnSpc>
                <a:spcPct val="115000"/>
              </a:lnSpc>
              <a:spcBef>
                <a:spcPts val="250"/>
              </a:spcBef>
              <a:buNone/>
            </a:pPr>
            <a:r>
              <a:rPr lang="en-US" altLang="en-US" sz="850" b="1" dirty="0">
                <a:solidFill>
                  <a:srgbClr val="1F7A68"/>
                </a:solidFill>
                <a:latin typeface="Arial" pitchFamily="34" charset="0"/>
                <a:ea typeface="Yu Gothic" pitchFamily="34" charset="-122"/>
                <a:cs typeface="Yu Gothic" pitchFamily="34" charset="-120"/>
              </a:rPr>
              <a:t>Proposal: departments give facts, receive decisions</a:t>
            </a:r>
          </a:p>
        </p:txBody>
      </p:sp>
      <p:sp>
        <p:nvSpPr>
          <p:cNvPr id="580" name="Ostrom Card 4"/>
          <p:cNvSpPr/>
          <p:nvPr/>
        </p:nvSpPr>
        <p:spPr>
          <a:xfrm>
            <a:off x="8090611" y="5239512"/>
            <a:ext cx="1660550" cy="905256"/>
          </a:xfrm>
          <a:prstGeom prst="roundRect">
            <a:avLst>
              <a:gd name="adj" fmla="val 10000"/>
            </a:avLst>
          </a:prstGeom>
          <a:solidFill>
            <a:srgbClr val="FFFFFF"/>
          </a:solidFill>
          <a:ln w="22225">
            <a:solidFill>
              <a:srgbClr val="B5472F"/>
            </a:solidFill>
          </a:ln>
        </p:spPr>
      </p:sp>
      <p:sp>
        <p:nvSpPr>
          <p:cNvPr id="581" name="Ostrom Text 4"/>
          <p:cNvSpPr txBox="1"/>
          <p:nvPr/>
        </p:nvSpPr>
        <p:spPr>
          <a:xfrm>
            <a:off x="8090611" y="5239512"/>
            <a:ext cx="1660550" cy="905256"/>
          </a:xfrm>
          <a:prstGeom prst="rect">
            <a:avLst/>
          </a:prstGeom>
          <a:noFill/>
          <a:ln/>
        </p:spPr>
        <p:txBody>
          <a:bodyPr wrap="square" lIns="73152" tIns="0" rIns="73152" bIns="0" rtlCol="0" anchor="ctr"/>
          <a:lstStyle/>
          <a:p>
            <a:pPr indent="0" marL="0">
              <a:lnSpc>
                <a:spcPct val="115000"/>
              </a:lnSpc>
              <a:buNone/>
            </a:pPr>
            <a:r>
              <a:rPr lang="en-US" altLang="en-US" sz="1050" b="1" dirty="0">
                <a:solidFill>
                  <a:srgbClr val="1B2A38"/>
                </a:solidFill>
                <a:latin typeface="Arial" pitchFamily="34" charset="0"/>
                <a:ea typeface="Yu Gothic" pitchFamily="34" charset="-122"/>
                <a:cs typeface="Yu Gothic" pitchFamily="34" charset="-120"/>
              </a:rPr>
              <a:t>Monitoring</a:t>
            </a:r>
          </a:p>
          <a:p>
            <a:pPr indent="0" marL="0">
              <a:lnSpc>
                <a:spcPct val="115000"/>
              </a:lnSpc>
              <a:spcBef>
                <a:spcPts val="150"/>
              </a:spcBef>
              <a:buNone/>
            </a:pPr>
            <a:r>
              <a:rPr lang="en-US" altLang="en-US" sz="850" b="0" dirty="0">
                <a:solidFill>
                  <a:srgbClr val="3E4A56"/>
                </a:solidFill>
                <a:latin typeface="Arial" pitchFamily="34" charset="0"/>
                <a:ea typeface="Yu Gothic" pitchFamily="34" charset="-122"/>
                <a:cs typeface="Yu Gothic" pitchFamily="34" charset="-120"/>
              </a:rPr>
              <a:t>Usage is monitored and visible</a:t>
            </a:r>
          </a:p>
          <a:p>
            <a:pPr indent="0" marL="0">
              <a:lnSpc>
                <a:spcPct val="115000"/>
              </a:lnSpc>
              <a:spcBef>
                <a:spcPts val="250"/>
              </a:spcBef>
              <a:buNone/>
            </a:pPr>
            <a:r>
              <a:rPr lang="en-US" altLang="en-US" sz="850" b="1" dirty="0">
                <a:solidFill>
                  <a:srgbClr val="1F7A68"/>
                </a:solidFill>
                <a:latin typeface="Arial" pitchFamily="34" charset="0"/>
                <a:ea typeface="Yu Gothic" pitchFamily="34" charset="-122"/>
                <a:cs typeface="Yu Gothic" pitchFamily="34" charset="-120"/>
              </a:rPr>
              <a:t>Proposal: registry and usage visibility</a:t>
            </a:r>
          </a:p>
        </p:txBody>
      </p:sp>
      <p:sp>
        <p:nvSpPr>
          <p:cNvPr id="582" name="Ostrom Card 5"/>
          <p:cNvSpPr/>
          <p:nvPr/>
        </p:nvSpPr>
        <p:spPr>
          <a:xfrm>
            <a:off x="9842601" y="5239512"/>
            <a:ext cx="1660550" cy="905256"/>
          </a:xfrm>
          <a:prstGeom prst="roundRect">
            <a:avLst>
              <a:gd name="adj" fmla="val 10000"/>
            </a:avLst>
          </a:prstGeom>
          <a:solidFill>
            <a:srgbClr val="FFFFFF"/>
          </a:solidFill>
          <a:ln w="22225">
            <a:solidFill>
              <a:srgbClr val="B5472F"/>
            </a:solidFill>
          </a:ln>
        </p:spPr>
      </p:sp>
      <p:sp>
        <p:nvSpPr>
          <p:cNvPr id="583" name="Ostrom Text 5"/>
          <p:cNvSpPr txBox="1"/>
          <p:nvPr/>
        </p:nvSpPr>
        <p:spPr>
          <a:xfrm>
            <a:off x="9842601" y="5239512"/>
            <a:ext cx="1660550" cy="905256"/>
          </a:xfrm>
          <a:prstGeom prst="rect">
            <a:avLst/>
          </a:prstGeom>
          <a:noFill/>
          <a:ln/>
        </p:spPr>
        <p:txBody>
          <a:bodyPr wrap="square" lIns="73152" tIns="0" rIns="73152" bIns="0" rtlCol="0" anchor="ctr"/>
          <a:lstStyle/>
          <a:p>
            <a:pPr indent="0" marL="0">
              <a:lnSpc>
                <a:spcPct val="115000"/>
              </a:lnSpc>
              <a:buNone/>
            </a:pPr>
            <a:r>
              <a:rPr lang="en-US" altLang="en-US" sz="1050" b="1" dirty="0">
                <a:solidFill>
                  <a:srgbClr val="1B2A38"/>
                </a:solidFill>
                <a:latin typeface="Arial" pitchFamily="34" charset="0"/>
                <a:ea typeface="Yu Gothic" pitchFamily="34" charset="-122"/>
                <a:cs typeface="Yu Gothic" pitchFamily="34" charset="-120"/>
              </a:rPr>
              <a:t>Nested governance</a:t>
            </a:r>
          </a:p>
          <a:p>
            <a:pPr indent="0" marL="0">
              <a:lnSpc>
                <a:spcPct val="115000"/>
              </a:lnSpc>
              <a:spcBef>
                <a:spcPts val="150"/>
              </a:spcBef>
              <a:buNone/>
            </a:pPr>
            <a:r>
              <a:rPr lang="en-US" altLang="en-US" sz="850" b="0" dirty="0">
                <a:solidFill>
                  <a:srgbClr val="3E4A56"/>
                </a:solidFill>
                <a:latin typeface="Arial" pitchFamily="34" charset="0"/>
                <a:ea typeface="Yu Gothic" pitchFamily="34" charset="-122"/>
                <a:cs typeface="Yu Gothic" pitchFamily="34" charset="-120"/>
              </a:rPr>
              <a:t>At scale, govern in layers</a:t>
            </a:r>
          </a:p>
          <a:p>
            <a:pPr indent="0" marL="0">
              <a:lnSpc>
                <a:spcPct val="115000"/>
              </a:lnSpc>
              <a:spcBef>
                <a:spcPts val="250"/>
              </a:spcBef>
              <a:buNone/>
            </a:pPr>
            <a:r>
              <a:rPr lang="en-US" altLang="en-US" sz="850" b="1" dirty="0">
                <a:solidFill>
                  <a:srgbClr val="1F7A68"/>
                </a:solidFill>
                <a:latin typeface="Arial" pitchFamily="34" charset="0"/>
                <a:ea typeface="Yu Gothic" pitchFamily="34" charset="-122"/>
                <a:cs typeface="Yu Gothic" pitchFamily="34" charset="-120"/>
              </a:rPr>
              <a:t>Proposal: detailed on the following pages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grpSpPr>
        <a:xfrm>
          <a:off x="0" y="0"/>
          <a:ext cx="0" cy="0"/>
          <a:chOff x="0" y="0"/>
          <a:chExt cx="0" cy="0"/>
        </a:xfrm>
      </p:grpSpPr>
      <p:sp>
        <p:nvSpPr>
          <p:cNvPr id="4" name="Text 2"/>
          <p:cNvSpPr txBox="1"/>
          <p:nvPr/>
        </p:nvSpPr>
        <p:spPr>
          <a:xfrm>
            <a:off x="548640" y="685800"/>
            <a:ext cx="11064240" cy="548640"/>
          </a:xfrm>
          <a:prstGeom prst="rect">
            <a:avLst/>
          </a:prstGeom>
          <a:noFill/>
          <a:ln/>
        </p:spPr>
        <p:txBody>
          <a:bodyPr wrap="square" lIns="0" tIns="0" rIns="0" bIns="0" rtlCol="0" anchor="ctr"/>
          <a:lstStyle/>
          <a:p>
            <a:pPr indent="0" marL="0">
              <a:buNone/>
            </a:pPr>
            <a:r>
              <a:rPr lang="en-US" sz="2400" b="1" dirty="0">
                <a:solidFill>
                  <a:srgbClr val="1B2A38"/>
                </a:solidFill>
                <a:latin typeface="Arial" pitchFamily="34" charset="0"/>
                <a:ea typeface="Yu Gothic" pitchFamily="34" charset="-122"/>
                <a:cs typeface="Yu Gothic" pitchFamily="34" charset="-120"/>
              </a:rPr>
              <a:t>The key to nesting ── sort what the company decides by commonality</a:t>
            </a:r>
            <a:endParaRPr lang="en-US" sz="2400" dirty="0"/>
          </a:p>
        </p:txBody>
      </p:sp>
      <p:sp>
        <p:nvSpPr>
          <p:cNvPr id="5" name="Text 3"/>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900" dirty="0">
                <a:solidFill>
                  <a:srgbClr val="66717C"/>
                </a:solidFill>
                <a:latin typeface="Arial" pitchFamily="34" charset="0"/>
                <a:ea typeface="Yu Gothic" pitchFamily="34" charset="-122"/>
                <a:cs typeface="Yu Gothic" pitchFamily="34" charset="-120"/>
              </a:rPr>
              <a:t>IT Materiality ｜ IT Department internal alignment</a:t>
            </a:r>
            <a:endParaRPr lang="en-US" sz="900" dirty="0"/>
          </a:p>
        </p:txBody>
      </p:sp>
      <p:sp>
        <p:nvSpPr>
          <p:cNvPr id="6" name="Text 4"/>
          <p:cNvSpPr txBox="1"/>
          <p:nvPr/>
        </p:nvSpPr>
        <p:spPr>
          <a:xfrm>
            <a:off x="11155680" y="6446520"/>
            <a:ext cx="457200" cy="274320"/>
          </a:xfrm>
          <a:prstGeom prst="rect">
            <a:avLst/>
          </a:prstGeom>
          <a:noFill/>
          <a:ln/>
        </p:spPr>
        <p:txBody>
          <a:bodyPr wrap="square" lIns="0" tIns="0" rIns="0" bIns="0" rtlCol="0" anchor="t"/>
          <a:lstStyle/>
          <a:p>
            <a:pPr algn="r" indent="0" marL="0">
              <a:buNone/>
            </a:pPr>
            <a:r>
              <a:rPr lang="en-US" sz="900" dirty="0">
                <a:solidFill>
                  <a:srgbClr val="66717C"/>
                </a:solidFill>
                <a:latin typeface="Arial" pitchFamily="34" charset="0"/>
                <a:ea typeface="Yu Gothic" pitchFamily="34" charset="-122"/>
                <a:cs typeface="Yu Gothic" pitchFamily="34" charset="-120"/>
              </a:rPr>
              <a:t>4</a:t>
            </a:r>
            <a:endParaRPr lang="en-US" sz="900" dirty="0"/>
          </a:p>
        </p:txBody>
      </p:sp>
      <p:sp>
        <p:nvSpPr>
          <p:cNvPr id="35" name="Subtitle"/>
          <p:cNvSpPr txBox="1"/>
          <p:nvPr/>
        </p:nvSpPr>
        <p:spPr>
          <a:xfrm>
            <a:off x="548640" y="1188720"/>
            <a:ext cx="11064240" cy="310896"/>
          </a:xfrm>
          <a:prstGeom prst="rect">
            <a:avLst/>
          </a:prstGeom>
          <a:noFill/>
          <a:ln/>
        </p:spPr>
        <p:txBody>
          <a:bodyPr wrap="square" lIns="0" tIns="0" rIns="0" bIns="0" rtlCol="0" anchor="ctr"/>
          <a:lstStyle/>
          <a:p>
            <a:pPr indent="0" marL="0">
              <a:lnSpc>
                <a:spcPct val="115000"/>
              </a:lnSpc>
              <a:buNone/>
            </a:pPr>
            <a:r>
              <a:rPr lang="en-US" altLang="en-US" sz="1300" b="0" dirty="0">
                <a:solidFill>
                  <a:srgbClr val="3E4A56"/>
                </a:solidFill>
                <a:latin typeface="Arial" pitchFamily="34" charset="0"/>
                <a:ea typeface="Yu Gothic" pitchFamily="34" charset="-122"/>
                <a:cs typeface="Yu Gothic" pitchFamily="34" charset="-120"/>
              </a:rPr>
              <a:t>Today we sort by </a:t>
            </a:r>
            <a:r>
              <a:rPr lang="en-US" altLang="en-US" sz="1300" b="1" dirty="0">
                <a:solidFill>
                  <a:srgbClr val="1B2A38"/>
                </a:solidFill>
                <a:latin typeface="Arial" pitchFamily="34" charset="0"/>
                <a:ea typeface="Yu Gothic" pitchFamily="34" charset="-122"/>
                <a:cs typeface="Yu Gothic" pitchFamily="34" charset="-120"/>
              </a:rPr>
              <a:t>amount</a:t>
            </a:r>
            <a:r>
              <a:rPr lang="en-US" altLang="en-US" sz="1300" b="0" dirty="0">
                <a:solidFill>
                  <a:srgbClr val="3E4A56"/>
                </a:solidFill>
                <a:latin typeface="Arial" pitchFamily="34" charset="0"/>
                <a:ea typeface="Yu Gothic" pitchFamily="34" charset="-122"/>
                <a:cs typeface="Yu Gothic" pitchFamily="34" charset="-120"/>
              </a:rPr>
              <a:t> under the approval authority rules. Going forward, we also sort by </a:t>
            </a:r>
            <a:r>
              <a:rPr lang="en-US" altLang="en-US" sz="1300" b="1" dirty="0">
                <a:solidFill>
                  <a:srgbClr val="1B2A38"/>
                </a:solidFill>
                <a:latin typeface="Arial" pitchFamily="34" charset="0"/>
                <a:ea typeface="Yu Gothic" pitchFamily="34" charset="-122"/>
                <a:cs typeface="Yu Gothic" pitchFamily="34" charset="-120"/>
              </a:rPr>
              <a:t>commonality</a:t>
            </a:r>
            <a:r>
              <a:rPr lang="en-US" altLang="en-US" sz="1300" b="0" dirty="0">
                <a:solidFill>
                  <a:srgbClr val="3E4A56"/>
                </a:solidFill>
                <a:latin typeface="Arial" pitchFamily="34" charset="0"/>
                <a:ea typeface="Yu Gothic" pitchFamily="34" charset="-122"/>
                <a:cs typeface="Yu Gothic" pitchFamily="34" charset="-120"/>
              </a:rPr>
              <a:t/>
            </a:r>
          </a:p>
        </p:txBody>
      </p:sp>
      <p:sp>
        <p:nvSpPr>
          <p:cNvPr id="36" name="Def Panel"/>
          <p:cNvSpPr/>
          <p:nvPr/>
        </p:nvSpPr>
        <p:spPr>
          <a:xfrm>
            <a:off x="548640" y="1691640"/>
            <a:ext cx="4846320" cy="4526280"/>
          </a:xfrm>
          <a:prstGeom prst="roundRect">
            <a:avLst>
              <a:gd name="adj" fmla="val 4000"/>
            </a:avLst>
          </a:prstGeom>
          <a:solidFill>
            <a:srgbClr val="E6F2EE"/>
          </a:solidFill>
          <a:ln/>
        </p:spPr>
      </p:sp>
      <p:sp>
        <p:nvSpPr>
          <p:cNvPr id="37" name="Def Label"/>
          <p:cNvSpPr txBox="1"/>
          <p:nvPr/>
        </p:nvSpPr>
        <p:spPr>
          <a:xfrm>
            <a:off x="777240" y="1856232"/>
            <a:ext cx="4389120" cy="274320"/>
          </a:xfrm>
          <a:prstGeom prst="rect">
            <a:avLst/>
          </a:prstGeom>
          <a:noFill/>
          <a:ln/>
        </p:spPr>
        <p:txBody>
          <a:bodyPr wrap="square" lIns="0" tIns="0" rIns="0" bIns="0" rtlCol="0" anchor="t"/>
          <a:lstStyle/>
          <a:p>
            <a:pPr indent="0" marL="0">
              <a:lnSpc>
                <a:spcPct val="115000"/>
              </a:lnSpc>
              <a:buNone/>
            </a:pPr>
            <a:r>
              <a:rPr lang="en-US" altLang="en-US" sz="1300" b="1" dirty="0">
                <a:solidFill>
                  <a:srgbClr val="1F7A68"/>
                </a:solidFill>
                <a:latin typeface="Arial" pitchFamily="34" charset="0"/>
                <a:ea typeface="Yu Gothic" pitchFamily="34" charset="-122"/>
                <a:cs typeface="Yu Gothic" pitchFamily="34" charset="-120"/>
              </a:rPr>
              <a:t>What is commonality?</a:t>
            </a:r>
          </a:p>
        </p:txBody>
      </p:sp>
      <p:sp>
        <p:nvSpPr>
          <p:cNvPr id="38" name="Def Body"/>
          <p:cNvSpPr txBox="1"/>
          <p:nvPr/>
        </p:nvSpPr>
        <p:spPr>
          <a:xfrm>
            <a:off x="777240" y="2148840"/>
            <a:ext cx="4389120" cy="685800"/>
          </a:xfrm>
          <a:prstGeom prst="rect">
            <a:avLst/>
          </a:prstGeom>
          <a:noFill/>
          <a:ln/>
        </p:spPr>
        <p:txBody>
          <a:bodyPr wrap="square" lIns="0" tIns="0" rIns="0" bIns="0" rtlCol="0" anchor="t"/>
          <a:lstStyle/>
          <a:p>
            <a:pPr indent="0" marL="0">
              <a:lnSpc>
                <a:spcPct val="115000"/>
              </a:lnSpc>
              <a:buNone/>
            </a:pPr>
            <a:r>
              <a:rPr lang="en-US" altLang="en-US" sz="1350" b="1" dirty="0">
                <a:solidFill>
                  <a:srgbClr val="1B2A38"/>
                </a:solidFill>
                <a:latin typeface="Arial" pitchFamily="34" charset="0"/>
                <a:ea typeface="Yu Gothic" pitchFamily="34" charset="-122"/>
                <a:cs typeface="Yu Gothic" pitchFamily="34" charset="-120"/>
              </a:rPr>
              <a:t>How far an investment's benefits and costs reach beyond the deciding department and this year</a:t>
            </a:r>
          </a:p>
        </p:txBody>
      </p:sp>
      <p:sp>
        <p:nvSpPr>
          <p:cNvPr id="39" name="Def Center"/>
          <p:cNvSpPr/>
          <p:nvPr/>
        </p:nvSpPr>
        <p:spPr>
          <a:xfrm>
            <a:off x="777240" y="3017520"/>
            <a:ext cx="1417320" cy="1691640"/>
          </a:xfrm>
          <a:prstGeom prst="roundRect">
            <a:avLst>
              <a:gd name="adj" fmla="val 8000"/>
            </a:avLst>
          </a:prstGeom>
          <a:solidFill>
            <a:srgbClr val="FFFFFF"/>
          </a:solidFill>
          <a:ln w="12700">
            <a:solidFill>
              <a:srgbClr val="1B2A38"/>
            </a:solidFill>
          </a:ln>
        </p:spPr>
      </p:sp>
      <p:sp>
        <p:nvSpPr>
          <p:cNvPr id="40" name="Def Center Text"/>
          <p:cNvSpPr txBox="1"/>
          <p:nvPr/>
        </p:nvSpPr>
        <p:spPr>
          <a:xfrm>
            <a:off x="777240" y="3017520"/>
            <a:ext cx="1417320" cy="1691640"/>
          </a:xfrm>
          <a:prstGeom prst="rect">
            <a:avLst/>
          </a:prstGeom>
          <a:noFill/>
          <a:ln/>
        </p:spPr>
        <p:txBody>
          <a:bodyPr wrap="square" lIns="0" tIns="0" rIns="0" bIns="0" rtlCol="0" anchor="ctr"/>
          <a:lstStyle/>
          <a:p>
            <a:pPr algn="ctr" indent="0" marL="0">
              <a:lnSpc>
                <a:spcPct val="115000"/>
              </a:lnSpc>
              <a:buNone/>
            </a:pPr>
            <a:r>
              <a:rPr lang="en-US" altLang="en-US" sz="1250" b="1" dirty="0">
                <a:solidFill>
                  <a:srgbClr val="1B2A38"/>
                </a:solidFill>
                <a:latin typeface="Arial" pitchFamily="34" charset="0"/>
                <a:ea typeface="Yu Gothic" pitchFamily="34" charset="-122"/>
                <a:cs typeface="Yu Gothic" pitchFamily="34" charset="-120"/>
              </a:rPr>
              <a:t>The deciding</a:t>
            </a:r>
          </a:p>
          <a:p>
            <a:pPr algn="ctr" indent="0" marL="0">
              <a:lnSpc>
                <a:spcPct val="115000"/>
              </a:lnSpc>
              <a:buNone/>
            </a:pPr>
            <a:r>
              <a:rPr lang="en-US" altLang="en-US" sz="1250" b="1" dirty="0">
                <a:solidFill>
                  <a:srgbClr val="1B2A38"/>
                </a:solidFill>
                <a:latin typeface="Arial" pitchFamily="34" charset="0"/>
                <a:ea typeface="Yu Gothic" pitchFamily="34" charset="-122"/>
                <a:cs typeface="Yu Gothic" pitchFamily="34" charset="-120"/>
              </a:rPr>
              <a:t>department, this year</a:t>
            </a:r>
          </a:p>
          <a:p>
            <a:pPr algn="ctr" indent="0" marL="0">
              <a:lnSpc>
                <a:spcPct val="115000"/>
              </a:lnSpc>
              <a:spcBef>
                <a:spcPts val="500"/>
              </a:spcBef>
              <a:buNone/>
            </a:pPr>
            <a:r>
              <a:rPr lang="en-US" altLang="en-US" sz="850" b="0" dirty="0">
                <a:solidFill>
                  <a:srgbClr val="66717C"/>
                </a:solidFill>
                <a:latin typeface="Arial" pitchFamily="34" charset="0"/>
                <a:ea typeface="Yu Gothic" pitchFamily="34" charset="-122"/>
                <a:cs typeface="Yu Gothic" pitchFamily="34" charset="-120"/>
              </a:rPr>
              <a:t>Counted in the</a:t>
            </a:r>
          </a:p>
          <a:p>
            <a:pPr algn="ctr" indent="0" marL="0">
              <a:lnSpc>
                <a:spcPct val="115000"/>
              </a:lnSpc>
              <a:buNone/>
            </a:pPr>
            <a:r>
              <a:rPr lang="en-US" altLang="en-US" sz="850" b="0" dirty="0">
                <a:solidFill>
                  <a:srgbClr val="66717C"/>
                </a:solidFill>
                <a:latin typeface="Arial" pitchFamily="34" charset="0"/>
                <a:ea typeface="Yu Gothic" pitchFamily="34" charset="-122"/>
                <a:cs typeface="Yu Gothic" pitchFamily="34" charset="-120"/>
              </a:rPr>
              <a:t>department's own calculus</a:t>
            </a:r>
          </a:p>
        </p:txBody>
      </p:sp>
      <p:sp>
        <p:nvSpPr>
          <p:cNvPr id="41" name="Def Arrow 0"/>
          <p:cNvSpPr/>
          <p:nvPr/>
        </p:nvSpPr>
        <p:spPr>
          <a:xfrm>
            <a:off x="2267712" y="3278124"/>
            <a:ext cx="274320" cy="256032"/>
          </a:xfrm>
          <a:prstGeom prst="rightArrow">
            <a:avLst/>
          </a:prstGeom>
          <a:solidFill>
            <a:srgbClr val="66717C"/>
          </a:solidFill>
          <a:ln/>
        </p:spPr>
      </p:sp>
      <p:sp>
        <p:nvSpPr>
          <p:cNvPr id="42" name="Def Card 0"/>
          <p:cNvSpPr/>
          <p:nvPr/>
        </p:nvSpPr>
        <p:spPr>
          <a:xfrm>
            <a:off x="2606040" y="3017520"/>
            <a:ext cx="2560320" cy="777240"/>
          </a:xfrm>
          <a:prstGeom prst="roundRect">
            <a:avLst>
              <a:gd name="adj" fmla="val 8000"/>
            </a:avLst>
          </a:prstGeom>
          <a:solidFill>
            <a:srgbClr val="FFFFFF"/>
          </a:solidFill>
          <a:ln/>
        </p:spPr>
      </p:sp>
      <p:sp>
        <p:nvSpPr>
          <p:cNvPr id="43" name="Def Card Text 0"/>
          <p:cNvSpPr txBox="1"/>
          <p:nvPr/>
        </p:nvSpPr>
        <p:spPr>
          <a:xfrm>
            <a:off x="2606040" y="3017520"/>
            <a:ext cx="2560320" cy="777240"/>
          </a:xfrm>
          <a:prstGeom prst="rect">
            <a:avLst/>
          </a:prstGeom>
          <a:noFill/>
          <a:ln/>
        </p:spPr>
        <p:txBody>
          <a:bodyPr wrap="square" lIns="109728" tIns="0" rIns="109728" bIns="0" rtlCol="0" anchor="ctr"/>
          <a:lstStyle/>
          <a:p>
            <a:pPr indent="0" marL="0">
              <a:lnSpc>
                <a:spcPct val="115000"/>
              </a:lnSpc>
              <a:buNone/>
            </a:pPr>
            <a:r>
              <a:rPr lang="en-US" altLang="en-US" sz="1200" b="0" dirty="0">
                <a:solidFill>
                  <a:srgbClr val="1F7A68"/>
                </a:solidFill>
                <a:latin typeface="Arial" pitchFamily="34" charset="0"/>
                <a:ea typeface="Yu Gothic" pitchFamily="34" charset="-122"/>
                <a:cs typeface="Yu Gothic" pitchFamily="34" charset="-120"/>
              </a:rPr>
              <a:t>To other depts = </a:t>
            </a:r>
            <a:r>
              <a:rPr lang="en-US" altLang="en-US" sz="1200" b="1" dirty="0">
                <a:solidFill>
                  <a:srgbClr val="1F7A68"/>
                </a:solidFill>
                <a:latin typeface="Arial" pitchFamily="34" charset="0"/>
                <a:ea typeface="Yu Gothic" pitchFamily="34" charset="-122"/>
                <a:cs typeface="Yu Gothic" pitchFamily="34" charset="-120"/>
              </a:rPr>
              <a:t>Foundation</a:t>
            </a:r>
          </a:p>
          <a:p>
            <a:pPr indent="0" marL="0">
              <a:lnSpc>
                <a:spcPct val="115000"/>
              </a:lnSpc>
              <a:spcBef>
                <a:spcPts val="150"/>
              </a:spcBef>
              <a:buNone/>
            </a:pPr>
            <a:r>
              <a:rPr lang="en-US" altLang="en-US" sz="1050" b="0" dirty="0">
                <a:solidFill>
                  <a:srgbClr val="1B2A38"/>
                </a:solidFill>
                <a:latin typeface="Arial" pitchFamily="34" charset="0"/>
                <a:ea typeface="Yu Gothic" pitchFamily="34" charset="-122"/>
                <a:cs typeface="Yu Gothic" pitchFamily="34" charset="-120"/>
              </a:rPr>
              <a:t>If we don't act now, will something else suffer?</a:t>
            </a:r>
          </a:p>
          <a:p>
            <a:pPr indent="0" marL="0">
              <a:lnSpc>
                <a:spcPct val="115000"/>
              </a:lnSpc>
              <a:spcBef>
                <a:spcPts val="150"/>
              </a:spcBef>
              <a:buNone/>
            </a:pPr>
            <a:r>
              <a:rPr lang="en-US" altLang="en-US" sz="900" b="0" dirty="0">
                <a:solidFill>
                  <a:srgbClr val="66717C"/>
                </a:solidFill>
                <a:latin typeface="Arial" pitchFamily="34" charset="0"/>
                <a:ea typeface="Yu Gothic" pitchFamily="34" charset="-122"/>
                <a:cs typeface="Yu Gothic" pitchFamily="34" charset="-120"/>
              </a:rPr>
              <a:t>→ Protects flexibility to change</a:t>
            </a:r>
          </a:p>
        </p:txBody>
      </p:sp>
      <p:sp>
        <p:nvSpPr>
          <p:cNvPr id="44" name="Def Arrow 1"/>
          <p:cNvSpPr/>
          <p:nvPr/>
        </p:nvSpPr>
        <p:spPr>
          <a:xfrm>
            <a:off x="2267712" y="4192524"/>
            <a:ext cx="274320" cy="256032"/>
          </a:xfrm>
          <a:prstGeom prst="rightArrow">
            <a:avLst/>
          </a:prstGeom>
          <a:solidFill>
            <a:srgbClr val="66717C"/>
          </a:solidFill>
          <a:ln/>
        </p:spPr>
      </p:sp>
      <p:sp>
        <p:nvSpPr>
          <p:cNvPr id="45" name="Def Card 1"/>
          <p:cNvSpPr/>
          <p:nvPr/>
        </p:nvSpPr>
        <p:spPr>
          <a:xfrm>
            <a:off x="2606040" y="3931920"/>
            <a:ext cx="2560320" cy="777240"/>
          </a:xfrm>
          <a:prstGeom prst="roundRect">
            <a:avLst>
              <a:gd name="adj" fmla="val 8000"/>
            </a:avLst>
          </a:prstGeom>
          <a:solidFill>
            <a:srgbClr val="FFFFFF"/>
          </a:solidFill>
          <a:ln/>
        </p:spPr>
      </p:sp>
      <p:sp>
        <p:nvSpPr>
          <p:cNvPr id="46" name="Def Card Text 1"/>
          <p:cNvSpPr txBox="1"/>
          <p:nvPr/>
        </p:nvSpPr>
        <p:spPr>
          <a:xfrm>
            <a:off x="2606040" y="3931920"/>
            <a:ext cx="2560320" cy="777240"/>
          </a:xfrm>
          <a:prstGeom prst="rect">
            <a:avLst/>
          </a:prstGeom>
          <a:noFill/>
          <a:ln/>
        </p:spPr>
        <p:txBody>
          <a:bodyPr wrap="square" lIns="109728" tIns="0" rIns="109728" bIns="0" rtlCol="0" anchor="ctr"/>
          <a:lstStyle/>
          <a:p>
            <a:pPr indent="0" marL="0">
              <a:lnSpc>
                <a:spcPct val="115000"/>
              </a:lnSpc>
              <a:buNone/>
            </a:pPr>
            <a:r>
              <a:rPr lang="en-US" altLang="en-US" sz="1200" b="0" dirty="0">
                <a:solidFill>
                  <a:srgbClr val="1F7A68"/>
                </a:solidFill>
                <a:latin typeface="Arial" pitchFamily="34" charset="0"/>
                <a:ea typeface="Yu Gothic" pitchFamily="34" charset="-122"/>
                <a:cs typeface="Yu Gothic" pitchFamily="34" charset="-120"/>
              </a:rPr>
              <a:t>To the future = </a:t>
            </a:r>
            <a:r>
              <a:rPr lang="en-US" altLang="en-US" sz="1200" b="1" dirty="0">
                <a:solidFill>
                  <a:srgbClr val="1F7A68"/>
                </a:solidFill>
                <a:latin typeface="Arial" pitchFamily="34" charset="0"/>
                <a:ea typeface="Yu Gothic" pitchFamily="34" charset="-122"/>
                <a:cs typeface="Yu Gothic" pitchFamily="34" charset="-120"/>
              </a:rPr>
              <a:t>Debt</a:t>
            </a:r>
          </a:p>
          <a:p>
            <a:pPr indent="0" marL="0">
              <a:lnSpc>
                <a:spcPct val="115000"/>
              </a:lnSpc>
              <a:spcBef>
                <a:spcPts val="150"/>
              </a:spcBef>
              <a:buNone/>
            </a:pPr>
            <a:r>
              <a:rPr lang="en-US" altLang="en-US" sz="1050" b="0" dirty="0">
                <a:solidFill>
                  <a:srgbClr val="1B2A38"/>
                </a:solidFill>
                <a:latin typeface="Arial" pitchFamily="34" charset="0"/>
                <a:ea typeface="Yu Gothic" pitchFamily="34" charset="-122"/>
                <a:cs typeface="Yu Gothic" pitchFamily="34" charset="-120"/>
              </a:rPr>
              <a:t>If we don't act now, will future costs rise?</a:t>
            </a:r>
          </a:p>
          <a:p>
            <a:pPr indent="0" marL="0">
              <a:lnSpc>
                <a:spcPct val="115000"/>
              </a:lnSpc>
              <a:spcBef>
                <a:spcPts val="150"/>
              </a:spcBef>
              <a:buNone/>
            </a:pPr>
            <a:r>
              <a:rPr lang="en-US" altLang="en-US" sz="900" b="0" dirty="0">
                <a:solidFill>
                  <a:srgbClr val="66717C"/>
                </a:solidFill>
                <a:latin typeface="Arial" pitchFamily="34" charset="0"/>
                <a:ea typeface="Yu Gothic" pitchFamily="34" charset="-122"/>
                <a:cs typeface="Yu Gothic" pitchFamily="34" charset="-120"/>
              </a:rPr>
              <a:t>→ Finds hidden technical debt</a:t>
            </a:r>
          </a:p>
        </p:txBody>
      </p:sp>
      <p:sp>
        <p:nvSpPr>
          <p:cNvPr id="47" name="Def Not"/>
          <p:cNvSpPr txBox="1"/>
          <p:nvPr/>
        </p:nvSpPr>
        <p:spPr>
          <a:xfrm>
            <a:off x="777240" y="4937760"/>
            <a:ext cx="4389120" cy="1143000"/>
          </a:xfrm>
          <a:prstGeom prst="rect">
            <a:avLst/>
          </a:prstGeom>
          <a:noFill/>
          <a:ln/>
        </p:spPr>
        <p:txBody>
          <a:bodyPr wrap="square" lIns="0" tIns="0" rIns="0" bIns="0" rtlCol="0" anchor="t"/>
          <a:lstStyle/>
          <a:p>
            <a:pPr indent="0" marL="0">
              <a:lnSpc>
                <a:spcPct val="115000"/>
              </a:lnSpc>
              <a:buNone/>
            </a:pPr>
            <a:r>
              <a:rPr lang="en-US" altLang="en-US" sz="1100" b="1" dirty="0">
                <a:solidFill>
                  <a:srgbClr val="B5472F"/>
                </a:solidFill>
                <a:latin typeface="Arial" pitchFamily="34" charset="0"/>
                <a:ea typeface="Yu Gothic" pitchFamily="34" charset="-122"/>
                <a:cs typeface="Yu Gothic" pitchFamily="34" charset="-120"/>
              </a:rPr>
              <a:t>What it is not</a:t>
            </a:r>
          </a:p>
          <a:p>
            <a:pPr indent="0" marL="0">
              <a:lnSpc>
                <a:spcPct val="115000"/>
              </a:lnSpc>
              <a:spcBef>
                <a:spcPts val="400"/>
              </a:spcBef>
              <a:buNone/>
            </a:pPr>
            <a:r>
              <a:rPr lang="en-US" altLang="en-US" sz="1050" b="1" dirty="0">
                <a:solidFill>
                  <a:srgbClr val="1B2A38"/>
                </a:solidFill>
                <a:latin typeface="Arial" pitchFamily="34" charset="0"/>
                <a:ea typeface="Yu Gothic" pitchFamily="34" charset="-122"/>
                <a:cs typeface="Yu Gothic" pitchFamily="34" charset="-120"/>
              </a:rPr>
              <a:t>✕ The size of the amount</a:t>
            </a:r>
            <a:r>
              <a:rPr lang="en-US" altLang="en-US" sz="1050" b="0" dirty="0">
                <a:solidFill>
                  <a:srgbClr val="1B2A38"/>
                </a:solidFill>
                <a:latin typeface="Arial" pitchFamily="34" charset="0"/>
                <a:ea typeface="Yu Gothic" pitchFamily="34" charset="-122"/>
                <a:cs typeface="Yu Gothic" pitchFamily="34" charset="-120"/>
              </a:rPr>
              <a:t>  Even small projects can have high commonality</a:t>
            </a:r>
          </a:p>
          <a:p>
            <a:pPr indent="0" marL="0">
              <a:lnSpc>
                <a:spcPct val="115000"/>
              </a:lnSpc>
              <a:spcBef>
                <a:spcPts val="300"/>
              </a:spcBef>
              <a:buNone/>
            </a:pPr>
            <a:r>
              <a:rPr lang="en-US" altLang="en-US" sz="1050" b="1" dirty="0">
                <a:solidFill>
                  <a:srgbClr val="1B2A38"/>
                </a:solidFill>
                <a:latin typeface="Arial" pitchFamily="34" charset="0"/>
                <a:ea typeface="Yu Gothic" pitchFamily="34" charset="-122"/>
                <a:cs typeface="Yu Gothic" pitchFamily="34" charset="-120"/>
              </a:rPr>
              <a:t>✕ Just the number of users</a:t>
            </a:r>
            <a:r>
              <a:rPr lang="en-US" altLang="en-US" sz="1050" b="0" dirty="0">
                <a:solidFill>
                  <a:srgbClr val="1B2A38"/>
                </a:solidFill>
                <a:latin typeface="Arial" pitchFamily="34" charset="0"/>
                <a:ea typeface="Yu Gothic" pitchFamily="34" charset="-122"/>
                <a:cs typeface="Yu Gothic" pitchFamily="34" charset="-120"/>
              </a:rPr>
              <a:t>  It also includes costs that reach the future (debt)</a:t>
            </a:r>
          </a:p>
        </p:txBody>
      </p:sp>
      <p:sp>
        <p:nvSpPr>
          <p:cNvPr id="48" name="Mx Panel"/>
          <p:cNvSpPr/>
          <p:nvPr/>
        </p:nvSpPr>
        <p:spPr>
          <a:xfrm>
            <a:off x="5623560" y="1691640"/>
            <a:ext cx="6016752" cy="4526280"/>
          </a:xfrm>
          <a:prstGeom prst="roundRect">
            <a:avLst>
              <a:gd name="adj" fmla="val 4000"/>
            </a:avLst>
          </a:prstGeom>
          <a:solidFill>
            <a:srgbClr val="F2F4F6"/>
          </a:solidFill>
          <a:ln/>
        </p:spPr>
      </p:sp>
      <p:sp>
        <p:nvSpPr>
          <p:cNvPr id="49" name="Mx Label"/>
          <p:cNvSpPr txBox="1"/>
          <p:nvPr/>
        </p:nvSpPr>
        <p:spPr>
          <a:xfrm>
            <a:off x="5852160" y="1856232"/>
            <a:ext cx="5559552" cy="274320"/>
          </a:xfrm>
          <a:prstGeom prst="rect">
            <a:avLst/>
          </a:prstGeom>
          <a:noFill/>
          <a:ln/>
        </p:spPr>
        <p:txBody>
          <a:bodyPr wrap="square" lIns="0" tIns="0" rIns="0" bIns="0" rtlCol="0" anchor="t"/>
          <a:lstStyle/>
          <a:p>
            <a:pPr indent="0" marL="0">
              <a:lnSpc>
                <a:spcPct val="115000"/>
              </a:lnSpc>
              <a:buNone/>
            </a:pPr>
            <a:r>
              <a:rPr lang="en-US" altLang="en-US" sz="1300" b="1" dirty="0">
                <a:solidFill>
                  <a:srgbClr val="1F7A68"/>
                </a:solidFill>
                <a:latin typeface="Arial" pitchFamily="34" charset="0"/>
                <a:ea typeface="Yu Gothic" pitchFamily="34" charset="-122"/>
                <a:cs typeface="Yu Gothic" pitchFamily="34" charset="-120"/>
              </a:rPr>
              <a:t>Amount × commonality</a:t>
            </a:r>
          </a:p>
        </p:txBody>
      </p:sp>
      <p:sp>
        <p:nvSpPr>
          <p:cNvPr id="50" name="Mx Cell 00"/>
          <p:cNvSpPr/>
          <p:nvPr/>
        </p:nvSpPr>
        <p:spPr>
          <a:xfrm>
            <a:off x="6190488" y="2240280"/>
            <a:ext cx="2578608" cy="1691640"/>
          </a:xfrm>
          <a:prstGeom prst="roundRect">
            <a:avLst>
              <a:gd name="adj" fmla="val 8000"/>
            </a:avLst>
          </a:prstGeom>
          <a:solidFill>
            <a:srgbClr val="FFFFFF"/>
          </a:solidFill>
          <a:ln/>
        </p:spPr>
      </p:sp>
      <p:sp>
        <p:nvSpPr>
          <p:cNvPr id="51" name="Mx Cell Text 00"/>
          <p:cNvSpPr txBox="1"/>
          <p:nvPr/>
        </p:nvSpPr>
        <p:spPr>
          <a:xfrm>
            <a:off x="6190488" y="2240280"/>
            <a:ext cx="2578608" cy="1691640"/>
          </a:xfrm>
          <a:prstGeom prst="rect">
            <a:avLst/>
          </a:prstGeom>
          <a:noFill/>
          <a:ln/>
        </p:spPr>
        <p:txBody>
          <a:bodyPr wrap="square" lIns="109728" tIns="0" rIns="109728" bIns="0" rtlCol="0" anchor="ctr"/>
          <a:lstStyle/>
          <a:p>
            <a:pPr indent="0" marL="0">
              <a:lnSpc>
                <a:spcPct val="115000"/>
              </a:lnSpc>
              <a:buNone/>
            </a:pPr>
            <a:r>
              <a:rPr lang="en-US" altLang="en-US" sz="1150" b="1" dirty="0">
                <a:solidFill>
                  <a:srgbClr val="1B2A38"/>
                </a:solidFill>
                <a:latin typeface="Arial" pitchFamily="34" charset="0"/>
                <a:ea typeface="Yu Gothic" pitchFamily="34" charset="-122"/>
                <a:cs typeface="Yu Gothic" pitchFamily="34" charset="-120"/>
              </a:rPr>
              <a:t>Large, self-contained projects</a:t>
            </a:r>
          </a:p>
          <a:p>
            <a:pPr indent="0" marL="0">
              <a:lnSpc>
                <a:spcPct val="115000"/>
              </a:lnSpc>
              <a:spcBef>
                <a:spcPts val="250"/>
              </a:spcBef>
              <a:buNone/>
            </a:pPr>
            <a:r>
              <a:rPr lang="en-US" altLang="en-US" sz="950" b="0" dirty="0">
                <a:solidFill>
                  <a:srgbClr val="3E4A56"/>
                </a:solidFill>
                <a:latin typeface="Arial" pitchFamily="34" charset="0"/>
                <a:ea typeface="Yu Gothic" pitchFamily="34" charset="-122"/>
                <a:cs typeface="Yu Gothic" pitchFamily="34" charset="-120"/>
              </a:rPr>
              <a:t>e.g., a department-only system with no integrations</a:t>
            </a:r>
          </a:p>
          <a:p>
            <a:pPr indent="0" marL="0">
              <a:lnSpc>
                <a:spcPct val="115000"/>
              </a:lnSpc>
              <a:spcBef>
                <a:spcPts val="300"/>
              </a:spcBef>
              <a:buNone/>
            </a:pPr>
            <a:r>
              <a:rPr lang="en-US" altLang="en-US" sz="950" b="0" dirty="0">
                <a:solidFill>
                  <a:srgbClr val="66717C"/>
                </a:solidFill>
                <a:latin typeface="Arial" pitchFamily="34" charset="0"/>
                <a:ea typeface="Yu Gothic" pitchFamily="34" charset="-122"/>
                <a:cs typeface="Yu Gothic" pitchFamily="34" charset="-120"/>
              </a:rPr>
              <a:t>Now: goes to deliberation</a:t>
            </a:r>
          </a:p>
          <a:p>
            <a:pPr indent="0" marL="0">
              <a:lnSpc>
                <a:spcPct val="115000"/>
              </a:lnSpc>
              <a:spcBef>
                <a:spcPts val="50"/>
              </a:spcBef>
              <a:buNone/>
            </a:pPr>
            <a:r>
              <a:rPr lang="en-US" altLang="en-US" sz="950" b="0" dirty="0">
                <a:solidFill>
                  <a:srgbClr val="1F7A68"/>
                </a:solidFill>
                <a:latin typeface="Arial" pitchFamily="34" charset="0"/>
                <a:ea typeface="Yu Gothic" pitchFamily="34" charset="-122"/>
                <a:cs typeface="Yu Gothic" pitchFamily="34" charset="-120"/>
              </a:rPr>
              <a:t>Next: few commonality issues</a:t>
            </a:r>
          </a:p>
        </p:txBody>
      </p:sp>
      <p:sp>
        <p:nvSpPr>
          <p:cNvPr id="52" name="Mx Cell 01"/>
          <p:cNvSpPr/>
          <p:nvPr/>
        </p:nvSpPr>
        <p:spPr>
          <a:xfrm>
            <a:off x="8860536" y="2240280"/>
            <a:ext cx="2578608" cy="1691640"/>
          </a:xfrm>
          <a:prstGeom prst="roundRect">
            <a:avLst>
              <a:gd name="adj" fmla="val 8000"/>
            </a:avLst>
          </a:prstGeom>
          <a:solidFill>
            <a:srgbClr val="EAF1F8"/>
          </a:solidFill>
          <a:ln w="22225">
            <a:solidFill>
              <a:srgbClr val="2F6FA8"/>
            </a:solidFill>
          </a:ln>
        </p:spPr>
      </p:sp>
      <p:sp>
        <p:nvSpPr>
          <p:cNvPr id="53" name="Mx Cell Text 01"/>
          <p:cNvSpPr txBox="1"/>
          <p:nvPr/>
        </p:nvSpPr>
        <p:spPr>
          <a:xfrm>
            <a:off x="8860536" y="2240280"/>
            <a:ext cx="2578608" cy="1691640"/>
          </a:xfrm>
          <a:prstGeom prst="rect">
            <a:avLst/>
          </a:prstGeom>
          <a:noFill/>
          <a:ln/>
        </p:spPr>
        <p:txBody>
          <a:bodyPr wrap="square" lIns="109728" tIns="0" rIns="109728" bIns="0" rtlCol="0" anchor="ctr"/>
          <a:lstStyle/>
          <a:p>
            <a:pPr indent="0" marL="0">
              <a:lnSpc>
                <a:spcPct val="115000"/>
              </a:lnSpc>
              <a:buNone/>
            </a:pPr>
            <a:r>
              <a:rPr lang="en-US" altLang="en-US" sz="1150" b="1" dirty="0">
                <a:solidFill>
                  <a:srgbClr val="2F6FA8"/>
                </a:solidFill>
                <a:latin typeface="Arial" pitchFamily="34" charset="0"/>
                <a:ea typeface="Yu Gothic" pitchFamily="34" charset="-122"/>
                <a:cs typeface="Yu Gothic" pitchFamily="34" charset="-120"/>
              </a:rPr>
              <a:t>Large, company-wide projects</a:t>
            </a:r>
          </a:p>
          <a:p>
            <a:pPr indent="0" marL="0">
              <a:lnSpc>
                <a:spcPct val="115000"/>
              </a:lnSpc>
              <a:spcBef>
                <a:spcPts val="250"/>
              </a:spcBef>
              <a:buNone/>
            </a:pPr>
            <a:r>
              <a:rPr lang="en-US" altLang="en-US" sz="950" b="0" dirty="0">
                <a:solidFill>
                  <a:srgbClr val="3E4A56"/>
                </a:solidFill>
                <a:latin typeface="Arial" pitchFamily="34" charset="0"/>
                <a:ea typeface="Yu Gothic" pitchFamily="34" charset="-122"/>
                <a:cs typeface="Yu Gothic" pitchFamily="34" charset="-120"/>
              </a:rPr>
              <a:t>e.g., renewing core systems or the enterprise data platform</a:t>
            </a:r>
          </a:p>
          <a:p>
            <a:pPr indent="0" marL="0">
              <a:lnSpc>
                <a:spcPct val="115000"/>
              </a:lnSpc>
              <a:spcBef>
                <a:spcPts val="300"/>
              </a:spcBef>
              <a:buNone/>
            </a:pPr>
            <a:r>
              <a:rPr lang="en-US" altLang="en-US" sz="950" b="0" dirty="0">
                <a:solidFill>
                  <a:srgbClr val="66717C"/>
                </a:solidFill>
                <a:latin typeface="Arial" pitchFamily="34" charset="0"/>
                <a:ea typeface="Yu Gothic" pitchFamily="34" charset="-122"/>
                <a:cs typeface="Yu Gothic" pitchFamily="34" charset="-120"/>
              </a:rPr>
              <a:t>Now: reviewed, but tends to be rubber-stamped</a:t>
            </a:r>
          </a:p>
          <a:p>
            <a:pPr indent="0" marL="0">
              <a:lnSpc>
                <a:spcPct val="115000"/>
              </a:lnSpc>
              <a:spcBef>
                <a:spcPts val="50"/>
              </a:spcBef>
              <a:buNone/>
            </a:pPr>
            <a:r>
              <a:rPr lang="en-US" altLang="en-US" sz="950" b="0" dirty="0">
                <a:solidFill>
                  <a:srgbClr val="2F6FA8"/>
                </a:solidFill>
                <a:latin typeface="Arial" pitchFamily="34" charset="0"/>
                <a:ea typeface="Yu Gothic" pitchFamily="34" charset="-122"/>
                <a:cs typeface="Yu Gothic" pitchFamily="34" charset="-120"/>
              </a:rPr>
              <a:t>Next: deliberated by the commonality yardstick</a:t>
            </a:r>
          </a:p>
        </p:txBody>
      </p:sp>
      <p:sp>
        <p:nvSpPr>
          <p:cNvPr id="54" name="Mx Cell 10"/>
          <p:cNvSpPr/>
          <p:nvPr/>
        </p:nvSpPr>
        <p:spPr>
          <a:xfrm>
            <a:off x="6190488" y="4023360"/>
            <a:ext cx="2578608" cy="1691640"/>
          </a:xfrm>
          <a:prstGeom prst="roundRect">
            <a:avLst>
              <a:gd name="adj" fmla="val 8000"/>
            </a:avLst>
          </a:prstGeom>
          <a:solidFill>
            <a:srgbClr val="FFFFFF"/>
          </a:solidFill>
          <a:ln/>
        </p:spPr>
      </p:sp>
      <p:sp>
        <p:nvSpPr>
          <p:cNvPr id="55" name="Mx Cell Text 10"/>
          <p:cNvSpPr txBox="1"/>
          <p:nvPr/>
        </p:nvSpPr>
        <p:spPr>
          <a:xfrm>
            <a:off x="6190488" y="4023360"/>
            <a:ext cx="2578608" cy="1691640"/>
          </a:xfrm>
          <a:prstGeom prst="rect">
            <a:avLst/>
          </a:prstGeom>
          <a:noFill/>
          <a:ln/>
        </p:spPr>
        <p:txBody>
          <a:bodyPr wrap="square" lIns="109728" tIns="0" rIns="109728" bIns="0" rtlCol="0" anchor="ctr"/>
          <a:lstStyle/>
          <a:p>
            <a:pPr indent="0" marL="0">
              <a:lnSpc>
                <a:spcPct val="115000"/>
              </a:lnSpc>
              <a:buNone/>
            </a:pPr>
            <a:r>
              <a:rPr lang="en-US" altLang="en-US" sz="1150" b="1" dirty="0">
                <a:solidFill>
                  <a:srgbClr val="1B2A38"/>
                </a:solidFill>
                <a:latin typeface="Arial" pitchFamily="34" charset="0"/>
                <a:ea typeface="Yu Gothic" pitchFamily="34" charset="-122"/>
                <a:cs typeface="Yu Gothic" pitchFamily="34" charset="-120"/>
              </a:rPr>
              <a:t>Small departmental improvements</a:t>
            </a:r>
          </a:p>
          <a:p>
            <a:pPr indent="0" marL="0">
              <a:lnSpc>
                <a:spcPct val="115000"/>
              </a:lnSpc>
              <a:spcBef>
                <a:spcPts val="250"/>
              </a:spcBef>
              <a:buNone/>
            </a:pPr>
            <a:r>
              <a:rPr lang="en-US" altLang="en-US" sz="950" b="0" dirty="0">
                <a:solidFill>
                  <a:srgbClr val="3E4A56"/>
                </a:solidFill>
                <a:latin typeface="Arial" pitchFamily="34" charset="0"/>
                <a:ea typeface="Yu Gothic" pitchFamily="34" charset="-122"/>
                <a:cs typeface="Yu Gothic" pitchFamily="34" charset="-120"/>
              </a:rPr>
              <a:t>e.g., a local tool, a small PoC</a:t>
            </a:r>
          </a:p>
          <a:p>
            <a:pPr indent="0" marL="0">
              <a:lnSpc>
                <a:spcPct val="115000"/>
              </a:lnSpc>
              <a:spcBef>
                <a:spcPts val="300"/>
              </a:spcBef>
              <a:buNone/>
            </a:pPr>
            <a:r>
              <a:rPr lang="en-US" altLang="en-US" sz="950" b="0" dirty="0">
                <a:solidFill>
                  <a:srgbClr val="66717C"/>
                </a:solidFill>
                <a:latin typeface="Arial" pitchFamily="34" charset="0"/>
                <a:ea typeface="Yu Gothic" pitchFamily="34" charset="-122"/>
                <a:cs typeface="Yu Gothic" pitchFamily="34" charset="-120"/>
              </a:rPr>
              <a:t>Now and next: decided by the department</a:t>
            </a:r>
          </a:p>
        </p:txBody>
      </p:sp>
      <p:sp>
        <p:nvSpPr>
          <p:cNvPr id="56" name="Mx Cell 11"/>
          <p:cNvSpPr/>
          <p:nvPr/>
        </p:nvSpPr>
        <p:spPr>
          <a:xfrm>
            <a:off x="8860536" y="4023360"/>
            <a:ext cx="2578608" cy="1691640"/>
          </a:xfrm>
          <a:prstGeom prst="roundRect">
            <a:avLst>
              <a:gd name="adj" fmla="val 8000"/>
            </a:avLst>
          </a:prstGeom>
          <a:solidFill>
            <a:srgbClr val="FBEDEA"/>
          </a:solidFill>
          <a:ln w="22225">
            <a:solidFill>
              <a:srgbClr val="B5472F"/>
            </a:solidFill>
          </a:ln>
        </p:spPr>
      </p:sp>
      <p:sp>
        <p:nvSpPr>
          <p:cNvPr id="57" name="Mx Cell Text 11"/>
          <p:cNvSpPr txBox="1"/>
          <p:nvPr/>
        </p:nvSpPr>
        <p:spPr>
          <a:xfrm>
            <a:off x="8860536" y="4023360"/>
            <a:ext cx="2578608" cy="1691640"/>
          </a:xfrm>
          <a:prstGeom prst="rect">
            <a:avLst/>
          </a:prstGeom>
          <a:noFill/>
          <a:ln/>
        </p:spPr>
        <p:txBody>
          <a:bodyPr wrap="square" lIns="109728" tIns="0" rIns="109728" bIns="0" rtlCol="0" anchor="ctr"/>
          <a:lstStyle/>
          <a:p>
            <a:pPr indent="0" marL="0">
              <a:lnSpc>
                <a:spcPct val="115000"/>
              </a:lnSpc>
              <a:buNone/>
            </a:pPr>
            <a:r>
              <a:rPr lang="en-US" altLang="en-US" sz="1150" b="1" dirty="0">
                <a:solidFill>
                  <a:srgbClr val="B5472F"/>
                </a:solidFill>
                <a:latin typeface="Arial" pitchFamily="34" charset="0"/>
                <a:ea typeface="Yu Gothic" pitchFamily="34" charset="-122"/>
                <a:cs typeface="Yu Gothic" pitchFamily="34" charset="-120"/>
              </a:rPr>
              <a:t>Small, but company-wide in reach</a:t>
            </a:r>
          </a:p>
          <a:p>
            <a:pPr indent="0" marL="0">
              <a:lnSpc>
                <a:spcPct val="115000"/>
              </a:lnSpc>
              <a:spcBef>
                <a:spcPts val="250"/>
              </a:spcBef>
              <a:buNone/>
            </a:pPr>
            <a:r>
              <a:rPr lang="en-US" altLang="en-US" sz="950" b="0" dirty="0">
                <a:solidFill>
                  <a:srgbClr val="3E4A56"/>
                </a:solidFill>
                <a:latin typeface="Arial" pitchFamily="34" charset="0"/>
                <a:ea typeface="Yu Gothic" pitchFamily="34" charset="-122"/>
                <a:cs typeface="Yu Gothic" pitchFamily="34" charset="-120"/>
              </a:rPr>
              <a:t>e.g., a new point-to-point interface, non-standard builds, EOL extensions</a:t>
            </a:r>
          </a:p>
          <a:p>
            <a:pPr indent="0" marL="0">
              <a:lnSpc>
                <a:spcPct val="115000"/>
              </a:lnSpc>
              <a:spcBef>
                <a:spcPts val="300"/>
              </a:spcBef>
              <a:buNone/>
            </a:pPr>
            <a:r>
              <a:rPr lang="en-US" altLang="en-US" sz="950" b="0" dirty="0">
                <a:solidFill>
                  <a:srgbClr val="66717C"/>
                </a:solidFill>
                <a:latin typeface="Arial" pitchFamily="34" charset="0"/>
                <a:ea typeface="Yu Gothic" pitchFamily="34" charset="-122"/>
                <a:cs typeface="Yu Gothic" pitchFamily="34" charset="-120"/>
              </a:rPr>
              <a:t>Now: never reaches deliberation</a:t>
            </a:r>
          </a:p>
          <a:p>
            <a:pPr indent="0" marL="0">
              <a:lnSpc>
                <a:spcPct val="115000"/>
              </a:lnSpc>
              <a:spcBef>
                <a:spcPts val="50"/>
              </a:spcBef>
              <a:buNone/>
            </a:pPr>
            <a:r>
              <a:rPr lang="en-US" altLang="en-US" sz="950" b="0" dirty="0">
                <a:solidFill>
                  <a:srgbClr val="B5472F"/>
                </a:solidFill>
                <a:latin typeface="Arial" pitchFamily="34" charset="0"/>
                <a:ea typeface="Yu Gothic" pitchFamily="34" charset="-122"/>
                <a:cs typeface="Yu Gothic" pitchFamily="34" charset="-120"/>
              </a:rPr>
              <a:t>Next: decided company-wide</a:t>
            </a:r>
          </a:p>
        </p:txBody>
      </p:sp>
      <p:sp>
        <p:nvSpPr>
          <p:cNvPr id="58" name="Mx Y Top"/>
          <p:cNvSpPr txBox="1"/>
          <p:nvPr/>
        </p:nvSpPr>
        <p:spPr>
          <a:xfrm>
            <a:off x="5788152" y="2240280"/>
            <a:ext cx="329184" cy="274320"/>
          </a:xfrm>
          <a:prstGeom prst="rect">
            <a:avLst/>
          </a:prstGeom>
          <a:noFill/>
          <a:ln/>
        </p:spPr>
        <p:txBody>
          <a:bodyPr wrap="square" lIns="0" tIns="0" rIns="0" bIns="0" rtlCol="0" anchor="t"/>
          <a:lstStyle/>
          <a:p>
            <a:pPr algn="ctr" indent="0" marL="0">
              <a:lnSpc>
                <a:spcPct val="115000"/>
              </a:lnSpc>
              <a:buNone/>
            </a:pPr>
            <a:r>
              <a:rPr lang="en-US" altLang="en-US" sz="1000" b="0" dirty="0">
                <a:solidFill>
                  <a:srgbClr val="66717C"/>
                </a:solidFill>
                <a:latin typeface="Arial" pitchFamily="34" charset="0"/>
                <a:ea typeface="Yu Gothic" pitchFamily="34" charset="-122"/>
                <a:cs typeface="Yu Gothic" pitchFamily="34" charset="-120"/>
              </a:rPr>
              <a:t>High</a:t>
            </a:r>
          </a:p>
        </p:txBody>
      </p:sp>
      <p:sp>
        <p:nvSpPr>
          <p:cNvPr id="59" name="Mx Y Mid"/>
          <p:cNvSpPr txBox="1"/>
          <p:nvPr/>
        </p:nvSpPr>
        <p:spPr>
          <a:xfrm>
            <a:off x="5788152" y="3703320"/>
            <a:ext cx="329184" cy="548640"/>
          </a:xfrm>
          <a:prstGeom prst="rect">
            <a:avLst/>
          </a:prstGeom>
          <a:noFill/>
          <a:ln/>
        </p:spPr>
        <p:txBody>
          <a:bodyPr wrap="square" lIns="0" tIns="0" rIns="0" bIns="0" rtlCol="0" anchor="ctr"/>
          <a:lstStyle/>
          <a:p>
            <a:pPr algn="ctr" indent="0" marL="0">
              <a:lnSpc>
                <a:spcPct val="115000"/>
              </a:lnSpc>
              <a:buNone/>
            </a:pPr>
            <a:r>
              <a:rPr lang="en-US" altLang="en-US" sz="1000" b="0" dirty="0">
                <a:solidFill>
                  <a:srgbClr val="66717C"/>
                </a:solidFill>
                <a:latin typeface="Arial" pitchFamily="34" charset="0"/>
                <a:ea typeface="Yu Gothic" pitchFamily="34" charset="-122"/>
                <a:cs typeface="Yu Gothic" pitchFamily="34" charset="-120"/>
              </a:rPr>
              <a:t>Amt</a:t>
            </a:r>
          </a:p>
          <a:p>
            <a:pPr algn="ctr" indent="0" marL="0">
              <a:lnSpc>
                <a:spcPct val="115000"/>
              </a:lnSpc>
              <a:buNone/>
            </a:pPr>
            <a:r>
              <a:rPr lang="en-US" altLang="en-US" sz="1000" b="0" dirty="0">
                <a:solidFill>
                  <a:srgbClr val="66717C"/>
                </a:solidFill>
                <a:latin typeface="Arial" pitchFamily="34" charset="0"/>
                <a:ea typeface="Yu Gothic" pitchFamily="34" charset="-122"/>
                <a:cs typeface="Yu Gothic" pitchFamily="34" charset="-120"/>
              </a:rPr>
              <a:t/>
            </a:r>
          </a:p>
        </p:txBody>
      </p:sp>
      <p:sp>
        <p:nvSpPr>
          <p:cNvPr id="60" name="Mx Y Bot"/>
          <p:cNvSpPr txBox="1"/>
          <p:nvPr/>
        </p:nvSpPr>
        <p:spPr>
          <a:xfrm>
            <a:off x="5788152" y="5440680"/>
            <a:ext cx="329184" cy="274320"/>
          </a:xfrm>
          <a:prstGeom prst="rect">
            <a:avLst/>
          </a:prstGeom>
          <a:noFill/>
          <a:ln/>
        </p:spPr>
        <p:txBody>
          <a:bodyPr wrap="square" lIns="0" tIns="0" rIns="0" bIns="0" rtlCol="0" anchor="b"/>
          <a:lstStyle/>
          <a:p>
            <a:pPr algn="ctr" indent="0" marL="0">
              <a:lnSpc>
                <a:spcPct val="115000"/>
              </a:lnSpc>
              <a:buNone/>
            </a:pPr>
            <a:r>
              <a:rPr lang="en-US" altLang="en-US" sz="1000" b="0" dirty="0">
                <a:solidFill>
                  <a:srgbClr val="66717C"/>
                </a:solidFill>
                <a:latin typeface="Arial" pitchFamily="34" charset="0"/>
                <a:ea typeface="Yu Gothic" pitchFamily="34" charset="-122"/>
                <a:cs typeface="Yu Gothic" pitchFamily="34" charset="-120"/>
              </a:rPr>
              <a:t>Low</a:t>
            </a:r>
          </a:p>
        </p:txBody>
      </p:sp>
      <p:sp>
        <p:nvSpPr>
          <p:cNvPr id="61" name="Mx XAxis"/>
          <p:cNvSpPr txBox="1"/>
          <p:nvPr/>
        </p:nvSpPr>
        <p:spPr>
          <a:xfrm>
            <a:off x="6190488" y="5769864"/>
            <a:ext cx="5248656" cy="274320"/>
          </a:xfrm>
          <a:prstGeom prst="rect">
            <a:avLst/>
          </a:prstGeom>
          <a:noFill/>
          <a:ln/>
        </p:spPr>
        <p:txBody>
          <a:bodyPr wrap="square" lIns="0" tIns="0" rIns="0" bIns="0" rtlCol="0" anchor="ctr"/>
          <a:lstStyle/>
          <a:p>
            <a:pPr algn="ctr" indent="0" marL="0">
              <a:lnSpc>
                <a:spcPct val="115000"/>
              </a:lnSpc>
              <a:buNone/>
            </a:pPr>
            <a:r>
              <a:rPr lang="en-US" altLang="en-US" sz="1000" b="0" dirty="0">
                <a:solidFill>
                  <a:srgbClr val="66717C"/>
                </a:solidFill>
                <a:latin typeface="Arial" pitchFamily="34" charset="0"/>
                <a:ea typeface="Yu Gothic" pitchFamily="34" charset="-122"/>
                <a:cs typeface="Yu Gothic" pitchFamily="34" charset="-120"/>
              </a:rPr>
              <a:t>Low  ←  </a:t>
            </a:r>
            <a:r>
              <a:rPr lang="en-US" altLang="en-US" sz="1000" b="1" dirty="0">
                <a:solidFill>
                  <a:srgbClr val="1F7A68"/>
                </a:solidFill>
                <a:latin typeface="Arial" pitchFamily="34" charset="0"/>
                <a:ea typeface="Yu Gothic" pitchFamily="34" charset="-122"/>
                <a:cs typeface="Yu Gothic" pitchFamily="34" charset="-120"/>
              </a:rPr>
              <a:t>commonality</a:t>
            </a:r>
            <a:r>
              <a:rPr lang="en-US" altLang="en-US" sz="1000" b="0" dirty="0">
                <a:solidFill>
                  <a:srgbClr val="66717C"/>
                </a:solidFill>
                <a:latin typeface="Arial" pitchFamily="34" charset="0"/>
                <a:ea typeface="Yu Gothic" pitchFamily="34" charset="-122"/>
                <a:cs typeface="Yu Gothic" pitchFamily="34" charset="-120"/>
              </a:rPr>
              <a:t>  →  High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grpSpPr>
        <a:xfrm>
          <a:off x="0" y="0"/>
          <a:ext cx="0" cy="0"/>
          <a:chOff x="0" y="0"/>
          <a:chExt cx="0" cy="0"/>
        </a:xfrm>
      </p:grpSpPr>
      <p:sp>
        <p:nvSpPr>
          <p:cNvPr id="4" name="Text 2"/>
          <p:cNvSpPr txBox="1"/>
          <p:nvPr/>
        </p:nvSpPr>
        <p:spPr>
          <a:xfrm>
            <a:off x="548640" y="685800"/>
            <a:ext cx="11064240" cy="548640"/>
          </a:xfrm>
          <a:prstGeom prst="rect">
            <a:avLst/>
          </a:prstGeom>
          <a:noFill/>
          <a:ln/>
        </p:spPr>
        <p:txBody>
          <a:bodyPr wrap="square" lIns="0" tIns="0" rIns="0" bIns="0" rtlCol="0" anchor="ctr"/>
          <a:lstStyle/>
          <a:p>
            <a:pPr indent="0" marL="0">
              <a:buNone/>
            </a:pPr>
            <a:r>
              <a:rPr lang="en-US" sz="2400" b="1" dirty="0">
                <a:solidFill>
                  <a:srgbClr val="1B2A38"/>
                </a:solidFill>
                <a:latin typeface="Arial" pitchFamily="34" charset="0"/>
                <a:ea typeface="Yu Gothic" pitchFamily="34" charset="-122"/>
                <a:cs typeface="Yu Gothic" pitchFamily="34" charset="-120"/>
              </a:rPr>
              <a:t>Inside commonality ── collect facts; IT assesses element by element</a:t>
            </a:r>
            <a:endParaRPr lang="en-US" sz="2400" dirty="0"/>
          </a:p>
        </p:txBody>
      </p:sp>
      <p:sp>
        <p:nvSpPr>
          <p:cNvPr id="5" name="Text 3"/>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900" dirty="0">
                <a:solidFill>
                  <a:srgbClr val="66717C"/>
                </a:solidFill>
                <a:latin typeface="Arial" pitchFamily="34" charset="0"/>
                <a:ea typeface="Yu Gothic" pitchFamily="34" charset="-122"/>
                <a:cs typeface="Yu Gothic" pitchFamily="34" charset="-120"/>
              </a:rPr>
              <a:t>IT Materiality ｜ IT Department internal alignment</a:t>
            </a:r>
            <a:endParaRPr lang="en-US" sz="900" dirty="0"/>
          </a:p>
        </p:txBody>
      </p:sp>
      <p:sp>
        <p:nvSpPr>
          <p:cNvPr id="6" name="Text 4"/>
          <p:cNvSpPr txBox="1"/>
          <p:nvPr/>
        </p:nvSpPr>
        <p:spPr>
          <a:xfrm>
            <a:off x="11155680" y="6446520"/>
            <a:ext cx="457200" cy="274320"/>
          </a:xfrm>
          <a:prstGeom prst="rect">
            <a:avLst/>
          </a:prstGeom>
          <a:noFill/>
          <a:ln/>
        </p:spPr>
        <p:txBody>
          <a:bodyPr wrap="square" lIns="0" tIns="0" rIns="0" bIns="0" rtlCol="0" anchor="t"/>
          <a:lstStyle/>
          <a:p>
            <a:pPr algn="r" indent="0" marL="0">
              <a:buNone/>
            </a:pPr>
            <a:r>
              <a:rPr lang="en-US" sz="900" dirty="0">
                <a:solidFill>
                  <a:srgbClr val="66717C"/>
                </a:solidFill>
                <a:latin typeface="Arial" pitchFamily="34" charset="0"/>
                <a:ea typeface="Yu Gothic" pitchFamily="34" charset="-122"/>
                <a:cs typeface="Yu Gothic" pitchFamily="34" charset="-120"/>
              </a:rPr>
              <a:t>5</a:t>
            </a:r>
            <a:endParaRPr lang="en-US" sz="900" dirty="0"/>
          </a:p>
        </p:txBody>
      </p:sp>
      <p:sp>
        <p:nvSpPr>
          <p:cNvPr id="35" name="Subtitle"/>
          <p:cNvSpPr txBox="1"/>
          <p:nvPr/>
        </p:nvSpPr>
        <p:spPr>
          <a:xfrm>
            <a:off x="548640" y="1188720"/>
            <a:ext cx="11064240" cy="310896"/>
          </a:xfrm>
          <a:prstGeom prst="rect">
            <a:avLst/>
          </a:prstGeom>
          <a:noFill/>
          <a:ln/>
        </p:spPr>
        <p:txBody>
          <a:bodyPr wrap="square" lIns="0" tIns="0" rIns="0" bIns="0" rtlCol="0" anchor="ctr"/>
          <a:lstStyle/>
          <a:p>
            <a:pPr indent="0" marL="0">
              <a:lnSpc>
                <a:spcPct val="115000"/>
              </a:lnSpc>
              <a:buNone/>
            </a:pPr>
            <a:r>
              <a:rPr lang="en-US" altLang="en-US" sz="1300" b="0" dirty="0">
                <a:solidFill>
                  <a:srgbClr val="3E4A56"/>
                </a:solidFill>
                <a:latin typeface="Arial" pitchFamily="34" charset="0"/>
                <a:ea typeface="Yu Gothic" pitchFamily="34" charset="-122"/>
                <a:cs typeface="Yu Gothic" pitchFamily="34" charset="-120"/>
              </a:rPr>
              <a:t>We don't ask applicants "Is Foundation OK?" We ask only for </a:t>
            </a:r>
            <a:r>
              <a:rPr lang="en-US" altLang="en-US" sz="1300" b="1" dirty="0">
                <a:solidFill>
                  <a:srgbClr val="1B2A38"/>
                </a:solidFill>
                <a:latin typeface="Arial" pitchFamily="34" charset="0"/>
                <a:ea typeface="Yu Gothic" pitchFamily="34" charset="-122"/>
                <a:cs typeface="Yu Gothic" pitchFamily="34" charset="-120"/>
              </a:rPr>
              <a:t>facts</a:t>
            </a:r>
            <a:r>
              <a:rPr lang="en-US" altLang="en-US" sz="1300" b="0" dirty="0">
                <a:solidFill>
                  <a:srgbClr val="3E4A56"/>
                </a:solidFill>
                <a:latin typeface="Arial" pitchFamily="34" charset="0"/>
                <a:ea typeface="Yu Gothic" pitchFamily="34" charset="-122"/>
                <a:cs typeface="Yu Gothic" pitchFamily="34" charset="-120"/>
              </a:rPr>
              <a:t>. Breaking facts into elements and assessing them is the job of </a:t>
            </a:r>
            <a:r>
              <a:rPr lang="en-US" altLang="en-US" sz="1300" b="1" dirty="0">
                <a:solidFill>
                  <a:srgbClr val="1B2A38"/>
                </a:solidFill>
                <a:latin typeface="Arial" pitchFamily="34" charset="0"/>
                <a:ea typeface="Yu Gothic" pitchFamily="34" charset="-122"/>
                <a:cs typeface="Yu Gothic" pitchFamily="34" charset="-120"/>
              </a:rPr>
              <a:t>the IT Department</a:t>
            </a:r>
          </a:p>
        </p:txBody>
      </p:sp>
      <p:sp>
        <p:nvSpPr>
          <p:cNvPr id="36" name="Hdr 1"/>
          <p:cNvSpPr/>
          <p:nvPr/>
        </p:nvSpPr>
        <p:spPr>
          <a:xfrm>
            <a:off x="1783080" y="1664208"/>
            <a:ext cx="1600200" cy="292608"/>
          </a:xfrm>
          <a:prstGeom prst="rect">
            <a:avLst/>
          </a:prstGeom>
          <a:solidFill>
            <a:srgbClr val="1B2A38"/>
          </a:solidFill>
          <a:ln/>
        </p:spPr>
      </p:sp>
      <p:sp>
        <p:nvSpPr>
          <p:cNvPr id="37" name="Hdr Text 1"/>
          <p:cNvSpPr txBox="1"/>
          <p:nvPr/>
        </p:nvSpPr>
        <p:spPr>
          <a:xfrm>
            <a:off x="1783080" y="1664208"/>
            <a:ext cx="1600200" cy="292608"/>
          </a:xfrm>
          <a:prstGeom prst="rect">
            <a:avLst/>
          </a:prstGeom>
          <a:noFill/>
          <a:ln/>
        </p:spPr>
        <p:txBody>
          <a:bodyPr wrap="square" lIns="109728" tIns="0" rIns="109728" bIns="0" rtlCol="0" anchor="ctr"/>
          <a:lstStyle/>
          <a:p>
            <a:pPr indent="0" marL="0">
              <a:lnSpc>
                <a:spcPct val="115000"/>
              </a:lnSpc>
              <a:buNone/>
            </a:pPr>
            <a:r>
              <a:rPr lang="en-US" altLang="en-US" sz="1050" b="1" dirty="0">
                <a:solidFill>
                  <a:srgbClr val="FFFFFF"/>
                </a:solidFill>
                <a:latin typeface="Arial" pitchFamily="34" charset="0"/>
                <a:ea typeface="Yu Gothic" pitchFamily="34" charset="-122"/>
                <a:cs typeface="Yu Gothic" pitchFamily="34" charset="-120"/>
              </a:rPr>
              <a:t>Element</a:t>
            </a:r>
          </a:p>
        </p:txBody>
      </p:sp>
      <p:sp>
        <p:nvSpPr>
          <p:cNvPr id="38" name="Hdr 2"/>
          <p:cNvSpPr/>
          <p:nvPr/>
        </p:nvSpPr>
        <p:spPr>
          <a:xfrm>
            <a:off x="3429000" y="1664208"/>
            <a:ext cx="3520440" cy="292608"/>
          </a:xfrm>
          <a:prstGeom prst="rect">
            <a:avLst/>
          </a:prstGeom>
          <a:solidFill>
            <a:srgbClr val="1B2A38"/>
          </a:solidFill>
          <a:ln/>
        </p:spPr>
      </p:sp>
      <p:sp>
        <p:nvSpPr>
          <p:cNvPr id="39" name="Hdr Text 2"/>
          <p:cNvSpPr txBox="1"/>
          <p:nvPr/>
        </p:nvSpPr>
        <p:spPr>
          <a:xfrm>
            <a:off x="3429000" y="1664208"/>
            <a:ext cx="3520440" cy="292608"/>
          </a:xfrm>
          <a:prstGeom prst="rect">
            <a:avLst/>
          </a:prstGeom>
          <a:noFill/>
          <a:ln/>
        </p:spPr>
        <p:txBody>
          <a:bodyPr wrap="square" lIns="109728" tIns="0" rIns="109728" bIns="0" rtlCol="0" anchor="ctr"/>
          <a:lstStyle/>
          <a:p>
            <a:pPr indent="0" marL="0">
              <a:lnSpc>
                <a:spcPct val="115000"/>
              </a:lnSpc>
              <a:buNone/>
            </a:pPr>
            <a:r>
              <a:rPr lang="en-US" altLang="en-US" sz="1050" b="1" dirty="0">
                <a:solidFill>
                  <a:srgbClr val="FFFFFF"/>
                </a:solidFill>
                <a:latin typeface="Arial" pitchFamily="34" charset="0"/>
                <a:ea typeface="Yu Gothic" pitchFamily="34" charset="-122"/>
                <a:cs typeface="Yu Gothic" pitchFamily="34" charset="-120"/>
              </a:rPr>
              <a:t>Facts we ask the applicant</a:t>
            </a:r>
          </a:p>
        </p:txBody>
      </p:sp>
      <p:sp>
        <p:nvSpPr>
          <p:cNvPr id="40" name="Hdr 3"/>
          <p:cNvSpPr/>
          <p:nvPr/>
        </p:nvSpPr>
        <p:spPr>
          <a:xfrm>
            <a:off x="6995160" y="1664208"/>
            <a:ext cx="4645152" cy="292608"/>
          </a:xfrm>
          <a:prstGeom prst="rect">
            <a:avLst/>
          </a:prstGeom>
          <a:solidFill>
            <a:srgbClr val="1B2A38"/>
          </a:solidFill>
          <a:ln/>
        </p:spPr>
      </p:sp>
      <p:sp>
        <p:nvSpPr>
          <p:cNvPr id="41" name="Hdr Text 3"/>
          <p:cNvSpPr txBox="1"/>
          <p:nvPr/>
        </p:nvSpPr>
        <p:spPr>
          <a:xfrm>
            <a:off x="6995160" y="1664208"/>
            <a:ext cx="4645152" cy="292608"/>
          </a:xfrm>
          <a:prstGeom prst="rect">
            <a:avLst/>
          </a:prstGeom>
          <a:noFill/>
          <a:ln/>
        </p:spPr>
        <p:txBody>
          <a:bodyPr wrap="square" lIns="109728" tIns="0" rIns="109728" bIns="0" rtlCol="0" anchor="ctr"/>
          <a:lstStyle/>
          <a:p>
            <a:pPr indent="0" marL="0">
              <a:lnSpc>
                <a:spcPct val="115000"/>
              </a:lnSpc>
              <a:buNone/>
            </a:pPr>
            <a:r>
              <a:rPr lang="en-US" altLang="en-US" sz="1050" b="1" dirty="0">
                <a:solidFill>
                  <a:srgbClr val="FFFFFF"/>
                </a:solidFill>
                <a:latin typeface="Arial" pitchFamily="34" charset="0"/>
                <a:ea typeface="Yu Gothic" pitchFamily="34" charset="-122"/>
                <a:cs typeface="Yu Gothic" pitchFamily="34" charset="-120"/>
              </a:rPr>
              <a:t>What IT assesses</a:t>
            </a:r>
          </a:p>
        </p:txBody>
      </p:sp>
      <p:sp>
        <p:nvSpPr>
          <p:cNvPr id="42" name="Grp 0"/>
          <p:cNvSpPr/>
          <p:nvPr/>
        </p:nvSpPr>
        <p:spPr>
          <a:xfrm>
            <a:off x="548640" y="2029968"/>
            <a:ext cx="1188720" cy="1444752"/>
          </a:xfrm>
          <a:prstGeom prst="rect">
            <a:avLst/>
          </a:prstGeom>
          <a:solidFill>
            <a:srgbClr val="1F7A68"/>
          </a:solidFill>
          <a:ln/>
        </p:spPr>
      </p:sp>
      <p:sp>
        <p:nvSpPr>
          <p:cNvPr id="43" name="Grp Text 0"/>
          <p:cNvSpPr txBox="1"/>
          <p:nvPr/>
        </p:nvSpPr>
        <p:spPr>
          <a:xfrm>
            <a:off x="548640" y="2029968"/>
            <a:ext cx="1188720" cy="1444752"/>
          </a:xfrm>
          <a:prstGeom prst="rect">
            <a:avLst/>
          </a:prstGeom>
          <a:noFill/>
          <a:ln/>
        </p:spPr>
        <p:txBody>
          <a:bodyPr wrap="square" lIns="0" tIns="0" rIns="0" bIns="0" rtlCol="0" anchor="ctr"/>
          <a:lstStyle/>
          <a:p>
            <a:pPr algn="ctr" indent="0" marL="0">
              <a:lnSpc>
                <a:spcPct val="115000"/>
              </a:lnSpc>
              <a:buNone/>
            </a:pPr>
            <a:r>
              <a:rPr lang="en-US" altLang="en-US" sz="1500" b="1" dirty="0">
                <a:solidFill>
                  <a:srgbClr val="FFFFFF"/>
                </a:solidFill>
                <a:latin typeface="Arial" pitchFamily="34" charset="0"/>
                <a:ea typeface="Yu Gothic" pitchFamily="34" charset="-122"/>
                <a:cs typeface="Yu Gothic" pitchFamily="34" charset="-120"/>
              </a:rPr>
              <a:t>Foundation</a:t>
            </a:r>
          </a:p>
          <a:p>
            <a:pPr algn="ctr" indent="0" marL="0">
              <a:lnSpc>
                <a:spcPct val="115000"/>
              </a:lnSpc>
              <a:spcBef>
                <a:spcPts val="200"/>
              </a:spcBef>
              <a:buNone/>
            </a:pPr>
            <a:r>
              <a:rPr lang="en-US" altLang="en-US" sz="950" b="0" dirty="0">
                <a:solidFill>
                  <a:srgbClr val="FFFFFF"/>
                </a:solidFill>
                <a:latin typeface="Arial" pitchFamily="34" charset="0"/>
                <a:ea typeface="Yu Gothic" pitchFamily="34" charset="-122"/>
                <a:cs typeface="Yu Gothic" pitchFamily="34" charset="-120"/>
              </a:rPr>
              <a:t>Reaches other departments</a:t>
            </a:r>
          </a:p>
        </p:txBody>
      </p:sp>
      <p:sp>
        <p:nvSpPr>
          <p:cNvPr id="44" name="Cell 001"/>
          <p:cNvSpPr/>
          <p:nvPr/>
        </p:nvSpPr>
        <p:spPr>
          <a:xfrm>
            <a:off x="1783080" y="2029968"/>
            <a:ext cx="1600200" cy="457200"/>
          </a:xfrm>
          <a:prstGeom prst="rect">
            <a:avLst/>
          </a:prstGeom>
          <a:solidFill>
            <a:srgbClr val="E6F2EE"/>
          </a:solidFill>
          <a:ln/>
        </p:spPr>
      </p:sp>
      <p:sp>
        <p:nvSpPr>
          <p:cNvPr id="45" name="Cell Text 001"/>
          <p:cNvSpPr txBox="1"/>
          <p:nvPr/>
        </p:nvSpPr>
        <p:spPr>
          <a:xfrm>
            <a:off x="1783080" y="2029968"/>
            <a:ext cx="1600200" cy="457200"/>
          </a:xfrm>
          <a:prstGeom prst="rect">
            <a:avLst/>
          </a:prstGeom>
          <a:noFill/>
          <a:ln/>
        </p:spPr>
        <p:txBody>
          <a:bodyPr wrap="square" lIns="91440" tIns="0" rIns="91440" bIns="0" rtlCol="0" anchor="ctr"/>
          <a:lstStyle/>
          <a:p>
            <a:pPr indent="0" marL="0">
              <a:lnSpc>
                <a:spcPct val="115000"/>
              </a:lnSpc>
              <a:buNone/>
            </a:pPr>
            <a:r>
              <a:rPr lang="en-US" altLang="en-US" sz="1150" b="1" dirty="0">
                <a:solidFill>
                  <a:srgbClr val="1F7A68"/>
                </a:solidFill>
                <a:latin typeface="Arial" pitchFamily="34" charset="0"/>
                <a:ea typeface="Yu Gothic" pitchFamily="34" charset="-122"/>
                <a:cs typeface="Yu Gothic" pitchFamily="34" charset="-120"/>
              </a:rPr>
              <a:t>Scope of benefit</a:t>
            </a:r>
          </a:p>
        </p:txBody>
      </p:sp>
      <p:sp>
        <p:nvSpPr>
          <p:cNvPr id="46" name="Cell 002"/>
          <p:cNvSpPr/>
          <p:nvPr/>
        </p:nvSpPr>
        <p:spPr>
          <a:xfrm>
            <a:off x="3429000" y="2029968"/>
            <a:ext cx="3520440" cy="457200"/>
          </a:xfrm>
          <a:prstGeom prst="rect">
            <a:avLst/>
          </a:prstGeom>
          <a:solidFill>
            <a:srgbClr val="FFFFFF"/>
          </a:solidFill>
          <a:ln w="9525">
            <a:solidFill>
              <a:srgbClr val="D5DADF"/>
            </a:solidFill>
          </a:ln>
        </p:spPr>
      </p:sp>
      <p:sp>
        <p:nvSpPr>
          <p:cNvPr id="47" name="Cell Text 002"/>
          <p:cNvSpPr txBox="1"/>
          <p:nvPr/>
        </p:nvSpPr>
        <p:spPr>
          <a:xfrm>
            <a:off x="3429000" y="2029968"/>
            <a:ext cx="3520440" cy="457200"/>
          </a:xfrm>
          <a:prstGeom prst="rect">
            <a:avLst/>
          </a:prstGeom>
          <a:noFill/>
          <a:ln/>
        </p:spPr>
        <p:txBody>
          <a:bodyPr wrap="square" lIns="91440" tIns="0" rIns="91440" bIns="0" rtlCol="0" anchor="ctr"/>
          <a:lstStyle/>
          <a:p>
            <a:pPr indent="0" marL="0">
              <a:lnSpc>
                <a:spcPct val="115000"/>
              </a:lnSpc>
              <a:buNone/>
            </a:pPr>
            <a:r>
              <a:rPr lang="en-US" altLang="en-US" sz="1000" b="0" dirty="0">
                <a:solidFill>
                  <a:srgbClr val="1B2A38"/>
                </a:solidFill>
                <a:latin typeface="Arial" pitchFamily="34" charset="0"/>
                <a:ea typeface="Yu Gothic" pitchFamily="34" charset="-122"/>
                <a:cs typeface="Yu Gothic" pitchFamily="34" charset="-120"/>
              </a:rPr>
              <a:t>User departments, number of users, target operations</a:t>
            </a:r>
          </a:p>
        </p:txBody>
      </p:sp>
      <p:sp>
        <p:nvSpPr>
          <p:cNvPr id="48" name="Cell 003"/>
          <p:cNvSpPr/>
          <p:nvPr/>
        </p:nvSpPr>
        <p:spPr>
          <a:xfrm>
            <a:off x="6995160" y="2029968"/>
            <a:ext cx="4645152" cy="457200"/>
          </a:xfrm>
          <a:prstGeom prst="rect">
            <a:avLst/>
          </a:prstGeom>
          <a:solidFill>
            <a:srgbClr val="FFFFFF"/>
          </a:solidFill>
          <a:ln w="9525">
            <a:solidFill>
              <a:srgbClr val="D5DADF"/>
            </a:solidFill>
          </a:ln>
        </p:spPr>
      </p:sp>
      <p:sp>
        <p:nvSpPr>
          <p:cNvPr id="49" name="Cell Text 003"/>
          <p:cNvSpPr txBox="1"/>
          <p:nvPr/>
        </p:nvSpPr>
        <p:spPr>
          <a:xfrm>
            <a:off x="6995160" y="2029968"/>
            <a:ext cx="4645152" cy="457200"/>
          </a:xfrm>
          <a:prstGeom prst="rect">
            <a:avLst/>
          </a:prstGeom>
          <a:noFill/>
          <a:ln/>
        </p:spPr>
        <p:txBody>
          <a:bodyPr wrap="square" lIns="91440" tIns="0" rIns="91440" bIns="0" rtlCol="0" anchor="ctr"/>
          <a:lstStyle/>
          <a:p>
            <a:pPr indent="0" marL="0">
              <a:lnSpc>
                <a:spcPct val="115000"/>
              </a:lnSpc>
              <a:buNone/>
            </a:pPr>
            <a:r>
              <a:rPr lang="en-US" altLang="en-US" sz="1000" b="0" dirty="0">
                <a:solidFill>
                  <a:srgbClr val="1B2A38"/>
                </a:solidFill>
                <a:latin typeface="Arial" pitchFamily="34" charset="0"/>
                <a:ea typeface="Yu Gothic" pitchFamily="34" charset="-122"/>
                <a:cs typeface="Yu Gothic" pitchFamily="34" charset="-120"/>
              </a:rPr>
              <a:t>Do benefits extend beyond the applying department?</a:t>
            </a:r>
          </a:p>
        </p:txBody>
      </p:sp>
      <p:sp>
        <p:nvSpPr>
          <p:cNvPr id="50" name="Cell 011"/>
          <p:cNvSpPr/>
          <p:nvPr/>
        </p:nvSpPr>
        <p:spPr>
          <a:xfrm>
            <a:off x="1783080" y="2523744"/>
            <a:ext cx="1600200" cy="457200"/>
          </a:xfrm>
          <a:prstGeom prst="rect">
            <a:avLst/>
          </a:prstGeom>
          <a:solidFill>
            <a:srgbClr val="E6F2EE"/>
          </a:solidFill>
          <a:ln/>
        </p:spPr>
      </p:sp>
      <p:sp>
        <p:nvSpPr>
          <p:cNvPr id="51" name="Cell Text 011"/>
          <p:cNvSpPr txBox="1"/>
          <p:nvPr/>
        </p:nvSpPr>
        <p:spPr>
          <a:xfrm>
            <a:off x="1783080" y="2523744"/>
            <a:ext cx="1600200" cy="457200"/>
          </a:xfrm>
          <a:prstGeom prst="rect">
            <a:avLst/>
          </a:prstGeom>
          <a:noFill/>
          <a:ln/>
        </p:spPr>
        <p:txBody>
          <a:bodyPr wrap="square" lIns="91440" tIns="0" rIns="91440" bIns="0" rtlCol="0" anchor="ctr"/>
          <a:lstStyle/>
          <a:p>
            <a:pPr indent="0" marL="0">
              <a:lnSpc>
                <a:spcPct val="115000"/>
              </a:lnSpc>
              <a:buNone/>
            </a:pPr>
            <a:r>
              <a:rPr lang="en-US" altLang="en-US" sz="1150" b="1" dirty="0">
                <a:solidFill>
                  <a:srgbClr val="1F7A68"/>
                </a:solidFill>
                <a:latin typeface="Arial" pitchFamily="34" charset="0"/>
                <a:ea typeface="Yu Gothic" pitchFamily="34" charset="-122"/>
                <a:cs typeface="Yu Gothic" pitchFamily="34" charset="-120"/>
              </a:rPr>
              <a:t>Connections</a:t>
            </a:r>
          </a:p>
        </p:txBody>
      </p:sp>
      <p:sp>
        <p:nvSpPr>
          <p:cNvPr id="52" name="Cell 012"/>
          <p:cNvSpPr/>
          <p:nvPr/>
        </p:nvSpPr>
        <p:spPr>
          <a:xfrm>
            <a:off x="3429000" y="2523744"/>
            <a:ext cx="3520440" cy="457200"/>
          </a:xfrm>
          <a:prstGeom prst="rect">
            <a:avLst/>
          </a:prstGeom>
          <a:solidFill>
            <a:srgbClr val="FFFFFF"/>
          </a:solidFill>
          <a:ln w="9525">
            <a:solidFill>
              <a:srgbClr val="D5DADF"/>
            </a:solidFill>
          </a:ln>
        </p:spPr>
      </p:sp>
      <p:sp>
        <p:nvSpPr>
          <p:cNvPr id="53" name="Cell Text 012"/>
          <p:cNvSpPr txBox="1"/>
          <p:nvPr/>
        </p:nvSpPr>
        <p:spPr>
          <a:xfrm>
            <a:off x="3429000" y="2523744"/>
            <a:ext cx="3520440" cy="457200"/>
          </a:xfrm>
          <a:prstGeom prst="rect">
            <a:avLst/>
          </a:prstGeom>
          <a:noFill/>
          <a:ln/>
        </p:spPr>
        <p:txBody>
          <a:bodyPr wrap="square" lIns="91440" tIns="0" rIns="91440" bIns="0" rtlCol="0" anchor="ctr"/>
          <a:lstStyle/>
          <a:p>
            <a:pPr indent="0" marL="0">
              <a:lnSpc>
                <a:spcPct val="115000"/>
              </a:lnSpc>
              <a:buNone/>
            </a:pPr>
            <a:r>
              <a:rPr lang="en-US" altLang="en-US" sz="1000" b="0" dirty="0">
                <a:solidFill>
                  <a:srgbClr val="1B2A38"/>
                </a:solidFill>
                <a:latin typeface="Arial" pitchFamily="34" charset="0"/>
                <a:ea typeface="Yu Gothic" pitchFamily="34" charset="-122"/>
                <a:cs typeface="Yu Gothic" pitchFamily="34" charset="-120"/>
              </a:rPr>
              <a:t>Existing systems and interface methods; data handled (master, enterprise data, etc.)</a:t>
            </a:r>
          </a:p>
        </p:txBody>
      </p:sp>
      <p:sp>
        <p:nvSpPr>
          <p:cNvPr id="54" name="Cell 013"/>
          <p:cNvSpPr/>
          <p:nvPr/>
        </p:nvSpPr>
        <p:spPr>
          <a:xfrm>
            <a:off x="6995160" y="2523744"/>
            <a:ext cx="4645152" cy="457200"/>
          </a:xfrm>
          <a:prstGeom prst="rect">
            <a:avLst/>
          </a:prstGeom>
          <a:solidFill>
            <a:srgbClr val="FFFFFF"/>
          </a:solidFill>
          <a:ln w="9525">
            <a:solidFill>
              <a:srgbClr val="D5DADF"/>
            </a:solidFill>
          </a:ln>
        </p:spPr>
      </p:sp>
      <p:sp>
        <p:nvSpPr>
          <p:cNvPr id="55" name="Cell Text 013"/>
          <p:cNvSpPr txBox="1"/>
          <p:nvPr/>
        </p:nvSpPr>
        <p:spPr>
          <a:xfrm>
            <a:off x="6995160" y="2523744"/>
            <a:ext cx="4645152" cy="457200"/>
          </a:xfrm>
          <a:prstGeom prst="rect">
            <a:avLst/>
          </a:prstGeom>
          <a:noFill/>
          <a:ln/>
        </p:spPr>
        <p:txBody>
          <a:bodyPr wrap="square" lIns="91440" tIns="0" rIns="91440" bIns="0" rtlCol="0" anchor="ctr"/>
          <a:lstStyle/>
          <a:p>
            <a:pPr indent="0" marL="0">
              <a:lnSpc>
                <a:spcPct val="115000"/>
              </a:lnSpc>
              <a:buNone/>
            </a:pPr>
            <a:r>
              <a:rPr lang="en-US" altLang="en-US" sz="1000" b="0" dirty="0">
                <a:solidFill>
                  <a:srgbClr val="1B2A38"/>
                </a:solidFill>
                <a:latin typeface="Arial" pitchFamily="34" charset="0"/>
                <a:ea typeface="Yu Gothic" pitchFamily="34" charset="-122"/>
                <a:cs typeface="Yu Gothic" pitchFamily="34" charset="-120"/>
              </a:rPr>
              <a:t>Does it touch key enterprise data or integrations? Can loose coupling be kept?</a:t>
            </a:r>
          </a:p>
        </p:txBody>
      </p:sp>
      <p:sp>
        <p:nvSpPr>
          <p:cNvPr id="56" name="Cell 021"/>
          <p:cNvSpPr/>
          <p:nvPr/>
        </p:nvSpPr>
        <p:spPr>
          <a:xfrm>
            <a:off x="1783080" y="3017520"/>
            <a:ext cx="1600200" cy="457200"/>
          </a:xfrm>
          <a:prstGeom prst="rect">
            <a:avLst/>
          </a:prstGeom>
          <a:solidFill>
            <a:srgbClr val="E6F2EE"/>
          </a:solidFill>
          <a:ln/>
        </p:spPr>
      </p:sp>
      <p:sp>
        <p:nvSpPr>
          <p:cNvPr id="57" name="Cell Text 021"/>
          <p:cNvSpPr txBox="1"/>
          <p:nvPr/>
        </p:nvSpPr>
        <p:spPr>
          <a:xfrm>
            <a:off x="1783080" y="3017520"/>
            <a:ext cx="1600200" cy="457200"/>
          </a:xfrm>
          <a:prstGeom prst="rect">
            <a:avLst/>
          </a:prstGeom>
          <a:noFill/>
          <a:ln/>
        </p:spPr>
        <p:txBody>
          <a:bodyPr wrap="square" lIns="91440" tIns="0" rIns="91440" bIns="0" rtlCol="0" anchor="ctr"/>
          <a:lstStyle/>
          <a:p>
            <a:pPr indent="0" marL="0">
              <a:lnSpc>
                <a:spcPct val="115000"/>
              </a:lnSpc>
              <a:buNone/>
            </a:pPr>
            <a:r>
              <a:rPr lang="en-US" altLang="en-US" sz="1150" b="1" dirty="0">
                <a:solidFill>
                  <a:srgbClr val="1F7A68"/>
                </a:solidFill>
                <a:latin typeface="Arial" pitchFamily="34" charset="0"/>
                <a:ea typeface="Yu Gothic" pitchFamily="34" charset="-122"/>
                <a:cs typeface="Yu Gothic" pitchFamily="34" charset="-120"/>
              </a:rPr>
              <a:t>Dependencies</a:t>
            </a:r>
          </a:p>
        </p:txBody>
      </p:sp>
      <p:sp>
        <p:nvSpPr>
          <p:cNvPr id="58" name="Cell 022"/>
          <p:cNvSpPr/>
          <p:nvPr/>
        </p:nvSpPr>
        <p:spPr>
          <a:xfrm>
            <a:off x="3429000" y="3017520"/>
            <a:ext cx="3520440" cy="457200"/>
          </a:xfrm>
          <a:prstGeom prst="rect">
            <a:avLst/>
          </a:prstGeom>
          <a:solidFill>
            <a:srgbClr val="FFFFFF"/>
          </a:solidFill>
          <a:ln w="9525">
            <a:solidFill>
              <a:srgbClr val="D5DADF"/>
            </a:solidFill>
          </a:ln>
        </p:spPr>
      </p:sp>
      <p:sp>
        <p:nvSpPr>
          <p:cNvPr id="59" name="Cell Text 022"/>
          <p:cNvSpPr txBox="1"/>
          <p:nvPr/>
        </p:nvSpPr>
        <p:spPr>
          <a:xfrm>
            <a:off x="3429000" y="3017520"/>
            <a:ext cx="3520440" cy="457200"/>
          </a:xfrm>
          <a:prstGeom prst="rect">
            <a:avLst/>
          </a:prstGeom>
          <a:noFill/>
          <a:ln/>
        </p:spPr>
        <p:txBody>
          <a:bodyPr wrap="square" lIns="91440" tIns="0" rIns="91440" bIns="0" rtlCol="0" anchor="ctr"/>
          <a:lstStyle/>
          <a:p>
            <a:pPr indent="0" marL="0">
              <a:lnSpc>
                <a:spcPct val="115000"/>
              </a:lnSpc>
              <a:buNone/>
            </a:pPr>
            <a:r>
              <a:rPr lang="en-US" altLang="en-US" sz="950" b="0" dirty="0">
                <a:solidFill>
                  <a:srgbClr val="66717C"/>
                </a:solidFill>
                <a:latin typeface="Arial" pitchFamily="34" charset="0"/>
                <a:ea typeface="Yu Gothic" pitchFamily="34" charset="-122"/>
                <a:cs typeface="Yu Gothic" pitchFamily="34" charset="-120"/>
              </a:rPr>
              <a:t>Not asked. IT checks the dependency registry</a:t>
            </a:r>
          </a:p>
        </p:txBody>
      </p:sp>
      <p:sp>
        <p:nvSpPr>
          <p:cNvPr id="60" name="Cell 023"/>
          <p:cNvSpPr/>
          <p:nvPr/>
        </p:nvSpPr>
        <p:spPr>
          <a:xfrm>
            <a:off x="6995160" y="3017520"/>
            <a:ext cx="4645152" cy="457200"/>
          </a:xfrm>
          <a:prstGeom prst="rect">
            <a:avLst/>
          </a:prstGeom>
          <a:solidFill>
            <a:srgbClr val="FFFFFF"/>
          </a:solidFill>
          <a:ln w="9525">
            <a:solidFill>
              <a:srgbClr val="D5DADF"/>
            </a:solidFill>
          </a:ln>
        </p:spPr>
      </p:sp>
      <p:sp>
        <p:nvSpPr>
          <p:cNvPr id="61" name="Cell Text 023"/>
          <p:cNvSpPr txBox="1"/>
          <p:nvPr/>
        </p:nvSpPr>
        <p:spPr>
          <a:xfrm>
            <a:off x="6995160" y="3017520"/>
            <a:ext cx="4645152" cy="457200"/>
          </a:xfrm>
          <a:prstGeom prst="rect">
            <a:avLst/>
          </a:prstGeom>
          <a:noFill/>
          <a:ln/>
        </p:spPr>
        <p:txBody>
          <a:bodyPr wrap="square" lIns="91440" tIns="0" rIns="91440" bIns="0" rtlCol="0" anchor="ctr"/>
          <a:lstStyle/>
          <a:p>
            <a:pPr indent="0" marL="0">
              <a:lnSpc>
                <a:spcPct val="115000"/>
              </a:lnSpc>
              <a:buNone/>
            </a:pPr>
            <a:r>
              <a:rPr lang="en-US" altLang="en-US" sz="1000" b="0" dirty="0">
                <a:solidFill>
                  <a:srgbClr val="1B2A38"/>
                </a:solidFill>
                <a:latin typeface="Arial" pitchFamily="34" charset="0"/>
                <a:ea typeface="Yu Gothic" pitchFamily="34" charset="-122"/>
                <a:cs typeface="Yu Gothic" pitchFamily="34" charset="-120"/>
              </a:rPr>
              <a:t>Do other plans or systems depend on this investment?</a:t>
            </a:r>
          </a:p>
        </p:txBody>
      </p:sp>
      <p:sp>
        <p:nvSpPr>
          <p:cNvPr id="62" name="Grp 1"/>
          <p:cNvSpPr/>
          <p:nvPr/>
        </p:nvSpPr>
        <p:spPr>
          <a:xfrm>
            <a:off x="548640" y="3602736"/>
            <a:ext cx="1188720" cy="1444752"/>
          </a:xfrm>
          <a:prstGeom prst="rect">
            <a:avLst/>
          </a:prstGeom>
          <a:solidFill>
            <a:srgbClr val="B5472F"/>
          </a:solidFill>
          <a:ln/>
        </p:spPr>
      </p:sp>
      <p:sp>
        <p:nvSpPr>
          <p:cNvPr id="63" name="Grp Text 1"/>
          <p:cNvSpPr txBox="1"/>
          <p:nvPr/>
        </p:nvSpPr>
        <p:spPr>
          <a:xfrm>
            <a:off x="548640" y="3602736"/>
            <a:ext cx="1188720" cy="1444752"/>
          </a:xfrm>
          <a:prstGeom prst="rect">
            <a:avLst/>
          </a:prstGeom>
          <a:noFill/>
          <a:ln/>
        </p:spPr>
        <p:txBody>
          <a:bodyPr wrap="square" lIns="0" tIns="0" rIns="0" bIns="0" rtlCol="0" anchor="ctr"/>
          <a:lstStyle/>
          <a:p>
            <a:pPr algn="ctr" indent="0" marL="0">
              <a:lnSpc>
                <a:spcPct val="115000"/>
              </a:lnSpc>
              <a:buNone/>
            </a:pPr>
            <a:r>
              <a:rPr lang="en-US" altLang="en-US" sz="1500" b="1" dirty="0">
                <a:solidFill>
                  <a:srgbClr val="FFFFFF"/>
                </a:solidFill>
                <a:latin typeface="Arial" pitchFamily="34" charset="0"/>
                <a:ea typeface="Yu Gothic" pitchFamily="34" charset="-122"/>
                <a:cs typeface="Yu Gothic" pitchFamily="34" charset="-120"/>
              </a:rPr>
              <a:t>Debt</a:t>
            </a:r>
          </a:p>
          <a:p>
            <a:pPr algn="ctr" indent="0" marL="0">
              <a:lnSpc>
                <a:spcPct val="115000"/>
              </a:lnSpc>
              <a:spcBef>
                <a:spcPts val="200"/>
              </a:spcBef>
              <a:buNone/>
            </a:pPr>
            <a:r>
              <a:rPr lang="en-US" altLang="en-US" sz="950" b="0" dirty="0">
                <a:solidFill>
                  <a:srgbClr val="FFFFFF"/>
                </a:solidFill>
                <a:latin typeface="Arial" pitchFamily="34" charset="0"/>
                <a:ea typeface="Yu Gothic" pitchFamily="34" charset="-122"/>
                <a:cs typeface="Yu Gothic" pitchFamily="34" charset="-120"/>
              </a:rPr>
              <a:t>Reaches the future</a:t>
            </a:r>
          </a:p>
        </p:txBody>
      </p:sp>
      <p:sp>
        <p:nvSpPr>
          <p:cNvPr id="64" name="Cell 101"/>
          <p:cNvSpPr/>
          <p:nvPr/>
        </p:nvSpPr>
        <p:spPr>
          <a:xfrm>
            <a:off x="1783080" y="3602736"/>
            <a:ext cx="1600200" cy="457200"/>
          </a:xfrm>
          <a:prstGeom prst="rect">
            <a:avLst/>
          </a:prstGeom>
          <a:solidFill>
            <a:srgbClr val="FBEDEA"/>
          </a:solidFill>
          <a:ln/>
        </p:spPr>
      </p:sp>
      <p:sp>
        <p:nvSpPr>
          <p:cNvPr id="65" name="Cell Text 101"/>
          <p:cNvSpPr txBox="1"/>
          <p:nvPr/>
        </p:nvSpPr>
        <p:spPr>
          <a:xfrm>
            <a:off x="1783080" y="3602736"/>
            <a:ext cx="1600200" cy="457200"/>
          </a:xfrm>
          <a:prstGeom prst="rect">
            <a:avLst/>
          </a:prstGeom>
          <a:noFill/>
          <a:ln/>
        </p:spPr>
        <p:txBody>
          <a:bodyPr wrap="square" lIns="91440" tIns="0" rIns="91440" bIns="0" rtlCol="0" anchor="ctr"/>
          <a:lstStyle/>
          <a:p>
            <a:pPr indent="0" marL="0">
              <a:lnSpc>
                <a:spcPct val="115000"/>
              </a:lnSpc>
              <a:buNone/>
            </a:pPr>
            <a:r>
              <a:rPr lang="en-US" altLang="en-US" sz="1150" b="1" dirty="0">
                <a:solidFill>
                  <a:srgbClr val="B5472F"/>
                </a:solidFill>
                <a:latin typeface="Arial" pitchFamily="34" charset="0"/>
                <a:ea typeface="Yu Gothic" pitchFamily="34" charset="-122"/>
                <a:cs typeface="Yu Gothic" pitchFamily="34" charset="-120"/>
              </a:rPr>
              <a:t>Support end dates</a:t>
            </a:r>
          </a:p>
        </p:txBody>
      </p:sp>
      <p:sp>
        <p:nvSpPr>
          <p:cNvPr id="66" name="Cell 102"/>
          <p:cNvSpPr/>
          <p:nvPr/>
        </p:nvSpPr>
        <p:spPr>
          <a:xfrm>
            <a:off x="3429000" y="3602736"/>
            <a:ext cx="3520440" cy="457200"/>
          </a:xfrm>
          <a:prstGeom prst="rect">
            <a:avLst/>
          </a:prstGeom>
          <a:solidFill>
            <a:srgbClr val="FFFFFF"/>
          </a:solidFill>
          <a:ln w="9525">
            <a:solidFill>
              <a:srgbClr val="D5DADF"/>
            </a:solidFill>
          </a:ln>
        </p:spPr>
      </p:sp>
      <p:sp>
        <p:nvSpPr>
          <p:cNvPr id="67" name="Cell Text 102"/>
          <p:cNvSpPr txBox="1"/>
          <p:nvPr/>
        </p:nvSpPr>
        <p:spPr>
          <a:xfrm>
            <a:off x="3429000" y="3602736"/>
            <a:ext cx="3520440" cy="457200"/>
          </a:xfrm>
          <a:prstGeom prst="rect">
            <a:avLst/>
          </a:prstGeom>
          <a:noFill/>
          <a:ln/>
        </p:spPr>
        <p:txBody>
          <a:bodyPr wrap="square" lIns="91440" tIns="0" rIns="91440" bIns="0" rtlCol="0" anchor="ctr"/>
          <a:lstStyle/>
          <a:p>
            <a:pPr indent="0" marL="0">
              <a:lnSpc>
                <a:spcPct val="115000"/>
              </a:lnSpc>
              <a:buNone/>
            </a:pPr>
            <a:r>
              <a:rPr lang="en-US" altLang="en-US" sz="1000" b="0" dirty="0">
                <a:solidFill>
                  <a:srgbClr val="1B2A38"/>
                </a:solidFill>
                <a:latin typeface="Arial" pitchFamily="34" charset="0"/>
                <a:ea typeface="Yu Gothic" pitchFamily="34" charset="-122"/>
                <a:cs typeface="Yu Gothic" pitchFamily="34" charset="-120"/>
              </a:rPr>
              <a:t>New or renewal; support end date (EOL) of current products</a:t>
            </a:r>
          </a:p>
        </p:txBody>
      </p:sp>
      <p:sp>
        <p:nvSpPr>
          <p:cNvPr id="68" name="Cell 103"/>
          <p:cNvSpPr/>
          <p:nvPr/>
        </p:nvSpPr>
        <p:spPr>
          <a:xfrm>
            <a:off x="6995160" y="3602736"/>
            <a:ext cx="4645152" cy="457200"/>
          </a:xfrm>
          <a:prstGeom prst="rect">
            <a:avLst/>
          </a:prstGeom>
          <a:solidFill>
            <a:srgbClr val="FFFFFF"/>
          </a:solidFill>
          <a:ln w="9525">
            <a:solidFill>
              <a:srgbClr val="D5DADF"/>
            </a:solidFill>
          </a:ln>
        </p:spPr>
      </p:sp>
      <p:sp>
        <p:nvSpPr>
          <p:cNvPr id="69" name="Cell Text 103"/>
          <p:cNvSpPr txBox="1"/>
          <p:nvPr/>
        </p:nvSpPr>
        <p:spPr>
          <a:xfrm>
            <a:off x="6995160" y="3602736"/>
            <a:ext cx="4645152" cy="457200"/>
          </a:xfrm>
          <a:prstGeom prst="rect">
            <a:avLst/>
          </a:prstGeom>
          <a:noFill/>
          <a:ln/>
        </p:spPr>
        <p:txBody>
          <a:bodyPr wrap="square" lIns="91440" tIns="0" rIns="91440" bIns="0" rtlCol="0" anchor="ctr"/>
          <a:lstStyle/>
          <a:p>
            <a:pPr indent="0" marL="0">
              <a:lnSpc>
                <a:spcPct val="115000"/>
              </a:lnSpc>
              <a:buNone/>
            </a:pPr>
            <a:r>
              <a:rPr lang="en-US" altLang="en-US" sz="1000" b="0" dirty="0">
                <a:solidFill>
                  <a:srgbClr val="1B2A38"/>
                </a:solidFill>
                <a:latin typeface="Arial" pitchFamily="34" charset="0"/>
                <a:ea typeface="Yu Gothic" pitchFamily="34" charset="-122"/>
                <a:cs typeface="Yu Gothic" pitchFamily="34" charset="-120"/>
              </a:rPr>
              <a:t>Will deferral force emergency work after EOL? Is this investment itself debt repayment?</a:t>
            </a:r>
          </a:p>
        </p:txBody>
      </p:sp>
      <p:sp>
        <p:nvSpPr>
          <p:cNvPr id="70" name="Cell 111"/>
          <p:cNvSpPr/>
          <p:nvPr/>
        </p:nvSpPr>
        <p:spPr>
          <a:xfrm>
            <a:off x="1783080" y="4096512"/>
            <a:ext cx="1600200" cy="457200"/>
          </a:xfrm>
          <a:prstGeom prst="rect">
            <a:avLst/>
          </a:prstGeom>
          <a:solidFill>
            <a:srgbClr val="FBEDEA"/>
          </a:solidFill>
          <a:ln/>
        </p:spPr>
      </p:sp>
      <p:sp>
        <p:nvSpPr>
          <p:cNvPr id="71" name="Cell Text 111"/>
          <p:cNvSpPr txBox="1"/>
          <p:nvPr/>
        </p:nvSpPr>
        <p:spPr>
          <a:xfrm>
            <a:off x="1783080" y="4096512"/>
            <a:ext cx="1600200" cy="457200"/>
          </a:xfrm>
          <a:prstGeom prst="rect">
            <a:avLst/>
          </a:prstGeom>
          <a:noFill/>
          <a:ln/>
        </p:spPr>
        <p:txBody>
          <a:bodyPr wrap="square" lIns="91440" tIns="0" rIns="91440" bIns="0" rtlCol="0" anchor="ctr"/>
          <a:lstStyle/>
          <a:p>
            <a:pPr indent="0" marL="0">
              <a:lnSpc>
                <a:spcPct val="115000"/>
              </a:lnSpc>
              <a:buNone/>
            </a:pPr>
            <a:r>
              <a:rPr lang="en-US" altLang="en-US" sz="1150" b="1" dirty="0">
                <a:solidFill>
                  <a:srgbClr val="B5472F"/>
                </a:solidFill>
                <a:latin typeface="Arial" pitchFamily="34" charset="0"/>
                <a:ea typeface="Yu Gothic" pitchFamily="34" charset="-122"/>
                <a:cs typeface="Yu Gothic" pitchFamily="34" charset="-120"/>
              </a:rPr>
              <a:t>Deviation from standards</a:t>
            </a:r>
          </a:p>
        </p:txBody>
      </p:sp>
      <p:sp>
        <p:nvSpPr>
          <p:cNvPr id="72" name="Cell 112"/>
          <p:cNvSpPr/>
          <p:nvPr/>
        </p:nvSpPr>
        <p:spPr>
          <a:xfrm>
            <a:off x="3429000" y="4096512"/>
            <a:ext cx="3520440" cy="457200"/>
          </a:xfrm>
          <a:prstGeom prst="rect">
            <a:avLst/>
          </a:prstGeom>
          <a:solidFill>
            <a:srgbClr val="FFFFFF"/>
          </a:solidFill>
          <a:ln w="9525">
            <a:solidFill>
              <a:srgbClr val="D5DADF"/>
            </a:solidFill>
          </a:ln>
        </p:spPr>
      </p:sp>
      <p:sp>
        <p:nvSpPr>
          <p:cNvPr id="73" name="Cell Text 112"/>
          <p:cNvSpPr txBox="1"/>
          <p:nvPr/>
        </p:nvSpPr>
        <p:spPr>
          <a:xfrm>
            <a:off x="3429000" y="4096512"/>
            <a:ext cx="3520440" cy="457200"/>
          </a:xfrm>
          <a:prstGeom prst="rect">
            <a:avLst/>
          </a:prstGeom>
          <a:noFill/>
          <a:ln/>
        </p:spPr>
        <p:txBody>
          <a:bodyPr wrap="square" lIns="91440" tIns="0" rIns="91440" bIns="0" rtlCol="0" anchor="ctr"/>
          <a:lstStyle/>
          <a:p>
            <a:pPr indent="0" marL="0">
              <a:lnSpc>
                <a:spcPct val="115000"/>
              </a:lnSpc>
              <a:buNone/>
            </a:pPr>
            <a:r>
              <a:rPr lang="en-US" altLang="en-US" sz="950" b="0" dirty="0">
                <a:solidFill>
                  <a:srgbClr val="66717C"/>
                </a:solidFill>
                <a:latin typeface="Arial" pitchFamily="34" charset="0"/>
                <a:ea typeface="Yu Gothic" pitchFamily="34" charset="-122"/>
                <a:cs typeface="Yu Gothic" pitchFamily="34" charset="-120"/>
              </a:rPr>
              <a:t>Not asked. IT reads it from the architecture and interfaces</a:t>
            </a:r>
          </a:p>
        </p:txBody>
      </p:sp>
      <p:sp>
        <p:nvSpPr>
          <p:cNvPr id="74" name="Cell 113"/>
          <p:cNvSpPr/>
          <p:nvPr/>
        </p:nvSpPr>
        <p:spPr>
          <a:xfrm>
            <a:off x="6995160" y="4096512"/>
            <a:ext cx="4645152" cy="457200"/>
          </a:xfrm>
          <a:prstGeom prst="rect">
            <a:avLst/>
          </a:prstGeom>
          <a:solidFill>
            <a:srgbClr val="FFFFFF"/>
          </a:solidFill>
          <a:ln w="9525">
            <a:solidFill>
              <a:srgbClr val="D5DADF"/>
            </a:solidFill>
          </a:ln>
        </p:spPr>
      </p:sp>
      <p:sp>
        <p:nvSpPr>
          <p:cNvPr id="75" name="Cell Text 113"/>
          <p:cNvSpPr txBox="1"/>
          <p:nvPr/>
        </p:nvSpPr>
        <p:spPr>
          <a:xfrm>
            <a:off x="6995160" y="4096512"/>
            <a:ext cx="4645152" cy="457200"/>
          </a:xfrm>
          <a:prstGeom prst="rect">
            <a:avLst/>
          </a:prstGeom>
          <a:noFill/>
          <a:ln/>
        </p:spPr>
        <p:txBody>
          <a:bodyPr wrap="square" lIns="91440" tIns="0" rIns="91440" bIns="0" rtlCol="0" anchor="ctr"/>
          <a:lstStyle/>
          <a:p>
            <a:pPr indent="0" marL="0">
              <a:lnSpc>
                <a:spcPct val="115000"/>
              </a:lnSpc>
              <a:buNone/>
            </a:pPr>
            <a:r>
              <a:rPr lang="en-US" altLang="en-US" sz="1000" b="0" dirty="0">
                <a:solidFill>
                  <a:srgbClr val="1B2A38"/>
                </a:solidFill>
                <a:latin typeface="Arial" pitchFamily="34" charset="0"/>
                <a:ea typeface="Yu Gothic" pitchFamily="34" charset="-122"/>
                <a:cs typeface="Yu Gothic" pitchFamily="34" charset="-120"/>
              </a:rPr>
              <a:t>Does it deviate from enterprise technology, integration, or data standards?</a:t>
            </a:r>
          </a:p>
        </p:txBody>
      </p:sp>
      <p:sp>
        <p:nvSpPr>
          <p:cNvPr id="76" name="Cell 121"/>
          <p:cNvSpPr/>
          <p:nvPr/>
        </p:nvSpPr>
        <p:spPr>
          <a:xfrm>
            <a:off x="1783080" y="4590288"/>
            <a:ext cx="1600200" cy="457200"/>
          </a:xfrm>
          <a:prstGeom prst="rect">
            <a:avLst/>
          </a:prstGeom>
          <a:solidFill>
            <a:srgbClr val="FBEDEA"/>
          </a:solidFill>
          <a:ln/>
        </p:spPr>
      </p:sp>
      <p:sp>
        <p:nvSpPr>
          <p:cNvPr id="77" name="Cell Text 121"/>
          <p:cNvSpPr txBox="1"/>
          <p:nvPr/>
        </p:nvSpPr>
        <p:spPr>
          <a:xfrm>
            <a:off x="1783080" y="4590288"/>
            <a:ext cx="1600200" cy="457200"/>
          </a:xfrm>
          <a:prstGeom prst="rect">
            <a:avLst/>
          </a:prstGeom>
          <a:noFill/>
          <a:ln/>
        </p:spPr>
        <p:txBody>
          <a:bodyPr wrap="square" lIns="91440" tIns="0" rIns="91440" bIns="0" rtlCol="0" anchor="ctr"/>
          <a:lstStyle/>
          <a:p>
            <a:pPr indent="0" marL="0">
              <a:lnSpc>
                <a:spcPct val="115000"/>
              </a:lnSpc>
              <a:buNone/>
            </a:pPr>
            <a:r>
              <a:rPr lang="en-US" altLang="en-US" sz="1150" b="1" dirty="0">
                <a:solidFill>
                  <a:srgbClr val="B5472F"/>
                </a:solidFill>
                <a:latin typeface="Arial" pitchFamily="34" charset="0"/>
                <a:ea typeface="Yu Gothic" pitchFamily="34" charset="-122"/>
                <a:cs typeface="Yu Gothic" pitchFamily="34" charset="-120"/>
              </a:rPr>
              <a:t>Duplication &amp; siloed operation</a:t>
            </a:r>
          </a:p>
        </p:txBody>
      </p:sp>
      <p:sp>
        <p:nvSpPr>
          <p:cNvPr id="78" name="Cell 122"/>
          <p:cNvSpPr/>
          <p:nvPr/>
        </p:nvSpPr>
        <p:spPr>
          <a:xfrm>
            <a:off x="3429000" y="4590288"/>
            <a:ext cx="3520440" cy="457200"/>
          </a:xfrm>
          <a:prstGeom prst="rect">
            <a:avLst/>
          </a:prstGeom>
          <a:solidFill>
            <a:srgbClr val="FFFFFF"/>
          </a:solidFill>
          <a:ln w="9525">
            <a:solidFill>
              <a:srgbClr val="D5DADF"/>
            </a:solidFill>
          </a:ln>
        </p:spPr>
      </p:sp>
      <p:sp>
        <p:nvSpPr>
          <p:cNvPr id="79" name="Cell Text 122"/>
          <p:cNvSpPr txBox="1"/>
          <p:nvPr/>
        </p:nvSpPr>
        <p:spPr>
          <a:xfrm>
            <a:off x="3429000" y="4590288"/>
            <a:ext cx="3520440" cy="457200"/>
          </a:xfrm>
          <a:prstGeom prst="rect">
            <a:avLst/>
          </a:prstGeom>
          <a:noFill/>
          <a:ln/>
        </p:spPr>
        <p:txBody>
          <a:bodyPr wrap="square" lIns="91440" tIns="0" rIns="91440" bIns="0" rtlCol="0" anchor="ctr"/>
          <a:lstStyle/>
          <a:p>
            <a:pPr indent="0" marL="0">
              <a:lnSpc>
                <a:spcPct val="115000"/>
              </a:lnSpc>
              <a:buNone/>
            </a:pPr>
            <a:r>
              <a:rPr lang="en-US" altLang="en-US" sz="1000" b="0" dirty="0">
                <a:solidFill>
                  <a:srgbClr val="1B2A38"/>
                </a:solidFill>
                <a:latin typeface="Arial" pitchFamily="34" charset="0"/>
                <a:ea typeface="Yu Gothic" pitchFamily="34" charset="-122"/>
                <a:cs typeface="Yu Gothic" pitchFamily="34" charset="-120"/>
              </a:rPr>
              <a:t>Operation and maintenance setup, and contractors</a:t>
            </a:r>
          </a:p>
        </p:txBody>
      </p:sp>
      <p:sp>
        <p:nvSpPr>
          <p:cNvPr id="80" name="Cell 123"/>
          <p:cNvSpPr/>
          <p:nvPr/>
        </p:nvSpPr>
        <p:spPr>
          <a:xfrm>
            <a:off x="6995160" y="4590288"/>
            <a:ext cx="4645152" cy="457200"/>
          </a:xfrm>
          <a:prstGeom prst="rect">
            <a:avLst/>
          </a:prstGeom>
          <a:solidFill>
            <a:srgbClr val="FFFFFF"/>
          </a:solidFill>
          <a:ln w="9525">
            <a:solidFill>
              <a:srgbClr val="D5DADF"/>
            </a:solidFill>
          </a:ln>
        </p:spPr>
      </p:sp>
      <p:sp>
        <p:nvSpPr>
          <p:cNvPr id="81" name="Cell Text 123"/>
          <p:cNvSpPr txBox="1"/>
          <p:nvPr/>
        </p:nvSpPr>
        <p:spPr>
          <a:xfrm>
            <a:off x="6995160" y="4590288"/>
            <a:ext cx="4645152" cy="457200"/>
          </a:xfrm>
          <a:prstGeom prst="rect">
            <a:avLst/>
          </a:prstGeom>
          <a:noFill/>
          <a:ln/>
        </p:spPr>
        <p:txBody>
          <a:bodyPr wrap="square" lIns="91440" tIns="0" rIns="91440" bIns="0" rtlCol="0" anchor="ctr"/>
          <a:lstStyle/>
          <a:p>
            <a:pPr indent="0" marL="0">
              <a:lnSpc>
                <a:spcPct val="115000"/>
              </a:lnSpc>
              <a:buNone/>
            </a:pPr>
            <a:r>
              <a:rPr lang="en-US" altLang="en-US" sz="1000" b="0" dirty="0">
                <a:solidFill>
                  <a:srgbClr val="1B2A38"/>
                </a:solidFill>
                <a:latin typeface="Arial" pitchFamily="34" charset="0"/>
                <a:ea typeface="Yu Gothic" pitchFamily="34" charset="-122"/>
                <a:cs typeface="Yu Gothic" pitchFamily="34" charset="-120"/>
              </a:rPr>
              <a:t>Does a similar function already exist? Will siloed operation, changes, or later consolidation add future cost?</a:t>
            </a:r>
          </a:p>
        </p:txBody>
      </p:sp>
      <p:sp>
        <p:nvSpPr>
          <p:cNvPr id="82" name="Step 0"/>
          <p:cNvSpPr/>
          <p:nvPr/>
        </p:nvSpPr>
        <p:spPr>
          <a:xfrm>
            <a:off x="548640" y="5230368"/>
            <a:ext cx="2567178" cy="969264"/>
          </a:xfrm>
          <a:prstGeom prst="roundRect">
            <a:avLst>
              <a:gd name="adj" fmla="val 8000"/>
            </a:avLst>
          </a:prstGeom>
          <a:solidFill>
            <a:srgbClr val="F2F4F6"/>
          </a:solidFill>
          <a:ln/>
        </p:spPr>
      </p:sp>
      <p:sp>
        <p:nvSpPr>
          <p:cNvPr id="83" name="Step Text 0"/>
          <p:cNvSpPr txBox="1"/>
          <p:nvPr/>
        </p:nvSpPr>
        <p:spPr>
          <a:xfrm>
            <a:off x="548640" y="5230368"/>
            <a:ext cx="2567178" cy="969264"/>
          </a:xfrm>
          <a:prstGeom prst="rect">
            <a:avLst/>
          </a:prstGeom>
          <a:noFill/>
          <a:ln/>
        </p:spPr>
        <p:txBody>
          <a:bodyPr wrap="square" lIns="128016" tIns="0" rIns="128016" bIns="0" rtlCol="0" anchor="ctr"/>
          <a:lstStyle/>
          <a:p>
            <a:pPr indent="0" marL="0">
              <a:lnSpc>
                <a:spcPct val="115000"/>
              </a:lnSpc>
              <a:buNone/>
            </a:pPr>
            <a:r>
              <a:rPr lang="en-US" altLang="en-US" sz="1150" b="1" dirty="0">
                <a:solidFill>
                  <a:srgbClr val="1B2A38"/>
                </a:solidFill>
                <a:latin typeface="Arial" pitchFamily="34" charset="0"/>
                <a:ea typeface="Yu Gothic" pitchFamily="34" charset="-122"/>
                <a:cs typeface="Yu Gothic" pitchFamily="34" charset="-120"/>
              </a:rPr>
              <a:t>1  Write facts</a:t>
            </a:r>
          </a:p>
          <a:p>
            <a:pPr indent="0" marL="0">
              <a:lnSpc>
                <a:spcPct val="115000"/>
              </a:lnSpc>
              <a:spcBef>
                <a:spcPts val="200"/>
              </a:spcBef>
              <a:buNone/>
            </a:pPr>
            <a:r>
              <a:rPr lang="en-US" altLang="en-US" sz="950" b="0" dirty="0">
                <a:solidFill>
                  <a:srgbClr val="3E4A56"/>
                </a:solidFill>
                <a:latin typeface="Arial" pitchFamily="34" charset="0"/>
                <a:ea typeface="Yu Gothic" pitchFamily="34" charset="-122"/>
                <a:cs typeface="Yu Gothic" pitchFamily="34" charset="-120"/>
              </a:rPr>
              <a:t>Applicant. No assessments or scores</a:t>
            </a:r>
          </a:p>
        </p:txBody>
      </p:sp>
      <p:sp>
        <p:nvSpPr>
          <p:cNvPr id="84" name="Step Arrow 0"/>
          <p:cNvSpPr/>
          <p:nvPr/>
        </p:nvSpPr>
        <p:spPr>
          <a:xfrm>
            <a:off x="3170682" y="5623560"/>
            <a:ext cx="164592" cy="182880"/>
          </a:xfrm>
          <a:prstGeom prst="rightArrow">
            <a:avLst/>
          </a:prstGeom>
          <a:solidFill>
            <a:srgbClr val="66717C"/>
          </a:solidFill>
          <a:ln/>
        </p:spPr>
      </p:sp>
      <p:sp>
        <p:nvSpPr>
          <p:cNvPr id="85" name="Step 1"/>
          <p:cNvSpPr/>
          <p:nvPr/>
        </p:nvSpPr>
        <p:spPr>
          <a:xfrm>
            <a:off x="3390138" y="5230368"/>
            <a:ext cx="2567178" cy="969264"/>
          </a:xfrm>
          <a:prstGeom prst="roundRect">
            <a:avLst>
              <a:gd name="adj" fmla="val 8000"/>
            </a:avLst>
          </a:prstGeom>
          <a:solidFill>
            <a:srgbClr val="F2F4F6"/>
          </a:solidFill>
          <a:ln/>
        </p:spPr>
      </p:sp>
      <p:sp>
        <p:nvSpPr>
          <p:cNvPr id="86" name="Step Text 1"/>
          <p:cNvSpPr txBox="1"/>
          <p:nvPr/>
        </p:nvSpPr>
        <p:spPr>
          <a:xfrm>
            <a:off x="3390138" y="5230368"/>
            <a:ext cx="2567178" cy="969264"/>
          </a:xfrm>
          <a:prstGeom prst="rect">
            <a:avLst/>
          </a:prstGeom>
          <a:noFill/>
          <a:ln/>
        </p:spPr>
        <p:txBody>
          <a:bodyPr wrap="square" lIns="128016" tIns="0" rIns="128016" bIns="0" rtlCol="0" anchor="ctr"/>
          <a:lstStyle/>
          <a:p>
            <a:pPr indent="0" marL="0">
              <a:lnSpc>
                <a:spcPct val="115000"/>
              </a:lnSpc>
              <a:buNone/>
            </a:pPr>
            <a:r>
              <a:rPr lang="en-US" altLang="en-US" sz="1150" b="1" dirty="0">
                <a:solidFill>
                  <a:srgbClr val="1B2A38"/>
                </a:solidFill>
                <a:latin typeface="Arial" pitchFamily="34" charset="0"/>
                <a:ea typeface="Yu Gothic" pitchFamily="34" charset="-122"/>
                <a:cs typeface="Yu Gothic" pitchFamily="34" charset="-120"/>
              </a:rPr>
              <a:t>2  Assess by element</a:t>
            </a:r>
          </a:p>
          <a:p>
            <a:pPr indent="0" marL="0">
              <a:lnSpc>
                <a:spcPct val="115000"/>
              </a:lnSpc>
              <a:spcBef>
                <a:spcPts val="200"/>
              </a:spcBef>
              <a:buNone/>
            </a:pPr>
            <a:r>
              <a:rPr lang="en-US" altLang="en-US" sz="950" b="0" dirty="0">
                <a:solidFill>
                  <a:srgbClr val="3E4A56"/>
                </a:solidFill>
                <a:latin typeface="Arial" pitchFamily="34" charset="0"/>
                <a:ea typeface="Yu Gothic" pitchFamily="34" charset="-122"/>
                <a:cs typeface="Yu Gothic" pitchFamily="34" charset="-120"/>
              </a:rPr>
              <a:t>IT. Check facts against the registry</a:t>
            </a:r>
          </a:p>
        </p:txBody>
      </p:sp>
      <p:sp>
        <p:nvSpPr>
          <p:cNvPr id="87" name="Step Arrow 1"/>
          <p:cNvSpPr/>
          <p:nvPr/>
        </p:nvSpPr>
        <p:spPr>
          <a:xfrm>
            <a:off x="6012180" y="5623560"/>
            <a:ext cx="164592" cy="182880"/>
          </a:xfrm>
          <a:prstGeom prst="rightArrow">
            <a:avLst/>
          </a:prstGeom>
          <a:solidFill>
            <a:srgbClr val="66717C"/>
          </a:solidFill>
          <a:ln/>
        </p:spPr>
      </p:sp>
      <p:sp>
        <p:nvSpPr>
          <p:cNvPr id="88" name="Step 2"/>
          <p:cNvSpPr/>
          <p:nvPr/>
        </p:nvSpPr>
        <p:spPr>
          <a:xfrm>
            <a:off x="6231636" y="5230368"/>
            <a:ext cx="2567178" cy="969264"/>
          </a:xfrm>
          <a:prstGeom prst="roundRect">
            <a:avLst>
              <a:gd name="adj" fmla="val 8000"/>
            </a:avLst>
          </a:prstGeom>
          <a:solidFill>
            <a:srgbClr val="F2F4F6"/>
          </a:solidFill>
          <a:ln/>
        </p:spPr>
      </p:sp>
      <p:sp>
        <p:nvSpPr>
          <p:cNvPr id="89" name="Step Text 2"/>
          <p:cNvSpPr txBox="1"/>
          <p:nvPr/>
        </p:nvSpPr>
        <p:spPr>
          <a:xfrm>
            <a:off x="6231636" y="5230368"/>
            <a:ext cx="2567178" cy="969264"/>
          </a:xfrm>
          <a:prstGeom prst="rect">
            <a:avLst/>
          </a:prstGeom>
          <a:noFill/>
          <a:ln/>
        </p:spPr>
        <p:txBody>
          <a:bodyPr wrap="square" lIns="128016" tIns="0" rIns="128016" bIns="0" rtlCol="0" anchor="ctr"/>
          <a:lstStyle/>
          <a:p>
            <a:pPr indent="0" marL="0">
              <a:lnSpc>
                <a:spcPct val="115000"/>
              </a:lnSpc>
              <a:buNone/>
            </a:pPr>
            <a:r>
              <a:rPr lang="en-US" altLang="en-US" sz="1150" b="1" dirty="0">
                <a:solidFill>
                  <a:srgbClr val="1B2A38"/>
                </a:solidFill>
                <a:latin typeface="Arial" pitchFamily="34" charset="0"/>
                <a:ea typeface="Yu Gothic" pitchFamily="34" charset="-122"/>
                <a:cs typeface="Yu Gothic" pitchFamily="34" charset="-120"/>
              </a:rPr>
              <a:t>3  Answer two questions</a:t>
            </a:r>
          </a:p>
          <a:p>
            <a:pPr indent="0" marL="0">
              <a:lnSpc>
                <a:spcPct val="115000"/>
              </a:lnSpc>
              <a:spcBef>
                <a:spcPts val="200"/>
              </a:spcBef>
              <a:buNone/>
            </a:pPr>
            <a:r>
              <a:rPr lang="en-US" altLang="en-US" sz="950" b="0" dirty="0">
                <a:solidFill>
                  <a:srgbClr val="3E4A56"/>
                </a:solidFill>
                <a:latin typeface="Arial" pitchFamily="34" charset="0"/>
                <a:ea typeface="Yu Gothic" pitchFamily="34" charset="-122"/>
                <a:cs typeface="Yu Gothic" pitchFamily="34" charset="-120"/>
              </a:rPr>
              <a:t>Q1 Foundation / Q2 Debt: Yes/No with reasons</a:t>
            </a:r>
          </a:p>
        </p:txBody>
      </p:sp>
      <p:sp>
        <p:nvSpPr>
          <p:cNvPr id="90" name="Step Arrow 2"/>
          <p:cNvSpPr/>
          <p:nvPr/>
        </p:nvSpPr>
        <p:spPr>
          <a:xfrm>
            <a:off x="8853678" y="5623560"/>
            <a:ext cx="164592" cy="182880"/>
          </a:xfrm>
          <a:prstGeom prst="rightArrow">
            <a:avLst/>
          </a:prstGeom>
          <a:solidFill>
            <a:srgbClr val="66717C"/>
          </a:solidFill>
          <a:ln/>
        </p:spPr>
      </p:sp>
      <p:sp>
        <p:nvSpPr>
          <p:cNvPr id="91" name="Step 3"/>
          <p:cNvSpPr/>
          <p:nvPr/>
        </p:nvSpPr>
        <p:spPr>
          <a:xfrm>
            <a:off x="9073134" y="5230368"/>
            <a:ext cx="2567178" cy="969264"/>
          </a:xfrm>
          <a:prstGeom prst="roundRect">
            <a:avLst>
              <a:gd name="adj" fmla="val 8000"/>
            </a:avLst>
          </a:prstGeom>
          <a:solidFill>
            <a:srgbClr val="F2F4F6"/>
          </a:solidFill>
          <a:ln/>
        </p:spPr>
      </p:sp>
      <p:sp>
        <p:nvSpPr>
          <p:cNvPr id="92" name="Step Text 3"/>
          <p:cNvSpPr txBox="1"/>
          <p:nvPr/>
        </p:nvSpPr>
        <p:spPr>
          <a:xfrm>
            <a:off x="9073134" y="5230368"/>
            <a:ext cx="2567178" cy="969264"/>
          </a:xfrm>
          <a:prstGeom prst="rect">
            <a:avLst/>
          </a:prstGeom>
          <a:noFill/>
          <a:ln/>
        </p:spPr>
        <p:txBody>
          <a:bodyPr wrap="square" lIns="128016" tIns="0" rIns="128016" bIns="0" rtlCol="0" anchor="ctr"/>
          <a:lstStyle/>
          <a:p>
            <a:pPr indent="0" marL="0">
              <a:lnSpc>
                <a:spcPct val="115000"/>
              </a:lnSpc>
              <a:buNone/>
            </a:pPr>
            <a:r>
              <a:rPr lang="en-US" altLang="en-US" sz="1150" b="1" dirty="0">
                <a:solidFill>
                  <a:srgbClr val="1B2A38"/>
                </a:solidFill>
                <a:latin typeface="Arial" pitchFamily="34" charset="0"/>
                <a:ea typeface="Yu Gothic" pitchFamily="34" charset="-122"/>
                <a:cs typeface="Yu Gothic" pitchFamily="34" charset="-120"/>
              </a:rPr>
              <a:t>4  Frame as issues</a:t>
            </a:r>
          </a:p>
          <a:p>
            <a:pPr indent="0" marL="0">
              <a:lnSpc>
                <a:spcPct val="115000"/>
              </a:lnSpc>
              <a:spcBef>
                <a:spcPts val="200"/>
              </a:spcBef>
              <a:buNone/>
            </a:pPr>
            <a:r>
              <a:rPr lang="en-US" altLang="en-US" sz="950" b="0" dirty="0">
                <a:solidFill>
                  <a:srgbClr val="3E4A56"/>
                </a:solidFill>
                <a:latin typeface="Arial" pitchFamily="34" charset="0"/>
                <a:ea typeface="Yu Gothic" pitchFamily="34" charset="-122"/>
                <a:cs typeface="Yu Gothic" pitchFamily="34" charset="-120"/>
              </a:rPr>
              <a:t>As questions the committee must decide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grpSpPr>
        <a:xfrm>
          <a:off x="0" y="0"/>
          <a:ext cx="0" cy="0"/>
          <a:chOff x="0" y="0"/>
          <a:chExt cx="0" cy="0"/>
        </a:xfrm>
      </p:grpSpPr>
      <p:sp>
        <p:nvSpPr>
          <p:cNvPr id="4" name="Text 2"/>
          <p:cNvSpPr txBox="1"/>
          <p:nvPr/>
        </p:nvSpPr>
        <p:spPr>
          <a:xfrm>
            <a:off x="548640" y="685800"/>
            <a:ext cx="11064240" cy="548640"/>
          </a:xfrm>
          <a:prstGeom prst="rect">
            <a:avLst/>
          </a:prstGeom>
          <a:noFill/>
          <a:ln/>
        </p:spPr>
        <p:txBody>
          <a:bodyPr wrap="square" lIns="0" tIns="0" rIns="0" bIns="0" rtlCol="0" anchor="ctr"/>
          <a:lstStyle/>
          <a:p>
            <a:pPr indent="0" marL="0">
              <a:buNone/>
            </a:pPr>
            <a:r>
              <a:rPr lang="en-US" sz="2400" b="1" dirty="0">
                <a:solidFill>
                  <a:srgbClr val="1B2A38"/>
                </a:solidFill>
                <a:latin typeface="Arial" pitchFamily="34" charset="0"/>
                <a:ea typeface="Yu Gothic" pitchFamily="34" charset="-122"/>
                <a:cs typeface="Yu Gothic" pitchFamily="34" charset="-120"/>
              </a:rPr>
              <a:t>Where in the deliberation flow is commonality checked?</a:t>
            </a:r>
            <a:endParaRPr lang="en-US" sz="2400" dirty="0"/>
          </a:p>
        </p:txBody>
      </p:sp>
      <p:sp>
        <p:nvSpPr>
          <p:cNvPr id="6" name="Text 4"/>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900" dirty="0">
                <a:solidFill>
                  <a:srgbClr val="66717C"/>
                </a:solidFill>
                <a:latin typeface="Arial" pitchFamily="34" charset="0"/>
                <a:ea typeface="Yu Gothic" pitchFamily="34" charset="-122"/>
                <a:cs typeface="Yu Gothic" pitchFamily="34" charset="-120"/>
              </a:rPr>
              <a:t>IT Materiality ｜ IT Department internal alignment</a:t>
            </a:r>
            <a:endParaRPr lang="en-US" sz="900" dirty="0"/>
          </a:p>
        </p:txBody>
      </p:sp>
      <p:sp>
        <p:nvSpPr>
          <p:cNvPr id="7" name="Text 5"/>
          <p:cNvSpPr txBox="1"/>
          <p:nvPr/>
        </p:nvSpPr>
        <p:spPr>
          <a:xfrm>
            <a:off x="11155680" y="6446520"/>
            <a:ext cx="457200" cy="274320"/>
          </a:xfrm>
          <a:prstGeom prst="rect">
            <a:avLst/>
          </a:prstGeom>
          <a:noFill/>
          <a:ln/>
        </p:spPr>
        <p:txBody>
          <a:bodyPr wrap="square" lIns="0" tIns="0" rIns="0" bIns="0" rtlCol="0" anchor="t"/>
          <a:lstStyle/>
          <a:p>
            <a:pPr algn="r" indent="0" marL="0">
              <a:buNone/>
            </a:pPr>
            <a:r>
              <a:rPr lang="en-US" sz="900" dirty="0">
                <a:solidFill>
                  <a:srgbClr val="66717C"/>
                </a:solidFill>
                <a:latin typeface="Arial" pitchFamily="34" charset="0"/>
                <a:ea typeface="Yu Gothic" pitchFamily="34" charset="-122"/>
                <a:cs typeface="Yu Gothic" pitchFamily="34" charset="-120"/>
              </a:rPr>
              <a:t>6</a:t>
            </a:r>
            <a:endParaRPr lang="en-US" sz="900" dirty="0"/>
          </a:p>
        </p:txBody>
      </p:sp>
      <p:sp>
        <p:nvSpPr>
          <p:cNvPr id="51" name="Subtitle"/>
          <p:cNvSpPr txBox="1"/>
          <p:nvPr/>
        </p:nvSpPr>
        <p:spPr>
          <a:xfrm>
            <a:off x="548640" y="1188720"/>
            <a:ext cx="11064240" cy="310896"/>
          </a:xfrm>
          <a:prstGeom prst="rect">
            <a:avLst/>
          </a:prstGeom>
          <a:noFill/>
          <a:ln/>
        </p:spPr>
        <p:txBody>
          <a:bodyPr wrap="square" lIns="0" tIns="0" rIns="0" bIns="0" rtlCol="0" anchor="ctr"/>
          <a:lstStyle/>
          <a:p>
            <a:pPr indent="0" marL="0">
              <a:lnSpc>
                <a:spcPct val="115000"/>
              </a:lnSpc>
              <a:buNone/>
            </a:pPr>
            <a:r>
              <a:rPr lang="en-US" altLang="en-US" sz="1300" b="0" dirty="0">
                <a:solidFill>
                  <a:srgbClr val="3E4A56"/>
                </a:solidFill>
                <a:latin typeface="Arial" pitchFamily="34" charset="0"/>
                <a:ea typeface="Yu Gothic" pitchFamily="34" charset="-122"/>
                <a:cs typeface="Yu Gothic" pitchFamily="34" charset="-120"/>
              </a:rPr>
              <a:t>The entrance to nesting is </a:t>
            </a:r>
            <a:r>
              <a:rPr lang="en-US" altLang="en-US" sz="1300" b="1" dirty="0">
                <a:solidFill>
                  <a:srgbClr val="1B2A38"/>
                </a:solidFill>
                <a:latin typeface="Arial" pitchFamily="34" charset="0"/>
                <a:ea typeface="Yu Gothic" pitchFamily="34" charset="-122"/>
                <a:cs typeface="Yu Gothic" pitchFamily="34" charset="-120"/>
              </a:rPr>
              <a:t>issue framing</a:t>
            </a:r>
            <a:r>
              <a:rPr lang="en-US" altLang="en-US" sz="1300" b="0" dirty="0">
                <a:solidFill>
                  <a:srgbClr val="3E4A56"/>
                </a:solidFill>
                <a:latin typeface="Arial" pitchFamily="34" charset="0"/>
                <a:ea typeface="Yu Gothic" pitchFamily="34" charset="-122"/>
                <a:cs typeface="Yu Gothic" pitchFamily="34" charset="-120"/>
              </a:rPr>
              <a:t>. IT checks commonality and turns it into decision questions for the committee</a:t>
            </a:r>
          </a:p>
        </p:txBody>
      </p:sp>
      <p:sp>
        <p:nvSpPr>
          <p:cNvPr id="52" name="Step Card 0"/>
          <p:cNvSpPr/>
          <p:nvPr/>
        </p:nvSpPr>
        <p:spPr>
          <a:xfrm>
            <a:off x="548640" y="1691640"/>
            <a:ext cx="3453384" cy="960120"/>
          </a:xfrm>
          <a:prstGeom prst="roundRect">
            <a:avLst>
              <a:gd name="adj" fmla="val 8000"/>
            </a:avLst>
          </a:prstGeom>
          <a:solidFill>
            <a:srgbClr val="E5F2EE"/>
          </a:solidFill>
          <a:ln/>
        </p:spPr>
      </p:sp>
      <p:sp>
        <p:nvSpPr>
          <p:cNvPr id="53" name="Step Text 0"/>
          <p:cNvSpPr txBox="1"/>
          <p:nvPr/>
        </p:nvSpPr>
        <p:spPr>
          <a:xfrm>
            <a:off x="548640" y="1691640"/>
            <a:ext cx="3453384" cy="960120"/>
          </a:xfrm>
          <a:prstGeom prst="rect">
            <a:avLst/>
          </a:prstGeom>
          <a:noFill/>
          <a:ln/>
        </p:spPr>
        <p:txBody>
          <a:bodyPr wrap="square" lIns="146304" tIns="0" rIns="146304" bIns="0" rtlCol="0" anchor="ctr"/>
          <a:lstStyle/>
          <a:p>
            <a:pPr indent="0" marL="0">
              <a:lnSpc>
                <a:spcPct val="115000"/>
              </a:lnSpc>
              <a:buNone/>
            </a:pPr>
            <a:r>
              <a:rPr lang="en-US" altLang="en-US" sz="1050" b="1" dirty="0">
                <a:solidFill>
                  <a:srgbClr val="1F7A68"/>
                </a:solidFill>
                <a:latin typeface="Arial" pitchFamily="34" charset="0"/>
                <a:ea typeface="Yu Gothic" pitchFamily="34" charset="-122"/>
                <a:cs typeface="Yu Gothic" pitchFamily="34" charset="-120"/>
              </a:rPr>
              <a:t>Find</a:t>
            </a:r>
          </a:p>
          <a:p>
            <a:pPr indent="0" marL="0">
              <a:lnSpc>
                <a:spcPct val="115000"/>
              </a:lnSpc>
              <a:spcBef>
                <a:spcPts val="200"/>
              </a:spcBef>
              <a:buNone/>
            </a:pPr>
            <a:r>
              <a:rPr lang="en-US" altLang="en-US" sz="1700" b="1" dirty="0">
                <a:solidFill>
                  <a:srgbClr val="1B2A38"/>
                </a:solidFill>
                <a:latin typeface="Arial" pitchFamily="34" charset="0"/>
                <a:ea typeface="Yu Gothic" pitchFamily="34" charset="-122"/>
                <a:cs typeface="Yu Gothic" pitchFamily="34" charset="-120"/>
              </a:rPr>
              <a:t>Issue framing</a:t>
            </a:r>
          </a:p>
          <a:p>
            <a:pPr indent="0" marL="0">
              <a:lnSpc>
                <a:spcPct val="115000"/>
              </a:lnSpc>
              <a:spcBef>
                <a:spcPts val="200"/>
              </a:spcBef>
              <a:buNone/>
            </a:pPr>
            <a:r>
              <a:rPr lang="en-US" altLang="en-US" sz="1000" b="0" dirty="0">
                <a:solidFill>
                  <a:srgbClr val="66717C"/>
                </a:solidFill>
                <a:latin typeface="Arial" pitchFamily="34" charset="0"/>
                <a:ea typeface="Yu Gothic" pitchFamily="34" charset="-122"/>
                <a:cs typeface="Yu Gothic" pitchFamily="34" charset="-120"/>
              </a:rPr>
              <a:t>Secretariat (IT side + proposing department side)</a:t>
            </a:r>
          </a:p>
        </p:txBody>
      </p:sp>
      <p:sp>
        <p:nvSpPr>
          <p:cNvPr id="54" name="Step Arrow 0"/>
          <p:cNvSpPr/>
          <p:nvPr/>
        </p:nvSpPr>
        <p:spPr>
          <a:xfrm>
            <a:off x="4084320" y="2034540"/>
            <a:ext cx="201168" cy="274320"/>
          </a:xfrm>
          <a:prstGeom prst="rightArrow">
            <a:avLst/>
          </a:prstGeom>
          <a:solidFill>
            <a:srgbClr val="1F7A68"/>
          </a:solidFill>
          <a:ln/>
        </p:spPr>
      </p:sp>
      <p:sp>
        <p:nvSpPr>
          <p:cNvPr id="55" name="Ask Card 0"/>
          <p:cNvSpPr/>
          <p:nvPr/>
        </p:nvSpPr>
        <p:spPr>
          <a:xfrm>
            <a:off x="548640" y="2788920"/>
            <a:ext cx="3453384" cy="1783080"/>
          </a:xfrm>
          <a:prstGeom prst="roundRect">
            <a:avLst>
              <a:gd name="adj" fmla="val 6000"/>
            </a:avLst>
          </a:prstGeom>
          <a:solidFill>
            <a:srgbClr val="FFFFFF"/>
          </a:solidFill>
          <a:ln w="12700">
            <a:solidFill>
              <a:srgbClr val="C98A12"/>
            </a:solidFill>
          </a:ln>
        </p:spPr>
      </p:sp>
      <p:sp>
        <p:nvSpPr>
          <p:cNvPr id="56" name="Ask Badge 0"/>
          <p:cNvSpPr/>
          <p:nvPr/>
        </p:nvSpPr>
        <p:spPr>
          <a:xfrm>
            <a:off x="694944" y="2935224"/>
            <a:ext cx="1170432" cy="274320"/>
          </a:xfrm>
          <a:prstGeom prst="roundRect">
            <a:avLst>
              <a:gd name="adj" fmla="val 50000"/>
            </a:avLst>
          </a:prstGeom>
          <a:solidFill>
            <a:srgbClr val="C98A12"/>
          </a:solidFill>
          <a:ln/>
        </p:spPr>
      </p:sp>
      <p:sp>
        <p:nvSpPr>
          <p:cNvPr id="57" name="Ask Badge Text 0"/>
          <p:cNvSpPr txBox="1"/>
          <p:nvPr/>
        </p:nvSpPr>
        <p:spPr>
          <a:xfrm>
            <a:off x="694944" y="2935224"/>
            <a:ext cx="1170432" cy="274320"/>
          </a:xfrm>
          <a:prstGeom prst="rect">
            <a:avLst/>
          </a:prstGeom>
          <a:noFill/>
          <a:ln/>
        </p:spPr>
        <p:txBody>
          <a:bodyPr wrap="square" lIns="0" tIns="0" rIns="0" bIns="0" rtlCol="0" anchor="ctr"/>
          <a:lstStyle/>
          <a:p>
            <a:pPr algn="ctr" indent="0" marL="0">
              <a:lnSpc>
                <a:spcPct val="115000"/>
              </a:lnSpc>
              <a:buNone/>
            </a:pPr>
            <a:r>
              <a:rPr lang="en-US" altLang="en-US" sz="1000" b="1" dirty="0">
                <a:solidFill>
                  <a:srgbClr val="FFFFFF"/>
                </a:solidFill>
                <a:latin typeface="Arial" pitchFamily="34" charset="0"/>
                <a:ea typeface="Yu Gothic" pitchFamily="34" charset="-122"/>
                <a:cs typeface="Yu Gothic" pitchFamily="34" charset="-120"/>
              </a:rPr>
              <a:t>NEED ACTION</a:t>
            </a:r>
          </a:p>
        </p:txBody>
      </p:sp>
      <p:sp>
        <p:nvSpPr>
          <p:cNvPr id="58" name="Ask Label 0"/>
          <p:cNvSpPr txBox="1"/>
          <p:nvPr/>
        </p:nvSpPr>
        <p:spPr>
          <a:xfrm>
            <a:off x="1975104" y="2935224"/>
            <a:ext cx="1463040" cy="274320"/>
          </a:xfrm>
          <a:prstGeom prst="rect">
            <a:avLst/>
          </a:prstGeom>
          <a:noFill/>
          <a:ln/>
        </p:spPr>
        <p:txBody>
          <a:bodyPr wrap="square" lIns="0" tIns="0" rIns="0" bIns="0" rtlCol="0" anchor="ctr"/>
          <a:lstStyle/>
          <a:p>
            <a:pPr indent="0" marL="0">
              <a:lnSpc>
                <a:spcPct val="115000"/>
              </a:lnSpc>
              <a:buNone/>
            </a:pPr>
            <a:r>
              <a:rPr lang="en-US" altLang="en-US" sz="1000" b="1" dirty="0">
                <a:solidFill>
                  <a:srgbClr val="C98A12"/>
                </a:solidFill>
                <a:latin typeface="Arial" pitchFamily="34" charset="0"/>
                <a:ea typeface="Yu Gothic" pitchFamily="34" charset="-122"/>
                <a:cs typeface="Yu Gothic" pitchFamily="34" charset="-120"/>
              </a:rPr>
              <a:t>Your role</a:t>
            </a:r>
          </a:p>
        </p:txBody>
      </p:sp>
      <p:sp>
        <p:nvSpPr>
          <p:cNvPr id="59" name="Ask Body 0"/>
          <p:cNvSpPr txBox="1"/>
          <p:nvPr/>
        </p:nvSpPr>
        <p:spPr>
          <a:xfrm>
            <a:off x="694944" y="3346704"/>
            <a:ext cx="3160776" cy="1188720"/>
          </a:xfrm>
          <a:prstGeom prst="rect">
            <a:avLst/>
          </a:prstGeom>
          <a:noFill/>
          <a:ln/>
        </p:spPr>
        <p:txBody>
          <a:bodyPr wrap="square" lIns="0" tIns="0" rIns="0" bIns="0" rtlCol="0" anchor="t"/>
          <a:lstStyle/>
          <a:p>
            <a:pPr indent="0" marL="0">
              <a:lnSpc>
                <a:spcPct val="115000"/>
              </a:lnSpc>
              <a:buNone/>
            </a:pPr>
            <a:r>
              <a:rPr lang="en-US" altLang="en-US" sz="1250" b="1" dirty="0">
                <a:solidFill>
                  <a:srgbClr val="1B2A38"/>
                </a:solidFill>
                <a:latin typeface="Arial" pitchFamily="34" charset="0"/>
                <a:ea typeface="Yu Gothic" pitchFamily="34" charset="-122"/>
                <a:cs typeface="Yu Gothic" pitchFamily="34" charset="-120"/>
              </a:rPr>
              <a:t>Assess the application facts by element</a:t>
            </a:r>
          </a:p>
          <a:p>
            <a:pPr indent="0" marL="0">
              <a:lnSpc>
                <a:spcPct val="115000"/>
              </a:lnSpc>
              <a:spcBef>
                <a:spcPts val="500"/>
              </a:spcBef>
              <a:buNone/>
            </a:pPr>
            <a:r>
              <a:rPr lang="en-US" altLang="en-US" sz="1100" b="0" dirty="0">
                <a:solidFill>
                  <a:srgbClr val="3E4A56"/>
                </a:solidFill>
                <a:latin typeface="Arial" pitchFamily="34" charset="0"/>
                <a:ea typeface="Yu Gothic" pitchFamily="34" charset="-122"/>
                <a:cs typeface="Yu Gothic" pitchFamily="34" charset="-120"/>
              </a:rPr>
              <a:t>Answer the Foundation and Debt questions and turn them into decision questions (issues). This is the entrance to nesting</a:t>
            </a:r>
          </a:p>
        </p:txBody>
      </p:sp>
      <p:sp>
        <p:nvSpPr>
          <p:cNvPr id="60" name="Step Card 1"/>
          <p:cNvSpPr/>
          <p:nvPr/>
        </p:nvSpPr>
        <p:spPr>
          <a:xfrm>
            <a:off x="4367784" y="1691640"/>
            <a:ext cx="3453384" cy="960120"/>
          </a:xfrm>
          <a:prstGeom prst="roundRect">
            <a:avLst>
              <a:gd name="adj" fmla="val 8000"/>
            </a:avLst>
          </a:prstGeom>
          <a:solidFill>
            <a:srgbClr val="E5F2EE"/>
          </a:solidFill>
          <a:ln/>
        </p:spPr>
      </p:sp>
      <p:sp>
        <p:nvSpPr>
          <p:cNvPr id="61" name="Step Text 1"/>
          <p:cNvSpPr txBox="1"/>
          <p:nvPr/>
        </p:nvSpPr>
        <p:spPr>
          <a:xfrm>
            <a:off x="4367784" y="1691640"/>
            <a:ext cx="3453384" cy="960120"/>
          </a:xfrm>
          <a:prstGeom prst="rect">
            <a:avLst/>
          </a:prstGeom>
          <a:noFill/>
          <a:ln/>
        </p:spPr>
        <p:txBody>
          <a:bodyPr wrap="square" lIns="146304" tIns="0" rIns="146304" bIns="0" rtlCol="0" anchor="ctr"/>
          <a:lstStyle/>
          <a:p>
            <a:pPr indent="0" marL="0">
              <a:lnSpc>
                <a:spcPct val="115000"/>
              </a:lnSpc>
              <a:buNone/>
            </a:pPr>
            <a:r>
              <a:rPr lang="en-US" altLang="en-US" sz="1050" b="1" dirty="0">
                <a:solidFill>
                  <a:srgbClr val="1F7A68"/>
                </a:solidFill>
                <a:latin typeface="Arial" pitchFamily="34" charset="0"/>
                <a:ea typeface="Yu Gothic" pitchFamily="34" charset="-122"/>
                <a:cs typeface="Yu Gothic" pitchFamily="34" charset="-120"/>
              </a:rPr>
              <a:t>Decide</a:t>
            </a:r>
          </a:p>
          <a:p>
            <a:pPr indent="0" marL="0">
              <a:lnSpc>
                <a:spcPct val="115000"/>
              </a:lnSpc>
              <a:spcBef>
                <a:spcPts val="200"/>
              </a:spcBef>
              <a:buNone/>
            </a:pPr>
            <a:r>
              <a:rPr lang="en-US" altLang="en-US" sz="1700" b="1" dirty="0">
                <a:solidFill>
                  <a:srgbClr val="1B2A38"/>
                </a:solidFill>
                <a:latin typeface="Arial" pitchFamily="34" charset="0"/>
                <a:ea typeface="Yu Gothic" pitchFamily="34" charset="-122"/>
                <a:cs typeface="Yu Gothic" pitchFamily="34" charset="-120"/>
              </a:rPr>
              <a:t>Committee deliberation</a:t>
            </a:r>
          </a:p>
          <a:p>
            <a:pPr indent="0" marL="0">
              <a:lnSpc>
                <a:spcPct val="115000"/>
              </a:lnSpc>
              <a:spcBef>
                <a:spcPts val="200"/>
              </a:spcBef>
              <a:buNone/>
            </a:pPr>
            <a:r>
              <a:rPr lang="en-US" altLang="en-US" sz="1000" b="0" dirty="0">
                <a:solidFill>
                  <a:srgbClr val="66717C"/>
                </a:solidFill>
                <a:latin typeface="Arial" pitchFamily="34" charset="0"/>
                <a:ea typeface="Yu Gothic" pitchFamily="34" charset="-122"/>
                <a:cs typeface="Yu Gothic" pitchFamily="34" charset="-120"/>
              </a:rPr>
              <a:t>Investment Committee</a:t>
            </a:r>
          </a:p>
        </p:txBody>
      </p:sp>
      <p:sp>
        <p:nvSpPr>
          <p:cNvPr id="62" name="Step Arrow 1"/>
          <p:cNvSpPr/>
          <p:nvPr/>
        </p:nvSpPr>
        <p:spPr>
          <a:xfrm>
            <a:off x="7903464" y="2034540"/>
            <a:ext cx="201168" cy="274320"/>
          </a:xfrm>
          <a:prstGeom prst="rightArrow">
            <a:avLst/>
          </a:prstGeom>
          <a:solidFill>
            <a:srgbClr val="1F7A68"/>
          </a:solidFill>
          <a:ln/>
        </p:spPr>
      </p:sp>
      <p:sp>
        <p:nvSpPr>
          <p:cNvPr id="63" name="Ask Card 1"/>
          <p:cNvSpPr/>
          <p:nvPr/>
        </p:nvSpPr>
        <p:spPr>
          <a:xfrm>
            <a:off x="4367784" y="2788920"/>
            <a:ext cx="3453384" cy="1783080"/>
          </a:xfrm>
          <a:prstGeom prst="roundRect">
            <a:avLst>
              <a:gd name="adj" fmla="val 6000"/>
            </a:avLst>
          </a:prstGeom>
          <a:solidFill>
            <a:srgbClr val="FFFFFF"/>
          </a:solidFill>
          <a:ln w="12700">
            <a:solidFill>
              <a:srgbClr val="C98A12"/>
            </a:solidFill>
          </a:ln>
        </p:spPr>
      </p:sp>
      <p:sp>
        <p:nvSpPr>
          <p:cNvPr id="64" name="Ask Badge 1"/>
          <p:cNvSpPr/>
          <p:nvPr/>
        </p:nvSpPr>
        <p:spPr>
          <a:xfrm>
            <a:off x="4514088" y="2935224"/>
            <a:ext cx="1170432" cy="274320"/>
          </a:xfrm>
          <a:prstGeom prst="roundRect">
            <a:avLst>
              <a:gd name="adj" fmla="val 50000"/>
            </a:avLst>
          </a:prstGeom>
          <a:solidFill>
            <a:srgbClr val="C98A12"/>
          </a:solidFill>
          <a:ln/>
        </p:spPr>
      </p:sp>
      <p:sp>
        <p:nvSpPr>
          <p:cNvPr id="65" name="Ask Badge Text 1"/>
          <p:cNvSpPr txBox="1"/>
          <p:nvPr/>
        </p:nvSpPr>
        <p:spPr>
          <a:xfrm>
            <a:off x="4514088" y="2935224"/>
            <a:ext cx="1170432" cy="274320"/>
          </a:xfrm>
          <a:prstGeom prst="rect">
            <a:avLst/>
          </a:prstGeom>
          <a:noFill/>
          <a:ln/>
        </p:spPr>
        <p:txBody>
          <a:bodyPr wrap="square" lIns="0" tIns="0" rIns="0" bIns="0" rtlCol="0" anchor="ctr"/>
          <a:lstStyle/>
          <a:p>
            <a:pPr algn="ctr" indent="0" marL="0">
              <a:lnSpc>
                <a:spcPct val="115000"/>
              </a:lnSpc>
              <a:buNone/>
            </a:pPr>
            <a:r>
              <a:rPr lang="en-US" altLang="en-US" sz="1000" b="1" dirty="0">
                <a:solidFill>
                  <a:srgbClr val="FFFFFF"/>
                </a:solidFill>
                <a:latin typeface="Arial" pitchFamily="34" charset="0"/>
                <a:ea typeface="Yu Gothic" pitchFamily="34" charset="-122"/>
                <a:cs typeface="Yu Gothic" pitchFamily="34" charset="-120"/>
              </a:rPr>
              <a:t>NEED ACTION</a:t>
            </a:r>
          </a:p>
        </p:txBody>
      </p:sp>
      <p:sp>
        <p:nvSpPr>
          <p:cNvPr id="66" name="Ask Label 1"/>
          <p:cNvSpPr txBox="1"/>
          <p:nvPr/>
        </p:nvSpPr>
        <p:spPr>
          <a:xfrm>
            <a:off x="5794248" y="2935224"/>
            <a:ext cx="1463040" cy="274320"/>
          </a:xfrm>
          <a:prstGeom prst="rect">
            <a:avLst/>
          </a:prstGeom>
          <a:noFill/>
          <a:ln/>
        </p:spPr>
        <p:txBody>
          <a:bodyPr wrap="square" lIns="0" tIns="0" rIns="0" bIns="0" rtlCol="0" anchor="ctr"/>
          <a:lstStyle/>
          <a:p>
            <a:pPr indent="0" marL="0">
              <a:lnSpc>
                <a:spcPct val="115000"/>
              </a:lnSpc>
              <a:buNone/>
            </a:pPr>
            <a:r>
              <a:rPr lang="en-US" altLang="en-US" sz="1000" b="1" dirty="0">
                <a:solidFill>
                  <a:srgbClr val="C98A12"/>
                </a:solidFill>
                <a:latin typeface="Arial" pitchFamily="34" charset="0"/>
                <a:ea typeface="Yu Gothic" pitchFamily="34" charset="-122"/>
                <a:cs typeface="Yu Gothic" pitchFamily="34" charset="-120"/>
              </a:rPr>
              <a:t>Your role</a:t>
            </a:r>
          </a:p>
        </p:txBody>
      </p:sp>
      <p:sp>
        <p:nvSpPr>
          <p:cNvPr id="67" name="Ask Body 1"/>
          <p:cNvSpPr txBox="1"/>
          <p:nvPr/>
        </p:nvSpPr>
        <p:spPr>
          <a:xfrm>
            <a:off x="4514088" y="3346704"/>
            <a:ext cx="3160776" cy="1188720"/>
          </a:xfrm>
          <a:prstGeom prst="rect">
            <a:avLst/>
          </a:prstGeom>
          <a:noFill/>
          <a:ln/>
        </p:spPr>
        <p:txBody>
          <a:bodyPr wrap="square" lIns="0" tIns="0" rIns="0" bIns="0" rtlCol="0" anchor="t"/>
          <a:lstStyle/>
          <a:p>
            <a:pPr indent="0" marL="0">
              <a:lnSpc>
                <a:spcPct val="115000"/>
              </a:lnSpc>
              <a:buNone/>
            </a:pPr>
            <a:r>
              <a:rPr lang="en-US" altLang="en-US" sz="1250" b="1" dirty="0">
                <a:solidFill>
                  <a:srgbClr val="1B2A38"/>
                </a:solidFill>
                <a:latin typeface="Arial" pitchFamily="34" charset="0"/>
                <a:ea typeface="Yu Gothic" pitchFamily="34" charset="-122"/>
                <a:cs typeface="Yu Gothic" pitchFamily="34" charset="-120"/>
              </a:rPr>
              <a:t>Decide each issue by the commonality yardstick</a:t>
            </a:r>
          </a:p>
          <a:p>
            <a:pPr indent="0" marL="0">
              <a:lnSpc>
                <a:spcPct val="115000"/>
              </a:lnSpc>
              <a:spcBef>
                <a:spcPts val="500"/>
              </a:spcBef>
              <a:buNone/>
            </a:pPr>
            <a:r>
              <a:rPr lang="en-US" altLang="en-US" sz="1100" b="0" dirty="0">
                <a:solidFill>
                  <a:srgbClr val="3E4A56"/>
                </a:solidFill>
                <a:latin typeface="Arial" pitchFamily="34" charset="0"/>
                <a:ea typeface="Yu Gothic" pitchFamily="34" charset="-122"/>
                <a:cs typeface="Yu Gothic" pitchFamily="34" charset="-120"/>
              </a:rPr>
              <a:t>Don't rubber-stamp company-wide projects. Show the decision and rationale for each issue</a:t>
            </a:r>
          </a:p>
        </p:txBody>
      </p:sp>
      <p:sp>
        <p:nvSpPr>
          <p:cNvPr id="68" name="Step Card 2"/>
          <p:cNvSpPr/>
          <p:nvPr/>
        </p:nvSpPr>
        <p:spPr>
          <a:xfrm>
            <a:off x="8186928" y="1691640"/>
            <a:ext cx="3453384" cy="960120"/>
          </a:xfrm>
          <a:prstGeom prst="roundRect">
            <a:avLst>
              <a:gd name="adj" fmla="val 8000"/>
            </a:avLst>
          </a:prstGeom>
          <a:solidFill>
            <a:srgbClr val="E5F2EE"/>
          </a:solidFill>
          <a:ln/>
        </p:spPr>
      </p:sp>
      <p:sp>
        <p:nvSpPr>
          <p:cNvPr id="69" name="Step Text 2"/>
          <p:cNvSpPr txBox="1"/>
          <p:nvPr/>
        </p:nvSpPr>
        <p:spPr>
          <a:xfrm>
            <a:off x="8186928" y="1691640"/>
            <a:ext cx="3453384" cy="960120"/>
          </a:xfrm>
          <a:prstGeom prst="rect">
            <a:avLst/>
          </a:prstGeom>
          <a:noFill/>
          <a:ln/>
        </p:spPr>
        <p:txBody>
          <a:bodyPr wrap="square" lIns="146304" tIns="0" rIns="146304" bIns="0" rtlCol="0" anchor="ctr"/>
          <a:lstStyle/>
          <a:p>
            <a:pPr indent="0" marL="0">
              <a:lnSpc>
                <a:spcPct val="115000"/>
              </a:lnSpc>
              <a:buNone/>
            </a:pPr>
            <a:r>
              <a:rPr lang="en-US" altLang="en-US" sz="1050" b="1" dirty="0">
                <a:solidFill>
                  <a:srgbClr val="1F7A68"/>
                </a:solidFill>
                <a:latin typeface="Arial" pitchFamily="34" charset="0"/>
                <a:ea typeface="Yu Gothic" pitchFamily="34" charset="-122"/>
                <a:cs typeface="Yu Gothic" pitchFamily="34" charset="-120"/>
              </a:rPr>
              <a:t>Return &amp; record</a:t>
            </a:r>
          </a:p>
          <a:p>
            <a:pPr indent="0" marL="0">
              <a:lnSpc>
                <a:spcPct val="115000"/>
              </a:lnSpc>
              <a:spcBef>
                <a:spcPts val="200"/>
              </a:spcBef>
              <a:buNone/>
            </a:pPr>
            <a:r>
              <a:rPr lang="en-US" altLang="en-US" sz="1700" b="1" dirty="0">
                <a:solidFill>
                  <a:srgbClr val="1B2A38"/>
                </a:solidFill>
                <a:latin typeface="Arial" pitchFamily="34" charset="0"/>
                <a:ea typeface="Yu Gothic" pitchFamily="34" charset="-122"/>
                <a:cs typeface="Yu Gothic" pitchFamily="34" charset="-120"/>
              </a:rPr>
              <a:t>Feedback</a:t>
            </a:r>
          </a:p>
          <a:p>
            <a:pPr indent="0" marL="0">
              <a:lnSpc>
                <a:spcPct val="115000"/>
              </a:lnSpc>
              <a:spcBef>
                <a:spcPts val="200"/>
              </a:spcBef>
              <a:buNone/>
            </a:pPr>
            <a:r>
              <a:rPr lang="en-US" altLang="en-US" sz="1000" b="0" dirty="0">
                <a:solidFill>
                  <a:srgbClr val="66717C"/>
                </a:solidFill>
                <a:latin typeface="Arial" pitchFamily="34" charset="0"/>
                <a:ea typeface="Yu Gothic" pitchFamily="34" charset="-122"/>
                <a:cs typeface="Yu Gothic" pitchFamily="34" charset="-120"/>
              </a:rPr>
              <a:t>Proposer, PPM, registry</a:t>
            </a:r>
          </a:p>
        </p:txBody>
      </p:sp>
      <p:sp>
        <p:nvSpPr>
          <p:cNvPr id="70" name="Ask Card 2"/>
          <p:cNvSpPr/>
          <p:nvPr/>
        </p:nvSpPr>
        <p:spPr>
          <a:xfrm>
            <a:off x="8186928" y="2788920"/>
            <a:ext cx="3453384" cy="1783080"/>
          </a:xfrm>
          <a:prstGeom prst="roundRect">
            <a:avLst>
              <a:gd name="adj" fmla="val 6000"/>
            </a:avLst>
          </a:prstGeom>
          <a:solidFill>
            <a:srgbClr val="FFFFFF"/>
          </a:solidFill>
          <a:ln w="12700">
            <a:solidFill>
              <a:srgbClr val="C98A12"/>
            </a:solidFill>
          </a:ln>
        </p:spPr>
      </p:sp>
      <p:sp>
        <p:nvSpPr>
          <p:cNvPr id="71" name="Ask Badge 2"/>
          <p:cNvSpPr/>
          <p:nvPr/>
        </p:nvSpPr>
        <p:spPr>
          <a:xfrm>
            <a:off x="8333232" y="2935224"/>
            <a:ext cx="1170432" cy="274320"/>
          </a:xfrm>
          <a:prstGeom prst="roundRect">
            <a:avLst>
              <a:gd name="adj" fmla="val 50000"/>
            </a:avLst>
          </a:prstGeom>
          <a:solidFill>
            <a:srgbClr val="C98A12"/>
          </a:solidFill>
          <a:ln/>
        </p:spPr>
      </p:sp>
      <p:sp>
        <p:nvSpPr>
          <p:cNvPr id="72" name="Ask Badge Text 2"/>
          <p:cNvSpPr txBox="1"/>
          <p:nvPr/>
        </p:nvSpPr>
        <p:spPr>
          <a:xfrm>
            <a:off x="8333232" y="2935224"/>
            <a:ext cx="1170432" cy="274320"/>
          </a:xfrm>
          <a:prstGeom prst="rect">
            <a:avLst/>
          </a:prstGeom>
          <a:noFill/>
          <a:ln/>
        </p:spPr>
        <p:txBody>
          <a:bodyPr wrap="square" lIns="0" tIns="0" rIns="0" bIns="0" rtlCol="0" anchor="ctr"/>
          <a:lstStyle/>
          <a:p>
            <a:pPr algn="ctr" indent="0" marL="0">
              <a:lnSpc>
                <a:spcPct val="115000"/>
              </a:lnSpc>
              <a:buNone/>
            </a:pPr>
            <a:r>
              <a:rPr lang="en-US" altLang="en-US" sz="1000" b="1" dirty="0">
                <a:solidFill>
                  <a:srgbClr val="FFFFFF"/>
                </a:solidFill>
                <a:latin typeface="Arial" pitchFamily="34" charset="0"/>
                <a:ea typeface="Yu Gothic" pitchFamily="34" charset="-122"/>
                <a:cs typeface="Yu Gothic" pitchFamily="34" charset="-120"/>
              </a:rPr>
              <a:t>NEED ACTION</a:t>
            </a:r>
          </a:p>
        </p:txBody>
      </p:sp>
      <p:sp>
        <p:nvSpPr>
          <p:cNvPr id="73" name="Ask Label 2"/>
          <p:cNvSpPr txBox="1"/>
          <p:nvPr/>
        </p:nvSpPr>
        <p:spPr>
          <a:xfrm>
            <a:off x="9613392" y="2935224"/>
            <a:ext cx="1463040" cy="274320"/>
          </a:xfrm>
          <a:prstGeom prst="rect">
            <a:avLst/>
          </a:prstGeom>
          <a:noFill/>
          <a:ln/>
        </p:spPr>
        <p:txBody>
          <a:bodyPr wrap="square" lIns="0" tIns="0" rIns="0" bIns="0" rtlCol="0" anchor="ctr"/>
          <a:lstStyle/>
          <a:p>
            <a:pPr indent="0" marL="0">
              <a:lnSpc>
                <a:spcPct val="115000"/>
              </a:lnSpc>
              <a:buNone/>
            </a:pPr>
            <a:r>
              <a:rPr lang="en-US" altLang="en-US" sz="1000" b="1" dirty="0">
                <a:solidFill>
                  <a:srgbClr val="C98A12"/>
                </a:solidFill>
                <a:latin typeface="Arial" pitchFamily="34" charset="0"/>
                <a:ea typeface="Yu Gothic" pitchFamily="34" charset="-122"/>
                <a:cs typeface="Yu Gothic" pitchFamily="34" charset="-120"/>
              </a:rPr>
              <a:t>Your role</a:t>
            </a:r>
          </a:p>
        </p:txBody>
      </p:sp>
      <p:sp>
        <p:nvSpPr>
          <p:cNvPr id="74" name="Ask Body 2"/>
          <p:cNvSpPr txBox="1"/>
          <p:nvPr/>
        </p:nvSpPr>
        <p:spPr>
          <a:xfrm>
            <a:off x="8333232" y="3346704"/>
            <a:ext cx="3160776" cy="1188720"/>
          </a:xfrm>
          <a:prstGeom prst="rect">
            <a:avLst/>
          </a:prstGeom>
          <a:noFill/>
          <a:ln/>
        </p:spPr>
        <p:txBody>
          <a:bodyPr wrap="square" lIns="0" tIns="0" rIns="0" bIns="0" rtlCol="0" anchor="t"/>
          <a:lstStyle/>
          <a:p>
            <a:pPr indent="0" marL="0">
              <a:lnSpc>
                <a:spcPct val="115000"/>
              </a:lnSpc>
              <a:buNone/>
            </a:pPr>
            <a:r>
              <a:rPr lang="en-US" altLang="en-US" sz="1250" b="1" dirty="0">
                <a:solidFill>
                  <a:srgbClr val="1B2A38"/>
                </a:solidFill>
                <a:latin typeface="Arial" pitchFamily="34" charset="0"/>
                <a:ea typeface="Yu Gothic" pitchFamily="34" charset="-122"/>
                <a:cs typeface="Yu Gothic" pitchFamily="34" charset="-120"/>
              </a:rPr>
              <a:t>Return the rationale, issue by issue</a:t>
            </a:r>
          </a:p>
          <a:p>
            <a:pPr indent="0" marL="0">
              <a:lnSpc>
                <a:spcPct val="115000"/>
              </a:lnSpc>
              <a:spcBef>
                <a:spcPts val="500"/>
              </a:spcBef>
              <a:buNone/>
            </a:pPr>
            <a:r>
              <a:rPr lang="en-US" altLang="en-US" sz="1100" b="0" dirty="0">
                <a:solidFill>
                  <a:srgbClr val="3E4A56"/>
                </a:solidFill>
                <a:latin typeface="Arial" pitchFamily="34" charset="0"/>
                <a:ea typeface="Yu Gothic" pitchFamily="34" charset="-122"/>
                <a:cs typeface="Yu Gothic" pitchFamily="34" charset="-120"/>
              </a:rPr>
              <a:t>Record the reasons in the registry as input for the next commonality check</a:t>
            </a:r>
          </a:p>
        </p:txBody>
      </p:sp>
      <p:sp>
        <p:nvSpPr>
          <p:cNvPr id="75" name="Nest Band"/>
          <p:cNvSpPr/>
          <p:nvPr/>
        </p:nvSpPr>
        <p:spPr>
          <a:xfrm>
            <a:off x="548640" y="4773168"/>
            <a:ext cx="11091672" cy="1444752"/>
          </a:xfrm>
          <a:prstGeom prst="roundRect">
            <a:avLst>
              <a:gd name="adj" fmla="val 6000"/>
            </a:avLst>
          </a:prstGeom>
          <a:solidFill>
            <a:srgbClr val="E5F2EE"/>
          </a:solidFill>
          <a:ln/>
        </p:spPr>
      </p:sp>
      <p:sp>
        <p:nvSpPr>
          <p:cNvPr id="76" name="Nest Label"/>
          <p:cNvSpPr txBox="1"/>
          <p:nvPr/>
        </p:nvSpPr>
        <p:spPr>
          <a:xfrm>
            <a:off x="777240" y="4773168"/>
            <a:ext cx="1828800" cy="1444752"/>
          </a:xfrm>
          <a:prstGeom prst="rect">
            <a:avLst/>
          </a:prstGeom>
          <a:noFill/>
          <a:ln/>
        </p:spPr>
        <p:txBody>
          <a:bodyPr wrap="square" lIns="0" tIns="0" rIns="0" bIns="0" rtlCol="0" anchor="ctr"/>
          <a:lstStyle/>
          <a:p>
            <a:pPr indent="0" marL="0">
              <a:lnSpc>
                <a:spcPct val="115000"/>
              </a:lnSpc>
              <a:buNone/>
            </a:pPr>
            <a:r>
              <a:rPr lang="en-US" altLang="en-US" sz="1500" b="1" dirty="0">
                <a:solidFill>
                  <a:srgbClr val="1F7A68"/>
                </a:solidFill>
                <a:latin typeface="Arial" pitchFamily="34" charset="0"/>
                <a:ea typeface="Yu Gothic" pitchFamily="34" charset="-122"/>
                <a:cs typeface="Yu Gothic" pitchFamily="34" charset="-120"/>
              </a:rPr>
              <a:t>As nesting</a:t>
            </a:r>
          </a:p>
        </p:txBody>
      </p:sp>
      <p:sp>
        <p:nvSpPr>
          <p:cNvPr id="77" name="Nest Divider"/>
          <p:cNvSpPr/>
          <p:nvPr/>
        </p:nvSpPr>
        <p:spPr>
          <a:xfrm>
            <a:off x="2697480" y="4956048"/>
            <a:ext cx="9144" cy="1078992"/>
          </a:xfrm>
          <a:prstGeom prst="rect">
            <a:avLst/>
          </a:prstGeom>
          <a:solidFill>
            <a:srgbClr val="C9CFD5"/>
          </a:solidFill>
          <a:ln/>
        </p:spPr>
      </p:sp>
      <p:sp>
        <p:nvSpPr>
          <p:cNvPr id="78" name="Nest Text"/>
          <p:cNvSpPr txBox="1"/>
          <p:nvPr/>
        </p:nvSpPr>
        <p:spPr>
          <a:xfrm>
            <a:off x="2926080" y="4773168"/>
            <a:ext cx="8485632" cy="1444752"/>
          </a:xfrm>
          <a:prstGeom prst="rect">
            <a:avLst/>
          </a:prstGeom>
          <a:noFill/>
          <a:ln/>
        </p:spPr>
        <p:txBody>
          <a:bodyPr wrap="square" lIns="0" tIns="0" rIns="0" bIns="0" rtlCol="0" anchor="ctr"/>
          <a:lstStyle/>
          <a:p>
            <a:pPr indent="0" marL="0">
              <a:lnSpc>
                <a:spcPct val="115000"/>
              </a:lnSpc>
              <a:buNone/>
            </a:pPr>
            <a:r>
              <a:rPr lang="en-US" altLang="en-US" sz="1400" b="1" dirty="0">
                <a:solidFill>
                  <a:srgbClr val="1B2A38"/>
                </a:solidFill>
                <a:latin typeface="Arial" pitchFamily="34" charset="0"/>
                <a:ea typeface="Yu Gothic" pitchFamily="34" charset="-122"/>
                <a:cs typeface="Yu Gothic" pitchFamily="34" charset="-120"/>
              </a:rPr>
              <a:t>Leave departmental matters to departments; decide company-wide only the issues with commonality</a:t>
            </a:r>
          </a:p>
          <a:p>
            <a:pPr indent="0" marL="0">
              <a:lnSpc>
                <a:spcPct val="115000"/>
              </a:lnSpc>
              <a:spcBef>
                <a:spcPts val="400"/>
              </a:spcBef>
              <a:buNone/>
            </a:pPr>
            <a:r>
              <a:rPr lang="en-US" altLang="en-US" sz="1100" b="0" dirty="0">
                <a:solidFill>
                  <a:srgbClr val="3E4A56"/>
                </a:solidFill>
                <a:latin typeface="Arial" pitchFamily="34" charset="0"/>
                <a:ea typeface="Yu Gothic" pitchFamily="34" charset="-122"/>
                <a:cs typeface="Yu Gothic" pitchFamily="34" charset="-120"/>
              </a:rPr>
              <a:t>Commonality is found in issue framing, decided in deliberation, and recorded in the registry — checked in these three places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grpSpPr>
        <a:xfrm>
          <a:off x="0" y="0"/>
          <a:ext cx="0" cy="0"/>
          <a:chOff x="0" y="0"/>
          <a:chExt cx="0" cy="0"/>
        </a:xfrm>
      </p:grpSpPr>
      <p:sp>
        <p:nvSpPr>
          <p:cNvPr id="2" name="Shape 0"/>
          <p:cNvSpPr/>
          <p:nvPr/>
        </p:nvSpPr>
        <p:spPr>
          <a:xfrm>
            <a:off x="548640" y="347472"/>
            <a:ext cx="1371600" cy="274320"/>
          </a:xfrm>
          <a:prstGeom prst="roundRect">
            <a:avLst>
              <a:gd name="adj" fmla="val 50000"/>
            </a:avLst>
          </a:prstGeom>
          <a:solidFill>
            <a:srgbClr val="C98A12"/>
          </a:solidFill>
          <a:ln/>
        </p:spPr>
      </p:sp>
      <p:sp>
        <p:nvSpPr>
          <p:cNvPr id="3" name="Text 1"/>
          <p:cNvSpPr txBox="1"/>
          <p:nvPr/>
        </p:nvSpPr>
        <p:spPr>
          <a:xfrm>
            <a:off x="548640" y="347472"/>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Yu Gothic" pitchFamily="34" charset="-122"/>
                <a:cs typeface="Yu Gothic" pitchFamily="34" charset="-120"/>
              </a:rPr>
              <a:t>NEED ACTION</a:t>
            </a:r>
            <a:endParaRPr lang="en-US" sz="1000" dirty="0"/>
          </a:p>
        </p:txBody>
      </p:sp>
      <p:sp>
        <p:nvSpPr>
          <p:cNvPr id="4" name="Text 2"/>
          <p:cNvSpPr txBox="1"/>
          <p:nvPr/>
        </p:nvSpPr>
        <p:spPr>
          <a:xfrm>
            <a:off x="548640" y="685800"/>
            <a:ext cx="11064240" cy="548640"/>
          </a:xfrm>
          <a:prstGeom prst="rect">
            <a:avLst/>
          </a:prstGeom>
          <a:noFill/>
          <a:ln/>
        </p:spPr>
        <p:txBody>
          <a:bodyPr wrap="square" lIns="0" tIns="0" rIns="0" bIns="0" rtlCol="0" anchor="ctr"/>
          <a:lstStyle/>
          <a:p>
            <a:pPr indent="0" marL="0">
              <a:buNone/>
            </a:pPr>
            <a:r>
              <a:rPr lang="en-US" sz="2400" b="1" dirty="0">
                <a:solidFill>
                  <a:srgbClr val="1B2A38"/>
                </a:solidFill>
                <a:latin typeface="Arial" pitchFamily="34" charset="0"/>
                <a:ea typeface="Yu Gothic" pitchFamily="34" charset="-122"/>
                <a:cs typeface="Yu Gothic" pitchFamily="34" charset="-120"/>
              </a:rPr>
              <a:t>How to frame issues ── consult capability owners and classify</a:t>
            </a:r>
            <a:endParaRPr lang="en-US" sz="2400" dirty="0"/>
          </a:p>
        </p:txBody>
      </p:sp>
      <p:sp>
        <p:nvSpPr>
          <p:cNvPr id="6" name="Text 4"/>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900" dirty="0">
                <a:solidFill>
                  <a:srgbClr val="66717C"/>
                </a:solidFill>
                <a:latin typeface="Arial" pitchFamily="34" charset="0"/>
                <a:ea typeface="Yu Gothic" pitchFamily="34" charset="-122"/>
                <a:cs typeface="Yu Gothic" pitchFamily="34" charset="-120"/>
              </a:rPr>
              <a:t>IT Materiality ｜ IT Department internal alignment</a:t>
            </a:r>
            <a:endParaRPr lang="en-US" sz="900" dirty="0"/>
          </a:p>
        </p:txBody>
      </p:sp>
      <p:sp>
        <p:nvSpPr>
          <p:cNvPr id="7" name="Text 5"/>
          <p:cNvSpPr txBox="1"/>
          <p:nvPr/>
        </p:nvSpPr>
        <p:spPr>
          <a:xfrm>
            <a:off x="11155680" y="6446520"/>
            <a:ext cx="457200" cy="274320"/>
          </a:xfrm>
          <a:prstGeom prst="rect">
            <a:avLst/>
          </a:prstGeom>
          <a:noFill/>
          <a:ln/>
        </p:spPr>
        <p:txBody>
          <a:bodyPr wrap="square" lIns="0" tIns="0" rIns="0" bIns="0" rtlCol="0" anchor="t"/>
          <a:lstStyle/>
          <a:p>
            <a:pPr algn="r" indent="0" marL="0">
              <a:buNone/>
            </a:pPr>
            <a:r>
              <a:rPr lang="en-US" sz="900" dirty="0">
                <a:solidFill>
                  <a:srgbClr val="66717C"/>
                </a:solidFill>
                <a:latin typeface="Arial" pitchFamily="34" charset="0"/>
                <a:ea typeface="Yu Gothic" pitchFamily="34" charset="-122"/>
                <a:cs typeface="Yu Gothic" pitchFamily="34" charset="-120"/>
              </a:rPr>
              <a:t>7</a:t>
            </a:r>
            <a:endParaRPr lang="en-US" sz="900" dirty="0"/>
          </a:p>
        </p:txBody>
      </p:sp>
      <p:sp>
        <p:nvSpPr>
          <p:cNvPr id="79" name="Subtitle"/>
          <p:cNvSpPr txBox="1"/>
          <p:nvPr/>
        </p:nvSpPr>
        <p:spPr>
          <a:xfrm>
            <a:off x="548640" y="1188720"/>
            <a:ext cx="11064240" cy="310896"/>
          </a:xfrm>
          <a:prstGeom prst="rect">
            <a:avLst/>
          </a:prstGeom>
          <a:noFill/>
          <a:ln/>
        </p:spPr>
        <p:txBody>
          <a:bodyPr wrap="square" lIns="0" tIns="0" rIns="0" bIns="0" rtlCol="0" anchor="ctr"/>
          <a:lstStyle/>
          <a:p>
            <a:pPr indent="0" marL="0">
              <a:lnSpc>
                <a:spcPct val="115000"/>
              </a:lnSpc>
              <a:buNone/>
            </a:pPr>
            <a:r>
              <a:rPr lang="en-US" altLang="en-US" sz="1300" b="0" dirty="0">
                <a:solidFill>
                  <a:srgbClr val="3E4A56"/>
                </a:solidFill>
                <a:latin typeface="Arial" pitchFamily="34" charset="0"/>
                <a:ea typeface="Yu Gothic" pitchFamily="34" charset="-122"/>
                <a:cs typeface="Yu Gothic" pitchFamily="34" charset="-120"/>
              </a:rPr>
              <a:t>Facts can be confirmed with the proposer. Commonality issues are framed with </a:t>
            </a:r>
            <a:r>
              <a:rPr lang="en-US" altLang="en-US" sz="1300" b="1" dirty="0">
                <a:solidFill>
                  <a:srgbClr val="1B2A38"/>
                </a:solidFill>
                <a:latin typeface="Arial" pitchFamily="34" charset="0"/>
                <a:ea typeface="Yu Gothic" pitchFamily="34" charset="-122"/>
                <a:cs typeface="Yu Gothic" pitchFamily="34" charset="-120"/>
              </a:rPr>
              <a:t>the IT members who own the relevant capabilities</a:t>
            </a:r>
            <a:r>
              <a:rPr lang="en-US" altLang="en-US" sz="1300" b="0" dirty="0">
                <a:solidFill>
                  <a:srgbClr val="3E4A56"/>
                </a:solidFill>
                <a:latin typeface="Arial" pitchFamily="34" charset="0"/>
                <a:ea typeface="Yu Gothic" pitchFamily="34" charset="-122"/>
                <a:cs typeface="Yu Gothic" pitchFamily="34" charset="-120"/>
              </a:rPr>
              <a:t/>
            </a:r>
          </a:p>
        </p:txBody>
      </p:sp>
      <p:sp>
        <p:nvSpPr>
          <p:cNvPr id="80" name="Flow Card 0"/>
          <p:cNvSpPr/>
          <p:nvPr/>
        </p:nvSpPr>
        <p:spPr>
          <a:xfrm>
            <a:off x="548640" y="1691640"/>
            <a:ext cx="2028139" cy="1170432"/>
          </a:xfrm>
          <a:prstGeom prst="roundRect">
            <a:avLst>
              <a:gd name="adj" fmla="val 7000"/>
            </a:avLst>
          </a:prstGeom>
          <a:solidFill>
            <a:srgbClr val="F2F4F6"/>
          </a:solidFill>
          <a:ln/>
        </p:spPr>
      </p:sp>
      <p:sp>
        <p:nvSpPr>
          <p:cNvPr id="81" name="Flow Text 0"/>
          <p:cNvSpPr txBox="1"/>
          <p:nvPr/>
        </p:nvSpPr>
        <p:spPr>
          <a:xfrm>
            <a:off x="548640" y="1691640"/>
            <a:ext cx="2028139" cy="1170432"/>
          </a:xfrm>
          <a:prstGeom prst="rect">
            <a:avLst/>
          </a:prstGeom>
          <a:noFill/>
          <a:ln/>
        </p:spPr>
        <p:txBody>
          <a:bodyPr wrap="square" lIns="109728" tIns="128016" rIns="109728" bIns="0" rtlCol="0" anchor="t"/>
          <a:lstStyle/>
          <a:p>
            <a:pPr indent="0" marL="0">
              <a:lnSpc>
                <a:spcPct val="115000"/>
              </a:lnSpc>
              <a:buNone/>
            </a:pPr>
            <a:r>
              <a:rPr lang="en-US" altLang="en-US" sz="1150" b="1" dirty="0">
                <a:solidFill>
                  <a:srgbClr val="1B2A38"/>
                </a:solidFill>
                <a:latin typeface="Arial" pitchFamily="34" charset="0"/>
                <a:ea typeface="Yu Gothic" pitchFamily="34" charset="-122"/>
                <a:cs typeface="Yu Gothic" pitchFamily="34" charset="-120"/>
              </a:rPr>
              <a:t>1  Confirm facts</a:t>
            </a:r>
          </a:p>
          <a:p>
            <a:pPr indent="0" marL="0">
              <a:lnSpc>
                <a:spcPct val="115000"/>
              </a:lnSpc>
              <a:spcBef>
                <a:spcPts val="200"/>
              </a:spcBef>
              <a:buNone/>
            </a:pPr>
            <a:r>
              <a:rPr lang="en-US" altLang="en-US" sz="900" b="0" dirty="0">
                <a:solidFill>
                  <a:srgbClr val="66717C"/>
                </a:solidFill>
                <a:latin typeface="Arial" pitchFamily="34" charset="0"/>
                <a:ea typeface="Yu Gothic" pitchFamily="34" charset="-122"/>
                <a:cs typeface="Yu Gothic" pitchFamily="34" charset="-120"/>
              </a:rPr>
              <a:t>IT lead × proposer</a:t>
            </a:r>
          </a:p>
          <a:p>
            <a:pPr indent="0" marL="0">
              <a:lnSpc>
                <a:spcPct val="115000"/>
              </a:lnSpc>
              <a:spcBef>
                <a:spcPts val="300"/>
              </a:spcBef>
              <a:buNone/>
            </a:pPr>
            <a:r>
              <a:rPr lang="en-US" altLang="en-US" sz="950" b="0" dirty="0">
                <a:solidFill>
                  <a:srgbClr val="3E4A56"/>
                </a:solidFill>
                <a:latin typeface="Arial" pitchFamily="34" charset="0"/>
                <a:ea typeface="Yu Gothic" pitchFamily="34" charset="-122"/>
                <a:cs typeface="Yu Gothic" pitchFamily="34" charset="-120"/>
              </a:rPr>
              <a:t>Confirm the application facts directly with the proposer</a:t>
            </a:r>
          </a:p>
        </p:txBody>
      </p:sp>
      <p:sp>
        <p:nvSpPr>
          <p:cNvPr id="82" name="Flow Arrow 0"/>
          <p:cNvSpPr/>
          <p:nvPr/>
        </p:nvSpPr>
        <p:spPr>
          <a:xfrm>
            <a:off x="2613355" y="2185416"/>
            <a:ext cx="164592" cy="182880"/>
          </a:xfrm>
          <a:prstGeom prst="rightArrow">
            <a:avLst/>
          </a:prstGeom>
          <a:solidFill>
            <a:srgbClr val="66717C"/>
          </a:solidFill>
          <a:ln/>
        </p:spPr>
      </p:sp>
      <p:sp>
        <p:nvSpPr>
          <p:cNvPr id="83" name="Flow Card 1"/>
          <p:cNvSpPr/>
          <p:nvPr/>
        </p:nvSpPr>
        <p:spPr>
          <a:xfrm>
            <a:off x="2814523" y="1691640"/>
            <a:ext cx="2028139" cy="1170432"/>
          </a:xfrm>
          <a:prstGeom prst="roundRect">
            <a:avLst>
              <a:gd name="adj" fmla="val 7000"/>
            </a:avLst>
          </a:prstGeom>
          <a:solidFill>
            <a:srgbClr val="FFFFFF"/>
          </a:solidFill>
          <a:ln w="15875">
            <a:solidFill>
              <a:srgbClr val="C98A12"/>
            </a:solidFill>
          </a:ln>
        </p:spPr>
      </p:sp>
      <p:sp>
        <p:nvSpPr>
          <p:cNvPr id="84" name="Flow Text 1"/>
          <p:cNvSpPr txBox="1"/>
          <p:nvPr/>
        </p:nvSpPr>
        <p:spPr>
          <a:xfrm>
            <a:off x="2814523" y="1691640"/>
            <a:ext cx="2028139" cy="1170432"/>
          </a:xfrm>
          <a:prstGeom prst="rect">
            <a:avLst/>
          </a:prstGeom>
          <a:noFill/>
          <a:ln/>
        </p:spPr>
        <p:txBody>
          <a:bodyPr wrap="square" lIns="109728" tIns="128016" rIns="109728" bIns="0" rtlCol="0" anchor="t"/>
          <a:lstStyle/>
          <a:p>
            <a:pPr indent="0" marL="0">
              <a:lnSpc>
                <a:spcPct val="115000"/>
              </a:lnSpc>
              <a:buNone/>
            </a:pPr>
            <a:r>
              <a:rPr lang="en-US" altLang="en-US" sz="1150" b="1" dirty="0">
                <a:solidFill>
                  <a:srgbClr val="1B2A38"/>
                </a:solidFill>
                <a:latin typeface="Arial" pitchFamily="34" charset="0"/>
                <a:ea typeface="Yu Gothic" pitchFamily="34" charset="-122"/>
                <a:cs typeface="Yu Gothic" pitchFamily="34" charset="-120"/>
              </a:rPr>
              <a:t>2  Identify capabilities</a:t>
            </a:r>
          </a:p>
          <a:p>
            <a:pPr indent="0" marL="0">
              <a:lnSpc>
                <a:spcPct val="115000"/>
              </a:lnSpc>
              <a:spcBef>
                <a:spcPts val="200"/>
              </a:spcBef>
              <a:buNone/>
            </a:pPr>
            <a:r>
              <a:rPr lang="en-US" altLang="en-US" sz="900" b="0" dirty="0">
                <a:solidFill>
                  <a:srgbClr val="C98A12"/>
                </a:solidFill>
                <a:latin typeface="Arial" pitchFamily="34" charset="0"/>
                <a:ea typeface="Yu Gothic" pitchFamily="34" charset="-122"/>
                <a:cs typeface="Yu Gothic" pitchFamily="34" charset="-120"/>
              </a:rPr>
              <a:t>IT lead</a:t>
            </a:r>
          </a:p>
          <a:p>
            <a:pPr indent="0" marL="0">
              <a:lnSpc>
                <a:spcPct val="115000"/>
              </a:lnSpc>
              <a:spcBef>
                <a:spcPts val="300"/>
              </a:spcBef>
              <a:buNone/>
            </a:pPr>
            <a:r>
              <a:rPr lang="en-US" altLang="en-US" sz="950" b="0" dirty="0">
                <a:solidFill>
                  <a:srgbClr val="3E4A56"/>
                </a:solidFill>
                <a:latin typeface="Arial" pitchFamily="34" charset="0"/>
                <a:ea typeface="Yu Gothic" pitchFamily="34" charset="-122"/>
                <a:cs typeface="Yu Gothic" pitchFamily="34" charset="-120"/>
              </a:rPr>
              <a:t>Map the capabilities the project touches and identify their owners</a:t>
            </a:r>
          </a:p>
        </p:txBody>
      </p:sp>
      <p:sp>
        <p:nvSpPr>
          <p:cNvPr id="85" name="Flow Arrow 1"/>
          <p:cNvSpPr/>
          <p:nvPr/>
        </p:nvSpPr>
        <p:spPr>
          <a:xfrm>
            <a:off x="4879238" y="2185416"/>
            <a:ext cx="164592" cy="182880"/>
          </a:xfrm>
          <a:prstGeom prst="rightArrow">
            <a:avLst/>
          </a:prstGeom>
          <a:solidFill>
            <a:srgbClr val="66717C"/>
          </a:solidFill>
          <a:ln/>
        </p:spPr>
      </p:sp>
      <p:sp>
        <p:nvSpPr>
          <p:cNvPr id="86" name="Flow Card 2"/>
          <p:cNvSpPr/>
          <p:nvPr/>
        </p:nvSpPr>
        <p:spPr>
          <a:xfrm>
            <a:off x="5080406" y="1691640"/>
            <a:ext cx="2028139" cy="1170432"/>
          </a:xfrm>
          <a:prstGeom prst="roundRect">
            <a:avLst>
              <a:gd name="adj" fmla="val 7000"/>
            </a:avLst>
          </a:prstGeom>
          <a:solidFill>
            <a:srgbClr val="FFFFFF"/>
          </a:solidFill>
          <a:ln w="15875">
            <a:solidFill>
              <a:srgbClr val="C98A12"/>
            </a:solidFill>
          </a:ln>
        </p:spPr>
      </p:sp>
      <p:sp>
        <p:nvSpPr>
          <p:cNvPr id="87" name="Flow Text 2"/>
          <p:cNvSpPr txBox="1"/>
          <p:nvPr/>
        </p:nvSpPr>
        <p:spPr>
          <a:xfrm>
            <a:off x="5080406" y="1691640"/>
            <a:ext cx="2028139" cy="1170432"/>
          </a:xfrm>
          <a:prstGeom prst="rect">
            <a:avLst/>
          </a:prstGeom>
          <a:noFill/>
          <a:ln/>
        </p:spPr>
        <p:txBody>
          <a:bodyPr wrap="square" lIns="109728" tIns="128016" rIns="109728" bIns="0" rtlCol="0" anchor="t"/>
          <a:lstStyle/>
          <a:p>
            <a:pPr indent="0" marL="0">
              <a:lnSpc>
                <a:spcPct val="115000"/>
              </a:lnSpc>
              <a:buNone/>
            </a:pPr>
            <a:r>
              <a:rPr lang="en-US" altLang="en-US" sz="1150" b="1" dirty="0">
                <a:solidFill>
                  <a:srgbClr val="1B2A38"/>
                </a:solidFill>
                <a:latin typeface="Arial" pitchFamily="34" charset="0"/>
                <a:ea typeface="Yu Gothic" pitchFamily="34" charset="-122"/>
                <a:cs typeface="Yu Gothic" pitchFamily="34" charset="-120"/>
              </a:rPr>
              <a:t>3  Consult owners</a:t>
            </a:r>
          </a:p>
          <a:p>
            <a:pPr indent="0" marL="0">
              <a:lnSpc>
                <a:spcPct val="115000"/>
              </a:lnSpc>
              <a:spcBef>
                <a:spcPts val="200"/>
              </a:spcBef>
              <a:buNone/>
            </a:pPr>
            <a:r>
              <a:rPr lang="en-US" altLang="en-US" sz="900" b="0" dirty="0">
                <a:solidFill>
                  <a:srgbClr val="C98A12"/>
                </a:solidFill>
                <a:latin typeface="Arial" pitchFamily="34" charset="0"/>
                <a:ea typeface="Yu Gothic" pitchFamily="34" charset="-122"/>
                <a:cs typeface="Yu Gothic" pitchFamily="34" charset="-120"/>
              </a:rPr>
              <a:t>IT lead × capability owners</a:t>
            </a:r>
          </a:p>
          <a:p>
            <a:pPr indent="0" marL="0">
              <a:lnSpc>
                <a:spcPct val="115000"/>
              </a:lnSpc>
              <a:spcBef>
                <a:spcPts val="300"/>
              </a:spcBef>
              <a:buNone/>
            </a:pPr>
            <a:r>
              <a:rPr lang="en-US" altLang="en-US" sz="950" b="0" dirty="0">
                <a:solidFill>
                  <a:srgbClr val="3E4A56"/>
                </a:solidFill>
                <a:latin typeface="Arial" pitchFamily="34" charset="0"/>
                <a:ea typeface="Yu Gothic" pitchFamily="34" charset="-122"/>
                <a:cs typeface="Yu Gothic" pitchFamily="34" charset="-120"/>
              </a:rPr>
              <a:t>Have owners assess each capability for Foundation and Debt</a:t>
            </a:r>
          </a:p>
        </p:txBody>
      </p:sp>
      <p:sp>
        <p:nvSpPr>
          <p:cNvPr id="88" name="Flow Arrow 2"/>
          <p:cNvSpPr/>
          <p:nvPr/>
        </p:nvSpPr>
        <p:spPr>
          <a:xfrm>
            <a:off x="7145121" y="2185416"/>
            <a:ext cx="164592" cy="182880"/>
          </a:xfrm>
          <a:prstGeom prst="rightArrow">
            <a:avLst/>
          </a:prstGeom>
          <a:solidFill>
            <a:srgbClr val="66717C"/>
          </a:solidFill>
          <a:ln/>
        </p:spPr>
      </p:sp>
      <p:sp>
        <p:nvSpPr>
          <p:cNvPr id="89" name="Flow Card 3"/>
          <p:cNvSpPr/>
          <p:nvPr/>
        </p:nvSpPr>
        <p:spPr>
          <a:xfrm>
            <a:off x="7346289" y="1691640"/>
            <a:ext cx="2028139" cy="1170432"/>
          </a:xfrm>
          <a:prstGeom prst="roundRect">
            <a:avLst>
              <a:gd name="adj" fmla="val 7000"/>
            </a:avLst>
          </a:prstGeom>
          <a:solidFill>
            <a:srgbClr val="F2F4F6"/>
          </a:solidFill>
          <a:ln/>
        </p:spPr>
      </p:sp>
      <p:sp>
        <p:nvSpPr>
          <p:cNvPr id="90" name="Flow Text 3"/>
          <p:cNvSpPr txBox="1"/>
          <p:nvPr/>
        </p:nvSpPr>
        <p:spPr>
          <a:xfrm>
            <a:off x="7346289" y="1691640"/>
            <a:ext cx="2028139" cy="1170432"/>
          </a:xfrm>
          <a:prstGeom prst="rect">
            <a:avLst/>
          </a:prstGeom>
          <a:noFill/>
          <a:ln/>
        </p:spPr>
        <p:txBody>
          <a:bodyPr wrap="square" lIns="109728" tIns="128016" rIns="109728" bIns="0" rtlCol="0" anchor="t"/>
          <a:lstStyle/>
          <a:p>
            <a:pPr indent="0" marL="0">
              <a:lnSpc>
                <a:spcPct val="115000"/>
              </a:lnSpc>
              <a:buNone/>
            </a:pPr>
            <a:r>
              <a:rPr lang="en-US" altLang="en-US" sz="1150" b="1" dirty="0">
                <a:solidFill>
                  <a:srgbClr val="1B2A38"/>
                </a:solidFill>
                <a:latin typeface="Arial" pitchFamily="34" charset="0"/>
                <a:ea typeface="Yu Gothic" pitchFamily="34" charset="-122"/>
                <a:cs typeface="Yu Gothic" pitchFamily="34" charset="-120"/>
              </a:rPr>
              <a:t>4  Fill gaps</a:t>
            </a:r>
          </a:p>
          <a:p>
            <a:pPr indent="0" marL="0">
              <a:lnSpc>
                <a:spcPct val="115000"/>
              </a:lnSpc>
              <a:spcBef>
                <a:spcPts val="200"/>
              </a:spcBef>
              <a:buNone/>
            </a:pPr>
            <a:r>
              <a:rPr lang="en-US" altLang="en-US" sz="900" b="0" dirty="0">
                <a:solidFill>
                  <a:srgbClr val="66717C"/>
                </a:solidFill>
                <a:latin typeface="Arial" pitchFamily="34" charset="0"/>
                <a:ea typeface="Yu Gothic" pitchFamily="34" charset="-122"/>
                <a:cs typeface="Yu Gothic" pitchFamily="34" charset="-120"/>
              </a:rPr>
              <a:t>IT lead</a:t>
            </a:r>
          </a:p>
          <a:p>
            <a:pPr indent="0" marL="0">
              <a:lnSpc>
                <a:spcPct val="115000"/>
              </a:lnSpc>
              <a:spcBef>
                <a:spcPts val="300"/>
              </a:spcBef>
              <a:buNone/>
            </a:pPr>
            <a:r>
              <a:rPr lang="en-US" altLang="en-US" sz="950" b="0" dirty="0">
                <a:solidFill>
                  <a:srgbClr val="3E4A56"/>
                </a:solidFill>
                <a:latin typeface="Arial" pitchFamily="34" charset="0"/>
                <a:ea typeface="Yu Gothic" pitchFamily="34" charset="-122"/>
                <a:cs typeface="Yu Gothic" pitchFamily="34" charset="-120"/>
              </a:rPr>
              <a:t>Gather missing information from the proposer, owners, and registry</a:t>
            </a:r>
          </a:p>
        </p:txBody>
      </p:sp>
      <p:sp>
        <p:nvSpPr>
          <p:cNvPr id="91" name="Flow Arrow 3"/>
          <p:cNvSpPr/>
          <p:nvPr/>
        </p:nvSpPr>
        <p:spPr>
          <a:xfrm>
            <a:off x="9411004" y="2185416"/>
            <a:ext cx="164592" cy="182880"/>
          </a:xfrm>
          <a:prstGeom prst="rightArrow">
            <a:avLst/>
          </a:prstGeom>
          <a:solidFill>
            <a:srgbClr val="66717C"/>
          </a:solidFill>
          <a:ln/>
        </p:spPr>
      </p:sp>
      <p:sp>
        <p:nvSpPr>
          <p:cNvPr id="92" name="Flow Card 4"/>
          <p:cNvSpPr/>
          <p:nvPr/>
        </p:nvSpPr>
        <p:spPr>
          <a:xfrm>
            <a:off x="9612172" y="1691640"/>
            <a:ext cx="2028139" cy="1170432"/>
          </a:xfrm>
          <a:prstGeom prst="roundRect">
            <a:avLst>
              <a:gd name="adj" fmla="val 7000"/>
            </a:avLst>
          </a:prstGeom>
          <a:solidFill>
            <a:srgbClr val="FFFFFF"/>
          </a:solidFill>
          <a:ln w="15875">
            <a:solidFill>
              <a:srgbClr val="C98A12"/>
            </a:solidFill>
          </a:ln>
        </p:spPr>
      </p:sp>
      <p:sp>
        <p:nvSpPr>
          <p:cNvPr id="93" name="Flow Text 4"/>
          <p:cNvSpPr txBox="1"/>
          <p:nvPr/>
        </p:nvSpPr>
        <p:spPr>
          <a:xfrm>
            <a:off x="9612172" y="1691640"/>
            <a:ext cx="2028139" cy="1170432"/>
          </a:xfrm>
          <a:prstGeom prst="rect">
            <a:avLst/>
          </a:prstGeom>
          <a:noFill/>
          <a:ln/>
        </p:spPr>
        <p:txBody>
          <a:bodyPr wrap="square" lIns="109728" tIns="128016" rIns="109728" bIns="0" rtlCol="0" anchor="t"/>
          <a:lstStyle/>
          <a:p>
            <a:pPr indent="0" marL="0">
              <a:lnSpc>
                <a:spcPct val="115000"/>
              </a:lnSpc>
              <a:buNone/>
            </a:pPr>
            <a:r>
              <a:rPr lang="en-US" altLang="en-US" sz="1150" b="1" dirty="0">
                <a:solidFill>
                  <a:srgbClr val="1B2A38"/>
                </a:solidFill>
                <a:latin typeface="Arial" pitchFamily="34" charset="0"/>
                <a:ea typeface="Yu Gothic" pitchFamily="34" charset="-122"/>
                <a:cs typeface="Yu Gothic" pitchFamily="34" charset="-120"/>
              </a:rPr>
              <a:t>5  Classify issues</a:t>
            </a:r>
          </a:p>
          <a:p>
            <a:pPr indent="0" marL="0">
              <a:lnSpc>
                <a:spcPct val="115000"/>
              </a:lnSpc>
              <a:spcBef>
                <a:spcPts val="200"/>
              </a:spcBef>
              <a:buNone/>
            </a:pPr>
            <a:r>
              <a:rPr lang="en-US" altLang="en-US" sz="900" b="0" dirty="0">
                <a:solidFill>
                  <a:srgbClr val="C98A12"/>
                </a:solidFill>
                <a:latin typeface="Arial" pitchFamily="34" charset="0"/>
                <a:ea typeface="Yu Gothic" pitchFamily="34" charset="-122"/>
                <a:cs typeface="Yu Gothic" pitchFamily="34" charset="-120"/>
              </a:rPr>
              <a:t>IT lead</a:t>
            </a:r>
          </a:p>
          <a:p>
            <a:pPr indent="0" marL="0">
              <a:lnSpc>
                <a:spcPct val="115000"/>
              </a:lnSpc>
              <a:spcBef>
                <a:spcPts val="300"/>
              </a:spcBef>
              <a:buNone/>
            </a:pPr>
            <a:r>
              <a:rPr lang="en-US" altLang="en-US" sz="950" b="0" dirty="0">
                <a:solidFill>
                  <a:srgbClr val="3E4A56"/>
                </a:solidFill>
                <a:latin typeface="Arial" pitchFamily="34" charset="0"/>
                <a:ea typeface="Yu Gothic" pitchFamily="34" charset="-122"/>
                <a:cs typeface="Yu Gothic" pitchFamily="34" charset="-120"/>
              </a:rPr>
              <a:t>Classify every issue into three groups (p.8)</a:t>
            </a:r>
          </a:p>
        </p:txBody>
      </p:sp>
      <p:sp>
        <p:nvSpPr>
          <p:cNvPr id="94" name="Lens Panel"/>
          <p:cNvSpPr/>
          <p:nvPr/>
        </p:nvSpPr>
        <p:spPr>
          <a:xfrm>
            <a:off x="548640" y="3090672"/>
            <a:ext cx="4892040" cy="3127248"/>
          </a:xfrm>
          <a:prstGeom prst="roundRect">
            <a:avLst>
              <a:gd name="adj" fmla="val 4000"/>
            </a:avLst>
          </a:prstGeom>
          <a:solidFill>
            <a:srgbClr val="F2F4F6"/>
          </a:solidFill>
          <a:ln/>
        </p:spPr>
      </p:sp>
      <p:sp>
        <p:nvSpPr>
          <p:cNvPr id="95" name="Lens Title"/>
          <p:cNvSpPr txBox="1"/>
          <p:nvPr/>
        </p:nvSpPr>
        <p:spPr>
          <a:xfrm>
            <a:off x="713232" y="3163824"/>
            <a:ext cx="4562856" cy="310896"/>
          </a:xfrm>
          <a:prstGeom prst="rect">
            <a:avLst/>
          </a:prstGeom>
          <a:noFill/>
          <a:ln/>
        </p:spPr>
        <p:txBody>
          <a:bodyPr wrap="square" lIns="0" tIns="0" rIns="0" bIns="0" rtlCol="0" anchor="ctr"/>
          <a:lstStyle/>
          <a:p>
            <a:pPr indent="0" marL="0">
              <a:lnSpc>
                <a:spcPct val="115000"/>
              </a:lnSpc>
              <a:buNone/>
            </a:pPr>
            <a:r>
              <a:rPr lang="en-US" altLang="en-US" sz="1150" b="1" dirty="0">
                <a:solidFill>
                  <a:srgbClr val="1B2A38"/>
                </a:solidFill>
                <a:latin typeface="Arial" pitchFamily="34" charset="0"/>
                <a:ea typeface="Yu Gothic" pitchFamily="34" charset="-122"/>
                <a:cs typeface="Yu Gothic" pitchFamily="34" charset="-120"/>
              </a:rPr>
              <a:t>Commonality elements and capabilities to consult (examples)</a:t>
            </a:r>
          </a:p>
        </p:txBody>
      </p:sp>
      <p:sp>
        <p:nvSpPr>
          <p:cNvPr id="96" name="Lens El 0"/>
          <p:cNvSpPr/>
          <p:nvPr/>
        </p:nvSpPr>
        <p:spPr>
          <a:xfrm>
            <a:off x="713232" y="3529584"/>
            <a:ext cx="1188720" cy="310896"/>
          </a:xfrm>
          <a:prstGeom prst="rect">
            <a:avLst/>
          </a:prstGeom>
          <a:solidFill>
            <a:srgbClr val="E5F2EE"/>
          </a:solidFill>
          <a:ln/>
        </p:spPr>
      </p:sp>
      <p:sp>
        <p:nvSpPr>
          <p:cNvPr id="97" name="Lens El Text 0"/>
          <p:cNvSpPr txBox="1"/>
          <p:nvPr/>
        </p:nvSpPr>
        <p:spPr>
          <a:xfrm>
            <a:off x="713232" y="3529584"/>
            <a:ext cx="1188720" cy="310896"/>
          </a:xfrm>
          <a:prstGeom prst="rect">
            <a:avLst/>
          </a:prstGeom>
          <a:noFill/>
          <a:ln/>
        </p:spPr>
        <p:txBody>
          <a:bodyPr wrap="square" lIns="91440" tIns="0" rIns="91440" bIns="0" rtlCol="0" anchor="ctr"/>
          <a:lstStyle/>
          <a:p>
            <a:pPr indent="0" marL="0">
              <a:lnSpc>
                <a:spcPct val="115000"/>
              </a:lnSpc>
              <a:buNone/>
            </a:pPr>
            <a:r>
              <a:rPr lang="en-US" altLang="en-US" sz="850" b="1" dirty="0">
                <a:solidFill>
                  <a:srgbClr val="1F7A68"/>
                </a:solidFill>
                <a:latin typeface="Arial" pitchFamily="34" charset="0"/>
                <a:ea typeface="Yu Gothic" pitchFamily="34" charset="-122"/>
                <a:cs typeface="Yu Gothic" pitchFamily="34" charset="-120"/>
              </a:rPr>
              <a:t>Scope of benefit</a:t>
            </a:r>
          </a:p>
        </p:txBody>
      </p:sp>
      <p:sp>
        <p:nvSpPr>
          <p:cNvPr id="98" name="Lens Cap 0"/>
          <p:cNvSpPr/>
          <p:nvPr/>
        </p:nvSpPr>
        <p:spPr>
          <a:xfrm>
            <a:off x="1947672" y="3529584"/>
            <a:ext cx="3328416" cy="310896"/>
          </a:xfrm>
          <a:prstGeom prst="rect">
            <a:avLst/>
          </a:prstGeom>
          <a:solidFill>
            <a:srgbClr val="FFFFFF"/>
          </a:solidFill>
          <a:ln/>
        </p:spPr>
      </p:sp>
      <p:sp>
        <p:nvSpPr>
          <p:cNvPr id="99" name="Lens Cap Text 0"/>
          <p:cNvSpPr txBox="1"/>
          <p:nvPr/>
        </p:nvSpPr>
        <p:spPr>
          <a:xfrm>
            <a:off x="1947672" y="3529584"/>
            <a:ext cx="3328416" cy="310896"/>
          </a:xfrm>
          <a:prstGeom prst="rect">
            <a:avLst/>
          </a:prstGeom>
          <a:noFill/>
          <a:ln/>
        </p:spPr>
        <p:txBody>
          <a:bodyPr wrap="square" lIns="91440" tIns="0" rIns="91440" bIns="0" rtlCol="0" anchor="ctr"/>
          <a:lstStyle/>
          <a:p>
            <a:pPr indent="0" marL="0">
              <a:lnSpc>
                <a:spcPct val="115000"/>
              </a:lnSpc>
              <a:buNone/>
            </a:pPr>
            <a:r>
              <a:rPr lang="en-US" altLang="en-US" sz="900" b="0" dirty="0">
                <a:solidFill>
                  <a:srgbClr val="1B2A38"/>
                </a:solidFill>
                <a:latin typeface="Arial" pitchFamily="34" charset="0"/>
                <a:ea typeface="Yu Gothic" pitchFamily="34" charset="-122"/>
                <a:cs typeface="Yu Gothic" pitchFamily="34" charset="-120"/>
              </a:rPr>
              <a:t>Demand mgmt, application portfolio mgmt</a:t>
            </a:r>
          </a:p>
        </p:txBody>
      </p:sp>
      <p:sp>
        <p:nvSpPr>
          <p:cNvPr id="100" name="Lens El 1"/>
          <p:cNvSpPr/>
          <p:nvPr/>
        </p:nvSpPr>
        <p:spPr>
          <a:xfrm>
            <a:off x="713232" y="3881628"/>
            <a:ext cx="1188720" cy="310896"/>
          </a:xfrm>
          <a:prstGeom prst="rect">
            <a:avLst/>
          </a:prstGeom>
          <a:solidFill>
            <a:srgbClr val="E5F2EE"/>
          </a:solidFill>
          <a:ln/>
        </p:spPr>
      </p:sp>
      <p:sp>
        <p:nvSpPr>
          <p:cNvPr id="101" name="Lens El Text 1"/>
          <p:cNvSpPr txBox="1"/>
          <p:nvPr/>
        </p:nvSpPr>
        <p:spPr>
          <a:xfrm>
            <a:off x="713232" y="3881628"/>
            <a:ext cx="1188720" cy="310896"/>
          </a:xfrm>
          <a:prstGeom prst="rect">
            <a:avLst/>
          </a:prstGeom>
          <a:noFill/>
          <a:ln/>
        </p:spPr>
        <p:txBody>
          <a:bodyPr wrap="square" lIns="91440" tIns="0" rIns="91440" bIns="0" rtlCol="0" anchor="ctr"/>
          <a:lstStyle/>
          <a:p>
            <a:pPr indent="0" marL="0">
              <a:lnSpc>
                <a:spcPct val="115000"/>
              </a:lnSpc>
              <a:buNone/>
            </a:pPr>
            <a:r>
              <a:rPr lang="en-US" altLang="en-US" sz="850" b="1" dirty="0">
                <a:solidFill>
                  <a:srgbClr val="1F7A68"/>
                </a:solidFill>
                <a:latin typeface="Arial" pitchFamily="34" charset="0"/>
                <a:ea typeface="Yu Gothic" pitchFamily="34" charset="-122"/>
                <a:cs typeface="Yu Gothic" pitchFamily="34" charset="-120"/>
              </a:rPr>
              <a:t>Connections</a:t>
            </a:r>
          </a:p>
        </p:txBody>
      </p:sp>
      <p:sp>
        <p:nvSpPr>
          <p:cNvPr id="102" name="Lens Cap 1"/>
          <p:cNvSpPr/>
          <p:nvPr/>
        </p:nvSpPr>
        <p:spPr>
          <a:xfrm>
            <a:off x="1947672" y="3881628"/>
            <a:ext cx="3328416" cy="310896"/>
          </a:xfrm>
          <a:prstGeom prst="rect">
            <a:avLst/>
          </a:prstGeom>
          <a:solidFill>
            <a:srgbClr val="FFFFFF"/>
          </a:solidFill>
          <a:ln/>
        </p:spPr>
      </p:sp>
      <p:sp>
        <p:nvSpPr>
          <p:cNvPr id="103" name="Lens Cap Text 1"/>
          <p:cNvSpPr txBox="1"/>
          <p:nvPr/>
        </p:nvSpPr>
        <p:spPr>
          <a:xfrm>
            <a:off x="1947672" y="3881628"/>
            <a:ext cx="3328416" cy="310896"/>
          </a:xfrm>
          <a:prstGeom prst="rect">
            <a:avLst/>
          </a:prstGeom>
          <a:noFill/>
          <a:ln/>
        </p:spPr>
        <p:txBody>
          <a:bodyPr wrap="square" lIns="91440" tIns="0" rIns="91440" bIns="0" rtlCol="0" anchor="ctr"/>
          <a:lstStyle/>
          <a:p>
            <a:pPr indent="0" marL="0">
              <a:lnSpc>
                <a:spcPct val="115000"/>
              </a:lnSpc>
              <a:buNone/>
            </a:pPr>
            <a:r>
              <a:rPr lang="en-US" altLang="en-US" sz="900" b="0" dirty="0">
                <a:solidFill>
                  <a:srgbClr val="1B2A38"/>
                </a:solidFill>
                <a:latin typeface="Arial" pitchFamily="34" charset="0"/>
                <a:ea typeface="Yu Gothic" pitchFamily="34" charset="-122"/>
                <a:cs typeface="Yu Gothic" pitchFamily="34" charset="-120"/>
              </a:rPr>
              <a:t>System integration, master data mgmt</a:t>
            </a:r>
          </a:p>
        </p:txBody>
      </p:sp>
      <p:sp>
        <p:nvSpPr>
          <p:cNvPr id="104" name="Lens El 2"/>
          <p:cNvSpPr/>
          <p:nvPr/>
        </p:nvSpPr>
        <p:spPr>
          <a:xfrm>
            <a:off x="713232" y="4233672"/>
            <a:ext cx="1188720" cy="310896"/>
          </a:xfrm>
          <a:prstGeom prst="rect">
            <a:avLst/>
          </a:prstGeom>
          <a:solidFill>
            <a:srgbClr val="E5F2EE"/>
          </a:solidFill>
          <a:ln/>
        </p:spPr>
      </p:sp>
      <p:sp>
        <p:nvSpPr>
          <p:cNvPr id="105" name="Lens El Text 2"/>
          <p:cNvSpPr txBox="1"/>
          <p:nvPr/>
        </p:nvSpPr>
        <p:spPr>
          <a:xfrm>
            <a:off x="713232" y="4233672"/>
            <a:ext cx="1188720" cy="310896"/>
          </a:xfrm>
          <a:prstGeom prst="rect">
            <a:avLst/>
          </a:prstGeom>
          <a:noFill/>
          <a:ln/>
        </p:spPr>
        <p:txBody>
          <a:bodyPr wrap="square" lIns="91440" tIns="0" rIns="91440" bIns="0" rtlCol="0" anchor="ctr"/>
          <a:lstStyle/>
          <a:p>
            <a:pPr indent="0" marL="0">
              <a:lnSpc>
                <a:spcPct val="115000"/>
              </a:lnSpc>
              <a:buNone/>
            </a:pPr>
            <a:r>
              <a:rPr lang="en-US" altLang="en-US" sz="850" b="1" dirty="0">
                <a:solidFill>
                  <a:srgbClr val="1F7A68"/>
                </a:solidFill>
                <a:latin typeface="Arial" pitchFamily="34" charset="0"/>
                <a:ea typeface="Yu Gothic" pitchFamily="34" charset="-122"/>
                <a:cs typeface="Yu Gothic" pitchFamily="34" charset="-120"/>
              </a:rPr>
              <a:t>Dependencies</a:t>
            </a:r>
          </a:p>
        </p:txBody>
      </p:sp>
      <p:sp>
        <p:nvSpPr>
          <p:cNvPr id="106" name="Lens Cap 2"/>
          <p:cNvSpPr/>
          <p:nvPr/>
        </p:nvSpPr>
        <p:spPr>
          <a:xfrm>
            <a:off x="1947672" y="4233672"/>
            <a:ext cx="3328416" cy="310896"/>
          </a:xfrm>
          <a:prstGeom prst="rect">
            <a:avLst/>
          </a:prstGeom>
          <a:solidFill>
            <a:srgbClr val="FFFFFF"/>
          </a:solidFill>
          <a:ln/>
        </p:spPr>
      </p:sp>
      <p:sp>
        <p:nvSpPr>
          <p:cNvPr id="107" name="Lens Cap Text 2"/>
          <p:cNvSpPr txBox="1"/>
          <p:nvPr/>
        </p:nvSpPr>
        <p:spPr>
          <a:xfrm>
            <a:off x="1947672" y="4233672"/>
            <a:ext cx="3328416" cy="310896"/>
          </a:xfrm>
          <a:prstGeom prst="rect">
            <a:avLst/>
          </a:prstGeom>
          <a:noFill/>
          <a:ln/>
        </p:spPr>
        <p:txBody>
          <a:bodyPr wrap="square" lIns="91440" tIns="0" rIns="91440" bIns="0" rtlCol="0" anchor="ctr"/>
          <a:lstStyle/>
          <a:p>
            <a:pPr indent="0" marL="0">
              <a:lnSpc>
                <a:spcPct val="115000"/>
              </a:lnSpc>
              <a:buNone/>
            </a:pPr>
            <a:r>
              <a:rPr lang="en-US" altLang="en-US" sz="900" b="0" dirty="0">
                <a:solidFill>
                  <a:srgbClr val="1B2A38"/>
                </a:solidFill>
                <a:latin typeface="Arial" pitchFamily="34" charset="0"/>
                <a:ea typeface="Yu Gothic" pitchFamily="34" charset="-122"/>
                <a:cs typeface="Yu Gothic" pitchFamily="34" charset="-120"/>
              </a:rPr>
              <a:t>Architecture design (as-is / to-be)</a:t>
            </a:r>
          </a:p>
        </p:txBody>
      </p:sp>
      <p:sp>
        <p:nvSpPr>
          <p:cNvPr id="108" name="Lens El 3"/>
          <p:cNvSpPr/>
          <p:nvPr/>
        </p:nvSpPr>
        <p:spPr>
          <a:xfrm>
            <a:off x="713232" y="4585716"/>
            <a:ext cx="1188720" cy="310896"/>
          </a:xfrm>
          <a:prstGeom prst="rect">
            <a:avLst/>
          </a:prstGeom>
          <a:solidFill>
            <a:srgbClr val="FBEDEA"/>
          </a:solidFill>
          <a:ln/>
        </p:spPr>
      </p:sp>
      <p:sp>
        <p:nvSpPr>
          <p:cNvPr id="109" name="Lens El Text 3"/>
          <p:cNvSpPr txBox="1"/>
          <p:nvPr/>
        </p:nvSpPr>
        <p:spPr>
          <a:xfrm>
            <a:off x="713232" y="4585716"/>
            <a:ext cx="1188720" cy="310896"/>
          </a:xfrm>
          <a:prstGeom prst="rect">
            <a:avLst/>
          </a:prstGeom>
          <a:noFill/>
          <a:ln/>
        </p:spPr>
        <p:txBody>
          <a:bodyPr wrap="square" lIns="91440" tIns="0" rIns="91440" bIns="0" rtlCol="0" anchor="ctr"/>
          <a:lstStyle/>
          <a:p>
            <a:pPr indent="0" marL="0">
              <a:lnSpc>
                <a:spcPct val="115000"/>
              </a:lnSpc>
              <a:buNone/>
            </a:pPr>
            <a:r>
              <a:rPr lang="en-US" altLang="en-US" sz="850" b="1" dirty="0">
                <a:solidFill>
                  <a:srgbClr val="B5472F"/>
                </a:solidFill>
                <a:latin typeface="Arial" pitchFamily="34" charset="0"/>
                <a:ea typeface="Yu Gothic" pitchFamily="34" charset="-122"/>
                <a:cs typeface="Yu Gothic" pitchFamily="34" charset="-120"/>
              </a:rPr>
              <a:t>Support end dates</a:t>
            </a:r>
          </a:p>
        </p:txBody>
      </p:sp>
      <p:sp>
        <p:nvSpPr>
          <p:cNvPr id="110" name="Lens Cap 3"/>
          <p:cNvSpPr/>
          <p:nvPr/>
        </p:nvSpPr>
        <p:spPr>
          <a:xfrm>
            <a:off x="1947672" y="4585716"/>
            <a:ext cx="3328416" cy="310896"/>
          </a:xfrm>
          <a:prstGeom prst="rect">
            <a:avLst/>
          </a:prstGeom>
          <a:solidFill>
            <a:srgbClr val="FFFFFF"/>
          </a:solidFill>
          <a:ln/>
        </p:spPr>
      </p:sp>
      <p:sp>
        <p:nvSpPr>
          <p:cNvPr id="111" name="Lens Cap Text 3"/>
          <p:cNvSpPr txBox="1"/>
          <p:nvPr/>
        </p:nvSpPr>
        <p:spPr>
          <a:xfrm>
            <a:off x="1947672" y="4585716"/>
            <a:ext cx="3328416" cy="310896"/>
          </a:xfrm>
          <a:prstGeom prst="rect">
            <a:avLst/>
          </a:prstGeom>
          <a:noFill/>
          <a:ln/>
        </p:spPr>
        <p:txBody>
          <a:bodyPr wrap="square" lIns="91440" tIns="0" rIns="91440" bIns="0" rtlCol="0" anchor="ctr"/>
          <a:lstStyle/>
          <a:p>
            <a:pPr indent="0" marL="0">
              <a:lnSpc>
                <a:spcPct val="115000"/>
              </a:lnSpc>
              <a:buNone/>
            </a:pPr>
            <a:r>
              <a:rPr lang="en-US" altLang="en-US" sz="900" b="0" dirty="0">
                <a:solidFill>
                  <a:srgbClr val="1B2A38"/>
                </a:solidFill>
                <a:latin typeface="Arial" pitchFamily="34" charset="0"/>
                <a:ea typeface="Yu Gothic" pitchFamily="34" charset="-122"/>
                <a:cs typeface="Yu Gothic" pitchFamily="34" charset="-120"/>
              </a:rPr>
              <a:t>Software license &amp; SaaS mgmt, configuration mgmt</a:t>
            </a:r>
          </a:p>
        </p:txBody>
      </p:sp>
      <p:sp>
        <p:nvSpPr>
          <p:cNvPr id="112" name="Lens El 4"/>
          <p:cNvSpPr/>
          <p:nvPr/>
        </p:nvSpPr>
        <p:spPr>
          <a:xfrm>
            <a:off x="713232" y="4937760"/>
            <a:ext cx="1188720" cy="310896"/>
          </a:xfrm>
          <a:prstGeom prst="rect">
            <a:avLst/>
          </a:prstGeom>
          <a:solidFill>
            <a:srgbClr val="FBEDEA"/>
          </a:solidFill>
          <a:ln/>
        </p:spPr>
      </p:sp>
      <p:sp>
        <p:nvSpPr>
          <p:cNvPr id="113" name="Lens El Text 4"/>
          <p:cNvSpPr txBox="1"/>
          <p:nvPr/>
        </p:nvSpPr>
        <p:spPr>
          <a:xfrm>
            <a:off x="713232" y="4937760"/>
            <a:ext cx="1188720" cy="310896"/>
          </a:xfrm>
          <a:prstGeom prst="rect">
            <a:avLst/>
          </a:prstGeom>
          <a:noFill/>
          <a:ln/>
        </p:spPr>
        <p:txBody>
          <a:bodyPr wrap="square" lIns="91440" tIns="0" rIns="91440" bIns="0" rtlCol="0" anchor="ctr"/>
          <a:lstStyle/>
          <a:p>
            <a:pPr indent="0" marL="0">
              <a:lnSpc>
                <a:spcPct val="115000"/>
              </a:lnSpc>
              <a:buNone/>
            </a:pPr>
            <a:r>
              <a:rPr lang="en-US" altLang="en-US" sz="850" b="1" dirty="0">
                <a:solidFill>
                  <a:srgbClr val="B5472F"/>
                </a:solidFill>
                <a:latin typeface="Arial" pitchFamily="34" charset="0"/>
                <a:ea typeface="Yu Gothic" pitchFamily="34" charset="-122"/>
                <a:cs typeface="Yu Gothic" pitchFamily="34" charset="-120"/>
              </a:rPr>
              <a:t>Deviation from standards</a:t>
            </a:r>
          </a:p>
        </p:txBody>
      </p:sp>
      <p:sp>
        <p:nvSpPr>
          <p:cNvPr id="114" name="Lens Cap 4"/>
          <p:cNvSpPr/>
          <p:nvPr/>
        </p:nvSpPr>
        <p:spPr>
          <a:xfrm>
            <a:off x="1947672" y="4937760"/>
            <a:ext cx="3328416" cy="310896"/>
          </a:xfrm>
          <a:prstGeom prst="rect">
            <a:avLst/>
          </a:prstGeom>
          <a:solidFill>
            <a:srgbClr val="FFFFFF"/>
          </a:solidFill>
          <a:ln/>
        </p:spPr>
      </p:sp>
      <p:sp>
        <p:nvSpPr>
          <p:cNvPr id="115" name="Lens Cap Text 4"/>
          <p:cNvSpPr txBox="1"/>
          <p:nvPr/>
        </p:nvSpPr>
        <p:spPr>
          <a:xfrm>
            <a:off x="1947672" y="4937760"/>
            <a:ext cx="3328416" cy="310896"/>
          </a:xfrm>
          <a:prstGeom prst="rect">
            <a:avLst/>
          </a:prstGeom>
          <a:noFill/>
          <a:ln/>
        </p:spPr>
        <p:txBody>
          <a:bodyPr wrap="square" lIns="91440" tIns="0" rIns="91440" bIns="0" rtlCol="0" anchor="ctr"/>
          <a:lstStyle/>
          <a:p>
            <a:pPr indent="0" marL="0">
              <a:lnSpc>
                <a:spcPct val="115000"/>
              </a:lnSpc>
              <a:buNone/>
            </a:pPr>
            <a:r>
              <a:rPr lang="en-US" altLang="en-US" sz="900" b="0" dirty="0">
                <a:solidFill>
                  <a:srgbClr val="1B2A38"/>
                </a:solidFill>
                <a:latin typeface="Arial" pitchFamily="34" charset="0"/>
                <a:ea typeface="Yu Gothic" pitchFamily="34" charset="-122"/>
                <a:cs typeface="Yu Gothic" pitchFamily="34" charset="-120"/>
              </a:rPr>
              <a:t>Technology standards &amp; architecture review</a:t>
            </a:r>
          </a:p>
        </p:txBody>
      </p:sp>
      <p:sp>
        <p:nvSpPr>
          <p:cNvPr id="116" name="Lens El 5"/>
          <p:cNvSpPr/>
          <p:nvPr/>
        </p:nvSpPr>
        <p:spPr>
          <a:xfrm>
            <a:off x="713232" y="5289804"/>
            <a:ext cx="1188720" cy="310896"/>
          </a:xfrm>
          <a:prstGeom prst="rect">
            <a:avLst/>
          </a:prstGeom>
          <a:solidFill>
            <a:srgbClr val="FBEDEA"/>
          </a:solidFill>
          <a:ln/>
        </p:spPr>
      </p:sp>
      <p:sp>
        <p:nvSpPr>
          <p:cNvPr id="117" name="Lens El Text 5"/>
          <p:cNvSpPr txBox="1"/>
          <p:nvPr/>
        </p:nvSpPr>
        <p:spPr>
          <a:xfrm>
            <a:off x="713232" y="5289804"/>
            <a:ext cx="1188720" cy="310896"/>
          </a:xfrm>
          <a:prstGeom prst="rect">
            <a:avLst/>
          </a:prstGeom>
          <a:noFill/>
          <a:ln/>
        </p:spPr>
        <p:txBody>
          <a:bodyPr wrap="square" lIns="91440" tIns="0" rIns="91440" bIns="0" rtlCol="0" anchor="ctr"/>
          <a:lstStyle/>
          <a:p>
            <a:pPr indent="0" marL="0">
              <a:lnSpc>
                <a:spcPct val="115000"/>
              </a:lnSpc>
              <a:buNone/>
            </a:pPr>
            <a:r>
              <a:rPr lang="en-US" altLang="en-US" sz="850" b="1" dirty="0">
                <a:solidFill>
                  <a:srgbClr val="B5472F"/>
                </a:solidFill>
                <a:latin typeface="Arial" pitchFamily="34" charset="0"/>
                <a:ea typeface="Yu Gothic" pitchFamily="34" charset="-122"/>
                <a:cs typeface="Yu Gothic" pitchFamily="34" charset="-120"/>
              </a:rPr>
              <a:t>Duplication &amp; siloed operation</a:t>
            </a:r>
          </a:p>
        </p:txBody>
      </p:sp>
      <p:sp>
        <p:nvSpPr>
          <p:cNvPr id="118" name="Lens Cap 5"/>
          <p:cNvSpPr/>
          <p:nvPr/>
        </p:nvSpPr>
        <p:spPr>
          <a:xfrm>
            <a:off x="1947672" y="5289804"/>
            <a:ext cx="3328416" cy="310896"/>
          </a:xfrm>
          <a:prstGeom prst="rect">
            <a:avLst/>
          </a:prstGeom>
          <a:solidFill>
            <a:srgbClr val="FFFFFF"/>
          </a:solidFill>
          <a:ln/>
        </p:spPr>
      </p:sp>
      <p:sp>
        <p:nvSpPr>
          <p:cNvPr id="119" name="Lens Cap Text 5"/>
          <p:cNvSpPr txBox="1"/>
          <p:nvPr/>
        </p:nvSpPr>
        <p:spPr>
          <a:xfrm>
            <a:off x="1947672" y="5289804"/>
            <a:ext cx="3328416" cy="310896"/>
          </a:xfrm>
          <a:prstGeom prst="rect">
            <a:avLst/>
          </a:prstGeom>
          <a:noFill/>
          <a:ln/>
        </p:spPr>
        <p:txBody>
          <a:bodyPr wrap="square" lIns="91440" tIns="0" rIns="91440" bIns="0" rtlCol="0" anchor="ctr"/>
          <a:lstStyle/>
          <a:p>
            <a:pPr indent="0" marL="0">
              <a:lnSpc>
                <a:spcPct val="115000"/>
              </a:lnSpc>
              <a:buNone/>
            </a:pPr>
            <a:r>
              <a:rPr lang="en-US" altLang="en-US" sz="900" b="0" dirty="0">
                <a:solidFill>
                  <a:srgbClr val="1B2A38"/>
                </a:solidFill>
                <a:latin typeface="Arial" pitchFamily="34" charset="0"/>
                <a:ea typeface="Yu Gothic" pitchFamily="34" charset="-122"/>
                <a:cs typeface="Yu Gothic" pitchFamily="34" charset="-120"/>
              </a:rPr>
              <a:t>Application portfolio mgmt, supplier evaluation &amp; oversight</a:t>
            </a:r>
          </a:p>
        </p:txBody>
      </p:sp>
      <p:sp>
        <p:nvSpPr>
          <p:cNvPr id="120" name="Lens Note"/>
          <p:cNvSpPr txBox="1"/>
          <p:nvPr/>
        </p:nvSpPr>
        <p:spPr>
          <a:xfrm>
            <a:off x="713232" y="5641848"/>
            <a:ext cx="4562856" cy="256032"/>
          </a:xfrm>
          <a:prstGeom prst="rect">
            <a:avLst/>
          </a:prstGeom>
          <a:noFill/>
          <a:ln/>
        </p:spPr>
        <p:txBody>
          <a:bodyPr wrap="square" lIns="0" tIns="0" rIns="0" bIns="0" rtlCol="0" anchor="ctr"/>
          <a:lstStyle/>
          <a:p>
            <a:pPr indent="0" marL="0">
              <a:lnSpc>
                <a:spcPct val="115000"/>
              </a:lnSpc>
              <a:buNone/>
            </a:pPr>
            <a:r>
              <a:rPr lang="en-US" altLang="en-US" sz="850" b="0" dirty="0">
                <a:solidFill>
                  <a:srgbClr val="66717C"/>
                </a:solidFill>
                <a:latin typeface="Arial" pitchFamily="34" charset="0"/>
                <a:ea typeface="Yu Gothic" pitchFamily="34" charset="-122"/>
                <a:cs typeface="Yu Gothic" pitchFamily="34" charset="-120"/>
              </a:rPr>
              <a:t>Green = Foundation, red = Debt. Names are L3 of the capability map</a:t>
            </a:r>
          </a:p>
        </p:txBody>
      </p:sp>
      <p:sp>
        <p:nvSpPr>
          <p:cNvPr id="121" name="Map Panel"/>
          <p:cNvSpPr/>
          <p:nvPr/>
        </p:nvSpPr>
        <p:spPr>
          <a:xfrm>
            <a:off x="5623560" y="3090672"/>
            <a:ext cx="6016752" cy="3127248"/>
          </a:xfrm>
          <a:prstGeom prst="roundRect">
            <a:avLst>
              <a:gd name="adj" fmla="val 4000"/>
            </a:avLst>
          </a:prstGeom>
          <a:solidFill>
            <a:srgbClr val="F2F4F6"/>
          </a:solidFill>
          <a:ln/>
        </p:spPr>
      </p:sp>
      <p:sp>
        <p:nvSpPr>
          <p:cNvPr id="122" name="Map Title"/>
          <p:cNvSpPr txBox="1"/>
          <p:nvPr/>
        </p:nvSpPr>
        <p:spPr>
          <a:xfrm>
            <a:off x="5733288" y="3145536"/>
            <a:ext cx="5797296" cy="274320"/>
          </a:xfrm>
          <a:prstGeom prst="rect">
            <a:avLst/>
          </a:prstGeom>
          <a:noFill/>
          <a:ln/>
        </p:spPr>
        <p:txBody>
          <a:bodyPr wrap="square" lIns="0" tIns="0" rIns="0" bIns="0" rtlCol="0" anchor="ctr"/>
          <a:lstStyle/>
          <a:p>
            <a:pPr indent="0" marL="0">
              <a:lnSpc>
                <a:spcPct val="115000"/>
              </a:lnSpc>
              <a:buNone/>
            </a:pPr>
            <a:r>
              <a:rPr lang="en-US" altLang="en-US" sz="1050" b="1" dirty="0">
                <a:solidFill>
                  <a:srgbClr val="1B2A38"/>
                </a:solidFill>
                <a:latin typeface="Arial" pitchFamily="34" charset="0"/>
                <a:ea typeface="Yu Gothic" pitchFamily="34" charset="-122"/>
                <a:cs typeface="Yu Gothic" pitchFamily="34" charset="-120"/>
              </a:rPr>
              <a:t>Capability map (simplified, L2)</a:t>
            </a:r>
            <a:r>
              <a:rPr lang="en-US" altLang="en-US" sz="1050" b="0" dirty="0">
                <a:solidFill>
                  <a:srgbClr val="C98A12"/>
                </a:solidFill>
                <a:latin typeface="Arial" pitchFamily="34" charset="0"/>
                <a:ea typeface="Yu Gothic" pitchFamily="34" charset="-122"/>
                <a:cs typeface="Yu Gothic" pitchFamily="34" charset="-120"/>
              </a:rPr>
              <a:t>  ■ </a:t>
            </a:r>
            <a:r>
              <a:rPr lang="en-US" altLang="en-US" sz="1050" b="0" dirty="0">
                <a:solidFill>
                  <a:srgbClr val="66717C"/>
                </a:solidFill>
                <a:latin typeface="Arial" pitchFamily="34" charset="0"/>
                <a:ea typeface="Yu Gothic" pitchFamily="34" charset="-122"/>
                <a:cs typeface="Yu Gothic" pitchFamily="34" charset="-120"/>
              </a:rPr>
              <a:t>Capabilities consulted (left)</a:t>
            </a:r>
          </a:p>
        </p:txBody>
      </p:sp>
      <p:sp>
        <p:nvSpPr>
          <p:cNvPr id="123" name="Map Band"/>
          <p:cNvSpPr/>
          <p:nvPr/>
        </p:nvSpPr>
        <p:spPr>
          <a:xfrm>
            <a:off x="5733288" y="3474720"/>
            <a:ext cx="5797296" cy="384048"/>
          </a:xfrm>
          <a:prstGeom prst="roundRect">
            <a:avLst>
              <a:gd name="adj" fmla="val 8000"/>
            </a:avLst>
          </a:prstGeom>
          <a:solidFill>
            <a:srgbClr val="E5F2EE"/>
          </a:solidFill>
          <a:ln/>
        </p:spPr>
      </p:sp>
      <p:sp>
        <p:nvSpPr>
          <p:cNvPr id="124" name="Map Band Label"/>
          <p:cNvSpPr txBox="1"/>
          <p:nvPr/>
        </p:nvSpPr>
        <p:spPr>
          <a:xfrm>
            <a:off x="5733288" y="3474720"/>
            <a:ext cx="960120" cy="384048"/>
          </a:xfrm>
          <a:prstGeom prst="rect">
            <a:avLst/>
          </a:prstGeom>
          <a:noFill/>
          <a:ln/>
        </p:spPr>
        <p:txBody>
          <a:bodyPr wrap="square" lIns="54864" tIns="0" rIns="54864" bIns="0" rtlCol="0" anchor="ctr"/>
          <a:lstStyle/>
          <a:p>
            <a:pPr indent="0" marL="0">
              <a:lnSpc>
                <a:spcPct val="115000"/>
              </a:lnSpc>
              <a:buNone/>
            </a:pPr>
            <a:r>
              <a:rPr lang="en-US" altLang="en-US" sz="700" b="1" dirty="0">
                <a:solidFill>
                  <a:srgbClr val="1B2A38"/>
                </a:solidFill>
                <a:latin typeface="Arial" pitchFamily="34" charset="0"/>
                <a:ea typeface="Yu Gothic" pitchFamily="34" charset="-122"/>
                <a:cs typeface="Yu Gothic" pitchFamily="34" charset="-120"/>
              </a:rPr>
              <a:t>Strategy &amp; Governance</a:t>
            </a:r>
          </a:p>
        </p:txBody>
      </p:sp>
      <p:sp>
        <p:nvSpPr>
          <p:cNvPr id="125" name="Map Chip"/>
          <p:cNvSpPr/>
          <p:nvPr/>
        </p:nvSpPr>
        <p:spPr>
          <a:xfrm>
            <a:off x="6693408" y="3520440"/>
            <a:ext cx="927201" cy="292608"/>
          </a:xfrm>
          <a:prstGeom prst="roundRect">
            <a:avLst>
              <a:gd name="adj" fmla="val 8000"/>
            </a:avLst>
          </a:prstGeom>
          <a:solidFill>
            <a:srgbClr val="FFFFFF"/>
          </a:solidFill>
          <a:ln w="9525">
            <a:solidFill>
              <a:srgbClr val="D5DADF"/>
            </a:solidFill>
          </a:ln>
        </p:spPr>
      </p:sp>
      <p:sp>
        <p:nvSpPr>
          <p:cNvPr id="126" name="Map Chip Text"/>
          <p:cNvSpPr txBox="1"/>
          <p:nvPr/>
        </p:nvSpPr>
        <p:spPr>
          <a:xfrm>
            <a:off x="6693408" y="3520440"/>
            <a:ext cx="927201" cy="292608"/>
          </a:xfrm>
          <a:prstGeom prst="rect">
            <a:avLst/>
          </a:prstGeom>
          <a:noFill/>
          <a:ln/>
        </p:spPr>
        <p:txBody>
          <a:bodyPr wrap="square" lIns="27432" tIns="0" rIns="27432" bIns="0" rtlCol="0" anchor="ctr"/>
          <a:lstStyle/>
          <a:p>
            <a:pPr algn="ctr" indent="0" marL="0">
              <a:lnSpc>
                <a:spcPct val="115000"/>
              </a:lnSpc>
              <a:buNone/>
            </a:pPr>
            <a:r>
              <a:rPr lang="en-US" altLang="en-US" sz="700" b="0" dirty="0">
                <a:solidFill>
                  <a:srgbClr val="3E4A56"/>
                </a:solidFill>
                <a:latin typeface="Arial" pitchFamily="34" charset="0"/>
                <a:ea typeface="Yu Gothic" pitchFamily="34" charset="-122"/>
                <a:cs typeface="Yu Gothic" pitchFamily="34" charset="-120"/>
              </a:rPr>
              <a:t>IT strategy &amp; DX planning</a:t>
            </a:r>
          </a:p>
        </p:txBody>
      </p:sp>
      <p:sp>
        <p:nvSpPr>
          <p:cNvPr id="127" name="Map Chip"/>
          <p:cNvSpPr/>
          <p:nvPr/>
        </p:nvSpPr>
        <p:spPr>
          <a:xfrm>
            <a:off x="7657185" y="3520440"/>
            <a:ext cx="927201" cy="292608"/>
          </a:xfrm>
          <a:prstGeom prst="roundRect">
            <a:avLst>
              <a:gd name="adj" fmla="val 8000"/>
            </a:avLst>
          </a:prstGeom>
          <a:solidFill>
            <a:srgbClr val="FDF4E0"/>
          </a:solidFill>
          <a:ln w="15875">
            <a:solidFill>
              <a:srgbClr val="C98A12"/>
            </a:solidFill>
          </a:ln>
        </p:spPr>
      </p:sp>
      <p:sp>
        <p:nvSpPr>
          <p:cNvPr id="128" name="Map Chip Text"/>
          <p:cNvSpPr txBox="1"/>
          <p:nvPr/>
        </p:nvSpPr>
        <p:spPr>
          <a:xfrm>
            <a:off x="7657185" y="3520440"/>
            <a:ext cx="927201" cy="292608"/>
          </a:xfrm>
          <a:prstGeom prst="rect">
            <a:avLst/>
          </a:prstGeom>
          <a:noFill/>
          <a:ln/>
        </p:spPr>
        <p:txBody>
          <a:bodyPr wrap="square" lIns="27432" tIns="0" rIns="27432" bIns="0" rtlCol="0" anchor="ctr"/>
          <a:lstStyle/>
          <a:p>
            <a:pPr algn="ctr" indent="0" marL="0">
              <a:lnSpc>
                <a:spcPct val="115000"/>
              </a:lnSpc>
              <a:buNone/>
            </a:pPr>
            <a:r>
              <a:rPr lang="en-US" altLang="en-US" sz="700" b="1" dirty="0">
                <a:solidFill>
                  <a:srgbClr val="1B2A38"/>
                </a:solidFill>
                <a:latin typeface="Arial" pitchFamily="34" charset="0"/>
                <a:ea typeface="Yu Gothic" pitchFamily="34" charset="-122"/>
                <a:cs typeface="Yu Gothic" pitchFamily="34" charset="-120"/>
              </a:rPr>
              <a:t>Enterprise architecture</a:t>
            </a:r>
          </a:p>
        </p:txBody>
      </p:sp>
      <p:sp>
        <p:nvSpPr>
          <p:cNvPr id="129" name="Map Chip"/>
          <p:cNvSpPr/>
          <p:nvPr/>
        </p:nvSpPr>
        <p:spPr>
          <a:xfrm>
            <a:off x="8620963" y="3520440"/>
            <a:ext cx="927201" cy="292608"/>
          </a:xfrm>
          <a:prstGeom prst="roundRect">
            <a:avLst>
              <a:gd name="adj" fmla="val 8000"/>
            </a:avLst>
          </a:prstGeom>
          <a:solidFill>
            <a:srgbClr val="FDF4E0"/>
          </a:solidFill>
          <a:ln w="15875">
            <a:solidFill>
              <a:srgbClr val="C98A12"/>
            </a:solidFill>
          </a:ln>
        </p:spPr>
      </p:sp>
      <p:sp>
        <p:nvSpPr>
          <p:cNvPr id="130" name="Map Chip Text"/>
          <p:cNvSpPr txBox="1"/>
          <p:nvPr/>
        </p:nvSpPr>
        <p:spPr>
          <a:xfrm>
            <a:off x="8620963" y="3520440"/>
            <a:ext cx="927201" cy="292608"/>
          </a:xfrm>
          <a:prstGeom prst="rect">
            <a:avLst/>
          </a:prstGeom>
          <a:noFill/>
          <a:ln/>
        </p:spPr>
        <p:txBody>
          <a:bodyPr wrap="square" lIns="27432" tIns="0" rIns="27432" bIns="0" rtlCol="0" anchor="ctr"/>
          <a:lstStyle/>
          <a:p>
            <a:pPr algn="ctr" indent="0" marL="0">
              <a:lnSpc>
                <a:spcPct val="115000"/>
              </a:lnSpc>
              <a:buNone/>
            </a:pPr>
            <a:r>
              <a:rPr lang="en-US" altLang="en-US" sz="700" b="1" dirty="0">
                <a:solidFill>
                  <a:srgbClr val="1B2A38"/>
                </a:solidFill>
                <a:latin typeface="Arial" pitchFamily="34" charset="0"/>
                <a:ea typeface="Yu Gothic" pitchFamily="34" charset="-122"/>
                <a:cs typeface="Yu Gothic" pitchFamily="34" charset="-120"/>
              </a:rPr>
              <a:t>IT portfolio &amp; demand mgmt</a:t>
            </a:r>
          </a:p>
        </p:txBody>
      </p:sp>
      <p:sp>
        <p:nvSpPr>
          <p:cNvPr id="131" name="Map Chip"/>
          <p:cNvSpPr/>
          <p:nvPr/>
        </p:nvSpPr>
        <p:spPr>
          <a:xfrm>
            <a:off x="9584740" y="3520440"/>
            <a:ext cx="927201" cy="292608"/>
          </a:xfrm>
          <a:prstGeom prst="roundRect">
            <a:avLst>
              <a:gd name="adj" fmla="val 8000"/>
            </a:avLst>
          </a:prstGeom>
          <a:solidFill>
            <a:srgbClr val="FFFFFF"/>
          </a:solidFill>
          <a:ln w="9525">
            <a:solidFill>
              <a:srgbClr val="D5DADF"/>
            </a:solidFill>
          </a:ln>
        </p:spPr>
      </p:sp>
      <p:sp>
        <p:nvSpPr>
          <p:cNvPr id="132" name="Map Chip Text"/>
          <p:cNvSpPr txBox="1"/>
          <p:nvPr/>
        </p:nvSpPr>
        <p:spPr>
          <a:xfrm>
            <a:off x="9584740" y="3520440"/>
            <a:ext cx="927201" cy="292608"/>
          </a:xfrm>
          <a:prstGeom prst="rect">
            <a:avLst/>
          </a:prstGeom>
          <a:noFill/>
          <a:ln/>
        </p:spPr>
        <p:txBody>
          <a:bodyPr wrap="square" lIns="27432" tIns="0" rIns="27432" bIns="0" rtlCol="0" anchor="ctr"/>
          <a:lstStyle/>
          <a:p>
            <a:pPr algn="ctr" indent="0" marL="0">
              <a:lnSpc>
                <a:spcPct val="115000"/>
              </a:lnSpc>
              <a:buNone/>
            </a:pPr>
            <a:r>
              <a:rPr lang="en-US" altLang="en-US" sz="700" b="0" dirty="0">
                <a:solidFill>
                  <a:srgbClr val="3E4A56"/>
                </a:solidFill>
                <a:latin typeface="Arial" pitchFamily="34" charset="0"/>
                <a:ea typeface="Yu Gothic" pitchFamily="34" charset="-122"/>
                <a:cs typeface="Yu Gothic" pitchFamily="34" charset="-120"/>
              </a:rPr>
              <a:t>IT governance &amp; risk mgmt</a:t>
            </a:r>
          </a:p>
        </p:txBody>
      </p:sp>
      <p:sp>
        <p:nvSpPr>
          <p:cNvPr id="133" name="Map Chip"/>
          <p:cNvSpPr/>
          <p:nvPr/>
        </p:nvSpPr>
        <p:spPr>
          <a:xfrm>
            <a:off x="10548518" y="3520440"/>
            <a:ext cx="927201" cy="292608"/>
          </a:xfrm>
          <a:prstGeom prst="roundRect">
            <a:avLst>
              <a:gd name="adj" fmla="val 8000"/>
            </a:avLst>
          </a:prstGeom>
          <a:solidFill>
            <a:srgbClr val="FFFFFF"/>
          </a:solidFill>
          <a:ln w="9525">
            <a:solidFill>
              <a:srgbClr val="D5DADF"/>
            </a:solidFill>
          </a:ln>
        </p:spPr>
      </p:sp>
      <p:sp>
        <p:nvSpPr>
          <p:cNvPr id="134" name="Map Chip Text"/>
          <p:cNvSpPr txBox="1"/>
          <p:nvPr/>
        </p:nvSpPr>
        <p:spPr>
          <a:xfrm>
            <a:off x="10548518" y="3520440"/>
            <a:ext cx="927201" cy="292608"/>
          </a:xfrm>
          <a:prstGeom prst="rect">
            <a:avLst/>
          </a:prstGeom>
          <a:noFill/>
          <a:ln/>
        </p:spPr>
        <p:txBody>
          <a:bodyPr wrap="square" lIns="27432" tIns="0" rIns="27432" bIns="0" rtlCol="0" anchor="ctr"/>
          <a:lstStyle/>
          <a:p>
            <a:pPr algn="ctr" indent="0" marL="0">
              <a:lnSpc>
                <a:spcPct val="115000"/>
              </a:lnSpc>
              <a:buNone/>
            </a:pPr>
            <a:r>
              <a:rPr lang="en-US" altLang="en-US" sz="700" b="0" dirty="0">
                <a:solidFill>
                  <a:srgbClr val="3E4A56"/>
                </a:solidFill>
                <a:latin typeface="Arial" pitchFamily="34" charset="0"/>
                <a:ea typeface="Yu Gothic" pitchFamily="34" charset="-122"/>
                <a:cs typeface="Yu Gothic" pitchFamily="34" charset="-120"/>
              </a:rPr>
              <a:t>IT financial mgmt</a:t>
            </a:r>
          </a:p>
        </p:txBody>
      </p:sp>
      <p:sp>
        <p:nvSpPr>
          <p:cNvPr id="135" name="Map Core Label"/>
          <p:cNvSpPr txBox="1"/>
          <p:nvPr/>
        </p:nvSpPr>
        <p:spPr>
          <a:xfrm>
            <a:off x="5733288" y="3913632"/>
            <a:ext cx="1122883" cy="201168"/>
          </a:xfrm>
          <a:prstGeom prst="rect">
            <a:avLst/>
          </a:prstGeom>
          <a:noFill/>
          <a:ln/>
        </p:spPr>
        <p:txBody>
          <a:bodyPr wrap="square" lIns="0" tIns="0" rIns="0" bIns="0" rtlCol="0" anchor="ctr"/>
          <a:lstStyle/>
          <a:p>
            <a:pPr algn="ctr" indent="0" marL="0">
              <a:lnSpc>
                <a:spcPct val="115000"/>
              </a:lnSpc>
              <a:buNone/>
            </a:pPr>
            <a:r>
              <a:rPr lang="en-US" altLang="en-US" sz="750" b="1" dirty="0">
                <a:solidFill>
                  <a:srgbClr val="1B2A38"/>
                </a:solidFill>
                <a:latin typeface="Arial" pitchFamily="34" charset="0"/>
                <a:ea typeface="Yu Gothic" pitchFamily="34" charset="-122"/>
                <a:cs typeface="Yu Gothic" pitchFamily="34" charset="-120"/>
              </a:rPr>
              <a:t>Solution Delivery</a:t>
            </a:r>
          </a:p>
        </p:txBody>
      </p:sp>
      <p:sp>
        <p:nvSpPr>
          <p:cNvPr id="136" name="Map Chip"/>
          <p:cNvSpPr/>
          <p:nvPr/>
        </p:nvSpPr>
        <p:spPr>
          <a:xfrm>
            <a:off x="5733288" y="4133088"/>
            <a:ext cx="1122883" cy="265176"/>
          </a:xfrm>
          <a:prstGeom prst="roundRect">
            <a:avLst>
              <a:gd name="adj" fmla="val 8000"/>
            </a:avLst>
          </a:prstGeom>
          <a:solidFill>
            <a:srgbClr val="FFFFFF"/>
          </a:solidFill>
          <a:ln w="9525">
            <a:solidFill>
              <a:srgbClr val="D5DADF"/>
            </a:solidFill>
          </a:ln>
        </p:spPr>
      </p:sp>
      <p:sp>
        <p:nvSpPr>
          <p:cNvPr id="137" name="Map Chip Text"/>
          <p:cNvSpPr txBox="1"/>
          <p:nvPr/>
        </p:nvSpPr>
        <p:spPr>
          <a:xfrm>
            <a:off x="5733288" y="4133088"/>
            <a:ext cx="1122883" cy="265176"/>
          </a:xfrm>
          <a:prstGeom prst="rect">
            <a:avLst/>
          </a:prstGeom>
          <a:noFill/>
          <a:ln/>
        </p:spPr>
        <p:txBody>
          <a:bodyPr wrap="square" lIns="27432" tIns="0" rIns="27432" bIns="0" rtlCol="0" anchor="ctr"/>
          <a:lstStyle/>
          <a:p>
            <a:pPr algn="ctr" indent="0" marL="0">
              <a:lnSpc>
                <a:spcPct val="115000"/>
              </a:lnSpc>
              <a:buNone/>
            </a:pPr>
            <a:r>
              <a:rPr lang="en-US" altLang="en-US" sz="700" b="0" dirty="0">
                <a:solidFill>
                  <a:srgbClr val="3E4A56"/>
                </a:solidFill>
                <a:latin typeface="Arial" pitchFamily="34" charset="0"/>
                <a:ea typeface="Yu Gothic" pitchFamily="34" charset="-122"/>
                <a:cs typeface="Yu Gothic" pitchFamily="34" charset="-120"/>
              </a:rPr>
              <a:t>Project mgmt</a:t>
            </a:r>
          </a:p>
        </p:txBody>
      </p:sp>
      <p:sp>
        <p:nvSpPr>
          <p:cNvPr id="138" name="Map Chip"/>
          <p:cNvSpPr/>
          <p:nvPr/>
        </p:nvSpPr>
        <p:spPr>
          <a:xfrm>
            <a:off x="5733288" y="4425696"/>
            <a:ext cx="1122883" cy="265176"/>
          </a:xfrm>
          <a:prstGeom prst="roundRect">
            <a:avLst>
              <a:gd name="adj" fmla="val 8000"/>
            </a:avLst>
          </a:prstGeom>
          <a:solidFill>
            <a:srgbClr val="FFFFFF"/>
          </a:solidFill>
          <a:ln w="9525">
            <a:solidFill>
              <a:srgbClr val="D5DADF"/>
            </a:solidFill>
          </a:ln>
        </p:spPr>
      </p:sp>
      <p:sp>
        <p:nvSpPr>
          <p:cNvPr id="139" name="Map Chip Text"/>
          <p:cNvSpPr txBox="1"/>
          <p:nvPr/>
        </p:nvSpPr>
        <p:spPr>
          <a:xfrm>
            <a:off x="5733288" y="4425696"/>
            <a:ext cx="1122883" cy="265176"/>
          </a:xfrm>
          <a:prstGeom prst="rect">
            <a:avLst/>
          </a:prstGeom>
          <a:noFill/>
          <a:ln/>
        </p:spPr>
        <p:txBody>
          <a:bodyPr wrap="square" lIns="27432" tIns="0" rIns="27432" bIns="0" rtlCol="0" anchor="ctr"/>
          <a:lstStyle/>
          <a:p>
            <a:pPr algn="ctr" indent="0" marL="0">
              <a:lnSpc>
                <a:spcPct val="115000"/>
              </a:lnSpc>
              <a:buNone/>
            </a:pPr>
            <a:r>
              <a:rPr lang="en-US" altLang="en-US" sz="700" b="0" dirty="0">
                <a:solidFill>
                  <a:srgbClr val="3E4A56"/>
                </a:solidFill>
                <a:latin typeface="Arial" pitchFamily="34" charset="0"/>
                <a:ea typeface="Yu Gothic" pitchFamily="34" charset="-122"/>
                <a:cs typeface="Yu Gothic" pitchFamily="34" charset="-120"/>
              </a:rPr>
              <a:t>Requirements &amp; design</a:t>
            </a:r>
          </a:p>
        </p:txBody>
      </p:sp>
      <p:sp>
        <p:nvSpPr>
          <p:cNvPr id="140" name="Map Chip"/>
          <p:cNvSpPr/>
          <p:nvPr/>
        </p:nvSpPr>
        <p:spPr>
          <a:xfrm>
            <a:off x="5733288" y="4718304"/>
            <a:ext cx="1122883" cy="265176"/>
          </a:xfrm>
          <a:prstGeom prst="roundRect">
            <a:avLst>
              <a:gd name="adj" fmla="val 8000"/>
            </a:avLst>
          </a:prstGeom>
          <a:solidFill>
            <a:srgbClr val="FDF4E0"/>
          </a:solidFill>
          <a:ln w="15875">
            <a:solidFill>
              <a:srgbClr val="C98A12"/>
            </a:solidFill>
          </a:ln>
        </p:spPr>
      </p:sp>
      <p:sp>
        <p:nvSpPr>
          <p:cNvPr id="141" name="Map Chip Text"/>
          <p:cNvSpPr txBox="1"/>
          <p:nvPr/>
        </p:nvSpPr>
        <p:spPr>
          <a:xfrm>
            <a:off x="5733288" y="4718304"/>
            <a:ext cx="1122883" cy="265176"/>
          </a:xfrm>
          <a:prstGeom prst="rect">
            <a:avLst/>
          </a:prstGeom>
          <a:noFill/>
          <a:ln/>
        </p:spPr>
        <p:txBody>
          <a:bodyPr wrap="square" lIns="27432" tIns="0" rIns="27432" bIns="0" rtlCol="0" anchor="ctr"/>
          <a:lstStyle/>
          <a:p>
            <a:pPr algn="ctr" indent="0" marL="0">
              <a:lnSpc>
                <a:spcPct val="115000"/>
              </a:lnSpc>
              <a:buNone/>
            </a:pPr>
            <a:r>
              <a:rPr lang="en-US" altLang="en-US" sz="700" b="1" dirty="0">
                <a:solidFill>
                  <a:srgbClr val="1B2A38"/>
                </a:solidFill>
                <a:latin typeface="Arial" pitchFamily="34" charset="0"/>
                <a:ea typeface="Yu Gothic" pitchFamily="34" charset="-122"/>
                <a:cs typeface="Yu Gothic" pitchFamily="34" charset="-120"/>
              </a:rPr>
              <a:t>Development &amp; configuration</a:t>
            </a:r>
          </a:p>
        </p:txBody>
      </p:sp>
      <p:sp>
        <p:nvSpPr>
          <p:cNvPr id="142" name="Map Chip"/>
          <p:cNvSpPr/>
          <p:nvPr/>
        </p:nvSpPr>
        <p:spPr>
          <a:xfrm>
            <a:off x="5733288" y="5010912"/>
            <a:ext cx="1122883" cy="265176"/>
          </a:xfrm>
          <a:prstGeom prst="roundRect">
            <a:avLst>
              <a:gd name="adj" fmla="val 8000"/>
            </a:avLst>
          </a:prstGeom>
          <a:solidFill>
            <a:srgbClr val="FFFFFF"/>
          </a:solidFill>
          <a:ln w="9525">
            <a:solidFill>
              <a:srgbClr val="D5DADF"/>
            </a:solidFill>
          </a:ln>
        </p:spPr>
      </p:sp>
      <p:sp>
        <p:nvSpPr>
          <p:cNvPr id="143" name="Map Chip Text"/>
          <p:cNvSpPr txBox="1"/>
          <p:nvPr/>
        </p:nvSpPr>
        <p:spPr>
          <a:xfrm>
            <a:off x="5733288" y="5010912"/>
            <a:ext cx="1122883" cy="265176"/>
          </a:xfrm>
          <a:prstGeom prst="rect">
            <a:avLst/>
          </a:prstGeom>
          <a:noFill/>
          <a:ln/>
        </p:spPr>
        <p:txBody>
          <a:bodyPr wrap="square" lIns="27432" tIns="0" rIns="27432" bIns="0" rtlCol="0" anchor="ctr"/>
          <a:lstStyle/>
          <a:p>
            <a:pPr algn="ctr" indent="0" marL="0">
              <a:lnSpc>
                <a:spcPct val="115000"/>
              </a:lnSpc>
              <a:buNone/>
            </a:pPr>
            <a:r>
              <a:rPr lang="en-US" altLang="en-US" sz="700" b="0" dirty="0">
                <a:solidFill>
                  <a:srgbClr val="3E4A56"/>
                </a:solidFill>
                <a:latin typeface="Arial" pitchFamily="34" charset="0"/>
                <a:ea typeface="Yu Gothic" pitchFamily="34" charset="-122"/>
                <a:cs typeface="Yu Gothic" pitchFamily="34" charset="-120"/>
              </a:rPr>
              <a:t>Test &amp; release</a:t>
            </a:r>
          </a:p>
        </p:txBody>
      </p:sp>
      <p:sp>
        <p:nvSpPr>
          <p:cNvPr id="144" name="Map Core Label"/>
          <p:cNvSpPr txBox="1"/>
          <p:nvPr/>
        </p:nvSpPr>
        <p:spPr>
          <a:xfrm>
            <a:off x="6901891" y="3913632"/>
            <a:ext cx="1122883" cy="201168"/>
          </a:xfrm>
          <a:prstGeom prst="rect">
            <a:avLst/>
          </a:prstGeom>
          <a:noFill/>
          <a:ln/>
        </p:spPr>
        <p:txBody>
          <a:bodyPr wrap="square" lIns="0" tIns="0" rIns="0" bIns="0" rtlCol="0" anchor="ctr"/>
          <a:lstStyle/>
          <a:p>
            <a:pPr algn="ctr" indent="0" marL="0">
              <a:lnSpc>
                <a:spcPct val="115000"/>
              </a:lnSpc>
              <a:buNone/>
            </a:pPr>
            <a:r>
              <a:rPr lang="en-US" altLang="en-US" sz="750" b="1" dirty="0">
                <a:solidFill>
                  <a:srgbClr val="1B2A38"/>
                </a:solidFill>
                <a:latin typeface="Arial" pitchFamily="34" charset="0"/>
                <a:ea typeface="Yu Gothic" pitchFamily="34" charset="-122"/>
                <a:cs typeface="Yu Gothic" pitchFamily="34" charset="-120"/>
              </a:rPr>
              <a:t>Service Mgmt &amp; Ops</a:t>
            </a:r>
          </a:p>
        </p:txBody>
      </p:sp>
      <p:sp>
        <p:nvSpPr>
          <p:cNvPr id="145" name="Map Chip"/>
          <p:cNvSpPr/>
          <p:nvPr/>
        </p:nvSpPr>
        <p:spPr>
          <a:xfrm>
            <a:off x="6901891" y="4133088"/>
            <a:ext cx="1122883" cy="265176"/>
          </a:xfrm>
          <a:prstGeom prst="roundRect">
            <a:avLst>
              <a:gd name="adj" fmla="val 8000"/>
            </a:avLst>
          </a:prstGeom>
          <a:solidFill>
            <a:srgbClr val="FFFFFF"/>
          </a:solidFill>
          <a:ln w="9525">
            <a:solidFill>
              <a:srgbClr val="D5DADF"/>
            </a:solidFill>
          </a:ln>
        </p:spPr>
      </p:sp>
      <p:sp>
        <p:nvSpPr>
          <p:cNvPr id="146" name="Map Chip Text"/>
          <p:cNvSpPr txBox="1"/>
          <p:nvPr/>
        </p:nvSpPr>
        <p:spPr>
          <a:xfrm>
            <a:off x="6901891" y="4133088"/>
            <a:ext cx="1122883" cy="265176"/>
          </a:xfrm>
          <a:prstGeom prst="rect">
            <a:avLst/>
          </a:prstGeom>
          <a:noFill/>
          <a:ln/>
        </p:spPr>
        <p:txBody>
          <a:bodyPr wrap="square" lIns="27432" tIns="0" rIns="27432" bIns="0" rtlCol="0" anchor="ctr"/>
          <a:lstStyle/>
          <a:p>
            <a:pPr algn="ctr" indent="0" marL="0">
              <a:lnSpc>
                <a:spcPct val="115000"/>
              </a:lnSpc>
              <a:buNone/>
            </a:pPr>
            <a:r>
              <a:rPr lang="en-US" altLang="en-US" sz="700" b="0" dirty="0">
                <a:solidFill>
                  <a:srgbClr val="3E4A56"/>
                </a:solidFill>
                <a:latin typeface="Arial" pitchFamily="34" charset="0"/>
                <a:ea typeface="Yu Gothic" pitchFamily="34" charset="-122"/>
                <a:cs typeface="Yu Gothic" pitchFamily="34" charset="-120"/>
              </a:rPr>
              <a:t>Service catalog &amp; service level mgmt</a:t>
            </a:r>
          </a:p>
        </p:txBody>
      </p:sp>
      <p:sp>
        <p:nvSpPr>
          <p:cNvPr id="147" name="Map Chip"/>
          <p:cNvSpPr/>
          <p:nvPr/>
        </p:nvSpPr>
        <p:spPr>
          <a:xfrm>
            <a:off x="6901891" y="4425696"/>
            <a:ext cx="1122883" cy="265176"/>
          </a:xfrm>
          <a:prstGeom prst="roundRect">
            <a:avLst>
              <a:gd name="adj" fmla="val 8000"/>
            </a:avLst>
          </a:prstGeom>
          <a:solidFill>
            <a:srgbClr val="FFFFFF"/>
          </a:solidFill>
          <a:ln w="9525">
            <a:solidFill>
              <a:srgbClr val="D5DADF"/>
            </a:solidFill>
          </a:ln>
        </p:spPr>
      </p:sp>
      <p:sp>
        <p:nvSpPr>
          <p:cNvPr id="148" name="Map Chip Text"/>
          <p:cNvSpPr txBox="1"/>
          <p:nvPr/>
        </p:nvSpPr>
        <p:spPr>
          <a:xfrm>
            <a:off x="6901891" y="4425696"/>
            <a:ext cx="1122883" cy="265176"/>
          </a:xfrm>
          <a:prstGeom prst="rect">
            <a:avLst/>
          </a:prstGeom>
          <a:noFill/>
          <a:ln/>
        </p:spPr>
        <p:txBody>
          <a:bodyPr wrap="square" lIns="27432" tIns="0" rIns="27432" bIns="0" rtlCol="0" anchor="ctr"/>
          <a:lstStyle/>
          <a:p>
            <a:pPr algn="ctr" indent="0" marL="0">
              <a:lnSpc>
                <a:spcPct val="115000"/>
              </a:lnSpc>
              <a:buNone/>
            </a:pPr>
            <a:r>
              <a:rPr lang="en-US" altLang="en-US" sz="700" b="0" dirty="0">
                <a:solidFill>
                  <a:srgbClr val="3E4A56"/>
                </a:solidFill>
                <a:latin typeface="Arial" pitchFamily="34" charset="0"/>
                <a:ea typeface="Yu Gothic" pitchFamily="34" charset="-122"/>
                <a:cs typeface="Yu Gothic" pitchFamily="34" charset="-120"/>
              </a:rPr>
              <a:t>Service desk &amp; request fulfillment</a:t>
            </a:r>
          </a:p>
        </p:txBody>
      </p:sp>
      <p:sp>
        <p:nvSpPr>
          <p:cNvPr id="149" name="Map Chip"/>
          <p:cNvSpPr/>
          <p:nvPr/>
        </p:nvSpPr>
        <p:spPr>
          <a:xfrm>
            <a:off x="6901891" y="4718304"/>
            <a:ext cx="1122883" cy="265176"/>
          </a:xfrm>
          <a:prstGeom prst="roundRect">
            <a:avLst>
              <a:gd name="adj" fmla="val 8000"/>
            </a:avLst>
          </a:prstGeom>
          <a:solidFill>
            <a:srgbClr val="FFFFFF"/>
          </a:solidFill>
          <a:ln w="9525">
            <a:solidFill>
              <a:srgbClr val="D5DADF"/>
            </a:solidFill>
          </a:ln>
        </p:spPr>
      </p:sp>
      <p:sp>
        <p:nvSpPr>
          <p:cNvPr id="150" name="Map Chip Text"/>
          <p:cNvSpPr txBox="1"/>
          <p:nvPr/>
        </p:nvSpPr>
        <p:spPr>
          <a:xfrm>
            <a:off x="6901891" y="4718304"/>
            <a:ext cx="1122883" cy="265176"/>
          </a:xfrm>
          <a:prstGeom prst="rect">
            <a:avLst/>
          </a:prstGeom>
          <a:noFill/>
          <a:ln/>
        </p:spPr>
        <p:txBody>
          <a:bodyPr wrap="square" lIns="27432" tIns="0" rIns="27432" bIns="0" rtlCol="0" anchor="ctr"/>
          <a:lstStyle/>
          <a:p>
            <a:pPr algn="ctr" indent="0" marL="0">
              <a:lnSpc>
                <a:spcPct val="115000"/>
              </a:lnSpc>
              <a:buNone/>
            </a:pPr>
            <a:r>
              <a:rPr lang="en-US" altLang="en-US" sz="700" b="0" dirty="0">
                <a:solidFill>
                  <a:srgbClr val="3E4A56"/>
                </a:solidFill>
                <a:latin typeface="Arial" pitchFamily="34" charset="0"/>
                <a:ea typeface="Yu Gothic" pitchFamily="34" charset="-122"/>
                <a:cs typeface="Yu Gothic" pitchFamily="34" charset="-120"/>
              </a:rPr>
              <a:t>IT operations &amp; monitoring</a:t>
            </a:r>
          </a:p>
        </p:txBody>
      </p:sp>
      <p:sp>
        <p:nvSpPr>
          <p:cNvPr id="151" name="Map Chip"/>
          <p:cNvSpPr/>
          <p:nvPr/>
        </p:nvSpPr>
        <p:spPr>
          <a:xfrm>
            <a:off x="6901891" y="5010912"/>
            <a:ext cx="1122883" cy="265176"/>
          </a:xfrm>
          <a:prstGeom prst="roundRect">
            <a:avLst>
              <a:gd name="adj" fmla="val 8000"/>
            </a:avLst>
          </a:prstGeom>
          <a:solidFill>
            <a:srgbClr val="FFFFFF"/>
          </a:solidFill>
          <a:ln w="9525">
            <a:solidFill>
              <a:srgbClr val="D5DADF"/>
            </a:solidFill>
          </a:ln>
        </p:spPr>
      </p:sp>
      <p:sp>
        <p:nvSpPr>
          <p:cNvPr id="152" name="Map Chip Text"/>
          <p:cNvSpPr txBox="1"/>
          <p:nvPr/>
        </p:nvSpPr>
        <p:spPr>
          <a:xfrm>
            <a:off x="6901891" y="5010912"/>
            <a:ext cx="1122883" cy="265176"/>
          </a:xfrm>
          <a:prstGeom prst="rect">
            <a:avLst/>
          </a:prstGeom>
          <a:noFill/>
          <a:ln/>
        </p:spPr>
        <p:txBody>
          <a:bodyPr wrap="square" lIns="27432" tIns="0" rIns="27432" bIns="0" rtlCol="0" anchor="ctr"/>
          <a:lstStyle/>
          <a:p>
            <a:pPr algn="ctr" indent="0" marL="0">
              <a:lnSpc>
                <a:spcPct val="115000"/>
              </a:lnSpc>
              <a:buNone/>
            </a:pPr>
            <a:r>
              <a:rPr lang="en-US" altLang="en-US" sz="700" b="0" dirty="0">
                <a:solidFill>
                  <a:srgbClr val="3E4A56"/>
                </a:solidFill>
                <a:latin typeface="Arial" pitchFamily="34" charset="0"/>
                <a:ea typeface="Yu Gothic" pitchFamily="34" charset="-122"/>
                <a:cs typeface="Yu Gothic" pitchFamily="34" charset="-120"/>
              </a:rPr>
              <a:t>Incident &amp; problem mgmt</a:t>
            </a:r>
          </a:p>
        </p:txBody>
      </p:sp>
      <p:sp>
        <p:nvSpPr>
          <p:cNvPr id="153" name="Map Chip"/>
          <p:cNvSpPr/>
          <p:nvPr/>
        </p:nvSpPr>
        <p:spPr>
          <a:xfrm>
            <a:off x="6901891" y="5303520"/>
            <a:ext cx="1122883" cy="265176"/>
          </a:xfrm>
          <a:prstGeom prst="roundRect">
            <a:avLst>
              <a:gd name="adj" fmla="val 8000"/>
            </a:avLst>
          </a:prstGeom>
          <a:solidFill>
            <a:srgbClr val="FDF4E0"/>
          </a:solidFill>
          <a:ln w="15875">
            <a:solidFill>
              <a:srgbClr val="C98A12"/>
            </a:solidFill>
          </a:ln>
        </p:spPr>
      </p:sp>
      <p:sp>
        <p:nvSpPr>
          <p:cNvPr id="154" name="Map Chip Text"/>
          <p:cNvSpPr txBox="1"/>
          <p:nvPr/>
        </p:nvSpPr>
        <p:spPr>
          <a:xfrm>
            <a:off x="6901891" y="5303520"/>
            <a:ext cx="1122883" cy="265176"/>
          </a:xfrm>
          <a:prstGeom prst="rect">
            <a:avLst/>
          </a:prstGeom>
          <a:noFill/>
          <a:ln/>
        </p:spPr>
        <p:txBody>
          <a:bodyPr wrap="square" lIns="27432" tIns="0" rIns="27432" bIns="0" rtlCol="0" anchor="ctr"/>
          <a:lstStyle/>
          <a:p>
            <a:pPr algn="ctr" indent="0" marL="0">
              <a:lnSpc>
                <a:spcPct val="115000"/>
              </a:lnSpc>
              <a:buNone/>
            </a:pPr>
            <a:r>
              <a:rPr lang="en-US" altLang="en-US" sz="700" b="1" dirty="0">
                <a:solidFill>
                  <a:srgbClr val="1B2A38"/>
                </a:solidFill>
                <a:latin typeface="Arial" pitchFamily="34" charset="0"/>
                <a:ea typeface="Yu Gothic" pitchFamily="34" charset="-122"/>
                <a:cs typeface="Yu Gothic" pitchFamily="34" charset="-120"/>
              </a:rPr>
              <a:t>Change &amp; configuration mgmt</a:t>
            </a:r>
          </a:p>
        </p:txBody>
      </p:sp>
      <p:sp>
        <p:nvSpPr>
          <p:cNvPr id="155" name="Map Core Label"/>
          <p:cNvSpPr txBox="1"/>
          <p:nvPr/>
        </p:nvSpPr>
        <p:spPr>
          <a:xfrm>
            <a:off x="8070494" y="3913632"/>
            <a:ext cx="1122883" cy="201168"/>
          </a:xfrm>
          <a:prstGeom prst="rect">
            <a:avLst/>
          </a:prstGeom>
          <a:noFill/>
          <a:ln/>
        </p:spPr>
        <p:txBody>
          <a:bodyPr wrap="square" lIns="0" tIns="0" rIns="0" bIns="0" rtlCol="0" anchor="ctr"/>
          <a:lstStyle/>
          <a:p>
            <a:pPr algn="ctr" indent="0" marL="0">
              <a:lnSpc>
                <a:spcPct val="115000"/>
              </a:lnSpc>
              <a:buNone/>
            </a:pPr>
            <a:r>
              <a:rPr lang="en-US" altLang="en-US" sz="750" b="1" dirty="0">
                <a:solidFill>
                  <a:srgbClr val="1B2A38"/>
                </a:solidFill>
                <a:latin typeface="Arial" pitchFamily="34" charset="0"/>
                <a:ea typeface="Yu Gothic" pitchFamily="34" charset="-122"/>
                <a:cs typeface="Yu Gothic" pitchFamily="34" charset="-120"/>
              </a:rPr>
              <a:t>Platform &amp; Infra</a:t>
            </a:r>
          </a:p>
        </p:txBody>
      </p:sp>
      <p:sp>
        <p:nvSpPr>
          <p:cNvPr id="156" name="Map Chip"/>
          <p:cNvSpPr/>
          <p:nvPr/>
        </p:nvSpPr>
        <p:spPr>
          <a:xfrm>
            <a:off x="8070494" y="4133088"/>
            <a:ext cx="1122883" cy="265176"/>
          </a:xfrm>
          <a:prstGeom prst="roundRect">
            <a:avLst>
              <a:gd name="adj" fmla="val 8000"/>
            </a:avLst>
          </a:prstGeom>
          <a:solidFill>
            <a:srgbClr val="FFFFFF"/>
          </a:solidFill>
          <a:ln w="9525">
            <a:solidFill>
              <a:srgbClr val="D5DADF"/>
            </a:solidFill>
          </a:ln>
        </p:spPr>
      </p:sp>
      <p:sp>
        <p:nvSpPr>
          <p:cNvPr id="157" name="Map Chip Text"/>
          <p:cNvSpPr txBox="1"/>
          <p:nvPr/>
        </p:nvSpPr>
        <p:spPr>
          <a:xfrm>
            <a:off x="8070494" y="4133088"/>
            <a:ext cx="1122883" cy="265176"/>
          </a:xfrm>
          <a:prstGeom prst="rect">
            <a:avLst/>
          </a:prstGeom>
          <a:noFill/>
          <a:ln/>
        </p:spPr>
        <p:txBody>
          <a:bodyPr wrap="square" lIns="27432" tIns="0" rIns="27432" bIns="0" rtlCol="0" anchor="ctr"/>
          <a:lstStyle/>
          <a:p>
            <a:pPr algn="ctr" indent="0" marL="0">
              <a:lnSpc>
                <a:spcPct val="115000"/>
              </a:lnSpc>
              <a:buNone/>
            </a:pPr>
            <a:r>
              <a:rPr lang="en-US" altLang="en-US" sz="700" b="0" dirty="0">
                <a:solidFill>
                  <a:srgbClr val="3E4A56"/>
                </a:solidFill>
                <a:latin typeface="Arial" pitchFamily="34" charset="0"/>
                <a:ea typeface="Yu Gothic" pitchFamily="34" charset="-122"/>
                <a:cs typeface="Yu Gothic" pitchFamily="34" charset="-120"/>
              </a:rPr>
              <a:t>Cloud &amp; data center</a:t>
            </a:r>
          </a:p>
        </p:txBody>
      </p:sp>
      <p:sp>
        <p:nvSpPr>
          <p:cNvPr id="158" name="Map Chip"/>
          <p:cNvSpPr/>
          <p:nvPr/>
        </p:nvSpPr>
        <p:spPr>
          <a:xfrm>
            <a:off x="8070494" y="4425696"/>
            <a:ext cx="1122883" cy="265176"/>
          </a:xfrm>
          <a:prstGeom prst="roundRect">
            <a:avLst>
              <a:gd name="adj" fmla="val 8000"/>
            </a:avLst>
          </a:prstGeom>
          <a:solidFill>
            <a:srgbClr val="FFFFFF"/>
          </a:solidFill>
          <a:ln w="9525">
            <a:solidFill>
              <a:srgbClr val="D5DADF"/>
            </a:solidFill>
          </a:ln>
        </p:spPr>
      </p:sp>
      <p:sp>
        <p:nvSpPr>
          <p:cNvPr id="159" name="Map Chip Text"/>
          <p:cNvSpPr txBox="1"/>
          <p:nvPr/>
        </p:nvSpPr>
        <p:spPr>
          <a:xfrm>
            <a:off x="8070494" y="4425696"/>
            <a:ext cx="1122883" cy="265176"/>
          </a:xfrm>
          <a:prstGeom prst="rect">
            <a:avLst/>
          </a:prstGeom>
          <a:noFill/>
          <a:ln/>
        </p:spPr>
        <p:txBody>
          <a:bodyPr wrap="square" lIns="27432" tIns="0" rIns="27432" bIns="0" rtlCol="0" anchor="ctr"/>
          <a:lstStyle/>
          <a:p>
            <a:pPr algn="ctr" indent="0" marL="0">
              <a:lnSpc>
                <a:spcPct val="115000"/>
              </a:lnSpc>
              <a:buNone/>
            </a:pPr>
            <a:r>
              <a:rPr lang="en-US" altLang="en-US" sz="700" b="0" dirty="0">
                <a:solidFill>
                  <a:srgbClr val="3E4A56"/>
                </a:solidFill>
                <a:latin typeface="Arial" pitchFamily="34" charset="0"/>
                <a:ea typeface="Yu Gothic" pitchFamily="34" charset="-122"/>
                <a:cs typeface="Yu Gothic" pitchFamily="34" charset="-120"/>
              </a:rPr>
              <a:t>Network</a:t>
            </a:r>
          </a:p>
        </p:txBody>
      </p:sp>
      <p:sp>
        <p:nvSpPr>
          <p:cNvPr id="160" name="Map Chip"/>
          <p:cNvSpPr/>
          <p:nvPr/>
        </p:nvSpPr>
        <p:spPr>
          <a:xfrm>
            <a:off x="8070494" y="4718304"/>
            <a:ext cx="1122883" cy="265176"/>
          </a:xfrm>
          <a:prstGeom prst="roundRect">
            <a:avLst>
              <a:gd name="adj" fmla="val 8000"/>
            </a:avLst>
          </a:prstGeom>
          <a:solidFill>
            <a:srgbClr val="FFFFFF"/>
          </a:solidFill>
          <a:ln w="9525">
            <a:solidFill>
              <a:srgbClr val="D5DADF"/>
            </a:solidFill>
          </a:ln>
        </p:spPr>
      </p:sp>
      <p:sp>
        <p:nvSpPr>
          <p:cNvPr id="161" name="Map Chip Text"/>
          <p:cNvSpPr txBox="1"/>
          <p:nvPr/>
        </p:nvSpPr>
        <p:spPr>
          <a:xfrm>
            <a:off x="8070494" y="4718304"/>
            <a:ext cx="1122883" cy="265176"/>
          </a:xfrm>
          <a:prstGeom prst="rect">
            <a:avLst/>
          </a:prstGeom>
          <a:noFill/>
          <a:ln/>
        </p:spPr>
        <p:txBody>
          <a:bodyPr wrap="square" lIns="27432" tIns="0" rIns="27432" bIns="0" rtlCol="0" anchor="ctr"/>
          <a:lstStyle/>
          <a:p>
            <a:pPr algn="ctr" indent="0" marL="0">
              <a:lnSpc>
                <a:spcPct val="115000"/>
              </a:lnSpc>
              <a:buNone/>
            </a:pPr>
            <a:r>
              <a:rPr lang="en-US" altLang="en-US" sz="700" b="0" dirty="0">
                <a:solidFill>
                  <a:srgbClr val="3E4A56"/>
                </a:solidFill>
                <a:latin typeface="Arial" pitchFamily="34" charset="0"/>
                <a:ea typeface="Yu Gothic" pitchFamily="34" charset="-122"/>
                <a:cs typeface="Yu Gothic" pitchFamily="34" charset="-120"/>
              </a:rPr>
              <a:t>End-user environment</a:t>
            </a:r>
          </a:p>
        </p:txBody>
      </p:sp>
      <p:sp>
        <p:nvSpPr>
          <p:cNvPr id="162" name="Map Chip"/>
          <p:cNvSpPr/>
          <p:nvPr/>
        </p:nvSpPr>
        <p:spPr>
          <a:xfrm>
            <a:off x="8070494" y="5010912"/>
            <a:ext cx="1122883" cy="265176"/>
          </a:xfrm>
          <a:prstGeom prst="roundRect">
            <a:avLst>
              <a:gd name="adj" fmla="val 8000"/>
            </a:avLst>
          </a:prstGeom>
          <a:solidFill>
            <a:srgbClr val="FDF4E0"/>
          </a:solidFill>
          <a:ln w="15875">
            <a:solidFill>
              <a:srgbClr val="C98A12"/>
            </a:solidFill>
          </a:ln>
        </p:spPr>
      </p:sp>
      <p:sp>
        <p:nvSpPr>
          <p:cNvPr id="163" name="Map Chip Text"/>
          <p:cNvSpPr txBox="1"/>
          <p:nvPr/>
        </p:nvSpPr>
        <p:spPr>
          <a:xfrm>
            <a:off x="8070494" y="5010912"/>
            <a:ext cx="1122883" cy="265176"/>
          </a:xfrm>
          <a:prstGeom prst="rect">
            <a:avLst/>
          </a:prstGeom>
          <a:noFill/>
          <a:ln/>
        </p:spPr>
        <p:txBody>
          <a:bodyPr wrap="square" lIns="27432" tIns="0" rIns="27432" bIns="0" rtlCol="0" anchor="ctr"/>
          <a:lstStyle/>
          <a:p>
            <a:pPr algn="ctr" indent="0" marL="0">
              <a:lnSpc>
                <a:spcPct val="115000"/>
              </a:lnSpc>
              <a:buNone/>
            </a:pPr>
            <a:r>
              <a:rPr lang="en-US" altLang="en-US" sz="700" b="1" dirty="0">
                <a:solidFill>
                  <a:srgbClr val="1B2A38"/>
                </a:solidFill>
                <a:latin typeface="Arial" pitchFamily="34" charset="0"/>
                <a:ea typeface="Yu Gothic" pitchFamily="34" charset="-122"/>
                <a:cs typeface="Yu Gothic" pitchFamily="34" charset="-120"/>
              </a:rPr>
              <a:t>IT asset &amp; license mgmt</a:t>
            </a:r>
          </a:p>
        </p:txBody>
      </p:sp>
      <p:sp>
        <p:nvSpPr>
          <p:cNvPr id="164" name="Map Core Label"/>
          <p:cNvSpPr txBox="1"/>
          <p:nvPr/>
        </p:nvSpPr>
        <p:spPr>
          <a:xfrm>
            <a:off x="9239097" y="3913632"/>
            <a:ext cx="1122883" cy="201168"/>
          </a:xfrm>
          <a:prstGeom prst="rect">
            <a:avLst/>
          </a:prstGeom>
          <a:noFill/>
          <a:ln/>
        </p:spPr>
        <p:txBody>
          <a:bodyPr wrap="square" lIns="0" tIns="0" rIns="0" bIns="0" rtlCol="0" anchor="ctr"/>
          <a:lstStyle/>
          <a:p>
            <a:pPr algn="ctr" indent="0" marL="0">
              <a:lnSpc>
                <a:spcPct val="115000"/>
              </a:lnSpc>
              <a:buNone/>
            </a:pPr>
            <a:r>
              <a:rPr lang="en-US" altLang="en-US" sz="750" b="1" dirty="0">
                <a:solidFill>
                  <a:srgbClr val="1B2A38"/>
                </a:solidFill>
                <a:latin typeface="Arial" pitchFamily="34" charset="0"/>
                <a:ea typeface="Yu Gothic" pitchFamily="34" charset="-122"/>
                <a:cs typeface="Yu Gothic" pitchFamily="34" charset="-120"/>
              </a:rPr>
              <a:t>Cybersecurity</a:t>
            </a:r>
          </a:p>
        </p:txBody>
      </p:sp>
      <p:sp>
        <p:nvSpPr>
          <p:cNvPr id="165" name="Map Chip"/>
          <p:cNvSpPr/>
          <p:nvPr/>
        </p:nvSpPr>
        <p:spPr>
          <a:xfrm>
            <a:off x="9239097" y="4133088"/>
            <a:ext cx="1122883" cy="265176"/>
          </a:xfrm>
          <a:prstGeom prst="roundRect">
            <a:avLst>
              <a:gd name="adj" fmla="val 8000"/>
            </a:avLst>
          </a:prstGeom>
          <a:solidFill>
            <a:srgbClr val="FFFFFF"/>
          </a:solidFill>
          <a:ln w="9525">
            <a:solidFill>
              <a:srgbClr val="D5DADF"/>
            </a:solidFill>
          </a:ln>
        </p:spPr>
      </p:sp>
      <p:sp>
        <p:nvSpPr>
          <p:cNvPr id="166" name="Map Chip Text"/>
          <p:cNvSpPr txBox="1"/>
          <p:nvPr/>
        </p:nvSpPr>
        <p:spPr>
          <a:xfrm>
            <a:off x="9239097" y="4133088"/>
            <a:ext cx="1122883" cy="265176"/>
          </a:xfrm>
          <a:prstGeom prst="rect">
            <a:avLst/>
          </a:prstGeom>
          <a:noFill/>
          <a:ln/>
        </p:spPr>
        <p:txBody>
          <a:bodyPr wrap="square" lIns="27432" tIns="0" rIns="27432" bIns="0" rtlCol="0" anchor="ctr"/>
          <a:lstStyle/>
          <a:p>
            <a:pPr algn="ctr" indent="0" marL="0">
              <a:lnSpc>
                <a:spcPct val="115000"/>
              </a:lnSpc>
              <a:buNone/>
            </a:pPr>
            <a:r>
              <a:rPr lang="en-US" altLang="en-US" sz="700" b="0" dirty="0">
                <a:solidFill>
                  <a:srgbClr val="3E4A56"/>
                </a:solidFill>
                <a:latin typeface="Arial" pitchFamily="34" charset="0"/>
                <a:ea typeface="Yu Gothic" pitchFamily="34" charset="-122"/>
                <a:cs typeface="Yu Gothic" pitchFamily="34" charset="-120"/>
              </a:rPr>
              <a:t>Security governance</a:t>
            </a:r>
          </a:p>
        </p:txBody>
      </p:sp>
      <p:sp>
        <p:nvSpPr>
          <p:cNvPr id="167" name="Map Chip"/>
          <p:cNvSpPr/>
          <p:nvPr/>
        </p:nvSpPr>
        <p:spPr>
          <a:xfrm>
            <a:off x="9239097" y="4425696"/>
            <a:ext cx="1122883" cy="265176"/>
          </a:xfrm>
          <a:prstGeom prst="roundRect">
            <a:avLst>
              <a:gd name="adj" fmla="val 8000"/>
            </a:avLst>
          </a:prstGeom>
          <a:solidFill>
            <a:srgbClr val="FFFFFF"/>
          </a:solidFill>
          <a:ln w="9525">
            <a:solidFill>
              <a:srgbClr val="D5DADF"/>
            </a:solidFill>
          </a:ln>
        </p:spPr>
      </p:sp>
      <p:sp>
        <p:nvSpPr>
          <p:cNvPr id="168" name="Map Chip Text"/>
          <p:cNvSpPr txBox="1"/>
          <p:nvPr/>
        </p:nvSpPr>
        <p:spPr>
          <a:xfrm>
            <a:off x="9239097" y="4425696"/>
            <a:ext cx="1122883" cy="265176"/>
          </a:xfrm>
          <a:prstGeom prst="rect">
            <a:avLst/>
          </a:prstGeom>
          <a:noFill/>
          <a:ln/>
        </p:spPr>
        <p:txBody>
          <a:bodyPr wrap="square" lIns="27432" tIns="0" rIns="27432" bIns="0" rtlCol="0" anchor="ctr"/>
          <a:lstStyle/>
          <a:p>
            <a:pPr algn="ctr" indent="0" marL="0">
              <a:lnSpc>
                <a:spcPct val="115000"/>
              </a:lnSpc>
              <a:buNone/>
            </a:pPr>
            <a:r>
              <a:rPr lang="en-US" altLang="en-US" sz="700" b="0" dirty="0">
                <a:solidFill>
                  <a:srgbClr val="3E4A56"/>
                </a:solidFill>
                <a:latin typeface="Arial" pitchFamily="34" charset="0"/>
                <a:ea typeface="Yu Gothic" pitchFamily="34" charset="-122"/>
                <a:cs typeface="Yu Gothic" pitchFamily="34" charset="-120"/>
              </a:rPr>
              <a:t>Identity &amp; access mgmt</a:t>
            </a:r>
          </a:p>
        </p:txBody>
      </p:sp>
      <p:sp>
        <p:nvSpPr>
          <p:cNvPr id="169" name="Map Chip"/>
          <p:cNvSpPr/>
          <p:nvPr/>
        </p:nvSpPr>
        <p:spPr>
          <a:xfrm>
            <a:off x="9239097" y="4718304"/>
            <a:ext cx="1122883" cy="265176"/>
          </a:xfrm>
          <a:prstGeom prst="roundRect">
            <a:avLst>
              <a:gd name="adj" fmla="val 8000"/>
            </a:avLst>
          </a:prstGeom>
          <a:solidFill>
            <a:srgbClr val="FFFFFF"/>
          </a:solidFill>
          <a:ln w="9525">
            <a:solidFill>
              <a:srgbClr val="D5DADF"/>
            </a:solidFill>
          </a:ln>
        </p:spPr>
      </p:sp>
      <p:sp>
        <p:nvSpPr>
          <p:cNvPr id="170" name="Map Chip Text"/>
          <p:cNvSpPr txBox="1"/>
          <p:nvPr/>
        </p:nvSpPr>
        <p:spPr>
          <a:xfrm>
            <a:off x="9239097" y="4718304"/>
            <a:ext cx="1122883" cy="265176"/>
          </a:xfrm>
          <a:prstGeom prst="rect">
            <a:avLst/>
          </a:prstGeom>
          <a:noFill/>
          <a:ln/>
        </p:spPr>
        <p:txBody>
          <a:bodyPr wrap="square" lIns="27432" tIns="0" rIns="27432" bIns="0" rtlCol="0" anchor="ctr"/>
          <a:lstStyle/>
          <a:p>
            <a:pPr algn="ctr" indent="0" marL="0">
              <a:lnSpc>
                <a:spcPct val="115000"/>
              </a:lnSpc>
              <a:buNone/>
            </a:pPr>
            <a:r>
              <a:rPr lang="en-US" altLang="en-US" sz="700" b="0" dirty="0">
                <a:solidFill>
                  <a:srgbClr val="3E4A56"/>
                </a:solidFill>
                <a:latin typeface="Arial" pitchFamily="34" charset="0"/>
                <a:ea typeface="Yu Gothic" pitchFamily="34" charset="-122"/>
                <a:cs typeface="Yu Gothic" pitchFamily="34" charset="-120"/>
              </a:rPr>
              <a:t>Security operations</a:t>
            </a:r>
          </a:p>
        </p:txBody>
      </p:sp>
      <p:sp>
        <p:nvSpPr>
          <p:cNvPr id="171" name="Map Core Label"/>
          <p:cNvSpPr txBox="1"/>
          <p:nvPr/>
        </p:nvSpPr>
        <p:spPr>
          <a:xfrm>
            <a:off x="10407700" y="3913632"/>
            <a:ext cx="1122883" cy="201168"/>
          </a:xfrm>
          <a:prstGeom prst="rect">
            <a:avLst/>
          </a:prstGeom>
          <a:noFill/>
          <a:ln/>
        </p:spPr>
        <p:txBody>
          <a:bodyPr wrap="square" lIns="0" tIns="0" rIns="0" bIns="0" rtlCol="0" anchor="ctr"/>
          <a:lstStyle/>
          <a:p>
            <a:pPr algn="ctr" indent="0" marL="0">
              <a:lnSpc>
                <a:spcPct val="115000"/>
              </a:lnSpc>
              <a:buNone/>
            </a:pPr>
            <a:r>
              <a:rPr lang="en-US" altLang="en-US" sz="750" b="1" dirty="0">
                <a:solidFill>
                  <a:srgbClr val="1B2A38"/>
                </a:solidFill>
                <a:latin typeface="Arial" pitchFamily="34" charset="0"/>
                <a:ea typeface="Yu Gothic" pitchFamily="34" charset="-122"/>
                <a:cs typeface="Yu Gothic" pitchFamily="34" charset="-120"/>
              </a:rPr>
              <a:t>Data &amp; GxP</a:t>
            </a:r>
          </a:p>
        </p:txBody>
      </p:sp>
      <p:sp>
        <p:nvSpPr>
          <p:cNvPr id="172" name="Map Chip"/>
          <p:cNvSpPr/>
          <p:nvPr/>
        </p:nvSpPr>
        <p:spPr>
          <a:xfrm>
            <a:off x="10407700" y="4133088"/>
            <a:ext cx="1122883" cy="265176"/>
          </a:xfrm>
          <a:prstGeom prst="roundRect">
            <a:avLst>
              <a:gd name="adj" fmla="val 8000"/>
            </a:avLst>
          </a:prstGeom>
          <a:solidFill>
            <a:srgbClr val="FFFFFF"/>
          </a:solidFill>
          <a:ln w="9525">
            <a:solidFill>
              <a:srgbClr val="D5DADF"/>
            </a:solidFill>
          </a:ln>
        </p:spPr>
      </p:sp>
      <p:sp>
        <p:nvSpPr>
          <p:cNvPr id="173" name="Map Chip Text"/>
          <p:cNvSpPr txBox="1"/>
          <p:nvPr/>
        </p:nvSpPr>
        <p:spPr>
          <a:xfrm>
            <a:off x="10407700" y="4133088"/>
            <a:ext cx="1122883" cy="265176"/>
          </a:xfrm>
          <a:prstGeom prst="rect">
            <a:avLst/>
          </a:prstGeom>
          <a:noFill/>
          <a:ln/>
        </p:spPr>
        <p:txBody>
          <a:bodyPr wrap="square" lIns="27432" tIns="0" rIns="27432" bIns="0" rtlCol="0" anchor="ctr"/>
          <a:lstStyle/>
          <a:p>
            <a:pPr algn="ctr" indent="0" marL="0">
              <a:lnSpc>
                <a:spcPct val="115000"/>
              </a:lnSpc>
              <a:buNone/>
            </a:pPr>
            <a:r>
              <a:rPr lang="en-US" altLang="en-US" sz="700" b="0" dirty="0">
                <a:solidFill>
                  <a:srgbClr val="3E4A56"/>
                </a:solidFill>
                <a:latin typeface="Arial" pitchFamily="34" charset="0"/>
                <a:ea typeface="Yu Gothic" pitchFamily="34" charset="-122"/>
                <a:cs typeface="Yu Gothic" pitchFamily="34" charset="-120"/>
              </a:rPr>
              <a:t>GxP system mgmt (CSV)</a:t>
            </a:r>
          </a:p>
        </p:txBody>
      </p:sp>
      <p:sp>
        <p:nvSpPr>
          <p:cNvPr id="174" name="Map Chip"/>
          <p:cNvSpPr/>
          <p:nvPr/>
        </p:nvSpPr>
        <p:spPr>
          <a:xfrm>
            <a:off x="10407700" y="4425696"/>
            <a:ext cx="1122883" cy="265176"/>
          </a:xfrm>
          <a:prstGeom prst="roundRect">
            <a:avLst>
              <a:gd name="adj" fmla="val 8000"/>
            </a:avLst>
          </a:prstGeom>
          <a:solidFill>
            <a:srgbClr val="FFFFFF"/>
          </a:solidFill>
          <a:ln w="9525">
            <a:solidFill>
              <a:srgbClr val="D5DADF"/>
            </a:solidFill>
          </a:ln>
        </p:spPr>
      </p:sp>
      <p:sp>
        <p:nvSpPr>
          <p:cNvPr id="175" name="Map Chip Text"/>
          <p:cNvSpPr txBox="1"/>
          <p:nvPr/>
        </p:nvSpPr>
        <p:spPr>
          <a:xfrm>
            <a:off x="10407700" y="4425696"/>
            <a:ext cx="1122883" cy="265176"/>
          </a:xfrm>
          <a:prstGeom prst="rect">
            <a:avLst/>
          </a:prstGeom>
          <a:noFill/>
          <a:ln/>
        </p:spPr>
        <p:txBody>
          <a:bodyPr wrap="square" lIns="27432" tIns="0" rIns="27432" bIns="0" rtlCol="0" anchor="ctr"/>
          <a:lstStyle/>
          <a:p>
            <a:pPr algn="ctr" indent="0" marL="0">
              <a:lnSpc>
                <a:spcPct val="115000"/>
              </a:lnSpc>
              <a:buNone/>
            </a:pPr>
            <a:r>
              <a:rPr lang="en-US" altLang="en-US" sz="700" b="0" dirty="0">
                <a:solidFill>
                  <a:srgbClr val="3E4A56"/>
                </a:solidFill>
                <a:latin typeface="Arial" pitchFamily="34" charset="0"/>
                <a:ea typeface="Yu Gothic" pitchFamily="34" charset="-122"/>
                <a:cs typeface="Yu Gothic" pitchFamily="34" charset="-120"/>
              </a:rPr>
              <a:t>Data integrity</a:t>
            </a:r>
          </a:p>
        </p:txBody>
      </p:sp>
      <p:sp>
        <p:nvSpPr>
          <p:cNvPr id="176" name="Map Chip"/>
          <p:cNvSpPr/>
          <p:nvPr/>
        </p:nvSpPr>
        <p:spPr>
          <a:xfrm>
            <a:off x="10407700" y="4718304"/>
            <a:ext cx="1122883" cy="265176"/>
          </a:xfrm>
          <a:prstGeom prst="roundRect">
            <a:avLst>
              <a:gd name="adj" fmla="val 8000"/>
            </a:avLst>
          </a:prstGeom>
          <a:solidFill>
            <a:srgbClr val="FDF4E0"/>
          </a:solidFill>
          <a:ln w="15875">
            <a:solidFill>
              <a:srgbClr val="C98A12"/>
            </a:solidFill>
          </a:ln>
        </p:spPr>
      </p:sp>
      <p:sp>
        <p:nvSpPr>
          <p:cNvPr id="177" name="Map Chip Text"/>
          <p:cNvSpPr txBox="1"/>
          <p:nvPr/>
        </p:nvSpPr>
        <p:spPr>
          <a:xfrm>
            <a:off x="10407700" y="4718304"/>
            <a:ext cx="1122883" cy="265176"/>
          </a:xfrm>
          <a:prstGeom prst="rect">
            <a:avLst/>
          </a:prstGeom>
          <a:noFill/>
          <a:ln/>
        </p:spPr>
        <p:txBody>
          <a:bodyPr wrap="square" lIns="27432" tIns="0" rIns="27432" bIns="0" rtlCol="0" anchor="ctr"/>
          <a:lstStyle/>
          <a:p>
            <a:pPr algn="ctr" indent="0" marL="0">
              <a:lnSpc>
                <a:spcPct val="115000"/>
              </a:lnSpc>
              <a:buNone/>
            </a:pPr>
            <a:r>
              <a:rPr lang="en-US" altLang="en-US" sz="700" b="1" dirty="0">
                <a:solidFill>
                  <a:srgbClr val="1B2A38"/>
                </a:solidFill>
                <a:latin typeface="Arial" pitchFamily="34" charset="0"/>
                <a:ea typeface="Yu Gothic" pitchFamily="34" charset="-122"/>
                <a:cs typeface="Yu Gothic" pitchFamily="34" charset="-120"/>
              </a:rPr>
              <a:t>Data mgmt</a:t>
            </a:r>
          </a:p>
        </p:txBody>
      </p:sp>
      <p:sp>
        <p:nvSpPr>
          <p:cNvPr id="178" name="Map Chip"/>
          <p:cNvSpPr/>
          <p:nvPr/>
        </p:nvSpPr>
        <p:spPr>
          <a:xfrm>
            <a:off x="10407700" y="5010912"/>
            <a:ext cx="1122883" cy="265176"/>
          </a:xfrm>
          <a:prstGeom prst="roundRect">
            <a:avLst>
              <a:gd name="adj" fmla="val 8000"/>
            </a:avLst>
          </a:prstGeom>
          <a:solidFill>
            <a:srgbClr val="FFFFFF"/>
          </a:solidFill>
          <a:ln w="9525">
            <a:solidFill>
              <a:srgbClr val="D5DADF"/>
            </a:solidFill>
          </a:ln>
        </p:spPr>
      </p:sp>
      <p:sp>
        <p:nvSpPr>
          <p:cNvPr id="179" name="Map Chip Text"/>
          <p:cNvSpPr txBox="1"/>
          <p:nvPr/>
        </p:nvSpPr>
        <p:spPr>
          <a:xfrm>
            <a:off x="10407700" y="5010912"/>
            <a:ext cx="1122883" cy="265176"/>
          </a:xfrm>
          <a:prstGeom prst="rect">
            <a:avLst/>
          </a:prstGeom>
          <a:noFill/>
          <a:ln/>
        </p:spPr>
        <p:txBody>
          <a:bodyPr wrap="square" lIns="27432" tIns="0" rIns="27432" bIns="0" rtlCol="0" anchor="ctr"/>
          <a:lstStyle/>
          <a:p>
            <a:pPr algn="ctr" indent="0" marL="0">
              <a:lnSpc>
                <a:spcPct val="115000"/>
              </a:lnSpc>
              <a:buNone/>
            </a:pPr>
            <a:r>
              <a:rPr lang="en-US" altLang="en-US" sz="700" b="0" dirty="0">
                <a:solidFill>
                  <a:srgbClr val="3E4A56"/>
                </a:solidFill>
                <a:latin typeface="Arial" pitchFamily="34" charset="0"/>
                <a:ea typeface="Yu Gothic" pitchFamily="34" charset="-122"/>
                <a:cs typeface="Yu Gothic" pitchFamily="34" charset="-120"/>
              </a:rPr>
              <a:t>Privacy &amp; data protection</a:t>
            </a:r>
          </a:p>
        </p:txBody>
      </p:sp>
      <p:sp>
        <p:nvSpPr>
          <p:cNvPr id="180" name="Map Band"/>
          <p:cNvSpPr/>
          <p:nvPr/>
        </p:nvSpPr>
        <p:spPr>
          <a:xfrm>
            <a:off x="5733288" y="5632704"/>
            <a:ext cx="5797296" cy="493776"/>
          </a:xfrm>
          <a:prstGeom prst="roundRect">
            <a:avLst>
              <a:gd name="adj" fmla="val 8000"/>
            </a:avLst>
          </a:prstGeom>
          <a:solidFill>
            <a:srgbClr val="FDF4E0"/>
          </a:solidFill>
          <a:ln/>
        </p:spPr>
      </p:sp>
      <p:sp>
        <p:nvSpPr>
          <p:cNvPr id="181" name="Map Band Label"/>
          <p:cNvSpPr txBox="1"/>
          <p:nvPr/>
        </p:nvSpPr>
        <p:spPr>
          <a:xfrm>
            <a:off x="5733288" y="5632704"/>
            <a:ext cx="960120" cy="493776"/>
          </a:xfrm>
          <a:prstGeom prst="rect">
            <a:avLst/>
          </a:prstGeom>
          <a:noFill/>
          <a:ln/>
        </p:spPr>
        <p:txBody>
          <a:bodyPr wrap="square" lIns="54864" tIns="0" rIns="54864" bIns="0" rtlCol="0" anchor="ctr"/>
          <a:lstStyle/>
          <a:p>
            <a:pPr indent="0" marL="0">
              <a:lnSpc>
                <a:spcPct val="115000"/>
              </a:lnSpc>
              <a:buNone/>
            </a:pPr>
            <a:r>
              <a:rPr lang="en-US" altLang="en-US" sz="700" b="1" dirty="0">
                <a:solidFill>
                  <a:srgbClr val="1B2A38"/>
                </a:solidFill>
                <a:latin typeface="Arial" pitchFamily="34" charset="0"/>
                <a:ea typeface="Yu Gothic" pitchFamily="34" charset="-122"/>
                <a:cs typeface="Yu Gothic" pitchFamily="34" charset="-120"/>
              </a:rPr>
              <a:t>Organization &amp; Sourcing</a:t>
            </a:r>
          </a:p>
        </p:txBody>
      </p:sp>
      <p:sp>
        <p:nvSpPr>
          <p:cNvPr id="182" name="Map Chip"/>
          <p:cNvSpPr/>
          <p:nvPr/>
        </p:nvSpPr>
        <p:spPr>
          <a:xfrm>
            <a:off x="6693408" y="5678424"/>
            <a:ext cx="1569720" cy="402336"/>
          </a:xfrm>
          <a:prstGeom prst="roundRect">
            <a:avLst>
              <a:gd name="adj" fmla="val 8000"/>
            </a:avLst>
          </a:prstGeom>
          <a:solidFill>
            <a:srgbClr val="FDF4E0"/>
          </a:solidFill>
          <a:ln w="15875">
            <a:solidFill>
              <a:srgbClr val="C98A12"/>
            </a:solidFill>
          </a:ln>
        </p:spPr>
      </p:sp>
      <p:sp>
        <p:nvSpPr>
          <p:cNvPr id="183" name="Map Chip Text"/>
          <p:cNvSpPr txBox="1"/>
          <p:nvPr/>
        </p:nvSpPr>
        <p:spPr>
          <a:xfrm>
            <a:off x="6693408" y="5678424"/>
            <a:ext cx="1569720" cy="402336"/>
          </a:xfrm>
          <a:prstGeom prst="rect">
            <a:avLst/>
          </a:prstGeom>
          <a:noFill/>
          <a:ln/>
        </p:spPr>
        <p:txBody>
          <a:bodyPr wrap="square" lIns="27432" tIns="0" rIns="27432" bIns="0" rtlCol="0" anchor="ctr"/>
          <a:lstStyle/>
          <a:p>
            <a:pPr algn="ctr" indent="0" marL="0">
              <a:lnSpc>
                <a:spcPct val="115000"/>
              </a:lnSpc>
              <a:buNone/>
            </a:pPr>
            <a:r>
              <a:rPr lang="en-US" altLang="en-US" sz="700" b="1" dirty="0">
                <a:solidFill>
                  <a:srgbClr val="1B2A38"/>
                </a:solidFill>
                <a:latin typeface="Arial" pitchFamily="34" charset="0"/>
                <a:ea typeface="Yu Gothic" pitchFamily="34" charset="-122"/>
                <a:cs typeface="Yu Gothic" pitchFamily="34" charset="-120"/>
              </a:rPr>
              <a:t>IT sourcing &amp; vendor mgmt</a:t>
            </a:r>
          </a:p>
        </p:txBody>
      </p:sp>
      <p:sp>
        <p:nvSpPr>
          <p:cNvPr id="184" name="Map Chip"/>
          <p:cNvSpPr/>
          <p:nvPr/>
        </p:nvSpPr>
        <p:spPr>
          <a:xfrm>
            <a:off x="8299704" y="5678424"/>
            <a:ext cx="1569720" cy="402336"/>
          </a:xfrm>
          <a:prstGeom prst="roundRect">
            <a:avLst>
              <a:gd name="adj" fmla="val 8000"/>
            </a:avLst>
          </a:prstGeom>
          <a:solidFill>
            <a:srgbClr val="FFFFFF"/>
          </a:solidFill>
          <a:ln w="9525">
            <a:solidFill>
              <a:srgbClr val="D5DADF"/>
            </a:solidFill>
          </a:ln>
        </p:spPr>
      </p:sp>
      <p:sp>
        <p:nvSpPr>
          <p:cNvPr id="185" name="Map Chip Text"/>
          <p:cNvSpPr txBox="1"/>
          <p:nvPr/>
        </p:nvSpPr>
        <p:spPr>
          <a:xfrm>
            <a:off x="8299704" y="5678424"/>
            <a:ext cx="1569720" cy="402336"/>
          </a:xfrm>
          <a:prstGeom prst="rect">
            <a:avLst/>
          </a:prstGeom>
          <a:noFill/>
          <a:ln/>
        </p:spPr>
        <p:txBody>
          <a:bodyPr wrap="square" lIns="27432" tIns="0" rIns="27432" bIns="0" rtlCol="0" anchor="ctr"/>
          <a:lstStyle/>
          <a:p>
            <a:pPr algn="ctr" indent="0" marL="0">
              <a:lnSpc>
                <a:spcPct val="115000"/>
              </a:lnSpc>
              <a:buNone/>
            </a:pPr>
            <a:r>
              <a:rPr lang="en-US" altLang="en-US" sz="700" b="0" dirty="0">
                <a:solidFill>
                  <a:srgbClr val="3E4A56"/>
                </a:solidFill>
                <a:latin typeface="Arial" pitchFamily="34" charset="0"/>
                <a:ea typeface="Yu Gothic" pitchFamily="34" charset="-122"/>
                <a:cs typeface="Yu Gothic" pitchFamily="34" charset="-120"/>
              </a:rPr>
              <a:t>IT talent &amp; organization</a:t>
            </a:r>
          </a:p>
        </p:txBody>
      </p:sp>
      <p:sp>
        <p:nvSpPr>
          <p:cNvPr id="186" name="Map Chip"/>
          <p:cNvSpPr/>
          <p:nvPr/>
        </p:nvSpPr>
        <p:spPr>
          <a:xfrm>
            <a:off x="9906000" y="5678424"/>
            <a:ext cx="1569720" cy="402336"/>
          </a:xfrm>
          <a:prstGeom prst="roundRect">
            <a:avLst>
              <a:gd name="adj" fmla="val 8000"/>
            </a:avLst>
          </a:prstGeom>
          <a:solidFill>
            <a:srgbClr val="FFFFFF"/>
          </a:solidFill>
          <a:ln w="9525">
            <a:solidFill>
              <a:srgbClr val="D5DADF"/>
            </a:solidFill>
          </a:ln>
        </p:spPr>
      </p:sp>
      <p:sp>
        <p:nvSpPr>
          <p:cNvPr id="187" name="Map Chip Text"/>
          <p:cNvSpPr txBox="1"/>
          <p:nvPr/>
        </p:nvSpPr>
        <p:spPr>
          <a:xfrm>
            <a:off x="9906000" y="5678424"/>
            <a:ext cx="1569720" cy="402336"/>
          </a:xfrm>
          <a:prstGeom prst="rect">
            <a:avLst/>
          </a:prstGeom>
          <a:noFill/>
          <a:ln/>
        </p:spPr>
        <p:txBody>
          <a:bodyPr wrap="square" lIns="27432" tIns="0" rIns="27432" bIns="0" rtlCol="0" anchor="ctr"/>
          <a:lstStyle/>
          <a:p>
            <a:pPr algn="ctr" indent="0" marL="0">
              <a:lnSpc>
                <a:spcPct val="115000"/>
              </a:lnSpc>
              <a:buNone/>
            </a:pPr>
            <a:r>
              <a:rPr lang="en-US" altLang="en-US" sz="700" b="0" dirty="0">
                <a:solidFill>
                  <a:srgbClr val="3E4A56"/>
                </a:solidFill>
                <a:latin typeface="Arial" pitchFamily="34" charset="0"/>
                <a:ea typeface="Yu Gothic" pitchFamily="34" charset="-122"/>
                <a:cs typeface="Yu Gothic" pitchFamily="34" charset="-120"/>
              </a:rPr>
              <a:t>IT knowledge &amp; document mgmt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47472"/>
            <a:ext cx="1371600" cy="274320"/>
          </a:xfrm>
          <a:prstGeom prst="roundRect">
            <a:avLst>
              <a:gd name="adj" fmla="val 50000"/>
            </a:avLst>
          </a:prstGeom>
          <a:solidFill>
            <a:srgbClr val="C98A12"/>
          </a:solidFill>
          <a:ln/>
        </p:spPr>
      </p:sp>
      <p:sp>
        <p:nvSpPr>
          <p:cNvPr id="3" name="Text 1"/>
          <p:cNvSpPr txBox="1"/>
          <p:nvPr/>
        </p:nvSpPr>
        <p:spPr>
          <a:xfrm>
            <a:off x="548640" y="347472"/>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Yu Gothic" pitchFamily="34" charset="-122"/>
                <a:cs typeface="Yu Gothic" pitchFamily="34" charset="-120"/>
              </a:rPr>
              <a:t>NEED ACTION</a:t>
            </a:r>
            <a:endParaRPr lang="en-US" sz="1000" dirty="0"/>
          </a:p>
        </p:txBody>
      </p:sp>
      <p:sp>
        <p:nvSpPr>
          <p:cNvPr id="4" name="Text 2"/>
          <p:cNvSpPr txBox="1"/>
          <p:nvPr/>
        </p:nvSpPr>
        <p:spPr>
          <a:xfrm>
            <a:off x="548640" y="685800"/>
            <a:ext cx="11064240" cy="548640"/>
          </a:xfrm>
          <a:prstGeom prst="rect">
            <a:avLst/>
          </a:prstGeom>
          <a:noFill/>
          <a:ln/>
        </p:spPr>
        <p:txBody>
          <a:bodyPr wrap="square" lIns="0" tIns="0" rIns="0" bIns="0" rtlCol="0" anchor="ctr"/>
          <a:lstStyle/>
          <a:p>
            <a:pPr indent="0" marL="0">
              <a:buNone/>
            </a:pPr>
            <a:r>
              <a:rPr lang="en-US" sz="2400" b="1" dirty="0">
                <a:solidFill>
                  <a:srgbClr val="1B2A38"/>
                </a:solidFill>
                <a:latin typeface="Arial" pitchFamily="34" charset="0"/>
                <a:ea typeface="Yu Gothic" pitchFamily="34" charset="-122"/>
                <a:cs typeface="Yu Gothic" pitchFamily="34" charset="-120"/>
              </a:rPr>
              <a:t>Classify issues into three and hand them to the committee</a:t>
            </a:r>
            <a:endParaRPr lang="en-US" sz="2400" dirty="0"/>
          </a:p>
        </p:txBody>
      </p:sp>
      <p:sp>
        <p:nvSpPr>
          <p:cNvPr id="6" name="Text 4"/>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900" dirty="0">
                <a:solidFill>
                  <a:srgbClr val="66717C"/>
                </a:solidFill>
                <a:latin typeface="Arial" pitchFamily="34" charset="0"/>
                <a:ea typeface="Yu Gothic" pitchFamily="34" charset="-122"/>
                <a:cs typeface="Yu Gothic" pitchFamily="34" charset="-120"/>
              </a:rPr>
              <a:t>IT Materiality ｜ IT Department internal alignment</a:t>
            </a:r>
            <a:endParaRPr lang="en-US" sz="900" dirty="0"/>
          </a:p>
        </p:txBody>
      </p:sp>
      <p:sp>
        <p:nvSpPr>
          <p:cNvPr id="7" name="Text 5"/>
          <p:cNvSpPr txBox="1"/>
          <p:nvPr/>
        </p:nvSpPr>
        <p:spPr>
          <a:xfrm>
            <a:off x="11155680" y="6446520"/>
            <a:ext cx="457200" cy="274320"/>
          </a:xfrm>
          <a:prstGeom prst="rect">
            <a:avLst/>
          </a:prstGeom>
          <a:noFill/>
          <a:ln/>
        </p:spPr>
        <p:txBody>
          <a:bodyPr wrap="square" lIns="0" tIns="0" rIns="0" bIns="0" rtlCol="0" anchor="t"/>
          <a:lstStyle/>
          <a:p>
            <a:pPr algn="r" indent="0" marL="0">
              <a:buNone/>
            </a:pPr>
            <a:r>
              <a:rPr lang="en-US" sz="900" dirty="0">
                <a:solidFill>
                  <a:srgbClr val="66717C"/>
                </a:solidFill>
                <a:latin typeface="Arial" pitchFamily="34" charset="0"/>
                <a:ea typeface="Yu Gothic" pitchFamily="34" charset="-122"/>
                <a:cs typeface="Yu Gothic" pitchFamily="34" charset="-120"/>
              </a:rPr>
              <a:t>8</a:t>
            </a:r>
            <a:endParaRPr lang="en-US" sz="900" dirty="0"/>
          </a:p>
        </p:txBody>
      </p:sp>
      <p:sp>
        <p:nvSpPr>
          <p:cNvPr id="51" name="Subtitle"/>
          <p:cNvSpPr txBox="1"/>
          <p:nvPr/>
        </p:nvSpPr>
        <p:spPr>
          <a:xfrm>
            <a:off x="548640" y="1188720"/>
            <a:ext cx="11064240" cy="310896"/>
          </a:xfrm>
          <a:prstGeom prst="rect">
            <a:avLst/>
          </a:prstGeom>
          <a:noFill/>
          <a:ln/>
        </p:spPr>
        <p:txBody>
          <a:bodyPr wrap="square" lIns="0" tIns="0" rIns="0" bIns="0" rtlCol="0" anchor="ctr"/>
          <a:lstStyle/>
          <a:p>
            <a:pPr indent="0" marL="0">
              <a:lnSpc>
                <a:spcPct val="115000"/>
              </a:lnSpc>
              <a:buNone/>
            </a:pPr>
            <a:r>
              <a:rPr lang="en-US" altLang="en-US" sz="1300" b="0" dirty="0">
                <a:solidFill>
                  <a:srgbClr val="3E4A56"/>
                </a:solidFill>
                <a:latin typeface="Arial" pitchFamily="34" charset="0"/>
                <a:ea typeface="Yu Gothic" pitchFamily="34" charset="-122"/>
                <a:cs typeface="Yu Gothic" pitchFamily="34" charset="-120"/>
              </a:rPr>
              <a:t>At the end of issue framing (p.7), classify every issue into one of these three. Each is written differently in the issue brief</a:t>
            </a:r>
          </a:p>
        </p:txBody>
      </p:sp>
      <p:sp>
        <p:nvSpPr>
          <p:cNvPr id="52" name="Col Head 0"/>
          <p:cNvSpPr/>
          <p:nvPr/>
        </p:nvSpPr>
        <p:spPr>
          <a:xfrm>
            <a:off x="548640" y="1691640"/>
            <a:ext cx="3575304" cy="457200"/>
          </a:xfrm>
          <a:prstGeom prst="roundRect">
            <a:avLst>
              <a:gd name="adj" fmla="val 10000"/>
            </a:avLst>
          </a:prstGeom>
          <a:solidFill>
            <a:srgbClr val="2F6FA8"/>
          </a:solidFill>
          <a:ln/>
        </p:spPr>
      </p:sp>
      <p:sp>
        <p:nvSpPr>
          <p:cNvPr id="53" name="Col Head Text 0"/>
          <p:cNvSpPr txBox="1"/>
          <p:nvPr/>
        </p:nvSpPr>
        <p:spPr>
          <a:xfrm>
            <a:off x="548640" y="1691640"/>
            <a:ext cx="3575304" cy="457200"/>
          </a:xfrm>
          <a:prstGeom prst="rect">
            <a:avLst/>
          </a:prstGeom>
          <a:noFill/>
          <a:ln/>
        </p:spPr>
        <p:txBody>
          <a:bodyPr wrap="square" lIns="0" tIns="0" rIns="0" bIns="0" rtlCol="0" anchor="ctr"/>
          <a:lstStyle/>
          <a:p>
            <a:pPr algn="ctr" indent="0" marL="0">
              <a:lnSpc>
                <a:spcPct val="115000"/>
              </a:lnSpc>
              <a:buNone/>
            </a:pPr>
            <a:r>
              <a:rPr lang="en-US" altLang="en-US" sz="1250" b="1" dirty="0">
                <a:solidFill>
                  <a:srgbClr val="FFFFFF"/>
                </a:solidFill>
                <a:latin typeface="Arial" pitchFamily="34" charset="0"/>
                <a:ea typeface="Yu Gothic" pitchFamily="34" charset="-122"/>
                <a:cs typeface="Yu Gothic" pitchFamily="34" charset="-120"/>
              </a:rPr>
              <a:t>Issues for deliberation</a:t>
            </a:r>
          </a:p>
        </p:txBody>
      </p:sp>
      <p:sp>
        <p:nvSpPr>
          <p:cNvPr id="54" name="Col Body 0"/>
          <p:cNvSpPr/>
          <p:nvPr/>
        </p:nvSpPr>
        <p:spPr>
          <a:xfrm>
            <a:off x="548640" y="2221992"/>
            <a:ext cx="3575304" cy="3310128"/>
          </a:xfrm>
          <a:prstGeom prst="roundRect">
            <a:avLst>
              <a:gd name="adj" fmla="val 3000"/>
            </a:avLst>
          </a:prstGeom>
          <a:solidFill>
            <a:srgbClr val="EAF1F8"/>
          </a:solidFill>
          <a:ln/>
        </p:spPr>
      </p:sp>
      <p:sp>
        <p:nvSpPr>
          <p:cNvPr id="55" name="Col Def 0"/>
          <p:cNvSpPr txBox="1"/>
          <p:nvPr/>
        </p:nvSpPr>
        <p:spPr>
          <a:xfrm>
            <a:off x="676656" y="2313432"/>
            <a:ext cx="3319272" cy="731520"/>
          </a:xfrm>
          <a:prstGeom prst="rect">
            <a:avLst/>
          </a:prstGeom>
          <a:noFill/>
          <a:ln/>
        </p:spPr>
        <p:txBody>
          <a:bodyPr wrap="square" lIns="0" tIns="0" rIns="0" bIns="0" rtlCol="0" anchor="t"/>
          <a:lstStyle/>
          <a:p>
            <a:pPr indent="0" marL="0">
              <a:lnSpc>
                <a:spcPct val="115000"/>
              </a:lnSpc>
              <a:buNone/>
            </a:pPr>
            <a:r>
              <a:rPr lang="en-US" altLang="en-US" sz="950" b="1" dirty="0">
                <a:solidFill>
                  <a:srgbClr val="2F6FA8"/>
                </a:solidFill>
                <a:latin typeface="Arial" pitchFamily="34" charset="0"/>
                <a:ea typeface="Yu Gothic" pitchFamily="34" charset="-122"/>
                <a:cs typeface="Yu Gothic" pitchFamily="34" charset="-120"/>
              </a:rPr>
              <a:t>What they are</a:t>
            </a:r>
          </a:p>
          <a:p>
            <a:pPr indent="0" marL="0">
              <a:lnSpc>
                <a:spcPct val="115000"/>
              </a:lnSpc>
              <a:spcBef>
                <a:spcPts val="250"/>
              </a:spcBef>
              <a:buNone/>
            </a:pPr>
            <a:r>
              <a:rPr lang="en-US" altLang="en-US" sz="1050" b="0" dirty="0">
                <a:solidFill>
                  <a:srgbClr val="1B2A38"/>
                </a:solidFill>
                <a:latin typeface="Arial" pitchFamily="34" charset="0"/>
                <a:ea typeface="Yu Gothic" pitchFamily="34" charset="-122"/>
                <a:cs typeface="Yu Gothic" pitchFamily="34" charset="-120"/>
              </a:rPr>
              <a:t>Related to commonality, and still needing a company-wide decision after consulting owners</a:t>
            </a:r>
          </a:p>
        </p:txBody>
      </p:sp>
      <p:sp>
        <p:nvSpPr>
          <p:cNvPr id="56" name="Col How Box 0"/>
          <p:cNvSpPr/>
          <p:nvPr/>
        </p:nvSpPr>
        <p:spPr>
          <a:xfrm>
            <a:off x="676656" y="3044952"/>
            <a:ext cx="3319272" cy="868680"/>
          </a:xfrm>
          <a:prstGeom prst="roundRect">
            <a:avLst>
              <a:gd name="adj" fmla="val 6000"/>
            </a:avLst>
          </a:prstGeom>
          <a:solidFill>
            <a:srgbClr val="FFFFFF"/>
          </a:solidFill>
          <a:ln/>
        </p:spPr>
      </p:sp>
      <p:sp>
        <p:nvSpPr>
          <p:cNvPr id="57" name="Col How 0"/>
          <p:cNvSpPr txBox="1"/>
          <p:nvPr/>
        </p:nvSpPr>
        <p:spPr>
          <a:xfrm>
            <a:off x="676656" y="3044952"/>
            <a:ext cx="3319272" cy="868680"/>
          </a:xfrm>
          <a:prstGeom prst="rect">
            <a:avLst/>
          </a:prstGeom>
          <a:noFill/>
          <a:ln/>
        </p:spPr>
        <p:txBody>
          <a:bodyPr wrap="square" lIns="91440" tIns="0" rIns="91440" bIns="0" rtlCol="0" anchor="ctr"/>
          <a:lstStyle/>
          <a:p>
            <a:pPr indent="0" marL="0">
              <a:lnSpc>
                <a:spcPct val="115000"/>
              </a:lnSpc>
              <a:buNone/>
            </a:pPr>
            <a:r>
              <a:rPr lang="en-US" altLang="en-US" sz="950" b="1" dirty="0">
                <a:solidFill>
                  <a:srgbClr val="2F6FA8"/>
                </a:solidFill>
                <a:latin typeface="Arial" pitchFamily="34" charset="0"/>
                <a:ea typeface="Yu Gothic" pitchFamily="34" charset="-122"/>
                <a:cs typeface="Yu Gothic" pitchFamily="34" charset="-120"/>
              </a:rPr>
              <a:t>How to write them in the issue brief</a:t>
            </a:r>
          </a:p>
          <a:p>
            <a:pPr indent="0" marL="0">
              <a:lnSpc>
                <a:spcPct val="115000"/>
              </a:lnSpc>
              <a:spcBef>
                <a:spcPts val="200"/>
              </a:spcBef>
              <a:buNone/>
            </a:pPr>
            <a:r>
              <a:rPr lang="en-US" altLang="en-US" sz="1000" b="0" dirty="0">
                <a:solidFill>
                  <a:srgbClr val="1B2A38"/>
                </a:solidFill>
                <a:latin typeface="Arial" pitchFamily="34" charset="0"/>
                <a:ea typeface="Yu Gothic" pitchFamily="34" charset="-122"/>
                <a:cs typeface="Yu Gothic" pitchFamily="34" charset="-120"/>
              </a:rPr>
              <a:t>As decision questions ("We need to decide ..."). Separate facts from assessments</a:t>
            </a:r>
          </a:p>
        </p:txBody>
      </p:sp>
      <p:sp>
        <p:nvSpPr>
          <p:cNvPr id="58" name="Col Ex 0"/>
          <p:cNvSpPr txBox="1"/>
          <p:nvPr/>
        </p:nvSpPr>
        <p:spPr>
          <a:xfrm>
            <a:off x="676656" y="4023360"/>
            <a:ext cx="3319272" cy="1435608"/>
          </a:xfrm>
          <a:prstGeom prst="rect">
            <a:avLst/>
          </a:prstGeom>
          <a:noFill/>
          <a:ln/>
        </p:spPr>
        <p:txBody>
          <a:bodyPr wrap="square" lIns="0" tIns="0" rIns="0" bIns="0" rtlCol="0" anchor="t"/>
          <a:lstStyle/>
          <a:p>
            <a:pPr indent="0" marL="0">
              <a:lnSpc>
                <a:spcPct val="115000"/>
              </a:lnSpc>
              <a:buNone/>
            </a:pPr>
            <a:r>
              <a:rPr lang="en-US" altLang="en-US" sz="950" b="1" dirty="0">
                <a:solidFill>
                  <a:srgbClr val="2F6FA8"/>
                </a:solidFill>
                <a:latin typeface="Arial" pitchFamily="34" charset="0"/>
                <a:ea typeface="Yu Gothic" pitchFamily="34" charset="-122"/>
                <a:cs typeface="Yu Gothic" pitchFamily="34" charset="-120"/>
              </a:rPr>
              <a:t>Examples</a:t>
            </a:r>
          </a:p>
          <a:p>
            <a:pPr indent="0" marL="0">
              <a:lnSpc>
                <a:spcPct val="115000"/>
              </a:lnSpc>
              <a:spcBef>
                <a:spcPts val="200"/>
              </a:spcBef>
              <a:buNone/>
            </a:pPr>
            <a:r>
              <a:rPr lang="en-US" altLang="en-US" sz="950" b="0" dirty="0">
                <a:solidFill>
                  <a:srgbClr val="3E4A56"/>
                </a:solidFill>
                <a:latin typeface="Arial" pitchFamily="34" charset="0"/>
                <a:ea typeface="Yu Gothic" pitchFamily="34" charset="-122"/>
                <a:cs typeface="Yu Gothic" pitchFamily="34" charset="-120"/>
              </a:rPr>
              <a:t>• Build as a company-wide platform, or keep it departmental?</a:t>
            </a:r>
          </a:p>
          <a:p>
            <a:pPr indent="0" marL="0">
              <a:lnSpc>
                <a:spcPct val="115000"/>
              </a:lnSpc>
              <a:spcBef>
                <a:spcPts val="200"/>
              </a:spcBef>
              <a:buNone/>
            </a:pPr>
            <a:r>
              <a:rPr lang="en-US" altLang="en-US" sz="950" b="0" dirty="0">
                <a:solidFill>
                  <a:srgbClr val="3E4A56"/>
                </a:solidFill>
                <a:latin typeface="Arial" pitchFamily="34" charset="0"/>
                <a:ea typeface="Yu Gothic" pitchFamily="34" charset="-122"/>
                <a:cs typeface="Yu Gothic" pitchFamily="34" charset="-120"/>
              </a:rPr>
              <a:t>• Accept a non-standard interface or data definition?</a:t>
            </a:r>
          </a:p>
          <a:p>
            <a:pPr indent="0" marL="0">
              <a:lnSpc>
                <a:spcPct val="115000"/>
              </a:lnSpc>
              <a:spcBef>
                <a:spcPts val="200"/>
              </a:spcBef>
              <a:buNone/>
            </a:pPr>
            <a:r>
              <a:rPr lang="en-US" altLang="en-US" sz="950" b="0" dirty="0">
                <a:solidFill>
                  <a:srgbClr val="3E4A56"/>
                </a:solidFill>
                <a:latin typeface="Arial" pitchFamily="34" charset="0"/>
                <a:ea typeface="Yu Gothic" pitchFamily="34" charset="-122"/>
                <a:cs typeface="Yu Gothic" pitchFamily="34" charset="-120"/>
              </a:rPr>
              <a:t>• Consolidate with a similar function elsewhere, or keep it separate?</a:t>
            </a:r>
          </a:p>
          <a:p>
            <a:pPr indent="0" marL="0">
              <a:lnSpc>
                <a:spcPct val="115000"/>
              </a:lnSpc>
              <a:spcBef>
                <a:spcPts val="200"/>
              </a:spcBef>
              <a:buNone/>
            </a:pPr>
            <a:r>
              <a:rPr lang="en-US" altLang="en-US" sz="950" b="0" dirty="0">
                <a:solidFill>
                  <a:srgbClr val="3E4A56"/>
                </a:solidFill>
                <a:latin typeface="Arial" pitchFamily="34" charset="0"/>
                <a:ea typeface="Yu Gothic" pitchFamily="34" charset="-122"/>
                <a:cs typeface="Yu Gothic" pitchFamily="34" charset="-120"/>
              </a:rPr>
              <a:t>• Renew a product nearing EOL now?</a:t>
            </a:r>
          </a:p>
          <a:p>
            <a:pPr indent="0" marL="0">
              <a:lnSpc>
                <a:spcPct val="115000"/>
              </a:lnSpc>
              <a:spcBef>
                <a:spcPts val="200"/>
              </a:spcBef>
              <a:buNone/>
            </a:pPr>
            <a:r>
              <a:rPr lang="en-US" altLang="en-US" sz="950" b="0" dirty="0">
                <a:solidFill>
                  <a:srgbClr val="3E4A56"/>
                </a:solidFill>
                <a:latin typeface="Arial" pitchFamily="34" charset="0"/>
                <a:ea typeface="Yu Gothic" pitchFamily="34" charset="-122"/>
                <a:cs typeface="Yu Gothic" pitchFamily="34" charset="-120"/>
              </a:rPr>
              <a:t>• Align timing and scope with dependent plans?</a:t>
            </a:r>
          </a:p>
        </p:txBody>
      </p:sp>
      <p:sp>
        <p:nvSpPr>
          <p:cNvPr id="59" name="Col Head 1"/>
          <p:cNvSpPr/>
          <p:nvPr/>
        </p:nvSpPr>
        <p:spPr>
          <a:xfrm>
            <a:off x="4306824" y="1691640"/>
            <a:ext cx="3575304" cy="457200"/>
          </a:xfrm>
          <a:prstGeom prst="roundRect">
            <a:avLst>
              <a:gd name="adj" fmla="val 10000"/>
            </a:avLst>
          </a:prstGeom>
          <a:solidFill>
            <a:srgbClr val="1F7A68"/>
          </a:solidFill>
          <a:ln/>
        </p:spPr>
      </p:sp>
      <p:sp>
        <p:nvSpPr>
          <p:cNvPr id="60" name="Col Head Text 1"/>
          <p:cNvSpPr txBox="1"/>
          <p:nvPr/>
        </p:nvSpPr>
        <p:spPr>
          <a:xfrm>
            <a:off x="4306824" y="1691640"/>
            <a:ext cx="3575304" cy="457200"/>
          </a:xfrm>
          <a:prstGeom prst="rect">
            <a:avLst/>
          </a:prstGeom>
          <a:noFill/>
          <a:ln/>
        </p:spPr>
        <p:txBody>
          <a:bodyPr wrap="square" lIns="0" tIns="0" rIns="0" bIns="0" rtlCol="0" anchor="ctr"/>
          <a:lstStyle/>
          <a:p>
            <a:pPr algn="ctr" indent="0" marL="0">
              <a:lnSpc>
                <a:spcPct val="115000"/>
              </a:lnSpc>
              <a:buNone/>
            </a:pPr>
            <a:r>
              <a:rPr lang="en-US" altLang="en-US" sz="1250" b="1" dirty="0">
                <a:solidFill>
                  <a:srgbClr val="FFFFFF"/>
                </a:solidFill>
                <a:latin typeface="Arial" pitchFamily="34" charset="0"/>
                <a:ea typeface="Yu Gothic" pitchFamily="34" charset="-122"/>
                <a:cs typeface="Yu Gothic" pitchFamily="34" charset="-120"/>
              </a:rPr>
              <a:t>Issues reported as confirmed</a:t>
            </a:r>
          </a:p>
        </p:txBody>
      </p:sp>
      <p:sp>
        <p:nvSpPr>
          <p:cNvPr id="61" name="Col Body 1"/>
          <p:cNvSpPr/>
          <p:nvPr/>
        </p:nvSpPr>
        <p:spPr>
          <a:xfrm>
            <a:off x="4306824" y="2221992"/>
            <a:ext cx="3575304" cy="3310128"/>
          </a:xfrm>
          <a:prstGeom prst="roundRect">
            <a:avLst>
              <a:gd name="adj" fmla="val 3000"/>
            </a:avLst>
          </a:prstGeom>
          <a:solidFill>
            <a:srgbClr val="E5F2EE"/>
          </a:solidFill>
          <a:ln/>
        </p:spPr>
      </p:sp>
      <p:sp>
        <p:nvSpPr>
          <p:cNvPr id="62" name="Col Def 1"/>
          <p:cNvSpPr txBox="1"/>
          <p:nvPr/>
        </p:nvSpPr>
        <p:spPr>
          <a:xfrm>
            <a:off x="4434840" y="2313432"/>
            <a:ext cx="3319272" cy="731520"/>
          </a:xfrm>
          <a:prstGeom prst="rect">
            <a:avLst/>
          </a:prstGeom>
          <a:noFill/>
          <a:ln/>
        </p:spPr>
        <p:txBody>
          <a:bodyPr wrap="square" lIns="0" tIns="0" rIns="0" bIns="0" rtlCol="0" anchor="t"/>
          <a:lstStyle/>
          <a:p>
            <a:pPr indent="0" marL="0">
              <a:lnSpc>
                <a:spcPct val="115000"/>
              </a:lnSpc>
              <a:buNone/>
            </a:pPr>
            <a:r>
              <a:rPr lang="en-US" altLang="en-US" sz="950" b="1" dirty="0">
                <a:solidFill>
                  <a:srgbClr val="1F7A68"/>
                </a:solidFill>
                <a:latin typeface="Arial" pitchFamily="34" charset="0"/>
                <a:ea typeface="Yu Gothic" pitchFamily="34" charset="-122"/>
                <a:cs typeface="Yu Gothic" pitchFamily="34" charset="-120"/>
              </a:rPr>
              <a:t>What they are</a:t>
            </a:r>
          </a:p>
          <a:p>
            <a:pPr indent="0" marL="0">
              <a:lnSpc>
                <a:spcPct val="115000"/>
              </a:lnSpc>
              <a:spcBef>
                <a:spcPts val="250"/>
              </a:spcBef>
              <a:buNone/>
            </a:pPr>
            <a:r>
              <a:rPr lang="en-US" altLang="en-US" sz="1050" b="0" dirty="0">
                <a:solidFill>
                  <a:srgbClr val="1B2A38"/>
                </a:solidFill>
                <a:latin typeface="Arial" pitchFamily="34" charset="0"/>
                <a:ea typeface="Yu Gothic" pitchFamily="34" charset="-122"/>
                <a:cs typeface="Yu Gothic" pitchFamily="34" charset="-120"/>
              </a:rPr>
              <a:t>Related to commonality, but confirmed with owners as posing no problem</a:t>
            </a:r>
          </a:p>
        </p:txBody>
      </p:sp>
      <p:sp>
        <p:nvSpPr>
          <p:cNvPr id="63" name="Col How Box 1"/>
          <p:cNvSpPr/>
          <p:nvPr/>
        </p:nvSpPr>
        <p:spPr>
          <a:xfrm>
            <a:off x="4434840" y="3044952"/>
            <a:ext cx="3319272" cy="868680"/>
          </a:xfrm>
          <a:prstGeom prst="roundRect">
            <a:avLst>
              <a:gd name="adj" fmla="val 6000"/>
            </a:avLst>
          </a:prstGeom>
          <a:solidFill>
            <a:srgbClr val="FFFFFF"/>
          </a:solidFill>
          <a:ln/>
        </p:spPr>
      </p:sp>
      <p:sp>
        <p:nvSpPr>
          <p:cNvPr id="64" name="Col How 1"/>
          <p:cNvSpPr txBox="1"/>
          <p:nvPr/>
        </p:nvSpPr>
        <p:spPr>
          <a:xfrm>
            <a:off x="4434840" y="3044952"/>
            <a:ext cx="3319272" cy="868680"/>
          </a:xfrm>
          <a:prstGeom prst="rect">
            <a:avLst/>
          </a:prstGeom>
          <a:noFill/>
          <a:ln/>
        </p:spPr>
        <p:txBody>
          <a:bodyPr wrap="square" lIns="91440" tIns="0" rIns="91440" bIns="0" rtlCol="0" anchor="ctr"/>
          <a:lstStyle/>
          <a:p>
            <a:pPr indent="0" marL="0">
              <a:lnSpc>
                <a:spcPct val="115000"/>
              </a:lnSpc>
              <a:buNone/>
            </a:pPr>
            <a:r>
              <a:rPr lang="en-US" altLang="en-US" sz="950" b="1" dirty="0">
                <a:solidFill>
                  <a:srgbClr val="1F7A68"/>
                </a:solidFill>
                <a:latin typeface="Arial" pitchFamily="34" charset="0"/>
                <a:ea typeface="Yu Gothic" pitchFamily="34" charset="-122"/>
                <a:cs typeface="Yu Gothic" pitchFamily="34" charset="-120"/>
              </a:rPr>
              <a:t>How to write them in the issue brief</a:t>
            </a:r>
          </a:p>
          <a:p>
            <a:pPr indent="0" marL="0">
              <a:lnSpc>
                <a:spcPct val="115000"/>
              </a:lnSpc>
              <a:spcBef>
                <a:spcPts val="200"/>
              </a:spcBef>
              <a:buNone/>
            </a:pPr>
            <a:r>
              <a:rPr lang="en-US" altLang="en-US" sz="1000" b="0" dirty="0">
                <a:solidFill>
                  <a:srgbClr val="1B2A38"/>
                </a:solidFill>
                <a:latin typeface="Arial" pitchFamily="34" charset="0"/>
                <a:ea typeface="Yu Gothic" pitchFamily="34" charset="-122"/>
                <a:cs typeface="Yu Gothic" pitchFamily="34" charset="-120"/>
              </a:rPr>
              <a:t>State which owners confirmed, and what they confirmed</a:t>
            </a:r>
          </a:p>
        </p:txBody>
      </p:sp>
      <p:sp>
        <p:nvSpPr>
          <p:cNvPr id="65" name="Col Ex 1"/>
          <p:cNvSpPr txBox="1"/>
          <p:nvPr/>
        </p:nvSpPr>
        <p:spPr>
          <a:xfrm>
            <a:off x="4434840" y="4023360"/>
            <a:ext cx="3319272" cy="1435608"/>
          </a:xfrm>
          <a:prstGeom prst="rect">
            <a:avLst/>
          </a:prstGeom>
          <a:noFill/>
          <a:ln/>
        </p:spPr>
        <p:txBody>
          <a:bodyPr wrap="square" lIns="0" tIns="0" rIns="0" bIns="0" rtlCol="0" anchor="t"/>
          <a:lstStyle/>
          <a:p>
            <a:pPr indent="0" marL="0">
              <a:lnSpc>
                <a:spcPct val="115000"/>
              </a:lnSpc>
              <a:buNone/>
            </a:pPr>
            <a:r>
              <a:rPr lang="en-US" altLang="en-US" sz="950" b="1" dirty="0">
                <a:solidFill>
                  <a:srgbClr val="1F7A68"/>
                </a:solidFill>
                <a:latin typeface="Arial" pitchFamily="34" charset="0"/>
                <a:ea typeface="Yu Gothic" pitchFamily="34" charset="-122"/>
                <a:cs typeface="Yu Gothic" pitchFamily="34" charset="-120"/>
              </a:rPr>
              <a:t>Examples</a:t>
            </a:r>
          </a:p>
          <a:p>
            <a:pPr indent="0" marL="0">
              <a:lnSpc>
                <a:spcPct val="115000"/>
              </a:lnSpc>
              <a:spcBef>
                <a:spcPts val="200"/>
              </a:spcBef>
              <a:buNone/>
            </a:pPr>
            <a:r>
              <a:rPr lang="en-US" altLang="en-US" sz="950" b="0" dirty="0">
                <a:solidFill>
                  <a:srgbClr val="3E4A56"/>
                </a:solidFill>
                <a:latin typeface="Arial" pitchFamily="34" charset="0"/>
                <a:ea typeface="Yu Gothic" pitchFamily="34" charset="-122"/>
                <a:cs typeface="Yu Gothic" pitchFamily="34" charset="-120"/>
              </a:rPr>
              <a:t>• Connects via the standard interface (confirmed with the integration owner)</a:t>
            </a:r>
          </a:p>
          <a:p>
            <a:pPr indent="0" marL="0">
              <a:lnSpc>
                <a:spcPct val="115000"/>
              </a:lnSpc>
              <a:spcBef>
                <a:spcPts val="200"/>
              </a:spcBef>
              <a:buNone/>
            </a:pPr>
            <a:r>
              <a:rPr lang="en-US" altLang="en-US" sz="950" b="0" dirty="0">
                <a:solidFill>
                  <a:srgbClr val="3E4A56"/>
                </a:solidFill>
                <a:latin typeface="Arial" pitchFamily="34" charset="0"/>
                <a:ea typeface="Yu Gothic" pitchFamily="34" charset="-122"/>
                <a:cs typeface="Yu Gothic" pitchFamily="34" charset="-120"/>
              </a:rPr>
              <a:t>• Only references existing master data; no new definitions (confirmed with the MDM owner)</a:t>
            </a:r>
          </a:p>
          <a:p>
            <a:pPr indent="0" marL="0">
              <a:lnSpc>
                <a:spcPct val="115000"/>
              </a:lnSpc>
              <a:spcBef>
                <a:spcPts val="200"/>
              </a:spcBef>
              <a:buNone/>
            </a:pPr>
            <a:r>
              <a:rPr lang="en-US" altLang="en-US" sz="950" b="0" dirty="0">
                <a:solidFill>
                  <a:srgbClr val="3E4A56"/>
                </a:solidFill>
                <a:latin typeface="Arial" pitchFamily="34" charset="0"/>
                <a:ea typeface="Yu Gothic" pitchFamily="34" charset="-122"/>
                <a:cs typeface="Yu Gothic" pitchFamily="34" charset="-120"/>
              </a:rPr>
              <a:t>• Adopts products within support (confirmed with the license owner)</a:t>
            </a:r>
          </a:p>
        </p:txBody>
      </p:sp>
      <p:sp>
        <p:nvSpPr>
          <p:cNvPr id="66" name="Col Head 2"/>
          <p:cNvSpPr/>
          <p:nvPr/>
        </p:nvSpPr>
        <p:spPr>
          <a:xfrm>
            <a:off x="8065008" y="1691640"/>
            <a:ext cx="3575304" cy="457200"/>
          </a:xfrm>
          <a:prstGeom prst="roundRect">
            <a:avLst>
              <a:gd name="adj" fmla="val 10000"/>
            </a:avLst>
          </a:prstGeom>
          <a:solidFill>
            <a:srgbClr val="66717C"/>
          </a:solidFill>
          <a:ln/>
        </p:spPr>
      </p:sp>
      <p:sp>
        <p:nvSpPr>
          <p:cNvPr id="67" name="Col Head Text 2"/>
          <p:cNvSpPr txBox="1"/>
          <p:nvPr/>
        </p:nvSpPr>
        <p:spPr>
          <a:xfrm>
            <a:off x="8065008" y="1691640"/>
            <a:ext cx="3575304" cy="457200"/>
          </a:xfrm>
          <a:prstGeom prst="rect">
            <a:avLst/>
          </a:prstGeom>
          <a:noFill/>
          <a:ln/>
        </p:spPr>
        <p:txBody>
          <a:bodyPr wrap="square" lIns="0" tIns="0" rIns="0" bIns="0" rtlCol="0" anchor="ctr"/>
          <a:lstStyle/>
          <a:p>
            <a:pPr algn="ctr" indent="0" marL="0">
              <a:lnSpc>
                <a:spcPct val="115000"/>
              </a:lnSpc>
              <a:buNone/>
            </a:pPr>
            <a:r>
              <a:rPr lang="en-US" altLang="en-US" sz="1250" b="1" dirty="0">
                <a:solidFill>
                  <a:srgbClr val="FFFFFF"/>
                </a:solidFill>
                <a:latin typeface="Arial" pitchFamily="34" charset="0"/>
                <a:ea typeface="Yu Gothic" pitchFamily="34" charset="-122"/>
                <a:cs typeface="Yu Gothic" pitchFamily="34" charset="-120"/>
              </a:rPr>
              <a:t>Not issues (decided within the department)</a:t>
            </a:r>
          </a:p>
        </p:txBody>
      </p:sp>
      <p:sp>
        <p:nvSpPr>
          <p:cNvPr id="68" name="Col Body 2"/>
          <p:cNvSpPr/>
          <p:nvPr/>
        </p:nvSpPr>
        <p:spPr>
          <a:xfrm>
            <a:off x="8065008" y="2221992"/>
            <a:ext cx="3575304" cy="3310128"/>
          </a:xfrm>
          <a:prstGeom prst="roundRect">
            <a:avLst>
              <a:gd name="adj" fmla="val 3000"/>
            </a:avLst>
          </a:prstGeom>
          <a:solidFill>
            <a:srgbClr val="F2F4F6"/>
          </a:solidFill>
          <a:ln/>
        </p:spPr>
      </p:sp>
      <p:sp>
        <p:nvSpPr>
          <p:cNvPr id="69" name="Col Def 2"/>
          <p:cNvSpPr txBox="1"/>
          <p:nvPr/>
        </p:nvSpPr>
        <p:spPr>
          <a:xfrm>
            <a:off x="8193024" y="2313432"/>
            <a:ext cx="3319272" cy="731520"/>
          </a:xfrm>
          <a:prstGeom prst="rect">
            <a:avLst/>
          </a:prstGeom>
          <a:noFill/>
          <a:ln/>
        </p:spPr>
        <p:txBody>
          <a:bodyPr wrap="square" lIns="0" tIns="0" rIns="0" bIns="0" rtlCol="0" anchor="t"/>
          <a:lstStyle/>
          <a:p>
            <a:pPr indent="0" marL="0">
              <a:lnSpc>
                <a:spcPct val="115000"/>
              </a:lnSpc>
              <a:buNone/>
            </a:pPr>
            <a:r>
              <a:rPr lang="en-US" altLang="en-US" sz="950" b="1" dirty="0">
                <a:solidFill>
                  <a:srgbClr val="3E4A56"/>
                </a:solidFill>
                <a:latin typeface="Arial" pitchFamily="34" charset="0"/>
                <a:ea typeface="Yu Gothic" pitchFamily="34" charset="-122"/>
                <a:cs typeface="Yu Gothic" pitchFamily="34" charset="-120"/>
              </a:rPr>
              <a:t>What they are</a:t>
            </a:r>
          </a:p>
          <a:p>
            <a:pPr indent="0" marL="0">
              <a:lnSpc>
                <a:spcPct val="115000"/>
              </a:lnSpc>
              <a:spcBef>
                <a:spcPts val="250"/>
              </a:spcBef>
              <a:buNone/>
            </a:pPr>
            <a:r>
              <a:rPr lang="en-US" altLang="en-US" sz="1050" b="0" dirty="0">
                <a:solidFill>
                  <a:srgbClr val="1B2A38"/>
                </a:solidFill>
                <a:latin typeface="Arial" pitchFamily="34" charset="0"/>
                <a:ea typeface="Yu Gothic" pitchFamily="34" charset="-122"/>
                <a:cs typeface="Yu Gothic" pitchFamily="34" charset="-120"/>
              </a:rPr>
              <a:t>Unrelated to commonality; decided within the proposing department</a:t>
            </a:r>
          </a:p>
        </p:txBody>
      </p:sp>
      <p:sp>
        <p:nvSpPr>
          <p:cNvPr id="70" name="Col How Box 2"/>
          <p:cNvSpPr/>
          <p:nvPr/>
        </p:nvSpPr>
        <p:spPr>
          <a:xfrm>
            <a:off x="8193024" y="3044952"/>
            <a:ext cx="3319272" cy="868680"/>
          </a:xfrm>
          <a:prstGeom prst="roundRect">
            <a:avLst>
              <a:gd name="adj" fmla="val 6000"/>
            </a:avLst>
          </a:prstGeom>
          <a:solidFill>
            <a:srgbClr val="FFFFFF"/>
          </a:solidFill>
          <a:ln/>
        </p:spPr>
      </p:sp>
      <p:sp>
        <p:nvSpPr>
          <p:cNvPr id="71" name="Col How 2"/>
          <p:cNvSpPr txBox="1"/>
          <p:nvPr/>
        </p:nvSpPr>
        <p:spPr>
          <a:xfrm>
            <a:off x="8193024" y="3044952"/>
            <a:ext cx="3319272" cy="868680"/>
          </a:xfrm>
          <a:prstGeom prst="rect">
            <a:avLst/>
          </a:prstGeom>
          <a:noFill/>
          <a:ln/>
        </p:spPr>
        <p:txBody>
          <a:bodyPr wrap="square" lIns="91440" tIns="0" rIns="91440" bIns="0" rtlCol="0" anchor="ctr"/>
          <a:lstStyle/>
          <a:p>
            <a:pPr indent="0" marL="0">
              <a:lnSpc>
                <a:spcPct val="115000"/>
              </a:lnSpc>
              <a:buNone/>
            </a:pPr>
            <a:r>
              <a:rPr lang="en-US" altLang="en-US" sz="950" b="1" dirty="0">
                <a:solidFill>
                  <a:srgbClr val="3E4A56"/>
                </a:solidFill>
                <a:latin typeface="Arial" pitchFamily="34" charset="0"/>
                <a:ea typeface="Yu Gothic" pitchFamily="34" charset="-122"/>
                <a:cs typeface="Yu Gothic" pitchFamily="34" charset="-120"/>
              </a:rPr>
              <a:t>How to write them in the issue brief</a:t>
            </a:r>
          </a:p>
          <a:p>
            <a:pPr indent="0" marL="0">
              <a:lnSpc>
                <a:spcPct val="115000"/>
              </a:lnSpc>
              <a:spcBef>
                <a:spcPts val="200"/>
              </a:spcBef>
              <a:buNone/>
            </a:pPr>
            <a:r>
              <a:rPr lang="en-US" altLang="en-US" sz="1000" b="0" dirty="0">
                <a:solidFill>
                  <a:srgbClr val="1B2A38"/>
                </a:solidFill>
                <a:latin typeface="Arial" pitchFamily="34" charset="0"/>
                <a:ea typeface="Yu Gothic" pitchFamily="34" charset="-122"/>
                <a:cs typeface="Yu Gothic" pitchFamily="34" charset="-120"/>
              </a:rPr>
              <a:t>Share resolved items as information. Just note unresolved ones. If advice is wanted, say so</a:t>
            </a:r>
          </a:p>
        </p:txBody>
      </p:sp>
      <p:sp>
        <p:nvSpPr>
          <p:cNvPr id="72" name="Col Ex 2"/>
          <p:cNvSpPr txBox="1"/>
          <p:nvPr/>
        </p:nvSpPr>
        <p:spPr>
          <a:xfrm>
            <a:off x="8193024" y="4023360"/>
            <a:ext cx="3319272" cy="1435608"/>
          </a:xfrm>
          <a:prstGeom prst="rect">
            <a:avLst/>
          </a:prstGeom>
          <a:noFill/>
          <a:ln/>
        </p:spPr>
        <p:txBody>
          <a:bodyPr wrap="square" lIns="0" tIns="0" rIns="0" bIns="0" rtlCol="0" anchor="t"/>
          <a:lstStyle/>
          <a:p>
            <a:pPr indent="0" marL="0">
              <a:lnSpc>
                <a:spcPct val="115000"/>
              </a:lnSpc>
              <a:buNone/>
            </a:pPr>
            <a:r>
              <a:rPr lang="en-US" altLang="en-US" sz="950" b="1" dirty="0">
                <a:solidFill>
                  <a:srgbClr val="3E4A56"/>
                </a:solidFill>
                <a:latin typeface="Arial" pitchFamily="34" charset="0"/>
                <a:ea typeface="Yu Gothic" pitchFamily="34" charset="-122"/>
                <a:cs typeface="Yu Gothic" pitchFamily="34" charset="-120"/>
              </a:rPr>
              <a:t>Examples</a:t>
            </a:r>
          </a:p>
          <a:p>
            <a:pPr indent="0" marL="0">
              <a:lnSpc>
                <a:spcPct val="115000"/>
              </a:lnSpc>
              <a:spcBef>
                <a:spcPts val="200"/>
              </a:spcBef>
              <a:buNone/>
            </a:pPr>
            <a:r>
              <a:rPr lang="en-US" altLang="en-US" sz="950" b="0" dirty="0">
                <a:solidFill>
                  <a:srgbClr val="3E4A56"/>
                </a:solidFill>
                <a:latin typeface="Arial" pitchFamily="34" charset="0"/>
                <a:ea typeface="Yu Gothic" pitchFamily="34" charset="-122"/>
                <a:cs typeface="Yu Gothic" pitchFamily="34" charset="-120"/>
              </a:rPr>
              <a:t>• Business requirements and feature priorities</a:t>
            </a:r>
          </a:p>
          <a:p>
            <a:pPr indent="0" marL="0">
              <a:lnSpc>
                <a:spcPct val="115000"/>
              </a:lnSpc>
              <a:spcBef>
                <a:spcPts val="200"/>
              </a:spcBef>
              <a:buNone/>
            </a:pPr>
            <a:r>
              <a:rPr lang="en-US" altLang="en-US" sz="950" b="0" dirty="0">
                <a:solidFill>
                  <a:srgbClr val="3E4A56"/>
                </a:solidFill>
                <a:latin typeface="Arial" pitchFamily="34" charset="0"/>
                <a:ea typeface="Yu Gothic" pitchFamily="34" charset="-122"/>
                <a:cs typeface="Yu Gothic" pitchFamily="34" charset="-120"/>
              </a:rPr>
              <a:t>• Cost-effectiveness within the department</a:t>
            </a:r>
          </a:p>
          <a:p>
            <a:pPr indent="0" marL="0">
              <a:lnSpc>
                <a:spcPct val="115000"/>
              </a:lnSpc>
              <a:spcBef>
                <a:spcPts val="200"/>
              </a:spcBef>
              <a:buNone/>
            </a:pPr>
            <a:r>
              <a:rPr lang="en-US" altLang="en-US" sz="950" b="0" dirty="0">
                <a:solidFill>
                  <a:srgbClr val="3E4A56"/>
                </a:solidFill>
                <a:latin typeface="Arial" pitchFamily="34" charset="0"/>
                <a:ea typeface="Yu Gothic" pitchFamily="34" charset="-122"/>
                <a:cs typeface="Yu Gothic" pitchFamily="34" charset="-120"/>
              </a:rPr>
              <a:t>• Vendor selection, schedule, and team</a:t>
            </a:r>
          </a:p>
        </p:txBody>
      </p:sp>
      <p:sp>
        <p:nvSpPr>
          <p:cNvPr id="73" name="Check Band"/>
          <p:cNvSpPr/>
          <p:nvPr/>
        </p:nvSpPr>
        <p:spPr>
          <a:xfrm>
            <a:off x="548640" y="5641848"/>
            <a:ext cx="11091672" cy="594360"/>
          </a:xfrm>
          <a:prstGeom prst="roundRect">
            <a:avLst>
              <a:gd name="adj" fmla="val 10000"/>
            </a:avLst>
          </a:prstGeom>
          <a:solidFill>
            <a:srgbClr val="FDF4E0"/>
          </a:solidFill>
          <a:ln/>
        </p:spPr>
      </p:sp>
      <p:sp>
        <p:nvSpPr>
          <p:cNvPr id="74" name="Check Text"/>
          <p:cNvSpPr txBox="1"/>
          <p:nvPr/>
        </p:nvSpPr>
        <p:spPr>
          <a:xfrm>
            <a:off x="731520" y="5641848"/>
            <a:ext cx="10725912" cy="594360"/>
          </a:xfrm>
          <a:prstGeom prst="rect">
            <a:avLst/>
          </a:prstGeom>
          <a:noFill/>
          <a:ln/>
        </p:spPr>
        <p:txBody>
          <a:bodyPr wrap="square" lIns="0" tIns="0" rIns="0" bIns="0" rtlCol="0" anchor="ctr"/>
          <a:lstStyle/>
          <a:p>
            <a:pPr indent="0" marL="0">
              <a:lnSpc>
                <a:spcPct val="115000"/>
              </a:lnSpc>
              <a:buNone/>
            </a:pPr>
            <a:r>
              <a:rPr lang="en-US" altLang="en-US" sz="1050" b="1" dirty="0">
                <a:solidFill>
                  <a:srgbClr val="C98A12"/>
                </a:solidFill>
                <a:latin typeface="Arial" pitchFamily="34" charset="0"/>
                <a:ea typeface="Yu Gothic" pitchFamily="34" charset="-122"/>
                <a:cs typeface="Yu Gothic" pitchFamily="34" charset="-120"/>
              </a:rPr>
              <a:t>Check  </a:t>
            </a:r>
            <a:r>
              <a:rPr lang="en-US" altLang="en-US" sz="1050" b="0" dirty="0">
                <a:solidFill>
                  <a:srgbClr val="1B2A38"/>
                </a:solidFill>
                <a:latin typeface="Arial" pitchFamily="34" charset="0"/>
                <a:ea typeface="Yu Gothic" pitchFamily="34" charset="-122"/>
                <a:cs typeface="Yu Gothic" pitchFamily="34" charset="-120"/>
              </a:rPr>
              <a:t>Did you note issues you considered but did not raise, and why? For issues reported as confirmed, did you state who confirmed what?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47472"/>
            <a:ext cx="1371600" cy="274320"/>
          </a:xfrm>
          <a:prstGeom prst="roundRect">
            <a:avLst>
              <a:gd name="adj" fmla="val 50000"/>
            </a:avLst>
          </a:prstGeom>
          <a:solidFill>
            <a:srgbClr val="C98A12"/>
          </a:solidFill>
          <a:ln/>
        </p:spPr>
      </p:sp>
      <p:sp>
        <p:nvSpPr>
          <p:cNvPr id="3" name="Text 1"/>
          <p:cNvSpPr txBox="1"/>
          <p:nvPr/>
        </p:nvSpPr>
        <p:spPr>
          <a:xfrm>
            <a:off x="548640" y="347472"/>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Yu Gothic" pitchFamily="34" charset="-122"/>
                <a:cs typeface="Yu Gothic" pitchFamily="34" charset="-120"/>
              </a:rPr>
              <a:t>NEED ACTION</a:t>
            </a:r>
            <a:endParaRPr lang="en-US" sz="1000" dirty="0"/>
          </a:p>
        </p:txBody>
      </p:sp>
      <p:sp>
        <p:nvSpPr>
          <p:cNvPr id="4" name="Text 2"/>
          <p:cNvSpPr txBox="1"/>
          <p:nvPr/>
        </p:nvSpPr>
        <p:spPr>
          <a:xfrm>
            <a:off x="548640" y="685800"/>
            <a:ext cx="11064240" cy="548640"/>
          </a:xfrm>
          <a:prstGeom prst="rect">
            <a:avLst/>
          </a:prstGeom>
          <a:noFill/>
          <a:ln/>
        </p:spPr>
        <p:txBody>
          <a:bodyPr wrap="square" lIns="0" tIns="0" rIns="0" bIns="0" rtlCol="0" anchor="ctr"/>
          <a:lstStyle/>
          <a:p>
            <a:pPr indent="0" marL="0">
              <a:buNone/>
            </a:pPr>
            <a:r>
              <a:rPr lang="en-US" sz="2400" b="1" dirty="0">
                <a:solidFill>
                  <a:srgbClr val="1B2A38"/>
                </a:solidFill>
                <a:latin typeface="Arial" pitchFamily="34" charset="0"/>
                <a:ea typeface="Yu Gothic" pitchFamily="34" charset="-122"/>
                <a:cs typeface="Yu Gothic" pitchFamily="34" charset="-120"/>
              </a:rPr>
              <a:t>Take part in deliberation and feed back the results properly</a:t>
            </a:r>
            <a:endParaRPr lang="en-US" sz="2400" dirty="0"/>
          </a:p>
        </p:txBody>
      </p:sp>
      <p:sp>
        <p:nvSpPr>
          <p:cNvPr id="5" name="Text 3"/>
          <p:cNvSpPr txBox="1"/>
          <p:nvPr/>
        </p:nvSpPr>
        <p:spPr>
          <a:xfrm>
            <a:off x="548640" y="1234440"/>
            <a:ext cx="11064240" cy="365760"/>
          </a:xfrm>
          <a:prstGeom prst="rect">
            <a:avLst/>
          </a:prstGeom>
          <a:noFill/>
          <a:ln/>
        </p:spPr>
        <p:txBody>
          <a:bodyPr wrap="square" lIns="0" tIns="0" rIns="0" bIns="0" rtlCol="0" anchor="ctr"/>
          <a:lstStyle/>
          <a:p>
            <a:pPr indent="0" marL="0">
              <a:buNone/>
            </a:pPr>
            <a:r>
              <a:rPr lang="en-US" sz="1300" dirty="0">
                <a:solidFill>
                  <a:srgbClr val="66717C"/>
                </a:solidFill>
                <a:latin typeface="Arial" pitchFamily="34" charset="0"/>
                <a:ea typeface="Yu Gothic" pitchFamily="34" charset="-122"/>
                <a:cs typeface="Yu Gothic" pitchFamily="34" charset="-120"/>
              </a:rPr>
              <a:t>Don't stop at approval. Return the rationale to the proposer, PPM, and the registry</a:t>
            </a:r>
            <a:endParaRPr lang="en-US" sz="1300" dirty="0"/>
          </a:p>
        </p:txBody>
      </p:sp>
      <p:sp>
        <p:nvSpPr>
          <p:cNvPr id="6" name="Text 4"/>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900" dirty="0">
                <a:solidFill>
                  <a:srgbClr val="66717C"/>
                </a:solidFill>
                <a:latin typeface="Arial" pitchFamily="34" charset="0"/>
                <a:ea typeface="Yu Gothic" pitchFamily="34" charset="-122"/>
                <a:cs typeface="Yu Gothic" pitchFamily="34" charset="-120"/>
              </a:rPr>
              <a:t>IT Materiality ｜ IT Department internal alignment</a:t>
            </a:r>
            <a:endParaRPr lang="en-US" sz="900" dirty="0"/>
          </a:p>
        </p:txBody>
      </p:sp>
      <p:sp>
        <p:nvSpPr>
          <p:cNvPr id="7" name="Text 5"/>
          <p:cNvSpPr txBox="1"/>
          <p:nvPr/>
        </p:nvSpPr>
        <p:spPr>
          <a:xfrm>
            <a:off x="11155680" y="6446520"/>
            <a:ext cx="457200" cy="274320"/>
          </a:xfrm>
          <a:prstGeom prst="rect">
            <a:avLst/>
          </a:prstGeom>
          <a:noFill/>
          <a:ln/>
        </p:spPr>
        <p:txBody>
          <a:bodyPr wrap="square" lIns="0" tIns="0" rIns="0" bIns="0" rtlCol="0" anchor="t"/>
          <a:lstStyle/>
          <a:p>
            <a:pPr algn="r" indent="0" marL="0">
              <a:buNone/>
            </a:pPr>
            <a:r>
              <a:rPr lang="en-US" sz="900" dirty="0">
                <a:solidFill>
                  <a:srgbClr val="66717C"/>
                </a:solidFill>
                <a:latin typeface="Arial" pitchFamily="34" charset="0"/>
                <a:ea typeface="Yu Gothic" pitchFamily="34" charset="-122"/>
                <a:cs typeface="Yu Gothic" pitchFamily="34" charset="-120"/>
              </a:rPr>
              <a:t>9</a:t>
            </a:r>
            <a:endParaRPr lang="en-US" sz="900" dirty="0"/>
          </a:p>
        </p:txBody>
      </p:sp>
      <p:sp>
        <p:nvSpPr>
          <p:cNvPr id="8" name="Shape 6"/>
          <p:cNvSpPr/>
          <p:nvPr/>
        </p:nvSpPr>
        <p:spPr>
          <a:xfrm>
            <a:off x="548640" y="1783080"/>
            <a:ext cx="3657600" cy="3246120"/>
          </a:xfrm>
          <a:prstGeom prst="roundRect">
            <a:avLst>
              <a:gd name="adj" fmla="val 2254"/>
            </a:avLst>
          </a:prstGeom>
          <a:solidFill>
            <a:srgbClr val="F2F4F6"/>
          </a:solidFill>
          <a:ln/>
        </p:spPr>
      </p:sp>
      <p:sp>
        <p:nvSpPr>
          <p:cNvPr id="9" name="Text 7"/>
          <p:cNvSpPr txBox="1"/>
          <p:nvPr/>
        </p:nvSpPr>
        <p:spPr>
          <a:xfrm>
            <a:off x="731520" y="1856232"/>
            <a:ext cx="3291840" cy="384048"/>
          </a:xfrm>
          <a:prstGeom prst="rect">
            <a:avLst/>
          </a:prstGeom>
          <a:noFill/>
          <a:ln/>
        </p:spPr>
        <p:txBody>
          <a:bodyPr wrap="square" lIns="0" tIns="0" rIns="0" bIns="0" rtlCol="0" anchor="ctr"/>
          <a:lstStyle/>
          <a:p>
            <a:pPr indent="0" marL="0">
              <a:buNone/>
            </a:pPr>
            <a:r>
              <a:rPr lang="en-US" sz="1500" b="1" dirty="0">
                <a:solidFill>
                  <a:srgbClr val="C98A12"/>
                </a:solidFill>
                <a:latin typeface="Arial" pitchFamily="34" charset="0"/>
                <a:ea typeface="Yu Gothic" pitchFamily="34" charset="-122"/>
                <a:cs typeface="Yu Gothic" pitchFamily="34" charset="-120"/>
              </a:rPr>
              <a:t>Take part in deliberation</a:t>
            </a:r>
            <a:endParaRPr lang="en-US" sz="1500" dirty="0"/>
          </a:p>
        </p:txBody>
      </p:sp>
      <p:sp>
        <p:nvSpPr>
          <p:cNvPr id="10" name="Shape 8"/>
          <p:cNvSpPr/>
          <p:nvPr/>
        </p:nvSpPr>
        <p:spPr>
          <a:xfrm>
            <a:off x="685800" y="2331720"/>
            <a:ext cx="3383280" cy="795528"/>
          </a:xfrm>
          <a:prstGeom prst="roundRect">
            <a:avLst>
              <a:gd name="adj" fmla="val 9195"/>
            </a:avLst>
          </a:prstGeom>
          <a:solidFill>
            <a:srgbClr val="FFFFFF"/>
          </a:solidFill>
          <a:ln/>
        </p:spPr>
      </p:sp>
      <p:sp>
        <p:nvSpPr>
          <p:cNvPr id="11" name="Text 9"/>
          <p:cNvSpPr txBox="1"/>
          <p:nvPr/>
        </p:nvSpPr>
        <p:spPr>
          <a:xfrm>
            <a:off x="795528" y="2377440"/>
            <a:ext cx="3200400" cy="301752"/>
          </a:xfrm>
          <a:prstGeom prst="rect">
            <a:avLst/>
          </a:prstGeom>
          <a:noFill/>
          <a:ln/>
        </p:spPr>
        <p:txBody>
          <a:bodyPr wrap="square" lIns="0" tIns="0" rIns="0" bIns="0" rtlCol="0" anchor="ctr"/>
          <a:lstStyle/>
          <a:p>
            <a:pPr indent="0" marL="0">
              <a:buNone/>
            </a:pPr>
            <a:r>
              <a:rPr lang="en-US" sz="1200" b="1" dirty="0">
                <a:solidFill>
                  <a:srgbClr val="1B2A38"/>
                </a:solidFill>
                <a:latin typeface="Arial" pitchFamily="34" charset="0"/>
                <a:ea typeface="Yu Gothic" pitchFamily="34" charset="-122"/>
                <a:cs typeface="Yu Gothic" pitchFamily="34" charset="-120"/>
              </a:rPr>
              <a:t>Decide issue by issue</a:t>
            </a:r>
            <a:endParaRPr lang="en-US" sz="1200" dirty="0"/>
          </a:p>
        </p:txBody>
      </p:sp>
      <p:sp>
        <p:nvSpPr>
          <p:cNvPr id="12" name="Text 10"/>
          <p:cNvSpPr txBox="1"/>
          <p:nvPr/>
        </p:nvSpPr>
        <p:spPr>
          <a:xfrm>
            <a:off x="795528" y="2697480"/>
            <a:ext cx="3200400" cy="411480"/>
          </a:xfrm>
          <a:prstGeom prst="rect">
            <a:avLst/>
          </a:prstGeom>
          <a:noFill/>
          <a:ln/>
        </p:spPr>
        <p:txBody>
          <a:bodyPr wrap="square" lIns="0" tIns="0" rIns="0" bIns="0" rtlCol="0" anchor="t"/>
          <a:lstStyle/>
          <a:p>
            <a:pPr indent="0" marL="0">
              <a:buNone/>
            </a:pPr>
            <a:r>
              <a:rPr lang="en-US" sz="1050" dirty="0">
                <a:solidFill>
                  <a:srgbClr val="2B2B2B"/>
                </a:solidFill>
                <a:latin typeface="Arial" pitchFamily="34" charset="0"/>
                <a:ea typeface="Yu Gothic" pitchFamily="34" charset="-122"/>
                <a:cs typeface="Yu Gothic" pitchFamily="34" charset="-120"/>
              </a:rPr>
              <a:t>Read the issue brief in advance; give a decision and rationale for each issue</a:t>
            </a:r>
            <a:endParaRPr lang="en-US" sz="1050" dirty="0"/>
          </a:p>
        </p:txBody>
      </p:sp>
      <p:sp>
        <p:nvSpPr>
          <p:cNvPr id="13" name="Shape 11"/>
          <p:cNvSpPr/>
          <p:nvPr/>
        </p:nvSpPr>
        <p:spPr>
          <a:xfrm>
            <a:off x="685800" y="3218688"/>
            <a:ext cx="3383280" cy="795528"/>
          </a:xfrm>
          <a:prstGeom prst="roundRect">
            <a:avLst>
              <a:gd name="adj" fmla="val 9195"/>
            </a:avLst>
          </a:prstGeom>
          <a:solidFill>
            <a:srgbClr val="FFFFFF"/>
          </a:solidFill>
          <a:ln/>
        </p:spPr>
      </p:sp>
      <p:sp>
        <p:nvSpPr>
          <p:cNvPr id="14" name="Text 12"/>
          <p:cNvSpPr txBox="1"/>
          <p:nvPr/>
        </p:nvSpPr>
        <p:spPr>
          <a:xfrm>
            <a:off x="795528" y="3264408"/>
            <a:ext cx="3200400" cy="301752"/>
          </a:xfrm>
          <a:prstGeom prst="rect">
            <a:avLst/>
          </a:prstGeom>
          <a:noFill/>
          <a:ln/>
        </p:spPr>
        <p:txBody>
          <a:bodyPr wrap="square" lIns="0" tIns="0" rIns="0" bIns="0" rtlCol="0" anchor="ctr"/>
          <a:lstStyle/>
          <a:p>
            <a:pPr indent="0" marL="0">
              <a:buNone/>
            </a:pPr>
            <a:r>
              <a:rPr lang="en-US" sz="1200" b="1" dirty="0">
                <a:solidFill>
                  <a:srgbClr val="1B2A38"/>
                </a:solidFill>
                <a:latin typeface="Arial" pitchFamily="34" charset="0"/>
                <a:ea typeface="Yu Gothic" pitchFamily="34" charset="-122"/>
                <a:cs typeface="Yu Gothic" pitchFamily="34" charset="-120"/>
              </a:rPr>
              <a:t>Separate valid grounds</a:t>
            </a:r>
            <a:endParaRPr lang="en-US" sz="1200" dirty="0"/>
          </a:p>
        </p:txBody>
      </p:sp>
      <p:sp>
        <p:nvSpPr>
          <p:cNvPr id="15" name="Text 13"/>
          <p:cNvSpPr txBox="1"/>
          <p:nvPr/>
        </p:nvSpPr>
        <p:spPr>
          <a:xfrm>
            <a:off x="795528" y="3584448"/>
            <a:ext cx="3200400" cy="411480"/>
          </a:xfrm>
          <a:prstGeom prst="rect">
            <a:avLst/>
          </a:prstGeom>
          <a:noFill/>
          <a:ln/>
        </p:spPr>
        <p:txBody>
          <a:bodyPr wrap="square" lIns="0" tIns="0" rIns="0" bIns="0" rtlCol="0" anchor="t"/>
          <a:lstStyle/>
          <a:p>
            <a:pPr indent="0" marL="0">
              <a:buNone/>
            </a:pPr>
            <a:r>
              <a:rPr lang="en-US" sz="1050" dirty="0">
                <a:solidFill>
                  <a:srgbClr val="2B2B2B"/>
                </a:solidFill>
                <a:latin typeface="Arial" pitchFamily="34" charset="0"/>
                <a:ea typeface="Yu Gothic" pitchFamily="34" charset="-122"/>
                <a:cs typeface="Yu Gothic" pitchFamily="34" charset="-120"/>
              </a:rPr>
              <a:t>Treat management expectations as preconditions, not as grounds for approval</a:t>
            </a:r>
            <a:endParaRPr lang="en-US" sz="1050" dirty="0"/>
          </a:p>
        </p:txBody>
      </p:sp>
      <p:sp>
        <p:nvSpPr>
          <p:cNvPr id="16" name="Shape 14"/>
          <p:cNvSpPr/>
          <p:nvPr/>
        </p:nvSpPr>
        <p:spPr>
          <a:xfrm>
            <a:off x="685800" y="4105656"/>
            <a:ext cx="3383280" cy="795528"/>
          </a:xfrm>
          <a:prstGeom prst="roundRect">
            <a:avLst>
              <a:gd name="adj" fmla="val 9195"/>
            </a:avLst>
          </a:prstGeom>
          <a:solidFill>
            <a:srgbClr val="FFFFFF"/>
          </a:solidFill>
          <a:ln/>
        </p:spPr>
      </p:sp>
      <p:sp>
        <p:nvSpPr>
          <p:cNvPr id="17" name="Text 15"/>
          <p:cNvSpPr txBox="1"/>
          <p:nvPr/>
        </p:nvSpPr>
        <p:spPr>
          <a:xfrm>
            <a:off x="795528" y="4151376"/>
            <a:ext cx="3200400" cy="301752"/>
          </a:xfrm>
          <a:prstGeom prst="rect">
            <a:avLst/>
          </a:prstGeom>
          <a:noFill/>
          <a:ln/>
        </p:spPr>
        <p:txBody>
          <a:bodyPr wrap="square" lIns="0" tIns="0" rIns="0" bIns="0" rtlCol="0" anchor="ctr"/>
          <a:lstStyle/>
          <a:p>
            <a:pPr indent="0" marL="0">
              <a:buNone/>
            </a:pPr>
            <a:r>
              <a:rPr lang="en-US" sz="1200" b="1" dirty="0">
                <a:solidFill>
                  <a:srgbClr val="1B2A38"/>
                </a:solidFill>
                <a:latin typeface="Arial" pitchFamily="34" charset="0"/>
                <a:ea typeface="Yu Gothic" pitchFamily="34" charset="-122"/>
                <a:cs typeface="Yu Gothic" pitchFamily="34" charset="-120"/>
              </a:rPr>
              <a:t>Record decisions</a:t>
            </a:r>
            <a:endParaRPr lang="en-US" sz="1200" dirty="0"/>
          </a:p>
        </p:txBody>
      </p:sp>
      <p:sp>
        <p:nvSpPr>
          <p:cNvPr id="18" name="Text 16"/>
          <p:cNvSpPr txBox="1"/>
          <p:nvPr/>
        </p:nvSpPr>
        <p:spPr>
          <a:xfrm>
            <a:off x="795528" y="4471416"/>
            <a:ext cx="3200400" cy="411480"/>
          </a:xfrm>
          <a:prstGeom prst="rect">
            <a:avLst/>
          </a:prstGeom>
          <a:noFill/>
          <a:ln/>
        </p:spPr>
        <p:txBody>
          <a:bodyPr wrap="square" lIns="0" tIns="0" rIns="0" bIns="0" rtlCol="0" anchor="t"/>
          <a:lstStyle/>
          <a:p>
            <a:pPr indent="0" marL="0">
              <a:buNone/>
            </a:pPr>
            <a:r>
              <a:rPr lang="en-US" sz="1050" dirty="0">
                <a:solidFill>
                  <a:srgbClr val="2B2B2B"/>
                </a:solidFill>
                <a:latin typeface="Arial" pitchFamily="34" charset="0"/>
                <a:ea typeface="Yu Gothic" pitchFamily="34" charset="-122"/>
                <a:cs typeface="Yu Gothic" pitchFamily="34" charset="-120"/>
              </a:rPr>
              <a:t>Record who decided which issue, and how</a:t>
            </a:r>
            <a:endParaRPr lang="en-US" sz="1050" dirty="0"/>
          </a:p>
        </p:txBody>
      </p:sp>
      <p:sp>
        <p:nvSpPr>
          <p:cNvPr id="19" name="Shape 17"/>
          <p:cNvSpPr/>
          <p:nvPr/>
        </p:nvSpPr>
        <p:spPr>
          <a:xfrm>
            <a:off x="4389120" y="1783080"/>
            <a:ext cx="3657600" cy="3246120"/>
          </a:xfrm>
          <a:prstGeom prst="roundRect">
            <a:avLst>
              <a:gd name="adj" fmla="val 2254"/>
            </a:avLst>
          </a:prstGeom>
          <a:solidFill>
            <a:srgbClr val="F2F4F6"/>
          </a:solidFill>
          <a:ln/>
        </p:spPr>
      </p:sp>
      <p:sp>
        <p:nvSpPr>
          <p:cNvPr id="20" name="Text 18"/>
          <p:cNvSpPr txBox="1"/>
          <p:nvPr/>
        </p:nvSpPr>
        <p:spPr>
          <a:xfrm>
            <a:off x="4572000" y="1856232"/>
            <a:ext cx="3291840" cy="384048"/>
          </a:xfrm>
          <a:prstGeom prst="rect">
            <a:avLst/>
          </a:prstGeom>
          <a:noFill/>
          <a:ln/>
        </p:spPr>
        <p:txBody>
          <a:bodyPr wrap="square" lIns="0" tIns="0" rIns="0" bIns="0" rtlCol="0" anchor="ctr"/>
          <a:lstStyle/>
          <a:p>
            <a:pPr indent="0" marL="0">
              <a:buNone/>
            </a:pPr>
            <a:r>
              <a:rPr lang="en-US" sz="1500" b="1" dirty="0">
                <a:solidFill>
                  <a:srgbClr val="C98A12"/>
                </a:solidFill>
                <a:latin typeface="Arial" pitchFamily="34" charset="0"/>
                <a:ea typeface="Yu Gothic" pitchFamily="34" charset="-122"/>
                <a:cs typeface="Yu Gothic" pitchFamily="34" charset="-120"/>
              </a:rPr>
              <a:t>Return the results</a:t>
            </a:r>
            <a:endParaRPr lang="en-US" sz="1500" dirty="0"/>
          </a:p>
        </p:txBody>
      </p:sp>
      <p:sp>
        <p:nvSpPr>
          <p:cNvPr id="21" name="Shape 19"/>
          <p:cNvSpPr/>
          <p:nvPr/>
        </p:nvSpPr>
        <p:spPr>
          <a:xfrm>
            <a:off x="4526280" y="2331720"/>
            <a:ext cx="3383280" cy="795528"/>
          </a:xfrm>
          <a:prstGeom prst="roundRect">
            <a:avLst>
              <a:gd name="adj" fmla="val 9195"/>
            </a:avLst>
          </a:prstGeom>
          <a:solidFill>
            <a:srgbClr val="FFFFFF"/>
          </a:solidFill>
          <a:ln/>
        </p:spPr>
      </p:sp>
      <p:sp>
        <p:nvSpPr>
          <p:cNvPr id="22" name="Text 20"/>
          <p:cNvSpPr txBox="1"/>
          <p:nvPr/>
        </p:nvSpPr>
        <p:spPr>
          <a:xfrm>
            <a:off x="4636008" y="2377440"/>
            <a:ext cx="3200400" cy="301752"/>
          </a:xfrm>
          <a:prstGeom prst="rect">
            <a:avLst/>
          </a:prstGeom>
          <a:noFill/>
          <a:ln/>
        </p:spPr>
        <p:txBody>
          <a:bodyPr wrap="square" lIns="0" tIns="0" rIns="0" bIns="0" rtlCol="0" anchor="ctr"/>
          <a:lstStyle/>
          <a:p>
            <a:pPr indent="0" marL="0">
              <a:buNone/>
            </a:pPr>
            <a:r>
              <a:rPr lang="en-US" sz="1200" b="1" dirty="0">
                <a:solidFill>
                  <a:srgbClr val="1B2A38"/>
                </a:solidFill>
                <a:latin typeface="Arial" pitchFamily="34" charset="0"/>
                <a:ea typeface="Yu Gothic" pitchFamily="34" charset="-122"/>
                <a:cs typeface="Yu Gothic" pitchFamily="34" charset="-120"/>
              </a:rPr>
              <a:t>Return the reasoning</a:t>
            </a:r>
            <a:endParaRPr lang="en-US" sz="1200" dirty="0"/>
          </a:p>
        </p:txBody>
      </p:sp>
      <p:sp>
        <p:nvSpPr>
          <p:cNvPr id="23" name="Text 21"/>
          <p:cNvSpPr txBox="1"/>
          <p:nvPr/>
        </p:nvSpPr>
        <p:spPr>
          <a:xfrm>
            <a:off x="4636008" y="2697480"/>
            <a:ext cx="3200400" cy="411480"/>
          </a:xfrm>
          <a:prstGeom prst="rect">
            <a:avLst/>
          </a:prstGeom>
          <a:noFill/>
          <a:ln/>
        </p:spPr>
        <p:txBody>
          <a:bodyPr wrap="square" lIns="0" tIns="0" rIns="0" bIns="0" rtlCol="0" anchor="t"/>
          <a:lstStyle/>
          <a:p>
            <a:pPr indent="0" marL="0">
              <a:buNone/>
            </a:pPr>
            <a:r>
              <a:rPr lang="en-US" sz="1050" dirty="0">
                <a:solidFill>
                  <a:srgbClr val="2B2B2B"/>
                </a:solidFill>
                <a:latin typeface="Arial" pitchFamily="34" charset="0"/>
                <a:ea typeface="Yu Gothic" pitchFamily="34" charset="-122"/>
                <a:cs typeface="Yu Gothic" pitchFamily="34" charset="-120"/>
              </a:rPr>
              <a:t>In the response, return the reasoning for each issue, not just the conclusion</a:t>
            </a:r>
            <a:endParaRPr lang="en-US" sz="1050" dirty="0"/>
          </a:p>
        </p:txBody>
      </p:sp>
      <p:sp>
        <p:nvSpPr>
          <p:cNvPr id="24" name="Shape 22"/>
          <p:cNvSpPr/>
          <p:nvPr/>
        </p:nvSpPr>
        <p:spPr>
          <a:xfrm>
            <a:off x="4526280" y="3218688"/>
            <a:ext cx="3383280" cy="795528"/>
          </a:xfrm>
          <a:prstGeom prst="roundRect">
            <a:avLst>
              <a:gd name="adj" fmla="val 9195"/>
            </a:avLst>
          </a:prstGeom>
          <a:solidFill>
            <a:srgbClr val="FFFFFF"/>
          </a:solidFill>
          <a:ln/>
        </p:spPr>
      </p:sp>
      <p:sp>
        <p:nvSpPr>
          <p:cNvPr id="25" name="Text 23"/>
          <p:cNvSpPr txBox="1"/>
          <p:nvPr/>
        </p:nvSpPr>
        <p:spPr>
          <a:xfrm>
            <a:off x="4636008" y="3264408"/>
            <a:ext cx="3200400" cy="301752"/>
          </a:xfrm>
          <a:prstGeom prst="rect">
            <a:avLst/>
          </a:prstGeom>
          <a:noFill/>
          <a:ln/>
        </p:spPr>
        <p:txBody>
          <a:bodyPr wrap="square" lIns="0" tIns="0" rIns="0" bIns="0" rtlCol="0" anchor="ctr"/>
          <a:lstStyle/>
          <a:p>
            <a:pPr indent="0" marL="0">
              <a:buNone/>
            </a:pPr>
            <a:r>
              <a:rPr lang="en-US" sz="1200" b="1" dirty="0">
                <a:solidFill>
                  <a:srgbClr val="1B2A38"/>
                </a:solidFill>
                <a:latin typeface="Arial" pitchFamily="34" charset="0"/>
                <a:ea typeface="Yu Gothic" pitchFamily="34" charset="-122"/>
                <a:cs typeface="Yu Gothic" pitchFamily="34" charset="-120"/>
              </a:rPr>
              <a:t>Use business language</a:t>
            </a:r>
            <a:endParaRPr lang="en-US" sz="1200" dirty="0"/>
          </a:p>
        </p:txBody>
      </p:sp>
      <p:sp>
        <p:nvSpPr>
          <p:cNvPr id="26" name="Text 24"/>
          <p:cNvSpPr txBox="1"/>
          <p:nvPr/>
        </p:nvSpPr>
        <p:spPr>
          <a:xfrm>
            <a:off x="4636008" y="3584448"/>
            <a:ext cx="3200400" cy="411480"/>
          </a:xfrm>
          <a:prstGeom prst="rect">
            <a:avLst/>
          </a:prstGeom>
          <a:noFill/>
          <a:ln/>
        </p:spPr>
        <p:txBody>
          <a:bodyPr wrap="square" lIns="0" tIns="0" rIns="0" bIns="0" rtlCol="0" anchor="t"/>
          <a:lstStyle/>
          <a:p>
            <a:pPr indent="0" marL="0">
              <a:buNone/>
            </a:pPr>
            <a:r>
              <a:rPr lang="en-US" sz="1050" dirty="0">
                <a:solidFill>
                  <a:srgbClr val="2B2B2B"/>
                </a:solidFill>
                <a:latin typeface="Arial" pitchFamily="34" charset="0"/>
                <a:ea typeface="Yu Gothic" pitchFamily="34" charset="-122"/>
                <a:cs typeface="Yu Gothic" pitchFamily="34" charset="-120"/>
              </a:rPr>
              <a:t>Avoid economics jargon and phrases like "based on the framework"</a:t>
            </a:r>
            <a:endParaRPr lang="en-US" sz="1050" dirty="0"/>
          </a:p>
        </p:txBody>
      </p:sp>
      <p:sp>
        <p:nvSpPr>
          <p:cNvPr id="27" name="Shape 25"/>
          <p:cNvSpPr/>
          <p:nvPr/>
        </p:nvSpPr>
        <p:spPr>
          <a:xfrm>
            <a:off x="4526280" y="4105656"/>
            <a:ext cx="3383280" cy="795528"/>
          </a:xfrm>
          <a:prstGeom prst="roundRect">
            <a:avLst>
              <a:gd name="adj" fmla="val 9195"/>
            </a:avLst>
          </a:prstGeom>
          <a:solidFill>
            <a:srgbClr val="FFFFFF"/>
          </a:solidFill>
          <a:ln/>
        </p:spPr>
      </p:sp>
      <p:sp>
        <p:nvSpPr>
          <p:cNvPr id="28" name="Text 26"/>
          <p:cNvSpPr txBox="1"/>
          <p:nvPr/>
        </p:nvSpPr>
        <p:spPr>
          <a:xfrm>
            <a:off x="4636008" y="4151376"/>
            <a:ext cx="3200400" cy="301752"/>
          </a:xfrm>
          <a:prstGeom prst="rect">
            <a:avLst/>
          </a:prstGeom>
          <a:noFill/>
          <a:ln/>
        </p:spPr>
        <p:txBody>
          <a:bodyPr wrap="square" lIns="0" tIns="0" rIns="0" bIns="0" rtlCol="0" anchor="ctr"/>
          <a:lstStyle/>
          <a:p>
            <a:pPr indent="0" marL="0">
              <a:buNone/>
            </a:pPr>
            <a:r>
              <a:rPr lang="en-US" sz="1200" b="1" dirty="0">
                <a:solidFill>
                  <a:srgbClr val="1B2A38"/>
                </a:solidFill>
                <a:latin typeface="Arial" pitchFamily="34" charset="0"/>
                <a:ea typeface="Yu Gothic" pitchFamily="34" charset="-122"/>
                <a:cs typeface="Yu Gothic" pitchFamily="34" charset="-120"/>
              </a:rPr>
              <a:t>Hand over to the next owner</a:t>
            </a:r>
            <a:endParaRPr lang="en-US" sz="1200" dirty="0"/>
          </a:p>
        </p:txBody>
      </p:sp>
      <p:sp>
        <p:nvSpPr>
          <p:cNvPr id="29" name="Text 27"/>
          <p:cNvSpPr txBox="1"/>
          <p:nvPr/>
        </p:nvSpPr>
        <p:spPr>
          <a:xfrm>
            <a:off x="4636008" y="4471416"/>
            <a:ext cx="3200400" cy="411480"/>
          </a:xfrm>
          <a:prstGeom prst="rect">
            <a:avLst/>
          </a:prstGeom>
          <a:noFill/>
          <a:ln/>
        </p:spPr>
        <p:txBody>
          <a:bodyPr wrap="square" lIns="0" tIns="0" rIns="0" bIns="0" rtlCol="0" anchor="t"/>
          <a:lstStyle/>
          <a:p>
            <a:pPr indent="0" marL="0">
              <a:buNone/>
            </a:pPr>
            <a:r>
              <a:rPr lang="en-US" sz="1050" dirty="0">
                <a:solidFill>
                  <a:srgbClr val="2B2B2B"/>
                </a:solidFill>
                <a:latin typeface="Arial" pitchFamily="34" charset="0"/>
                <a:ea typeface="Yu Gothic" pitchFamily="34" charset="-122"/>
                <a:cs typeface="Yu Gothic" pitchFamily="34" charset="-120"/>
              </a:rPr>
              <a:t>Pass approval conditions to PPM; record the reasons in the registry</a:t>
            </a:r>
            <a:endParaRPr lang="en-US" sz="1050" dirty="0"/>
          </a:p>
        </p:txBody>
      </p:sp>
      <p:sp>
        <p:nvSpPr>
          <p:cNvPr id="30" name="Shape 28"/>
          <p:cNvSpPr/>
          <p:nvPr/>
        </p:nvSpPr>
        <p:spPr>
          <a:xfrm>
            <a:off x="8229600" y="1783080"/>
            <a:ext cx="3410712" cy="3246120"/>
          </a:xfrm>
          <a:prstGeom prst="roundRect">
            <a:avLst>
              <a:gd name="adj" fmla="val 2254"/>
            </a:avLst>
          </a:prstGeom>
          <a:solidFill>
            <a:srgbClr val="1B2A38"/>
          </a:solidFill>
          <a:ln/>
        </p:spPr>
      </p:sp>
      <p:sp>
        <p:nvSpPr>
          <p:cNvPr id="31" name="Text 29"/>
          <p:cNvSpPr txBox="1"/>
          <p:nvPr/>
        </p:nvSpPr>
        <p:spPr>
          <a:xfrm>
            <a:off x="8394192" y="1874520"/>
            <a:ext cx="3108960" cy="320040"/>
          </a:xfrm>
          <a:prstGeom prst="rect">
            <a:avLst/>
          </a:prstGeom>
          <a:noFill/>
          <a:ln/>
        </p:spPr>
        <p:txBody>
          <a:bodyPr wrap="square" lIns="0" tIns="0" rIns="0" bIns="0" rtlCol="0" anchor="t"/>
          <a:lstStyle/>
          <a:p>
            <a:pPr indent="0" marL="0">
              <a:buNone/>
            </a:pPr>
            <a:r>
              <a:rPr lang="en-US" sz="1200" b="1" dirty="0">
                <a:solidFill>
                  <a:srgbClr val="E8B84A"/>
                </a:solidFill>
                <a:latin typeface="Arial" pitchFamily="34" charset="0"/>
                <a:ea typeface="Yu Gothic" pitchFamily="34" charset="-122"/>
                <a:cs typeface="Yu Gothic" pitchFamily="34" charset="-120"/>
              </a:rPr>
              <a:t>Sample response wording</a:t>
            </a:r>
            <a:endParaRPr lang="en-US" sz="1200" dirty="0"/>
          </a:p>
        </p:txBody>
      </p:sp>
      <p:sp>
        <p:nvSpPr>
          <p:cNvPr id="32" name="Text 30"/>
          <p:cNvSpPr txBox="1"/>
          <p:nvPr/>
        </p:nvSpPr>
        <p:spPr>
          <a:xfrm>
            <a:off x="8394192" y="2240280"/>
            <a:ext cx="3108960" cy="2697480"/>
          </a:xfrm>
          <a:prstGeom prst="rect">
            <a:avLst/>
          </a:prstGeom>
          <a:noFill/>
          <a:ln/>
        </p:spPr>
        <p:txBody>
          <a:bodyPr wrap="square" lIns="0" tIns="0" rIns="0" bIns="0" rtlCol="0" anchor="t"/>
          <a:lstStyle/>
          <a:p>
            <a:pPr indent="0" marL="0">
              <a:spcAft>
                <a:spcPts val="800"/>
              </a:spcAft>
              <a:buNone/>
            </a:pPr>
            <a:r>
              <a:rPr lang="en-US" sz="1250" dirty="0">
                <a:solidFill>
                  <a:srgbClr val="FFFFFF"/>
                </a:solidFill>
                <a:latin typeface="Arial" pitchFamily="34" charset="0"/>
                <a:ea typeface="Yu Gothic" pitchFamily="34" charset="-122"/>
                <a:cs typeface="Yu Gothic" pitchFamily="34" charset="-120"/>
              </a:rPr>
              <a:t>Our decision rests on two points: </a:t>
            </a:r>
            <a:pPr indent="0" marL="0">
              <a:spcAft>
                <a:spcPts val="800"/>
              </a:spcAft>
              <a:buNone/>
            </a:pPr>
            <a:r>
              <a:rPr lang="en-US" sz="1250" b="1" dirty="0">
                <a:solidFill>
                  <a:srgbClr val="FFFFFF"/>
                </a:solidFill>
                <a:latin typeface="Arial" pitchFamily="34" charset="0"/>
                <a:ea typeface="Yu Gothic" pitchFamily="34" charset="-122"/>
                <a:cs typeface="Yu Gothic" pitchFamily="34" charset="-120"/>
              </a:rPr>
              <a:t>"how many departments and initiatives need this platform" and "how much extra cost we will incur later if we don't build it now"</a:t>
            </a:r>
            <a:pPr indent="0" marL="0">
              <a:spcAft>
                <a:spcPts val="800"/>
              </a:spcAft>
              <a:buNone/>
            </a:pPr>
            <a:r>
              <a:rPr lang="en-US" sz="1250" dirty="0">
                <a:solidFill>
                  <a:srgbClr val="FFFFFF"/>
                </a:solidFill>
                <a:latin typeface="Arial" pitchFamily="34" charset="0"/>
                <a:ea typeface="Yu Gothic" pitchFamily="34" charset="-122"/>
                <a:cs typeface="Yu Gothic" pitchFamily="34" charset="-120"/>
              </a:rPr>
              <a:t>.</a:t>
            </a:r>
            <a:endParaRPr lang="en-US" sz="1250" dirty="0"/>
          </a:p>
          <a:p>
            <a:pPr indent="0" marL="0">
              <a:spcAft>
                <a:spcPts val="800"/>
              </a:spcAft>
              <a:buNone/>
            </a:pPr>
            <a:r>
              <a:rPr lang="en-US" sz="1250" dirty="0">
                <a:solidFill>
                  <a:srgbClr val="FFFFFF"/>
                </a:solidFill>
                <a:latin typeface="Arial" pitchFamily="34" charset="0"/>
                <a:ea typeface="Yu Gothic" pitchFamily="34" charset="-122"/>
                <a:cs typeface="Yu Gothic" pitchFamily="34" charset="-120"/>
              </a:rPr>
              <a:t>Because the benefits extend beyond HR, we deliberated it as a company-wide matter.</a:t>
            </a:r>
            <a:endParaRPr lang="en-US" sz="1250" dirty="0"/>
          </a:p>
        </p:txBody>
      </p:sp>
      <p:sp>
        <p:nvSpPr>
          <p:cNvPr id="33" name="Shape 31"/>
          <p:cNvSpPr/>
          <p:nvPr/>
        </p:nvSpPr>
        <p:spPr>
          <a:xfrm>
            <a:off x="548640" y="5212080"/>
            <a:ext cx="11091672" cy="1051560"/>
          </a:xfrm>
          <a:prstGeom prst="roundRect">
            <a:avLst>
              <a:gd name="adj" fmla="val 6957"/>
            </a:avLst>
          </a:prstGeom>
          <a:solidFill>
            <a:srgbClr val="FDF4E0"/>
          </a:solidFill>
          <a:ln/>
        </p:spPr>
      </p:sp>
      <p:sp>
        <p:nvSpPr>
          <p:cNvPr id="34" name="Text 32"/>
          <p:cNvSpPr txBox="1"/>
          <p:nvPr/>
        </p:nvSpPr>
        <p:spPr>
          <a:xfrm>
            <a:off x="731520" y="5212080"/>
            <a:ext cx="10744200" cy="1051560"/>
          </a:xfrm>
          <a:prstGeom prst="rect">
            <a:avLst/>
          </a:prstGeom>
          <a:noFill/>
          <a:ln/>
        </p:spPr>
        <p:txBody>
          <a:bodyPr wrap="square" lIns="0" tIns="0" rIns="0" bIns="0" rtlCol="0" anchor="ctr"/>
          <a:lstStyle/>
          <a:p>
            <a:pPr indent="0" marL="0">
              <a:buNone/>
            </a:pPr>
            <a:r>
              <a:rPr lang="en-US" sz="1250" b="1" dirty="0">
                <a:solidFill>
                  <a:srgbClr val="C98A12"/>
                </a:solidFill>
                <a:latin typeface="Arial" pitchFamily="34" charset="0"/>
                <a:ea typeface="Yu Gothic" pitchFamily="34" charset="-122"/>
                <a:cs typeface="Yu Gothic" pitchFamily="34" charset="-120"/>
              </a:rPr>
              <a:t>A word to the proposer  </a:t>
            </a:r>
            <a:pPr indent="0" marL="0">
              <a:buNone/>
            </a:pPr>
            <a:r>
              <a:rPr lang="en-US" sz="1250" dirty="0">
                <a:solidFill>
                  <a:srgbClr val="2B2B2B"/>
                </a:solidFill>
                <a:latin typeface="Arial" pitchFamily="34" charset="0"/>
                <a:ea typeface="Yu Gothic" pitchFamily="34" charset="-122"/>
                <a:cs typeface="Yu Gothic" pitchFamily="34" charset="-120"/>
              </a:rPr>
              <a:t>If you need extra work from the proposer, say so; if not, write "This does not require any additional work from the proposer."</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grpSpPr>
        <a:xfrm>
          <a:off x="0" y="0"/>
          <a:ext cx="0" cy="0"/>
          <a:chOff x="0" y="0"/>
          <a:chExt cx="0" cy="0"/>
        </a:xfrm>
      </p:grpSpPr>
      <p:sp>
        <p:nvSpPr>
          <p:cNvPr id="24" name="Text 22"/>
          <p:cNvSpPr txBox="1"/>
          <p:nvPr/>
        </p:nvSpPr>
        <p:spPr>
          <a:xfrm>
            <a:off x="11155680" y="6446520"/>
            <a:ext cx="457200" cy="274320"/>
          </a:xfrm>
          <a:prstGeom prst="rect">
            <a:avLst/>
          </a:prstGeom>
          <a:noFill/>
          <a:ln/>
        </p:spPr>
        <p:txBody>
          <a:bodyPr wrap="square" lIns="0" tIns="0" rIns="0" bIns="0" rtlCol="0" anchor="t"/>
          <a:lstStyle/>
          <a:p>
            <a:pPr algn="r" indent="0" marL="0">
              <a:buNone/>
            </a:pPr>
            <a:r>
              <a:rPr lang="en-US" sz="900" dirty="0">
                <a:solidFill>
                  <a:srgbClr val="66717C"/>
                </a:solidFill>
                <a:latin typeface="Arial" pitchFamily="34" charset="0"/>
                <a:ea typeface="Yu Gothic" pitchFamily="34" charset="-122"/>
                <a:cs typeface="Yu Gothic" pitchFamily="34" charset="-120"/>
              </a:rPr>
              <a:t>10</a:t>
            </a:r>
            <a:endParaRPr lang="en-US" sz="900" dirty="0"/>
          </a:p>
        </p:txBody>
      </p:sp>
      <p:sp>
        <p:nvSpPr>
          <p:cNvPr id="25" name="Title"/>
          <p:cNvSpPr txBox="1"/>
          <p:nvPr/>
        </p:nvSpPr>
        <p:spPr>
          <a:xfrm>
            <a:off x="548640" y="685800"/>
            <a:ext cx="11064240" cy="548640"/>
          </a:xfrm>
          <a:prstGeom prst="rect">
            <a:avLst/>
          </a:prstGeom>
          <a:noFill/>
          <a:ln/>
        </p:spPr>
        <p:txBody>
          <a:bodyPr wrap="square" lIns="0" tIns="0" rIns="0" bIns="0" rtlCol="0" anchor="ctr"/>
          <a:lstStyle/>
          <a:p>
            <a:pPr indent="0" marL="0">
              <a:lnSpc>
                <a:spcPct val="115000"/>
              </a:lnSpc>
              <a:buNone/>
            </a:pPr>
            <a:r>
              <a:rPr lang="en-US" altLang="en-US" sz="2400" b="1" dirty="0">
                <a:solidFill>
                  <a:srgbClr val="1B2A38"/>
                </a:solidFill>
                <a:latin typeface="Arial" pitchFamily="34" charset="0"/>
                <a:ea typeface="Yu Gothic" pitchFamily="34" charset="-122"/>
                <a:cs typeface="Yu Gothic" pitchFamily="34" charset="-120"/>
              </a:rPr>
              <a:t>Summary: what this deck set out to convey</a:t>
            </a:r>
          </a:p>
        </p:txBody>
      </p:sp>
      <p:sp>
        <p:nvSpPr>
          <p:cNvPr id="26" name="Footer"/>
          <p:cNvSpPr txBox="1"/>
          <p:nvPr/>
        </p:nvSpPr>
        <p:spPr>
          <a:xfrm>
            <a:off x="548640" y="6446520"/>
            <a:ext cx="5486400" cy="274320"/>
          </a:xfrm>
          <a:prstGeom prst="rect">
            <a:avLst/>
          </a:prstGeom>
          <a:noFill/>
          <a:ln/>
        </p:spPr>
        <p:txBody>
          <a:bodyPr wrap="square" lIns="0" tIns="0" rIns="0" bIns="0" rtlCol="0" anchor="t"/>
          <a:lstStyle/>
          <a:p>
            <a:pPr indent="0" marL="0">
              <a:lnSpc>
                <a:spcPct val="115000"/>
              </a:lnSpc>
              <a:buNone/>
            </a:pPr>
            <a:r>
              <a:rPr lang="en-US" altLang="en-US" sz="900" b="0" dirty="0">
                <a:solidFill>
                  <a:srgbClr val="66717C"/>
                </a:solidFill>
                <a:latin typeface="Arial" pitchFamily="34" charset="0"/>
                <a:ea typeface="Yu Gothic" pitchFamily="34" charset="-122"/>
                <a:cs typeface="Yu Gothic" pitchFamily="34" charset="-120"/>
              </a:rPr>
              <a:t>IT Materiality ｜ IT Department internal alignment</a:t>
            </a:r>
          </a:p>
        </p:txBody>
      </p:sp>
      <p:sp>
        <p:nvSpPr>
          <p:cNvPr id="82" name="Sum Card 0"/>
          <p:cNvSpPr/>
          <p:nvPr/>
        </p:nvSpPr>
        <p:spPr>
          <a:xfrm>
            <a:off x="548640" y="1463040"/>
            <a:ext cx="11091672" cy="1325880"/>
          </a:xfrm>
          <a:prstGeom prst="roundRect">
            <a:avLst>
              <a:gd name="adj" fmla="val 6000"/>
            </a:avLst>
          </a:prstGeom>
          <a:solidFill>
            <a:srgbClr val="F2F4F6"/>
          </a:solidFill>
          <a:ln/>
        </p:spPr>
      </p:sp>
      <p:sp>
        <p:nvSpPr>
          <p:cNvPr id="83" name="Sum Num 0"/>
          <p:cNvSpPr/>
          <p:nvPr/>
        </p:nvSpPr>
        <p:spPr>
          <a:xfrm>
            <a:off x="822960" y="1682496"/>
            <a:ext cx="502920" cy="502920"/>
          </a:xfrm>
          <a:prstGeom prst="ellipse">
            <a:avLst/>
          </a:prstGeom>
          <a:solidFill>
            <a:srgbClr val="1F7A68"/>
          </a:solidFill>
          <a:ln/>
        </p:spPr>
      </p:sp>
      <p:sp>
        <p:nvSpPr>
          <p:cNvPr id="84" name="Sum Num Text 0"/>
          <p:cNvSpPr txBox="1"/>
          <p:nvPr/>
        </p:nvSpPr>
        <p:spPr>
          <a:xfrm>
            <a:off x="822960" y="1682496"/>
            <a:ext cx="502920" cy="502920"/>
          </a:xfrm>
          <a:prstGeom prst="rect">
            <a:avLst/>
          </a:prstGeom>
          <a:noFill/>
          <a:ln/>
        </p:spPr>
        <p:txBody>
          <a:bodyPr wrap="square" lIns="0" tIns="0" rIns="0" bIns="0" rtlCol="0" anchor="ctr"/>
          <a:lstStyle/>
          <a:p>
            <a:pPr algn="ctr" indent="0" marL="0">
              <a:lnSpc>
                <a:spcPct val="115000"/>
              </a:lnSpc>
              <a:buNone/>
            </a:pPr>
            <a:r>
              <a:rPr lang="en-US" altLang="en-US" sz="1600" b="1" dirty="0">
                <a:solidFill>
                  <a:srgbClr val="FFFFFF"/>
                </a:solidFill>
                <a:latin typeface="Arial" pitchFamily="34" charset="0"/>
                <a:ea typeface="Yu Gothic" pitchFamily="34" charset="-122"/>
                <a:cs typeface="Yu Gothic" pitchFamily="34" charset="-120"/>
              </a:rPr>
              <a:t>1</a:t>
            </a:r>
          </a:p>
        </p:txBody>
      </p:sp>
      <p:sp>
        <p:nvSpPr>
          <p:cNvPr id="85" name="Sum Lead 0"/>
          <p:cNvSpPr txBox="1"/>
          <p:nvPr/>
        </p:nvSpPr>
        <p:spPr>
          <a:xfrm>
            <a:off x="1554480" y="1645920"/>
            <a:ext cx="9811512" cy="502920"/>
          </a:xfrm>
          <a:prstGeom prst="rect">
            <a:avLst/>
          </a:prstGeom>
          <a:noFill/>
          <a:ln/>
        </p:spPr>
        <p:txBody>
          <a:bodyPr wrap="square" lIns="0" tIns="0" rIns="0" bIns="0" rtlCol="0" anchor="ctr"/>
          <a:lstStyle/>
          <a:p>
            <a:pPr indent="0" marL="0">
              <a:lnSpc>
                <a:spcPct val="115000"/>
              </a:lnSpc>
              <a:buNone/>
            </a:pPr>
            <a:r>
              <a:rPr lang="en-US" altLang="en-US" sz="2000" b="1" dirty="0">
                <a:solidFill>
                  <a:srgbClr val="1B2A38"/>
                </a:solidFill>
                <a:latin typeface="Arial" pitchFamily="34" charset="0"/>
                <a:ea typeface="Yu Gothic" pitchFamily="34" charset="-122"/>
                <a:cs typeface="Yu Gothic" pitchFamily="34" charset="-120"/>
              </a:rPr>
              <a:t>Sound decisions can still erode the commons</a:t>
            </a:r>
          </a:p>
        </p:txBody>
      </p:sp>
      <p:sp>
        <p:nvSpPr>
          <p:cNvPr id="86" name="Sum Body 0"/>
          <p:cNvSpPr txBox="1"/>
          <p:nvPr/>
        </p:nvSpPr>
        <p:spPr>
          <a:xfrm>
            <a:off x="1554480" y="2176272"/>
            <a:ext cx="9811512" cy="548640"/>
          </a:xfrm>
          <a:prstGeom prst="rect">
            <a:avLst/>
          </a:prstGeom>
          <a:noFill/>
          <a:ln/>
        </p:spPr>
        <p:txBody>
          <a:bodyPr wrap="square" lIns="0" tIns="0" rIns="0" bIns="0" rtlCol="0" anchor="t"/>
          <a:lstStyle/>
          <a:p>
            <a:pPr indent="0" marL="0">
              <a:lnSpc>
                <a:spcPct val="115000"/>
              </a:lnSpc>
              <a:buNone/>
            </a:pPr>
            <a:r>
              <a:rPr lang="en-US" altLang="en-US" sz="1300" b="0" dirty="0">
                <a:solidFill>
                  <a:srgbClr val="3E4A56"/>
                </a:solidFill>
                <a:latin typeface="Arial" pitchFamily="34" charset="0"/>
                <a:ea typeface="Yu Gothic" pitchFamily="34" charset="-122"/>
                <a:cs typeface="Yu Gothic" pitchFamily="34" charset="-120"/>
              </a:rPr>
              <a:t>Even sound, rational individual decisions erode the company-wide commons when externalities exist. Three things are eroding: deliberation and approval (vertical links), hidden technical debt, and flexibility to change (horizontal links)</a:t>
            </a:r>
          </a:p>
        </p:txBody>
      </p:sp>
      <p:sp>
        <p:nvSpPr>
          <p:cNvPr id="87" name="Sum Card 1"/>
          <p:cNvSpPr/>
          <p:nvPr/>
        </p:nvSpPr>
        <p:spPr>
          <a:xfrm>
            <a:off x="548640" y="2926080"/>
            <a:ext cx="11091672" cy="1325880"/>
          </a:xfrm>
          <a:prstGeom prst="roundRect">
            <a:avLst>
              <a:gd name="adj" fmla="val 6000"/>
            </a:avLst>
          </a:prstGeom>
          <a:solidFill>
            <a:srgbClr val="F2F4F6"/>
          </a:solidFill>
          <a:ln/>
        </p:spPr>
      </p:sp>
      <p:sp>
        <p:nvSpPr>
          <p:cNvPr id="88" name="Sum Num 1"/>
          <p:cNvSpPr/>
          <p:nvPr/>
        </p:nvSpPr>
        <p:spPr>
          <a:xfrm>
            <a:off x="822960" y="3145536"/>
            <a:ext cx="502920" cy="502920"/>
          </a:xfrm>
          <a:prstGeom prst="ellipse">
            <a:avLst/>
          </a:prstGeom>
          <a:solidFill>
            <a:srgbClr val="1F7A68"/>
          </a:solidFill>
          <a:ln/>
        </p:spPr>
      </p:sp>
      <p:sp>
        <p:nvSpPr>
          <p:cNvPr id="89" name="Sum Num Text 1"/>
          <p:cNvSpPr txBox="1"/>
          <p:nvPr/>
        </p:nvSpPr>
        <p:spPr>
          <a:xfrm>
            <a:off x="822960" y="3145536"/>
            <a:ext cx="502920" cy="502920"/>
          </a:xfrm>
          <a:prstGeom prst="rect">
            <a:avLst/>
          </a:prstGeom>
          <a:noFill/>
          <a:ln/>
        </p:spPr>
        <p:txBody>
          <a:bodyPr wrap="square" lIns="0" tIns="0" rIns="0" bIns="0" rtlCol="0" anchor="ctr"/>
          <a:lstStyle/>
          <a:p>
            <a:pPr algn="ctr" indent="0" marL="0">
              <a:lnSpc>
                <a:spcPct val="115000"/>
              </a:lnSpc>
              <a:buNone/>
            </a:pPr>
            <a:r>
              <a:rPr lang="en-US" altLang="en-US" sz="1600" b="1" dirty="0">
                <a:solidFill>
                  <a:srgbClr val="FFFFFF"/>
                </a:solidFill>
                <a:latin typeface="Arial" pitchFamily="34" charset="0"/>
                <a:ea typeface="Yu Gothic" pitchFamily="34" charset="-122"/>
                <a:cs typeface="Yu Gothic" pitchFamily="34" charset="-120"/>
              </a:rPr>
              <a:t>2</a:t>
            </a:r>
          </a:p>
        </p:txBody>
      </p:sp>
      <p:sp>
        <p:nvSpPr>
          <p:cNvPr id="90" name="Sum Lead 1"/>
          <p:cNvSpPr txBox="1"/>
          <p:nvPr/>
        </p:nvSpPr>
        <p:spPr>
          <a:xfrm>
            <a:off x="1554480" y="3108960"/>
            <a:ext cx="9811512" cy="502920"/>
          </a:xfrm>
          <a:prstGeom prst="rect">
            <a:avLst/>
          </a:prstGeom>
          <a:noFill/>
          <a:ln/>
        </p:spPr>
        <p:txBody>
          <a:bodyPr wrap="square" lIns="0" tIns="0" rIns="0" bIns="0" rtlCol="0" anchor="ctr"/>
          <a:lstStyle/>
          <a:p>
            <a:pPr indent="0" marL="0">
              <a:lnSpc>
                <a:spcPct val="115000"/>
              </a:lnSpc>
              <a:buNone/>
            </a:pPr>
            <a:r>
              <a:rPr lang="en-US" altLang="en-US" sz="2000" b="1" dirty="0">
                <a:solidFill>
                  <a:srgbClr val="1B2A38"/>
                </a:solidFill>
                <a:latin typeface="Arial" pitchFamily="34" charset="0"/>
                <a:ea typeface="Yu Gothic" pitchFamily="34" charset="-122"/>
                <a:cs typeface="Yu Gothic" pitchFamily="34" charset="-120"/>
              </a:rPr>
              <a:t>Build nested governance with commonality</a:t>
            </a:r>
          </a:p>
        </p:txBody>
      </p:sp>
      <p:sp>
        <p:nvSpPr>
          <p:cNvPr id="91" name="Sum Body 1"/>
          <p:cNvSpPr txBox="1"/>
          <p:nvPr/>
        </p:nvSpPr>
        <p:spPr>
          <a:xfrm>
            <a:off x="1554480" y="3639312"/>
            <a:ext cx="9811512" cy="548640"/>
          </a:xfrm>
          <a:prstGeom prst="rect">
            <a:avLst/>
          </a:prstGeom>
          <a:noFill/>
          <a:ln/>
        </p:spPr>
        <p:txBody>
          <a:bodyPr wrap="square" lIns="0" tIns="0" rIns="0" bIns="0" rtlCol="0" anchor="t"/>
          <a:lstStyle/>
          <a:p>
            <a:pPr indent="0" marL="0">
              <a:lnSpc>
                <a:spcPct val="115000"/>
              </a:lnSpc>
              <a:buNone/>
            </a:pPr>
            <a:r>
              <a:rPr lang="en-US" altLang="en-US" sz="1300" b="0" dirty="0">
                <a:solidFill>
                  <a:srgbClr val="3E4A56"/>
                </a:solidFill>
                <a:latin typeface="Arial" pitchFamily="34" charset="0"/>
                <a:ea typeface="Yu Gothic" pitchFamily="34" charset="-122"/>
                <a:cs typeface="Yu Gothic" pitchFamily="34" charset="-120"/>
              </a:rPr>
              <a:t>The tragedy is not inevitable (Ostrom). What we lack most is nested governance. The key: sort what departments and the company decide by commonality as well as amount, seen through Foundation and Debt</a:t>
            </a:r>
          </a:p>
        </p:txBody>
      </p:sp>
      <p:sp>
        <p:nvSpPr>
          <p:cNvPr id="92" name="Sum Card 2"/>
          <p:cNvSpPr/>
          <p:nvPr/>
        </p:nvSpPr>
        <p:spPr>
          <a:xfrm>
            <a:off x="548640" y="4389120"/>
            <a:ext cx="11091672" cy="1325880"/>
          </a:xfrm>
          <a:prstGeom prst="roundRect">
            <a:avLst>
              <a:gd name="adj" fmla="val 6000"/>
            </a:avLst>
          </a:prstGeom>
          <a:solidFill>
            <a:srgbClr val="FDF4E0"/>
          </a:solidFill>
          <a:ln w="9525">
            <a:solidFill>
              <a:srgbClr val="C98A12"/>
            </a:solidFill>
          </a:ln>
        </p:spPr>
      </p:sp>
      <p:sp>
        <p:nvSpPr>
          <p:cNvPr id="93" name="Sum Num 2"/>
          <p:cNvSpPr/>
          <p:nvPr/>
        </p:nvSpPr>
        <p:spPr>
          <a:xfrm>
            <a:off x="822960" y="4608576"/>
            <a:ext cx="502920" cy="502920"/>
          </a:xfrm>
          <a:prstGeom prst="ellipse">
            <a:avLst/>
          </a:prstGeom>
          <a:solidFill>
            <a:srgbClr val="C98A12"/>
          </a:solidFill>
          <a:ln/>
        </p:spPr>
      </p:sp>
      <p:sp>
        <p:nvSpPr>
          <p:cNvPr id="94" name="Sum Num Text 2"/>
          <p:cNvSpPr txBox="1"/>
          <p:nvPr/>
        </p:nvSpPr>
        <p:spPr>
          <a:xfrm>
            <a:off x="822960" y="4608576"/>
            <a:ext cx="502920" cy="502920"/>
          </a:xfrm>
          <a:prstGeom prst="rect">
            <a:avLst/>
          </a:prstGeom>
          <a:noFill/>
          <a:ln/>
        </p:spPr>
        <p:txBody>
          <a:bodyPr wrap="square" lIns="0" tIns="0" rIns="0" bIns="0" rtlCol="0" anchor="ctr"/>
          <a:lstStyle/>
          <a:p>
            <a:pPr algn="ctr" indent="0" marL="0">
              <a:lnSpc>
                <a:spcPct val="115000"/>
              </a:lnSpc>
              <a:buNone/>
            </a:pPr>
            <a:r>
              <a:rPr lang="en-US" altLang="en-US" sz="1600" b="1" dirty="0">
                <a:solidFill>
                  <a:srgbClr val="FFFFFF"/>
                </a:solidFill>
                <a:latin typeface="Arial" pitchFamily="34" charset="0"/>
                <a:ea typeface="Yu Gothic" pitchFamily="34" charset="-122"/>
                <a:cs typeface="Yu Gothic" pitchFamily="34" charset="-120"/>
              </a:rPr>
              <a:t>3</a:t>
            </a:r>
          </a:p>
        </p:txBody>
      </p:sp>
      <p:sp>
        <p:nvSpPr>
          <p:cNvPr id="95" name="Sum Lead 2"/>
          <p:cNvSpPr txBox="1"/>
          <p:nvPr/>
        </p:nvSpPr>
        <p:spPr>
          <a:xfrm>
            <a:off x="1554480" y="4572000"/>
            <a:ext cx="9811512" cy="502920"/>
          </a:xfrm>
          <a:prstGeom prst="rect">
            <a:avLst/>
          </a:prstGeom>
          <a:noFill/>
          <a:ln/>
        </p:spPr>
        <p:txBody>
          <a:bodyPr wrap="square" lIns="0" tIns="0" rIns="0" bIns="0" rtlCol="0" anchor="ctr"/>
          <a:lstStyle/>
          <a:p>
            <a:pPr indent="0" marL="0">
              <a:lnSpc>
                <a:spcPct val="115000"/>
              </a:lnSpc>
              <a:buNone/>
            </a:pPr>
            <a:r>
              <a:rPr lang="en-US" altLang="en-US" sz="2000" b="1" dirty="0">
                <a:solidFill>
                  <a:srgbClr val="1B2A38"/>
                </a:solidFill>
                <a:latin typeface="Arial" pitchFamily="34" charset="0"/>
                <a:ea typeface="Yu Gothic" pitchFamily="34" charset="-122"/>
                <a:cs typeface="Yu Gothic" pitchFamily="34" charset="-120"/>
              </a:rPr>
              <a:t>Start framing issues through the lens of commonality</a:t>
            </a:r>
          </a:p>
        </p:txBody>
      </p:sp>
      <p:sp>
        <p:nvSpPr>
          <p:cNvPr id="96" name="Sum Body 2"/>
          <p:cNvSpPr txBox="1"/>
          <p:nvPr/>
        </p:nvSpPr>
        <p:spPr>
          <a:xfrm>
            <a:off x="1554480" y="5102352"/>
            <a:ext cx="9811512" cy="548640"/>
          </a:xfrm>
          <a:prstGeom prst="rect">
            <a:avLst/>
          </a:prstGeom>
          <a:noFill/>
          <a:ln/>
        </p:spPr>
        <p:txBody>
          <a:bodyPr wrap="square" lIns="0" tIns="0" rIns="0" bIns="0" rtlCol="0" anchor="t"/>
          <a:lstStyle/>
          <a:p>
            <a:pPr indent="0" marL="0">
              <a:lnSpc>
                <a:spcPct val="115000"/>
              </a:lnSpc>
              <a:buNone/>
            </a:pPr>
            <a:r>
              <a:rPr lang="en-US" altLang="en-US" sz="1300" b="0" dirty="0">
                <a:solidFill>
                  <a:srgbClr val="3E4A56"/>
                </a:solidFill>
                <a:latin typeface="Arial" pitchFamily="34" charset="0"/>
                <a:ea typeface="Yu Gothic" pitchFamily="34" charset="-122"/>
                <a:cs typeface="Yu Gothic" pitchFamily="34" charset="-120"/>
              </a:rPr>
              <a:t>If you agree with 1 and 2, we want to start framing IT investment issues through the commonality lens, and build the mechanisms to support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 Materiality Framework — IT部門内 認識合わせ</dc:title>
  <dc:subject>PptxGenJS Presentation</dc:subject>
  <dc:creator>PptxGenJS</dc:creator>
  <cp:lastModifiedBy>PptxGenJS</cp:lastModifiedBy>
  <cp:revision>1</cp:revision>
  <dcterms:created xsi:type="dcterms:W3CDTF">2026-09-21T16:04:52Z</dcterms:created>
  <dcterms:modified xsi:type="dcterms:W3CDTF">2026-09-21T16:04:52Z</dcterms:modified>
</cp:coreProperties>
</file>