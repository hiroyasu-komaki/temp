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16"/>
    <p:sldId id="258" r:id="rId4"/>
    <p:sldId id="266" r:id="rId17"/>
    <p:sldId id="261" r:id="rId7"/>
    <p:sldId id="267" r:id="rId18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3.xml"/><Relationship Id="rId17" Type="http://schemas.openxmlformats.org/officeDocument/2006/relationships/slide" Target="slides/slide5.xml"/><Relationship Id="rId18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酪農を例にする。ある牛飼いは生乳の生産を増やして、加工品をもっと手軽に買えるようにしたい。別の牛飼いは最高のチーズを作りたい。また別の牛飼いは新鮮な牛乳をもっと届けたい。どの牛飼いも、自分のためだけでなく、その先の消費者に便益を届けたいと純粋に考えている。
牧草地にはまだ余裕がありそうなので、ある牛飼いは自己資本を投じて牛を増やす。増えた儲けは自分のもの、草が減る損は全員で分け合う。他の牛飼いも同じように増やす。そしてある時、自分たちの牧草地が荒れ果ててしまったことに気づく。
これがコモンズの悲劇の寓話。締めの一言：誰も悪くない。善意と合理的な判断が、共有の資源を壊す。
経済学ではこれを「外部性」と呼ぶ。判断する人の損得の計算の外に、便益や費用がこぼれている状態。だから「全社視点を持とう」という呼びかけではなく、仕組みで解く。
（次のページで、当社のITに当てはめる）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前のページの「入れ子」を当社に正しく入れるための鍵は、何を部門で決め、何を全社で決めるかの仕分けにある。いまは決裁規定の金額で仕分けている。これからは金額に加えて、共通性で仕分ける。
このページで一番大事なのは、共通性の定義。共通性とは、投資の効果や費用が、判断した部門と今年の外に、どこまで及ぶかの度合い。判断した部門・今年の中で完結する得や損は、部門の損得計算に入っている。問題は、その外にこぼれる分。
外へのこぼれ方は2方向ある。他部門へ及ぶのが基盤性（今やらないと、他の何かが困るか）。横のつながり、つまり変化への柔軟性を守るための問い。将来へ及ぶのが負債（今やらないと、将来の費用が増えるか）。隠れた技術負債を見つけるための問い。
共通性は金額の大きさではない。右の図の右下のように、小さな案件でも共通性が高いことがある。既存システムへの個別連携の追加、標準外の実装、EOL延命などは、金額基準に届かず、いまは全社の審議に上がってこない。右上の大型案件は、いまも審議に上がるが、中身は追認になりがちだった。これからは共通性の物差しで、きちんと審議する。逆に左上のように、大きくても部門で完結する案件もある。また、使う部門の数だけでもない。将来へ及ぶ費用も含む。
入れ子（縦）を正しく作り、その入口の基準として、共通性（横のつながりと負債）を測る。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共通性を、審議の流れのどこで確認するか。入口は論点整理。IT部門が申請の事実を前のページの要素ごとに見て、基盤性・負債の2問に答え、委員会が判断すべき問い（論点）に変える。事務局はIT部門側と起案部門側から1名ずつ。自部門が起案者の案件では担当を替える。
委員会は論点ごとに、共通性の物差しで判断する。全社に及ぶ案件を追認で通さない。結果は論点ごとの根拠とともに起案者へ返し、判定理由を台帳に残す。台帳は次の共通性確認の材料になる。
入れ子とは、部門で決めることは部門に残し、共通性のある論点だけを全社で判断すること。そのために、共通性を論点整理で見つけ、審議で判断し、台帳に残す。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論点整理の最後に、すべての論点を3つに区分する。
委員会で審議する論点は、共通性に関わり、所管と協議しても全社としての判断が要るもの。「〜を決める必要がある」という判断の問いの形で書き、事実と評価を分ける。
確認済みとして報告する論点は、共通性に関わるが、所管と確認済みで問題がないもの。確認した所管メンバーと、確認した内容を明記する。委員会は、その確認の経緯を見て了承する。
論点にしないのは、共通性に関わらず、起案部門の中で決めるもの。業務要件や機能の優先順位、自部門内の費用対効果、ベンダーの選定やスケジュール・体制など。審議の時点で解決済みなら情報として共有し、未決なら記載するだけにする。参考意見が欲しい場合は、その旨を明記してもらう。部門で決めることは部門に残す、という入れ子の考え方そのも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例はグローバル・タレントデータ基盤の審議回答書（条件付き承認）から。承認後も12〜18か月後のレビューゲートで判断が続く。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資料で伝えたかったことは3つ。一つ目は、健全で合理的な個別判断でも、外部性があれば全社の共有財産は荒れるということ。荒れているのは、審議と承認の機能、隠れた技術負債、変化への柔軟性の3つ。二つ目は、悲劇は必然ではなく（Ostrom）、当社に特に欠けているのは入れ子の統治だということ。その鍵は、何を全社で決めるかを、金額に加えて共通性で仕分けること。共通性とは、投資の効果や費用が判断した部門と今年の外にどこまで及ぶかで、基盤性と負債で見る。
三つ目。この2つに共感いただけたら、IT投資案件に対する共通性のレンズでの論点整理と、そのための仕組みづくりに、IT部門として着手したい。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同じ構成で、当社のITに当てはめる。
起点は牛飼いと同じく、健全で合理的な事業判断である。部門がIT投資を考える動機には類型がある。規制や法改正に対応するため業務手順を変えたいが、レガシーシステムの改修は高額なので、AIや自動化も使える新システムを構築したい。製薬業界のモダリティ変革に追従するため、PoC環境をすぐに作りたい。古く使いづらい仕組みを、SaaSに置き換えたい。どれも正しい課題認識と、それに対する合理的な打ち手である。
予算も判断も部門にあるので、部門ごとに個別に進める。実行計画は部門で単独に策定され、IT部門や経営層には後から追認を求める形になる。システムやデータベースは個別最適で設計され、全体で見ると重複、あるいは重複とまでは言えなくても類似の機能が作られる。さらに、契約先の部門に最適化するベンダー固有の設計手法や考え方が部門に根付き、ロックインとサイロ化が進む。
判断が健全で合理的であっても、外部性は存在する。その積み重ねで、全社の共有財産が荒れる。
一つ目は審議と承認の機能、いわば縦のつながり。実行計画まで単独で策定され、期限も迫った案件に追認を求められても、情報の非対称性を解消する時間がなく、適切な意思決定は期待できない。経営層に判断を求めるのは、決裁規定の金額基準がそうなっているからではなく、経営層にしか見えない視点で判断するためであり、IT部門も同じ。本来IT部門が審議し承認すべきもの、経営層が審議し承認すべきものが、十分に機能しなくなる。
二つ目は隠れた技術負債。個別最適の仕組みへの追加投資、個別システムごとの運用ベンダー契約、同じ機能や別バージョンゆえの個別の機能改修。あるタイミングで部分的に共通化しようとすれば、そのための追加投資がまた発生する。すべて初期の個別最適の設計がもたらす技術負債である。問題は、それが技術負債だと認識されていないこと。IT投資と言いながら、実は負債の返済かもしれない。
三つ目は変化への柔軟性、いわば横のつながり。システムとは、個々の要素と、要素どうしの関係からなる全体のこと。現代の理想は、個別システムがそれぞれ独立しつつ疎結合でつながり、そのつながりが環境変化に柔軟に対応できる姿である。ベンダー固有の設計が部門ごとに根付くと、つながりは個別の直結で硬くなり、環境が変わるたびに変革に時間を要する。それは機会損失になる。かつてはマスタとデータハブで整っていた連携も、SaaSの普及とともにこの10年で崩れた。
荒れは必然ではない。Ostromは世界各地の入会地・漁場・灌漑組合を調べ、共有資源を長く保ってきた共同体を数多く示した（2009年ノーベル経済学賞）。そこに共通する8つの条件のうち、今回の提案に関わるのは5つ。資源の範囲と利用者の境界が明確であること（→共通層を定め、IT部門をオーナーにする）。ルールが現場の条件に合っていること（→2問判定から始め、段階的に育てる）。影響を受ける当事者がルール設計に参加すること（→事業部門は事実を出し、判断と根拠を受け取る）。利用状況が監視され、見えること（→台帳と利用量の可視化）。大規模な場合、統治が入れ子になっていること。特に、入れ子の統治は審議と承認の機能（縦）を、利用状況の可視化は隠れた技術負債を、境界の明確化は変化への柔軟性（横）を守る条件にあたる。この資料の本題は、入れ子の部分。具体的な中身は次のページ以降で説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共通性の中身。前のページで、共通性を測る軸は基盤性と負債の2つだと示した。とはいえ、申請者に「基盤性は問題ないですか？」「負債は問題ないですか？」とは聞かない。聞かれても答えられないし、評価が予算に直結する以上、自己申告には必ずバイアスがかかる。
申請者に聞くのは事実だけ。受益範囲、接続する既存システムと連携方式、扱うデータ、新規か更新か、現行製品の保守期限、運用・保守の体制。前提依存と標準からの逸脱は、申請者には見えないので聞かない。IT部門が台帳と構成から読む。
IT部門は、事実を要素ごとに見て、2問に答える。基盤性：受益は部門の外に広がるか、全社のデータや連携の要に触れるか、この投資を前提にする計画やシステムがあるか。負債：先送りすると緊急対応にならないか、この投資自体が負債の返済ではないか、標準から外れていないか、似た機能がすでにないか、個別の運用・改修や後からの共通化が将来の費用にならないか。
2問の答えはYes/Noと理由で残し、審議で判断すべき論点の形にする。初年度はこの2問で始め、集まった事実を台帳に育てて、次年度以降は要素ごとに程度を評価する。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論点整理の進め方。申請を受け取ったら、IT部門の担当者は共通性のレンズで論点を整理する。
事実の確認は、起案者に直接確認すれば足りる。しかし共通性の論点は、それだけでは立てられない。案件が触れる能力をケイパビリティマップで洗い出し、それを所管するIT部門のメンバーと協議する。所管メンバーには、能力ごとに基盤性・負債の観点で見てもらう。協議で情報が足りなければ、起案者・所管・台帳から集める。
最後に論点を区分する。共通性に関わり、協議しても全社としての判断が要るものは、委員会で審議する論点。所管と確認済みで、共通性の観点から問題がないものは、確認済みとして委員会に報告する論点。報告する論点には、確認した所管メンバーと確認の内容を明記する。共通性に関わらないものは、論点にせず部門の中で決める。
左下の対応は例。受益範囲は需要管理やアプリケーションポートフォリオ管理、つながりはシステム連携やマスタデータ管理、前提依存はアーキテクチャ設計、保守期限はソフトウェアライセンス・SaaS管理や構成管理、標準からの逸脱は技術標準・アーキテクチャレビュー、重複と個別運用はアプリケーションポートフォリオ管理や委託先の評価・監督を所管するメンバーと協議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8" Type="http://schemas.openxmlformats.org/officeDocument/2006/relationships/image" Target="../media/image-2-8.png"/><Relationship Id="rId23" Type="http://schemas.openxmlformats.org/officeDocument/2006/relationships/image" Target="../media/image-2-23.png"/><Relationship Id="rId26" Type="http://schemas.openxmlformats.org/officeDocument/2006/relationships/image" Target="../media/image-2-26.png"/><Relationship Id="rId34" Type="http://schemas.openxmlformats.org/officeDocument/2006/relationships/slideLayout" Target="../slideLayouts/slideLayout1.xml"/><Relationship Id="rId35" Type="http://schemas.openxmlformats.org/officeDocument/2006/relationships/notesSlide" Target="../notesSlides/notesSlide2.xml"/><Relationship Id="rId50" Type="http://schemas.openxmlformats.org/officeDocument/2006/relationships/image" Target="../media/image-herder.png"/><Relationship Id="rId51" Type="http://schemas.openxmlformats.org/officeDocument/2006/relationships/image" Target="../media/image-herder-faded.png"/></Relationships>
</file>

<file path=ppt/slides/_rels/slide3.xml.rels><?xml version='1.0' encoding='UTF-8' standalone='yes'?>
<Relationships xmlns="http://schemas.openxmlformats.org/package/2006/relationships"><Relationship Id="rId34" Type="http://schemas.openxmlformats.org/officeDocument/2006/relationships/slideLayout" Target="../slideLayouts/slideLayout1.xml"/><Relationship Id="rId90" Type="http://schemas.openxmlformats.org/officeDocument/2006/relationships/notesSlide" Target="../notesSlides/notesSlide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90" Type="http://schemas.openxmlformats.org/officeDocument/2006/relationships/notesSlide" Target="../notesSlides/notesSlide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90" Type="http://schemas.openxmlformats.org/officeDocument/2006/relationships/notesSlide" Target="../notesSlides/notesSlide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8"/>
        </a:solidFill>
      </p:bgPr>
    </p:bg>
    <p:spTree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74519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B8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IT部門内 説明資料 ｜ 2026年9月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28600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新しいガバナンスモデルにおける</a:t>
            </a:r>
            <a:endParaRPr lang="en-US" sz="40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IT投資審議に関する提案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118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IT部門の新たな役割 ── 共通性のレンズで論点を整理する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共有の牧草地で、何が起きるか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 Materiality ｜ IT部門内 認識合わせ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1F7A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146304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みんなで使う牧草地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3410712" cy="2011680"/>
          </a:xfrm>
          <a:prstGeom prst="roundRect">
            <a:avLst>
              <a:gd name="adj" fmla="val 8065"/>
            </a:avLst>
          </a:prstGeom>
          <a:solidFill>
            <a:srgbClr val="DDEFD9"/>
          </a:solidFill>
          <a:ln/>
        </p:spPr>
      </p:sp>
      <p:sp>
        <p:nvSpPr>
          <p:cNvPr id="96" name="Shape 14"/>
          <p:cNvSpPr/>
          <p:nvPr/>
        </p:nvSpPr>
        <p:spPr>
          <a:xfrm>
            <a:off x="5243322" y="2818638"/>
            <a:ext cx="228600" cy="228600"/>
          </a:xfrm>
          <a:prstGeom prst="ellipse">
            <a:avLst/>
          </a:prstGeom>
          <a:solidFill>
            <a:srgbClr val="C98A12"/>
          </a:solidFill>
          <a:ln/>
        </p:spPr>
      </p:sp>
      <p:sp>
        <p:nvSpPr>
          <p:cNvPr id="97" name="Text 15"/>
          <p:cNvSpPr txBox="1"/>
          <p:nvPr/>
        </p:nvSpPr>
        <p:spPr>
          <a:xfrm>
            <a:off x="5243322" y="281863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+1</a:t>
            </a:r>
            <a:endParaRPr lang="en-US" sz="900" dirty="0"/>
          </a:p>
        </p:txBody>
      </p:sp>
      <p:sp>
        <p:nvSpPr>
          <p:cNvPr id="101" name="Shape 14"/>
          <p:cNvSpPr/>
          <p:nvPr/>
        </p:nvSpPr>
        <p:spPr>
          <a:xfrm>
            <a:off x="6380226" y="2818638"/>
            <a:ext cx="228600" cy="228600"/>
          </a:xfrm>
          <a:prstGeom prst="ellipse">
            <a:avLst/>
          </a:prstGeom>
          <a:solidFill>
            <a:srgbClr val="C98A12"/>
          </a:solidFill>
          <a:ln/>
        </p:spPr>
      </p:sp>
      <p:sp>
        <p:nvSpPr>
          <p:cNvPr id="102" name="Text 15"/>
          <p:cNvSpPr txBox="1"/>
          <p:nvPr/>
        </p:nvSpPr>
        <p:spPr>
          <a:xfrm>
            <a:off x="6380226" y="281863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+1</a:t>
            </a:r>
            <a:endParaRPr lang="en-US" sz="900" dirty="0"/>
          </a:p>
        </p:txBody>
      </p:sp>
      <p:sp>
        <p:nvSpPr>
          <p:cNvPr id="106" name="Shape 14"/>
          <p:cNvSpPr/>
          <p:nvPr/>
        </p:nvSpPr>
        <p:spPr>
          <a:xfrm>
            <a:off x="7517130" y="2818638"/>
            <a:ext cx="228600" cy="228600"/>
          </a:xfrm>
          <a:prstGeom prst="ellipse">
            <a:avLst/>
          </a:prstGeom>
          <a:solidFill>
            <a:srgbClr val="C98A12"/>
          </a:solidFill>
          <a:ln/>
        </p:spPr>
      </p:sp>
      <p:sp>
        <p:nvSpPr>
          <p:cNvPr id="107" name="Text 15"/>
          <p:cNvSpPr txBox="1"/>
          <p:nvPr/>
        </p:nvSpPr>
        <p:spPr>
          <a:xfrm>
            <a:off x="7517130" y="281863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+1</a:t>
            </a:r>
            <a:endParaRPr lang="en-US" sz="900" dirty="0"/>
          </a:p>
        </p:txBody>
      </p:sp>
      <p:sp>
        <p:nvSpPr>
          <p:cNvPr id="22" name="Shape 9"/>
          <p:cNvSpPr/>
          <p:nvPr/>
        </p:nvSpPr>
        <p:spPr>
          <a:xfrm>
            <a:off x="4069080" y="2880360"/>
            <a:ext cx="274320" cy="365760"/>
          </a:xfrm>
          <a:prstGeom prst="rightArrow">
            <a:avLst/>
          </a:prstGeom>
          <a:solidFill>
            <a:srgbClr val="66717C"/>
          </a:solidFill>
          <a:ln/>
        </p:spPr>
      </p:sp>
      <p:sp>
        <p:nvSpPr>
          <p:cNvPr id="23" name="Shape 10"/>
          <p:cNvSpPr/>
          <p:nvPr/>
        </p:nvSpPr>
        <p:spPr>
          <a:xfrm>
            <a:off x="4389120" y="1463040"/>
            <a:ext cx="457200" cy="457200"/>
          </a:xfrm>
          <a:prstGeom prst="ellipse">
            <a:avLst/>
          </a:prstGeom>
          <a:solidFill>
            <a:srgbClr val="1F7A68"/>
          </a:solidFill>
          <a:ln/>
        </p:spPr>
      </p:sp>
      <p:sp>
        <p:nvSpPr>
          <p:cNvPr id="24" name="Text 11"/>
          <p:cNvSpPr txBox="1"/>
          <p:nvPr/>
        </p:nvSpPr>
        <p:spPr>
          <a:xfrm>
            <a:off x="43891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Text 12"/>
          <p:cNvSpPr txBox="1"/>
          <p:nvPr/>
        </p:nvSpPr>
        <p:spPr>
          <a:xfrm>
            <a:off x="4956048" y="146304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1頭増やせば、得は自分に</a:t>
            </a:r>
            <a:endParaRPr lang="en-US" sz="1500" dirty="0"/>
          </a:p>
        </p:txBody>
      </p:sp>
      <p:sp>
        <p:nvSpPr>
          <p:cNvPr id="26" name="Shape 13"/>
          <p:cNvSpPr/>
          <p:nvPr/>
        </p:nvSpPr>
        <p:spPr>
          <a:xfrm>
            <a:off x="4389120" y="2057400"/>
            <a:ext cx="3410712" cy="2011680"/>
          </a:xfrm>
          <a:prstGeom prst="roundRect">
            <a:avLst>
              <a:gd name="adj" fmla="val 8065"/>
            </a:avLst>
          </a:prstGeom>
          <a:solidFill>
            <a:srgbClr val="E8F0D8"/>
          </a:solidFill>
          <a:ln/>
        </p:spPr>
      </p:sp>
      <p:sp>
        <p:nvSpPr>
          <p:cNvPr id="46" name="Shape 22"/>
          <p:cNvSpPr/>
          <p:nvPr/>
        </p:nvSpPr>
        <p:spPr>
          <a:xfrm>
            <a:off x="7909560" y="2880360"/>
            <a:ext cx="274320" cy="365760"/>
          </a:xfrm>
          <a:prstGeom prst="rightArrow">
            <a:avLst/>
          </a:prstGeom>
          <a:solidFill>
            <a:srgbClr val="66717C"/>
          </a:solidFill>
          <a:ln/>
        </p:spPr>
      </p:sp>
      <p:sp>
        <p:nvSpPr>
          <p:cNvPr id="47" name="Shape 23"/>
          <p:cNvSpPr/>
          <p:nvPr/>
        </p:nvSpPr>
        <p:spPr>
          <a:xfrm>
            <a:off x="8229600" y="1463040"/>
            <a:ext cx="457200" cy="457200"/>
          </a:xfrm>
          <a:prstGeom prst="ellipse">
            <a:avLst/>
          </a:prstGeom>
          <a:solidFill>
            <a:srgbClr val="B5472F"/>
          </a:solidFill>
          <a:ln/>
        </p:spPr>
      </p:sp>
      <p:sp>
        <p:nvSpPr>
          <p:cNvPr id="48" name="Text 24"/>
          <p:cNvSpPr txBox="1"/>
          <p:nvPr/>
        </p:nvSpPr>
        <p:spPr>
          <a:xfrm>
            <a:off x="82296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49" name="Text 25"/>
          <p:cNvSpPr txBox="1"/>
          <p:nvPr/>
        </p:nvSpPr>
        <p:spPr>
          <a:xfrm>
            <a:off x="8796528" y="146304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47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草は尽き、全員が損をする</a:t>
            </a:r>
            <a:endParaRPr lang="en-US" sz="1500" dirty="0"/>
          </a:p>
        </p:txBody>
      </p:sp>
      <p:sp>
        <p:nvSpPr>
          <p:cNvPr id="50" name="Shape 26"/>
          <p:cNvSpPr/>
          <p:nvPr/>
        </p:nvSpPr>
        <p:spPr>
          <a:xfrm>
            <a:off x="8229600" y="2057400"/>
            <a:ext cx="3410712" cy="2011680"/>
          </a:xfrm>
          <a:prstGeom prst="roundRect">
            <a:avLst>
              <a:gd name="adj" fmla="val 8065"/>
            </a:avLst>
          </a:prstGeom>
          <a:solidFill>
            <a:srgbClr val="EFE4CC"/>
          </a:solidFill>
          <a:ln/>
        </p:spPr>
      </p:sp>
      <p:sp>
        <p:nvSpPr>
          <p:cNvPr id="73" name="Text 38"/>
          <p:cNvSpPr txBox="1"/>
          <p:nvPr/>
        </p:nvSpPr>
        <p:spPr>
          <a:xfrm>
            <a:off x="8412480" y="6309360"/>
            <a:ext cx="3227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コモンズの悲劇（ハーディン, 1968）</a:t>
            </a:r>
            <a:endParaRPr lang="en-US" sz="900" dirty="0"/>
          </a:p>
        </p:txBody>
      </p:sp>
      <p:sp>
        <p:nvSpPr>
          <p:cNvPr id="74" name="Caption 1"/>
          <p:cNvSpPr txBox="1"/>
          <p:nvPr/>
        </p:nvSpPr>
        <p:spPr>
          <a:xfrm>
            <a:off x="594360" y="4178808"/>
            <a:ext cx="331927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20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それぞれが、</a:t>
            </a:r>
            <a:r>
              <a:rPr lang="ja-JP" altLang="en-US" sz="12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消費者に届けたい価値</a:t>
            </a:r>
            <a:r>
              <a:rPr lang="ja-JP" altLang="en-US" sz="120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を思い描く。牧草地には、まだ余裕がある。</a:t>
            </a:r>
          </a:p>
        </p:txBody>
      </p:sp>
      <p:sp>
        <p:nvSpPr>
          <p:cNvPr id="75" name="Caption 2"/>
          <p:cNvSpPr txBox="1"/>
          <p:nvPr/>
        </p:nvSpPr>
        <p:spPr>
          <a:xfrm>
            <a:off x="4434840" y="4178808"/>
            <a:ext cx="331927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20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ある牛飼いが自己資本で牛を増やし、他の牛飼いも続く。儲けは</a:t>
            </a:r>
            <a:r>
              <a:rPr lang="ja-JP" altLang="en-US" sz="12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自分のもの</a:t>
            </a:r>
            <a:r>
              <a:rPr lang="ja-JP" altLang="en-US" sz="120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、草が減る損は</a:t>
            </a:r>
            <a:r>
              <a:rPr lang="ja-JP" altLang="en-US" sz="12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全員で分け合う</a:t>
            </a:r>
            <a:r>
              <a:rPr lang="ja-JP" altLang="en-US" sz="120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</a:p>
        </p:txBody>
      </p:sp>
      <p:sp>
        <p:nvSpPr>
          <p:cNvPr id="76" name="Caption 3"/>
          <p:cNvSpPr txBox="1"/>
          <p:nvPr/>
        </p:nvSpPr>
        <p:spPr>
          <a:xfrm>
            <a:off x="8275320" y="4178808"/>
            <a:ext cx="331927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20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ある時、気づく。</a:t>
            </a:r>
            <a:r>
              <a:rPr lang="ja-JP" altLang="en-US" sz="12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自分たちの牧草地が、荒れ果ててしまった</a:t>
            </a:r>
            <a:r>
              <a:rPr lang="ja-JP" altLang="en-US" sz="120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ことに。</a:t>
            </a:r>
          </a:p>
        </p:txBody>
      </p:sp>
      <p:sp>
        <p:nvSpPr>
          <p:cNvPr id="77" name="Band"/>
          <p:cNvSpPr/>
          <p:nvPr/>
        </p:nvSpPr>
        <p:spPr>
          <a:xfrm>
            <a:off x="548640" y="5120640"/>
            <a:ext cx="11091672" cy="1143000"/>
          </a:xfrm>
          <a:prstGeom prst="roundRect">
            <a:avLst>
              <a:gd name="adj" fmla="val 6667"/>
            </a:avLst>
          </a:prstGeom>
          <a:solidFill>
            <a:srgbClr val="F2F4F6"/>
          </a:solidFill>
          <a:ln/>
        </p:spPr>
      </p:sp>
      <p:sp>
        <p:nvSpPr>
          <p:cNvPr id="79" name="Band Divider"/>
          <p:cNvSpPr/>
          <p:nvPr/>
        </p:nvSpPr>
        <p:spPr>
          <a:xfrm>
            <a:off x="3108960" y="5349240"/>
            <a:ext cx="9144" cy="685800"/>
          </a:xfrm>
          <a:prstGeom prst="rect">
            <a:avLst/>
          </a:prstGeom>
          <a:solidFill>
            <a:srgbClr val="C9CFD5"/>
          </a:solidFill>
          <a:ln/>
        </p:spPr>
      </p:sp>
      <p:pic>
        <p:nvPicPr>
          <p:cNvPr id="108" name="Herder 1-1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879348" y="2642616"/>
            <a:ext cx="475488" cy="475488"/>
          </a:xfrm>
          <a:prstGeom prst="rect">
            <a:avLst/>
          </a:prstGeom>
        </p:spPr>
      </p:pic>
      <p:pic>
        <p:nvPicPr>
          <p:cNvPr id="109" name="Cow 1-1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636" y="3154680"/>
            <a:ext cx="438912" cy="438912"/>
          </a:xfrm>
          <a:prstGeom prst="rect">
            <a:avLst/>
          </a:prstGeom>
        </p:spPr>
      </p:pic>
      <p:pic>
        <p:nvPicPr>
          <p:cNvPr id="110" name="Herder 1-2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016252" y="2642616"/>
            <a:ext cx="475488" cy="475488"/>
          </a:xfrm>
          <a:prstGeom prst="rect">
            <a:avLst/>
          </a:prstGeom>
        </p:spPr>
      </p:pic>
      <p:pic>
        <p:nvPicPr>
          <p:cNvPr id="111" name="Cow 1-2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34540" y="3154680"/>
            <a:ext cx="438912" cy="438912"/>
          </a:xfrm>
          <a:prstGeom prst="rect">
            <a:avLst/>
          </a:prstGeom>
        </p:spPr>
      </p:pic>
      <p:pic>
        <p:nvPicPr>
          <p:cNvPr id="112" name="Herder 1-3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3153156" y="2642616"/>
            <a:ext cx="475488" cy="475488"/>
          </a:xfrm>
          <a:prstGeom prst="rect">
            <a:avLst/>
          </a:prstGeom>
        </p:spPr>
      </p:pic>
      <p:pic>
        <p:nvPicPr>
          <p:cNvPr id="113" name="Cow 1-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71444" y="3154680"/>
            <a:ext cx="438912" cy="438912"/>
          </a:xfrm>
          <a:prstGeom prst="rect">
            <a:avLst/>
          </a:prstGeom>
        </p:spPr>
      </p:pic>
      <p:pic>
        <p:nvPicPr>
          <p:cNvPr id="114" name="Grass 1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703320"/>
            <a:ext cx="274320" cy="274320"/>
          </a:xfrm>
          <a:prstGeom prst="rect">
            <a:avLst/>
          </a:prstGeom>
        </p:spPr>
      </p:pic>
      <p:pic>
        <p:nvPicPr>
          <p:cNvPr id="115" name="Grass 1-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3703320"/>
            <a:ext cx="274320" cy="274320"/>
          </a:xfrm>
          <a:prstGeom prst="rect">
            <a:avLst/>
          </a:prstGeom>
        </p:spPr>
      </p:pic>
      <p:pic>
        <p:nvPicPr>
          <p:cNvPr id="116" name="Grass 1-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2808" y="3703320"/>
            <a:ext cx="274320" cy="274320"/>
          </a:xfrm>
          <a:prstGeom prst="rect">
            <a:avLst/>
          </a:prstGeom>
        </p:spPr>
      </p:pic>
      <p:pic>
        <p:nvPicPr>
          <p:cNvPr id="117" name="Grass 1-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3703320"/>
            <a:ext cx="274320" cy="274320"/>
          </a:xfrm>
          <a:prstGeom prst="rect">
            <a:avLst/>
          </a:prstGeom>
        </p:spPr>
      </p:pic>
      <p:pic>
        <p:nvPicPr>
          <p:cNvPr id="118" name="Grass 1-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3703320"/>
            <a:ext cx="274320" cy="274320"/>
          </a:xfrm>
          <a:prstGeom prst="rect">
            <a:avLst/>
          </a:prstGeom>
        </p:spPr>
      </p:pic>
      <p:pic>
        <p:nvPicPr>
          <p:cNvPr id="119" name="Grass 1-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3703320"/>
            <a:ext cx="274320" cy="274320"/>
          </a:xfrm>
          <a:prstGeom prst="rect">
            <a:avLst/>
          </a:prstGeom>
        </p:spPr>
      </p:pic>
      <p:pic>
        <p:nvPicPr>
          <p:cNvPr id="120" name="Herder 2-1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4719828" y="2642616"/>
            <a:ext cx="475488" cy="475488"/>
          </a:xfrm>
          <a:prstGeom prst="rect">
            <a:avLst/>
          </a:prstGeom>
        </p:spPr>
      </p:pic>
      <p:pic>
        <p:nvPicPr>
          <p:cNvPr id="121" name="Cow 2-1a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4944" y="3154680"/>
            <a:ext cx="438912" cy="438912"/>
          </a:xfrm>
          <a:prstGeom prst="rect">
            <a:avLst/>
          </a:prstGeom>
        </p:spPr>
      </p:pic>
      <p:pic>
        <p:nvPicPr>
          <p:cNvPr id="122" name="Cow 2-1b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1288" y="3154680"/>
            <a:ext cx="438912" cy="438912"/>
          </a:xfrm>
          <a:prstGeom prst="rect">
            <a:avLst/>
          </a:prstGeom>
        </p:spPr>
      </p:pic>
      <p:sp>
        <p:nvSpPr>
          <p:cNvPr id="123" name="Badge"/>
          <p:cNvSpPr/>
          <p:nvPr/>
        </p:nvSpPr>
        <p:spPr>
          <a:xfrm>
            <a:off x="5261610" y="3074670"/>
            <a:ext cx="228600" cy="228600"/>
          </a:xfrm>
          <a:prstGeom prst="ellipse">
            <a:avLst/>
          </a:prstGeom>
          <a:solidFill>
            <a:srgbClr val="C98A12"/>
          </a:solidFill>
          <a:ln/>
        </p:spPr>
      </p:sp>
      <p:sp>
        <p:nvSpPr>
          <p:cNvPr id="124" name="Badge"/>
          <p:cNvSpPr txBox="1"/>
          <p:nvPr/>
        </p:nvSpPr>
        <p:spPr>
          <a:xfrm>
            <a:off x="5261610" y="307467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+1</a:t>
            </a:r>
            <a:endParaRPr lang="en-US" sz="900" dirty="0"/>
          </a:p>
        </p:txBody>
      </p:sp>
      <p:pic>
        <p:nvPicPr>
          <p:cNvPr id="125" name="Herder 2-2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5856732" y="2642616"/>
            <a:ext cx="475488" cy="475488"/>
          </a:xfrm>
          <a:prstGeom prst="rect">
            <a:avLst/>
          </a:prstGeom>
        </p:spPr>
      </p:pic>
      <p:pic>
        <p:nvPicPr>
          <p:cNvPr id="126" name="Cow 2-2a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41848" y="3154680"/>
            <a:ext cx="438912" cy="438912"/>
          </a:xfrm>
          <a:prstGeom prst="rect">
            <a:avLst/>
          </a:prstGeom>
        </p:spPr>
      </p:pic>
      <p:pic>
        <p:nvPicPr>
          <p:cNvPr id="127" name="Cow 2-2b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8192" y="3154680"/>
            <a:ext cx="438912" cy="438912"/>
          </a:xfrm>
          <a:prstGeom prst="rect">
            <a:avLst/>
          </a:prstGeom>
        </p:spPr>
      </p:pic>
      <p:sp>
        <p:nvSpPr>
          <p:cNvPr id="128" name="Badge"/>
          <p:cNvSpPr/>
          <p:nvPr/>
        </p:nvSpPr>
        <p:spPr>
          <a:xfrm>
            <a:off x="6398514" y="3074670"/>
            <a:ext cx="228600" cy="228600"/>
          </a:xfrm>
          <a:prstGeom prst="ellipse">
            <a:avLst/>
          </a:prstGeom>
          <a:solidFill>
            <a:srgbClr val="C98A12"/>
          </a:solidFill>
          <a:ln/>
        </p:spPr>
      </p:sp>
      <p:sp>
        <p:nvSpPr>
          <p:cNvPr id="129" name="Badge"/>
          <p:cNvSpPr txBox="1"/>
          <p:nvPr/>
        </p:nvSpPr>
        <p:spPr>
          <a:xfrm>
            <a:off x="6398514" y="307467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+1</a:t>
            </a:r>
            <a:endParaRPr lang="en-US" sz="900" dirty="0"/>
          </a:p>
        </p:txBody>
      </p:sp>
      <p:pic>
        <p:nvPicPr>
          <p:cNvPr id="130" name="Herder 2-3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6993636" y="2642616"/>
            <a:ext cx="475488" cy="475488"/>
          </a:xfrm>
          <a:prstGeom prst="rect">
            <a:avLst/>
          </a:prstGeom>
        </p:spPr>
      </p:pic>
      <p:pic>
        <p:nvPicPr>
          <p:cNvPr id="131" name="Cow 2-3a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8752" y="3154680"/>
            <a:ext cx="438912" cy="438912"/>
          </a:xfrm>
          <a:prstGeom prst="rect">
            <a:avLst/>
          </a:prstGeom>
        </p:spPr>
      </p:pic>
      <p:pic>
        <p:nvPicPr>
          <p:cNvPr id="132" name="Cow 2-3b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5096" y="3154680"/>
            <a:ext cx="438912" cy="438912"/>
          </a:xfrm>
          <a:prstGeom prst="rect">
            <a:avLst/>
          </a:prstGeom>
        </p:spPr>
      </p:pic>
      <p:sp>
        <p:nvSpPr>
          <p:cNvPr id="133" name="Badge"/>
          <p:cNvSpPr/>
          <p:nvPr/>
        </p:nvSpPr>
        <p:spPr>
          <a:xfrm>
            <a:off x="7535418" y="3074670"/>
            <a:ext cx="228600" cy="228600"/>
          </a:xfrm>
          <a:prstGeom prst="ellipse">
            <a:avLst/>
          </a:prstGeom>
          <a:solidFill>
            <a:srgbClr val="C98A12"/>
          </a:solidFill>
          <a:ln/>
        </p:spPr>
      </p:sp>
      <p:sp>
        <p:nvSpPr>
          <p:cNvPr id="134" name="Badge"/>
          <p:cNvSpPr txBox="1"/>
          <p:nvPr/>
        </p:nvSpPr>
        <p:spPr>
          <a:xfrm>
            <a:off x="7535418" y="307467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+1</a:t>
            </a:r>
            <a:endParaRPr lang="en-US" sz="900" dirty="0"/>
          </a:p>
        </p:txBody>
      </p:sp>
      <p:pic>
        <p:nvPicPr>
          <p:cNvPr id="135" name="Grass 2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2221992"/>
            <a:ext cx="274320" cy="274320"/>
          </a:xfrm>
          <a:prstGeom prst="rect">
            <a:avLst/>
          </a:prstGeom>
        </p:spPr>
      </p:pic>
      <p:pic>
        <p:nvPicPr>
          <p:cNvPr id="136" name="Grass 2-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2221992"/>
            <a:ext cx="274320" cy="274320"/>
          </a:xfrm>
          <a:prstGeom prst="rect">
            <a:avLst/>
          </a:prstGeom>
        </p:spPr>
      </p:pic>
      <p:pic>
        <p:nvPicPr>
          <p:cNvPr id="137" name="Grass 2-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3288" y="3703320"/>
            <a:ext cx="274320" cy="274320"/>
          </a:xfrm>
          <a:prstGeom prst="rect">
            <a:avLst/>
          </a:prstGeom>
        </p:spPr>
      </p:pic>
      <p:pic>
        <p:nvPicPr>
          <p:cNvPr id="138" name="Grass 2-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3703320"/>
            <a:ext cx="274320" cy="274320"/>
          </a:xfrm>
          <a:prstGeom prst="rect">
            <a:avLst/>
          </a:prstGeom>
        </p:spPr>
      </p:pic>
      <p:pic>
        <p:nvPicPr>
          <p:cNvPr id="139" name="Herder 3-1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8560308" y="2642616"/>
            <a:ext cx="475488" cy="475488"/>
          </a:xfrm>
          <a:prstGeom prst="rect">
            <a:avLst/>
          </a:prstGeom>
        </p:spPr>
      </p:pic>
      <p:pic>
        <p:nvPicPr>
          <p:cNvPr id="140" name="Cow 3-1a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45424" y="3154680"/>
            <a:ext cx="438912" cy="438912"/>
          </a:xfrm>
          <a:prstGeom prst="rect">
            <a:avLst/>
          </a:prstGeom>
        </p:spPr>
      </p:pic>
      <p:pic>
        <p:nvPicPr>
          <p:cNvPr id="141" name="Cow 3-1b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811768" y="3154680"/>
            <a:ext cx="438912" cy="438912"/>
          </a:xfrm>
          <a:prstGeom prst="rect">
            <a:avLst/>
          </a:prstGeom>
        </p:spPr>
      </p:pic>
      <p:pic>
        <p:nvPicPr>
          <p:cNvPr id="142" name="Herder 3-2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9697212" y="2642616"/>
            <a:ext cx="475488" cy="475488"/>
          </a:xfrm>
          <a:prstGeom prst="rect">
            <a:avLst/>
          </a:prstGeom>
        </p:spPr>
      </p:pic>
      <p:pic>
        <p:nvPicPr>
          <p:cNvPr id="143" name="Cow 3-2a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482328" y="3154680"/>
            <a:ext cx="438912" cy="438912"/>
          </a:xfrm>
          <a:prstGeom prst="rect">
            <a:avLst/>
          </a:prstGeom>
        </p:spPr>
      </p:pic>
      <p:pic>
        <p:nvPicPr>
          <p:cNvPr id="144" name="Cow 3-2b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948672" y="3154680"/>
            <a:ext cx="438912" cy="438912"/>
          </a:xfrm>
          <a:prstGeom prst="rect">
            <a:avLst/>
          </a:prstGeom>
        </p:spPr>
      </p:pic>
      <p:pic>
        <p:nvPicPr>
          <p:cNvPr id="145" name="Herder 3-3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0834116" y="2642616"/>
            <a:ext cx="475488" cy="475488"/>
          </a:xfrm>
          <a:prstGeom prst="rect">
            <a:avLst/>
          </a:prstGeom>
        </p:spPr>
      </p:pic>
      <p:pic>
        <p:nvPicPr>
          <p:cNvPr id="146" name="Cow 3-3a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619232" y="3154680"/>
            <a:ext cx="438912" cy="438912"/>
          </a:xfrm>
          <a:prstGeom prst="rect">
            <a:avLst/>
          </a:prstGeom>
        </p:spPr>
      </p:pic>
      <p:pic>
        <p:nvPicPr>
          <p:cNvPr id="147" name="Cow 3-3b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085576" y="3154680"/>
            <a:ext cx="438912" cy="438912"/>
          </a:xfrm>
          <a:prstGeom prst="rect">
            <a:avLst/>
          </a:prstGeom>
        </p:spPr>
      </p:pic>
      <p:pic>
        <p:nvPicPr>
          <p:cNvPr id="148" name="Grass 3-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646920" y="2221992"/>
            <a:ext cx="274320" cy="274320"/>
          </a:xfrm>
          <a:prstGeom prst="rect">
            <a:avLst/>
          </a:prstGeom>
        </p:spPr>
      </p:pic>
      <p:pic>
        <p:nvPicPr>
          <p:cNvPr id="149" name="Grass 3-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58200" y="3703320"/>
            <a:ext cx="274320" cy="274320"/>
          </a:xfrm>
          <a:prstGeom prst="rect">
            <a:avLst/>
          </a:prstGeom>
        </p:spPr>
      </p:pic>
      <p:pic>
        <p:nvPicPr>
          <p:cNvPr id="150" name="Grass 3-3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109960" y="3703320"/>
            <a:ext cx="274320" cy="274320"/>
          </a:xfrm>
          <a:prstGeom prst="rect">
            <a:avLst/>
          </a:prstGeom>
        </p:spPr>
      </p:pic>
      <p:sp>
        <p:nvSpPr>
          <p:cNvPr id="151" name="Bubble 1"/>
          <p:cNvSpPr/>
          <p:nvPr/>
        </p:nvSpPr>
        <p:spPr>
          <a:xfrm>
            <a:off x="614172" y="2148840"/>
            <a:ext cx="1005840" cy="402336"/>
          </a:xfrm>
          <a:prstGeom prst="wedgeRoundRectCallout">
            <a:avLst>
              <a:gd name="adj1" fmla="val -12000"/>
              <a:gd name="adj2" fmla="val 72000"/>
              <a:gd name="adj3" fmla="val 16667"/>
            </a:avLst>
          </a:prstGeom>
          <a:solidFill>
            <a:srgbClr val="FFFFFF"/>
          </a:solidFill>
          <a:ln w="9525">
            <a:solidFill>
              <a:srgbClr val="1F7A68"/>
            </a:solidFill>
          </a:ln>
        </p:spPr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lang="ja-JP" altLang="en-US" sz="95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加工品を</a:t>
            </a:r>
          </a:p>
          <a:p>
            <a:pPr algn="ctr">
              <a:lnSpc>
                <a:spcPct val="100000"/>
              </a:lnSpc>
            </a:pPr>
            <a:r>
              <a:rPr lang="ja-JP" altLang="en-US" sz="95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手軽に届けたい</a:t>
            </a:r>
          </a:p>
        </p:txBody>
      </p:sp>
      <p:sp>
        <p:nvSpPr>
          <p:cNvPr id="152" name="Bubble 2"/>
          <p:cNvSpPr/>
          <p:nvPr/>
        </p:nvSpPr>
        <p:spPr>
          <a:xfrm>
            <a:off x="1751076" y="2148840"/>
            <a:ext cx="1005840" cy="402336"/>
          </a:xfrm>
          <a:prstGeom prst="wedgeRoundRectCallout">
            <a:avLst>
              <a:gd name="adj1" fmla="val -12000"/>
              <a:gd name="adj2" fmla="val 72000"/>
              <a:gd name="adj3" fmla="val 16667"/>
            </a:avLst>
          </a:prstGeom>
          <a:solidFill>
            <a:srgbClr val="FFFFFF"/>
          </a:solidFill>
          <a:ln w="9525">
            <a:solidFill>
              <a:srgbClr val="1F7A68"/>
            </a:solidFill>
          </a:ln>
        </p:spPr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lang="ja-JP" altLang="en-US" sz="95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最高のチーズを</a:t>
            </a:r>
          </a:p>
          <a:p>
            <a:pPr algn="ctr">
              <a:lnSpc>
                <a:spcPct val="100000"/>
              </a:lnSpc>
            </a:pPr>
            <a:r>
              <a:rPr lang="ja-JP" altLang="en-US" sz="95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作りたい</a:t>
            </a:r>
          </a:p>
        </p:txBody>
      </p:sp>
      <p:sp>
        <p:nvSpPr>
          <p:cNvPr id="153" name="Bubble 3"/>
          <p:cNvSpPr/>
          <p:nvPr/>
        </p:nvSpPr>
        <p:spPr>
          <a:xfrm>
            <a:off x="2887980" y="2148840"/>
            <a:ext cx="1005840" cy="402336"/>
          </a:xfrm>
          <a:prstGeom prst="wedgeRoundRectCallout">
            <a:avLst>
              <a:gd name="adj1" fmla="val -12000"/>
              <a:gd name="adj2" fmla="val 72000"/>
              <a:gd name="adj3" fmla="val 16667"/>
            </a:avLst>
          </a:prstGeom>
          <a:solidFill>
            <a:srgbClr val="FFFFFF"/>
          </a:solidFill>
          <a:ln w="9525">
            <a:solidFill>
              <a:srgbClr val="1F7A68"/>
            </a:solidFill>
          </a:ln>
        </p:spPr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lang="ja-JP" altLang="en-US" sz="95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新鮮な牛乳を</a:t>
            </a:r>
          </a:p>
          <a:p>
            <a:pPr algn="ctr">
              <a:lnSpc>
                <a:spcPct val="100000"/>
              </a:lnSpc>
            </a:pPr>
            <a:r>
              <a:rPr lang="ja-JP" altLang="en-US" sz="95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もっと届けたい</a:t>
            </a:r>
          </a:p>
        </p:txBody>
      </p:sp>
      <p:sp>
        <p:nvSpPr>
          <p:cNvPr id="178" name="Band Label"/>
          <p:cNvSpPr txBox="1"/>
          <p:nvPr/>
        </p:nvSpPr>
        <p:spPr>
          <a:xfrm>
            <a:off x="777240" y="512064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600" b="1" dirty="0">
                <a:solidFill>
                  <a:srgbClr val="B547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これが「外部性」</a:t>
            </a:r>
          </a:p>
        </p:txBody>
      </p:sp>
      <p:sp>
        <p:nvSpPr>
          <p:cNvPr id="179" name="Band Text"/>
          <p:cNvSpPr txBox="1"/>
          <p:nvPr/>
        </p:nvSpPr>
        <p:spPr>
          <a:xfrm>
            <a:off x="3337560" y="5120640"/>
            <a:ext cx="80741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5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誰も悪くない。得は判断した人に、損はみんなと将来にこぼれ出る</a:t>
            </a:r>
          </a:p>
          <a:p>
            <a:pPr indent="0" marL="0">
              <a:lnSpc>
                <a:spcPct val="115000"/>
              </a:lnSpc>
              <a:spcBef>
                <a:spcPts val="400"/>
              </a:spcBef>
              <a:buNone/>
            </a:pPr>
            <a:r>
              <a:rPr lang="ja-JP" altLang="en-US" sz="115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善意と合理的な判断でも、他者への影響は自分の損得計算に入らない。だから呼びかけではなく、仕組みで解く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当社のITで、何が起きているか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 Materiality ｜ IT部門内 認識合わせ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1F7A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146304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正しい課題に、合理的に応える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3410712" cy="2011680"/>
          </a:xfrm>
          <a:prstGeom prst="roundRect">
            <a:avLst>
              <a:gd name="adj" fmla="val 8065"/>
            </a:avLst>
          </a:prstGeom>
          <a:solidFill>
            <a:srgbClr val="DDEFD9"/>
          </a:solidFill>
          <a:ln/>
        </p:spPr>
      </p:sp>
      <p:sp>
        <p:nvSpPr>
          <p:cNvPr id="22" name="Shape 9"/>
          <p:cNvSpPr/>
          <p:nvPr/>
        </p:nvSpPr>
        <p:spPr>
          <a:xfrm>
            <a:off x="4069080" y="2880360"/>
            <a:ext cx="274320" cy="365760"/>
          </a:xfrm>
          <a:prstGeom prst="rightArrow">
            <a:avLst/>
          </a:prstGeom>
          <a:solidFill>
            <a:srgbClr val="66717C"/>
          </a:solidFill>
          <a:ln/>
        </p:spPr>
      </p:sp>
      <p:sp>
        <p:nvSpPr>
          <p:cNvPr id="23" name="Shape 10"/>
          <p:cNvSpPr/>
          <p:nvPr/>
        </p:nvSpPr>
        <p:spPr>
          <a:xfrm>
            <a:off x="4389120" y="1463040"/>
            <a:ext cx="457200" cy="457200"/>
          </a:xfrm>
          <a:prstGeom prst="ellipse">
            <a:avLst/>
          </a:prstGeom>
          <a:solidFill>
            <a:srgbClr val="1F7A68"/>
          </a:solidFill>
          <a:ln/>
        </p:spPr>
      </p:sp>
      <p:sp>
        <p:nvSpPr>
          <p:cNvPr id="24" name="Text 11"/>
          <p:cNvSpPr txBox="1"/>
          <p:nvPr/>
        </p:nvSpPr>
        <p:spPr>
          <a:xfrm>
            <a:off x="43891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Text 12"/>
          <p:cNvSpPr txBox="1"/>
          <p:nvPr/>
        </p:nvSpPr>
        <p:spPr>
          <a:xfrm>
            <a:off x="4956048" y="146304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部門ごとに、個別に進める</a:t>
            </a:r>
            <a:endParaRPr lang="en-US" sz="1500" dirty="0"/>
          </a:p>
        </p:txBody>
      </p:sp>
      <p:sp>
        <p:nvSpPr>
          <p:cNvPr id="26" name="Shape 13"/>
          <p:cNvSpPr/>
          <p:nvPr/>
        </p:nvSpPr>
        <p:spPr>
          <a:xfrm>
            <a:off x="4389120" y="2057400"/>
            <a:ext cx="3410712" cy="2011680"/>
          </a:xfrm>
          <a:prstGeom prst="roundRect">
            <a:avLst>
              <a:gd name="adj" fmla="val 8065"/>
            </a:avLst>
          </a:prstGeom>
          <a:solidFill>
            <a:srgbClr val="E8F0D8"/>
          </a:solidFill>
          <a:ln/>
        </p:spPr>
      </p:sp>
      <p:sp>
        <p:nvSpPr>
          <p:cNvPr id="46" name="Shape 22"/>
          <p:cNvSpPr/>
          <p:nvPr/>
        </p:nvSpPr>
        <p:spPr>
          <a:xfrm>
            <a:off x="7909560" y="2880360"/>
            <a:ext cx="274320" cy="365760"/>
          </a:xfrm>
          <a:prstGeom prst="rightArrow">
            <a:avLst/>
          </a:prstGeom>
          <a:solidFill>
            <a:srgbClr val="66717C"/>
          </a:solidFill>
          <a:ln/>
        </p:spPr>
      </p:sp>
      <p:sp>
        <p:nvSpPr>
          <p:cNvPr id="47" name="Shape 23"/>
          <p:cNvSpPr/>
          <p:nvPr/>
        </p:nvSpPr>
        <p:spPr>
          <a:xfrm>
            <a:off x="8229600" y="1463040"/>
            <a:ext cx="457200" cy="457200"/>
          </a:xfrm>
          <a:prstGeom prst="ellipse">
            <a:avLst/>
          </a:prstGeom>
          <a:solidFill>
            <a:srgbClr val="B5472F"/>
          </a:solidFill>
          <a:ln/>
        </p:spPr>
      </p:sp>
      <p:sp>
        <p:nvSpPr>
          <p:cNvPr id="48" name="Text 24"/>
          <p:cNvSpPr txBox="1"/>
          <p:nvPr/>
        </p:nvSpPr>
        <p:spPr>
          <a:xfrm>
            <a:off x="82296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49" name="Text 25"/>
          <p:cNvSpPr txBox="1"/>
          <p:nvPr/>
        </p:nvSpPr>
        <p:spPr>
          <a:xfrm>
            <a:off x="8796528" y="146304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47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全社の共有財産が荒れる</a:t>
            </a:r>
            <a:endParaRPr lang="en-US" sz="1500" dirty="0"/>
          </a:p>
        </p:txBody>
      </p:sp>
      <p:sp>
        <p:nvSpPr>
          <p:cNvPr id="50" name="Shape 26"/>
          <p:cNvSpPr/>
          <p:nvPr/>
        </p:nvSpPr>
        <p:spPr>
          <a:xfrm>
            <a:off x="8229600" y="2057400"/>
            <a:ext cx="3410712" cy="2011680"/>
          </a:xfrm>
          <a:prstGeom prst="roundRect">
            <a:avLst>
              <a:gd name="adj" fmla="val 8065"/>
            </a:avLst>
          </a:prstGeom>
          <a:solidFill>
            <a:srgbClr val="EFE4CC"/>
          </a:solidFill>
          <a:ln/>
        </p:spPr>
      </p:sp>
      <p:sp>
        <p:nvSpPr>
          <p:cNvPr id="549" name="Card 00"/>
          <p:cNvSpPr/>
          <p:nvPr/>
        </p:nvSpPr>
        <p:spPr>
          <a:xfrm>
            <a:off x="640080" y="2148840"/>
            <a:ext cx="322783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550" name="Card Text 00"/>
          <p:cNvSpPr txBox="1"/>
          <p:nvPr/>
        </p:nvSpPr>
        <p:spPr>
          <a:xfrm>
            <a:off x="640080" y="2148840"/>
            <a:ext cx="3227832" cy="54864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200" b="1" dirty="0">
                <a:solidFill>
                  <a:srgbClr val="1F7A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規制・法改正への対応</a:t>
            </a:r>
          </a:p>
          <a:p>
            <a:pPr indent="0" marL="0">
              <a:lnSpc>
                <a:spcPct val="115000"/>
              </a:lnSpc>
              <a:spcBef>
                <a:spcPts val="100"/>
              </a:spcBef>
              <a:buNone/>
            </a:pPr>
            <a:r>
              <a:rPr lang="ja-JP" altLang="en-US" sz="10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改修は高額。業務変更は新システムで実現したい</a:t>
            </a:r>
          </a:p>
        </p:txBody>
      </p:sp>
      <p:sp>
        <p:nvSpPr>
          <p:cNvPr id="551" name="Card 01"/>
          <p:cNvSpPr/>
          <p:nvPr/>
        </p:nvSpPr>
        <p:spPr>
          <a:xfrm>
            <a:off x="4480560" y="2148840"/>
            <a:ext cx="322783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552" name="Card Text 01"/>
          <p:cNvSpPr txBox="1"/>
          <p:nvPr/>
        </p:nvSpPr>
        <p:spPr>
          <a:xfrm>
            <a:off x="4480560" y="2148840"/>
            <a:ext cx="3227832" cy="54864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2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単独で計画を策定</a:t>
            </a:r>
          </a:p>
          <a:p>
            <a:pPr indent="0" marL="0">
              <a:lnSpc>
                <a:spcPct val="115000"/>
              </a:lnSpc>
              <a:spcBef>
                <a:spcPts val="100"/>
              </a:spcBef>
              <a:buNone/>
            </a:pPr>
            <a:r>
              <a:rPr lang="ja-JP" altLang="en-US" sz="10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IT部門と経営層には、後から追認を求める</a:t>
            </a:r>
          </a:p>
        </p:txBody>
      </p:sp>
      <p:sp>
        <p:nvSpPr>
          <p:cNvPr id="553" name="Card 02"/>
          <p:cNvSpPr/>
          <p:nvPr/>
        </p:nvSpPr>
        <p:spPr>
          <a:xfrm>
            <a:off x="8321040" y="2148840"/>
            <a:ext cx="322783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554" name="Card Text 02"/>
          <p:cNvSpPr txBox="1"/>
          <p:nvPr/>
        </p:nvSpPr>
        <p:spPr>
          <a:xfrm>
            <a:off x="8321040" y="2148840"/>
            <a:ext cx="3227832" cy="54864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200" b="1" dirty="0">
                <a:solidFill>
                  <a:srgbClr val="B547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審議と承認の機能</a:t>
            </a:r>
          </a:p>
          <a:p>
            <a:pPr indent="0" marL="0">
              <a:lnSpc>
                <a:spcPct val="115000"/>
              </a:lnSpc>
              <a:spcBef>
                <a:spcPts val="100"/>
              </a:spcBef>
              <a:buNone/>
            </a:pPr>
            <a:r>
              <a:rPr lang="ja-JP" altLang="en-US" sz="10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追認では、IT部門も経営層も役割を果たせない</a:t>
            </a:r>
          </a:p>
        </p:txBody>
      </p:sp>
      <p:sp>
        <p:nvSpPr>
          <p:cNvPr id="555" name="Card 10"/>
          <p:cNvSpPr/>
          <p:nvPr/>
        </p:nvSpPr>
        <p:spPr>
          <a:xfrm>
            <a:off x="640080" y="2788920"/>
            <a:ext cx="322783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556" name="Card Text 10"/>
          <p:cNvSpPr txBox="1"/>
          <p:nvPr/>
        </p:nvSpPr>
        <p:spPr>
          <a:xfrm>
            <a:off x="640080" y="2788920"/>
            <a:ext cx="3227832" cy="54864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200" b="1" dirty="0">
                <a:solidFill>
                  <a:srgbClr val="1F7A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モダリティ変革への追従</a:t>
            </a:r>
          </a:p>
          <a:p>
            <a:pPr indent="0" marL="0">
              <a:lnSpc>
                <a:spcPct val="115000"/>
              </a:lnSpc>
              <a:spcBef>
                <a:spcPts val="100"/>
              </a:spcBef>
              <a:buNone/>
            </a:pPr>
            <a:r>
              <a:rPr lang="ja-JP" altLang="en-US" sz="10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新しい創薬手法のPoC環境を、すぐに作りたい</a:t>
            </a:r>
          </a:p>
        </p:txBody>
      </p:sp>
      <p:sp>
        <p:nvSpPr>
          <p:cNvPr id="557" name="Card 11"/>
          <p:cNvSpPr/>
          <p:nvPr/>
        </p:nvSpPr>
        <p:spPr>
          <a:xfrm>
            <a:off x="4480560" y="2788920"/>
            <a:ext cx="322783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558" name="Card Text 11"/>
          <p:cNvSpPr txBox="1"/>
          <p:nvPr/>
        </p:nvSpPr>
        <p:spPr>
          <a:xfrm>
            <a:off x="4480560" y="2788920"/>
            <a:ext cx="3227832" cy="54864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2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個別最適の設計</a:t>
            </a:r>
          </a:p>
          <a:p>
            <a:pPr indent="0" marL="0">
              <a:lnSpc>
                <a:spcPct val="115000"/>
              </a:lnSpc>
              <a:spcBef>
                <a:spcPts val="100"/>
              </a:spcBef>
              <a:buNone/>
            </a:pPr>
            <a:r>
              <a:rPr lang="ja-JP" altLang="en-US" sz="10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全体で見ると、重複・類似の機能ができる</a:t>
            </a:r>
          </a:p>
        </p:txBody>
      </p:sp>
      <p:sp>
        <p:nvSpPr>
          <p:cNvPr id="559" name="Card 12"/>
          <p:cNvSpPr/>
          <p:nvPr/>
        </p:nvSpPr>
        <p:spPr>
          <a:xfrm>
            <a:off x="8321040" y="2788920"/>
            <a:ext cx="322783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560" name="Card Text 12"/>
          <p:cNvSpPr txBox="1"/>
          <p:nvPr/>
        </p:nvSpPr>
        <p:spPr>
          <a:xfrm>
            <a:off x="8321040" y="2788920"/>
            <a:ext cx="3227832" cy="54864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200" b="1" dirty="0">
                <a:solidFill>
                  <a:srgbClr val="B547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隠れた技術負債</a:t>
            </a:r>
          </a:p>
          <a:p>
            <a:pPr indent="0" marL="0">
              <a:lnSpc>
                <a:spcPct val="115000"/>
              </a:lnSpc>
              <a:spcBef>
                <a:spcPts val="100"/>
              </a:spcBef>
              <a:buNone/>
            </a:pPr>
            <a:r>
              <a:rPr lang="ja-JP" altLang="en-US" sz="10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IT投資のつもりが、実は負債の返済かもしれない</a:t>
            </a:r>
          </a:p>
        </p:txBody>
      </p:sp>
      <p:sp>
        <p:nvSpPr>
          <p:cNvPr id="561" name="Card 20"/>
          <p:cNvSpPr/>
          <p:nvPr/>
        </p:nvSpPr>
        <p:spPr>
          <a:xfrm>
            <a:off x="640080" y="3429000"/>
            <a:ext cx="322783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562" name="Card Text 20"/>
          <p:cNvSpPr txBox="1"/>
          <p:nvPr/>
        </p:nvSpPr>
        <p:spPr>
          <a:xfrm>
            <a:off x="640080" y="3429000"/>
            <a:ext cx="3227832" cy="54864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200" b="1" dirty="0">
                <a:solidFill>
                  <a:srgbClr val="1F7A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レガシーシステムへの対応</a:t>
            </a:r>
          </a:p>
          <a:p>
            <a:pPr indent="0" marL="0">
              <a:lnSpc>
                <a:spcPct val="115000"/>
              </a:lnSpc>
              <a:spcBef>
                <a:spcPts val="100"/>
              </a:spcBef>
              <a:buNone/>
            </a:pPr>
            <a:r>
              <a:rPr lang="ja-JP" altLang="en-US" sz="10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古く使いづらい仕組みを、SaaSに替えたい</a:t>
            </a:r>
          </a:p>
        </p:txBody>
      </p:sp>
      <p:sp>
        <p:nvSpPr>
          <p:cNvPr id="563" name="Card 21"/>
          <p:cNvSpPr/>
          <p:nvPr/>
        </p:nvSpPr>
        <p:spPr>
          <a:xfrm>
            <a:off x="4480560" y="3429000"/>
            <a:ext cx="322783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564" name="Card Text 21"/>
          <p:cNvSpPr txBox="1"/>
          <p:nvPr/>
        </p:nvSpPr>
        <p:spPr>
          <a:xfrm>
            <a:off x="4480560" y="3429000"/>
            <a:ext cx="3227832" cy="54864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2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ベンダー固有の設計が根付く</a:t>
            </a:r>
          </a:p>
          <a:p>
            <a:pPr indent="0" marL="0">
              <a:lnSpc>
                <a:spcPct val="115000"/>
              </a:lnSpc>
              <a:spcBef>
                <a:spcPts val="100"/>
              </a:spcBef>
              <a:buNone/>
            </a:pPr>
            <a:r>
              <a:rPr lang="ja-JP" altLang="en-US" sz="10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ベンダーにとって、サイロ化は参入障壁になる</a:t>
            </a:r>
          </a:p>
        </p:txBody>
      </p:sp>
      <p:sp>
        <p:nvSpPr>
          <p:cNvPr id="565" name="Card 22"/>
          <p:cNvSpPr/>
          <p:nvPr/>
        </p:nvSpPr>
        <p:spPr>
          <a:xfrm>
            <a:off x="8321040" y="3429000"/>
            <a:ext cx="322783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566" name="Card Text 22"/>
          <p:cNvSpPr txBox="1"/>
          <p:nvPr/>
        </p:nvSpPr>
        <p:spPr>
          <a:xfrm>
            <a:off x="8321040" y="3429000"/>
            <a:ext cx="3227832" cy="54864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200" b="1" dirty="0">
                <a:solidFill>
                  <a:srgbClr val="B547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変化への柔軟性</a:t>
            </a:r>
          </a:p>
          <a:p>
            <a:pPr indent="0" marL="0">
              <a:lnSpc>
                <a:spcPct val="115000"/>
              </a:lnSpc>
              <a:spcBef>
                <a:spcPts val="100"/>
              </a:spcBef>
              <a:buNone/>
            </a:pPr>
            <a:r>
              <a:rPr lang="ja-JP" altLang="en-US" sz="10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つながりが硬く、変革に時間がかかり機会を逃す</a:t>
            </a:r>
          </a:p>
        </p:txBody>
      </p:sp>
      <p:sp>
        <p:nvSpPr>
          <p:cNvPr id="567" name="Caption 1"/>
          <p:cNvSpPr txBox="1"/>
          <p:nvPr/>
        </p:nvSpPr>
        <p:spPr>
          <a:xfrm>
            <a:off x="594360" y="4178808"/>
            <a:ext cx="331927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20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どれも</a:t>
            </a:r>
            <a:r>
              <a:rPr lang="ja-JP" altLang="en-US" sz="12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正しい課題認識と、合理的な打ち手</a:t>
            </a:r>
            <a:r>
              <a:rPr lang="ja-JP" altLang="en-US" sz="120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</a:p>
        </p:txBody>
      </p:sp>
      <p:sp>
        <p:nvSpPr>
          <p:cNvPr id="568" name="Caption 2"/>
          <p:cNvSpPr txBox="1"/>
          <p:nvPr/>
        </p:nvSpPr>
        <p:spPr>
          <a:xfrm>
            <a:off x="4434840" y="4178808"/>
            <a:ext cx="331927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20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予算も判断も部門にある。</a:t>
            </a:r>
            <a:r>
              <a:rPr lang="ja-JP" altLang="en-US" sz="12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契約先の部門に最適化するベンダー</a:t>
            </a:r>
            <a:r>
              <a:rPr lang="ja-JP" altLang="en-US" sz="120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とともに進める。</a:t>
            </a:r>
          </a:p>
        </p:txBody>
      </p:sp>
      <p:sp>
        <p:nvSpPr>
          <p:cNvPr id="569" name="Caption 3"/>
          <p:cNvSpPr txBox="1"/>
          <p:nvPr/>
        </p:nvSpPr>
        <p:spPr>
          <a:xfrm>
            <a:off x="8275320" y="4178808"/>
            <a:ext cx="331927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20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健全な判断の積み重ねでも、</a:t>
            </a:r>
            <a:r>
              <a:rPr lang="ja-JP" altLang="en-US" sz="12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全社の共有財産は荒れていく</a:t>
            </a:r>
            <a:r>
              <a:rPr lang="ja-JP" altLang="en-US" sz="120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</a:p>
        </p:txBody>
      </p:sp>
      <p:sp>
        <p:nvSpPr>
          <p:cNvPr id="570" name="Band"/>
          <p:cNvSpPr/>
          <p:nvPr/>
        </p:nvSpPr>
        <p:spPr>
          <a:xfrm>
            <a:off x="548640" y="5120640"/>
            <a:ext cx="11091672" cy="1143000"/>
          </a:xfrm>
          <a:prstGeom prst="roundRect">
            <a:avLst>
              <a:gd name="adj" fmla="val 6667"/>
            </a:avLst>
          </a:prstGeom>
          <a:solidFill>
            <a:srgbClr val="F2F4F6"/>
          </a:solidFill>
          <a:ln/>
        </p:spPr>
      </p:sp>
      <p:sp>
        <p:nvSpPr>
          <p:cNvPr id="571" name="Band Label"/>
          <p:cNvSpPr txBox="1"/>
          <p:nvPr/>
        </p:nvSpPr>
        <p:spPr>
          <a:xfrm>
            <a:off x="731520" y="512064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400" b="1" dirty="0">
                <a:solidFill>
                  <a:srgbClr val="1F7A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荒れを防ぐ</a:t>
            </a:r>
          </a:p>
          <a:p>
            <a:pPr indent="0" marL="0">
              <a:lnSpc>
                <a:spcPct val="115000"/>
              </a:lnSpc>
              <a:buNone/>
            </a:pPr>
            <a:r>
              <a:rPr lang="ja-JP" altLang="en-US" sz="1400" b="1" dirty="0">
                <a:solidFill>
                  <a:srgbClr val="1F7A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8条件のうち5つ</a:t>
            </a:r>
          </a:p>
          <a:p>
            <a:pPr indent="0" marL="0">
              <a:lnSpc>
                <a:spcPct val="115000"/>
              </a:lnSpc>
              <a:spcBef>
                <a:spcPts val="300"/>
              </a:spcBef>
              <a:buNone/>
            </a:pPr>
            <a:r>
              <a:rPr lang="ja-JP" altLang="en-US" sz="900" b="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E. Ostrom（1990）</a:t>
            </a:r>
          </a:p>
          <a:p>
            <a:pPr indent="0" marL="0">
              <a:lnSpc>
                <a:spcPct val="115000"/>
              </a:lnSpc>
              <a:buNone/>
            </a:pPr>
            <a:r>
              <a:rPr lang="ja-JP" altLang="en-US" sz="900" b="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2009年ノーベル経済学賞</a:t>
            </a:r>
          </a:p>
        </p:txBody>
      </p:sp>
      <p:sp>
        <p:nvSpPr>
          <p:cNvPr id="572" name="Down Arrow"/>
          <p:cNvSpPr/>
          <p:nvPr/>
        </p:nvSpPr>
        <p:spPr>
          <a:xfrm>
            <a:off x="1508760" y="4617720"/>
            <a:ext cx="365760" cy="402336"/>
          </a:xfrm>
          <a:prstGeom prst="downArrow">
            <a:avLst/>
          </a:prstGeom>
          <a:solidFill>
            <a:srgbClr val="66717C"/>
          </a:solidFill>
          <a:ln/>
        </p:spPr>
      </p:sp>
      <p:sp>
        <p:nvSpPr>
          <p:cNvPr id="573" name="Band Divider"/>
          <p:cNvSpPr/>
          <p:nvPr/>
        </p:nvSpPr>
        <p:spPr>
          <a:xfrm>
            <a:off x="2697480" y="5349240"/>
            <a:ext cx="9144" cy="685800"/>
          </a:xfrm>
          <a:prstGeom prst="rect">
            <a:avLst/>
          </a:prstGeom>
          <a:solidFill>
            <a:srgbClr val="C9CFD5"/>
          </a:solidFill>
          <a:ln/>
        </p:spPr>
      </p:sp>
      <p:sp>
        <p:nvSpPr>
          <p:cNvPr id="574" name="Ostrom Card 1"/>
          <p:cNvSpPr/>
          <p:nvPr/>
        </p:nvSpPr>
        <p:spPr>
          <a:xfrm>
            <a:off x="2834640" y="5239512"/>
            <a:ext cx="1660550" cy="905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B5472F"/>
            </a:solidFill>
          </a:ln>
        </p:spPr>
      </p:sp>
      <p:sp>
        <p:nvSpPr>
          <p:cNvPr id="575" name="Ostrom Text 1"/>
          <p:cNvSpPr txBox="1"/>
          <p:nvPr/>
        </p:nvSpPr>
        <p:spPr>
          <a:xfrm>
            <a:off x="2834640" y="5239512"/>
            <a:ext cx="1660550" cy="905256"/>
          </a:xfrm>
          <a:prstGeom prst="rect">
            <a:avLst/>
          </a:prstGeom>
          <a:noFill/>
          <a:ln/>
        </p:spPr>
        <p:txBody>
          <a:bodyPr wrap="square" lIns="73152" tIns="0" rIns="73152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5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境界が明確</a:t>
            </a:r>
          </a:p>
          <a:p>
            <a:pPr indent="0" marL="0">
              <a:lnSpc>
                <a:spcPct val="115000"/>
              </a:lnSpc>
              <a:spcBef>
                <a:spcPts val="150"/>
              </a:spcBef>
              <a:buNone/>
            </a:pPr>
            <a:r>
              <a:rPr lang="ja-JP" altLang="en-US" sz="85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範囲と利用者が決まっている</a:t>
            </a:r>
          </a:p>
          <a:p>
            <a:pPr indent="0" marL="0">
              <a:lnSpc>
                <a:spcPct val="115000"/>
              </a:lnSpc>
              <a:spcBef>
                <a:spcPts val="250"/>
              </a:spcBef>
              <a:buNone/>
            </a:pPr>
            <a:r>
              <a:rPr lang="ja-JP" altLang="en-US" sz="850" b="1" dirty="0">
                <a:solidFill>
                  <a:srgbClr val="1F7A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提案：共通層を定め、IT部門がオーナーに</a:t>
            </a:r>
          </a:p>
        </p:txBody>
      </p:sp>
      <p:sp>
        <p:nvSpPr>
          <p:cNvPr id="576" name="Ostrom Card 2"/>
          <p:cNvSpPr/>
          <p:nvPr/>
        </p:nvSpPr>
        <p:spPr>
          <a:xfrm>
            <a:off x="4586630" y="5239512"/>
            <a:ext cx="1660550" cy="905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577" name="Ostrom Text 2"/>
          <p:cNvSpPr txBox="1"/>
          <p:nvPr/>
        </p:nvSpPr>
        <p:spPr>
          <a:xfrm>
            <a:off x="4586630" y="5239512"/>
            <a:ext cx="1660550" cy="905256"/>
          </a:xfrm>
          <a:prstGeom prst="rect">
            <a:avLst/>
          </a:prstGeom>
          <a:noFill/>
          <a:ln/>
        </p:spPr>
        <p:txBody>
          <a:bodyPr wrap="square" lIns="73152" tIns="0" rIns="73152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5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条件に合うルール</a:t>
            </a:r>
          </a:p>
          <a:p>
            <a:pPr indent="0" marL="0">
              <a:lnSpc>
                <a:spcPct val="115000"/>
              </a:lnSpc>
              <a:spcBef>
                <a:spcPts val="150"/>
              </a:spcBef>
              <a:buNone/>
            </a:pPr>
            <a:r>
              <a:rPr lang="ja-JP" altLang="en-US" sz="85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画一でなく、現場に合う</a:t>
            </a:r>
          </a:p>
          <a:p>
            <a:pPr indent="0" marL="0">
              <a:lnSpc>
                <a:spcPct val="115000"/>
              </a:lnSpc>
              <a:spcBef>
                <a:spcPts val="250"/>
              </a:spcBef>
              <a:buNone/>
            </a:pPr>
            <a:r>
              <a:rPr lang="ja-JP" altLang="en-US" sz="850" b="1" dirty="0">
                <a:solidFill>
                  <a:srgbClr val="1F7A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提案：2問判定から始め、段階的に育てる</a:t>
            </a:r>
          </a:p>
        </p:txBody>
      </p:sp>
      <p:sp>
        <p:nvSpPr>
          <p:cNvPr id="578" name="Ostrom Card 3"/>
          <p:cNvSpPr/>
          <p:nvPr/>
        </p:nvSpPr>
        <p:spPr>
          <a:xfrm>
            <a:off x="6338620" y="5239512"/>
            <a:ext cx="1660550" cy="905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579" name="Ostrom Text 3"/>
          <p:cNvSpPr txBox="1"/>
          <p:nvPr/>
        </p:nvSpPr>
        <p:spPr>
          <a:xfrm>
            <a:off x="6338620" y="5239512"/>
            <a:ext cx="1660550" cy="905256"/>
          </a:xfrm>
          <a:prstGeom prst="rect">
            <a:avLst/>
          </a:prstGeom>
          <a:noFill/>
          <a:ln/>
        </p:spPr>
        <p:txBody>
          <a:bodyPr wrap="square" lIns="73152" tIns="0" rIns="73152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5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当事者が参加</a:t>
            </a:r>
          </a:p>
          <a:p>
            <a:pPr indent="0" marL="0">
              <a:lnSpc>
                <a:spcPct val="115000"/>
              </a:lnSpc>
              <a:spcBef>
                <a:spcPts val="150"/>
              </a:spcBef>
              <a:buNone/>
            </a:pPr>
            <a:r>
              <a:rPr lang="ja-JP" altLang="en-US" sz="85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影響を受ける人が設計に参加</a:t>
            </a:r>
          </a:p>
          <a:p>
            <a:pPr indent="0" marL="0">
              <a:lnSpc>
                <a:spcPct val="115000"/>
              </a:lnSpc>
              <a:spcBef>
                <a:spcPts val="250"/>
              </a:spcBef>
              <a:buNone/>
            </a:pPr>
            <a:r>
              <a:rPr lang="ja-JP" altLang="en-US" sz="850" b="1" dirty="0">
                <a:solidFill>
                  <a:srgbClr val="1F7A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提案：部門は事実を出し、判断を受け取る</a:t>
            </a:r>
          </a:p>
        </p:txBody>
      </p:sp>
      <p:sp>
        <p:nvSpPr>
          <p:cNvPr id="580" name="Ostrom Card 4"/>
          <p:cNvSpPr/>
          <p:nvPr/>
        </p:nvSpPr>
        <p:spPr>
          <a:xfrm>
            <a:off x="8090611" y="5239512"/>
            <a:ext cx="1660550" cy="905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B5472F"/>
            </a:solidFill>
          </a:ln>
        </p:spPr>
      </p:sp>
      <p:sp>
        <p:nvSpPr>
          <p:cNvPr id="581" name="Ostrom Text 4"/>
          <p:cNvSpPr txBox="1"/>
          <p:nvPr/>
        </p:nvSpPr>
        <p:spPr>
          <a:xfrm>
            <a:off x="8090611" y="5239512"/>
            <a:ext cx="1660550" cy="905256"/>
          </a:xfrm>
          <a:prstGeom prst="rect">
            <a:avLst/>
          </a:prstGeom>
          <a:noFill/>
          <a:ln/>
        </p:spPr>
        <p:txBody>
          <a:bodyPr wrap="square" lIns="73152" tIns="0" rIns="73152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5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利用状況が見える</a:t>
            </a:r>
          </a:p>
          <a:p>
            <a:pPr indent="0" marL="0">
              <a:lnSpc>
                <a:spcPct val="115000"/>
              </a:lnSpc>
              <a:spcBef>
                <a:spcPts val="150"/>
              </a:spcBef>
              <a:buNone/>
            </a:pPr>
            <a:r>
              <a:rPr lang="ja-JP" altLang="en-US" sz="85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使われ方が監視され、見える</a:t>
            </a:r>
          </a:p>
          <a:p>
            <a:pPr indent="0" marL="0">
              <a:lnSpc>
                <a:spcPct val="115000"/>
              </a:lnSpc>
              <a:spcBef>
                <a:spcPts val="250"/>
              </a:spcBef>
              <a:buNone/>
            </a:pPr>
            <a:r>
              <a:rPr lang="ja-JP" altLang="en-US" sz="850" b="1" dirty="0">
                <a:solidFill>
                  <a:srgbClr val="1F7A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提案：台帳と利用量の可視化</a:t>
            </a:r>
          </a:p>
        </p:txBody>
      </p:sp>
      <p:sp>
        <p:nvSpPr>
          <p:cNvPr id="582" name="Ostrom Card 5"/>
          <p:cNvSpPr/>
          <p:nvPr/>
        </p:nvSpPr>
        <p:spPr>
          <a:xfrm>
            <a:off x="9842601" y="5239512"/>
            <a:ext cx="1660550" cy="905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B5472F"/>
            </a:solidFill>
          </a:ln>
        </p:spPr>
      </p:sp>
      <p:sp>
        <p:nvSpPr>
          <p:cNvPr id="583" name="Ostrom Text 5"/>
          <p:cNvSpPr txBox="1"/>
          <p:nvPr/>
        </p:nvSpPr>
        <p:spPr>
          <a:xfrm>
            <a:off x="9842601" y="5239512"/>
            <a:ext cx="1660550" cy="905256"/>
          </a:xfrm>
          <a:prstGeom prst="rect">
            <a:avLst/>
          </a:prstGeom>
          <a:noFill/>
          <a:ln/>
        </p:spPr>
        <p:txBody>
          <a:bodyPr wrap="square" lIns="73152" tIns="0" rIns="73152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5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入れ子の統治</a:t>
            </a:r>
          </a:p>
          <a:p>
            <a:pPr indent="0" marL="0">
              <a:lnSpc>
                <a:spcPct val="115000"/>
              </a:lnSpc>
              <a:spcBef>
                <a:spcPts val="150"/>
              </a:spcBef>
              <a:buNone/>
            </a:pPr>
            <a:r>
              <a:rPr lang="ja-JP" altLang="en-US" sz="85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大規模なら、階層で治める</a:t>
            </a:r>
          </a:p>
          <a:p>
            <a:pPr indent="0" marL="0">
              <a:lnSpc>
                <a:spcPct val="115000"/>
              </a:lnSpc>
              <a:spcBef>
                <a:spcPts val="250"/>
              </a:spcBef>
              <a:buNone/>
            </a:pPr>
            <a:r>
              <a:rPr lang="ja-JP" altLang="en-US" sz="850" b="1" dirty="0">
                <a:solidFill>
                  <a:srgbClr val="1F7A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提案：次ページ以降で詳述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入れ子の鍵 ── 何を全社で決めるかを、共通性で仕分ける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 Materiality ｜ IT部門内 認識合わせ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Subtitle"/>
          <p:cNvSpPr txBox="1"/>
          <p:nvPr/>
        </p:nvSpPr>
        <p:spPr>
          <a:xfrm>
            <a:off x="548640" y="118872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3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いまは決裁規定の</a:t>
            </a:r>
            <a:r>
              <a:rPr lang="ja-JP" altLang="en-US" sz="13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金額</a:t>
            </a:r>
            <a:r>
              <a:rPr lang="ja-JP" altLang="en-US" sz="13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で仕分けている。これからは金額に加えて、</a:t>
            </a:r>
            <a:r>
              <a:rPr lang="ja-JP" altLang="en-US" sz="13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共通性</a:t>
            </a:r>
            <a:r>
              <a:rPr lang="ja-JP" altLang="en-US" sz="13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で仕分ける</a:t>
            </a:r>
          </a:p>
        </p:txBody>
      </p:sp>
      <p:sp>
        <p:nvSpPr>
          <p:cNvPr id="36" name="Def Panel"/>
          <p:cNvSpPr/>
          <p:nvPr/>
        </p:nvSpPr>
        <p:spPr>
          <a:xfrm>
            <a:off x="548640" y="1691640"/>
            <a:ext cx="4846320" cy="4526280"/>
          </a:xfrm>
          <a:prstGeom prst="roundRect">
            <a:avLst>
              <a:gd name="adj" fmla="val 4000"/>
            </a:avLst>
          </a:prstGeom>
          <a:solidFill>
            <a:srgbClr val="E6F2EE"/>
          </a:solidFill>
          <a:ln/>
        </p:spPr>
      </p:sp>
      <p:sp>
        <p:nvSpPr>
          <p:cNvPr id="37" name="Def Label"/>
          <p:cNvSpPr txBox="1"/>
          <p:nvPr/>
        </p:nvSpPr>
        <p:spPr>
          <a:xfrm>
            <a:off x="777240" y="18562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300" b="1" dirty="0">
                <a:solidFill>
                  <a:srgbClr val="1F7A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共通性とは</a:t>
            </a:r>
          </a:p>
        </p:txBody>
      </p:sp>
      <p:sp>
        <p:nvSpPr>
          <p:cNvPr id="38" name="Def Body"/>
          <p:cNvSpPr txBox="1"/>
          <p:nvPr/>
        </p:nvSpPr>
        <p:spPr>
          <a:xfrm>
            <a:off x="777240" y="21488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65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投資の効果や費用が、判断した部門と今年の外に、どこまで及ぶか</a:t>
            </a:r>
          </a:p>
        </p:txBody>
      </p:sp>
      <p:sp>
        <p:nvSpPr>
          <p:cNvPr id="39" name="Def Center"/>
          <p:cNvSpPr/>
          <p:nvPr/>
        </p:nvSpPr>
        <p:spPr>
          <a:xfrm>
            <a:off x="777240" y="3017520"/>
            <a:ext cx="14173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B2A38"/>
            </a:solidFill>
          </a:ln>
        </p:spPr>
      </p:sp>
      <p:sp>
        <p:nvSpPr>
          <p:cNvPr id="40" name="Def Center Text"/>
          <p:cNvSpPr txBox="1"/>
          <p:nvPr/>
        </p:nvSpPr>
        <p:spPr>
          <a:xfrm>
            <a:off x="777240" y="3017520"/>
            <a:ext cx="1417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125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判断した</a:t>
            </a:r>
          </a:p>
          <a:p>
            <a:pPr algn="ctr" indent="0" marL="0">
              <a:lnSpc>
                <a:spcPct val="115000"/>
              </a:lnSpc>
              <a:buNone/>
            </a:pPr>
            <a:r>
              <a:rPr lang="ja-JP" altLang="en-US" sz="125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部門・今年</a:t>
            </a:r>
          </a:p>
          <a:p>
            <a:pPr algn="ctr" indent="0" marL="0">
              <a:lnSpc>
                <a:spcPct val="115000"/>
              </a:lnSpc>
              <a:spcBef>
                <a:spcPts val="500"/>
              </a:spcBef>
              <a:buNone/>
            </a:pPr>
            <a:r>
              <a:rPr lang="ja-JP" altLang="en-US" sz="850" b="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ここまでは部門の</a:t>
            </a:r>
          </a:p>
          <a:p>
            <a:pPr algn="ctr" indent="0" marL="0">
              <a:lnSpc>
                <a:spcPct val="115000"/>
              </a:lnSpc>
              <a:buNone/>
            </a:pPr>
            <a:r>
              <a:rPr lang="ja-JP" altLang="en-US" sz="850" b="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損得に入る</a:t>
            </a:r>
          </a:p>
        </p:txBody>
      </p:sp>
      <p:sp>
        <p:nvSpPr>
          <p:cNvPr id="41" name="Def Arrow 0"/>
          <p:cNvSpPr/>
          <p:nvPr/>
        </p:nvSpPr>
        <p:spPr>
          <a:xfrm>
            <a:off x="2267712" y="3278124"/>
            <a:ext cx="274320" cy="256032"/>
          </a:xfrm>
          <a:prstGeom prst="rightArrow">
            <a:avLst/>
          </a:prstGeom>
          <a:solidFill>
            <a:srgbClr val="66717C"/>
          </a:solidFill>
          <a:ln/>
        </p:spPr>
      </p:sp>
      <p:sp>
        <p:nvSpPr>
          <p:cNvPr id="42" name="Def Card 0"/>
          <p:cNvSpPr/>
          <p:nvPr/>
        </p:nvSpPr>
        <p:spPr>
          <a:xfrm>
            <a:off x="2606040" y="3017520"/>
            <a:ext cx="25603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43" name="Def Card Text 0"/>
          <p:cNvSpPr txBox="1"/>
          <p:nvPr/>
        </p:nvSpPr>
        <p:spPr>
          <a:xfrm>
            <a:off x="2606040" y="3017520"/>
            <a:ext cx="2560320" cy="777240"/>
          </a:xfrm>
          <a:prstGeom prst="rect">
            <a:avLst/>
          </a:prstGeom>
          <a:noFill/>
          <a:ln/>
        </p:spPr>
        <p:txBody>
          <a:bodyPr wrap="square" lIns="109728" tIns="0" rIns="109728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200" b="0" dirty="0">
                <a:solidFill>
                  <a:srgbClr val="1F7A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他部門へ及ぶ ＝ </a:t>
            </a:r>
            <a:r>
              <a:rPr lang="ja-JP" altLang="en-US" sz="1200" b="1" dirty="0">
                <a:solidFill>
                  <a:srgbClr val="1F7A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基盤性</a:t>
            </a:r>
          </a:p>
          <a:p>
            <a:pPr indent="0" marL="0">
              <a:lnSpc>
                <a:spcPct val="115000"/>
              </a:lnSpc>
              <a:spcBef>
                <a:spcPts val="150"/>
              </a:spcBef>
              <a:buNone/>
            </a:pPr>
            <a:r>
              <a:rPr lang="ja-JP" altLang="en-US" sz="105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今やらないと、他の何かが困るか</a:t>
            </a:r>
          </a:p>
          <a:p>
            <a:pPr indent="0" marL="0">
              <a:lnSpc>
                <a:spcPct val="115000"/>
              </a:lnSpc>
              <a:spcBef>
                <a:spcPts val="150"/>
              </a:spcBef>
              <a:buNone/>
            </a:pPr>
            <a:r>
              <a:rPr lang="ja-JP" altLang="en-US" sz="900" b="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変化への柔軟性を守る</a:t>
            </a:r>
          </a:p>
        </p:txBody>
      </p:sp>
      <p:sp>
        <p:nvSpPr>
          <p:cNvPr id="44" name="Def Arrow 1"/>
          <p:cNvSpPr/>
          <p:nvPr/>
        </p:nvSpPr>
        <p:spPr>
          <a:xfrm>
            <a:off x="2267712" y="4192524"/>
            <a:ext cx="274320" cy="256032"/>
          </a:xfrm>
          <a:prstGeom prst="rightArrow">
            <a:avLst/>
          </a:prstGeom>
          <a:solidFill>
            <a:srgbClr val="66717C"/>
          </a:solidFill>
          <a:ln/>
        </p:spPr>
      </p:sp>
      <p:sp>
        <p:nvSpPr>
          <p:cNvPr id="45" name="Def Card 1"/>
          <p:cNvSpPr/>
          <p:nvPr/>
        </p:nvSpPr>
        <p:spPr>
          <a:xfrm>
            <a:off x="2606040" y="3931920"/>
            <a:ext cx="25603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46" name="Def Card Text 1"/>
          <p:cNvSpPr txBox="1"/>
          <p:nvPr/>
        </p:nvSpPr>
        <p:spPr>
          <a:xfrm>
            <a:off x="2606040" y="3931920"/>
            <a:ext cx="2560320" cy="777240"/>
          </a:xfrm>
          <a:prstGeom prst="rect">
            <a:avLst/>
          </a:prstGeom>
          <a:noFill/>
          <a:ln/>
        </p:spPr>
        <p:txBody>
          <a:bodyPr wrap="square" lIns="109728" tIns="0" rIns="109728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200" b="0" dirty="0">
                <a:solidFill>
                  <a:srgbClr val="1F7A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将来へ及ぶ ＝ </a:t>
            </a:r>
            <a:r>
              <a:rPr lang="ja-JP" altLang="en-US" sz="1200" b="1" dirty="0">
                <a:solidFill>
                  <a:srgbClr val="1F7A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負債</a:t>
            </a:r>
          </a:p>
          <a:p>
            <a:pPr indent="0" marL="0">
              <a:lnSpc>
                <a:spcPct val="115000"/>
              </a:lnSpc>
              <a:spcBef>
                <a:spcPts val="150"/>
              </a:spcBef>
              <a:buNone/>
            </a:pPr>
            <a:r>
              <a:rPr lang="ja-JP" altLang="en-US" sz="105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今やらないと、将来の費用が増えるか</a:t>
            </a:r>
          </a:p>
          <a:p>
            <a:pPr indent="0" marL="0">
              <a:lnSpc>
                <a:spcPct val="115000"/>
              </a:lnSpc>
              <a:spcBef>
                <a:spcPts val="150"/>
              </a:spcBef>
              <a:buNone/>
            </a:pPr>
            <a:r>
              <a:rPr lang="ja-JP" altLang="en-US" sz="900" b="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隠れた技術負債を見つける</a:t>
            </a:r>
          </a:p>
        </p:txBody>
      </p:sp>
      <p:sp>
        <p:nvSpPr>
          <p:cNvPr id="47" name="Def Not"/>
          <p:cNvSpPr txBox="1"/>
          <p:nvPr/>
        </p:nvSpPr>
        <p:spPr>
          <a:xfrm>
            <a:off x="777240" y="4937760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100" b="1" dirty="0">
                <a:solidFill>
                  <a:srgbClr val="B547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ではないもの</a:t>
            </a:r>
          </a:p>
          <a:p>
            <a:pPr indent="0" marL="0">
              <a:lnSpc>
                <a:spcPct val="115000"/>
              </a:lnSpc>
              <a:spcBef>
                <a:spcPts val="400"/>
              </a:spcBef>
              <a:buNone/>
            </a:pPr>
            <a:r>
              <a:rPr lang="ja-JP" altLang="en-US" sz="105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 金額の大きさ</a:t>
            </a:r>
            <a:r>
              <a:rPr lang="ja-JP" altLang="en-US" sz="105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小さな案件でも、共通性が高いことがある</a:t>
            </a:r>
          </a:p>
          <a:p>
            <a:pPr indent="0" marL="0">
              <a:lnSpc>
                <a:spcPct val="115000"/>
              </a:lnSpc>
              <a:spcBef>
                <a:spcPts val="300"/>
              </a:spcBef>
              <a:buNone/>
            </a:pPr>
            <a:r>
              <a:rPr lang="ja-JP" altLang="en-US" sz="105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 使う部門の数だけ</a:t>
            </a:r>
            <a:r>
              <a:rPr lang="ja-JP" altLang="en-US" sz="105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将来へ及ぶ費用（負債）も含む</a:t>
            </a:r>
          </a:p>
        </p:txBody>
      </p:sp>
      <p:sp>
        <p:nvSpPr>
          <p:cNvPr id="48" name="Mx Panel"/>
          <p:cNvSpPr/>
          <p:nvPr/>
        </p:nvSpPr>
        <p:spPr>
          <a:xfrm>
            <a:off x="5623560" y="1691640"/>
            <a:ext cx="6016752" cy="4526280"/>
          </a:xfrm>
          <a:prstGeom prst="roundRect">
            <a:avLst>
              <a:gd name="adj" fmla="val 4000"/>
            </a:avLst>
          </a:prstGeom>
          <a:solidFill>
            <a:srgbClr val="F2F4F6"/>
          </a:solidFill>
          <a:ln/>
        </p:spPr>
      </p:sp>
      <p:sp>
        <p:nvSpPr>
          <p:cNvPr id="49" name="Mx Label"/>
          <p:cNvSpPr txBox="1"/>
          <p:nvPr/>
        </p:nvSpPr>
        <p:spPr>
          <a:xfrm>
            <a:off x="5852160" y="1856232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300" b="1" dirty="0">
                <a:solidFill>
                  <a:srgbClr val="1F7A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金額と共通性で見ると</a:t>
            </a:r>
          </a:p>
        </p:txBody>
      </p:sp>
      <p:sp>
        <p:nvSpPr>
          <p:cNvPr id="50" name="Mx Cell 00"/>
          <p:cNvSpPr/>
          <p:nvPr/>
        </p:nvSpPr>
        <p:spPr>
          <a:xfrm>
            <a:off x="6190488" y="2240280"/>
            <a:ext cx="257860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51" name="Mx Cell Text 00"/>
          <p:cNvSpPr txBox="1"/>
          <p:nvPr/>
        </p:nvSpPr>
        <p:spPr>
          <a:xfrm>
            <a:off x="6190488" y="2240280"/>
            <a:ext cx="2578608" cy="1691640"/>
          </a:xfrm>
          <a:prstGeom prst="rect">
            <a:avLst/>
          </a:prstGeom>
          <a:noFill/>
          <a:ln/>
        </p:spPr>
        <p:txBody>
          <a:bodyPr wrap="square" lIns="109728" tIns="0" rIns="109728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15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部門で完結する大型案件</a:t>
            </a:r>
          </a:p>
          <a:p>
            <a:pPr indent="0" marL="0">
              <a:lnSpc>
                <a:spcPct val="115000"/>
              </a:lnSpc>
              <a:spcBef>
                <a:spcPts val="250"/>
              </a:spcBef>
              <a:buNone/>
            </a:pPr>
            <a:r>
              <a:rPr lang="ja-JP" altLang="en-US" sz="95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例：他と連携しない、部門専用の業務システム</a:t>
            </a:r>
          </a:p>
          <a:p>
            <a:pPr indent="0" marL="0">
              <a:lnSpc>
                <a:spcPct val="115000"/>
              </a:lnSpc>
              <a:spcBef>
                <a:spcPts val="300"/>
              </a:spcBef>
              <a:buNone/>
            </a:pPr>
            <a:r>
              <a:rPr lang="ja-JP" altLang="en-US" sz="950" b="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いま：審議に上がる</a:t>
            </a:r>
          </a:p>
          <a:p>
            <a:pPr indent="0" marL="0">
              <a:lnSpc>
                <a:spcPct val="115000"/>
              </a:lnSpc>
              <a:spcBef>
                <a:spcPts val="50"/>
              </a:spcBef>
              <a:buNone/>
            </a:pPr>
            <a:r>
              <a:rPr lang="ja-JP" altLang="en-US" sz="950" b="0" dirty="0">
                <a:solidFill>
                  <a:srgbClr val="1F7A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これから：共通性の論点は少ない</a:t>
            </a:r>
          </a:p>
        </p:txBody>
      </p:sp>
      <p:sp>
        <p:nvSpPr>
          <p:cNvPr id="52" name="Mx Cell 01"/>
          <p:cNvSpPr/>
          <p:nvPr/>
        </p:nvSpPr>
        <p:spPr>
          <a:xfrm>
            <a:off x="8860536" y="2240280"/>
            <a:ext cx="2578608" cy="16916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22225">
            <a:solidFill>
              <a:srgbClr val="2F6FA8"/>
            </a:solidFill>
          </a:ln>
        </p:spPr>
      </p:sp>
      <p:sp>
        <p:nvSpPr>
          <p:cNvPr id="53" name="Mx Cell Text 01"/>
          <p:cNvSpPr txBox="1"/>
          <p:nvPr/>
        </p:nvSpPr>
        <p:spPr>
          <a:xfrm>
            <a:off x="8860536" y="2240280"/>
            <a:ext cx="2578608" cy="1691640"/>
          </a:xfrm>
          <a:prstGeom prst="rect">
            <a:avLst/>
          </a:prstGeom>
          <a:noFill/>
          <a:ln/>
        </p:spPr>
        <p:txBody>
          <a:bodyPr wrap="square" lIns="109728" tIns="0" rIns="109728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150" b="1" dirty="0">
                <a:solidFill>
                  <a:srgbClr val="2F6F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全社に及ぶ大型案件</a:t>
            </a:r>
          </a:p>
          <a:p>
            <a:pPr indent="0" marL="0">
              <a:lnSpc>
                <a:spcPct val="115000"/>
              </a:lnSpc>
              <a:spcBef>
                <a:spcPts val="250"/>
              </a:spcBef>
              <a:buNone/>
            </a:pPr>
            <a:r>
              <a:rPr lang="ja-JP" altLang="en-US" sz="95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例：基幹システムや全社データ基盤の刷新</a:t>
            </a:r>
          </a:p>
          <a:p>
            <a:pPr indent="0" marL="0">
              <a:lnSpc>
                <a:spcPct val="115000"/>
              </a:lnSpc>
              <a:spcBef>
                <a:spcPts val="300"/>
              </a:spcBef>
              <a:buNone/>
            </a:pPr>
            <a:r>
              <a:rPr lang="ja-JP" altLang="en-US" sz="950" b="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いま：上がるが追認になりがち</a:t>
            </a:r>
          </a:p>
          <a:p>
            <a:pPr indent="0" marL="0">
              <a:lnSpc>
                <a:spcPct val="115000"/>
              </a:lnSpc>
              <a:spcBef>
                <a:spcPts val="50"/>
              </a:spcBef>
              <a:buNone/>
            </a:pPr>
            <a:r>
              <a:rPr lang="ja-JP" altLang="en-US" sz="950" b="0" dirty="0">
                <a:solidFill>
                  <a:srgbClr val="2F6F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これから：共通性の物差しで審議</a:t>
            </a:r>
          </a:p>
        </p:txBody>
      </p:sp>
      <p:sp>
        <p:nvSpPr>
          <p:cNvPr id="54" name="Mx Cell 10"/>
          <p:cNvSpPr/>
          <p:nvPr/>
        </p:nvSpPr>
        <p:spPr>
          <a:xfrm>
            <a:off x="6190488" y="4023360"/>
            <a:ext cx="257860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55" name="Mx Cell Text 10"/>
          <p:cNvSpPr txBox="1"/>
          <p:nvPr/>
        </p:nvSpPr>
        <p:spPr>
          <a:xfrm>
            <a:off x="6190488" y="4023360"/>
            <a:ext cx="2578608" cy="1691640"/>
          </a:xfrm>
          <a:prstGeom prst="rect">
            <a:avLst/>
          </a:prstGeom>
          <a:noFill/>
          <a:ln/>
        </p:spPr>
        <p:txBody>
          <a:bodyPr wrap="square" lIns="109728" tIns="0" rIns="109728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15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部門の小さな改善</a:t>
            </a:r>
          </a:p>
          <a:p>
            <a:pPr indent="0" marL="0">
              <a:lnSpc>
                <a:spcPct val="115000"/>
              </a:lnSpc>
              <a:spcBef>
                <a:spcPts val="250"/>
              </a:spcBef>
              <a:buNone/>
            </a:pPr>
            <a:r>
              <a:rPr lang="ja-JP" altLang="en-US" sz="95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例：部門内のツール導入、小規模なPoC</a:t>
            </a:r>
          </a:p>
          <a:p>
            <a:pPr indent="0" marL="0">
              <a:lnSpc>
                <a:spcPct val="115000"/>
              </a:lnSpc>
              <a:spcBef>
                <a:spcPts val="300"/>
              </a:spcBef>
              <a:buNone/>
            </a:pPr>
            <a:r>
              <a:rPr lang="ja-JP" altLang="en-US" sz="950" b="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いまも、これからも：部門で決める</a:t>
            </a:r>
          </a:p>
        </p:txBody>
      </p:sp>
      <p:sp>
        <p:nvSpPr>
          <p:cNvPr id="56" name="Mx Cell 11"/>
          <p:cNvSpPr/>
          <p:nvPr/>
        </p:nvSpPr>
        <p:spPr>
          <a:xfrm>
            <a:off x="8860536" y="4023360"/>
            <a:ext cx="2578608" cy="1691640"/>
          </a:xfrm>
          <a:prstGeom prst="roundRect">
            <a:avLst>
              <a:gd name="adj" fmla="val 8000"/>
            </a:avLst>
          </a:prstGeom>
          <a:solidFill>
            <a:srgbClr val="FBEDEA"/>
          </a:solidFill>
          <a:ln w="22225">
            <a:solidFill>
              <a:srgbClr val="B5472F"/>
            </a:solidFill>
          </a:ln>
        </p:spPr>
      </p:sp>
      <p:sp>
        <p:nvSpPr>
          <p:cNvPr id="57" name="Mx Cell Text 11"/>
          <p:cNvSpPr txBox="1"/>
          <p:nvPr/>
        </p:nvSpPr>
        <p:spPr>
          <a:xfrm>
            <a:off x="8860536" y="4023360"/>
            <a:ext cx="2578608" cy="1691640"/>
          </a:xfrm>
          <a:prstGeom prst="rect">
            <a:avLst/>
          </a:prstGeom>
          <a:noFill/>
          <a:ln/>
        </p:spPr>
        <p:txBody>
          <a:bodyPr wrap="square" lIns="109728" tIns="0" rIns="109728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150" b="1" dirty="0">
                <a:solidFill>
                  <a:srgbClr val="B547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小さいが、全社に及ぶ</a:t>
            </a:r>
          </a:p>
          <a:p>
            <a:pPr indent="0" marL="0">
              <a:lnSpc>
                <a:spcPct val="115000"/>
              </a:lnSpc>
              <a:spcBef>
                <a:spcPts val="250"/>
              </a:spcBef>
              <a:buNone/>
            </a:pPr>
            <a:r>
              <a:rPr lang="ja-JP" altLang="en-US" sz="95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例：既存システムへの個別連携の追加、標準外の実装、EOL延命</a:t>
            </a:r>
          </a:p>
          <a:p>
            <a:pPr indent="0" marL="0">
              <a:lnSpc>
                <a:spcPct val="115000"/>
              </a:lnSpc>
              <a:spcBef>
                <a:spcPts val="300"/>
              </a:spcBef>
              <a:buNone/>
            </a:pPr>
            <a:r>
              <a:rPr lang="ja-JP" altLang="en-US" sz="950" b="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いま：上がってこない</a:t>
            </a:r>
          </a:p>
          <a:p>
            <a:pPr indent="0" marL="0">
              <a:lnSpc>
                <a:spcPct val="115000"/>
              </a:lnSpc>
              <a:spcBef>
                <a:spcPts val="50"/>
              </a:spcBef>
              <a:buNone/>
            </a:pPr>
            <a:r>
              <a:rPr lang="ja-JP" altLang="en-US" sz="950" b="0" dirty="0">
                <a:solidFill>
                  <a:srgbClr val="B547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これから：全社で判断</a:t>
            </a:r>
          </a:p>
        </p:txBody>
      </p:sp>
      <p:sp>
        <p:nvSpPr>
          <p:cNvPr id="58" name="Mx Y Top"/>
          <p:cNvSpPr txBox="1"/>
          <p:nvPr/>
        </p:nvSpPr>
        <p:spPr>
          <a:xfrm>
            <a:off x="5788152" y="22402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1000" b="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</a:t>
            </a:r>
          </a:p>
        </p:txBody>
      </p:sp>
      <p:sp>
        <p:nvSpPr>
          <p:cNvPr id="59" name="Mx Y Mid"/>
          <p:cNvSpPr txBox="1"/>
          <p:nvPr/>
        </p:nvSpPr>
        <p:spPr>
          <a:xfrm>
            <a:off x="5788152" y="370332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1000" b="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金</a:t>
            </a:r>
          </a:p>
          <a:p>
            <a:pPr algn="ctr" indent="0" marL="0">
              <a:lnSpc>
                <a:spcPct val="115000"/>
              </a:lnSpc>
              <a:buNone/>
            </a:pPr>
            <a:r>
              <a:rPr lang="ja-JP" altLang="en-US" sz="1000" b="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額</a:t>
            </a:r>
          </a:p>
        </p:txBody>
      </p:sp>
      <p:sp>
        <p:nvSpPr>
          <p:cNvPr id="60" name="Mx Y Bot"/>
          <p:cNvSpPr txBox="1"/>
          <p:nvPr/>
        </p:nvSpPr>
        <p:spPr>
          <a:xfrm>
            <a:off x="5788152" y="54406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1000" b="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</a:t>
            </a:r>
          </a:p>
        </p:txBody>
      </p:sp>
      <p:sp>
        <p:nvSpPr>
          <p:cNvPr id="61" name="Mx XAxis"/>
          <p:cNvSpPr txBox="1"/>
          <p:nvPr/>
        </p:nvSpPr>
        <p:spPr>
          <a:xfrm>
            <a:off x="6190488" y="5769864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1000" b="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　←　</a:t>
            </a:r>
            <a:r>
              <a:rPr lang="ja-JP" altLang="en-US" sz="1000" b="1" dirty="0">
                <a:solidFill>
                  <a:srgbClr val="1F7A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共通性</a:t>
            </a:r>
            <a:r>
              <a:rPr lang="ja-JP" altLang="en-US" sz="1000" b="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→　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共通性の中身 ── 事実を集め、IT部門が要素ごとに見る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 Materiality ｜ IT部門内 認識合わせ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  <p:sp>
        <p:nvSpPr>
          <p:cNvPr id="35" name="Subtitle"/>
          <p:cNvSpPr txBox="1"/>
          <p:nvPr/>
        </p:nvSpPr>
        <p:spPr>
          <a:xfrm>
            <a:off x="548640" y="118872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3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申請者に「基盤性は問題ないですか？」とは聞かない。聞くのは</a:t>
            </a:r>
            <a:r>
              <a:rPr lang="ja-JP" altLang="en-US" sz="13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事実</a:t>
            </a:r>
            <a:r>
              <a:rPr lang="ja-JP" altLang="en-US" sz="13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だけ。事実を要素に分けて評価するのは</a:t>
            </a:r>
            <a:r>
              <a:rPr lang="ja-JP" altLang="en-US" sz="13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IT部門</a:t>
            </a:r>
          </a:p>
        </p:txBody>
      </p:sp>
      <p:sp>
        <p:nvSpPr>
          <p:cNvPr id="36" name="Hdr 1"/>
          <p:cNvSpPr/>
          <p:nvPr/>
        </p:nvSpPr>
        <p:spPr>
          <a:xfrm>
            <a:off x="1783080" y="1664208"/>
            <a:ext cx="1600200" cy="292608"/>
          </a:xfrm>
          <a:prstGeom prst="rect">
            <a:avLst/>
          </a:prstGeom>
          <a:solidFill>
            <a:srgbClr val="1B2A38"/>
          </a:solidFill>
          <a:ln/>
        </p:spPr>
      </p:sp>
      <p:sp>
        <p:nvSpPr>
          <p:cNvPr id="37" name="Hdr Text 1"/>
          <p:cNvSpPr txBox="1"/>
          <p:nvPr/>
        </p:nvSpPr>
        <p:spPr>
          <a:xfrm>
            <a:off x="1783080" y="1664208"/>
            <a:ext cx="1600200" cy="292608"/>
          </a:xfrm>
          <a:prstGeom prst="rect">
            <a:avLst/>
          </a:prstGeom>
          <a:noFill/>
          <a:ln/>
        </p:spPr>
        <p:txBody>
          <a:bodyPr wrap="square" lIns="109728" tIns="0" rIns="109728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構成要素</a:t>
            </a:r>
          </a:p>
        </p:txBody>
      </p:sp>
      <p:sp>
        <p:nvSpPr>
          <p:cNvPr id="38" name="Hdr 2"/>
          <p:cNvSpPr/>
          <p:nvPr/>
        </p:nvSpPr>
        <p:spPr>
          <a:xfrm>
            <a:off x="3429000" y="1664208"/>
            <a:ext cx="3520440" cy="292608"/>
          </a:xfrm>
          <a:prstGeom prst="rect">
            <a:avLst/>
          </a:prstGeom>
          <a:solidFill>
            <a:srgbClr val="1B2A38"/>
          </a:solidFill>
          <a:ln/>
        </p:spPr>
      </p:sp>
      <p:sp>
        <p:nvSpPr>
          <p:cNvPr id="39" name="Hdr Text 2"/>
          <p:cNvSpPr txBox="1"/>
          <p:nvPr/>
        </p:nvSpPr>
        <p:spPr>
          <a:xfrm>
            <a:off x="3429000" y="1664208"/>
            <a:ext cx="3520440" cy="292608"/>
          </a:xfrm>
          <a:prstGeom prst="rect">
            <a:avLst/>
          </a:prstGeom>
          <a:noFill/>
          <a:ln/>
        </p:spPr>
        <p:txBody>
          <a:bodyPr wrap="square" lIns="109728" tIns="0" rIns="109728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申請者に聞く事実</a:t>
            </a:r>
          </a:p>
        </p:txBody>
      </p:sp>
      <p:sp>
        <p:nvSpPr>
          <p:cNvPr id="40" name="Hdr 3"/>
          <p:cNvSpPr/>
          <p:nvPr/>
        </p:nvSpPr>
        <p:spPr>
          <a:xfrm>
            <a:off x="6995160" y="1664208"/>
            <a:ext cx="4645152" cy="292608"/>
          </a:xfrm>
          <a:prstGeom prst="rect">
            <a:avLst/>
          </a:prstGeom>
          <a:solidFill>
            <a:srgbClr val="1B2A38"/>
          </a:solidFill>
          <a:ln/>
        </p:spPr>
      </p:sp>
      <p:sp>
        <p:nvSpPr>
          <p:cNvPr id="41" name="Hdr Text 3"/>
          <p:cNvSpPr txBox="1"/>
          <p:nvPr/>
        </p:nvSpPr>
        <p:spPr>
          <a:xfrm>
            <a:off x="6995160" y="1664208"/>
            <a:ext cx="4645152" cy="292608"/>
          </a:xfrm>
          <a:prstGeom prst="rect">
            <a:avLst/>
          </a:prstGeom>
          <a:noFill/>
          <a:ln/>
        </p:spPr>
        <p:txBody>
          <a:bodyPr wrap="square" lIns="109728" tIns="0" rIns="109728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IT部門が見ること</a:t>
            </a:r>
          </a:p>
        </p:txBody>
      </p:sp>
      <p:sp>
        <p:nvSpPr>
          <p:cNvPr id="42" name="Grp 0"/>
          <p:cNvSpPr/>
          <p:nvPr/>
        </p:nvSpPr>
        <p:spPr>
          <a:xfrm>
            <a:off x="548640" y="2029968"/>
            <a:ext cx="1188720" cy="1444752"/>
          </a:xfrm>
          <a:prstGeom prst="rect">
            <a:avLst/>
          </a:prstGeom>
          <a:solidFill>
            <a:srgbClr val="1F7A68"/>
          </a:solidFill>
          <a:ln/>
        </p:spPr>
      </p:sp>
      <p:sp>
        <p:nvSpPr>
          <p:cNvPr id="43" name="Grp Text 0"/>
          <p:cNvSpPr txBox="1"/>
          <p:nvPr/>
        </p:nvSpPr>
        <p:spPr>
          <a:xfrm>
            <a:off x="548640" y="2029968"/>
            <a:ext cx="11887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基盤性</a:t>
            </a:r>
          </a:p>
          <a:p>
            <a:pPr algn="ctr" indent="0" marL="0">
              <a:lnSpc>
                <a:spcPct val="115000"/>
              </a:lnSpc>
              <a:spcBef>
                <a:spcPts val="200"/>
              </a:spcBef>
              <a:buNone/>
            </a:pPr>
            <a:r>
              <a:rPr lang="ja-JP" altLang="en-US" sz="950" b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他部門へ及ぶ</a:t>
            </a:r>
          </a:p>
        </p:txBody>
      </p:sp>
      <p:sp>
        <p:nvSpPr>
          <p:cNvPr id="44" name="Cell 001"/>
          <p:cNvSpPr/>
          <p:nvPr/>
        </p:nvSpPr>
        <p:spPr>
          <a:xfrm>
            <a:off x="1783080" y="2029968"/>
            <a:ext cx="1600200" cy="457200"/>
          </a:xfrm>
          <a:prstGeom prst="rect">
            <a:avLst/>
          </a:prstGeom>
          <a:solidFill>
            <a:srgbClr val="E6F2EE"/>
          </a:solidFill>
          <a:ln/>
        </p:spPr>
      </p:sp>
      <p:sp>
        <p:nvSpPr>
          <p:cNvPr id="45" name="Cell Text 001"/>
          <p:cNvSpPr txBox="1"/>
          <p:nvPr/>
        </p:nvSpPr>
        <p:spPr>
          <a:xfrm>
            <a:off x="1783080" y="2029968"/>
            <a:ext cx="1600200" cy="4572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150" b="1" dirty="0">
                <a:solidFill>
                  <a:srgbClr val="1F7A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受益範囲</a:t>
            </a:r>
          </a:p>
        </p:txBody>
      </p:sp>
      <p:sp>
        <p:nvSpPr>
          <p:cNvPr id="46" name="Cell 002"/>
          <p:cNvSpPr/>
          <p:nvPr/>
        </p:nvSpPr>
        <p:spPr>
          <a:xfrm>
            <a:off x="3429000" y="2029968"/>
            <a:ext cx="3520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F"/>
            </a:solidFill>
          </a:ln>
        </p:spPr>
      </p:sp>
      <p:sp>
        <p:nvSpPr>
          <p:cNvPr id="47" name="Cell Text 002"/>
          <p:cNvSpPr txBox="1"/>
          <p:nvPr/>
        </p:nvSpPr>
        <p:spPr>
          <a:xfrm>
            <a:off x="3429000" y="2029968"/>
            <a:ext cx="3520440" cy="4572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0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利用部門・利用者数・対象業務</a:t>
            </a:r>
          </a:p>
        </p:txBody>
      </p:sp>
      <p:sp>
        <p:nvSpPr>
          <p:cNvPr id="48" name="Cell 003"/>
          <p:cNvSpPr/>
          <p:nvPr/>
        </p:nvSpPr>
        <p:spPr>
          <a:xfrm>
            <a:off x="6995160" y="2029968"/>
            <a:ext cx="464515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F"/>
            </a:solidFill>
          </a:ln>
        </p:spPr>
      </p:sp>
      <p:sp>
        <p:nvSpPr>
          <p:cNvPr id="49" name="Cell Text 003"/>
          <p:cNvSpPr txBox="1"/>
          <p:nvPr/>
        </p:nvSpPr>
        <p:spPr>
          <a:xfrm>
            <a:off x="6995160" y="2029968"/>
            <a:ext cx="4645152" cy="4572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0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受益が、申請した部門の外に広がるか</a:t>
            </a:r>
          </a:p>
        </p:txBody>
      </p:sp>
      <p:sp>
        <p:nvSpPr>
          <p:cNvPr id="50" name="Cell 011"/>
          <p:cNvSpPr/>
          <p:nvPr/>
        </p:nvSpPr>
        <p:spPr>
          <a:xfrm>
            <a:off x="1783080" y="2523744"/>
            <a:ext cx="1600200" cy="457200"/>
          </a:xfrm>
          <a:prstGeom prst="rect">
            <a:avLst/>
          </a:prstGeom>
          <a:solidFill>
            <a:srgbClr val="E6F2EE"/>
          </a:solidFill>
          <a:ln/>
        </p:spPr>
      </p:sp>
      <p:sp>
        <p:nvSpPr>
          <p:cNvPr id="51" name="Cell Text 011"/>
          <p:cNvSpPr txBox="1"/>
          <p:nvPr/>
        </p:nvSpPr>
        <p:spPr>
          <a:xfrm>
            <a:off x="1783080" y="2523744"/>
            <a:ext cx="1600200" cy="4572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150" b="1" dirty="0">
                <a:solidFill>
                  <a:srgbClr val="1F7A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つながり</a:t>
            </a:r>
          </a:p>
        </p:txBody>
      </p:sp>
      <p:sp>
        <p:nvSpPr>
          <p:cNvPr id="52" name="Cell 012"/>
          <p:cNvSpPr/>
          <p:nvPr/>
        </p:nvSpPr>
        <p:spPr>
          <a:xfrm>
            <a:off x="3429000" y="2523744"/>
            <a:ext cx="3520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F"/>
            </a:solidFill>
          </a:ln>
        </p:spPr>
      </p:sp>
      <p:sp>
        <p:nvSpPr>
          <p:cNvPr id="53" name="Cell Text 012"/>
          <p:cNvSpPr txBox="1"/>
          <p:nvPr/>
        </p:nvSpPr>
        <p:spPr>
          <a:xfrm>
            <a:off x="3429000" y="2523744"/>
            <a:ext cx="3520440" cy="4572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0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接続する既存システムと連携方式、扱うデータ（マスタ・全社データ等）</a:t>
            </a:r>
          </a:p>
        </p:txBody>
      </p:sp>
      <p:sp>
        <p:nvSpPr>
          <p:cNvPr id="54" name="Cell 013"/>
          <p:cNvSpPr/>
          <p:nvPr/>
        </p:nvSpPr>
        <p:spPr>
          <a:xfrm>
            <a:off x="6995160" y="2523744"/>
            <a:ext cx="464515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F"/>
            </a:solidFill>
          </a:ln>
        </p:spPr>
      </p:sp>
      <p:sp>
        <p:nvSpPr>
          <p:cNvPr id="55" name="Cell Text 013"/>
          <p:cNvSpPr txBox="1"/>
          <p:nvPr/>
        </p:nvSpPr>
        <p:spPr>
          <a:xfrm>
            <a:off x="6995160" y="2523744"/>
            <a:ext cx="4645152" cy="4572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0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全社のデータや連携の要に触れるか。疎結合を保てるか</a:t>
            </a:r>
          </a:p>
        </p:txBody>
      </p:sp>
      <p:sp>
        <p:nvSpPr>
          <p:cNvPr id="56" name="Cell 021"/>
          <p:cNvSpPr/>
          <p:nvPr/>
        </p:nvSpPr>
        <p:spPr>
          <a:xfrm>
            <a:off x="1783080" y="3017520"/>
            <a:ext cx="1600200" cy="457200"/>
          </a:xfrm>
          <a:prstGeom prst="rect">
            <a:avLst/>
          </a:prstGeom>
          <a:solidFill>
            <a:srgbClr val="E6F2EE"/>
          </a:solidFill>
          <a:ln/>
        </p:spPr>
      </p:sp>
      <p:sp>
        <p:nvSpPr>
          <p:cNvPr id="57" name="Cell Text 021"/>
          <p:cNvSpPr txBox="1"/>
          <p:nvPr/>
        </p:nvSpPr>
        <p:spPr>
          <a:xfrm>
            <a:off x="1783080" y="3017520"/>
            <a:ext cx="1600200" cy="4572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150" b="1" dirty="0">
                <a:solidFill>
                  <a:srgbClr val="1F7A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前提依存</a:t>
            </a:r>
          </a:p>
        </p:txBody>
      </p:sp>
      <p:sp>
        <p:nvSpPr>
          <p:cNvPr id="58" name="Cell 022"/>
          <p:cNvSpPr/>
          <p:nvPr/>
        </p:nvSpPr>
        <p:spPr>
          <a:xfrm>
            <a:off x="3429000" y="3017520"/>
            <a:ext cx="3520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F"/>
            </a:solidFill>
          </a:ln>
        </p:spPr>
      </p:sp>
      <p:sp>
        <p:nvSpPr>
          <p:cNvPr id="59" name="Cell Text 022"/>
          <p:cNvSpPr txBox="1"/>
          <p:nvPr/>
        </p:nvSpPr>
        <p:spPr>
          <a:xfrm>
            <a:off x="3429000" y="3017520"/>
            <a:ext cx="3520440" cy="4572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950" b="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聞かない。IT部門が依存関係の台帳から見る</a:t>
            </a:r>
          </a:p>
        </p:txBody>
      </p:sp>
      <p:sp>
        <p:nvSpPr>
          <p:cNvPr id="60" name="Cell 023"/>
          <p:cNvSpPr/>
          <p:nvPr/>
        </p:nvSpPr>
        <p:spPr>
          <a:xfrm>
            <a:off x="6995160" y="3017520"/>
            <a:ext cx="464515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F"/>
            </a:solidFill>
          </a:ln>
        </p:spPr>
      </p:sp>
      <p:sp>
        <p:nvSpPr>
          <p:cNvPr id="61" name="Cell Text 023"/>
          <p:cNvSpPr txBox="1"/>
          <p:nvPr/>
        </p:nvSpPr>
        <p:spPr>
          <a:xfrm>
            <a:off x="6995160" y="3017520"/>
            <a:ext cx="4645152" cy="4572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0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この投資を前提にしている、他の計画やシステムがあるか</a:t>
            </a:r>
          </a:p>
        </p:txBody>
      </p:sp>
      <p:sp>
        <p:nvSpPr>
          <p:cNvPr id="62" name="Grp 1"/>
          <p:cNvSpPr/>
          <p:nvPr/>
        </p:nvSpPr>
        <p:spPr>
          <a:xfrm>
            <a:off x="548640" y="3602736"/>
            <a:ext cx="1188720" cy="1444752"/>
          </a:xfrm>
          <a:prstGeom prst="rect">
            <a:avLst/>
          </a:prstGeom>
          <a:solidFill>
            <a:srgbClr val="B5472F"/>
          </a:solidFill>
          <a:ln/>
        </p:spPr>
      </p:sp>
      <p:sp>
        <p:nvSpPr>
          <p:cNvPr id="63" name="Grp Text 1"/>
          <p:cNvSpPr txBox="1"/>
          <p:nvPr/>
        </p:nvSpPr>
        <p:spPr>
          <a:xfrm>
            <a:off x="548640" y="3602736"/>
            <a:ext cx="11887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負債</a:t>
            </a:r>
          </a:p>
          <a:p>
            <a:pPr algn="ctr" indent="0" marL="0">
              <a:lnSpc>
                <a:spcPct val="115000"/>
              </a:lnSpc>
              <a:spcBef>
                <a:spcPts val="200"/>
              </a:spcBef>
              <a:buNone/>
            </a:pPr>
            <a:r>
              <a:rPr lang="ja-JP" altLang="en-US" sz="950" b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将来へ及ぶ</a:t>
            </a:r>
          </a:p>
        </p:txBody>
      </p:sp>
      <p:sp>
        <p:nvSpPr>
          <p:cNvPr id="64" name="Cell 101"/>
          <p:cNvSpPr/>
          <p:nvPr/>
        </p:nvSpPr>
        <p:spPr>
          <a:xfrm>
            <a:off x="1783080" y="3602736"/>
            <a:ext cx="1600200" cy="457200"/>
          </a:xfrm>
          <a:prstGeom prst="rect">
            <a:avLst/>
          </a:prstGeom>
          <a:solidFill>
            <a:srgbClr val="FBEDEA"/>
          </a:solidFill>
          <a:ln/>
        </p:spPr>
      </p:sp>
      <p:sp>
        <p:nvSpPr>
          <p:cNvPr id="65" name="Cell Text 101"/>
          <p:cNvSpPr txBox="1"/>
          <p:nvPr/>
        </p:nvSpPr>
        <p:spPr>
          <a:xfrm>
            <a:off x="1783080" y="3602736"/>
            <a:ext cx="1600200" cy="4572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150" b="1" dirty="0">
                <a:solidFill>
                  <a:srgbClr val="B547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保守期限</a:t>
            </a:r>
          </a:p>
        </p:txBody>
      </p:sp>
      <p:sp>
        <p:nvSpPr>
          <p:cNvPr id="66" name="Cell 102"/>
          <p:cNvSpPr/>
          <p:nvPr/>
        </p:nvSpPr>
        <p:spPr>
          <a:xfrm>
            <a:off x="3429000" y="3602736"/>
            <a:ext cx="3520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F"/>
            </a:solidFill>
          </a:ln>
        </p:spPr>
      </p:sp>
      <p:sp>
        <p:nvSpPr>
          <p:cNvPr id="67" name="Cell Text 102"/>
          <p:cNvSpPr txBox="1"/>
          <p:nvPr/>
        </p:nvSpPr>
        <p:spPr>
          <a:xfrm>
            <a:off x="3429000" y="3602736"/>
            <a:ext cx="3520440" cy="4572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0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新規か更新か、現行製品の保守期限（EOL）</a:t>
            </a:r>
          </a:p>
        </p:txBody>
      </p:sp>
      <p:sp>
        <p:nvSpPr>
          <p:cNvPr id="68" name="Cell 103"/>
          <p:cNvSpPr/>
          <p:nvPr/>
        </p:nvSpPr>
        <p:spPr>
          <a:xfrm>
            <a:off x="6995160" y="3602736"/>
            <a:ext cx="464515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F"/>
            </a:solidFill>
          </a:ln>
        </p:spPr>
      </p:sp>
      <p:sp>
        <p:nvSpPr>
          <p:cNvPr id="69" name="Cell Text 103"/>
          <p:cNvSpPr txBox="1"/>
          <p:nvPr/>
        </p:nvSpPr>
        <p:spPr>
          <a:xfrm>
            <a:off x="6995160" y="3602736"/>
            <a:ext cx="4645152" cy="4572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0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先送りすると、期限切れの緊急対応にならないか。この投資自体が負債の返済ではないか</a:t>
            </a:r>
          </a:p>
        </p:txBody>
      </p:sp>
      <p:sp>
        <p:nvSpPr>
          <p:cNvPr id="70" name="Cell 111"/>
          <p:cNvSpPr/>
          <p:nvPr/>
        </p:nvSpPr>
        <p:spPr>
          <a:xfrm>
            <a:off x="1783080" y="4096512"/>
            <a:ext cx="1600200" cy="457200"/>
          </a:xfrm>
          <a:prstGeom prst="rect">
            <a:avLst/>
          </a:prstGeom>
          <a:solidFill>
            <a:srgbClr val="FBEDEA"/>
          </a:solidFill>
          <a:ln/>
        </p:spPr>
      </p:sp>
      <p:sp>
        <p:nvSpPr>
          <p:cNvPr id="71" name="Cell Text 111"/>
          <p:cNvSpPr txBox="1"/>
          <p:nvPr/>
        </p:nvSpPr>
        <p:spPr>
          <a:xfrm>
            <a:off x="1783080" y="4096512"/>
            <a:ext cx="1600200" cy="4572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150" b="1" dirty="0">
                <a:solidFill>
                  <a:srgbClr val="B547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標準からの逸脱</a:t>
            </a:r>
          </a:p>
        </p:txBody>
      </p:sp>
      <p:sp>
        <p:nvSpPr>
          <p:cNvPr id="72" name="Cell 112"/>
          <p:cNvSpPr/>
          <p:nvPr/>
        </p:nvSpPr>
        <p:spPr>
          <a:xfrm>
            <a:off x="3429000" y="4096512"/>
            <a:ext cx="3520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F"/>
            </a:solidFill>
          </a:ln>
        </p:spPr>
      </p:sp>
      <p:sp>
        <p:nvSpPr>
          <p:cNvPr id="73" name="Cell Text 112"/>
          <p:cNvSpPr txBox="1"/>
          <p:nvPr/>
        </p:nvSpPr>
        <p:spPr>
          <a:xfrm>
            <a:off x="3429000" y="4096512"/>
            <a:ext cx="3520440" cy="4572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950" b="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聞かない。IT部門が構成と連携方式から読む</a:t>
            </a:r>
          </a:p>
        </p:txBody>
      </p:sp>
      <p:sp>
        <p:nvSpPr>
          <p:cNvPr id="74" name="Cell 113"/>
          <p:cNvSpPr/>
          <p:nvPr/>
        </p:nvSpPr>
        <p:spPr>
          <a:xfrm>
            <a:off x="6995160" y="4096512"/>
            <a:ext cx="464515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F"/>
            </a:solidFill>
          </a:ln>
        </p:spPr>
      </p:sp>
      <p:sp>
        <p:nvSpPr>
          <p:cNvPr id="75" name="Cell Text 113"/>
          <p:cNvSpPr txBox="1"/>
          <p:nvPr/>
        </p:nvSpPr>
        <p:spPr>
          <a:xfrm>
            <a:off x="6995160" y="4096512"/>
            <a:ext cx="4645152" cy="4572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0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全社標準の技術・連携方式・データ定義から外れていないか</a:t>
            </a:r>
          </a:p>
        </p:txBody>
      </p:sp>
      <p:sp>
        <p:nvSpPr>
          <p:cNvPr id="76" name="Cell 121"/>
          <p:cNvSpPr/>
          <p:nvPr/>
        </p:nvSpPr>
        <p:spPr>
          <a:xfrm>
            <a:off x="1783080" y="4590288"/>
            <a:ext cx="1600200" cy="457200"/>
          </a:xfrm>
          <a:prstGeom prst="rect">
            <a:avLst/>
          </a:prstGeom>
          <a:solidFill>
            <a:srgbClr val="FBEDEA"/>
          </a:solidFill>
          <a:ln/>
        </p:spPr>
      </p:sp>
      <p:sp>
        <p:nvSpPr>
          <p:cNvPr id="77" name="Cell Text 121"/>
          <p:cNvSpPr txBox="1"/>
          <p:nvPr/>
        </p:nvSpPr>
        <p:spPr>
          <a:xfrm>
            <a:off x="1783080" y="4590288"/>
            <a:ext cx="1600200" cy="4572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150" b="1" dirty="0">
                <a:solidFill>
                  <a:srgbClr val="B547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重複と個別運用</a:t>
            </a:r>
          </a:p>
        </p:txBody>
      </p:sp>
      <p:sp>
        <p:nvSpPr>
          <p:cNvPr id="78" name="Cell 122"/>
          <p:cNvSpPr/>
          <p:nvPr/>
        </p:nvSpPr>
        <p:spPr>
          <a:xfrm>
            <a:off x="3429000" y="4590288"/>
            <a:ext cx="3520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F"/>
            </a:solidFill>
          </a:ln>
        </p:spPr>
      </p:sp>
      <p:sp>
        <p:nvSpPr>
          <p:cNvPr id="79" name="Cell Text 122"/>
          <p:cNvSpPr txBox="1"/>
          <p:nvPr/>
        </p:nvSpPr>
        <p:spPr>
          <a:xfrm>
            <a:off x="3429000" y="4590288"/>
            <a:ext cx="3520440" cy="4572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0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運用・保守の体制と契約先</a:t>
            </a:r>
          </a:p>
        </p:txBody>
      </p:sp>
      <p:sp>
        <p:nvSpPr>
          <p:cNvPr id="80" name="Cell 123"/>
          <p:cNvSpPr/>
          <p:nvPr/>
        </p:nvSpPr>
        <p:spPr>
          <a:xfrm>
            <a:off x="6995160" y="4590288"/>
            <a:ext cx="464515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F"/>
            </a:solidFill>
          </a:ln>
        </p:spPr>
      </p:sp>
      <p:sp>
        <p:nvSpPr>
          <p:cNvPr id="81" name="Cell Text 123"/>
          <p:cNvSpPr txBox="1"/>
          <p:nvPr/>
        </p:nvSpPr>
        <p:spPr>
          <a:xfrm>
            <a:off x="6995160" y="4590288"/>
            <a:ext cx="4645152" cy="4572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0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似た機能がすでにないか。個別の運用・改修や、後からの共通化が将来の費用にならないか</a:t>
            </a:r>
          </a:p>
        </p:txBody>
      </p:sp>
      <p:sp>
        <p:nvSpPr>
          <p:cNvPr id="82" name="Step 0"/>
          <p:cNvSpPr/>
          <p:nvPr/>
        </p:nvSpPr>
        <p:spPr>
          <a:xfrm>
            <a:off x="548640" y="5230368"/>
            <a:ext cx="2567178" cy="969264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/>
        </p:spPr>
      </p:sp>
      <p:sp>
        <p:nvSpPr>
          <p:cNvPr id="83" name="Step Text 0"/>
          <p:cNvSpPr txBox="1"/>
          <p:nvPr/>
        </p:nvSpPr>
        <p:spPr>
          <a:xfrm>
            <a:off x="548640" y="5230368"/>
            <a:ext cx="2567178" cy="969264"/>
          </a:xfrm>
          <a:prstGeom prst="rect">
            <a:avLst/>
          </a:prstGeom>
          <a:noFill/>
          <a:ln/>
        </p:spPr>
        <p:txBody>
          <a:bodyPr wrap="square" lIns="128016" tIns="0" rIns="128016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15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　事実を書く</a:t>
            </a:r>
          </a:p>
          <a:p>
            <a:pPr indent="0" marL="0">
              <a:lnSpc>
                <a:spcPct val="115000"/>
              </a:lnSpc>
              <a:spcBef>
                <a:spcPts val="200"/>
              </a:spcBef>
              <a:buNone/>
            </a:pPr>
            <a:r>
              <a:rPr lang="ja-JP" altLang="en-US" sz="95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申請者。評価やスコアは書かない</a:t>
            </a:r>
          </a:p>
        </p:txBody>
      </p:sp>
      <p:sp>
        <p:nvSpPr>
          <p:cNvPr id="84" name="Step Arrow 0"/>
          <p:cNvSpPr/>
          <p:nvPr/>
        </p:nvSpPr>
        <p:spPr>
          <a:xfrm>
            <a:off x="3170682" y="5623560"/>
            <a:ext cx="164592" cy="182880"/>
          </a:xfrm>
          <a:prstGeom prst="rightArrow">
            <a:avLst/>
          </a:prstGeom>
          <a:solidFill>
            <a:srgbClr val="66717C"/>
          </a:solidFill>
          <a:ln/>
        </p:spPr>
      </p:sp>
      <p:sp>
        <p:nvSpPr>
          <p:cNvPr id="85" name="Step 1"/>
          <p:cNvSpPr/>
          <p:nvPr/>
        </p:nvSpPr>
        <p:spPr>
          <a:xfrm>
            <a:off x="3390138" y="5230368"/>
            <a:ext cx="2567178" cy="969264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/>
        </p:spPr>
      </p:sp>
      <p:sp>
        <p:nvSpPr>
          <p:cNvPr id="86" name="Step Text 1"/>
          <p:cNvSpPr txBox="1"/>
          <p:nvPr/>
        </p:nvSpPr>
        <p:spPr>
          <a:xfrm>
            <a:off x="3390138" y="5230368"/>
            <a:ext cx="2567178" cy="969264"/>
          </a:xfrm>
          <a:prstGeom prst="rect">
            <a:avLst/>
          </a:prstGeom>
          <a:noFill/>
          <a:ln/>
        </p:spPr>
        <p:txBody>
          <a:bodyPr wrap="square" lIns="128016" tIns="0" rIns="128016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15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　要素ごとに見る</a:t>
            </a:r>
          </a:p>
          <a:p>
            <a:pPr indent="0" marL="0">
              <a:lnSpc>
                <a:spcPct val="115000"/>
              </a:lnSpc>
              <a:spcBef>
                <a:spcPts val="200"/>
              </a:spcBef>
              <a:buNone/>
            </a:pPr>
            <a:r>
              <a:rPr lang="ja-JP" altLang="en-US" sz="95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IT部門。事実を台帳と照らす</a:t>
            </a:r>
          </a:p>
        </p:txBody>
      </p:sp>
      <p:sp>
        <p:nvSpPr>
          <p:cNvPr id="87" name="Step Arrow 1"/>
          <p:cNvSpPr/>
          <p:nvPr/>
        </p:nvSpPr>
        <p:spPr>
          <a:xfrm>
            <a:off x="6012180" y="5623560"/>
            <a:ext cx="164592" cy="182880"/>
          </a:xfrm>
          <a:prstGeom prst="rightArrow">
            <a:avLst/>
          </a:prstGeom>
          <a:solidFill>
            <a:srgbClr val="66717C"/>
          </a:solidFill>
          <a:ln/>
        </p:spPr>
      </p:sp>
      <p:sp>
        <p:nvSpPr>
          <p:cNvPr id="88" name="Step 2"/>
          <p:cNvSpPr/>
          <p:nvPr/>
        </p:nvSpPr>
        <p:spPr>
          <a:xfrm>
            <a:off x="6231636" y="5230368"/>
            <a:ext cx="2567178" cy="969264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/>
        </p:spPr>
      </p:sp>
      <p:sp>
        <p:nvSpPr>
          <p:cNvPr id="89" name="Step Text 2"/>
          <p:cNvSpPr txBox="1"/>
          <p:nvPr/>
        </p:nvSpPr>
        <p:spPr>
          <a:xfrm>
            <a:off x="6231636" y="5230368"/>
            <a:ext cx="2567178" cy="969264"/>
          </a:xfrm>
          <a:prstGeom prst="rect">
            <a:avLst/>
          </a:prstGeom>
          <a:noFill/>
          <a:ln/>
        </p:spPr>
        <p:txBody>
          <a:bodyPr wrap="square" lIns="128016" tIns="0" rIns="128016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15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　2問に答える</a:t>
            </a:r>
          </a:p>
          <a:p>
            <a:pPr indent="0" marL="0">
              <a:lnSpc>
                <a:spcPct val="115000"/>
              </a:lnSpc>
              <a:spcBef>
                <a:spcPts val="200"/>
              </a:spcBef>
              <a:buNone/>
            </a:pPr>
            <a:r>
              <a:rPr lang="ja-JP" altLang="en-US" sz="95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Q1 基盤性・Q2 負債に、Yes/Noと理由</a:t>
            </a:r>
          </a:p>
        </p:txBody>
      </p:sp>
      <p:sp>
        <p:nvSpPr>
          <p:cNvPr id="90" name="Step Arrow 2"/>
          <p:cNvSpPr/>
          <p:nvPr/>
        </p:nvSpPr>
        <p:spPr>
          <a:xfrm>
            <a:off x="8853678" y="5623560"/>
            <a:ext cx="164592" cy="182880"/>
          </a:xfrm>
          <a:prstGeom prst="rightArrow">
            <a:avLst/>
          </a:prstGeom>
          <a:solidFill>
            <a:srgbClr val="66717C"/>
          </a:solidFill>
          <a:ln/>
        </p:spPr>
      </p:sp>
      <p:sp>
        <p:nvSpPr>
          <p:cNvPr id="91" name="Step 3"/>
          <p:cNvSpPr/>
          <p:nvPr/>
        </p:nvSpPr>
        <p:spPr>
          <a:xfrm>
            <a:off x="9073134" y="5230368"/>
            <a:ext cx="2567178" cy="969264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/>
        </p:spPr>
      </p:sp>
      <p:sp>
        <p:nvSpPr>
          <p:cNvPr id="92" name="Step Text 3"/>
          <p:cNvSpPr txBox="1"/>
          <p:nvPr/>
        </p:nvSpPr>
        <p:spPr>
          <a:xfrm>
            <a:off x="9073134" y="5230368"/>
            <a:ext cx="2567178" cy="969264"/>
          </a:xfrm>
          <a:prstGeom prst="rect">
            <a:avLst/>
          </a:prstGeom>
          <a:noFill/>
          <a:ln/>
        </p:spPr>
        <p:txBody>
          <a:bodyPr wrap="square" lIns="128016" tIns="0" rIns="128016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15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　論点にする</a:t>
            </a:r>
          </a:p>
          <a:p>
            <a:pPr indent="0" marL="0">
              <a:lnSpc>
                <a:spcPct val="115000"/>
              </a:lnSpc>
              <a:spcBef>
                <a:spcPts val="200"/>
              </a:spcBef>
              <a:buNone/>
            </a:pPr>
            <a:r>
              <a:rPr lang="ja-JP" altLang="en-US" sz="95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審議で判断すべき問いの形にする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審議の流れのどこで、共通性を確認するか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 Materiality ｜ IT部門内 認識合わせ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  <p:sp>
        <p:nvSpPr>
          <p:cNvPr id="51" name="Subtitle"/>
          <p:cNvSpPr txBox="1"/>
          <p:nvPr/>
        </p:nvSpPr>
        <p:spPr>
          <a:xfrm>
            <a:off x="548640" y="118872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3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入れ子の入口は</a:t>
            </a:r>
            <a:r>
              <a:rPr lang="ja-JP" altLang="en-US" sz="13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論点整理</a:t>
            </a:r>
            <a:r>
              <a:rPr lang="ja-JP" altLang="en-US" sz="13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。IT部門が共通性を確認し、判断の問いに変えて委員会へ渡す</a:t>
            </a:r>
          </a:p>
        </p:txBody>
      </p:sp>
      <p:sp>
        <p:nvSpPr>
          <p:cNvPr id="52" name="Step Card 0"/>
          <p:cNvSpPr/>
          <p:nvPr/>
        </p:nvSpPr>
        <p:spPr>
          <a:xfrm>
            <a:off x="548640" y="1691640"/>
            <a:ext cx="3453384" cy="960120"/>
          </a:xfrm>
          <a:prstGeom prst="roundRect">
            <a:avLst>
              <a:gd name="adj" fmla="val 8000"/>
            </a:avLst>
          </a:prstGeom>
          <a:solidFill>
            <a:srgbClr val="E5F2EE"/>
          </a:solidFill>
          <a:ln/>
        </p:spPr>
      </p:sp>
      <p:sp>
        <p:nvSpPr>
          <p:cNvPr id="53" name="Step Text 0"/>
          <p:cNvSpPr txBox="1"/>
          <p:nvPr/>
        </p:nvSpPr>
        <p:spPr>
          <a:xfrm>
            <a:off x="548640" y="1691640"/>
            <a:ext cx="3453384" cy="960120"/>
          </a:xfrm>
          <a:prstGeom prst="rect">
            <a:avLst/>
          </a:prstGeom>
          <a:noFill/>
          <a:ln/>
        </p:spPr>
        <p:txBody>
          <a:bodyPr wrap="square" lIns="146304" tIns="0" rIns="146304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50" b="1" dirty="0">
                <a:solidFill>
                  <a:srgbClr val="1F7A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見つける</a:t>
            </a:r>
          </a:p>
          <a:p>
            <a:pPr indent="0" marL="0">
              <a:lnSpc>
                <a:spcPct val="115000"/>
              </a:lnSpc>
              <a:spcBef>
                <a:spcPts val="200"/>
              </a:spcBef>
              <a:buNone/>
            </a:pPr>
            <a:r>
              <a:rPr lang="ja-JP" altLang="en-US" sz="17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論点整理</a:t>
            </a:r>
          </a:p>
          <a:p>
            <a:pPr indent="0" marL="0">
              <a:lnSpc>
                <a:spcPct val="115000"/>
              </a:lnSpc>
              <a:spcBef>
                <a:spcPts val="200"/>
              </a:spcBef>
              <a:buNone/>
            </a:pPr>
            <a:r>
              <a:rPr lang="ja-JP" altLang="en-US" sz="1000" b="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事務局（IT部門側＋起案部門側）</a:t>
            </a:r>
          </a:p>
        </p:txBody>
      </p:sp>
      <p:sp>
        <p:nvSpPr>
          <p:cNvPr id="54" name="Step Arrow 0"/>
          <p:cNvSpPr/>
          <p:nvPr/>
        </p:nvSpPr>
        <p:spPr>
          <a:xfrm>
            <a:off x="4084320" y="2034540"/>
            <a:ext cx="201168" cy="274320"/>
          </a:xfrm>
          <a:prstGeom prst="rightArrow">
            <a:avLst/>
          </a:prstGeom>
          <a:solidFill>
            <a:srgbClr val="1F7A68"/>
          </a:solidFill>
          <a:ln/>
        </p:spPr>
      </p:sp>
      <p:sp>
        <p:nvSpPr>
          <p:cNvPr id="55" name="Ask Card 0"/>
          <p:cNvSpPr/>
          <p:nvPr/>
        </p:nvSpPr>
        <p:spPr>
          <a:xfrm>
            <a:off x="548640" y="2788920"/>
            <a:ext cx="3453384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8A12"/>
            </a:solidFill>
          </a:ln>
        </p:spPr>
      </p:sp>
      <p:sp>
        <p:nvSpPr>
          <p:cNvPr id="56" name="Ask Badge 0"/>
          <p:cNvSpPr/>
          <p:nvPr/>
        </p:nvSpPr>
        <p:spPr>
          <a:xfrm>
            <a:off x="694944" y="2935224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C98A12"/>
          </a:solidFill>
          <a:ln/>
        </p:spPr>
      </p:sp>
      <p:sp>
        <p:nvSpPr>
          <p:cNvPr id="57" name="Ask Badge Text 0"/>
          <p:cNvSpPr txBox="1"/>
          <p:nvPr/>
        </p:nvSpPr>
        <p:spPr>
          <a:xfrm>
            <a:off x="694944" y="293522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NEED ACTION</a:t>
            </a:r>
          </a:p>
        </p:txBody>
      </p:sp>
      <p:sp>
        <p:nvSpPr>
          <p:cNvPr id="58" name="Ask Label 0"/>
          <p:cNvSpPr txBox="1"/>
          <p:nvPr/>
        </p:nvSpPr>
        <p:spPr>
          <a:xfrm>
            <a:off x="1975104" y="29352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00" b="1" dirty="0">
                <a:solidFill>
                  <a:srgbClr val="C98A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メンバーの出番</a:t>
            </a:r>
          </a:p>
        </p:txBody>
      </p:sp>
      <p:sp>
        <p:nvSpPr>
          <p:cNvPr id="59" name="Ask Body 0"/>
          <p:cNvSpPr txBox="1"/>
          <p:nvPr/>
        </p:nvSpPr>
        <p:spPr>
          <a:xfrm>
            <a:off x="694944" y="3346704"/>
            <a:ext cx="31607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25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申請の事実を、要素ごとに見る</a:t>
            </a:r>
          </a:p>
          <a:p>
            <a:pPr indent="0" marL="0">
              <a:lnSpc>
                <a:spcPct val="115000"/>
              </a:lnSpc>
              <a:spcBef>
                <a:spcPts val="500"/>
              </a:spcBef>
              <a:buNone/>
            </a:pPr>
            <a:r>
              <a:rPr lang="ja-JP" altLang="en-US" sz="11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基盤性・負債の2問に答え、判断の問い（論点）に変える。ここが入れ子の入口</a:t>
            </a:r>
          </a:p>
        </p:txBody>
      </p:sp>
      <p:sp>
        <p:nvSpPr>
          <p:cNvPr id="60" name="Step Card 1"/>
          <p:cNvSpPr/>
          <p:nvPr/>
        </p:nvSpPr>
        <p:spPr>
          <a:xfrm>
            <a:off x="4367784" y="1691640"/>
            <a:ext cx="3453384" cy="960120"/>
          </a:xfrm>
          <a:prstGeom prst="roundRect">
            <a:avLst>
              <a:gd name="adj" fmla="val 8000"/>
            </a:avLst>
          </a:prstGeom>
          <a:solidFill>
            <a:srgbClr val="E5F2EE"/>
          </a:solidFill>
          <a:ln/>
        </p:spPr>
      </p:sp>
      <p:sp>
        <p:nvSpPr>
          <p:cNvPr id="61" name="Step Text 1"/>
          <p:cNvSpPr txBox="1"/>
          <p:nvPr/>
        </p:nvSpPr>
        <p:spPr>
          <a:xfrm>
            <a:off x="4367784" y="1691640"/>
            <a:ext cx="3453384" cy="960120"/>
          </a:xfrm>
          <a:prstGeom prst="rect">
            <a:avLst/>
          </a:prstGeom>
          <a:noFill/>
          <a:ln/>
        </p:spPr>
        <p:txBody>
          <a:bodyPr wrap="square" lIns="146304" tIns="0" rIns="146304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50" b="1" dirty="0">
                <a:solidFill>
                  <a:srgbClr val="1F7A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判断する</a:t>
            </a:r>
          </a:p>
          <a:p>
            <a:pPr indent="0" marL="0">
              <a:lnSpc>
                <a:spcPct val="115000"/>
              </a:lnSpc>
              <a:spcBef>
                <a:spcPts val="200"/>
              </a:spcBef>
              <a:buNone/>
            </a:pPr>
            <a:r>
              <a:rPr lang="ja-JP" altLang="en-US" sz="17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委員会の審議</a:t>
            </a:r>
          </a:p>
          <a:p>
            <a:pPr indent="0" marL="0">
              <a:lnSpc>
                <a:spcPct val="115000"/>
              </a:lnSpc>
              <a:spcBef>
                <a:spcPts val="200"/>
              </a:spcBef>
              <a:buNone/>
            </a:pPr>
            <a:r>
              <a:rPr lang="ja-JP" altLang="en-US" sz="1000" b="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投資委員会</a:t>
            </a:r>
          </a:p>
        </p:txBody>
      </p:sp>
      <p:sp>
        <p:nvSpPr>
          <p:cNvPr id="62" name="Step Arrow 1"/>
          <p:cNvSpPr/>
          <p:nvPr/>
        </p:nvSpPr>
        <p:spPr>
          <a:xfrm>
            <a:off x="7903464" y="2034540"/>
            <a:ext cx="201168" cy="274320"/>
          </a:xfrm>
          <a:prstGeom prst="rightArrow">
            <a:avLst/>
          </a:prstGeom>
          <a:solidFill>
            <a:srgbClr val="1F7A68"/>
          </a:solidFill>
          <a:ln/>
        </p:spPr>
      </p:sp>
      <p:sp>
        <p:nvSpPr>
          <p:cNvPr id="63" name="Ask Card 1"/>
          <p:cNvSpPr/>
          <p:nvPr/>
        </p:nvSpPr>
        <p:spPr>
          <a:xfrm>
            <a:off x="4367784" y="2788920"/>
            <a:ext cx="3453384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8A12"/>
            </a:solidFill>
          </a:ln>
        </p:spPr>
      </p:sp>
      <p:sp>
        <p:nvSpPr>
          <p:cNvPr id="64" name="Ask Badge 1"/>
          <p:cNvSpPr/>
          <p:nvPr/>
        </p:nvSpPr>
        <p:spPr>
          <a:xfrm>
            <a:off x="4514088" y="2935224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C98A12"/>
          </a:solidFill>
          <a:ln/>
        </p:spPr>
      </p:sp>
      <p:sp>
        <p:nvSpPr>
          <p:cNvPr id="65" name="Ask Badge Text 1"/>
          <p:cNvSpPr txBox="1"/>
          <p:nvPr/>
        </p:nvSpPr>
        <p:spPr>
          <a:xfrm>
            <a:off x="4514088" y="293522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NEED ACTION</a:t>
            </a:r>
          </a:p>
        </p:txBody>
      </p:sp>
      <p:sp>
        <p:nvSpPr>
          <p:cNvPr id="66" name="Ask Label 1"/>
          <p:cNvSpPr txBox="1"/>
          <p:nvPr/>
        </p:nvSpPr>
        <p:spPr>
          <a:xfrm>
            <a:off x="5794248" y="29352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00" b="1" dirty="0">
                <a:solidFill>
                  <a:srgbClr val="C98A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メンバーの出番</a:t>
            </a:r>
          </a:p>
        </p:txBody>
      </p:sp>
      <p:sp>
        <p:nvSpPr>
          <p:cNvPr id="67" name="Ask Body 1"/>
          <p:cNvSpPr txBox="1"/>
          <p:nvPr/>
        </p:nvSpPr>
        <p:spPr>
          <a:xfrm>
            <a:off x="4514088" y="3346704"/>
            <a:ext cx="31607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25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論点ごとに、共通性の物差しで判断する</a:t>
            </a:r>
          </a:p>
          <a:p>
            <a:pPr indent="0" marL="0">
              <a:lnSpc>
                <a:spcPct val="115000"/>
              </a:lnSpc>
              <a:spcBef>
                <a:spcPts val="500"/>
              </a:spcBef>
              <a:buNone/>
            </a:pPr>
            <a:r>
              <a:rPr lang="ja-JP" altLang="en-US" sz="11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全社に及ぶ案件を、追認で通さない。判断と根拠を論点ごとに示す</a:t>
            </a:r>
          </a:p>
        </p:txBody>
      </p:sp>
      <p:sp>
        <p:nvSpPr>
          <p:cNvPr id="68" name="Step Card 2"/>
          <p:cNvSpPr/>
          <p:nvPr/>
        </p:nvSpPr>
        <p:spPr>
          <a:xfrm>
            <a:off x="8186928" y="1691640"/>
            <a:ext cx="3453384" cy="960120"/>
          </a:xfrm>
          <a:prstGeom prst="roundRect">
            <a:avLst>
              <a:gd name="adj" fmla="val 8000"/>
            </a:avLst>
          </a:prstGeom>
          <a:solidFill>
            <a:srgbClr val="E5F2EE"/>
          </a:solidFill>
          <a:ln/>
        </p:spPr>
      </p:sp>
      <p:sp>
        <p:nvSpPr>
          <p:cNvPr id="69" name="Step Text 2"/>
          <p:cNvSpPr txBox="1"/>
          <p:nvPr/>
        </p:nvSpPr>
        <p:spPr>
          <a:xfrm>
            <a:off x="8186928" y="1691640"/>
            <a:ext cx="3453384" cy="960120"/>
          </a:xfrm>
          <a:prstGeom prst="rect">
            <a:avLst/>
          </a:prstGeom>
          <a:noFill/>
          <a:ln/>
        </p:spPr>
        <p:txBody>
          <a:bodyPr wrap="square" lIns="146304" tIns="0" rIns="146304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50" b="1" dirty="0">
                <a:solidFill>
                  <a:srgbClr val="1F7A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返す・残す</a:t>
            </a:r>
          </a:p>
          <a:p>
            <a:pPr indent="0" marL="0">
              <a:lnSpc>
                <a:spcPct val="115000"/>
              </a:lnSpc>
              <a:spcBef>
                <a:spcPts val="200"/>
              </a:spcBef>
              <a:buNone/>
            </a:pPr>
            <a:r>
              <a:rPr lang="ja-JP" altLang="en-US" sz="17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結果の返却</a:t>
            </a:r>
          </a:p>
          <a:p>
            <a:pPr indent="0" marL="0">
              <a:lnSpc>
                <a:spcPct val="115000"/>
              </a:lnSpc>
              <a:spcBef>
                <a:spcPts val="200"/>
              </a:spcBef>
              <a:buNone/>
            </a:pPr>
            <a:r>
              <a:rPr lang="ja-JP" altLang="en-US" sz="1000" b="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起案者・PPM・台帳</a:t>
            </a:r>
          </a:p>
        </p:txBody>
      </p:sp>
      <p:sp>
        <p:nvSpPr>
          <p:cNvPr id="70" name="Ask Card 2"/>
          <p:cNvSpPr/>
          <p:nvPr/>
        </p:nvSpPr>
        <p:spPr>
          <a:xfrm>
            <a:off x="8186928" y="2788920"/>
            <a:ext cx="3453384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8A12"/>
            </a:solidFill>
          </a:ln>
        </p:spPr>
      </p:sp>
      <p:sp>
        <p:nvSpPr>
          <p:cNvPr id="71" name="Ask Badge 2"/>
          <p:cNvSpPr/>
          <p:nvPr/>
        </p:nvSpPr>
        <p:spPr>
          <a:xfrm>
            <a:off x="8333232" y="2935224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C98A12"/>
          </a:solidFill>
          <a:ln/>
        </p:spPr>
      </p:sp>
      <p:sp>
        <p:nvSpPr>
          <p:cNvPr id="72" name="Ask Badge Text 2"/>
          <p:cNvSpPr txBox="1"/>
          <p:nvPr/>
        </p:nvSpPr>
        <p:spPr>
          <a:xfrm>
            <a:off x="8333232" y="293522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NEED ACTION</a:t>
            </a:r>
          </a:p>
        </p:txBody>
      </p:sp>
      <p:sp>
        <p:nvSpPr>
          <p:cNvPr id="73" name="Ask Label 2"/>
          <p:cNvSpPr txBox="1"/>
          <p:nvPr/>
        </p:nvSpPr>
        <p:spPr>
          <a:xfrm>
            <a:off x="9613392" y="29352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00" b="1" dirty="0">
                <a:solidFill>
                  <a:srgbClr val="C98A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メンバーの出番</a:t>
            </a:r>
          </a:p>
        </p:txBody>
      </p:sp>
      <p:sp>
        <p:nvSpPr>
          <p:cNvPr id="74" name="Ask Body 2"/>
          <p:cNvSpPr txBox="1"/>
          <p:nvPr/>
        </p:nvSpPr>
        <p:spPr>
          <a:xfrm>
            <a:off x="8333232" y="3346704"/>
            <a:ext cx="31607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25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判断の根拠を、論点ごとに返す</a:t>
            </a:r>
          </a:p>
          <a:p>
            <a:pPr indent="0" marL="0">
              <a:lnSpc>
                <a:spcPct val="115000"/>
              </a:lnSpc>
              <a:spcBef>
                <a:spcPts val="500"/>
              </a:spcBef>
              <a:buNone/>
            </a:pPr>
            <a:r>
              <a:rPr lang="ja-JP" altLang="en-US" sz="11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判定理由を台帳に残し、次の共通性確認の材料にする</a:t>
            </a:r>
          </a:p>
        </p:txBody>
      </p:sp>
      <p:sp>
        <p:nvSpPr>
          <p:cNvPr id="75" name="Nest Band"/>
          <p:cNvSpPr/>
          <p:nvPr/>
        </p:nvSpPr>
        <p:spPr>
          <a:xfrm>
            <a:off x="548640" y="4773168"/>
            <a:ext cx="11091672" cy="1444752"/>
          </a:xfrm>
          <a:prstGeom prst="roundRect">
            <a:avLst>
              <a:gd name="adj" fmla="val 6000"/>
            </a:avLst>
          </a:prstGeom>
          <a:solidFill>
            <a:srgbClr val="E5F2EE"/>
          </a:solidFill>
          <a:ln/>
        </p:spPr>
      </p:sp>
      <p:sp>
        <p:nvSpPr>
          <p:cNvPr id="76" name="Nest Label"/>
          <p:cNvSpPr txBox="1"/>
          <p:nvPr/>
        </p:nvSpPr>
        <p:spPr>
          <a:xfrm>
            <a:off x="777240" y="4773168"/>
            <a:ext cx="18288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500" b="1" dirty="0">
                <a:solidFill>
                  <a:srgbClr val="1F7A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入れ子として</a:t>
            </a:r>
          </a:p>
        </p:txBody>
      </p:sp>
      <p:sp>
        <p:nvSpPr>
          <p:cNvPr id="77" name="Nest Divider"/>
          <p:cNvSpPr/>
          <p:nvPr/>
        </p:nvSpPr>
        <p:spPr>
          <a:xfrm>
            <a:off x="2697480" y="4956048"/>
            <a:ext cx="9144" cy="1078992"/>
          </a:xfrm>
          <a:prstGeom prst="rect">
            <a:avLst/>
          </a:prstGeom>
          <a:solidFill>
            <a:srgbClr val="C9CFD5"/>
          </a:solidFill>
          <a:ln/>
        </p:spPr>
      </p:sp>
      <p:sp>
        <p:nvSpPr>
          <p:cNvPr id="78" name="Nest Text"/>
          <p:cNvSpPr txBox="1"/>
          <p:nvPr/>
        </p:nvSpPr>
        <p:spPr>
          <a:xfrm>
            <a:off x="2926080" y="4773168"/>
            <a:ext cx="848563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4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部門で決めることは部門に残し、共通性のある論点だけを全社で判断する</a:t>
            </a:r>
          </a:p>
          <a:p>
            <a:pPr indent="0" marL="0">
              <a:lnSpc>
                <a:spcPct val="115000"/>
              </a:lnSpc>
              <a:spcBef>
                <a:spcPts val="400"/>
              </a:spcBef>
              <a:buNone/>
            </a:pPr>
            <a:r>
              <a:rPr lang="ja-JP" altLang="en-US" sz="11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共通性は、論点整理で見つけ、審議で判断し、台帳に残す。この3か所で確認する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C98A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NEED ACTION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論点整理の進め方 ── 所管と協議し、論点を区分する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 Materiality ｜ IT部門内 認識合わせ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  <p:sp>
        <p:nvSpPr>
          <p:cNvPr id="79" name="Subtitle"/>
          <p:cNvSpPr txBox="1"/>
          <p:nvPr/>
        </p:nvSpPr>
        <p:spPr>
          <a:xfrm>
            <a:off x="548640" y="118872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3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事実は起案者に確認すれば足りる。共通性の論点は、</a:t>
            </a:r>
            <a:r>
              <a:rPr lang="ja-JP" altLang="en-US" sz="13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ケイパビリティを所管するIT部門メンバー</a:t>
            </a:r>
            <a:r>
              <a:rPr lang="ja-JP" altLang="en-US" sz="13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と協議して立てる</a:t>
            </a:r>
          </a:p>
        </p:txBody>
      </p:sp>
      <p:sp>
        <p:nvSpPr>
          <p:cNvPr id="80" name="Flow Card 0"/>
          <p:cNvSpPr/>
          <p:nvPr/>
        </p:nvSpPr>
        <p:spPr>
          <a:xfrm>
            <a:off x="548640" y="1691640"/>
            <a:ext cx="2028139" cy="1170432"/>
          </a:xfrm>
          <a:prstGeom prst="roundRect">
            <a:avLst>
              <a:gd name="adj" fmla="val 7000"/>
            </a:avLst>
          </a:prstGeom>
          <a:solidFill>
            <a:srgbClr val="F2F4F6"/>
          </a:solidFill>
          <a:ln/>
        </p:spPr>
      </p:sp>
      <p:sp>
        <p:nvSpPr>
          <p:cNvPr id="81" name="Flow Text 0"/>
          <p:cNvSpPr txBox="1"/>
          <p:nvPr/>
        </p:nvSpPr>
        <p:spPr>
          <a:xfrm>
            <a:off x="548640" y="1691640"/>
            <a:ext cx="2028139" cy="1170432"/>
          </a:xfrm>
          <a:prstGeom prst="rect">
            <a:avLst/>
          </a:prstGeom>
          <a:noFill/>
          <a:ln/>
        </p:spPr>
        <p:txBody>
          <a:bodyPr wrap="square" lIns="109728" tIns="128016" rIns="109728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15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　事実を確認する</a:t>
            </a:r>
          </a:p>
          <a:p>
            <a:pPr indent="0" marL="0">
              <a:lnSpc>
                <a:spcPct val="115000"/>
              </a:lnSpc>
              <a:spcBef>
                <a:spcPts val="200"/>
              </a:spcBef>
              <a:buNone/>
            </a:pPr>
            <a:r>
              <a:rPr lang="ja-JP" altLang="en-US" sz="900" b="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担当者 × 起案者</a:t>
            </a:r>
          </a:p>
          <a:p>
            <a:pPr indent="0" marL="0">
              <a:lnSpc>
                <a:spcPct val="115000"/>
              </a:lnSpc>
              <a:spcBef>
                <a:spcPts val="300"/>
              </a:spcBef>
              <a:buNone/>
            </a:pPr>
            <a:r>
              <a:rPr lang="ja-JP" altLang="en-US" sz="95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申請の事実を、起案者に直接確認する</a:t>
            </a:r>
          </a:p>
        </p:txBody>
      </p:sp>
      <p:sp>
        <p:nvSpPr>
          <p:cNvPr id="82" name="Flow Arrow 0"/>
          <p:cNvSpPr/>
          <p:nvPr/>
        </p:nvSpPr>
        <p:spPr>
          <a:xfrm>
            <a:off x="2613355" y="2185416"/>
            <a:ext cx="164592" cy="182880"/>
          </a:xfrm>
          <a:prstGeom prst="rightArrow">
            <a:avLst/>
          </a:prstGeom>
          <a:solidFill>
            <a:srgbClr val="66717C"/>
          </a:solidFill>
          <a:ln/>
        </p:spPr>
      </p:sp>
      <p:sp>
        <p:nvSpPr>
          <p:cNvPr id="83" name="Flow Card 1"/>
          <p:cNvSpPr/>
          <p:nvPr/>
        </p:nvSpPr>
        <p:spPr>
          <a:xfrm>
            <a:off x="2814523" y="1691640"/>
            <a:ext cx="2028139" cy="11704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C98A12"/>
            </a:solidFill>
          </a:ln>
        </p:spPr>
      </p:sp>
      <p:sp>
        <p:nvSpPr>
          <p:cNvPr id="84" name="Flow Text 1"/>
          <p:cNvSpPr txBox="1"/>
          <p:nvPr/>
        </p:nvSpPr>
        <p:spPr>
          <a:xfrm>
            <a:off x="2814523" y="1691640"/>
            <a:ext cx="2028139" cy="1170432"/>
          </a:xfrm>
          <a:prstGeom prst="rect">
            <a:avLst/>
          </a:prstGeom>
          <a:noFill/>
          <a:ln/>
        </p:spPr>
        <p:txBody>
          <a:bodyPr wrap="square" lIns="109728" tIns="128016" rIns="109728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15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　能力と所管を特定</a:t>
            </a:r>
          </a:p>
          <a:p>
            <a:pPr indent="0" marL="0">
              <a:lnSpc>
                <a:spcPct val="115000"/>
              </a:lnSpc>
              <a:spcBef>
                <a:spcPts val="200"/>
              </a:spcBef>
              <a:buNone/>
            </a:pPr>
            <a:r>
              <a:rPr lang="ja-JP" altLang="en-US" sz="900" b="0" dirty="0">
                <a:solidFill>
                  <a:srgbClr val="C98A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担当者</a:t>
            </a:r>
          </a:p>
          <a:p>
            <a:pPr indent="0" marL="0">
              <a:lnSpc>
                <a:spcPct val="115000"/>
              </a:lnSpc>
              <a:spcBef>
                <a:spcPts val="300"/>
              </a:spcBef>
              <a:buNone/>
            </a:pPr>
            <a:r>
              <a:rPr lang="ja-JP" altLang="en-US" sz="95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案件が触れる能力をケイパビリティマップで洗い出し、所管を特定する</a:t>
            </a:r>
          </a:p>
        </p:txBody>
      </p:sp>
      <p:sp>
        <p:nvSpPr>
          <p:cNvPr id="85" name="Flow Arrow 1"/>
          <p:cNvSpPr/>
          <p:nvPr/>
        </p:nvSpPr>
        <p:spPr>
          <a:xfrm>
            <a:off x="4879238" y="2185416"/>
            <a:ext cx="164592" cy="182880"/>
          </a:xfrm>
          <a:prstGeom prst="rightArrow">
            <a:avLst/>
          </a:prstGeom>
          <a:solidFill>
            <a:srgbClr val="66717C"/>
          </a:solidFill>
          <a:ln/>
        </p:spPr>
      </p:sp>
      <p:sp>
        <p:nvSpPr>
          <p:cNvPr id="86" name="Flow Card 2"/>
          <p:cNvSpPr/>
          <p:nvPr/>
        </p:nvSpPr>
        <p:spPr>
          <a:xfrm>
            <a:off x="5080406" y="1691640"/>
            <a:ext cx="2028139" cy="11704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C98A12"/>
            </a:solidFill>
          </a:ln>
        </p:spPr>
      </p:sp>
      <p:sp>
        <p:nvSpPr>
          <p:cNvPr id="87" name="Flow Text 2"/>
          <p:cNvSpPr txBox="1"/>
          <p:nvPr/>
        </p:nvSpPr>
        <p:spPr>
          <a:xfrm>
            <a:off x="5080406" y="1691640"/>
            <a:ext cx="2028139" cy="1170432"/>
          </a:xfrm>
          <a:prstGeom prst="rect">
            <a:avLst/>
          </a:prstGeom>
          <a:noFill/>
          <a:ln/>
        </p:spPr>
        <p:txBody>
          <a:bodyPr wrap="square" lIns="109728" tIns="128016" rIns="109728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15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　所管と協議する</a:t>
            </a:r>
          </a:p>
          <a:p>
            <a:pPr indent="0" marL="0">
              <a:lnSpc>
                <a:spcPct val="115000"/>
              </a:lnSpc>
              <a:spcBef>
                <a:spcPts val="200"/>
              </a:spcBef>
              <a:buNone/>
            </a:pPr>
            <a:r>
              <a:rPr lang="ja-JP" altLang="en-US" sz="900" b="0" dirty="0">
                <a:solidFill>
                  <a:srgbClr val="C98A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担当者 × 所管メンバー</a:t>
            </a:r>
          </a:p>
          <a:p>
            <a:pPr indent="0" marL="0">
              <a:lnSpc>
                <a:spcPct val="115000"/>
              </a:lnSpc>
              <a:spcBef>
                <a:spcPts val="300"/>
              </a:spcBef>
              <a:buNone/>
            </a:pPr>
            <a:r>
              <a:rPr lang="ja-JP" altLang="en-US" sz="95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能力ごとに、基盤性・負債の観点で見てもらう</a:t>
            </a:r>
          </a:p>
        </p:txBody>
      </p:sp>
      <p:sp>
        <p:nvSpPr>
          <p:cNvPr id="88" name="Flow Arrow 2"/>
          <p:cNvSpPr/>
          <p:nvPr/>
        </p:nvSpPr>
        <p:spPr>
          <a:xfrm>
            <a:off x="7145121" y="2185416"/>
            <a:ext cx="164592" cy="182880"/>
          </a:xfrm>
          <a:prstGeom prst="rightArrow">
            <a:avLst/>
          </a:prstGeom>
          <a:solidFill>
            <a:srgbClr val="66717C"/>
          </a:solidFill>
          <a:ln/>
        </p:spPr>
      </p:sp>
      <p:sp>
        <p:nvSpPr>
          <p:cNvPr id="89" name="Flow Card 3"/>
          <p:cNvSpPr/>
          <p:nvPr/>
        </p:nvSpPr>
        <p:spPr>
          <a:xfrm>
            <a:off x="7346289" y="1691640"/>
            <a:ext cx="2028139" cy="1170432"/>
          </a:xfrm>
          <a:prstGeom prst="roundRect">
            <a:avLst>
              <a:gd name="adj" fmla="val 7000"/>
            </a:avLst>
          </a:prstGeom>
          <a:solidFill>
            <a:srgbClr val="F2F4F6"/>
          </a:solidFill>
          <a:ln/>
        </p:spPr>
      </p:sp>
      <p:sp>
        <p:nvSpPr>
          <p:cNvPr id="90" name="Flow Text 3"/>
          <p:cNvSpPr txBox="1"/>
          <p:nvPr/>
        </p:nvSpPr>
        <p:spPr>
          <a:xfrm>
            <a:off x="7346289" y="1691640"/>
            <a:ext cx="2028139" cy="1170432"/>
          </a:xfrm>
          <a:prstGeom prst="rect">
            <a:avLst/>
          </a:prstGeom>
          <a:noFill/>
          <a:ln/>
        </p:spPr>
        <p:txBody>
          <a:bodyPr wrap="square" lIns="109728" tIns="128016" rIns="109728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15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　不足を集める</a:t>
            </a:r>
          </a:p>
          <a:p>
            <a:pPr indent="0" marL="0">
              <a:lnSpc>
                <a:spcPct val="115000"/>
              </a:lnSpc>
              <a:spcBef>
                <a:spcPts val="200"/>
              </a:spcBef>
              <a:buNone/>
            </a:pPr>
            <a:r>
              <a:rPr lang="ja-JP" altLang="en-US" sz="900" b="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担当者</a:t>
            </a:r>
          </a:p>
          <a:p>
            <a:pPr indent="0" marL="0">
              <a:lnSpc>
                <a:spcPct val="115000"/>
              </a:lnSpc>
              <a:spcBef>
                <a:spcPts val="300"/>
              </a:spcBef>
              <a:buNone/>
            </a:pPr>
            <a:r>
              <a:rPr lang="ja-JP" altLang="en-US" sz="95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協議で足りない情報を、起案者・所管・台帳から集める</a:t>
            </a:r>
          </a:p>
        </p:txBody>
      </p:sp>
      <p:sp>
        <p:nvSpPr>
          <p:cNvPr id="91" name="Flow Arrow 3"/>
          <p:cNvSpPr/>
          <p:nvPr/>
        </p:nvSpPr>
        <p:spPr>
          <a:xfrm>
            <a:off x="9411004" y="2185416"/>
            <a:ext cx="164592" cy="182880"/>
          </a:xfrm>
          <a:prstGeom prst="rightArrow">
            <a:avLst/>
          </a:prstGeom>
          <a:solidFill>
            <a:srgbClr val="66717C"/>
          </a:solidFill>
          <a:ln/>
        </p:spPr>
      </p:sp>
      <p:sp>
        <p:nvSpPr>
          <p:cNvPr id="92" name="Flow Card 4"/>
          <p:cNvSpPr/>
          <p:nvPr/>
        </p:nvSpPr>
        <p:spPr>
          <a:xfrm>
            <a:off x="9612172" y="1691640"/>
            <a:ext cx="2028139" cy="11704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C98A12"/>
            </a:solidFill>
          </a:ln>
        </p:spPr>
      </p:sp>
      <p:sp>
        <p:nvSpPr>
          <p:cNvPr id="93" name="Flow Text 4"/>
          <p:cNvSpPr txBox="1"/>
          <p:nvPr/>
        </p:nvSpPr>
        <p:spPr>
          <a:xfrm>
            <a:off x="9612172" y="1691640"/>
            <a:ext cx="2028139" cy="1170432"/>
          </a:xfrm>
          <a:prstGeom prst="rect">
            <a:avLst/>
          </a:prstGeom>
          <a:noFill/>
          <a:ln/>
        </p:spPr>
        <p:txBody>
          <a:bodyPr wrap="square" lIns="109728" tIns="128016" rIns="109728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15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　論点を区分する</a:t>
            </a:r>
          </a:p>
          <a:p>
            <a:pPr indent="0" marL="0">
              <a:lnSpc>
                <a:spcPct val="115000"/>
              </a:lnSpc>
              <a:spcBef>
                <a:spcPts val="200"/>
              </a:spcBef>
              <a:buNone/>
            </a:pPr>
            <a:r>
              <a:rPr lang="ja-JP" altLang="en-US" sz="900" b="0" dirty="0">
                <a:solidFill>
                  <a:srgbClr val="C98A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担当者</a:t>
            </a:r>
          </a:p>
          <a:p>
            <a:pPr indent="0" marL="0">
              <a:lnSpc>
                <a:spcPct val="115000"/>
              </a:lnSpc>
              <a:spcBef>
                <a:spcPts val="300"/>
              </a:spcBef>
              <a:buNone/>
            </a:pPr>
            <a:r>
              <a:rPr lang="ja-JP" altLang="en-US" sz="95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すべての論点を3つに区分する（p.8）</a:t>
            </a:r>
          </a:p>
        </p:txBody>
      </p:sp>
      <p:sp>
        <p:nvSpPr>
          <p:cNvPr id="94" name="Lens Panel"/>
          <p:cNvSpPr/>
          <p:nvPr/>
        </p:nvSpPr>
        <p:spPr>
          <a:xfrm>
            <a:off x="548640" y="3090672"/>
            <a:ext cx="4892040" cy="3127248"/>
          </a:xfrm>
          <a:prstGeom prst="roundRect">
            <a:avLst>
              <a:gd name="adj" fmla="val 4000"/>
            </a:avLst>
          </a:prstGeom>
          <a:solidFill>
            <a:srgbClr val="F2F4F6"/>
          </a:solidFill>
          <a:ln/>
        </p:spPr>
      </p:sp>
      <p:sp>
        <p:nvSpPr>
          <p:cNvPr id="95" name="Lens Title"/>
          <p:cNvSpPr txBox="1"/>
          <p:nvPr/>
        </p:nvSpPr>
        <p:spPr>
          <a:xfrm>
            <a:off x="713232" y="3163824"/>
            <a:ext cx="4562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15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共通性の要素と、協議するケイパビリティ（例）</a:t>
            </a:r>
          </a:p>
        </p:txBody>
      </p:sp>
      <p:sp>
        <p:nvSpPr>
          <p:cNvPr id="96" name="Lens El 0"/>
          <p:cNvSpPr/>
          <p:nvPr/>
        </p:nvSpPr>
        <p:spPr>
          <a:xfrm>
            <a:off x="713232" y="3529584"/>
            <a:ext cx="1188720" cy="310896"/>
          </a:xfrm>
          <a:prstGeom prst="rect">
            <a:avLst/>
          </a:prstGeom>
          <a:solidFill>
            <a:srgbClr val="E5F2EE"/>
          </a:solidFill>
          <a:ln/>
        </p:spPr>
      </p:sp>
      <p:sp>
        <p:nvSpPr>
          <p:cNvPr id="97" name="Lens El Text 0"/>
          <p:cNvSpPr txBox="1"/>
          <p:nvPr/>
        </p:nvSpPr>
        <p:spPr>
          <a:xfrm>
            <a:off x="713232" y="3529584"/>
            <a:ext cx="1188720" cy="310896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00" b="1" dirty="0">
                <a:solidFill>
                  <a:srgbClr val="1F7A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受益範囲</a:t>
            </a:r>
          </a:p>
        </p:txBody>
      </p:sp>
      <p:sp>
        <p:nvSpPr>
          <p:cNvPr id="98" name="Lens Cap 0"/>
          <p:cNvSpPr/>
          <p:nvPr/>
        </p:nvSpPr>
        <p:spPr>
          <a:xfrm>
            <a:off x="1947672" y="3529584"/>
            <a:ext cx="3328416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Lens Cap Text 0"/>
          <p:cNvSpPr txBox="1"/>
          <p:nvPr/>
        </p:nvSpPr>
        <p:spPr>
          <a:xfrm>
            <a:off x="1947672" y="3529584"/>
            <a:ext cx="3328416" cy="310896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90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需要管理、アプリケーションポートフォリオ管理</a:t>
            </a:r>
          </a:p>
        </p:txBody>
      </p:sp>
      <p:sp>
        <p:nvSpPr>
          <p:cNvPr id="100" name="Lens El 1"/>
          <p:cNvSpPr/>
          <p:nvPr/>
        </p:nvSpPr>
        <p:spPr>
          <a:xfrm>
            <a:off x="713232" y="3881628"/>
            <a:ext cx="1188720" cy="310896"/>
          </a:xfrm>
          <a:prstGeom prst="rect">
            <a:avLst/>
          </a:prstGeom>
          <a:solidFill>
            <a:srgbClr val="E5F2EE"/>
          </a:solidFill>
          <a:ln/>
        </p:spPr>
      </p:sp>
      <p:sp>
        <p:nvSpPr>
          <p:cNvPr id="101" name="Lens El Text 1"/>
          <p:cNvSpPr txBox="1"/>
          <p:nvPr/>
        </p:nvSpPr>
        <p:spPr>
          <a:xfrm>
            <a:off x="713232" y="3881628"/>
            <a:ext cx="1188720" cy="310896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00" b="1" dirty="0">
                <a:solidFill>
                  <a:srgbClr val="1F7A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つながり</a:t>
            </a:r>
          </a:p>
        </p:txBody>
      </p:sp>
      <p:sp>
        <p:nvSpPr>
          <p:cNvPr id="102" name="Lens Cap 1"/>
          <p:cNvSpPr/>
          <p:nvPr/>
        </p:nvSpPr>
        <p:spPr>
          <a:xfrm>
            <a:off x="1947672" y="3881628"/>
            <a:ext cx="3328416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3" name="Lens Cap Text 1"/>
          <p:cNvSpPr txBox="1"/>
          <p:nvPr/>
        </p:nvSpPr>
        <p:spPr>
          <a:xfrm>
            <a:off x="1947672" y="3881628"/>
            <a:ext cx="3328416" cy="310896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90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システム連携、マスタデータ管理</a:t>
            </a:r>
          </a:p>
        </p:txBody>
      </p:sp>
      <p:sp>
        <p:nvSpPr>
          <p:cNvPr id="104" name="Lens El 2"/>
          <p:cNvSpPr/>
          <p:nvPr/>
        </p:nvSpPr>
        <p:spPr>
          <a:xfrm>
            <a:off x="713232" y="4233672"/>
            <a:ext cx="1188720" cy="310896"/>
          </a:xfrm>
          <a:prstGeom prst="rect">
            <a:avLst/>
          </a:prstGeom>
          <a:solidFill>
            <a:srgbClr val="E5F2EE"/>
          </a:solidFill>
          <a:ln/>
        </p:spPr>
      </p:sp>
      <p:sp>
        <p:nvSpPr>
          <p:cNvPr id="105" name="Lens El Text 2"/>
          <p:cNvSpPr txBox="1"/>
          <p:nvPr/>
        </p:nvSpPr>
        <p:spPr>
          <a:xfrm>
            <a:off x="713232" y="4233672"/>
            <a:ext cx="1188720" cy="310896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00" b="1" dirty="0">
                <a:solidFill>
                  <a:srgbClr val="1F7A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前提依存</a:t>
            </a:r>
          </a:p>
        </p:txBody>
      </p:sp>
      <p:sp>
        <p:nvSpPr>
          <p:cNvPr id="106" name="Lens Cap 2"/>
          <p:cNvSpPr/>
          <p:nvPr/>
        </p:nvSpPr>
        <p:spPr>
          <a:xfrm>
            <a:off x="1947672" y="4233672"/>
            <a:ext cx="3328416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7" name="Lens Cap Text 2"/>
          <p:cNvSpPr txBox="1"/>
          <p:nvPr/>
        </p:nvSpPr>
        <p:spPr>
          <a:xfrm>
            <a:off x="1947672" y="4233672"/>
            <a:ext cx="3328416" cy="310896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90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アーキテクチャ設計（現状・将来像）</a:t>
            </a:r>
          </a:p>
        </p:txBody>
      </p:sp>
      <p:sp>
        <p:nvSpPr>
          <p:cNvPr id="108" name="Lens El 3"/>
          <p:cNvSpPr/>
          <p:nvPr/>
        </p:nvSpPr>
        <p:spPr>
          <a:xfrm>
            <a:off x="713232" y="4585716"/>
            <a:ext cx="1188720" cy="310896"/>
          </a:xfrm>
          <a:prstGeom prst="rect">
            <a:avLst/>
          </a:prstGeom>
          <a:solidFill>
            <a:srgbClr val="FBEDEA"/>
          </a:solidFill>
          <a:ln/>
        </p:spPr>
      </p:sp>
      <p:sp>
        <p:nvSpPr>
          <p:cNvPr id="109" name="Lens El Text 3"/>
          <p:cNvSpPr txBox="1"/>
          <p:nvPr/>
        </p:nvSpPr>
        <p:spPr>
          <a:xfrm>
            <a:off x="713232" y="4585716"/>
            <a:ext cx="1188720" cy="310896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00" b="1" dirty="0">
                <a:solidFill>
                  <a:srgbClr val="B547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保守期限</a:t>
            </a:r>
          </a:p>
        </p:txBody>
      </p:sp>
      <p:sp>
        <p:nvSpPr>
          <p:cNvPr id="110" name="Lens Cap 3"/>
          <p:cNvSpPr/>
          <p:nvPr/>
        </p:nvSpPr>
        <p:spPr>
          <a:xfrm>
            <a:off x="1947672" y="4585716"/>
            <a:ext cx="3328416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1" name="Lens Cap Text 3"/>
          <p:cNvSpPr txBox="1"/>
          <p:nvPr/>
        </p:nvSpPr>
        <p:spPr>
          <a:xfrm>
            <a:off x="1947672" y="4585716"/>
            <a:ext cx="3328416" cy="310896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90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ソフトウェアライセンス・SaaS管理、構成管理</a:t>
            </a:r>
          </a:p>
        </p:txBody>
      </p:sp>
      <p:sp>
        <p:nvSpPr>
          <p:cNvPr id="112" name="Lens El 4"/>
          <p:cNvSpPr/>
          <p:nvPr/>
        </p:nvSpPr>
        <p:spPr>
          <a:xfrm>
            <a:off x="713232" y="4937760"/>
            <a:ext cx="1188720" cy="310896"/>
          </a:xfrm>
          <a:prstGeom prst="rect">
            <a:avLst/>
          </a:prstGeom>
          <a:solidFill>
            <a:srgbClr val="FBEDEA"/>
          </a:solidFill>
          <a:ln/>
        </p:spPr>
      </p:sp>
      <p:sp>
        <p:nvSpPr>
          <p:cNvPr id="113" name="Lens El Text 4"/>
          <p:cNvSpPr txBox="1"/>
          <p:nvPr/>
        </p:nvSpPr>
        <p:spPr>
          <a:xfrm>
            <a:off x="713232" y="4937760"/>
            <a:ext cx="1188720" cy="310896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00" b="1" dirty="0">
                <a:solidFill>
                  <a:srgbClr val="B547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標準からの逸脱</a:t>
            </a:r>
          </a:p>
        </p:txBody>
      </p:sp>
      <p:sp>
        <p:nvSpPr>
          <p:cNvPr id="114" name="Lens Cap 4"/>
          <p:cNvSpPr/>
          <p:nvPr/>
        </p:nvSpPr>
        <p:spPr>
          <a:xfrm>
            <a:off x="1947672" y="4937760"/>
            <a:ext cx="3328416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5" name="Lens Cap Text 4"/>
          <p:cNvSpPr txBox="1"/>
          <p:nvPr/>
        </p:nvSpPr>
        <p:spPr>
          <a:xfrm>
            <a:off x="1947672" y="4937760"/>
            <a:ext cx="3328416" cy="310896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90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技術標準・アーキテクチャレビュー</a:t>
            </a:r>
          </a:p>
        </p:txBody>
      </p:sp>
      <p:sp>
        <p:nvSpPr>
          <p:cNvPr id="116" name="Lens El 5"/>
          <p:cNvSpPr/>
          <p:nvPr/>
        </p:nvSpPr>
        <p:spPr>
          <a:xfrm>
            <a:off x="713232" y="5289804"/>
            <a:ext cx="1188720" cy="310896"/>
          </a:xfrm>
          <a:prstGeom prst="rect">
            <a:avLst/>
          </a:prstGeom>
          <a:solidFill>
            <a:srgbClr val="FBEDEA"/>
          </a:solidFill>
          <a:ln/>
        </p:spPr>
      </p:sp>
      <p:sp>
        <p:nvSpPr>
          <p:cNvPr id="117" name="Lens El Text 5"/>
          <p:cNvSpPr txBox="1"/>
          <p:nvPr/>
        </p:nvSpPr>
        <p:spPr>
          <a:xfrm>
            <a:off x="713232" y="5289804"/>
            <a:ext cx="1188720" cy="310896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00" b="1" dirty="0">
                <a:solidFill>
                  <a:srgbClr val="B547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重複と個別運用</a:t>
            </a:r>
          </a:p>
        </p:txBody>
      </p:sp>
      <p:sp>
        <p:nvSpPr>
          <p:cNvPr id="118" name="Lens Cap 5"/>
          <p:cNvSpPr/>
          <p:nvPr/>
        </p:nvSpPr>
        <p:spPr>
          <a:xfrm>
            <a:off x="1947672" y="5289804"/>
            <a:ext cx="3328416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9" name="Lens Cap Text 5"/>
          <p:cNvSpPr txBox="1"/>
          <p:nvPr/>
        </p:nvSpPr>
        <p:spPr>
          <a:xfrm>
            <a:off x="1947672" y="5289804"/>
            <a:ext cx="3328416" cy="310896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90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アプリケーションポートフォリオ管理、委託先の評価・監督</a:t>
            </a:r>
          </a:p>
        </p:txBody>
      </p:sp>
      <p:sp>
        <p:nvSpPr>
          <p:cNvPr id="120" name="Lens Note"/>
          <p:cNvSpPr txBox="1"/>
          <p:nvPr/>
        </p:nvSpPr>
        <p:spPr>
          <a:xfrm>
            <a:off x="713232" y="5641848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850" b="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緑＝基盤性、赤＝負債。名称はケイパビリティマップのL3</a:t>
            </a:r>
          </a:p>
        </p:txBody>
      </p:sp>
      <p:sp>
        <p:nvSpPr>
          <p:cNvPr id="121" name="Map Panel"/>
          <p:cNvSpPr/>
          <p:nvPr/>
        </p:nvSpPr>
        <p:spPr>
          <a:xfrm>
            <a:off x="5623560" y="3090672"/>
            <a:ext cx="6016752" cy="3127248"/>
          </a:xfrm>
          <a:prstGeom prst="roundRect">
            <a:avLst>
              <a:gd name="adj" fmla="val 4000"/>
            </a:avLst>
          </a:prstGeom>
          <a:solidFill>
            <a:srgbClr val="F2F4F6"/>
          </a:solidFill>
          <a:ln/>
        </p:spPr>
      </p:sp>
      <p:sp>
        <p:nvSpPr>
          <p:cNvPr id="122" name="Map Title"/>
          <p:cNvSpPr txBox="1"/>
          <p:nvPr/>
        </p:nvSpPr>
        <p:spPr>
          <a:xfrm>
            <a:off x="5733288" y="3145536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5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ケイパビリティマップ（簡易版・L2）</a:t>
            </a:r>
            <a:r>
              <a:rPr lang="ja-JP" altLang="en-US" sz="1050" b="0" dirty="0">
                <a:solidFill>
                  <a:srgbClr val="C98A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■ </a:t>
            </a:r>
            <a:r>
              <a:rPr lang="ja-JP" altLang="en-US" sz="1050" b="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左表で協議する能力</a:t>
            </a:r>
          </a:p>
        </p:txBody>
      </p:sp>
      <p:sp>
        <p:nvSpPr>
          <p:cNvPr id="123" name="Map Band"/>
          <p:cNvSpPr/>
          <p:nvPr/>
        </p:nvSpPr>
        <p:spPr>
          <a:xfrm>
            <a:off x="5733288" y="3474720"/>
            <a:ext cx="5797296" cy="384048"/>
          </a:xfrm>
          <a:prstGeom prst="roundRect">
            <a:avLst>
              <a:gd name="adj" fmla="val 8000"/>
            </a:avLst>
          </a:prstGeom>
          <a:solidFill>
            <a:srgbClr val="E5F2EE"/>
          </a:solidFill>
          <a:ln/>
        </p:spPr>
      </p:sp>
      <p:sp>
        <p:nvSpPr>
          <p:cNvPr id="124" name="Map Band Label"/>
          <p:cNvSpPr txBox="1"/>
          <p:nvPr/>
        </p:nvSpPr>
        <p:spPr>
          <a:xfrm>
            <a:off x="5733288" y="3474720"/>
            <a:ext cx="960120" cy="384048"/>
          </a:xfrm>
          <a:prstGeom prst="rect">
            <a:avLst/>
          </a:prstGeom>
          <a:noFill/>
          <a:ln/>
        </p:spPr>
        <p:txBody>
          <a:bodyPr wrap="square" lIns="54864" tIns="0" rIns="54864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7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戦略・ガバナンス</a:t>
            </a:r>
          </a:p>
        </p:txBody>
      </p:sp>
      <p:sp>
        <p:nvSpPr>
          <p:cNvPr id="125" name="Map Chip"/>
          <p:cNvSpPr/>
          <p:nvPr/>
        </p:nvSpPr>
        <p:spPr>
          <a:xfrm>
            <a:off x="6693408" y="3520440"/>
            <a:ext cx="927201" cy="2926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ADF"/>
            </a:solidFill>
          </a:ln>
        </p:spPr>
      </p:sp>
      <p:sp>
        <p:nvSpPr>
          <p:cNvPr id="126" name="Map Chip Text"/>
          <p:cNvSpPr txBox="1"/>
          <p:nvPr/>
        </p:nvSpPr>
        <p:spPr>
          <a:xfrm>
            <a:off x="6693408" y="3520440"/>
            <a:ext cx="927201" cy="292608"/>
          </a:xfrm>
          <a:prstGeom prst="rect">
            <a:avLst/>
          </a:prstGeom>
          <a:noFill/>
          <a:ln/>
        </p:spPr>
        <p:txBody>
          <a:bodyPr wrap="square" lIns="27432" tIns="0" rIns="27432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7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IT戦略・DX企画</a:t>
            </a:r>
          </a:p>
        </p:txBody>
      </p:sp>
      <p:sp>
        <p:nvSpPr>
          <p:cNvPr id="127" name="Map Chip"/>
          <p:cNvSpPr/>
          <p:nvPr/>
        </p:nvSpPr>
        <p:spPr>
          <a:xfrm>
            <a:off x="7657185" y="3520440"/>
            <a:ext cx="927201" cy="292608"/>
          </a:xfrm>
          <a:prstGeom prst="roundRect">
            <a:avLst>
              <a:gd name="adj" fmla="val 8000"/>
            </a:avLst>
          </a:prstGeom>
          <a:solidFill>
            <a:srgbClr val="FDF4E0"/>
          </a:solidFill>
          <a:ln w="15875">
            <a:solidFill>
              <a:srgbClr val="C98A12"/>
            </a:solidFill>
          </a:ln>
        </p:spPr>
      </p:sp>
      <p:sp>
        <p:nvSpPr>
          <p:cNvPr id="128" name="Map Chip Text"/>
          <p:cNvSpPr txBox="1"/>
          <p:nvPr/>
        </p:nvSpPr>
        <p:spPr>
          <a:xfrm>
            <a:off x="7657185" y="3520440"/>
            <a:ext cx="927201" cy="292608"/>
          </a:xfrm>
          <a:prstGeom prst="rect">
            <a:avLst/>
          </a:prstGeom>
          <a:noFill/>
          <a:ln/>
        </p:spPr>
        <p:txBody>
          <a:bodyPr wrap="square" lIns="27432" tIns="0" rIns="27432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7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エンタープライズアーキテクチャ</a:t>
            </a:r>
          </a:p>
        </p:txBody>
      </p:sp>
      <p:sp>
        <p:nvSpPr>
          <p:cNvPr id="129" name="Map Chip"/>
          <p:cNvSpPr/>
          <p:nvPr/>
        </p:nvSpPr>
        <p:spPr>
          <a:xfrm>
            <a:off x="8620963" y="3520440"/>
            <a:ext cx="927201" cy="292608"/>
          </a:xfrm>
          <a:prstGeom prst="roundRect">
            <a:avLst>
              <a:gd name="adj" fmla="val 8000"/>
            </a:avLst>
          </a:prstGeom>
          <a:solidFill>
            <a:srgbClr val="FDF4E0"/>
          </a:solidFill>
          <a:ln w="15875">
            <a:solidFill>
              <a:srgbClr val="C98A12"/>
            </a:solidFill>
          </a:ln>
        </p:spPr>
      </p:sp>
      <p:sp>
        <p:nvSpPr>
          <p:cNvPr id="130" name="Map Chip Text"/>
          <p:cNvSpPr txBox="1"/>
          <p:nvPr/>
        </p:nvSpPr>
        <p:spPr>
          <a:xfrm>
            <a:off x="8620963" y="3520440"/>
            <a:ext cx="927201" cy="292608"/>
          </a:xfrm>
          <a:prstGeom prst="rect">
            <a:avLst/>
          </a:prstGeom>
          <a:noFill/>
          <a:ln/>
        </p:spPr>
        <p:txBody>
          <a:bodyPr wrap="square" lIns="27432" tIns="0" rIns="27432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7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ITポートフォリオ・需要管理</a:t>
            </a:r>
          </a:p>
        </p:txBody>
      </p:sp>
      <p:sp>
        <p:nvSpPr>
          <p:cNvPr id="131" name="Map Chip"/>
          <p:cNvSpPr/>
          <p:nvPr/>
        </p:nvSpPr>
        <p:spPr>
          <a:xfrm>
            <a:off x="9584740" y="3520440"/>
            <a:ext cx="927201" cy="2926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ADF"/>
            </a:solidFill>
          </a:ln>
        </p:spPr>
      </p:sp>
      <p:sp>
        <p:nvSpPr>
          <p:cNvPr id="132" name="Map Chip Text"/>
          <p:cNvSpPr txBox="1"/>
          <p:nvPr/>
        </p:nvSpPr>
        <p:spPr>
          <a:xfrm>
            <a:off x="9584740" y="3520440"/>
            <a:ext cx="927201" cy="292608"/>
          </a:xfrm>
          <a:prstGeom prst="rect">
            <a:avLst/>
          </a:prstGeom>
          <a:noFill/>
          <a:ln/>
        </p:spPr>
        <p:txBody>
          <a:bodyPr wrap="square" lIns="27432" tIns="0" rIns="27432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7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ITガバナンス・リスク管理</a:t>
            </a:r>
          </a:p>
        </p:txBody>
      </p:sp>
      <p:sp>
        <p:nvSpPr>
          <p:cNvPr id="133" name="Map Chip"/>
          <p:cNvSpPr/>
          <p:nvPr/>
        </p:nvSpPr>
        <p:spPr>
          <a:xfrm>
            <a:off x="10548518" y="3520440"/>
            <a:ext cx="927201" cy="2926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ADF"/>
            </a:solidFill>
          </a:ln>
        </p:spPr>
      </p:sp>
      <p:sp>
        <p:nvSpPr>
          <p:cNvPr id="134" name="Map Chip Text"/>
          <p:cNvSpPr txBox="1"/>
          <p:nvPr/>
        </p:nvSpPr>
        <p:spPr>
          <a:xfrm>
            <a:off x="10548518" y="3520440"/>
            <a:ext cx="927201" cy="292608"/>
          </a:xfrm>
          <a:prstGeom prst="rect">
            <a:avLst/>
          </a:prstGeom>
          <a:noFill/>
          <a:ln/>
        </p:spPr>
        <p:txBody>
          <a:bodyPr wrap="square" lIns="27432" tIns="0" rIns="27432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7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IT財務管理</a:t>
            </a:r>
          </a:p>
        </p:txBody>
      </p:sp>
      <p:sp>
        <p:nvSpPr>
          <p:cNvPr id="135" name="Map Core Label"/>
          <p:cNvSpPr txBox="1"/>
          <p:nvPr/>
        </p:nvSpPr>
        <p:spPr>
          <a:xfrm>
            <a:off x="5733288" y="3913632"/>
            <a:ext cx="11228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75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Solution Delivery</a:t>
            </a:r>
          </a:p>
        </p:txBody>
      </p:sp>
      <p:sp>
        <p:nvSpPr>
          <p:cNvPr id="136" name="Map Chip"/>
          <p:cNvSpPr/>
          <p:nvPr/>
        </p:nvSpPr>
        <p:spPr>
          <a:xfrm>
            <a:off x="5733288" y="4133088"/>
            <a:ext cx="1122883" cy="265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ADF"/>
            </a:solidFill>
          </a:ln>
        </p:spPr>
      </p:sp>
      <p:sp>
        <p:nvSpPr>
          <p:cNvPr id="137" name="Map Chip Text"/>
          <p:cNvSpPr txBox="1"/>
          <p:nvPr/>
        </p:nvSpPr>
        <p:spPr>
          <a:xfrm>
            <a:off x="5733288" y="4133088"/>
            <a:ext cx="1122883" cy="265176"/>
          </a:xfrm>
          <a:prstGeom prst="rect">
            <a:avLst/>
          </a:prstGeom>
          <a:noFill/>
          <a:ln/>
        </p:spPr>
        <p:txBody>
          <a:bodyPr wrap="square" lIns="27432" tIns="0" rIns="27432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7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プロジェクト管理</a:t>
            </a:r>
          </a:p>
        </p:txBody>
      </p:sp>
      <p:sp>
        <p:nvSpPr>
          <p:cNvPr id="138" name="Map Chip"/>
          <p:cNvSpPr/>
          <p:nvPr/>
        </p:nvSpPr>
        <p:spPr>
          <a:xfrm>
            <a:off x="5733288" y="4425696"/>
            <a:ext cx="1122883" cy="265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ADF"/>
            </a:solidFill>
          </a:ln>
        </p:spPr>
      </p:sp>
      <p:sp>
        <p:nvSpPr>
          <p:cNvPr id="139" name="Map Chip Text"/>
          <p:cNvSpPr txBox="1"/>
          <p:nvPr/>
        </p:nvSpPr>
        <p:spPr>
          <a:xfrm>
            <a:off x="5733288" y="4425696"/>
            <a:ext cx="1122883" cy="265176"/>
          </a:xfrm>
          <a:prstGeom prst="rect">
            <a:avLst/>
          </a:prstGeom>
          <a:noFill/>
          <a:ln/>
        </p:spPr>
        <p:txBody>
          <a:bodyPr wrap="square" lIns="27432" tIns="0" rIns="27432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7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要件定義・設計</a:t>
            </a:r>
          </a:p>
        </p:txBody>
      </p:sp>
      <p:sp>
        <p:nvSpPr>
          <p:cNvPr id="140" name="Map Chip"/>
          <p:cNvSpPr/>
          <p:nvPr/>
        </p:nvSpPr>
        <p:spPr>
          <a:xfrm>
            <a:off x="5733288" y="4718304"/>
            <a:ext cx="1122883" cy="265176"/>
          </a:xfrm>
          <a:prstGeom prst="roundRect">
            <a:avLst>
              <a:gd name="adj" fmla="val 8000"/>
            </a:avLst>
          </a:prstGeom>
          <a:solidFill>
            <a:srgbClr val="FDF4E0"/>
          </a:solidFill>
          <a:ln w="15875">
            <a:solidFill>
              <a:srgbClr val="C98A12"/>
            </a:solidFill>
          </a:ln>
        </p:spPr>
      </p:sp>
      <p:sp>
        <p:nvSpPr>
          <p:cNvPr id="141" name="Map Chip Text"/>
          <p:cNvSpPr txBox="1"/>
          <p:nvPr/>
        </p:nvSpPr>
        <p:spPr>
          <a:xfrm>
            <a:off x="5733288" y="4718304"/>
            <a:ext cx="1122883" cy="265176"/>
          </a:xfrm>
          <a:prstGeom prst="rect">
            <a:avLst/>
          </a:prstGeom>
          <a:noFill/>
          <a:ln/>
        </p:spPr>
        <p:txBody>
          <a:bodyPr wrap="square" lIns="27432" tIns="0" rIns="27432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7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開発・構成</a:t>
            </a:r>
          </a:p>
        </p:txBody>
      </p:sp>
      <p:sp>
        <p:nvSpPr>
          <p:cNvPr id="142" name="Map Chip"/>
          <p:cNvSpPr/>
          <p:nvPr/>
        </p:nvSpPr>
        <p:spPr>
          <a:xfrm>
            <a:off x="5733288" y="5010912"/>
            <a:ext cx="1122883" cy="265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ADF"/>
            </a:solidFill>
          </a:ln>
        </p:spPr>
      </p:sp>
      <p:sp>
        <p:nvSpPr>
          <p:cNvPr id="143" name="Map Chip Text"/>
          <p:cNvSpPr txBox="1"/>
          <p:nvPr/>
        </p:nvSpPr>
        <p:spPr>
          <a:xfrm>
            <a:off x="5733288" y="5010912"/>
            <a:ext cx="1122883" cy="265176"/>
          </a:xfrm>
          <a:prstGeom prst="rect">
            <a:avLst/>
          </a:prstGeom>
          <a:noFill/>
          <a:ln/>
        </p:spPr>
        <p:txBody>
          <a:bodyPr wrap="square" lIns="27432" tIns="0" rIns="27432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7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テスト・リリース</a:t>
            </a:r>
          </a:p>
        </p:txBody>
      </p:sp>
      <p:sp>
        <p:nvSpPr>
          <p:cNvPr id="144" name="Map Core Label"/>
          <p:cNvSpPr txBox="1"/>
          <p:nvPr/>
        </p:nvSpPr>
        <p:spPr>
          <a:xfrm>
            <a:off x="6901891" y="3913632"/>
            <a:ext cx="11228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75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Service Mgmt &amp; Ops</a:t>
            </a:r>
          </a:p>
        </p:txBody>
      </p:sp>
      <p:sp>
        <p:nvSpPr>
          <p:cNvPr id="145" name="Map Chip"/>
          <p:cNvSpPr/>
          <p:nvPr/>
        </p:nvSpPr>
        <p:spPr>
          <a:xfrm>
            <a:off x="6901891" y="4133088"/>
            <a:ext cx="1122883" cy="265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ADF"/>
            </a:solidFill>
          </a:ln>
        </p:spPr>
      </p:sp>
      <p:sp>
        <p:nvSpPr>
          <p:cNvPr id="146" name="Map Chip Text"/>
          <p:cNvSpPr txBox="1"/>
          <p:nvPr/>
        </p:nvSpPr>
        <p:spPr>
          <a:xfrm>
            <a:off x="6901891" y="4133088"/>
            <a:ext cx="1122883" cy="265176"/>
          </a:xfrm>
          <a:prstGeom prst="rect">
            <a:avLst/>
          </a:prstGeom>
          <a:noFill/>
          <a:ln/>
        </p:spPr>
        <p:txBody>
          <a:bodyPr wrap="square" lIns="27432" tIns="0" rIns="27432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7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サービスカタログ・サービスレベル管理</a:t>
            </a:r>
          </a:p>
        </p:txBody>
      </p:sp>
      <p:sp>
        <p:nvSpPr>
          <p:cNvPr id="147" name="Map Chip"/>
          <p:cNvSpPr/>
          <p:nvPr/>
        </p:nvSpPr>
        <p:spPr>
          <a:xfrm>
            <a:off x="6901891" y="4425696"/>
            <a:ext cx="1122883" cy="265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ADF"/>
            </a:solidFill>
          </a:ln>
        </p:spPr>
      </p:sp>
      <p:sp>
        <p:nvSpPr>
          <p:cNvPr id="148" name="Map Chip Text"/>
          <p:cNvSpPr txBox="1"/>
          <p:nvPr/>
        </p:nvSpPr>
        <p:spPr>
          <a:xfrm>
            <a:off x="6901891" y="4425696"/>
            <a:ext cx="1122883" cy="265176"/>
          </a:xfrm>
          <a:prstGeom prst="rect">
            <a:avLst/>
          </a:prstGeom>
          <a:noFill/>
          <a:ln/>
        </p:spPr>
        <p:txBody>
          <a:bodyPr wrap="square" lIns="27432" tIns="0" rIns="27432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7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サービスデスク・要求実現</a:t>
            </a:r>
          </a:p>
        </p:txBody>
      </p:sp>
      <p:sp>
        <p:nvSpPr>
          <p:cNvPr id="149" name="Map Chip"/>
          <p:cNvSpPr/>
          <p:nvPr/>
        </p:nvSpPr>
        <p:spPr>
          <a:xfrm>
            <a:off x="6901891" y="4718304"/>
            <a:ext cx="1122883" cy="265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ADF"/>
            </a:solidFill>
          </a:ln>
        </p:spPr>
      </p:sp>
      <p:sp>
        <p:nvSpPr>
          <p:cNvPr id="150" name="Map Chip Text"/>
          <p:cNvSpPr txBox="1"/>
          <p:nvPr/>
        </p:nvSpPr>
        <p:spPr>
          <a:xfrm>
            <a:off x="6901891" y="4718304"/>
            <a:ext cx="1122883" cy="265176"/>
          </a:xfrm>
          <a:prstGeom prst="rect">
            <a:avLst/>
          </a:prstGeom>
          <a:noFill/>
          <a:ln/>
        </p:spPr>
        <p:txBody>
          <a:bodyPr wrap="square" lIns="27432" tIns="0" rIns="27432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7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IT運用・監視</a:t>
            </a:r>
          </a:p>
        </p:txBody>
      </p:sp>
      <p:sp>
        <p:nvSpPr>
          <p:cNvPr id="151" name="Map Chip"/>
          <p:cNvSpPr/>
          <p:nvPr/>
        </p:nvSpPr>
        <p:spPr>
          <a:xfrm>
            <a:off x="6901891" y="5010912"/>
            <a:ext cx="1122883" cy="265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ADF"/>
            </a:solidFill>
          </a:ln>
        </p:spPr>
      </p:sp>
      <p:sp>
        <p:nvSpPr>
          <p:cNvPr id="152" name="Map Chip Text"/>
          <p:cNvSpPr txBox="1"/>
          <p:nvPr/>
        </p:nvSpPr>
        <p:spPr>
          <a:xfrm>
            <a:off x="6901891" y="5010912"/>
            <a:ext cx="1122883" cy="265176"/>
          </a:xfrm>
          <a:prstGeom prst="rect">
            <a:avLst/>
          </a:prstGeom>
          <a:noFill/>
          <a:ln/>
        </p:spPr>
        <p:txBody>
          <a:bodyPr wrap="square" lIns="27432" tIns="0" rIns="27432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7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インシデント・問題管理</a:t>
            </a:r>
          </a:p>
        </p:txBody>
      </p:sp>
      <p:sp>
        <p:nvSpPr>
          <p:cNvPr id="153" name="Map Chip"/>
          <p:cNvSpPr/>
          <p:nvPr/>
        </p:nvSpPr>
        <p:spPr>
          <a:xfrm>
            <a:off x="6901891" y="5303520"/>
            <a:ext cx="1122883" cy="265176"/>
          </a:xfrm>
          <a:prstGeom prst="roundRect">
            <a:avLst>
              <a:gd name="adj" fmla="val 8000"/>
            </a:avLst>
          </a:prstGeom>
          <a:solidFill>
            <a:srgbClr val="FDF4E0"/>
          </a:solidFill>
          <a:ln w="15875">
            <a:solidFill>
              <a:srgbClr val="C98A12"/>
            </a:solidFill>
          </a:ln>
        </p:spPr>
      </p:sp>
      <p:sp>
        <p:nvSpPr>
          <p:cNvPr id="154" name="Map Chip Text"/>
          <p:cNvSpPr txBox="1"/>
          <p:nvPr/>
        </p:nvSpPr>
        <p:spPr>
          <a:xfrm>
            <a:off x="6901891" y="5303520"/>
            <a:ext cx="1122883" cy="265176"/>
          </a:xfrm>
          <a:prstGeom prst="rect">
            <a:avLst/>
          </a:prstGeom>
          <a:noFill/>
          <a:ln/>
        </p:spPr>
        <p:txBody>
          <a:bodyPr wrap="square" lIns="27432" tIns="0" rIns="27432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7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変更・構成管理</a:t>
            </a:r>
          </a:p>
        </p:txBody>
      </p:sp>
      <p:sp>
        <p:nvSpPr>
          <p:cNvPr id="155" name="Map Core Label"/>
          <p:cNvSpPr txBox="1"/>
          <p:nvPr/>
        </p:nvSpPr>
        <p:spPr>
          <a:xfrm>
            <a:off x="8070494" y="3913632"/>
            <a:ext cx="11228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75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Platform &amp; Infra</a:t>
            </a:r>
          </a:p>
        </p:txBody>
      </p:sp>
      <p:sp>
        <p:nvSpPr>
          <p:cNvPr id="156" name="Map Chip"/>
          <p:cNvSpPr/>
          <p:nvPr/>
        </p:nvSpPr>
        <p:spPr>
          <a:xfrm>
            <a:off x="8070494" y="4133088"/>
            <a:ext cx="1122883" cy="265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ADF"/>
            </a:solidFill>
          </a:ln>
        </p:spPr>
      </p:sp>
      <p:sp>
        <p:nvSpPr>
          <p:cNvPr id="157" name="Map Chip Text"/>
          <p:cNvSpPr txBox="1"/>
          <p:nvPr/>
        </p:nvSpPr>
        <p:spPr>
          <a:xfrm>
            <a:off x="8070494" y="4133088"/>
            <a:ext cx="1122883" cy="265176"/>
          </a:xfrm>
          <a:prstGeom prst="rect">
            <a:avLst/>
          </a:prstGeom>
          <a:noFill/>
          <a:ln/>
        </p:spPr>
        <p:txBody>
          <a:bodyPr wrap="square" lIns="27432" tIns="0" rIns="27432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7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クラウド・データセンター</a:t>
            </a:r>
          </a:p>
        </p:txBody>
      </p:sp>
      <p:sp>
        <p:nvSpPr>
          <p:cNvPr id="158" name="Map Chip"/>
          <p:cNvSpPr/>
          <p:nvPr/>
        </p:nvSpPr>
        <p:spPr>
          <a:xfrm>
            <a:off x="8070494" y="4425696"/>
            <a:ext cx="1122883" cy="265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ADF"/>
            </a:solidFill>
          </a:ln>
        </p:spPr>
      </p:sp>
      <p:sp>
        <p:nvSpPr>
          <p:cNvPr id="159" name="Map Chip Text"/>
          <p:cNvSpPr txBox="1"/>
          <p:nvPr/>
        </p:nvSpPr>
        <p:spPr>
          <a:xfrm>
            <a:off x="8070494" y="4425696"/>
            <a:ext cx="1122883" cy="265176"/>
          </a:xfrm>
          <a:prstGeom prst="rect">
            <a:avLst/>
          </a:prstGeom>
          <a:noFill/>
          <a:ln/>
        </p:spPr>
        <p:txBody>
          <a:bodyPr wrap="square" lIns="27432" tIns="0" rIns="27432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7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ネットワーク</a:t>
            </a:r>
          </a:p>
        </p:txBody>
      </p:sp>
      <p:sp>
        <p:nvSpPr>
          <p:cNvPr id="160" name="Map Chip"/>
          <p:cNvSpPr/>
          <p:nvPr/>
        </p:nvSpPr>
        <p:spPr>
          <a:xfrm>
            <a:off x="8070494" y="4718304"/>
            <a:ext cx="1122883" cy="265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ADF"/>
            </a:solidFill>
          </a:ln>
        </p:spPr>
      </p:sp>
      <p:sp>
        <p:nvSpPr>
          <p:cNvPr id="161" name="Map Chip Text"/>
          <p:cNvSpPr txBox="1"/>
          <p:nvPr/>
        </p:nvSpPr>
        <p:spPr>
          <a:xfrm>
            <a:off x="8070494" y="4718304"/>
            <a:ext cx="1122883" cy="265176"/>
          </a:xfrm>
          <a:prstGeom prst="rect">
            <a:avLst/>
          </a:prstGeom>
          <a:noFill/>
          <a:ln/>
        </p:spPr>
        <p:txBody>
          <a:bodyPr wrap="square" lIns="27432" tIns="0" rIns="27432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7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エンドユーザー環境</a:t>
            </a:r>
          </a:p>
        </p:txBody>
      </p:sp>
      <p:sp>
        <p:nvSpPr>
          <p:cNvPr id="162" name="Map Chip"/>
          <p:cNvSpPr/>
          <p:nvPr/>
        </p:nvSpPr>
        <p:spPr>
          <a:xfrm>
            <a:off x="8070494" y="5010912"/>
            <a:ext cx="1122883" cy="265176"/>
          </a:xfrm>
          <a:prstGeom prst="roundRect">
            <a:avLst>
              <a:gd name="adj" fmla="val 8000"/>
            </a:avLst>
          </a:prstGeom>
          <a:solidFill>
            <a:srgbClr val="FDF4E0"/>
          </a:solidFill>
          <a:ln w="15875">
            <a:solidFill>
              <a:srgbClr val="C98A12"/>
            </a:solidFill>
          </a:ln>
        </p:spPr>
      </p:sp>
      <p:sp>
        <p:nvSpPr>
          <p:cNvPr id="163" name="Map Chip Text"/>
          <p:cNvSpPr txBox="1"/>
          <p:nvPr/>
        </p:nvSpPr>
        <p:spPr>
          <a:xfrm>
            <a:off x="8070494" y="5010912"/>
            <a:ext cx="1122883" cy="265176"/>
          </a:xfrm>
          <a:prstGeom prst="rect">
            <a:avLst/>
          </a:prstGeom>
          <a:noFill/>
          <a:ln/>
        </p:spPr>
        <p:txBody>
          <a:bodyPr wrap="square" lIns="27432" tIns="0" rIns="27432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7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IT資産・ライセンス管理</a:t>
            </a:r>
          </a:p>
        </p:txBody>
      </p:sp>
      <p:sp>
        <p:nvSpPr>
          <p:cNvPr id="164" name="Map Core Label"/>
          <p:cNvSpPr txBox="1"/>
          <p:nvPr/>
        </p:nvSpPr>
        <p:spPr>
          <a:xfrm>
            <a:off x="9239097" y="3913632"/>
            <a:ext cx="11228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75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Cybersecurity</a:t>
            </a:r>
          </a:p>
        </p:txBody>
      </p:sp>
      <p:sp>
        <p:nvSpPr>
          <p:cNvPr id="165" name="Map Chip"/>
          <p:cNvSpPr/>
          <p:nvPr/>
        </p:nvSpPr>
        <p:spPr>
          <a:xfrm>
            <a:off x="9239097" y="4133088"/>
            <a:ext cx="1122883" cy="265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ADF"/>
            </a:solidFill>
          </a:ln>
        </p:spPr>
      </p:sp>
      <p:sp>
        <p:nvSpPr>
          <p:cNvPr id="166" name="Map Chip Text"/>
          <p:cNvSpPr txBox="1"/>
          <p:nvPr/>
        </p:nvSpPr>
        <p:spPr>
          <a:xfrm>
            <a:off x="9239097" y="4133088"/>
            <a:ext cx="1122883" cy="265176"/>
          </a:xfrm>
          <a:prstGeom prst="rect">
            <a:avLst/>
          </a:prstGeom>
          <a:noFill/>
          <a:ln/>
        </p:spPr>
        <p:txBody>
          <a:bodyPr wrap="square" lIns="27432" tIns="0" rIns="27432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7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セキュリティガバナンス</a:t>
            </a:r>
          </a:p>
        </p:txBody>
      </p:sp>
      <p:sp>
        <p:nvSpPr>
          <p:cNvPr id="167" name="Map Chip"/>
          <p:cNvSpPr/>
          <p:nvPr/>
        </p:nvSpPr>
        <p:spPr>
          <a:xfrm>
            <a:off x="9239097" y="4425696"/>
            <a:ext cx="1122883" cy="265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ADF"/>
            </a:solidFill>
          </a:ln>
        </p:spPr>
      </p:sp>
      <p:sp>
        <p:nvSpPr>
          <p:cNvPr id="168" name="Map Chip Text"/>
          <p:cNvSpPr txBox="1"/>
          <p:nvPr/>
        </p:nvSpPr>
        <p:spPr>
          <a:xfrm>
            <a:off x="9239097" y="4425696"/>
            <a:ext cx="1122883" cy="265176"/>
          </a:xfrm>
          <a:prstGeom prst="rect">
            <a:avLst/>
          </a:prstGeom>
          <a:noFill/>
          <a:ln/>
        </p:spPr>
        <p:txBody>
          <a:bodyPr wrap="square" lIns="27432" tIns="0" rIns="27432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7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ID・アクセス管理</a:t>
            </a:r>
          </a:p>
        </p:txBody>
      </p:sp>
      <p:sp>
        <p:nvSpPr>
          <p:cNvPr id="169" name="Map Chip"/>
          <p:cNvSpPr/>
          <p:nvPr/>
        </p:nvSpPr>
        <p:spPr>
          <a:xfrm>
            <a:off x="9239097" y="4718304"/>
            <a:ext cx="1122883" cy="265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ADF"/>
            </a:solidFill>
          </a:ln>
        </p:spPr>
      </p:sp>
      <p:sp>
        <p:nvSpPr>
          <p:cNvPr id="170" name="Map Chip Text"/>
          <p:cNvSpPr txBox="1"/>
          <p:nvPr/>
        </p:nvSpPr>
        <p:spPr>
          <a:xfrm>
            <a:off x="9239097" y="4718304"/>
            <a:ext cx="1122883" cy="265176"/>
          </a:xfrm>
          <a:prstGeom prst="rect">
            <a:avLst/>
          </a:prstGeom>
          <a:noFill/>
          <a:ln/>
        </p:spPr>
        <p:txBody>
          <a:bodyPr wrap="square" lIns="27432" tIns="0" rIns="27432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7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セキュリティ運用</a:t>
            </a:r>
          </a:p>
        </p:txBody>
      </p:sp>
      <p:sp>
        <p:nvSpPr>
          <p:cNvPr id="171" name="Map Core Label"/>
          <p:cNvSpPr txBox="1"/>
          <p:nvPr/>
        </p:nvSpPr>
        <p:spPr>
          <a:xfrm>
            <a:off x="10407700" y="3913632"/>
            <a:ext cx="11228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75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&amp; GxP</a:t>
            </a:r>
          </a:p>
        </p:txBody>
      </p:sp>
      <p:sp>
        <p:nvSpPr>
          <p:cNvPr id="172" name="Map Chip"/>
          <p:cNvSpPr/>
          <p:nvPr/>
        </p:nvSpPr>
        <p:spPr>
          <a:xfrm>
            <a:off x="10407700" y="4133088"/>
            <a:ext cx="1122883" cy="265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ADF"/>
            </a:solidFill>
          </a:ln>
        </p:spPr>
      </p:sp>
      <p:sp>
        <p:nvSpPr>
          <p:cNvPr id="173" name="Map Chip Text"/>
          <p:cNvSpPr txBox="1"/>
          <p:nvPr/>
        </p:nvSpPr>
        <p:spPr>
          <a:xfrm>
            <a:off x="10407700" y="4133088"/>
            <a:ext cx="1122883" cy="265176"/>
          </a:xfrm>
          <a:prstGeom prst="rect">
            <a:avLst/>
          </a:prstGeom>
          <a:noFill/>
          <a:ln/>
        </p:spPr>
        <p:txBody>
          <a:bodyPr wrap="square" lIns="27432" tIns="0" rIns="27432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7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GxPシステム管理（CSV）</a:t>
            </a:r>
          </a:p>
        </p:txBody>
      </p:sp>
      <p:sp>
        <p:nvSpPr>
          <p:cNvPr id="174" name="Map Chip"/>
          <p:cNvSpPr/>
          <p:nvPr/>
        </p:nvSpPr>
        <p:spPr>
          <a:xfrm>
            <a:off x="10407700" y="4425696"/>
            <a:ext cx="1122883" cy="265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ADF"/>
            </a:solidFill>
          </a:ln>
        </p:spPr>
      </p:sp>
      <p:sp>
        <p:nvSpPr>
          <p:cNvPr id="175" name="Map Chip Text"/>
          <p:cNvSpPr txBox="1"/>
          <p:nvPr/>
        </p:nvSpPr>
        <p:spPr>
          <a:xfrm>
            <a:off x="10407700" y="4425696"/>
            <a:ext cx="1122883" cy="265176"/>
          </a:xfrm>
          <a:prstGeom prst="rect">
            <a:avLst/>
          </a:prstGeom>
          <a:noFill/>
          <a:ln/>
        </p:spPr>
        <p:txBody>
          <a:bodyPr wrap="square" lIns="27432" tIns="0" rIns="27432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7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データインテグリティ</a:t>
            </a:r>
          </a:p>
        </p:txBody>
      </p:sp>
      <p:sp>
        <p:nvSpPr>
          <p:cNvPr id="176" name="Map Chip"/>
          <p:cNvSpPr/>
          <p:nvPr/>
        </p:nvSpPr>
        <p:spPr>
          <a:xfrm>
            <a:off x="10407700" y="4718304"/>
            <a:ext cx="1122883" cy="265176"/>
          </a:xfrm>
          <a:prstGeom prst="roundRect">
            <a:avLst>
              <a:gd name="adj" fmla="val 8000"/>
            </a:avLst>
          </a:prstGeom>
          <a:solidFill>
            <a:srgbClr val="FDF4E0"/>
          </a:solidFill>
          <a:ln w="15875">
            <a:solidFill>
              <a:srgbClr val="C98A12"/>
            </a:solidFill>
          </a:ln>
        </p:spPr>
      </p:sp>
      <p:sp>
        <p:nvSpPr>
          <p:cNvPr id="177" name="Map Chip Text"/>
          <p:cNvSpPr txBox="1"/>
          <p:nvPr/>
        </p:nvSpPr>
        <p:spPr>
          <a:xfrm>
            <a:off x="10407700" y="4718304"/>
            <a:ext cx="1122883" cy="265176"/>
          </a:xfrm>
          <a:prstGeom prst="rect">
            <a:avLst/>
          </a:prstGeom>
          <a:noFill/>
          <a:ln/>
        </p:spPr>
        <p:txBody>
          <a:bodyPr wrap="square" lIns="27432" tIns="0" rIns="27432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7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データ管理</a:t>
            </a:r>
          </a:p>
        </p:txBody>
      </p:sp>
      <p:sp>
        <p:nvSpPr>
          <p:cNvPr id="178" name="Map Chip"/>
          <p:cNvSpPr/>
          <p:nvPr/>
        </p:nvSpPr>
        <p:spPr>
          <a:xfrm>
            <a:off x="10407700" y="5010912"/>
            <a:ext cx="1122883" cy="265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ADF"/>
            </a:solidFill>
          </a:ln>
        </p:spPr>
      </p:sp>
      <p:sp>
        <p:nvSpPr>
          <p:cNvPr id="179" name="Map Chip Text"/>
          <p:cNvSpPr txBox="1"/>
          <p:nvPr/>
        </p:nvSpPr>
        <p:spPr>
          <a:xfrm>
            <a:off x="10407700" y="5010912"/>
            <a:ext cx="1122883" cy="265176"/>
          </a:xfrm>
          <a:prstGeom prst="rect">
            <a:avLst/>
          </a:prstGeom>
          <a:noFill/>
          <a:ln/>
        </p:spPr>
        <p:txBody>
          <a:bodyPr wrap="square" lIns="27432" tIns="0" rIns="27432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7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個人情報・データ保護</a:t>
            </a:r>
          </a:p>
        </p:txBody>
      </p:sp>
      <p:sp>
        <p:nvSpPr>
          <p:cNvPr id="180" name="Map Band"/>
          <p:cNvSpPr/>
          <p:nvPr/>
        </p:nvSpPr>
        <p:spPr>
          <a:xfrm>
            <a:off x="5733288" y="5632704"/>
            <a:ext cx="5797296" cy="493776"/>
          </a:xfrm>
          <a:prstGeom prst="roundRect">
            <a:avLst>
              <a:gd name="adj" fmla="val 8000"/>
            </a:avLst>
          </a:prstGeom>
          <a:solidFill>
            <a:srgbClr val="FDF4E0"/>
          </a:solidFill>
          <a:ln/>
        </p:spPr>
      </p:sp>
      <p:sp>
        <p:nvSpPr>
          <p:cNvPr id="181" name="Map Band Label"/>
          <p:cNvSpPr txBox="1"/>
          <p:nvPr/>
        </p:nvSpPr>
        <p:spPr>
          <a:xfrm>
            <a:off x="5733288" y="5632704"/>
            <a:ext cx="960120" cy="493776"/>
          </a:xfrm>
          <a:prstGeom prst="rect">
            <a:avLst/>
          </a:prstGeom>
          <a:noFill/>
          <a:ln/>
        </p:spPr>
        <p:txBody>
          <a:bodyPr wrap="square" lIns="54864" tIns="0" rIns="54864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7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組織・ソーシング</a:t>
            </a:r>
          </a:p>
        </p:txBody>
      </p:sp>
      <p:sp>
        <p:nvSpPr>
          <p:cNvPr id="182" name="Map Chip"/>
          <p:cNvSpPr/>
          <p:nvPr/>
        </p:nvSpPr>
        <p:spPr>
          <a:xfrm>
            <a:off x="6693408" y="5678424"/>
            <a:ext cx="1569720" cy="402336"/>
          </a:xfrm>
          <a:prstGeom prst="roundRect">
            <a:avLst>
              <a:gd name="adj" fmla="val 8000"/>
            </a:avLst>
          </a:prstGeom>
          <a:solidFill>
            <a:srgbClr val="FDF4E0"/>
          </a:solidFill>
          <a:ln w="15875">
            <a:solidFill>
              <a:srgbClr val="C98A12"/>
            </a:solidFill>
          </a:ln>
        </p:spPr>
      </p:sp>
      <p:sp>
        <p:nvSpPr>
          <p:cNvPr id="183" name="Map Chip Text"/>
          <p:cNvSpPr txBox="1"/>
          <p:nvPr/>
        </p:nvSpPr>
        <p:spPr>
          <a:xfrm>
            <a:off x="6693408" y="5678424"/>
            <a:ext cx="1569720" cy="402336"/>
          </a:xfrm>
          <a:prstGeom prst="rect">
            <a:avLst/>
          </a:prstGeom>
          <a:noFill/>
          <a:ln/>
        </p:spPr>
        <p:txBody>
          <a:bodyPr wrap="square" lIns="27432" tIns="0" rIns="27432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7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ITソーシング・ベンダー管理</a:t>
            </a:r>
          </a:p>
        </p:txBody>
      </p:sp>
      <p:sp>
        <p:nvSpPr>
          <p:cNvPr id="184" name="Map Chip"/>
          <p:cNvSpPr/>
          <p:nvPr/>
        </p:nvSpPr>
        <p:spPr>
          <a:xfrm>
            <a:off x="8299704" y="5678424"/>
            <a:ext cx="1569720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ADF"/>
            </a:solidFill>
          </a:ln>
        </p:spPr>
      </p:sp>
      <p:sp>
        <p:nvSpPr>
          <p:cNvPr id="185" name="Map Chip Text"/>
          <p:cNvSpPr txBox="1"/>
          <p:nvPr/>
        </p:nvSpPr>
        <p:spPr>
          <a:xfrm>
            <a:off x="8299704" y="5678424"/>
            <a:ext cx="1569720" cy="402336"/>
          </a:xfrm>
          <a:prstGeom prst="rect">
            <a:avLst/>
          </a:prstGeom>
          <a:noFill/>
          <a:ln/>
        </p:spPr>
        <p:txBody>
          <a:bodyPr wrap="square" lIns="27432" tIns="0" rIns="27432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7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IT人材・組織</a:t>
            </a:r>
          </a:p>
        </p:txBody>
      </p:sp>
      <p:sp>
        <p:nvSpPr>
          <p:cNvPr id="186" name="Map Chip"/>
          <p:cNvSpPr/>
          <p:nvPr/>
        </p:nvSpPr>
        <p:spPr>
          <a:xfrm>
            <a:off x="9906000" y="5678424"/>
            <a:ext cx="1569720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ADF"/>
            </a:solidFill>
          </a:ln>
        </p:spPr>
      </p:sp>
      <p:sp>
        <p:nvSpPr>
          <p:cNvPr id="187" name="Map Chip Text"/>
          <p:cNvSpPr txBox="1"/>
          <p:nvPr/>
        </p:nvSpPr>
        <p:spPr>
          <a:xfrm>
            <a:off x="9906000" y="5678424"/>
            <a:ext cx="1569720" cy="402336"/>
          </a:xfrm>
          <a:prstGeom prst="rect">
            <a:avLst/>
          </a:prstGeom>
          <a:noFill/>
          <a:ln/>
        </p:spPr>
        <p:txBody>
          <a:bodyPr wrap="square" lIns="27432" tIns="0" rIns="27432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7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ITナレッジ・文書管理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C98A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NEED ACTION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論点を3つに区分して、委員会へ渡す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 Materiality ｜ IT部門内 認識合わせ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900" dirty="0"/>
          </a:p>
        </p:txBody>
      </p:sp>
      <p:sp>
        <p:nvSpPr>
          <p:cNvPr id="51" name="Subtitle"/>
          <p:cNvSpPr txBox="1"/>
          <p:nvPr/>
        </p:nvSpPr>
        <p:spPr>
          <a:xfrm>
            <a:off x="548640" y="118872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3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論点整理（p.7）の最後に、すべての論点をこの3つに区分する。区分ごとに、論点整理書への書き方が違う</a:t>
            </a:r>
          </a:p>
        </p:txBody>
      </p:sp>
      <p:sp>
        <p:nvSpPr>
          <p:cNvPr id="52" name="Col Head 0"/>
          <p:cNvSpPr/>
          <p:nvPr/>
        </p:nvSpPr>
        <p:spPr>
          <a:xfrm>
            <a:off x="548640" y="1691640"/>
            <a:ext cx="3575304" cy="457200"/>
          </a:xfrm>
          <a:prstGeom prst="roundRect">
            <a:avLst>
              <a:gd name="adj" fmla="val 10000"/>
            </a:avLst>
          </a:prstGeom>
          <a:solidFill>
            <a:srgbClr val="2F6FA8"/>
          </a:solidFill>
          <a:ln/>
        </p:spPr>
      </p:sp>
      <p:sp>
        <p:nvSpPr>
          <p:cNvPr id="53" name="Col Head Text 0"/>
          <p:cNvSpPr txBox="1"/>
          <p:nvPr/>
        </p:nvSpPr>
        <p:spPr>
          <a:xfrm>
            <a:off x="548640" y="1691640"/>
            <a:ext cx="3575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委員会で審議する論点</a:t>
            </a:r>
          </a:p>
        </p:txBody>
      </p:sp>
      <p:sp>
        <p:nvSpPr>
          <p:cNvPr id="54" name="Col Body 0"/>
          <p:cNvSpPr/>
          <p:nvPr/>
        </p:nvSpPr>
        <p:spPr>
          <a:xfrm>
            <a:off x="548640" y="2221992"/>
            <a:ext cx="3575304" cy="3310128"/>
          </a:xfrm>
          <a:prstGeom prst="roundRect">
            <a:avLst>
              <a:gd name="adj" fmla="val 3000"/>
            </a:avLst>
          </a:prstGeom>
          <a:solidFill>
            <a:srgbClr val="EAF1F8"/>
          </a:solidFill>
          <a:ln/>
        </p:spPr>
      </p:sp>
      <p:sp>
        <p:nvSpPr>
          <p:cNvPr id="55" name="Col Def 0"/>
          <p:cNvSpPr txBox="1"/>
          <p:nvPr/>
        </p:nvSpPr>
        <p:spPr>
          <a:xfrm>
            <a:off x="676656" y="2313432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950" b="1" dirty="0">
                <a:solidFill>
                  <a:srgbClr val="2F6F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どんな論点か</a:t>
            </a:r>
          </a:p>
          <a:p>
            <a:pPr indent="0" marL="0">
              <a:lnSpc>
                <a:spcPct val="115000"/>
              </a:lnSpc>
              <a:spcBef>
                <a:spcPts val="250"/>
              </a:spcBef>
              <a:buNone/>
            </a:pPr>
            <a:r>
              <a:rPr lang="ja-JP" altLang="en-US" sz="105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共通性に関わり、所管と協議しても全社としての判断が要るもの</a:t>
            </a:r>
          </a:p>
        </p:txBody>
      </p:sp>
      <p:sp>
        <p:nvSpPr>
          <p:cNvPr id="56" name="Col How Box 0"/>
          <p:cNvSpPr/>
          <p:nvPr/>
        </p:nvSpPr>
        <p:spPr>
          <a:xfrm>
            <a:off x="676656" y="3044952"/>
            <a:ext cx="331927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57" name="Col How 0"/>
          <p:cNvSpPr txBox="1"/>
          <p:nvPr/>
        </p:nvSpPr>
        <p:spPr>
          <a:xfrm>
            <a:off x="676656" y="3044952"/>
            <a:ext cx="3319272" cy="86868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950" b="1" dirty="0">
                <a:solidFill>
                  <a:srgbClr val="2F6F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論点整理書への書き方</a:t>
            </a:r>
          </a:p>
          <a:p>
            <a:pPr indent="0" marL="0">
              <a:lnSpc>
                <a:spcPct val="115000"/>
              </a:lnSpc>
              <a:spcBef>
                <a:spcPts val="200"/>
              </a:spcBef>
              <a:buNone/>
            </a:pPr>
            <a:r>
              <a:rPr lang="ja-JP" altLang="en-US" sz="100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「〜を決める必要がある」という判断の問いの形で書く。事実と評価を分ける</a:t>
            </a:r>
          </a:p>
        </p:txBody>
      </p:sp>
      <p:sp>
        <p:nvSpPr>
          <p:cNvPr id="58" name="Col Ex 0"/>
          <p:cNvSpPr txBox="1"/>
          <p:nvPr/>
        </p:nvSpPr>
        <p:spPr>
          <a:xfrm>
            <a:off x="676656" y="4023360"/>
            <a:ext cx="331927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950" b="1" dirty="0">
                <a:solidFill>
                  <a:srgbClr val="2F6F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</a:t>
            </a:r>
          </a:p>
          <a:p>
            <a:pPr indent="0" marL="0">
              <a:lnSpc>
                <a:spcPct val="115000"/>
              </a:lnSpc>
              <a:spcBef>
                <a:spcPts val="200"/>
              </a:spcBef>
              <a:buNone/>
            </a:pPr>
            <a:r>
              <a:rPr lang="ja-JP" altLang="en-US" sz="95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・全社の基盤として作るか、部門用にとどめるか</a:t>
            </a:r>
          </a:p>
          <a:p>
            <a:pPr indent="0" marL="0">
              <a:lnSpc>
                <a:spcPct val="115000"/>
              </a:lnSpc>
              <a:spcBef>
                <a:spcPts val="200"/>
              </a:spcBef>
              <a:buNone/>
            </a:pPr>
            <a:r>
              <a:rPr lang="ja-JP" altLang="en-US" sz="95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・標準外の連携方式・データ定義を認めるか</a:t>
            </a:r>
          </a:p>
          <a:p>
            <a:pPr indent="0" marL="0">
              <a:lnSpc>
                <a:spcPct val="115000"/>
              </a:lnSpc>
              <a:spcBef>
                <a:spcPts val="200"/>
              </a:spcBef>
              <a:buNone/>
            </a:pPr>
            <a:r>
              <a:rPr lang="ja-JP" altLang="en-US" sz="95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・他部門の似た機能と統合するか、個別に持つか</a:t>
            </a:r>
          </a:p>
          <a:p>
            <a:pPr indent="0" marL="0">
              <a:lnSpc>
                <a:spcPct val="115000"/>
              </a:lnSpc>
              <a:spcBef>
                <a:spcPts val="200"/>
              </a:spcBef>
              <a:buNone/>
            </a:pPr>
            <a:r>
              <a:rPr lang="ja-JP" altLang="en-US" sz="95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・保守期限が迫る製品を、今回で更新するか</a:t>
            </a:r>
          </a:p>
          <a:p>
            <a:pPr indent="0" marL="0">
              <a:lnSpc>
                <a:spcPct val="115000"/>
              </a:lnSpc>
              <a:spcBef>
                <a:spcPts val="200"/>
              </a:spcBef>
              <a:buNone/>
            </a:pPr>
            <a:r>
              <a:rPr lang="ja-JP" altLang="en-US" sz="95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・前提にする他の計画と、時期と範囲をそろえるか</a:t>
            </a:r>
          </a:p>
        </p:txBody>
      </p:sp>
      <p:sp>
        <p:nvSpPr>
          <p:cNvPr id="59" name="Col Head 1"/>
          <p:cNvSpPr/>
          <p:nvPr/>
        </p:nvSpPr>
        <p:spPr>
          <a:xfrm>
            <a:off x="4306824" y="1691640"/>
            <a:ext cx="3575304" cy="457200"/>
          </a:xfrm>
          <a:prstGeom prst="roundRect">
            <a:avLst>
              <a:gd name="adj" fmla="val 10000"/>
            </a:avLst>
          </a:prstGeom>
          <a:solidFill>
            <a:srgbClr val="1F7A68"/>
          </a:solidFill>
          <a:ln/>
        </p:spPr>
      </p:sp>
      <p:sp>
        <p:nvSpPr>
          <p:cNvPr id="60" name="Col Head Text 1"/>
          <p:cNvSpPr txBox="1"/>
          <p:nvPr/>
        </p:nvSpPr>
        <p:spPr>
          <a:xfrm>
            <a:off x="4306824" y="1691640"/>
            <a:ext cx="3575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確認済みとして報告する論点</a:t>
            </a:r>
          </a:p>
        </p:txBody>
      </p:sp>
      <p:sp>
        <p:nvSpPr>
          <p:cNvPr id="61" name="Col Body 1"/>
          <p:cNvSpPr/>
          <p:nvPr/>
        </p:nvSpPr>
        <p:spPr>
          <a:xfrm>
            <a:off x="4306824" y="2221992"/>
            <a:ext cx="3575304" cy="3310128"/>
          </a:xfrm>
          <a:prstGeom prst="roundRect">
            <a:avLst>
              <a:gd name="adj" fmla="val 3000"/>
            </a:avLst>
          </a:prstGeom>
          <a:solidFill>
            <a:srgbClr val="E5F2EE"/>
          </a:solidFill>
          <a:ln/>
        </p:spPr>
      </p:sp>
      <p:sp>
        <p:nvSpPr>
          <p:cNvPr id="62" name="Col Def 1"/>
          <p:cNvSpPr txBox="1"/>
          <p:nvPr/>
        </p:nvSpPr>
        <p:spPr>
          <a:xfrm>
            <a:off x="4434840" y="2313432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950" b="1" dirty="0">
                <a:solidFill>
                  <a:srgbClr val="1F7A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どんな論点か</a:t>
            </a:r>
          </a:p>
          <a:p>
            <a:pPr indent="0" marL="0">
              <a:lnSpc>
                <a:spcPct val="115000"/>
              </a:lnSpc>
              <a:spcBef>
                <a:spcPts val="250"/>
              </a:spcBef>
              <a:buNone/>
            </a:pPr>
            <a:r>
              <a:rPr lang="ja-JP" altLang="en-US" sz="105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共通性に関わるが、所管と確認済みで問題がないもの</a:t>
            </a:r>
          </a:p>
        </p:txBody>
      </p:sp>
      <p:sp>
        <p:nvSpPr>
          <p:cNvPr id="63" name="Col How Box 1"/>
          <p:cNvSpPr/>
          <p:nvPr/>
        </p:nvSpPr>
        <p:spPr>
          <a:xfrm>
            <a:off x="4434840" y="3044952"/>
            <a:ext cx="331927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64" name="Col How 1"/>
          <p:cNvSpPr txBox="1"/>
          <p:nvPr/>
        </p:nvSpPr>
        <p:spPr>
          <a:xfrm>
            <a:off x="4434840" y="3044952"/>
            <a:ext cx="3319272" cy="86868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950" b="1" dirty="0">
                <a:solidFill>
                  <a:srgbClr val="1F7A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論点整理書への書き方</a:t>
            </a:r>
          </a:p>
          <a:p>
            <a:pPr indent="0" marL="0">
              <a:lnSpc>
                <a:spcPct val="115000"/>
              </a:lnSpc>
              <a:spcBef>
                <a:spcPts val="200"/>
              </a:spcBef>
              <a:buNone/>
            </a:pPr>
            <a:r>
              <a:rPr lang="ja-JP" altLang="en-US" sz="100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確認した所管メンバーと、確認した内容を明記する</a:t>
            </a:r>
          </a:p>
        </p:txBody>
      </p:sp>
      <p:sp>
        <p:nvSpPr>
          <p:cNvPr id="65" name="Col Ex 1"/>
          <p:cNvSpPr txBox="1"/>
          <p:nvPr/>
        </p:nvSpPr>
        <p:spPr>
          <a:xfrm>
            <a:off x="4434840" y="4023360"/>
            <a:ext cx="331927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950" b="1" dirty="0">
                <a:solidFill>
                  <a:srgbClr val="1F7A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</a:t>
            </a:r>
          </a:p>
          <a:p>
            <a:pPr indent="0" marL="0">
              <a:lnSpc>
                <a:spcPct val="115000"/>
              </a:lnSpc>
              <a:spcBef>
                <a:spcPts val="200"/>
              </a:spcBef>
              <a:buNone/>
            </a:pPr>
            <a:r>
              <a:rPr lang="ja-JP" altLang="en-US" sz="95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・標準の連携方式で既存システムとつなぐ（システム連携の所管と確認済み）</a:t>
            </a:r>
          </a:p>
          <a:p>
            <a:pPr indent="0" marL="0">
              <a:lnSpc>
                <a:spcPct val="115000"/>
              </a:lnSpc>
              <a:spcBef>
                <a:spcPts val="200"/>
              </a:spcBef>
              <a:buNone/>
            </a:pPr>
            <a:r>
              <a:rPr lang="ja-JP" altLang="en-US" sz="95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・既存のマスタを参照するだけで、新たな定義はない（マスタデータ管理の所管と確認済み）</a:t>
            </a:r>
          </a:p>
          <a:p>
            <a:pPr indent="0" marL="0">
              <a:lnSpc>
                <a:spcPct val="115000"/>
              </a:lnSpc>
              <a:spcBef>
                <a:spcPts val="200"/>
              </a:spcBef>
              <a:buNone/>
            </a:pPr>
            <a:r>
              <a:rPr lang="ja-JP" altLang="en-US" sz="95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・保守期限内の製品を採用する（ライセンス管理の所管と確認済み）</a:t>
            </a:r>
          </a:p>
        </p:txBody>
      </p:sp>
      <p:sp>
        <p:nvSpPr>
          <p:cNvPr id="66" name="Col Head 2"/>
          <p:cNvSpPr/>
          <p:nvPr/>
        </p:nvSpPr>
        <p:spPr>
          <a:xfrm>
            <a:off x="8065008" y="1691640"/>
            <a:ext cx="3575304" cy="457200"/>
          </a:xfrm>
          <a:prstGeom prst="roundRect">
            <a:avLst>
              <a:gd name="adj" fmla="val 10000"/>
            </a:avLst>
          </a:prstGeom>
          <a:solidFill>
            <a:srgbClr val="66717C"/>
          </a:solidFill>
          <a:ln/>
        </p:spPr>
      </p:sp>
      <p:sp>
        <p:nvSpPr>
          <p:cNvPr id="67" name="Col Head Text 2"/>
          <p:cNvSpPr txBox="1"/>
          <p:nvPr/>
        </p:nvSpPr>
        <p:spPr>
          <a:xfrm>
            <a:off x="8065008" y="1691640"/>
            <a:ext cx="3575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論点にしない（部門の中で決める）</a:t>
            </a:r>
          </a:p>
        </p:txBody>
      </p:sp>
      <p:sp>
        <p:nvSpPr>
          <p:cNvPr id="68" name="Col Body 2"/>
          <p:cNvSpPr/>
          <p:nvPr/>
        </p:nvSpPr>
        <p:spPr>
          <a:xfrm>
            <a:off x="8065008" y="2221992"/>
            <a:ext cx="3575304" cy="3310128"/>
          </a:xfrm>
          <a:prstGeom prst="roundRect">
            <a:avLst>
              <a:gd name="adj" fmla="val 3000"/>
            </a:avLst>
          </a:prstGeom>
          <a:solidFill>
            <a:srgbClr val="F2F4F6"/>
          </a:solidFill>
          <a:ln/>
        </p:spPr>
      </p:sp>
      <p:sp>
        <p:nvSpPr>
          <p:cNvPr id="69" name="Col Def 2"/>
          <p:cNvSpPr txBox="1"/>
          <p:nvPr/>
        </p:nvSpPr>
        <p:spPr>
          <a:xfrm>
            <a:off x="8193024" y="2313432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950" b="1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どんな論点か</a:t>
            </a:r>
          </a:p>
          <a:p>
            <a:pPr indent="0" marL="0">
              <a:lnSpc>
                <a:spcPct val="115000"/>
              </a:lnSpc>
              <a:spcBef>
                <a:spcPts val="250"/>
              </a:spcBef>
              <a:buNone/>
            </a:pPr>
            <a:r>
              <a:rPr lang="ja-JP" altLang="en-US" sz="105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共通性に関わらず、起案部門の中で決めるもの</a:t>
            </a:r>
          </a:p>
        </p:txBody>
      </p:sp>
      <p:sp>
        <p:nvSpPr>
          <p:cNvPr id="70" name="Col How Box 2"/>
          <p:cNvSpPr/>
          <p:nvPr/>
        </p:nvSpPr>
        <p:spPr>
          <a:xfrm>
            <a:off x="8193024" y="3044952"/>
            <a:ext cx="331927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71" name="Col How 2"/>
          <p:cNvSpPr txBox="1"/>
          <p:nvPr/>
        </p:nvSpPr>
        <p:spPr>
          <a:xfrm>
            <a:off x="8193024" y="3044952"/>
            <a:ext cx="3319272" cy="86868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950" b="1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論点整理書への書き方</a:t>
            </a:r>
          </a:p>
          <a:p>
            <a:pPr indent="0" marL="0">
              <a:lnSpc>
                <a:spcPct val="115000"/>
              </a:lnSpc>
              <a:spcBef>
                <a:spcPts val="200"/>
              </a:spcBef>
              <a:buNone/>
            </a:pPr>
            <a:r>
              <a:rPr lang="ja-JP" altLang="en-US" sz="100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解決済みは情報として共有する。未決は記載するだけ。参考意見が欲しければ、その旨を明記する</a:t>
            </a:r>
          </a:p>
        </p:txBody>
      </p:sp>
      <p:sp>
        <p:nvSpPr>
          <p:cNvPr id="72" name="Col Ex 2"/>
          <p:cNvSpPr txBox="1"/>
          <p:nvPr/>
        </p:nvSpPr>
        <p:spPr>
          <a:xfrm>
            <a:off x="8193024" y="4023360"/>
            <a:ext cx="331927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950" b="1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</a:t>
            </a:r>
          </a:p>
          <a:p>
            <a:pPr indent="0" marL="0">
              <a:lnSpc>
                <a:spcPct val="115000"/>
              </a:lnSpc>
              <a:spcBef>
                <a:spcPts val="200"/>
              </a:spcBef>
              <a:buNone/>
            </a:pPr>
            <a:r>
              <a:rPr lang="ja-JP" altLang="en-US" sz="95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・業務要件と、機能の優先順位</a:t>
            </a:r>
          </a:p>
          <a:p>
            <a:pPr indent="0" marL="0">
              <a:lnSpc>
                <a:spcPct val="115000"/>
              </a:lnSpc>
              <a:spcBef>
                <a:spcPts val="200"/>
              </a:spcBef>
              <a:buNone/>
            </a:pPr>
            <a:r>
              <a:rPr lang="ja-JP" altLang="en-US" sz="95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・自部門内での費用対効果の見積もり</a:t>
            </a:r>
          </a:p>
          <a:p>
            <a:pPr indent="0" marL="0">
              <a:lnSpc>
                <a:spcPct val="115000"/>
              </a:lnSpc>
              <a:spcBef>
                <a:spcPts val="200"/>
              </a:spcBef>
              <a:buNone/>
            </a:pPr>
            <a:r>
              <a:rPr lang="ja-JP" altLang="en-US" sz="95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・ベンダーの選定、スケジュールと体制</a:t>
            </a:r>
          </a:p>
        </p:txBody>
      </p:sp>
      <p:sp>
        <p:nvSpPr>
          <p:cNvPr id="73" name="Check Band"/>
          <p:cNvSpPr/>
          <p:nvPr/>
        </p:nvSpPr>
        <p:spPr>
          <a:xfrm>
            <a:off x="548640" y="5641848"/>
            <a:ext cx="11091672" cy="594360"/>
          </a:xfrm>
          <a:prstGeom prst="roundRect">
            <a:avLst>
              <a:gd name="adj" fmla="val 10000"/>
            </a:avLst>
          </a:prstGeom>
          <a:solidFill>
            <a:srgbClr val="FDF4E0"/>
          </a:solidFill>
          <a:ln/>
        </p:spPr>
      </p:sp>
      <p:sp>
        <p:nvSpPr>
          <p:cNvPr id="74" name="Check Text"/>
          <p:cNvSpPr txBox="1"/>
          <p:nvPr/>
        </p:nvSpPr>
        <p:spPr>
          <a:xfrm>
            <a:off x="731520" y="5641848"/>
            <a:ext cx="10725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50" b="1" dirty="0">
                <a:solidFill>
                  <a:srgbClr val="C98A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チェック　</a:t>
            </a:r>
            <a:r>
              <a:rPr lang="ja-JP" altLang="en-US" sz="1050" b="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検討したが立てなかった論点と、その理由も書いたか。確認済みとして報告する論点に、確認した所管と内容を書いたか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C98A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NEED ACTION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審議にしっかり参加し、結果を適切にフィードバックする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承認して終わりにしない。判断の根拠を、起案者とPPMと台帳に確実に返す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 Materiality ｜ IT部門内 認識合わせ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3657600" cy="3246120"/>
          </a:xfrm>
          <a:prstGeom prst="roundRect">
            <a:avLst>
              <a:gd name="adj" fmla="val 2254"/>
            </a:avLst>
          </a:prstGeom>
          <a:solidFill>
            <a:srgbClr val="F2F4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18562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A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審議に参加する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2331720"/>
            <a:ext cx="338328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37744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論点ごとに判断する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697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論点整理書を事前に読み、論点ごとに判断と根拠を示す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3218688"/>
            <a:ext cx="338328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95528" y="3264408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根拠にしてよいものを分ける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35844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経営の期待などは前提条件として扱い、承認の根拠にしない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4105656"/>
            <a:ext cx="338328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151376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判断を記録に残す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447141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誰がどの論点をどう判断したかを記録に残す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89120" y="1783080"/>
            <a:ext cx="3657600" cy="3246120"/>
          </a:xfrm>
          <a:prstGeom prst="roundRect">
            <a:avLst>
              <a:gd name="adj" fmla="val 2254"/>
            </a:avLst>
          </a:prstGeom>
          <a:solidFill>
            <a:srgbClr val="F2F4F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0" y="18562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A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結果を返す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26280" y="2331720"/>
            <a:ext cx="338328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36008" y="237744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考え方を返す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636008" y="2697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回答書では結論だけでなく、論点ごとの考え方を返す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26280" y="3218688"/>
            <a:ext cx="338328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636008" y="3264408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業務の言葉で書く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636008" y="35844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経済学の用語も「フレームワークに基づき」も使わない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26280" y="4105656"/>
            <a:ext cx="338328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636008" y="4151376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次の担い手へ渡す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636008" y="447141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承認条件をPPMへ引き継ぎ、判定理由を台帳に残す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29600" y="1783080"/>
            <a:ext cx="3410712" cy="3246120"/>
          </a:xfrm>
          <a:prstGeom prst="roundRect">
            <a:avLst>
              <a:gd name="adj" fmla="val 2254"/>
            </a:avLst>
          </a:prstGeom>
          <a:solidFill>
            <a:srgbClr val="1B2A3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94192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B8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回答書の書き方の例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394192" y="2240280"/>
            <a:ext cx="3108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判断の根拠は、</a:t>
            </a:r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「どれだけ多くの部門・施策がこの仕組みを必要としているか」「今整備しないと将来どれだけ余分なコストがかかるか」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の2点としました。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恩恵が人事部門だけに閉じないため、全社に関わる案件として審議しました。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48640" y="521208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DF4E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31520" y="5212080"/>
            <a:ext cx="10744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8A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起案者への一言も忘れずに　</a:t>
            </a:r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追加作業を頼むときは明記し、ないときは「起案者側に追加の作業をお願いするものではありません」と書く。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grpSpPr>
        <a:xfrm>
          <a:off x="0" y="0"/>
          <a:ext cx="0" cy="0"/>
          <a:chOff x="0" y="0"/>
          <a:chExt cx="0" cy="0"/>
        </a:xfrm>
      </p:grpSpPr>
      <p:sp>
        <p:nvSpPr>
          <p:cNvPr id="24" name="Text 22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900" dirty="0"/>
          </a:p>
        </p:txBody>
      </p:sp>
      <p:sp>
        <p:nvSpPr>
          <p:cNvPr id="25" name="Title"/>
          <p:cNvSpPr txBox="1"/>
          <p:nvPr/>
        </p:nvSpPr>
        <p:spPr>
          <a:xfrm>
            <a:off x="548640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24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まとめ：この資料で伝えたかったこと</a:t>
            </a:r>
          </a:p>
        </p:txBody>
      </p:sp>
      <p:sp>
        <p:nvSpPr>
          <p:cNvPr id="26" name="Footer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900" b="0" dirty="0">
                <a:solidFill>
                  <a:srgbClr val="667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 Materiality ｜ IT部門内 認識合わせ</a:t>
            </a:r>
          </a:p>
        </p:txBody>
      </p:sp>
      <p:sp>
        <p:nvSpPr>
          <p:cNvPr id="82" name="Sum Card 0"/>
          <p:cNvSpPr/>
          <p:nvPr/>
        </p:nvSpPr>
        <p:spPr>
          <a:xfrm>
            <a:off x="548640" y="1463040"/>
            <a:ext cx="11091672" cy="132588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/>
        </p:spPr>
      </p:sp>
      <p:sp>
        <p:nvSpPr>
          <p:cNvPr id="83" name="Sum Num 0"/>
          <p:cNvSpPr/>
          <p:nvPr/>
        </p:nvSpPr>
        <p:spPr>
          <a:xfrm>
            <a:off x="822960" y="1682496"/>
            <a:ext cx="502920" cy="502920"/>
          </a:xfrm>
          <a:prstGeom prst="ellipse">
            <a:avLst/>
          </a:prstGeom>
          <a:solidFill>
            <a:srgbClr val="1F7A68"/>
          </a:solidFill>
          <a:ln/>
        </p:spPr>
      </p:sp>
      <p:sp>
        <p:nvSpPr>
          <p:cNvPr id="84" name="Sum Num Text 0"/>
          <p:cNvSpPr txBox="1"/>
          <p:nvPr/>
        </p:nvSpPr>
        <p:spPr>
          <a:xfrm>
            <a:off x="822960" y="1682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</a:p>
        </p:txBody>
      </p:sp>
      <p:sp>
        <p:nvSpPr>
          <p:cNvPr id="85" name="Sum Lead 0"/>
          <p:cNvSpPr txBox="1"/>
          <p:nvPr/>
        </p:nvSpPr>
        <p:spPr>
          <a:xfrm>
            <a:off x="1554480" y="1645920"/>
            <a:ext cx="9811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20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健全な判断でも、共有財産は荒れる</a:t>
            </a:r>
          </a:p>
        </p:txBody>
      </p:sp>
      <p:sp>
        <p:nvSpPr>
          <p:cNvPr id="86" name="Sum Body 0"/>
          <p:cNvSpPr txBox="1"/>
          <p:nvPr/>
        </p:nvSpPr>
        <p:spPr>
          <a:xfrm>
            <a:off x="1554480" y="2176272"/>
            <a:ext cx="9811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3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健全で合理的な個別判断でも、外部性があれば全社の共有財産は荒れる。荒れているのは、審議と承認の機能（縦のつながり）、隠れた技術負債、変化への柔軟性（横のつながり）の3つ</a:t>
            </a:r>
          </a:p>
        </p:txBody>
      </p:sp>
      <p:sp>
        <p:nvSpPr>
          <p:cNvPr id="87" name="Sum Card 1"/>
          <p:cNvSpPr/>
          <p:nvPr/>
        </p:nvSpPr>
        <p:spPr>
          <a:xfrm>
            <a:off x="548640" y="2926080"/>
            <a:ext cx="11091672" cy="132588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/>
        </p:spPr>
      </p:sp>
      <p:sp>
        <p:nvSpPr>
          <p:cNvPr id="88" name="Sum Num 1"/>
          <p:cNvSpPr/>
          <p:nvPr/>
        </p:nvSpPr>
        <p:spPr>
          <a:xfrm>
            <a:off x="822960" y="3145536"/>
            <a:ext cx="502920" cy="502920"/>
          </a:xfrm>
          <a:prstGeom prst="ellipse">
            <a:avLst/>
          </a:prstGeom>
          <a:solidFill>
            <a:srgbClr val="1F7A68"/>
          </a:solidFill>
          <a:ln/>
        </p:spPr>
      </p:sp>
      <p:sp>
        <p:nvSpPr>
          <p:cNvPr id="89" name="Sum Num Text 1"/>
          <p:cNvSpPr txBox="1"/>
          <p:nvPr/>
        </p:nvSpPr>
        <p:spPr>
          <a:xfrm>
            <a:off x="822960" y="3145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</a:p>
        </p:txBody>
      </p:sp>
      <p:sp>
        <p:nvSpPr>
          <p:cNvPr id="90" name="Sum Lead 1"/>
          <p:cNvSpPr txBox="1"/>
          <p:nvPr/>
        </p:nvSpPr>
        <p:spPr>
          <a:xfrm>
            <a:off x="1554480" y="3108960"/>
            <a:ext cx="9811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20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入れ子の統治を、共通性で作る</a:t>
            </a:r>
          </a:p>
        </p:txBody>
      </p:sp>
      <p:sp>
        <p:nvSpPr>
          <p:cNvPr id="91" name="Sum Body 1"/>
          <p:cNvSpPr txBox="1"/>
          <p:nvPr/>
        </p:nvSpPr>
        <p:spPr>
          <a:xfrm>
            <a:off x="1554480" y="3639312"/>
            <a:ext cx="9811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3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悲劇は必然ではない（Ostrom）。当社に欠けているのは入れ子の統治。その鍵は、何を全社で決めるかを、金額に加えて共通性で仕分けること。共通性とは、投資の効果や費用が判断した部門と今年の外にどこまで及ぶか。基盤性と負債で見る</a:t>
            </a:r>
          </a:p>
        </p:txBody>
      </p:sp>
      <p:sp>
        <p:nvSpPr>
          <p:cNvPr id="92" name="Sum Card 2"/>
          <p:cNvSpPr/>
          <p:nvPr/>
        </p:nvSpPr>
        <p:spPr>
          <a:xfrm>
            <a:off x="548640" y="4389120"/>
            <a:ext cx="11091672" cy="1325880"/>
          </a:xfrm>
          <a:prstGeom prst="roundRect">
            <a:avLst>
              <a:gd name="adj" fmla="val 6000"/>
            </a:avLst>
          </a:prstGeom>
          <a:solidFill>
            <a:srgbClr val="FDF4E0"/>
          </a:solidFill>
          <a:ln w="9525">
            <a:solidFill>
              <a:srgbClr val="C98A12"/>
            </a:solidFill>
          </a:ln>
        </p:spPr>
      </p:sp>
      <p:sp>
        <p:nvSpPr>
          <p:cNvPr id="93" name="Sum Num 2"/>
          <p:cNvSpPr/>
          <p:nvPr/>
        </p:nvSpPr>
        <p:spPr>
          <a:xfrm>
            <a:off x="822960" y="4608576"/>
            <a:ext cx="502920" cy="502920"/>
          </a:xfrm>
          <a:prstGeom prst="ellipse">
            <a:avLst/>
          </a:prstGeom>
          <a:solidFill>
            <a:srgbClr val="C98A12"/>
          </a:solidFill>
          <a:ln/>
        </p:spPr>
      </p:sp>
      <p:sp>
        <p:nvSpPr>
          <p:cNvPr id="94" name="Sum Num Text 2"/>
          <p:cNvSpPr txBox="1"/>
          <p:nvPr/>
        </p:nvSpPr>
        <p:spPr>
          <a:xfrm>
            <a:off x="822960" y="4608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</a:p>
        </p:txBody>
      </p:sp>
      <p:sp>
        <p:nvSpPr>
          <p:cNvPr id="95" name="Sum Lead 2"/>
          <p:cNvSpPr txBox="1"/>
          <p:nvPr/>
        </p:nvSpPr>
        <p:spPr>
          <a:xfrm>
            <a:off x="1554480" y="4572000"/>
            <a:ext cx="9811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20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共通性のレンズで、論点整理を始める</a:t>
            </a:r>
          </a:p>
        </p:txBody>
      </p:sp>
      <p:sp>
        <p:nvSpPr>
          <p:cNvPr id="96" name="Sum Body 2"/>
          <p:cNvSpPr txBox="1"/>
          <p:nvPr/>
        </p:nvSpPr>
        <p:spPr>
          <a:xfrm>
            <a:off x="1554480" y="5102352"/>
            <a:ext cx="9811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300" b="0" dirty="0">
                <a:solidFill>
                  <a:srgbClr val="3E4A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1と2に共感いただけたら、共通性のレンズでのIT投資案件の論点整理と、そのための仕組みづくりに着手したい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Materiality Framework — IT部門内 認識合わせ</dc:title>
  <dc:subject>PptxGenJS Presentation</dc:subject>
  <dc:creator>PptxGenJS</dc:creator>
  <cp:lastModifiedBy>PptxGenJS</cp:lastModifiedBy>
  <cp:revision>1</cp:revision>
  <dcterms:created xsi:type="dcterms:W3CDTF">2026-09-21T16:04:52Z</dcterms:created>
  <dcterms:modified xsi:type="dcterms:W3CDTF">2026-09-21T16:04:52Z</dcterms:modified>
</cp:coreProperties>
</file>