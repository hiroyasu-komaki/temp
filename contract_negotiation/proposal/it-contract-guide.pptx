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7"/>
        </a:solidFill>
      </p:bgPr>
    </p:bg>
    <p:spTree>
      <p:nvGrpSpPr>
        <p:cNvPr id="15" name="Shape 15"/>
        <p:cNvGrpSpPr/>
        <p:nvPr/>
      </p:nvGrpSpPr>
      <p:grpSpPr>
        <a:xfrm>
          <a:off x="0" y="0"/>
          <a:ext cx="0" cy="0"/>
          <a:chOff x="0" y="0"/>
          <a:chExt cx="0" cy="0"/>
        </a:xfrm>
      </p:grpSpPr>
      <p:sp>
        <p:nvSpPr>
          <p:cNvPr id="16" name="Google Shape;16;p3"/>
          <p:cNvSpPr/>
          <p:nvPr/>
        </p:nvSpPr>
        <p:spPr>
          <a:xfrm>
            <a:off x="0" y="0"/>
            <a:ext cx="256032" cy="51435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7132320" y="0"/>
            <a:ext cx="2011680" cy="164592"/>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594360" y="1188720"/>
            <a:ext cx="8046720"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Calibri"/>
              <a:buNone/>
            </a:pPr>
            <a:r>
              <a:rPr b="1" i="0" lang="en-US" sz="3700" u="none" cap="none" strike="noStrike">
                <a:solidFill>
                  <a:srgbClr val="FFFFFF"/>
                </a:solidFill>
                <a:latin typeface="Arial"/>
                <a:ea typeface="Arial"/>
                <a:cs typeface="Arial"/>
                <a:sym typeface="Arial"/>
              </a:rPr>
              <a:t>IT 契約時のチェックリスト導入提案</a:t>
            </a:r>
            <a:endParaRPr b="0" i="0" sz="3700" u="none" cap="none" strike="noStrike">
              <a:solidFill>
                <a:schemeClr val="dk1"/>
              </a:solidFill>
              <a:latin typeface="Arial"/>
              <a:ea typeface="Arial"/>
              <a:cs typeface="Arial"/>
              <a:sym typeface="Arial"/>
            </a:endParaRPr>
          </a:p>
        </p:txBody>
      </p:sp>
      <p:sp>
        <p:nvSpPr>
          <p:cNvPr id="19" name="Google Shape;19;p3"/>
          <p:cNvSpPr/>
          <p:nvPr/>
        </p:nvSpPr>
        <p:spPr>
          <a:xfrm>
            <a:off x="594360" y="2514600"/>
            <a:ext cx="73152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AD4E0"/>
              </a:buClr>
              <a:buSzPts val="1600"/>
              <a:buFont typeface="Calibri"/>
              <a:buNone/>
            </a:pPr>
            <a:r>
              <a:rPr lang="en-US" sz="1600">
                <a:solidFill>
                  <a:srgbClr val="BAD4E0"/>
                </a:solidFill>
              </a:rPr>
              <a:t>IT固有の契約類型に対する簡易チェックの導入について</a:t>
            </a:r>
            <a:endParaRPr b="0" i="0" sz="1600" u="none" cap="none" strike="noStrike">
              <a:solidFill>
                <a:schemeClr val="dk1"/>
              </a:solidFill>
              <a:latin typeface="Arial"/>
              <a:ea typeface="Arial"/>
              <a:cs typeface="Arial"/>
              <a:sym typeface="Arial"/>
            </a:endParaRPr>
          </a:p>
        </p:txBody>
      </p:sp>
      <p:sp>
        <p:nvSpPr>
          <p:cNvPr id="20" name="Google Shape;20;p3"/>
          <p:cNvSpPr/>
          <p:nvPr/>
        </p:nvSpPr>
        <p:spPr>
          <a:xfrm>
            <a:off x="594360" y="3090672"/>
            <a:ext cx="4114800" cy="2286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594360" y="3246120"/>
            <a:ext cx="45720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B8C8"/>
              </a:buClr>
              <a:buSzPts val="1300"/>
              <a:buFont typeface="Calibri"/>
              <a:buNone/>
            </a:pPr>
            <a:r>
              <a:rPr b="0" i="0" lang="en-US" sz="1300" u="none" cap="none" strike="noStrike">
                <a:solidFill>
                  <a:srgbClr val="90B8C8"/>
                </a:solidFill>
                <a:latin typeface="Arial"/>
                <a:ea typeface="Arial"/>
                <a:cs typeface="Arial"/>
                <a:sym typeface="Arial"/>
              </a:rPr>
              <a:t>ICT Dept   |   2026年</a:t>
            </a:r>
            <a:endParaRPr b="0" i="0" sz="1300" u="none" cap="none" strike="noStrike">
              <a:solidFill>
                <a:schemeClr val="dk1"/>
              </a:solidFill>
              <a:latin typeface="Arial"/>
              <a:ea typeface="Arial"/>
              <a:cs typeface="Arial"/>
              <a:sym typeface="Arial"/>
            </a:endParaRPr>
          </a:p>
        </p:txBody>
      </p:sp>
      <p:sp>
        <p:nvSpPr>
          <p:cNvPr id="22" name="Google Shape;22;p3"/>
          <p:cNvSpPr/>
          <p:nvPr/>
        </p:nvSpPr>
        <p:spPr>
          <a:xfrm>
            <a:off x="594360" y="4434840"/>
            <a:ext cx="1645920" cy="347472"/>
          </a:xfrm>
          <a:prstGeom prst="rect">
            <a:avLst/>
          </a:prstGeom>
          <a:solidFill>
            <a:srgbClr val="14A8B8"/>
          </a:solidFill>
          <a:ln cap="flat" cmpd="sng" w="12700">
            <a:solidFill>
              <a:srgbClr val="14A8B8"/>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a:off x="594360" y="4434840"/>
            <a:ext cx="1645920" cy="34747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Arial"/>
                <a:ea typeface="Arial"/>
                <a:cs typeface="Arial"/>
                <a:sym typeface="Arial"/>
              </a:rPr>
              <a:t>For Discussion Use</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4"/>
          <p:cNvSpPr/>
          <p:nvPr/>
        </p:nvSpPr>
        <p:spPr>
          <a:xfrm>
            <a:off x="457200" y="256032"/>
            <a:ext cx="64008" cy="50292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p:nvPr/>
        </p:nvSpPr>
        <p:spPr>
          <a:xfrm>
            <a:off x="621792" y="201168"/>
            <a:ext cx="80467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現状の課題</a:t>
            </a:r>
            <a:endParaRPr b="0" i="0" sz="2800" u="none" cap="none" strike="noStrike">
              <a:solidFill>
                <a:schemeClr val="dk1"/>
              </a:solidFill>
              <a:latin typeface="Calibri"/>
              <a:ea typeface="Calibri"/>
              <a:cs typeface="Calibri"/>
              <a:sym typeface="Calibri"/>
            </a:endParaRPr>
          </a:p>
        </p:txBody>
      </p:sp>
      <p:sp>
        <p:nvSpPr>
          <p:cNvPr id="31" name="Google Shape;31;p4"/>
          <p:cNvSpPr/>
          <p:nvPr/>
        </p:nvSpPr>
        <p:spPr>
          <a:xfrm>
            <a:off x="457200" y="987552"/>
            <a:ext cx="658368" cy="868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01</a:t>
            </a:r>
            <a:endParaRPr b="0" i="0" sz="2800" u="none" cap="none" strike="noStrike">
              <a:solidFill>
                <a:schemeClr val="dk1"/>
              </a:solidFill>
              <a:latin typeface="Calibri"/>
              <a:ea typeface="Calibri"/>
              <a:cs typeface="Calibri"/>
              <a:sym typeface="Calibri"/>
            </a:endParaRPr>
          </a:p>
        </p:txBody>
      </p:sp>
      <p:sp>
        <p:nvSpPr>
          <p:cNvPr id="32" name="Google Shape;32;p4"/>
          <p:cNvSpPr/>
          <p:nvPr/>
        </p:nvSpPr>
        <p:spPr>
          <a:xfrm>
            <a:off x="1170432" y="1078992"/>
            <a:ext cx="2286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
          <p:cNvSpPr/>
          <p:nvPr/>
        </p:nvSpPr>
        <p:spPr>
          <a:xfrm>
            <a:off x="1261872" y="987552"/>
            <a:ext cx="7424928"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「目利き」人材の不在</a:t>
            </a:r>
            <a:endParaRPr b="0" i="0" sz="1250" u="none" cap="none" strike="noStrike">
              <a:solidFill>
                <a:schemeClr val="dk1"/>
              </a:solidFill>
              <a:latin typeface="Calibri"/>
              <a:ea typeface="Calibri"/>
              <a:cs typeface="Calibri"/>
              <a:sym typeface="Calibri"/>
            </a:endParaRPr>
          </a:p>
        </p:txBody>
      </p:sp>
      <p:sp>
        <p:nvSpPr>
          <p:cNvPr id="34" name="Google Shape;34;p4"/>
          <p:cNvSpPr/>
          <p:nvPr/>
        </p:nvSpPr>
        <p:spPr>
          <a:xfrm>
            <a:off x="1261872" y="1371600"/>
            <a:ext cx="7424928" cy="6035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IT部門には技術に精通した人材が揃っている。しかし技術要件を契約文言に変換し、ベンダーが提示する条項の技術的・法的リスクを正確に評価できる人材は存在しない。契約レビューは法務へ、価格交渉は調達へという全面依存の構造が固定化されている。</a:t>
            </a:r>
            <a:endParaRPr b="0" i="0" sz="1100" u="none" cap="none" strike="noStrike">
              <a:solidFill>
                <a:schemeClr val="dk1"/>
              </a:solidFill>
              <a:latin typeface="Calibri"/>
              <a:ea typeface="Calibri"/>
              <a:cs typeface="Calibri"/>
              <a:sym typeface="Calibri"/>
            </a:endParaRPr>
          </a:p>
        </p:txBody>
      </p:sp>
      <p:sp>
        <p:nvSpPr>
          <p:cNvPr id="35" name="Google Shape;35;p4"/>
          <p:cNvSpPr/>
          <p:nvPr/>
        </p:nvSpPr>
        <p:spPr>
          <a:xfrm>
            <a:off x="457200" y="1993392"/>
            <a:ext cx="8229600" cy="2286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4"/>
          <p:cNvSpPr/>
          <p:nvPr/>
        </p:nvSpPr>
        <p:spPr>
          <a:xfrm>
            <a:off x="457200" y="2066544"/>
            <a:ext cx="658368" cy="868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02</a:t>
            </a:r>
            <a:endParaRPr b="0" i="0" sz="2800" u="none" cap="none" strike="noStrike">
              <a:solidFill>
                <a:schemeClr val="dk1"/>
              </a:solidFill>
              <a:latin typeface="Calibri"/>
              <a:ea typeface="Calibri"/>
              <a:cs typeface="Calibri"/>
              <a:sym typeface="Calibri"/>
            </a:endParaRPr>
          </a:p>
        </p:txBody>
      </p:sp>
      <p:sp>
        <p:nvSpPr>
          <p:cNvPr id="37" name="Google Shape;37;p4"/>
          <p:cNvSpPr/>
          <p:nvPr/>
        </p:nvSpPr>
        <p:spPr>
          <a:xfrm>
            <a:off x="1170432" y="2157984"/>
            <a:ext cx="2286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
          <p:cNvSpPr/>
          <p:nvPr/>
        </p:nvSpPr>
        <p:spPr>
          <a:xfrm>
            <a:off x="1261872" y="2066544"/>
            <a:ext cx="7424928"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隣接部門による代替の限界</a:t>
            </a:r>
            <a:endParaRPr b="0" i="0" sz="1250" u="none" cap="none" strike="noStrike">
              <a:solidFill>
                <a:schemeClr val="dk1"/>
              </a:solidFill>
              <a:latin typeface="Calibri"/>
              <a:ea typeface="Calibri"/>
              <a:cs typeface="Calibri"/>
              <a:sym typeface="Calibri"/>
            </a:endParaRPr>
          </a:p>
        </p:txBody>
      </p:sp>
      <p:sp>
        <p:nvSpPr>
          <p:cNvPr id="39" name="Google Shape;39;p4"/>
          <p:cNvSpPr/>
          <p:nvPr/>
        </p:nvSpPr>
        <p:spPr>
          <a:xfrm>
            <a:off x="1261872" y="2450592"/>
            <a:ext cx="7424928" cy="6035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法務部門にはエキスパートが在籍するが、IT部門が関わる全契約を個別審査するリソースはない。調達部門も、クラウド・SaaS・ライセンス・APIなど急速に複雑化するIT契約では実効的な条件交渉が困難だ。両部門ともIT部門の自律判断を前提として権限移譲を望む立場にある。</a:t>
            </a:r>
            <a:endParaRPr b="0" i="0" sz="1100" u="none" cap="none" strike="noStrike">
              <a:solidFill>
                <a:schemeClr val="dk1"/>
              </a:solidFill>
              <a:latin typeface="Calibri"/>
              <a:ea typeface="Calibri"/>
              <a:cs typeface="Calibri"/>
              <a:sym typeface="Calibri"/>
            </a:endParaRPr>
          </a:p>
        </p:txBody>
      </p:sp>
      <p:sp>
        <p:nvSpPr>
          <p:cNvPr id="40" name="Google Shape;40;p4"/>
          <p:cNvSpPr/>
          <p:nvPr/>
        </p:nvSpPr>
        <p:spPr>
          <a:xfrm>
            <a:off x="457200" y="3072384"/>
            <a:ext cx="8229600" cy="2286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
          <p:cNvSpPr/>
          <p:nvPr/>
        </p:nvSpPr>
        <p:spPr>
          <a:xfrm>
            <a:off x="457200" y="3145536"/>
            <a:ext cx="658368" cy="868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03</a:t>
            </a:r>
            <a:endParaRPr b="0" i="0" sz="2800" u="none" cap="none" strike="noStrike">
              <a:solidFill>
                <a:schemeClr val="dk1"/>
              </a:solidFill>
              <a:latin typeface="Calibri"/>
              <a:ea typeface="Calibri"/>
              <a:cs typeface="Calibri"/>
              <a:sym typeface="Calibri"/>
            </a:endParaRPr>
          </a:p>
        </p:txBody>
      </p:sp>
      <p:sp>
        <p:nvSpPr>
          <p:cNvPr id="42" name="Google Shape;42;p4"/>
          <p:cNvSpPr/>
          <p:nvPr/>
        </p:nvSpPr>
        <p:spPr>
          <a:xfrm>
            <a:off x="1170432" y="3236976"/>
            <a:ext cx="2286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1261872" y="3145536"/>
            <a:ext cx="7424928"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3部門間の「翻訳機能」の不在</a:t>
            </a:r>
            <a:endParaRPr b="0" i="0" sz="1250" u="none" cap="none" strike="noStrike">
              <a:solidFill>
                <a:schemeClr val="dk1"/>
              </a:solidFill>
              <a:latin typeface="Calibri"/>
              <a:ea typeface="Calibri"/>
              <a:cs typeface="Calibri"/>
              <a:sym typeface="Calibri"/>
            </a:endParaRPr>
          </a:p>
        </p:txBody>
      </p:sp>
      <p:sp>
        <p:nvSpPr>
          <p:cNvPr id="44" name="Google Shape;44;p4"/>
          <p:cNvSpPr/>
          <p:nvPr/>
        </p:nvSpPr>
        <p:spPr>
          <a:xfrm>
            <a:off x="1261872" y="3529584"/>
            <a:ext cx="7424928" cy="6035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IT・法務・調達の3部門は、同じ1枚の契約書を異なる言語で読んでいる。ITメンバーが技術要件を法務に伝えても法的論点に翻訳されず、法務のコメントをITが正確に解釈できないまま対応が進む。IT固有のコスト構造を調達用語に翻訳して伝える機能も不在のままだ。</a:t>
            </a:r>
            <a:endParaRPr b="0" i="0" sz="1100" u="none" cap="none" strike="noStrike">
              <a:solidFill>
                <a:schemeClr val="dk1"/>
              </a:solidFill>
              <a:latin typeface="Calibri"/>
              <a:ea typeface="Calibri"/>
              <a:cs typeface="Calibri"/>
              <a:sym typeface="Calibri"/>
            </a:endParaRPr>
          </a:p>
        </p:txBody>
      </p:sp>
      <p:sp>
        <p:nvSpPr>
          <p:cNvPr id="45" name="Google Shape;45;p4"/>
          <p:cNvSpPr/>
          <p:nvPr/>
        </p:nvSpPr>
        <p:spPr>
          <a:xfrm>
            <a:off x="457200" y="4187952"/>
            <a:ext cx="8229600" cy="71323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a:off x="457200" y="4187952"/>
            <a:ext cx="64008" cy="713232"/>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
          <p:cNvSpPr/>
          <p:nvPr/>
        </p:nvSpPr>
        <p:spPr>
          <a:xfrm>
            <a:off x="640080" y="4187952"/>
            <a:ext cx="795528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だからこそ —— 専門人材の確保が困難な現状において、組織として契約を正しく判断できる仕組みを整備することが唯一の現実解である。本ガイドラインは、ITメンバーが契約の当事者として機能するための具体的な手がかりを提供する。</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5"/>
          <p:cNvSpPr/>
          <p:nvPr/>
        </p:nvSpPr>
        <p:spPr>
          <a:xfrm>
            <a:off x="457200" y="256032"/>
            <a:ext cx="64008" cy="50292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a:off x="621792" y="201168"/>
            <a:ext cx="80467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法務部門の業務領域</a:t>
            </a:r>
            <a:endParaRPr b="0" i="0" sz="2800" u="none" cap="none" strike="noStrike">
              <a:solidFill>
                <a:schemeClr val="dk1"/>
              </a:solidFill>
              <a:latin typeface="Calibri"/>
              <a:ea typeface="Calibri"/>
              <a:cs typeface="Calibri"/>
              <a:sym typeface="Calibri"/>
            </a:endParaRPr>
          </a:p>
        </p:txBody>
      </p:sp>
      <p:sp>
        <p:nvSpPr>
          <p:cNvPr id="55" name="Google Shape;55;p5"/>
          <p:cNvSpPr/>
          <p:nvPr/>
        </p:nvSpPr>
        <p:spPr>
          <a:xfrm>
            <a:off x="457200"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
          <p:cNvSpPr/>
          <p:nvPr/>
        </p:nvSpPr>
        <p:spPr>
          <a:xfrm>
            <a:off x="548640"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契約の審査・起案・交渉</a:t>
            </a:r>
            <a:endParaRPr b="0" i="0" sz="1100" u="none" cap="none" strike="noStrike">
              <a:solidFill>
                <a:schemeClr val="dk1"/>
              </a:solidFill>
              <a:latin typeface="Calibri"/>
              <a:ea typeface="Calibri"/>
              <a:cs typeface="Calibri"/>
              <a:sym typeface="Calibri"/>
            </a:endParaRPr>
          </a:p>
        </p:txBody>
      </p:sp>
      <p:sp>
        <p:nvSpPr>
          <p:cNvPr id="57" name="Google Shape;57;p5"/>
          <p:cNvSpPr/>
          <p:nvPr/>
        </p:nvSpPr>
        <p:spPr>
          <a:xfrm>
            <a:off x="457200"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a:off x="566928"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民法上の典型契約（主要類型）</a:t>
            </a:r>
            <a:endParaRPr b="0" i="0" sz="1050" u="none" cap="none" strike="noStrike">
              <a:solidFill>
                <a:schemeClr val="dk1"/>
              </a:solidFill>
              <a:latin typeface="Calibri"/>
              <a:ea typeface="Calibri"/>
              <a:cs typeface="Calibri"/>
              <a:sym typeface="Calibri"/>
            </a:endParaRPr>
          </a:p>
        </p:txBody>
      </p:sp>
      <p:sp>
        <p:nvSpPr>
          <p:cNvPr id="59" name="Google Shape;59;p5"/>
          <p:cNvSpPr/>
          <p:nvPr/>
        </p:nvSpPr>
        <p:spPr>
          <a:xfrm>
            <a:off x="621792"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売買契約</a:t>
            </a:r>
            <a:endParaRPr b="0" i="0" sz="900" u="none" cap="none" strike="noStrike">
              <a:solidFill>
                <a:schemeClr val="dk1"/>
              </a:solidFill>
              <a:latin typeface="Calibri"/>
              <a:ea typeface="Calibri"/>
              <a:cs typeface="Calibri"/>
              <a:sym typeface="Calibri"/>
            </a:endParaRPr>
          </a:p>
        </p:txBody>
      </p:sp>
      <p:sp>
        <p:nvSpPr>
          <p:cNvPr id="60" name="Google Shape;60;p5"/>
          <p:cNvSpPr/>
          <p:nvPr/>
        </p:nvSpPr>
        <p:spPr>
          <a:xfrm>
            <a:off x="621792"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請負契約</a:t>
            </a:r>
            <a:endParaRPr b="0" i="0" sz="900" u="none" cap="none" strike="noStrike">
              <a:solidFill>
                <a:schemeClr val="dk1"/>
              </a:solidFill>
              <a:latin typeface="Calibri"/>
              <a:ea typeface="Calibri"/>
              <a:cs typeface="Calibri"/>
              <a:sym typeface="Calibri"/>
            </a:endParaRPr>
          </a:p>
        </p:txBody>
      </p:sp>
      <p:sp>
        <p:nvSpPr>
          <p:cNvPr id="61" name="Google Shape;61;p5"/>
          <p:cNvSpPr/>
          <p:nvPr/>
        </p:nvSpPr>
        <p:spPr>
          <a:xfrm>
            <a:off x="621792"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委任契約 / 準委任契約</a:t>
            </a:r>
            <a:endParaRPr b="0" i="0" sz="900" u="none" cap="none" strike="noStrike">
              <a:solidFill>
                <a:schemeClr val="dk1"/>
              </a:solidFill>
              <a:latin typeface="Calibri"/>
              <a:ea typeface="Calibri"/>
              <a:cs typeface="Calibri"/>
              <a:sym typeface="Calibri"/>
            </a:endParaRPr>
          </a:p>
        </p:txBody>
      </p:sp>
      <p:sp>
        <p:nvSpPr>
          <p:cNvPr id="62" name="Google Shape;62;p5"/>
          <p:cNvSpPr/>
          <p:nvPr/>
        </p:nvSpPr>
        <p:spPr>
          <a:xfrm>
            <a:off x="621792" y="25328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賃貸借契約 / 使用貸借契約</a:t>
            </a:r>
            <a:endParaRPr b="0" i="0" sz="900" u="none" cap="none" strike="noStrike">
              <a:solidFill>
                <a:schemeClr val="dk1"/>
              </a:solidFill>
              <a:latin typeface="Calibri"/>
              <a:ea typeface="Calibri"/>
              <a:cs typeface="Calibri"/>
              <a:sym typeface="Calibri"/>
            </a:endParaRPr>
          </a:p>
        </p:txBody>
      </p:sp>
      <p:sp>
        <p:nvSpPr>
          <p:cNvPr id="63" name="Google Shape;63;p5"/>
          <p:cNvSpPr/>
          <p:nvPr/>
        </p:nvSpPr>
        <p:spPr>
          <a:xfrm>
            <a:off x="621792" y="27614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消費貸借契約</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21792" y="2990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雇用契約</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621792" y="3218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秘密保持契約（NDA）</a:t>
            </a:r>
            <a:endParaRPr b="0" i="0" sz="900" u="none" cap="none" strike="noStrike">
              <a:solidFill>
                <a:schemeClr val="dk1"/>
              </a:solidFill>
              <a:latin typeface="Calibri"/>
              <a:ea typeface="Calibri"/>
              <a:cs typeface="Calibri"/>
              <a:sym typeface="Calibri"/>
            </a:endParaRPr>
          </a:p>
        </p:txBody>
      </p:sp>
      <p:sp>
        <p:nvSpPr>
          <p:cNvPr id="66" name="Google Shape;66;p5"/>
          <p:cNvSpPr/>
          <p:nvPr/>
        </p:nvSpPr>
        <p:spPr>
          <a:xfrm>
            <a:off x="621792" y="3447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代理店・販売委託契約</a:t>
            </a:r>
            <a:endParaRPr b="0" i="0" sz="900" u="none" cap="none" strike="noStrike">
              <a:solidFill>
                <a:schemeClr val="dk1"/>
              </a:solidFill>
              <a:latin typeface="Calibri"/>
              <a:ea typeface="Calibri"/>
              <a:cs typeface="Calibri"/>
              <a:sym typeface="Calibri"/>
            </a:endParaRPr>
          </a:p>
        </p:txBody>
      </p:sp>
      <p:sp>
        <p:nvSpPr>
          <p:cNvPr id="67" name="Google Shape;67;p5"/>
          <p:cNvSpPr/>
          <p:nvPr/>
        </p:nvSpPr>
        <p:spPr>
          <a:xfrm>
            <a:off x="566928" y="37490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566928" y="38404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契約管理プロセス</a:t>
            </a:r>
            <a:endParaRPr b="0" i="0" sz="1050" u="none" cap="none" strike="noStrike">
              <a:solidFill>
                <a:schemeClr val="dk1"/>
              </a:solidFill>
              <a:latin typeface="Calibri"/>
              <a:ea typeface="Calibri"/>
              <a:cs typeface="Calibri"/>
              <a:sym typeface="Calibri"/>
            </a:endParaRPr>
          </a:p>
        </p:txBody>
      </p:sp>
      <p:sp>
        <p:nvSpPr>
          <p:cNvPr id="69" name="Google Shape;69;p5"/>
          <p:cNvSpPr/>
          <p:nvPr/>
        </p:nvSpPr>
        <p:spPr>
          <a:xfrm>
            <a:off x="621792" y="41696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ドラフト作成・審査・修正</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621792" y="43982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条件交渉・リスク評価</a:t>
            </a:r>
            <a:endParaRPr b="0" i="0" sz="900" u="none" cap="none" strike="noStrike">
              <a:solidFill>
                <a:schemeClr val="dk1"/>
              </a:solidFill>
              <a:latin typeface="Calibri"/>
              <a:ea typeface="Calibri"/>
              <a:cs typeface="Calibri"/>
              <a:sym typeface="Calibri"/>
            </a:endParaRPr>
          </a:p>
        </p:txBody>
      </p:sp>
      <p:sp>
        <p:nvSpPr>
          <p:cNvPr id="71" name="Google Shape;71;p5"/>
          <p:cNvSpPr/>
          <p:nvPr/>
        </p:nvSpPr>
        <p:spPr>
          <a:xfrm>
            <a:off x="621792" y="4626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締結・保管・更新管理</a:t>
            </a:r>
            <a:endParaRPr b="0" i="0" sz="900" u="none" cap="none" strike="noStrike">
              <a:solidFill>
                <a:schemeClr val="dk1"/>
              </a:solidFill>
              <a:latin typeface="Calibri"/>
              <a:ea typeface="Calibri"/>
              <a:cs typeface="Calibri"/>
              <a:sym typeface="Calibri"/>
            </a:endParaRPr>
          </a:p>
        </p:txBody>
      </p:sp>
      <p:sp>
        <p:nvSpPr>
          <p:cNvPr id="72" name="Google Shape;72;p5"/>
          <p:cNvSpPr/>
          <p:nvPr/>
        </p:nvSpPr>
        <p:spPr>
          <a:xfrm>
            <a:off x="3273552"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3364992"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法規制への対応</a:t>
            </a:r>
            <a:endParaRPr b="0" i="0" sz="1100" u="none" cap="none" strike="noStrike">
              <a:solidFill>
                <a:schemeClr val="dk1"/>
              </a:solidFill>
              <a:latin typeface="Calibri"/>
              <a:ea typeface="Calibri"/>
              <a:cs typeface="Calibri"/>
              <a:sym typeface="Calibri"/>
            </a:endParaRPr>
          </a:p>
        </p:txBody>
      </p:sp>
      <p:sp>
        <p:nvSpPr>
          <p:cNvPr id="74" name="Google Shape;74;p5"/>
          <p:cNvSpPr/>
          <p:nvPr/>
        </p:nvSpPr>
        <p:spPr>
          <a:xfrm>
            <a:off x="3273552"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
          <p:cNvSpPr/>
          <p:nvPr/>
        </p:nvSpPr>
        <p:spPr>
          <a:xfrm>
            <a:off x="3383280"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個別業法コンプライアンス</a:t>
            </a:r>
            <a:endParaRPr b="0" i="0" sz="1050" u="none" cap="none" strike="noStrike">
              <a:solidFill>
                <a:schemeClr val="dk1"/>
              </a:solidFill>
              <a:latin typeface="Calibri"/>
              <a:ea typeface="Calibri"/>
              <a:cs typeface="Calibri"/>
              <a:sym typeface="Calibri"/>
            </a:endParaRPr>
          </a:p>
        </p:txBody>
      </p:sp>
      <p:sp>
        <p:nvSpPr>
          <p:cNvPr id="76" name="Google Shape;76;p5"/>
          <p:cNvSpPr/>
          <p:nvPr/>
        </p:nvSpPr>
        <p:spPr>
          <a:xfrm>
            <a:off x="3438144"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医薬品医療機器等法（薬機法）</a:t>
            </a:r>
            <a:endParaRPr b="0" i="0" sz="900" u="none" cap="none" strike="noStrike">
              <a:solidFill>
                <a:schemeClr val="dk1"/>
              </a:solidFill>
              <a:latin typeface="Calibri"/>
              <a:ea typeface="Calibri"/>
              <a:cs typeface="Calibri"/>
              <a:sym typeface="Calibri"/>
            </a:endParaRPr>
          </a:p>
        </p:txBody>
      </p:sp>
      <p:sp>
        <p:nvSpPr>
          <p:cNvPr id="77" name="Google Shape;77;p5"/>
          <p:cNvSpPr/>
          <p:nvPr/>
        </p:nvSpPr>
        <p:spPr>
          <a:xfrm>
            <a:off x="3438144"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金融商品取引法</a:t>
            </a:r>
            <a:endParaRPr b="0" i="0" sz="900" u="none" cap="none" strike="noStrike">
              <a:solidFill>
                <a:schemeClr val="dk1"/>
              </a:solidFill>
              <a:latin typeface="Calibri"/>
              <a:ea typeface="Calibri"/>
              <a:cs typeface="Calibri"/>
              <a:sym typeface="Calibri"/>
            </a:endParaRPr>
          </a:p>
        </p:txBody>
      </p:sp>
      <p:sp>
        <p:nvSpPr>
          <p:cNvPr id="78" name="Google Shape;78;p5"/>
          <p:cNvSpPr/>
          <p:nvPr/>
        </p:nvSpPr>
        <p:spPr>
          <a:xfrm>
            <a:off x="3438144"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製造物責任法（PL法）</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3438144" y="25328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労働関連法規</a:t>
            </a:r>
            <a:endParaRPr b="0" i="0" sz="900" u="none" cap="none" strike="noStrike">
              <a:solidFill>
                <a:schemeClr val="dk1"/>
              </a:solidFill>
              <a:latin typeface="Calibri"/>
              <a:ea typeface="Calibri"/>
              <a:cs typeface="Calibri"/>
              <a:sym typeface="Calibri"/>
            </a:endParaRPr>
          </a:p>
        </p:txBody>
      </p:sp>
      <p:sp>
        <p:nvSpPr>
          <p:cNvPr id="80" name="Google Shape;80;p5"/>
          <p:cNvSpPr/>
          <p:nvPr/>
        </p:nvSpPr>
        <p:spPr>
          <a:xfrm>
            <a:off x="3438144" y="27614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その他 事業に直接関わる業法</a:t>
            </a:r>
            <a:endParaRPr b="0" i="0" sz="900" u="none" cap="none" strike="noStrike">
              <a:solidFill>
                <a:schemeClr val="dk1"/>
              </a:solidFill>
              <a:latin typeface="Calibri"/>
              <a:ea typeface="Calibri"/>
              <a:cs typeface="Calibri"/>
              <a:sym typeface="Calibri"/>
            </a:endParaRPr>
          </a:p>
        </p:txBody>
      </p:sp>
      <p:sp>
        <p:nvSpPr>
          <p:cNvPr id="81" name="Google Shape;81;p5"/>
          <p:cNvSpPr/>
          <p:nvPr/>
        </p:nvSpPr>
        <p:spPr>
          <a:xfrm>
            <a:off x="3383280" y="30632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5"/>
          <p:cNvSpPr/>
          <p:nvPr/>
        </p:nvSpPr>
        <p:spPr>
          <a:xfrm>
            <a:off x="3383280" y="31546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競争法・取引規制</a:t>
            </a:r>
            <a:endParaRPr b="0" i="0" sz="1050" u="none" cap="none" strike="noStrike">
              <a:solidFill>
                <a:schemeClr val="dk1"/>
              </a:solidFill>
              <a:latin typeface="Calibri"/>
              <a:ea typeface="Calibri"/>
              <a:cs typeface="Calibri"/>
              <a:sym typeface="Calibri"/>
            </a:endParaRPr>
          </a:p>
        </p:txBody>
      </p:sp>
      <p:sp>
        <p:nvSpPr>
          <p:cNvPr id="83" name="Google Shape;83;p5"/>
          <p:cNvSpPr/>
          <p:nvPr/>
        </p:nvSpPr>
        <p:spPr>
          <a:xfrm>
            <a:off x="3438144" y="3483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独占禁止法</a:t>
            </a:r>
            <a:endParaRPr b="0" i="0" sz="900" u="none" cap="none" strike="noStrike">
              <a:solidFill>
                <a:schemeClr val="dk1"/>
              </a:solidFill>
              <a:latin typeface="Calibri"/>
              <a:ea typeface="Calibri"/>
              <a:cs typeface="Calibri"/>
              <a:sym typeface="Calibri"/>
            </a:endParaRPr>
          </a:p>
        </p:txBody>
      </p:sp>
      <p:sp>
        <p:nvSpPr>
          <p:cNvPr id="84" name="Google Shape;84;p5"/>
          <p:cNvSpPr/>
          <p:nvPr/>
        </p:nvSpPr>
        <p:spPr>
          <a:xfrm>
            <a:off x="3438144" y="37124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下請法</a:t>
            </a:r>
            <a:endParaRPr b="0" i="0" sz="900" u="none" cap="none" strike="noStrike">
              <a:solidFill>
                <a:schemeClr val="dk1"/>
              </a:solidFill>
              <a:latin typeface="Calibri"/>
              <a:ea typeface="Calibri"/>
              <a:cs typeface="Calibri"/>
              <a:sym typeface="Calibri"/>
            </a:endParaRPr>
          </a:p>
        </p:txBody>
      </p:sp>
      <p:sp>
        <p:nvSpPr>
          <p:cNvPr id="85" name="Google Shape;85;p5"/>
          <p:cNvSpPr/>
          <p:nvPr/>
        </p:nvSpPr>
        <p:spPr>
          <a:xfrm>
            <a:off x="3438144" y="39410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不正競争防止法</a:t>
            </a:r>
            <a:endParaRPr b="0" i="0" sz="900" u="none" cap="none" strike="noStrike">
              <a:solidFill>
                <a:schemeClr val="dk1"/>
              </a:solidFill>
              <a:latin typeface="Calibri"/>
              <a:ea typeface="Calibri"/>
              <a:cs typeface="Calibri"/>
              <a:sym typeface="Calibri"/>
            </a:endParaRPr>
          </a:p>
        </p:txBody>
      </p:sp>
      <p:sp>
        <p:nvSpPr>
          <p:cNvPr id="86" name="Google Shape;86;p5"/>
          <p:cNvSpPr/>
          <p:nvPr/>
        </p:nvSpPr>
        <p:spPr>
          <a:xfrm>
            <a:off x="3383280" y="4242816"/>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3383280" y="4334256"/>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データ・プライバシー規制</a:t>
            </a:r>
            <a:endParaRPr b="0" i="0" sz="1050" u="none" cap="none" strike="noStrike">
              <a:solidFill>
                <a:schemeClr val="dk1"/>
              </a:solidFill>
              <a:latin typeface="Calibri"/>
              <a:ea typeface="Calibri"/>
              <a:cs typeface="Calibri"/>
              <a:sym typeface="Calibri"/>
            </a:endParaRPr>
          </a:p>
        </p:txBody>
      </p:sp>
      <p:sp>
        <p:nvSpPr>
          <p:cNvPr id="88" name="Google Shape;88;p5"/>
          <p:cNvSpPr/>
          <p:nvPr/>
        </p:nvSpPr>
        <p:spPr>
          <a:xfrm>
            <a:off x="3438144" y="46634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個人情報保護法</a:t>
            </a:r>
            <a:endParaRPr b="0" i="0" sz="900" u="none" cap="none" strike="noStrike">
              <a:solidFill>
                <a:schemeClr val="dk1"/>
              </a:solidFill>
              <a:latin typeface="Calibri"/>
              <a:ea typeface="Calibri"/>
              <a:cs typeface="Calibri"/>
              <a:sym typeface="Calibri"/>
            </a:endParaRPr>
          </a:p>
        </p:txBody>
      </p:sp>
      <p:sp>
        <p:nvSpPr>
          <p:cNvPr id="89" name="Google Shape;89;p5"/>
          <p:cNvSpPr/>
          <p:nvPr/>
        </p:nvSpPr>
        <p:spPr>
          <a:xfrm>
            <a:off x="3438144" y="48920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EU一般データ保護規則（GDPR）</a:t>
            </a:r>
            <a:endParaRPr b="0" i="0" sz="900" u="none" cap="none" strike="noStrike">
              <a:solidFill>
                <a:schemeClr val="dk1"/>
              </a:solidFill>
              <a:latin typeface="Calibri"/>
              <a:ea typeface="Calibri"/>
              <a:cs typeface="Calibri"/>
              <a:sym typeface="Calibri"/>
            </a:endParaRPr>
          </a:p>
        </p:txBody>
      </p:sp>
      <p:sp>
        <p:nvSpPr>
          <p:cNvPr id="90" name="Google Shape;90;p5"/>
          <p:cNvSpPr/>
          <p:nvPr/>
        </p:nvSpPr>
        <p:spPr>
          <a:xfrm>
            <a:off x="3438144" y="51206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データ越境移転規制</a:t>
            </a:r>
            <a:endParaRPr b="0" i="0" sz="900" u="none" cap="none" strike="noStrike">
              <a:solidFill>
                <a:schemeClr val="dk1"/>
              </a:solidFill>
              <a:latin typeface="Calibri"/>
              <a:ea typeface="Calibri"/>
              <a:cs typeface="Calibri"/>
              <a:sym typeface="Calibri"/>
            </a:endParaRPr>
          </a:p>
        </p:txBody>
      </p:sp>
      <p:sp>
        <p:nvSpPr>
          <p:cNvPr id="91" name="Google Shape;91;p5"/>
          <p:cNvSpPr/>
          <p:nvPr/>
        </p:nvSpPr>
        <p:spPr>
          <a:xfrm>
            <a:off x="6089904"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6181344"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コーポレート法務</a:t>
            </a:r>
            <a:endParaRPr b="0" i="0" sz="1100" u="none" cap="none" strike="noStrike">
              <a:solidFill>
                <a:schemeClr val="dk1"/>
              </a:solidFill>
              <a:latin typeface="Calibri"/>
              <a:ea typeface="Calibri"/>
              <a:cs typeface="Calibri"/>
              <a:sym typeface="Calibri"/>
            </a:endParaRPr>
          </a:p>
        </p:txBody>
      </p:sp>
      <p:sp>
        <p:nvSpPr>
          <p:cNvPr id="93" name="Google Shape;93;p5"/>
          <p:cNvSpPr/>
          <p:nvPr/>
        </p:nvSpPr>
        <p:spPr>
          <a:xfrm>
            <a:off x="6089904"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a:off x="6199632"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M&amp;A・投資案件</a:t>
            </a:r>
            <a:endParaRPr b="0" i="0" sz="1050" u="none" cap="none" strike="noStrike">
              <a:solidFill>
                <a:schemeClr val="dk1"/>
              </a:solidFill>
              <a:latin typeface="Calibri"/>
              <a:ea typeface="Calibri"/>
              <a:cs typeface="Calibri"/>
              <a:sym typeface="Calibri"/>
            </a:endParaRPr>
          </a:p>
        </p:txBody>
      </p:sp>
      <p:sp>
        <p:nvSpPr>
          <p:cNvPr id="95" name="Google Shape;95;p5"/>
          <p:cNvSpPr/>
          <p:nvPr/>
        </p:nvSpPr>
        <p:spPr>
          <a:xfrm>
            <a:off x="6254496"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基本合意書（MOU / LOI）</a:t>
            </a:r>
            <a:endParaRPr b="0" i="0" sz="900" u="none" cap="none" strike="noStrike">
              <a:solidFill>
                <a:schemeClr val="dk1"/>
              </a:solidFill>
              <a:latin typeface="Calibri"/>
              <a:ea typeface="Calibri"/>
              <a:cs typeface="Calibri"/>
              <a:sym typeface="Calibri"/>
            </a:endParaRPr>
          </a:p>
        </p:txBody>
      </p:sp>
      <p:sp>
        <p:nvSpPr>
          <p:cNvPr id="96" name="Google Shape;96;p5"/>
          <p:cNvSpPr/>
          <p:nvPr/>
        </p:nvSpPr>
        <p:spPr>
          <a:xfrm>
            <a:off x="6254496"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デューデリジェンス支援</a:t>
            </a:r>
            <a:endParaRPr b="0" i="0" sz="900" u="none" cap="none" strike="noStrike">
              <a:solidFill>
                <a:schemeClr val="dk1"/>
              </a:solidFill>
              <a:latin typeface="Calibri"/>
              <a:ea typeface="Calibri"/>
              <a:cs typeface="Calibri"/>
              <a:sym typeface="Calibri"/>
            </a:endParaRPr>
          </a:p>
        </p:txBody>
      </p:sp>
      <p:sp>
        <p:nvSpPr>
          <p:cNvPr id="97" name="Google Shape;97;p5"/>
          <p:cNvSpPr/>
          <p:nvPr/>
        </p:nvSpPr>
        <p:spPr>
          <a:xfrm>
            <a:off x="6254496"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株式購買契約（SPA）</a:t>
            </a:r>
            <a:endParaRPr b="0" i="0" sz="900" u="none" cap="none" strike="noStrike">
              <a:solidFill>
                <a:schemeClr val="dk1"/>
              </a:solidFill>
              <a:latin typeface="Calibri"/>
              <a:ea typeface="Calibri"/>
              <a:cs typeface="Calibri"/>
              <a:sym typeface="Calibri"/>
            </a:endParaRPr>
          </a:p>
        </p:txBody>
      </p:sp>
      <p:sp>
        <p:nvSpPr>
          <p:cNvPr id="98" name="Google Shape;98;p5"/>
          <p:cNvSpPr/>
          <p:nvPr/>
        </p:nvSpPr>
        <p:spPr>
          <a:xfrm>
            <a:off x="6254496" y="25328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合弁契約（JVA）</a:t>
            </a:r>
            <a:endParaRPr b="0" i="0" sz="900" u="none" cap="none" strike="noStrike">
              <a:solidFill>
                <a:schemeClr val="dk1"/>
              </a:solidFill>
              <a:latin typeface="Calibri"/>
              <a:ea typeface="Calibri"/>
              <a:cs typeface="Calibri"/>
              <a:sym typeface="Calibri"/>
            </a:endParaRPr>
          </a:p>
        </p:txBody>
      </p:sp>
      <p:sp>
        <p:nvSpPr>
          <p:cNvPr id="99" name="Google Shape;99;p5"/>
          <p:cNvSpPr/>
          <p:nvPr/>
        </p:nvSpPr>
        <p:spPr>
          <a:xfrm>
            <a:off x="6199632" y="28346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
          <p:cNvSpPr/>
          <p:nvPr/>
        </p:nvSpPr>
        <p:spPr>
          <a:xfrm>
            <a:off x="6199632" y="29260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紛争解決</a:t>
            </a:r>
            <a:endParaRPr b="0" i="0" sz="1050" u="none" cap="none" strike="noStrike">
              <a:solidFill>
                <a:schemeClr val="dk1"/>
              </a:solidFill>
              <a:latin typeface="Calibri"/>
              <a:ea typeface="Calibri"/>
              <a:cs typeface="Calibri"/>
              <a:sym typeface="Calibri"/>
            </a:endParaRPr>
          </a:p>
        </p:txBody>
      </p:sp>
      <p:sp>
        <p:nvSpPr>
          <p:cNvPr id="101" name="Google Shape;101;p5"/>
          <p:cNvSpPr/>
          <p:nvPr/>
        </p:nvSpPr>
        <p:spPr>
          <a:xfrm>
            <a:off x="6254496" y="32552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訴訟・仲裁・調停</a:t>
            </a:r>
            <a:endParaRPr b="0" i="0" sz="900" u="none" cap="none" strike="noStrike">
              <a:solidFill>
                <a:schemeClr val="dk1"/>
              </a:solidFill>
              <a:latin typeface="Calibri"/>
              <a:ea typeface="Calibri"/>
              <a:cs typeface="Calibri"/>
              <a:sym typeface="Calibri"/>
            </a:endParaRPr>
          </a:p>
        </p:txBody>
      </p:sp>
      <p:sp>
        <p:nvSpPr>
          <p:cNvPr id="102" name="Google Shape;102;p5"/>
          <p:cNvSpPr/>
          <p:nvPr/>
        </p:nvSpPr>
        <p:spPr>
          <a:xfrm>
            <a:off x="6254496" y="3483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和解・示談交渉</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6254496" y="37124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クレーム・損害賠償対応</a:t>
            </a:r>
            <a:endParaRPr b="0" i="0" sz="900" u="none" cap="none" strike="noStrike">
              <a:solidFill>
                <a:schemeClr val="dk1"/>
              </a:solidFill>
              <a:latin typeface="Calibri"/>
              <a:ea typeface="Calibri"/>
              <a:cs typeface="Calibri"/>
              <a:sym typeface="Calibri"/>
            </a:endParaRPr>
          </a:p>
        </p:txBody>
      </p:sp>
      <p:sp>
        <p:nvSpPr>
          <p:cNvPr id="104" name="Google Shape;104;p5"/>
          <p:cNvSpPr/>
          <p:nvPr/>
        </p:nvSpPr>
        <p:spPr>
          <a:xfrm>
            <a:off x="6199632" y="4014216"/>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
          <p:cNvSpPr/>
          <p:nvPr/>
        </p:nvSpPr>
        <p:spPr>
          <a:xfrm>
            <a:off x="6199632" y="4105656"/>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ガバナンス・知財</a:t>
            </a:r>
            <a:endParaRPr b="0" i="0" sz="1050" u="none" cap="none" strike="noStrike">
              <a:solidFill>
                <a:schemeClr val="dk1"/>
              </a:solidFill>
              <a:latin typeface="Calibri"/>
              <a:ea typeface="Calibri"/>
              <a:cs typeface="Calibri"/>
              <a:sym typeface="Calibri"/>
            </a:endParaRPr>
          </a:p>
        </p:txBody>
      </p:sp>
      <p:sp>
        <p:nvSpPr>
          <p:cNvPr id="106" name="Google Shape;106;p5"/>
          <p:cNvSpPr/>
          <p:nvPr/>
        </p:nvSpPr>
        <p:spPr>
          <a:xfrm>
            <a:off x="6254496" y="44348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定款・株主総会・取締役会</a:t>
            </a:r>
            <a:endParaRPr b="0" i="0" sz="900" u="none" cap="none" strike="noStrike">
              <a:solidFill>
                <a:schemeClr val="dk1"/>
              </a:solidFill>
              <a:latin typeface="Calibri"/>
              <a:ea typeface="Calibri"/>
              <a:cs typeface="Calibri"/>
              <a:sym typeface="Calibri"/>
            </a:endParaRPr>
          </a:p>
        </p:txBody>
      </p:sp>
      <p:sp>
        <p:nvSpPr>
          <p:cNvPr id="107" name="Google Shape;107;p5"/>
          <p:cNvSpPr/>
          <p:nvPr/>
        </p:nvSpPr>
        <p:spPr>
          <a:xfrm>
            <a:off x="6254496" y="46634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コーポレートガバナンス整備</a:t>
            </a:r>
            <a:endParaRPr b="0" i="0" sz="900" u="none" cap="none" strike="noStrike">
              <a:solidFill>
                <a:schemeClr val="dk1"/>
              </a:solidFill>
              <a:latin typeface="Calibri"/>
              <a:ea typeface="Calibri"/>
              <a:cs typeface="Calibri"/>
              <a:sym typeface="Calibri"/>
            </a:endParaRPr>
          </a:p>
        </p:txBody>
      </p:sp>
      <p:sp>
        <p:nvSpPr>
          <p:cNvPr id="108" name="Google Shape;108;p5"/>
          <p:cNvSpPr/>
          <p:nvPr/>
        </p:nvSpPr>
        <p:spPr>
          <a:xfrm>
            <a:off x="6254496" y="48920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特許・商標・著作権管理</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6"/>
          <p:cNvSpPr/>
          <p:nvPr/>
        </p:nvSpPr>
        <p:spPr>
          <a:xfrm>
            <a:off x="457200" y="256032"/>
            <a:ext cx="64008" cy="50292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
          <p:cNvSpPr/>
          <p:nvPr/>
        </p:nvSpPr>
        <p:spPr>
          <a:xfrm>
            <a:off x="621792" y="201168"/>
            <a:ext cx="80467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購買部門の業務領域</a:t>
            </a:r>
            <a:endParaRPr b="0" i="0" sz="2800" u="none" cap="none" strike="noStrike">
              <a:solidFill>
                <a:schemeClr val="dk1"/>
              </a:solidFill>
              <a:latin typeface="Calibri"/>
              <a:ea typeface="Calibri"/>
              <a:cs typeface="Calibri"/>
              <a:sym typeface="Calibri"/>
            </a:endParaRPr>
          </a:p>
        </p:txBody>
      </p:sp>
      <p:sp>
        <p:nvSpPr>
          <p:cNvPr id="116" name="Google Shape;116;p6"/>
          <p:cNvSpPr/>
          <p:nvPr/>
        </p:nvSpPr>
        <p:spPr>
          <a:xfrm>
            <a:off x="457200"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6"/>
          <p:cNvSpPr/>
          <p:nvPr/>
        </p:nvSpPr>
        <p:spPr>
          <a:xfrm>
            <a:off x="548640"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直接材の調達</a:t>
            </a:r>
            <a:endParaRPr b="0" i="0" sz="1100" u="none" cap="none" strike="noStrike">
              <a:solidFill>
                <a:schemeClr val="dk1"/>
              </a:solidFill>
              <a:latin typeface="Calibri"/>
              <a:ea typeface="Calibri"/>
              <a:cs typeface="Calibri"/>
              <a:sym typeface="Calibri"/>
            </a:endParaRPr>
          </a:p>
        </p:txBody>
      </p:sp>
      <p:sp>
        <p:nvSpPr>
          <p:cNvPr id="118" name="Google Shape;118;p6"/>
          <p:cNvSpPr/>
          <p:nvPr/>
        </p:nvSpPr>
        <p:spPr>
          <a:xfrm>
            <a:off x="457200"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
          <p:cNvSpPr/>
          <p:nvPr/>
        </p:nvSpPr>
        <p:spPr>
          <a:xfrm>
            <a:off x="566928"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対象品目</a:t>
            </a:r>
            <a:endParaRPr b="0" i="0" sz="1050" u="none" cap="none" strike="noStrike">
              <a:solidFill>
                <a:schemeClr val="dk1"/>
              </a:solidFill>
              <a:latin typeface="Calibri"/>
              <a:ea typeface="Calibri"/>
              <a:cs typeface="Calibri"/>
              <a:sym typeface="Calibri"/>
            </a:endParaRPr>
          </a:p>
        </p:txBody>
      </p:sp>
      <p:sp>
        <p:nvSpPr>
          <p:cNvPr id="120" name="Google Shape;120;p6"/>
          <p:cNvSpPr/>
          <p:nvPr/>
        </p:nvSpPr>
        <p:spPr>
          <a:xfrm>
            <a:off x="621792"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原材料・部品</a:t>
            </a:r>
            <a:endParaRPr b="0" i="0" sz="900" u="none" cap="none" strike="noStrike">
              <a:solidFill>
                <a:schemeClr val="dk1"/>
              </a:solidFill>
              <a:latin typeface="Calibri"/>
              <a:ea typeface="Calibri"/>
              <a:cs typeface="Calibri"/>
              <a:sym typeface="Calibri"/>
            </a:endParaRPr>
          </a:p>
        </p:txBody>
      </p:sp>
      <p:sp>
        <p:nvSpPr>
          <p:cNvPr id="121" name="Google Shape;121;p6"/>
          <p:cNvSpPr/>
          <p:nvPr/>
        </p:nvSpPr>
        <p:spPr>
          <a:xfrm>
            <a:off x="621792"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原薬（API）・添加物</a:t>
            </a:r>
            <a:endParaRPr b="0" i="0" sz="900" u="none" cap="none" strike="noStrike">
              <a:solidFill>
                <a:schemeClr val="dk1"/>
              </a:solidFill>
              <a:latin typeface="Calibri"/>
              <a:ea typeface="Calibri"/>
              <a:cs typeface="Calibri"/>
              <a:sym typeface="Calibri"/>
            </a:endParaRPr>
          </a:p>
        </p:txBody>
      </p:sp>
      <p:sp>
        <p:nvSpPr>
          <p:cNvPr id="122" name="Google Shape;122;p6"/>
          <p:cNvSpPr/>
          <p:nvPr/>
        </p:nvSpPr>
        <p:spPr>
          <a:xfrm>
            <a:off x="621792"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包装資材・ラベル</a:t>
            </a:r>
            <a:endParaRPr b="0" i="0" sz="900" u="none" cap="none" strike="noStrike">
              <a:solidFill>
                <a:schemeClr val="dk1"/>
              </a:solidFill>
              <a:latin typeface="Calibri"/>
              <a:ea typeface="Calibri"/>
              <a:cs typeface="Calibri"/>
              <a:sym typeface="Calibri"/>
            </a:endParaRPr>
          </a:p>
        </p:txBody>
      </p:sp>
      <p:sp>
        <p:nvSpPr>
          <p:cNvPr id="123" name="Google Shape;123;p6"/>
          <p:cNvSpPr/>
          <p:nvPr/>
        </p:nvSpPr>
        <p:spPr>
          <a:xfrm>
            <a:off x="566928" y="26060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6"/>
          <p:cNvSpPr/>
          <p:nvPr/>
        </p:nvSpPr>
        <p:spPr>
          <a:xfrm>
            <a:off x="566928" y="26974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主要業務</a:t>
            </a:r>
            <a:endParaRPr b="0" i="0" sz="1050" u="none" cap="none" strike="noStrike">
              <a:solidFill>
                <a:schemeClr val="dk1"/>
              </a:solidFill>
              <a:latin typeface="Calibri"/>
              <a:ea typeface="Calibri"/>
              <a:cs typeface="Calibri"/>
              <a:sym typeface="Calibri"/>
            </a:endParaRPr>
          </a:p>
        </p:txBody>
      </p:sp>
      <p:sp>
        <p:nvSpPr>
          <p:cNvPr id="125" name="Google Shape;125;p6"/>
          <p:cNvSpPr/>
          <p:nvPr/>
        </p:nvSpPr>
        <p:spPr>
          <a:xfrm>
            <a:off x="621792" y="30266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サプライヤー選定・資格認定</a:t>
            </a:r>
            <a:endParaRPr b="0" i="0" sz="900" u="none" cap="none" strike="noStrike">
              <a:solidFill>
                <a:schemeClr val="dk1"/>
              </a:solidFill>
              <a:latin typeface="Calibri"/>
              <a:ea typeface="Calibri"/>
              <a:cs typeface="Calibri"/>
              <a:sym typeface="Calibri"/>
            </a:endParaRPr>
          </a:p>
        </p:txBody>
      </p:sp>
      <p:sp>
        <p:nvSpPr>
          <p:cNvPr id="126" name="Google Shape;126;p6"/>
          <p:cNvSpPr/>
          <p:nvPr/>
        </p:nvSpPr>
        <p:spPr>
          <a:xfrm>
            <a:off x="621792" y="32552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定期評価・関係構築・育成</a:t>
            </a:r>
            <a:endParaRPr b="0" i="0" sz="900" u="none" cap="none" strike="noStrike">
              <a:solidFill>
                <a:schemeClr val="dk1"/>
              </a:solidFill>
              <a:latin typeface="Calibri"/>
              <a:ea typeface="Calibri"/>
              <a:cs typeface="Calibri"/>
              <a:sym typeface="Calibri"/>
            </a:endParaRPr>
          </a:p>
        </p:txBody>
      </p:sp>
      <p:sp>
        <p:nvSpPr>
          <p:cNvPr id="127" name="Google Shape;127;p6"/>
          <p:cNvSpPr/>
          <p:nvPr/>
        </p:nvSpPr>
        <p:spPr>
          <a:xfrm>
            <a:off x="621792" y="3483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QCD（品質・コスト・納期）最適化</a:t>
            </a:r>
            <a:endParaRPr b="0" i="0" sz="900" u="none" cap="none" strike="noStrike">
              <a:solidFill>
                <a:schemeClr val="dk1"/>
              </a:solidFill>
              <a:latin typeface="Calibri"/>
              <a:ea typeface="Calibri"/>
              <a:cs typeface="Calibri"/>
              <a:sym typeface="Calibri"/>
            </a:endParaRPr>
          </a:p>
        </p:txBody>
      </p:sp>
      <p:sp>
        <p:nvSpPr>
          <p:cNvPr id="128" name="Google Shape;128;p6"/>
          <p:cNvSpPr/>
          <p:nvPr/>
        </p:nvSpPr>
        <p:spPr>
          <a:xfrm>
            <a:off x="621792" y="37124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長期供給契約・フレームワーク契約</a:t>
            </a:r>
            <a:endParaRPr b="0" i="0" sz="900" u="none" cap="none" strike="noStrike">
              <a:solidFill>
                <a:schemeClr val="dk1"/>
              </a:solidFill>
              <a:latin typeface="Calibri"/>
              <a:ea typeface="Calibri"/>
              <a:cs typeface="Calibri"/>
              <a:sym typeface="Calibri"/>
            </a:endParaRPr>
          </a:p>
        </p:txBody>
      </p:sp>
      <p:sp>
        <p:nvSpPr>
          <p:cNvPr id="129" name="Google Shape;129;p6"/>
          <p:cNvSpPr/>
          <p:nvPr/>
        </p:nvSpPr>
        <p:spPr>
          <a:xfrm>
            <a:off x="621792" y="39410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サプライチェーンリスク管理</a:t>
            </a:r>
            <a:endParaRPr b="0" i="0" sz="900" u="none" cap="none" strike="noStrike">
              <a:solidFill>
                <a:schemeClr val="dk1"/>
              </a:solidFill>
              <a:latin typeface="Calibri"/>
              <a:ea typeface="Calibri"/>
              <a:cs typeface="Calibri"/>
              <a:sym typeface="Calibri"/>
            </a:endParaRPr>
          </a:p>
        </p:txBody>
      </p:sp>
      <p:sp>
        <p:nvSpPr>
          <p:cNvPr id="130" name="Google Shape;130;p6"/>
          <p:cNvSpPr/>
          <p:nvPr/>
        </p:nvSpPr>
        <p:spPr>
          <a:xfrm>
            <a:off x="621792" y="41696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規制要件への適合確認</a:t>
            </a:r>
            <a:endParaRPr b="0" i="0" sz="900" u="none" cap="none" strike="noStrike">
              <a:solidFill>
                <a:schemeClr val="dk1"/>
              </a:solidFill>
              <a:latin typeface="Calibri"/>
              <a:ea typeface="Calibri"/>
              <a:cs typeface="Calibri"/>
              <a:sym typeface="Calibri"/>
            </a:endParaRPr>
          </a:p>
        </p:txBody>
      </p:sp>
      <p:sp>
        <p:nvSpPr>
          <p:cNvPr id="131" name="Google Shape;131;p6"/>
          <p:cNvSpPr/>
          <p:nvPr/>
        </p:nvSpPr>
        <p:spPr>
          <a:xfrm>
            <a:off x="3273552"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6"/>
          <p:cNvSpPr/>
          <p:nvPr/>
        </p:nvSpPr>
        <p:spPr>
          <a:xfrm>
            <a:off x="3364992"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間接材の調達</a:t>
            </a:r>
            <a:endParaRPr b="0" i="0" sz="1100" u="none" cap="none" strike="noStrike">
              <a:solidFill>
                <a:schemeClr val="dk1"/>
              </a:solidFill>
              <a:latin typeface="Calibri"/>
              <a:ea typeface="Calibri"/>
              <a:cs typeface="Calibri"/>
              <a:sym typeface="Calibri"/>
            </a:endParaRPr>
          </a:p>
        </p:txBody>
      </p:sp>
      <p:sp>
        <p:nvSpPr>
          <p:cNvPr id="133" name="Google Shape;133;p6"/>
          <p:cNvSpPr/>
          <p:nvPr/>
        </p:nvSpPr>
        <p:spPr>
          <a:xfrm>
            <a:off x="3273552"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3383280"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対象品目・サービス（主要例）</a:t>
            </a:r>
            <a:endParaRPr b="0" i="0" sz="1050" u="none" cap="none" strike="noStrike">
              <a:solidFill>
                <a:schemeClr val="dk1"/>
              </a:solidFill>
              <a:latin typeface="Calibri"/>
              <a:ea typeface="Calibri"/>
              <a:cs typeface="Calibri"/>
              <a:sym typeface="Calibri"/>
            </a:endParaRPr>
          </a:p>
        </p:txBody>
      </p:sp>
      <p:sp>
        <p:nvSpPr>
          <p:cNvPr id="135" name="Google Shape;135;p6"/>
          <p:cNvSpPr/>
          <p:nvPr/>
        </p:nvSpPr>
        <p:spPr>
          <a:xfrm>
            <a:off x="3438144"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製造設備・検査機器</a:t>
            </a:r>
            <a:endParaRPr b="0" i="0" sz="900" u="none" cap="none" strike="noStrike">
              <a:solidFill>
                <a:schemeClr val="dk1"/>
              </a:solidFill>
              <a:latin typeface="Calibri"/>
              <a:ea typeface="Calibri"/>
              <a:cs typeface="Calibri"/>
              <a:sym typeface="Calibri"/>
            </a:endParaRPr>
          </a:p>
        </p:txBody>
      </p:sp>
      <p:sp>
        <p:nvSpPr>
          <p:cNvPr id="136" name="Google Shape;136;p6"/>
          <p:cNvSpPr/>
          <p:nvPr/>
        </p:nvSpPr>
        <p:spPr>
          <a:xfrm>
            <a:off x="3438144"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施設・ユーティリティ</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3438144"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事務用品・消耗品</a:t>
            </a:r>
            <a:endParaRPr b="0" i="0" sz="900" u="none" cap="none" strike="noStrike">
              <a:solidFill>
                <a:schemeClr val="dk1"/>
              </a:solidFill>
              <a:latin typeface="Calibri"/>
              <a:ea typeface="Calibri"/>
              <a:cs typeface="Calibri"/>
              <a:sym typeface="Calibri"/>
            </a:endParaRPr>
          </a:p>
        </p:txBody>
      </p:sp>
      <p:sp>
        <p:nvSpPr>
          <p:cNvPr id="138" name="Google Shape;138;p6"/>
          <p:cNvSpPr/>
          <p:nvPr/>
        </p:nvSpPr>
        <p:spPr>
          <a:xfrm>
            <a:off x="3438144" y="25328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清掃・警備・輸送サービス</a:t>
            </a:r>
            <a:endParaRPr b="0" i="0" sz="900" u="none" cap="none" strike="noStrike">
              <a:solidFill>
                <a:schemeClr val="dk1"/>
              </a:solidFill>
              <a:latin typeface="Calibri"/>
              <a:ea typeface="Calibri"/>
              <a:cs typeface="Calibri"/>
              <a:sym typeface="Calibri"/>
            </a:endParaRPr>
          </a:p>
        </p:txBody>
      </p:sp>
      <p:sp>
        <p:nvSpPr>
          <p:cNvPr id="139" name="Google Shape;139;p6"/>
          <p:cNvSpPr/>
          <p:nvPr/>
        </p:nvSpPr>
        <p:spPr>
          <a:xfrm>
            <a:off x="3438144" y="27614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標準的なコンサルティング</a:t>
            </a:r>
            <a:endParaRPr b="0" i="0" sz="900" u="none" cap="none" strike="noStrike">
              <a:solidFill>
                <a:schemeClr val="dk1"/>
              </a:solidFill>
              <a:latin typeface="Calibri"/>
              <a:ea typeface="Calibri"/>
              <a:cs typeface="Calibri"/>
              <a:sym typeface="Calibri"/>
            </a:endParaRPr>
          </a:p>
        </p:txBody>
      </p:sp>
      <p:sp>
        <p:nvSpPr>
          <p:cNvPr id="140" name="Google Shape;140;p6"/>
          <p:cNvSpPr/>
          <p:nvPr/>
        </p:nvSpPr>
        <p:spPr>
          <a:xfrm>
            <a:off x="3383280" y="30632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p:nvPr/>
        </p:nvSpPr>
        <p:spPr>
          <a:xfrm>
            <a:off x="3383280" y="31546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位置づけ</a:t>
            </a:r>
            <a:endParaRPr b="0" i="0" sz="1050" u="none" cap="none" strike="noStrike">
              <a:solidFill>
                <a:schemeClr val="dk1"/>
              </a:solidFill>
              <a:latin typeface="Calibri"/>
              <a:ea typeface="Calibri"/>
              <a:cs typeface="Calibri"/>
              <a:sym typeface="Calibri"/>
            </a:endParaRPr>
          </a:p>
        </p:txBody>
      </p:sp>
      <p:sp>
        <p:nvSpPr>
          <p:cNvPr id="142" name="Google Shape;142;p6"/>
          <p:cNvSpPr/>
          <p:nvPr/>
        </p:nvSpPr>
        <p:spPr>
          <a:xfrm>
            <a:off x="3438144" y="3483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直接材調達を支援する補完的役割</a:t>
            </a:r>
            <a:endParaRPr b="0" i="0" sz="900" u="none" cap="none" strike="noStrike">
              <a:solidFill>
                <a:schemeClr val="dk1"/>
              </a:solidFill>
              <a:latin typeface="Calibri"/>
              <a:ea typeface="Calibri"/>
              <a:cs typeface="Calibri"/>
              <a:sym typeface="Calibri"/>
            </a:endParaRPr>
          </a:p>
        </p:txBody>
      </p:sp>
      <p:sp>
        <p:nvSpPr>
          <p:cNvPr id="143" name="Google Shape;143;p6"/>
          <p:cNvSpPr/>
          <p:nvPr/>
        </p:nvSpPr>
        <p:spPr>
          <a:xfrm>
            <a:off x="3438144" y="37124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汎用性の高い品目・サービスが中心</a:t>
            </a:r>
            <a:endParaRPr b="0" i="0" sz="900" u="none" cap="none" strike="noStrike">
              <a:solidFill>
                <a:schemeClr val="dk1"/>
              </a:solidFill>
              <a:latin typeface="Calibri"/>
              <a:ea typeface="Calibri"/>
              <a:cs typeface="Calibri"/>
              <a:sym typeface="Calibri"/>
            </a:endParaRPr>
          </a:p>
        </p:txBody>
      </p:sp>
      <p:sp>
        <p:nvSpPr>
          <p:cNvPr id="144" name="Google Shape;144;p6"/>
          <p:cNvSpPr/>
          <p:nvPr/>
        </p:nvSpPr>
        <p:spPr>
          <a:xfrm>
            <a:off x="3438144" y="39410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専門性の高いカテゴリは特殊領域として個別に対応</a:t>
            </a:r>
            <a:endParaRPr b="0" i="0" sz="900" u="none" cap="none" strike="noStrike">
              <a:solidFill>
                <a:schemeClr val="dk1"/>
              </a:solidFill>
              <a:latin typeface="Calibri"/>
              <a:ea typeface="Calibri"/>
              <a:cs typeface="Calibri"/>
              <a:sym typeface="Calibri"/>
            </a:endParaRPr>
          </a:p>
        </p:txBody>
      </p:sp>
      <p:sp>
        <p:nvSpPr>
          <p:cNvPr id="145" name="Google Shape;145;p6"/>
          <p:cNvSpPr/>
          <p:nvPr/>
        </p:nvSpPr>
        <p:spPr>
          <a:xfrm>
            <a:off x="6089904" y="987552"/>
            <a:ext cx="2670048" cy="438912"/>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
          <p:cNvSpPr/>
          <p:nvPr/>
        </p:nvSpPr>
        <p:spPr>
          <a:xfrm>
            <a:off x="6181344" y="987552"/>
            <a:ext cx="2560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調達プロセス・管理手法</a:t>
            </a:r>
            <a:endParaRPr b="0" i="0" sz="1100" u="none" cap="none" strike="noStrike">
              <a:solidFill>
                <a:schemeClr val="dk1"/>
              </a:solidFill>
              <a:latin typeface="Calibri"/>
              <a:ea typeface="Calibri"/>
              <a:cs typeface="Calibri"/>
              <a:sym typeface="Calibri"/>
            </a:endParaRPr>
          </a:p>
        </p:txBody>
      </p:sp>
      <p:sp>
        <p:nvSpPr>
          <p:cNvPr id="147" name="Google Shape;147;p6"/>
          <p:cNvSpPr/>
          <p:nvPr/>
        </p:nvSpPr>
        <p:spPr>
          <a:xfrm>
            <a:off x="6089904" y="1426464"/>
            <a:ext cx="2670048" cy="3456432"/>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6"/>
          <p:cNvSpPr/>
          <p:nvPr/>
        </p:nvSpPr>
        <p:spPr>
          <a:xfrm>
            <a:off x="6199632" y="1517904"/>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競争調達</a:t>
            </a:r>
            <a:endParaRPr b="0" i="0" sz="1050" u="none" cap="none" strike="noStrike">
              <a:solidFill>
                <a:schemeClr val="dk1"/>
              </a:solidFill>
              <a:latin typeface="Calibri"/>
              <a:ea typeface="Calibri"/>
              <a:cs typeface="Calibri"/>
              <a:sym typeface="Calibri"/>
            </a:endParaRPr>
          </a:p>
        </p:txBody>
      </p:sp>
      <p:sp>
        <p:nvSpPr>
          <p:cNvPr id="149" name="Google Shape;149;p6"/>
          <p:cNvSpPr/>
          <p:nvPr/>
        </p:nvSpPr>
        <p:spPr>
          <a:xfrm>
            <a:off x="6254496" y="18470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RFI（情報収集）</a:t>
            </a:r>
            <a:endParaRPr b="0" i="0" sz="900" u="none" cap="none" strike="noStrike">
              <a:solidFill>
                <a:schemeClr val="dk1"/>
              </a:solidFill>
              <a:latin typeface="Calibri"/>
              <a:ea typeface="Calibri"/>
              <a:cs typeface="Calibri"/>
              <a:sym typeface="Calibri"/>
            </a:endParaRPr>
          </a:p>
        </p:txBody>
      </p:sp>
      <p:sp>
        <p:nvSpPr>
          <p:cNvPr id="150" name="Google Shape;150;p6"/>
          <p:cNvSpPr/>
          <p:nvPr/>
        </p:nvSpPr>
        <p:spPr>
          <a:xfrm>
            <a:off x="6254496" y="20756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RFP（提案依頼）</a:t>
            </a:r>
            <a:endParaRPr b="0" i="0" sz="900" u="none" cap="none" strike="noStrike">
              <a:solidFill>
                <a:schemeClr val="dk1"/>
              </a:solidFill>
              <a:latin typeface="Calibri"/>
              <a:ea typeface="Calibri"/>
              <a:cs typeface="Calibri"/>
              <a:sym typeface="Calibri"/>
            </a:endParaRPr>
          </a:p>
        </p:txBody>
      </p:sp>
      <p:sp>
        <p:nvSpPr>
          <p:cNvPr id="151" name="Google Shape;151;p6"/>
          <p:cNvSpPr/>
          <p:nvPr/>
        </p:nvSpPr>
        <p:spPr>
          <a:xfrm>
            <a:off x="6254496" y="23042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RFQ（見積依頼）</a:t>
            </a:r>
            <a:endParaRPr b="0" i="0" sz="900" u="none" cap="none" strike="noStrike">
              <a:solidFill>
                <a:schemeClr val="dk1"/>
              </a:solidFill>
              <a:latin typeface="Calibri"/>
              <a:ea typeface="Calibri"/>
              <a:cs typeface="Calibri"/>
              <a:sym typeface="Calibri"/>
            </a:endParaRPr>
          </a:p>
        </p:txBody>
      </p:sp>
      <p:sp>
        <p:nvSpPr>
          <p:cNvPr id="152" name="Google Shape;152;p6"/>
          <p:cNvSpPr/>
          <p:nvPr/>
        </p:nvSpPr>
        <p:spPr>
          <a:xfrm>
            <a:off x="6254496" y="2532888"/>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競争入札・選定評価</a:t>
            </a:r>
            <a:endParaRPr b="0" i="0" sz="900" u="none" cap="none" strike="noStrike">
              <a:solidFill>
                <a:schemeClr val="dk1"/>
              </a:solidFill>
              <a:latin typeface="Calibri"/>
              <a:ea typeface="Calibri"/>
              <a:cs typeface="Calibri"/>
              <a:sym typeface="Calibri"/>
            </a:endParaRPr>
          </a:p>
        </p:txBody>
      </p:sp>
      <p:sp>
        <p:nvSpPr>
          <p:cNvPr id="153" name="Google Shape;153;p6"/>
          <p:cNvSpPr/>
          <p:nvPr/>
        </p:nvSpPr>
        <p:spPr>
          <a:xfrm>
            <a:off x="6199632" y="2834640"/>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
          <p:cNvSpPr/>
          <p:nvPr/>
        </p:nvSpPr>
        <p:spPr>
          <a:xfrm>
            <a:off x="6199632" y="2926080"/>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コスト・契約管理</a:t>
            </a:r>
            <a:endParaRPr b="0" i="0" sz="1050" u="none" cap="none" strike="noStrike">
              <a:solidFill>
                <a:schemeClr val="dk1"/>
              </a:solidFill>
              <a:latin typeface="Calibri"/>
              <a:ea typeface="Calibri"/>
              <a:cs typeface="Calibri"/>
              <a:sym typeface="Calibri"/>
            </a:endParaRPr>
          </a:p>
        </p:txBody>
      </p:sp>
      <p:sp>
        <p:nvSpPr>
          <p:cNvPr id="155" name="Google Shape;155;p6"/>
          <p:cNvSpPr/>
          <p:nvPr/>
        </p:nvSpPr>
        <p:spPr>
          <a:xfrm>
            <a:off x="6254496" y="32552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TCO（総所有コスト）分析</a:t>
            </a:r>
            <a:endParaRPr b="0" i="0" sz="900" u="none" cap="none" strike="noStrike">
              <a:solidFill>
                <a:schemeClr val="dk1"/>
              </a:solidFill>
              <a:latin typeface="Calibri"/>
              <a:ea typeface="Calibri"/>
              <a:cs typeface="Calibri"/>
              <a:sym typeface="Calibri"/>
            </a:endParaRPr>
          </a:p>
        </p:txBody>
      </p:sp>
      <p:sp>
        <p:nvSpPr>
          <p:cNvPr id="156" name="Google Shape;156;p6"/>
          <p:cNvSpPr/>
          <p:nvPr/>
        </p:nvSpPr>
        <p:spPr>
          <a:xfrm>
            <a:off x="6254496" y="34838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価格交渉・条件最適化</a:t>
            </a:r>
            <a:endParaRPr b="0" i="0" sz="900" u="none" cap="none" strike="noStrike">
              <a:solidFill>
                <a:schemeClr val="dk1"/>
              </a:solidFill>
              <a:latin typeface="Calibri"/>
              <a:ea typeface="Calibri"/>
              <a:cs typeface="Calibri"/>
              <a:sym typeface="Calibri"/>
            </a:endParaRPr>
          </a:p>
        </p:txBody>
      </p:sp>
      <p:sp>
        <p:nvSpPr>
          <p:cNvPr id="157" name="Google Shape;157;p6"/>
          <p:cNvSpPr/>
          <p:nvPr/>
        </p:nvSpPr>
        <p:spPr>
          <a:xfrm>
            <a:off x="6254496" y="37124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発注書（PO）管理</a:t>
            </a:r>
            <a:endParaRPr b="0" i="0" sz="900" u="none" cap="none" strike="noStrike">
              <a:solidFill>
                <a:schemeClr val="dk1"/>
              </a:solidFill>
              <a:latin typeface="Calibri"/>
              <a:ea typeface="Calibri"/>
              <a:cs typeface="Calibri"/>
              <a:sym typeface="Calibri"/>
            </a:endParaRPr>
          </a:p>
        </p:txBody>
      </p:sp>
      <p:sp>
        <p:nvSpPr>
          <p:cNvPr id="158" name="Google Shape;158;p6"/>
          <p:cNvSpPr/>
          <p:nvPr/>
        </p:nvSpPr>
        <p:spPr>
          <a:xfrm>
            <a:off x="6254496" y="3941064"/>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マスター購買契約（MPA）</a:t>
            </a:r>
            <a:endParaRPr b="0" i="0" sz="900" u="none" cap="none" strike="noStrike">
              <a:solidFill>
                <a:schemeClr val="dk1"/>
              </a:solidFill>
              <a:latin typeface="Calibri"/>
              <a:ea typeface="Calibri"/>
              <a:cs typeface="Calibri"/>
              <a:sym typeface="Calibri"/>
            </a:endParaRPr>
          </a:p>
        </p:txBody>
      </p:sp>
      <p:sp>
        <p:nvSpPr>
          <p:cNvPr id="159" name="Google Shape;159;p6"/>
          <p:cNvSpPr/>
          <p:nvPr/>
        </p:nvSpPr>
        <p:spPr>
          <a:xfrm>
            <a:off x="6199632" y="4242816"/>
            <a:ext cx="2450592" cy="10973"/>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
          <p:cNvSpPr/>
          <p:nvPr/>
        </p:nvSpPr>
        <p:spPr>
          <a:xfrm>
            <a:off x="6199632" y="4334256"/>
            <a:ext cx="2487168"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サプライヤー管理</a:t>
            </a:r>
            <a:endParaRPr b="0" i="0" sz="1050" u="none" cap="none" strike="noStrike">
              <a:solidFill>
                <a:schemeClr val="dk1"/>
              </a:solidFill>
              <a:latin typeface="Calibri"/>
              <a:ea typeface="Calibri"/>
              <a:cs typeface="Calibri"/>
              <a:sym typeface="Calibri"/>
            </a:endParaRPr>
          </a:p>
        </p:txBody>
      </p:sp>
      <p:sp>
        <p:nvSpPr>
          <p:cNvPr id="161" name="Google Shape;161;p6"/>
          <p:cNvSpPr/>
          <p:nvPr/>
        </p:nvSpPr>
        <p:spPr>
          <a:xfrm>
            <a:off x="6254496" y="46634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パフォーマンスKPI設定・追跡</a:t>
            </a:r>
            <a:endParaRPr b="0" i="0" sz="900" u="none" cap="none" strike="noStrike">
              <a:solidFill>
                <a:schemeClr val="dk1"/>
              </a:solidFill>
              <a:latin typeface="Calibri"/>
              <a:ea typeface="Calibri"/>
              <a:cs typeface="Calibri"/>
              <a:sym typeface="Calibri"/>
            </a:endParaRPr>
          </a:p>
        </p:txBody>
      </p:sp>
      <p:sp>
        <p:nvSpPr>
          <p:cNvPr id="162" name="Google Shape;162;p6"/>
          <p:cNvSpPr/>
          <p:nvPr/>
        </p:nvSpPr>
        <p:spPr>
          <a:xfrm>
            <a:off x="6254496" y="48920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定期レビュー・監査</a:t>
            </a:r>
            <a:endParaRPr b="0" i="0" sz="900" u="none" cap="none" strike="noStrike">
              <a:solidFill>
                <a:schemeClr val="dk1"/>
              </a:solidFill>
              <a:latin typeface="Calibri"/>
              <a:ea typeface="Calibri"/>
              <a:cs typeface="Calibri"/>
              <a:sym typeface="Calibri"/>
            </a:endParaRPr>
          </a:p>
        </p:txBody>
      </p:sp>
      <p:sp>
        <p:nvSpPr>
          <p:cNvPr id="163" name="Google Shape;163;p6"/>
          <p:cNvSpPr/>
          <p:nvPr/>
        </p:nvSpPr>
        <p:spPr>
          <a:xfrm>
            <a:off x="6254496" y="5120640"/>
            <a:ext cx="2414016"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コンプライアンス確認</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7"/>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7"/>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IT部門固有の対応範囲</a:t>
            </a:r>
            <a:endParaRPr b="0" i="0" sz="2800" u="none" cap="none" strike="noStrike">
              <a:solidFill>
                <a:schemeClr val="dk1"/>
              </a:solidFill>
              <a:latin typeface="Calibri"/>
              <a:ea typeface="Calibri"/>
              <a:cs typeface="Calibri"/>
              <a:sym typeface="Calibri"/>
            </a:endParaRPr>
          </a:p>
        </p:txBody>
      </p:sp>
      <p:sp>
        <p:nvSpPr>
          <p:cNvPr id="171" name="Google Shape;171;p7"/>
          <p:cNvSpPr/>
          <p:nvPr/>
        </p:nvSpPr>
        <p:spPr>
          <a:xfrm>
            <a:off x="1344168" y="1133856"/>
            <a:ext cx="3438000" cy="2706600"/>
          </a:xfrm>
          <a:prstGeom prst="ellipse">
            <a:avLst/>
          </a:prstGeom>
          <a:solidFill>
            <a:srgbClr val="C8DFF0">
              <a:alpha val="80000"/>
            </a:srgbClr>
          </a:solidFill>
          <a:ln cap="flat" cmpd="sng" w="19050">
            <a:solidFill>
              <a:srgbClr val="5A8D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p:nvPr/>
        </p:nvSpPr>
        <p:spPr>
          <a:xfrm>
            <a:off x="3813048" y="1133856"/>
            <a:ext cx="3438000" cy="2706600"/>
          </a:xfrm>
          <a:prstGeom prst="ellipse">
            <a:avLst/>
          </a:prstGeom>
          <a:solidFill>
            <a:srgbClr val="B8D8B8">
              <a:alpha val="80000"/>
            </a:srgbClr>
          </a:solidFill>
          <a:ln cap="flat" cmpd="sng" w="19050">
            <a:solidFill>
              <a:srgbClr val="4A8A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7"/>
          <p:cNvSpPr/>
          <p:nvPr/>
        </p:nvSpPr>
        <p:spPr>
          <a:xfrm>
            <a:off x="2578608" y="2231136"/>
            <a:ext cx="3438000" cy="2706600"/>
          </a:xfrm>
          <a:prstGeom prst="ellipse">
            <a:avLst/>
          </a:prstGeom>
          <a:solidFill>
            <a:srgbClr val="0A7B8E">
              <a:alpha val="45098"/>
            </a:srgbClr>
          </a:solidFill>
          <a:ln cap="flat" cmpd="sng" w="381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7"/>
          <p:cNvSpPr/>
          <p:nvPr/>
        </p:nvSpPr>
        <p:spPr>
          <a:xfrm>
            <a:off x="2286000" y="1243584"/>
            <a:ext cx="15546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5A7A"/>
              </a:buClr>
              <a:buSzPts val="1200"/>
              <a:buFont typeface="Calibri"/>
              <a:buNone/>
            </a:pPr>
            <a:r>
              <a:rPr b="1" i="0" lang="en-US" sz="1200" u="none" cap="none" strike="noStrike">
                <a:solidFill>
                  <a:srgbClr val="2A5A7A"/>
                </a:solidFill>
                <a:latin typeface="Calibri"/>
                <a:ea typeface="Calibri"/>
                <a:cs typeface="Calibri"/>
                <a:sym typeface="Calibri"/>
              </a:rPr>
              <a:t>法務部門</a:t>
            </a:r>
            <a:endParaRPr b="0" i="0" sz="1200" u="none" cap="none" strike="noStrike">
              <a:solidFill>
                <a:schemeClr val="dk1"/>
              </a:solidFill>
              <a:latin typeface="Calibri"/>
              <a:ea typeface="Calibri"/>
              <a:cs typeface="Calibri"/>
              <a:sym typeface="Calibri"/>
            </a:endParaRPr>
          </a:p>
        </p:txBody>
      </p:sp>
      <p:sp>
        <p:nvSpPr>
          <p:cNvPr id="175" name="Google Shape;175;p7"/>
          <p:cNvSpPr/>
          <p:nvPr/>
        </p:nvSpPr>
        <p:spPr>
          <a:xfrm>
            <a:off x="4754880" y="1243584"/>
            <a:ext cx="15546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6A3A"/>
              </a:buClr>
              <a:buSzPts val="1200"/>
              <a:buFont typeface="Calibri"/>
              <a:buNone/>
            </a:pPr>
            <a:r>
              <a:rPr b="1" i="0" lang="en-US" sz="1200" u="none" cap="none" strike="noStrike">
                <a:solidFill>
                  <a:srgbClr val="2A6A3A"/>
                </a:solidFill>
                <a:latin typeface="Calibri"/>
                <a:ea typeface="Calibri"/>
                <a:cs typeface="Calibri"/>
                <a:sym typeface="Calibri"/>
              </a:rPr>
              <a:t>調達部門</a:t>
            </a:r>
            <a:endParaRPr b="0" i="0" sz="1200" u="none" cap="none" strike="noStrike">
              <a:solidFill>
                <a:schemeClr val="dk1"/>
              </a:solidFill>
              <a:latin typeface="Calibri"/>
              <a:ea typeface="Calibri"/>
              <a:cs typeface="Calibri"/>
              <a:sym typeface="Calibri"/>
            </a:endParaRPr>
          </a:p>
        </p:txBody>
      </p:sp>
      <p:sp>
        <p:nvSpPr>
          <p:cNvPr id="176" name="Google Shape;176;p7"/>
          <p:cNvSpPr/>
          <p:nvPr/>
        </p:nvSpPr>
        <p:spPr>
          <a:xfrm>
            <a:off x="3474720" y="4462272"/>
            <a:ext cx="16458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1200"/>
              <a:buFont typeface="Calibri"/>
              <a:buNone/>
            </a:pPr>
            <a:r>
              <a:rPr b="1" i="0" lang="en-US" sz="1200" u="none" cap="none" strike="noStrike">
                <a:solidFill>
                  <a:srgbClr val="0A7B8E"/>
                </a:solidFill>
                <a:latin typeface="Calibri"/>
                <a:ea typeface="Calibri"/>
                <a:cs typeface="Calibri"/>
                <a:sym typeface="Calibri"/>
              </a:rPr>
              <a:t>IT部門の契約</a:t>
            </a:r>
            <a:endParaRPr b="0" i="0" sz="1200" u="none" cap="none" strike="noStrike">
              <a:solidFill>
                <a:schemeClr val="dk1"/>
              </a:solidFill>
              <a:latin typeface="Calibri"/>
              <a:ea typeface="Calibri"/>
              <a:cs typeface="Calibri"/>
              <a:sym typeface="Calibri"/>
            </a:endParaRPr>
          </a:p>
        </p:txBody>
      </p:sp>
      <p:sp>
        <p:nvSpPr>
          <p:cNvPr id="177" name="Google Shape;177;p7"/>
          <p:cNvSpPr/>
          <p:nvPr/>
        </p:nvSpPr>
        <p:spPr>
          <a:xfrm>
            <a:off x="960120" y="1783080"/>
            <a:ext cx="1691700" cy="640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5A7A"/>
              </a:buClr>
              <a:buSzPts val="900"/>
              <a:buFont typeface="Calibri"/>
              <a:buNone/>
            </a:pPr>
            <a:r>
              <a:rPr b="0" i="0" lang="en-US" sz="900" u="none" cap="none" strike="noStrike">
                <a:solidFill>
                  <a:srgbClr val="2A5A7A"/>
                </a:solidFill>
                <a:latin typeface="Calibri"/>
                <a:ea typeface="Calibri"/>
                <a:cs typeface="Calibri"/>
                <a:sym typeface="Calibri"/>
              </a:rPr>
              <a:t>M&amp;A・コーポレート法務</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5A7A"/>
              </a:buClr>
              <a:buSzPts val="900"/>
              <a:buFont typeface="Calibri"/>
              <a:buNone/>
            </a:pPr>
            <a:r>
              <a:rPr b="0" i="0" lang="en-US" sz="900" u="none" cap="none" strike="noStrike">
                <a:solidFill>
                  <a:srgbClr val="2A5A7A"/>
                </a:solidFill>
                <a:latin typeface="Calibri"/>
                <a:ea typeface="Calibri"/>
                <a:cs typeface="Calibri"/>
                <a:sym typeface="Calibri"/>
              </a:rPr>
              <a:t>訴訟・仲裁・知財管理</a:t>
            </a:r>
            <a:endParaRPr b="0" i="0" sz="900" u="none" cap="none" strike="noStrike">
              <a:solidFill>
                <a:schemeClr val="dk1"/>
              </a:solidFill>
              <a:latin typeface="Calibri"/>
              <a:ea typeface="Calibri"/>
              <a:cs typeface="Calibri"/>
              <a:sym typeface="Calibri"/>
            </a:endParaRPr>
          </a:p>
        </p:txBody>
      </p:sp>
      <p:sp>
        <p:nvSpPr>
          <p:cNvPr id="178" name="Google Shape;178;p7"/>
          <p:cNvSpPr/>
          <p:nvPr/>
        </p:nvSpPr>
        <p:spPr>
          <a:xfrm>
            <a:off x="5989320" y="1783080"/>
            <a:ext cx="1691700" cy="640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6A3A"/>
              </a:buClr>
              <a:buSzPts val="900"/>
              <a:buFont typeface="Calibri"/>
              <a:buNone/>
            </a:pPr>
            <a:r>
              <a:rPr b="0" i="0" lang="en-US" sz="900" u="none" cap="none" strike="noStrike">
                <a:solidFill>
                  <a:srgbClr val="2A6A3A"/>
                </a:solidFill>
                <a:latin typeface="Calibri"/>
                <a:ea typeface="Calibri"/>
                <a:cs typeface="Calibri"/>
                <a:sym typeface="Calibri"/>
              </a:rPr>
              <a:t>原材料・直接材調達</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6A3A"/>
              </a:buClr>
              <a:buSzPts val="900"/>
              <a:buFont typeface="Calibri"/>
              <a:buNone/>
            </a:pPr>
            <a:r>
              <a:rPr b="0" i="0" lang="en-US" sz="900" u="none" cap="none" strike="noStrike">
                <a:solidFill>
                  <a:srgbClr val="2A6A3A"/>
                </a:solidFill>
                <a:latin typeface="Calibri"/>
                <a:ea typeface="Calibri"/>
                <a:cs typeface="Calibri"/>
                <a:sym typeface="Calibri"/>
              </a:rPr>
              <a:t>サプライヤー認定管理</a:t>
            </a:r>
            <a:endParaRPr b="0" i="0" sz="900" u="none" cap="none" strike="noStrike">
              <a:solidFill>
                <a:schemeClr val="dk1"/>
              </a:solidFill>
              <a:latin typeface="Calibri"/>
              <a:ea typeface="Calibri"/>
              <a:cs typeface="Calibri"/>
              <a:sym typeface="Calibri"/>
            </a:endParaRPr>
          </a:p>
        </p:txBody>
      </p:sp>
      <p:sp>
        <p:nvSpPr>
          <p:cNvPr id="179" name="Google Shape;179;p7"/>
          <p:cNvSpPr/>
          <p:nvPr/>
        </p:nvSpPr>
        <p:spPr>
          <a:xfrm>
            <a:off x="3657600" y="1536192"/>
            <a:ext cx="12801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一般取引</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基本契約</a:t>
            </a:r>
            <a:endParaRPr b="0" i="0" sz="850" u="none" cap="none" strike="noStrike">
              <a:solidFill>
                <a:schemeClr val="dk1"/>
              </a:solidFill>
              <a:latin typeface="Calibri"/>
              <a:ea typeface="Calibri"/>
              <a:cs typeface="Calibri"/>
              <a:sym typeface="Calibri"/>
            </a:endParaRPr>
          </a:p>
        </p:txBody>
      </p:sp>
      <p:sp>
        <p:nvSpPr>
          <p:cNvPr id="180" name="Google Shape;180;p7"/>
          <p:cNvSpPr/>
          <p:nvPr/>
        </p:nvSpPr>
        <p:spPr>
          <a:xfrm>
            <a:off x="2450592" y="2944368"/>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契約書</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レビュー依頼</a:t>
            </a:r>
            <a:endParaRPr b="0" i="0" sz="850" u="none" cap="none" strike="noStrike">
              <a:solidFill>
                <a:schemeClr val="dk1"/>
              </a:solidFill>
              <a:latin typeface="Calibri"/>
              <a:ea typeface="Calibri"/>
              <a:cs typeface="Calibri"/>
              <a:sym typeface="Calibri"/>
            </a:endParaRPr>
          </a:p>
        </p:txBody>
      </p:sp>
      <p:sp>
        <p:nvSpPr>
          <p:cNvPr id="181" name="Google Shape;181;p7"/>
          <p:cNvSpPr/>
          <p:nvPr/>
        </p:nvSpPr>
        <p:spPr>
          <a:xfrm>
            <a:off x="5010912" y="2944368"/>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価格交渉</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PO管理</a:t>
            </a:r>
            <a:endParaRPr b="0" i="0" sz="850" u="none" cap="none" strike="noStrike">
              <a:solidFill>
                <a:schemeClr val="dk1"/>
              </a:solidFill>
              <a:latin typeface="Calibri"/>
              <a:ea typeface="Calibri"/>
              <a:cs typeface="Calibri"/>
              <a:sym typeface="Calibri"/>
            </a:endParaRPr>
          </a:p>
        </p:txBody>
      </p:sp>
      <p:sp>
        <p:nvSpPr>
          <p:cNvPr id="182" name="Google Shape;182;p7"/>
          <p:cNvSpPr/>
          <p:nvPr/>
        </p:nvSpPr>
        <p:spPr>
          <a:xfrm>
            <a:off x="3657600" y="2578608"/>
            <a:ext cx="12801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850"/>
              <a:buFont typeface="Calibri"/>
              <a:buNone/>
            </a:pPr>
            <a:r>
              <a:rPr b="0" i="1" lang="en-US" sz="850" u="none" cap="none" strike="noStrike">
                <a:solidFill>
                  <a:srgbClr val="334155"/>
                </a:solidFill>
                <a:latin typeface="Calibri"/>
                <a:ea typeface="Calibri"/>
                <a:cs typeface="Calibri"/>
                <a:sym typeface="Calibri"/>
              </a:rPr>
              <a:t>基本契約</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334155"/>
              </a:buClr>
              <a:buSzPts val="850"/>
              <a:buFont typeface="Calibri"/>
              <a:buNone/>
            </a:pPr>
            <a:r>
              <a:rPr b="0" i="1" lang="en-US" sz="850" u="none" cap="none" strike="noStrike">
                <a:solidFill>
                  <a:srgbClr val="334155"/>
                </a:solidFill>
                <a:latin typeface="Calibri"/>
                <a:ea typeface="Calibri"/>
                <a:cs typeface="Calibri"/>
                <a:sym typeface="Calibri"/>
              </a:rPr>
              <a:t>条件整備</a:t>
            </a:r>
            <a:endParaRPr b="0" i="0" sz="850" u="none" cap="none" strike="noStrike">
              <a:solidFill>
                <a:schemeClr val="dk1"/>
              </a:solidFill>
              <a:latin typeface="Calibri"/>
              <a:ea typeface="Calibri"/>
              <a:cs typeface="Calibri"/>
              <a:sym typeface="Calibri"/>
            </a:endParaRPr>
          </a:p>
        </p:txBody>
      </p:sp>
      <p:sp>
        <p:nvSpPr>
          <p:cNvPr id="183" name="Google Shape;183;p7"/>
          <p:cNvSpPr/>
          <p:nvPr/>
        </p:nvSpPr>
        <p:spPr>
          <a:xfrm>
            <a:off x="3108960" y="3968496"/>
            <a:ext cx="23775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B47"/>
              </a:buClr>
              <a:buSzPts val="950"/>
              <a:buFont typeface="Calibri"/>
              <a:buNone/>
            </a:pPr>
            <a:r>
              <a:rPr b="1" i="0" lang="en-US" sz="950" u="none" cap="none" strike="noStrike">
                <a:solidFill>
                  <a:srgbClr val="1A2B47"/>
                </a:solidFill>
                <a:latin typeface="Calibri"/>
                <a:ea typeface="Calibri"/>
                <a:cs typeface="Calibri"/>
                <a:sym typeface="Calibri"/>
              </a:rPr>
              <a:t>クラウド・SaaS　ライセンス監査</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B47"/>
              </a:buClr>
              <a:buSzPts val="950"/>
              <a:buFont typeface="Calibri"/>
              <a:buNone/>
            </a:pPr>
            <a:r>
              <a:rPr b="1" i="0" lang="en-US" sz="950" u="none" cap="none" strike="noStrike">
                <a:solidFill>
                  <a:srgbClr val="1A2B47"/>
                </a:solidFill>
                <a:latin typeface="Calibri"/>
                <a:ea typeface="Calibri"/>
                <a:cs typeface="Calibri"/>
                <a:sym typeface="Calibri"/>
              </a:rPr>
              <a:t>SLA　データ越境　EOL対応</a:t>
            </a:r>
            <a:endParaRPr b="0" i="0" sz="950" u="none" cap="none" strike="noStrike">
              <a:solidFill>
                <a:schemeClr val="dk1"/>
              </a:solidFill>
              <a:latin typeface="Calibri"/>
              <a:ea typeface="Calibri"/>
              <a:cs typeface="Calibri"/>
              <a:sym typeface="Calibri"/>
            </a:endParaRPr>
          </a:p>
        </p:txBody>
      </p:sp>
      <p:cxnSp>
        <p:nvCxnSpPr>
          <p:cNvPr id="184" name="Google Shape;184;p7"/>
          <p:cNvCxnSpPr/>
          <p:nvPr/>
        </p:nvCxnSpPr>
        <p:spPr>
          <a:xfrm flipH="1" rot="10800000">
            <a:off x="6053328" y="3447408"/>
            <a:ext cx="960000" cy="502800"/>
          </a:xfrm>
          <a:prstGeom prst="straightConnector1">
            <a:avLst/>
          </a:prstGeom>
          <a:noFill/>
          <a:ln cap="flat" cmpd="sng" w="19050">
            <a:solidFill>
              <a:srgbClr val="0A7B8E"/>
            </a:solidFill>
            <a:prstDash val="dash"/>
            <a:round/>
            <a:headEnd len="sm" w="sm" type="none"/>
            <a:tailEnd len="sm" w="sm" type="none"/>
          </a:ln>
        </p:spPr>
      </p:cxnSp>
      <p:sp>
        <p:nvSpPr>
          <p:cNvPr id="185" name="Google Shape;185;p7"/>
          <p:cNvSpPr/>
          <p:nvPr/>
        </p:nvSpPr>
        <p:spPr>
          <a:xfrm>
            <a:off x="7040880" y="3108960"/>
            <a:ext cx="1645800" cy="1353300"/>
          </a:xfrm>
          <a:prstGeom prst="rect">
            <a:avLst/>
          </a:prstGeom>
          <a:solidFill>
            <a:srgbClr val="1A2B47"/>
          </a:solidFill>
          <a:ln cap="flat" cmpd="sng" w="12700">
            <a:solidFill>
              <a:srgbClr val="1A2B47"/>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p:nvPr/>
        </p:nvSpPr>
        <p:spPr>
          <a:xfrm>
            <a:off x="7040880" y="3108960"/>
            <a:ext cx="54900" cy="13533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a:off x="7114032" y="3108960"/>
            <a:ext cx="1499700" cy="135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IT部門が</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自ら判断すべき</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固有の対応領域</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 次スライドで詳解</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8"/>
          <p:cNvSpPr/>
          <p:nvPr/>
        </p:nvSpPr>
        <p:spPr>
          <a:xfrm>
            <a:off x="457200" y="256032"/>
            <a:ext cx="64008" cy="50292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621792" y="201168"/>
            <a:ext cx="80467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IT 部門が取り扱う契約類型</a:t>
            </a:r>
            <a:endParaRPr b="0" i="0" sz="2800" u="none" cap="none" strike="noStrike">
              <a:solidFill>
                <a:schemeClr val="dk1"/>
              </a:solidFill>
              <a:latin typeface="Calibri"/>
              <a:ea typeface="Calibri"/>
              <a:cs typeface="Calibri"/>
              <a:sym typeface="Calibri"/>
            </a:endParaRPr>
          </a:p>
        </p:txBody>
      </p:sp>
      <p:sp>
        <p:nvSpPr>
          <p:cNvPr id="195" name="Google Shape;195;p8"/>
          <p:cNvSpPr/>
          <p:nvPr/>
        </p:nvSpPr>
        <p:spPr>
          <a:xfrm>
            <a:off x="457200" y="1005840"/>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8"/>
          <p:cNvSpPr/>
          <p:nvPr/>
        </p:nvSpPr>
        <p:spPr>
          <a:xfrm>
            <a:off x="457200" y="1005840"/>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457200" y="1005840"/>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a:t>
            </a:r>
            <a:endParaRPr b="0" i="0" sz="2200" u="none" cap="none" strike="noStrike">
              <a:solidFill>
                <a:schemeClr val="dk1"/>
              </a:solidFill>
              <a:latin typeface="Calibri"/>
              <a:ea typeface="Calibri"/>
              <a:cs typeface="Calibri"/>
              <a:sym typeface="Calibri"/>
            </a:endParaRPr>
          </a:p>
        </p:txBody>
      </p:sp>
      <p:sp>
        <p:nvSpPr>
          <p:cNvPr id="198" name="Google Shape;198;p8"/>
          <p:cNvSpPr/>
          <p:nvPr/>
        </p:nvSpPr>
        <p:spPr>
          <a:xfrm>
            <a:off x="1024128" y="1005840"/>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8"/>
          <p:cNvSpPr/>
          <p:nvPr/>
        </p:nvSpPr>
        <p:spPr>
          <a:xfrm>
            <a:off x="1115568" y="1051560"/>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クラウド・SaaS 契約</a:t>
            </a:r>
            <a:endParaRPr b="0" i="0" sz="1250" u="none" cap="none" strike="noStrike">
              <a:solidFill>
                <a:schemeClr val="dk1"/>
              </a:solidFill>
              <a:latin typeface="Calibri"/>
              <a:ea typeface="Calibri"/>
              <a:cs typeface="Calibri"/>
              <a:sym typeface="Calibri"/>
            </a:endParaRPr>
          </a:p>
        </p:txBody>
      </p:sp>
      <p:sp>
        <p:nvSpPr>
          <p:cNvPr id="200" name="Google Shape;200;p8"/>
          <p:cNvSpPr/>
          <p:nvPr/>
        </p:nvSpPr>
        <p:spPr>
          <a:xfrm>
            <a:off x="1115568" y="1481328"/>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01" name="Google Shape;201;p8"/>
          <p:cNvSpPr/>
          <p:nvPr/>
        </p:nvSpPr>
        <p:spPr>
          <a:xfrm>
            <a:off x="1755648" y="1481328"/>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容量・課金モデル / データ所有権 / サービス終了条件</a:t>
            </a:r>
            <a:endParaRPr b="0" i="0" sz="950" u="none" cap="none" strike="noStrike">
              <a:solidFill>
                <a:schemeClr val="dk1"/>
              </a:solidFill>
              <a:latin typeface="Calibri"/>
              <a:ea typeface="Calibri"/>
              <a:cs typeface="Calibri"/>
              <a:sym typeface="Calibri"/>
            </a:endParaRPr>
          </a:p>
        </p:txBody>
      </p:sp>
      <p:sp>
        <p:nvSpPr>
          <p:cNvPr id="202" name="Google Shape;202;p8"/>
          <p:cNvSpPr/>
          <p:nvPr/>
        </p:nvSpPr>
        <p:spPr>
          <a:xfrm>
            <a:off x="4800600" y="1005840"/>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p:nvPr/>
        </p:nvSpPr>
        <p:spPr>
          <a:xfrm>
            <a:off x="4800600" y="1005840"/>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8"/>
          <p:cNvSpPr/>
          <p:nvPr/>
        </p:nvSpPr>
        <p:spPr>
          <a:xfrm>
            <a:off x="4800600" y="1005840"/>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B</a:t>
            </a:r>
            <a:endParaRPr b="0" i="0" sz="2200" u="none" cap="none" strike="noStrike">
              <a:solidFill>
                <a:schemeClr val="dk1"/>
              </a:solidFill>
              <a:latin typeface="Calibri"/>
              <a:ea typeface="Calibri"/>
              <a:cs typeface="Calibri"/>
              <a:sym typeface="Calibri"/>
            </a:endParaRPr>
          </a:p>
        </p:txBody>
      </p:sp>
      <p:sp>
        <p:nvSpPr>
          <p:cNvPr id="205" name="Google Shape;205;p8"/>
          <p:cNvSpPr/>
          <p:nvPr/>
        </p:nvSpPr>
        <p:spPr>
          <a:xfrm>
            <a:off x="5367528" y="1005840"/>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5458968" y="1051560"/>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ソフトウェアライセンス契約</a:t>
            </a:r>
            <a:endParaRPr b="0" i="0" sz="1250" u="none" cap="none" strike="noStrike">
              <a:solidFill>
                <a:schemeClr val="dk1"/>
              </a:solidFill>
              <a:latin typeface="Calibri"/>
              <a:ea typeface="Calibri"/>
              <a:cs typeface="Calibri"/>
              <a:sym typeface="Calibri"/>
            </a:endParaRPr>
          </a:p>
        </p:txBody>
      </p:sp>
      <p:sp>
        <p:nvSpPr>
          <p:cNvPr id="207" name="Google Shape;207;p8"/>
          <p:cNvSpPr/>
          <p:nvPr/>
        </p:nvSpPr>
        <p:spPr>
          <a:xfrm>
            <a:off x="5458968" y="1481328"/>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08" name="Google Shape;208;p8"/>
          <p:cNvSpPr/>
          <p:nvPr/>
        </p:nvSpPr>
        <p:spPr>
          <a:xfrm>
            <a:off x="6099048" y="1481328"/>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監査権 / 自動更新 / 最低コミットメント</a:t>
            </a:r>
            <a:endParaRPr b="0" i="0" sz="950" u="none" cap="none" strike="noStrike">
              <a:solidFill>
                <a:schemeClr val="dk1"/>
              </a:solidFill>
              <a:latin typeface="Calibri"/>
              <a:ea typeface="Calibri"/>
              <a:cs typeface="Calibri"/>
              <a:sym typeface="Calibri"/>
            </a:endParaRPr>
          </a:p>
        </p:txBody>
      </p:sp>
      <p:sp>
        <p:nvSpPr>
          <p:cNvPr id="209" name="Google Shape;209;p8"/>
          <p:cNvSpPr/>
          <p:nvPr/>
        </p:nvSpPr>
        <p:spPr>
          <a:xfrm>
            <a:off x="457200" y="2029968"/>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8"/>
          <p:cNvSpPr/>
          <p:nvPr/>
        </p:nvSpPr>
        <p:spPr>
          <a:xfrm>
            <a:off x="457200" y="2029968"/>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8"/>
          <p:cNvSpPr/>
          <p:nvPr/>
        </p:nvSpPr>
        <p:spPr>
          <a:xfrm>
            <a:off x="457200" y="2029968"/>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a:t>
            </a:r>
            <a:endParaRPr b="0" i="0" sz="2200" u="none" cap="none" strike="noStrike">
              <a:solidFill>
                <a:schemeClr val="dk1"/>
              </a:solidFill>
              <a:latin typeface="Calibri"/>
              <a:ea typeface="Calibri"/>
              <a:cs typeface="Calibri"/>
              <a:sym typeface="Calibri"/>
            </a:endParaRPr>
          </a:p>
        </p:txBody>
      </p:sp>
      <p:sp>
        <p:nvSpPr>
          <p:cNvPr id="212" name="Google Shape;212;p8"/>
          <p:cNvSpPr/>
          <p:nvPr/>
        </p:nvSpPr>
        <p:spPr>
          <a:xfrm>
            <a:off x="1024128" y="2029968"/>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8"/>
          <p:cNvSpPr/>
          <p:nvPr/>
        </p:nvSpPr>
        <p:spPr>
          <a:xfrm>
            <a:off x="1115568" y="2075688"/>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システム開発・導入契約</a:t>
            </a:r>
            <a:endParaRPr b="0" i="0" sz="1250" u="none" cap="none" strike="noStrike">
              <a:solidFill>
                <a:schemeClr val="dk1"/>
              </a:solidFill>
              <a:latin typeface="Calibri"/>
              <a:ea typeface="Calibri"/>
              <a:cs typeface="Calibri"/>
              <a:sym typeface="Calibri"/>
            </a:endParaRPr>
          </a:p>
        </p:txBody>
      </p:sp>
      <p:sp>
        <p:nvSpPr>
          <p:cNvPr id="214" name="Google Shape;214;p8"/>
          <p:cNvSpPr/>
          <p:nvPr/>
        </p:nvSpPr>
        <p:spPr>
          <a:xfrm>
            <a:off x="1115568" y="2505456"/>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15" name="Google Shape;215;p8"/>
          <p:cNvSpPr/>
          <p:nvPr/>
        </p:nvSpPr>
        <p:spPr>
          <a:xfrm>
            <a:off x="1755648" y="2505456"/>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成果物定義 / 知財帰属 / 瑕疵担保責任</a:t>
            </a:r>
            <a:endParaRPr b="0" i="0" sz="950" u="none" cap="none" strike="noStrike">
              <a:solidFill>
                <a:schemeClr val="dk1"/>
              </a:solidFill>
              <a:latin typeface="Calibri"/>
              <a:ea typeface="Calibri"/>
              <a:cs typeface="Calibri"/>
              <a:sym typeface="Calibri"/>
            </a:endParaRPr>
          </a:p>
        </p:txBody>
      </p:sp>
      <p:sp>
        <p:nvSpPr>
          <p:cNvPr id="216" name="Google Shape;216;p8"/>
          <p:cNvSpPr/>
          <p:nvPr/>
        </p:nvSpPr>
        <p:spPr>
          <a:xfrm>
            <a:off x="4800600" y="2029968"/>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8"/>
          <p:cNvSpPr/>
          <p:nvPr/>
        </p:nvSpPr>
        <p:spPr>
          <a:xfrm>
            <a:off x="4800600" y="2029968"/>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4800600" y="2029968"/>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a:t>
            </a:r>
            <a:endParaRPr b="0" i="0" sz="2200" u="none" cap="none" strike="noStrike">
              <a:solidFill>
                <a:schemeClr val="dk1"/>
              </a:solidFill>
              <a:latin typeface="Calibri"/>
              <a:ea typeface="Calibri"/>
              <a:cs typeface="Calibri"/>
              <a:sym typeface="Calibri"/>
            </a:endParaRPr>
          </a:p>
        </p:txBody>
      </p:sp>
      <p:sp>
        <p:nvSpPr>
          <p:cNvPr id="219" name="Google Shape;219;p8"/>
          <p:cNvSpPr/>
          <p:nvPr/>
        </p:nvSpPr>
        <p:spPr>
          <a:xfrm>
            <a:off x="5367528" y="2029968"/>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8"/>
          <p:cNvSpPr/>
          <p:nvPr/>
        </p:nvSpPr>
        <p:spPr>
          <a:xfrm>
            <a:off x="5458968" y="2075688"/>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保守・運用・マネージドサービス</a:t>
            </a:r>
            <a:endParaRPr b="0" i="0" sz="1250" u="none" cap="none" strike="noStrike">
              <a:solidFill>
                <a:schemeClr val="dk1"/>
              </a:solidFill>
              <a:latin typeface="Calibri"/>
              <a:ea typeface="Calibri"/>
              <a:cs typeface="Calibri"/>
              <a:sym typeface="Calibri"/>
            </a:endParaRPr>
          </a:p>
        </p:txBody>
      </p:sp>
      <p:sp>
        <p:nvSpPr>
          <p:cNvPr id="221" name="Google Shape;221;p8"/>
          <p:cNvSpPr/>
          <p:nvPr/>
        </p:nvSpPr>
        <p:spPr>
          <a:xfrm>
            <a:off x="5458968" y="2505456"/>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22" name="Google Shape;222;p8"/>
          <p:cNvSpPr/>
          <p:nvPr/>
        </p:nvSpPr>
        <p:spPr>
          <a:xfrm>
            <a:off x="6099048" y="2505456"/>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SLA / 再委託制限 / EOL・EOS対応</a:t>
            </a:r>
            <a:endParaRPr b="0" i="0" sz="950" u="none" cap="none" strike="noStrike">
              <a:solidFill>
                <a:schemeClr val="dk1"/>
              </a:solidFill>
              <a:latin typeface="Calibri"/>
              <a:ea typeface="Calibri"/>
              <a:cs typeface="Calibri"/>
              <a:sym typeface="Calibri"/>
            </a:endParaRPr>
          </a:p>
        </p:txBody>
      </p:sp>
      <p:sp>
        <p:nvSpPr>
          <p:cNvPr id="223" name="Google Shape;223;p8"/>
          <p:cNvSpPr/>
          <p:nvPr/>
        </p:nvSpPr>
        <p:spPr>
          <a:xfrm>
            <a:off x="457200" y="3054096"/>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p:nvPr/>
        </p:nvSpPr>
        <p:spPr>
          <a:xfrm>
            <a:off x="457200" y="3054096"/>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8"/>
          <p:cNvSpPr/>
          <p:nvPr/>
        </p:nvSpPr>
        <p:spPr>
          <a:xfrm>
            <a:off x="457200" y="3054096"/>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E</a:t>
            </a:r>
            <a:endParaRPr b="0" i="0" sz="2200" u="none" cap="none" strike="noStrike">
              <a:solidFill>
                <a:schemeClr val="dk1"/>
              </a:solidFill>
              <a:latin typeface="Calibri"/>
              <a:ea typeface="Calibri"/>
              <a:cs typeface="Calibri"/>
              <a:sym typeface="Calibri"/>
            </a:endParaRPr>
          </a:p>
        </p:txBody>
      </p:sp>
      <p:sp>
        <p:nvSpPr>
          <p:cNvPr id="226" name="Google Shape;226;p8"/>
          <p:cNvSpPr/>
          <p:nvPr/>
        </p:nvSpPr>
        <p:spPr>
          <a:xfrm>
            <a:off x="1024128" y="3054096"/>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1115568" y="3099816"/>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セキュリティ・データ関連契約</a:t>
            </a:r>
            <a:endParaRPr b="0" i="0" sz="1250" u="none" cap="none" strike="noStrike">
              <a:solidFill>
                <a:schemeClr val="dk1"/>
              </a:solidFill>
              <a:latin typeface="Calibri"/>
              <a:ea typeface="Calibri"/>
              <a:cs typeface="Calibri"/>
              <a:sym typeface="Calibri"/>
            </a:endParaRPr>
          </a:p>
        </p:txBody>
      </p:sp>
      <p:sp>
        <p:nvSpPr>
          <p:cNvPr id="228" name="Google Shape;228;p8"/>
          <p:cNvSpPr/>
          <p:nvPr/>
        </p:nvSpPr>
        <p:spPr>
          <a:xfrm>
            <a:off x="1115568" y="3529584"/>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29" name="Google Shape;229;p8"/>
          <p:cNvSpPr/>
          <p:nvPr/>
        </p:nvSpPr>
        <p:spPr>
          <a:xfrm>
            <a:off x="1755648" y="3529584"/>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GDPR対応 / 越境移転 / インシデント責任</a:t>
            </a:r>
            <a:endParaRPr b="0" i="0" sz="950" u="none" cap="none" strike="noStrike">
              <a:solidFill>
                <a:schemeClr val="dk1"/>
              </a:solidFill>
              <a:latin typeface="Calibri"/>
              <a:ea typeface="Calibri"/>
              <a:cs typeface="Calibri"/>
              <a:sym typeface="Calibri"/>
            </a:endParaRPr>
          </a:p>
        </p:txBody>
      </p:sp>
      <p:sp>
        <p:nvSpPr>
          <p:cNvPr id="230" name="Google Shape;230;p8"/>
          <p:cNvSpPr/>
          <p:nvPr/>
        </p:nvSpPr>
        <p:spPr>
          <a:xfrm>
            <a:off x="4800600" y="3054096"/>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4800600" y="3054096"/>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p:nvPr/>
        </p:nvSpPr>
        <p:spPr>
          <a:xfrm>
            <a:off x="4800600" y="3054096"/>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F</a:t>
            </a:r>
            <a:endParaRPr b="0" i="0" sz="2200" u="none" cap="none" strike="noStrike">
              <a:solidFill>
                <a:schemeClr val="dk1"/>
              </a:solidFill>
              <a:latin typeface="Calibri"/>
              <a:ea typeface="Calibri"/>
              <a:cs typeface="Calibri"/>
              <a:sym typeface="Calibri"/>
            </a:endParaRPr>
          </a:p>
        </p:txBody>
      </p:sp>
      <p:sp>
        <p:nvSpPr>
          <p:cNvPr id="233" name="Google Shape;233;p8"/>
          <p:cNvSpPr/>
          <p:nvPr/>
        </p:nvSpPr>
        <p:spPr>
          <a:xfrm>
            <a:off x="5367528" y="3054096"/>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5458968" y="3099816"/>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通信・ネットワーク契約</a:t>
            </a:r>
            <a:endParaRPr b="0" i="0" sz="1250" u="none" cap="none" strike="noStrike">
              <a:solidFill>
                <a:schemeClr val="dk1"/>
              </a:solidFill>
              <a:latin typeface="Calibri"/>
              <a:ea typeface="Calibri"/>
              <a:cs typeface="Calibri"/>
              <a:sym typeface="Calibri"/>
            </a:endParaRPr>
          </a:p>
        </p:txBody>
      </p:sp>
      <p:sp>
        <p:nvSpPr>
          <p:cNvPr id="235" name="Google Shape;235;p8"/>
          <p:cNvSpPr/>
          <p:nvPr/>
        </p:nvSpPr>
        <p:spPr>
          <a:xfrm>
            <a:off x="5458968" y="3529584"/>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36" name="Google Shape;236;p8"/>
          <p:cNvSpPr/>
          <p:nvPr/>
        </p:nvSpPr>
        <p:spPr>
          <a:xfrm>
            <a:off x="6099048" y="3529584"/>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SLA / 最低利用期間 / 中途解約違約金</a:t>
            </a:r>
            <a:endParaRPr b="0" i="0" sz="950" u="none" cap="none" strike="noStrike">
              <a:solidFill>
                <a:schemeClr val="dk1"/>
              </a:solidFill>
              <a:latin typeface="Calibri"/>
              <a:ea typeface="Calibri"/>
              <a:cs typeface="Calibri"/>
              <a:sym typeface="Calibri"/>
            </a:endParaRPr>
          </a:p>
        </p:txBody>
      </p:sp>
      <p:sp>
        <p:nvSpPr>
          <p:cNvPr id="237" name="Google Shape;237;p8"/>
          <p:cNvSpPr/>
          <p:nvPr/>
        </p:nvSpPr>
        <p:spPr>
          <a:xfrm>
            <a:off x="457200" y="4078224"/>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p:nvPr/>
        </p:nvSpPr>
        <p:spPr>
          <a:xfrm>
            <a:off x="457200" y="4078224"/>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457200" y="4078224"/>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a:t>
            </a:r>
            <a:endParaRPr b="0" i="0" sz="2200" u="none" cap="none" strike="noStrike">
              <a:solidFill>
                <a:schemeClr val="dk1"/>
              </a:solidFill>
              <a:latin typeface="Calibri"/>
              <a:ea typeface="Calibri"/>
              <a:cs typeface="Calibri"/>
              <a:sym typeface="Calibri"/>
            </a:endParaRPr>
          </a:p>
        </p:txBody>
      </p:sp>
      <p:sp>
        <p:nvSpPr>
          <p:cNvPr id="240" name="Google Shape;240;p8"/>
          <p:cNvSpPr/>
          <p:nvPr/>
        </p:nvSpPr>
        <p:spPr>
          <a:xfrm>
            <a:off x="1024128" y="4078224"/>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8"/>
          <p:cNvSpPr/>
          <p:nvPr/>
        </p:nvSpPr>
        <p:spPr>
          <a:xfrm>
            <a:off x="1115568" y="4123944"/>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IT人材（派遣・SES）契約</a:t>
            </a:r>
            <a:endParaRPr b="0" i="0" sz="1250" u="none" cap="none" strike="noStrike">
              <a:solidFill>
                <a:schemeClr val="dk1"/>
              </a:solidFill>
              <a:latin typeface="Calibri"/>
              <a:ea typeface="Calibri"/>
              <a:cs typeface="Calibri"/>
              <a:sym typeface="Calibri"/>
            </a:endParaRPr>
          </a:p>
        </p:txBody>
      </p:sp>
      <p:sp>
        <p:nvSpPr>
          <p:cNvPr id="242" name="Google Shape;242;p8"/>
          <p:cNvSpPr/>
          <p:nvPr/>
        </p:nvSpPr>
        <p:spPr>
          <a:xfrm>
            <a:off x="1115568" y="4553712"/>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43" name="Google Shape;243;p8"/>
          <p:cNvSpPr/>
          <p:nvPr/>
        </p:nvSpPr>
        <p:spPr>
          <a:xfrm>
            <a:off x="1755648" y="4553712"/>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偽装請負リスク / 指揮命令の整理</a:t>
            </a:r>
            <a:endParaRPr b="0" i="0" sz="950" u="none" cap="none" strike="noStrike">
              <a:solidFill>
                <a:schemeClr val="dk1"/>
              </a:solidFill>
              <a:latin typeface="Calibri"/>
              <a:ea typeface="Calibri"/>
              <a:cs typeface="Calibri"/>
              <a:sym typeface="Calibri"/>
            </a:endParaRPr>
          </a:p>
        </p:txBody>
      </p:sp>
      <p:sp>
        <p:nvSpPr>
          <p:cNvPr id="244" name="Google Shape;244;p8"/>
          <p:cNvSpPr/>
          <p:nvPr/>
        </p:nvSpPr>
        <p:spPr>
          <a:xfrm>
            <a:off x="4800600" y="4078224"/>
            <a:ext cx="4096512" cy="932688"/>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4800600" y="4078224"/>
            <a:ext cx="566928" cy="932688"/>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p:nvPr/>
        </p:nvSpPr>
        <p:spPr>
          <a:xfrm>
            <a:off x="4800600" y="4078224"/>
            <a:ext cx="566928" cy="9326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H</a:t>
            </a:r>
            <a:endParaRPr b="0" i="0" sz="2200" u="none" cap="none" strike="noStrike">
              <a:solidFill>
                <a:schemeClr val="dk1"/>
              </a:solidFill>
              <a:latin typeface="Calibri"/>
              <a:ea typeface="Calibri"/>
              <a:cs typeface="Calibri"/>
              <a:sym typeface="Calibri"/>
            </a:endParaRPr>
          </a:p>
        </p:txBody>
      </p:sp>
      <p:sp>
        <p:nvSpPr>
          <p:cNvPr id="247" name="Google Shape;247;p8"/>
          <p:cNvSpPr/>
          <p:nvPr/>
        </p:nvSpPr>
        <p:spPr>
          <a:xfrm>
            <a:off x="5367528" y="4078224"/>
            <a:ext cx="3529584" cy="36576"/>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5458968" y="4123944"/>
            <a:ext cx="3346704" cy="4206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その他（PoC・API・ドメイン）</a:t>
            </a:r>
            <a:endParaRPr b="0" i="0" sz="1250" u="none" cap="none" strike="noStrike">
              <a:solidFill>
                <a:schemeClr val="dk1"/>
              </a:solidFill>
              <a:latin typeface="Calibri"/>
              <a:ea typeface="Calibri"/>
              <a:cs typeface="Calibri"/>
              <a:sym typeface="Calibri"/>
            </a:endParaRPr>
          </a:p>
        </p:txBody>
      </p:sp>
      <p:sp>
        <p:nvSpPr>
          <p:cNvPr id="249" name="Google Shape;249;p8"/>
          <p:cNvSpPr/>
          <p:nvPr/>
        </p:nvSpPr>
        <p:spPr>
          <a:xfrm>
            <a:off x="5458968" y="4553712"/>
            <a:ext cx="658368"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リスク：</a:t>
            </a:r>
            <a:endParaRPr b="0" i="0" sz="950" u="none" cap="none" strike="noStrike">
              <a:solidFill>
                <a:schemeClr val="dk1"/>
              </a:solidFill>
              <a:latin typeface="Calibri"/>
              <a:ea typeface="Calibri"/>
              <a:cs typeface="Calibri"/>
              <a:sym typeface="Calibri"/>
            </a:endParaRPr>
          </a:p>
        </p:txBody>
      </p:sp>
      <p:sp>
        <p:nvSpPr>
          <p:cNvPr id="250" name="Google Shape;250;p8"/>
          <p:cNvSpPr/>
          <p:nvPr/>
        </p:nvSpPr>
        <p:spPr>
          <a:xfrm>
            <a:off x="6099048" y="4553712"/>
            <a:ext cx="270662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本契約移行条件 / レート制限 / API廃止通知</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7"/>
        </a:solidFill>
      </p:bgPr>
    </p:bg>
    <p:spTree>
      <p:nvGrpSpPr>
        <p:cNvPr id="255" name="Shape 255"/>
        <p:cNvGrpSpPr/>
        <p:nvPr/>
      </p:nvGrpSpPr>
      <p:grpSpPr>
        <a:xfrm>
          <a:off x="0" y="0"/>
          <a:ext cx="0" cy="0"/>
          <a:chOff x="0" y="0"/>
          <a:chExt cx="0" cy="0"/>
        </a:xfrm>
      </p:grpSpPr>
      <p:sp>
        <p:nvSpPr>
          <p:cNvPr id="256" name="Google Shape;256;p9"/>
          <p:cNvSpPr/>
          <p:nvPr/>
        </p:nvSpPr>
        <p:spPr>
          <a:xfrm>
            <a:off x="0" y="0"/>
            <a:ext cx="255900" cy="51435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9"/>
          <p:cNvSpPr/>
          <p:nvPr/>
        </p:nvSpPr>
        <p:spPr>
          <a:xfrm>
            <a:off x="7132320" y="0"/>
            <a:ext cx="2011800" cy="1647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594360" y="1188720"/>
            <a:ext cx="8046600" cy="118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Calibri"/>
              <a:buNone/>
            </a:pPr>
            <a:r>
              <a:rPr b="1" i="0" lang="en-US" sz="3700" u="none" cap="none" strike="noStrike">
                <a:solidFill>
                  <a:srgbClr val="FFFFFF"/>
                </a:solidFill>
                <a:latin typeface="Arial"/>
                <a:ea typeface="Arial"/>
                <a:cs typeface="Arial"/>
                <a:sym typeface="Arial"/>
              </a:rPr>
              <a:t>IT Contract Checklist Implementation Proposal</a:t>
            </a:r>
            <a:endParaRPr b="0" i="0" sz="3700" u="none" cap="none" strike="noStrike">
              <a:solidFill>
                <a:schemeClr val="dk1"/>
              </a:solidFill>
              <a:latin typeface="Arial"/>
              <a:ea typeface="Arial"/>
              <a:cs typeface="Arial"/>
              <a:sym typeface="Arial"/>
            </a:endParaRPr>
          </a:p>
        </p:txBody>
      </p:sp>
      <p:sp>
        <p:nvSpPr>
          <p:cNvPr id="259" name="Google Shape;259;p9"/>
          <p:cNvSpPr/>
          <p:nvPr/>
        </p:nvSpPr>
        <p:spPr>
          <a:xfrm>
            <a:off x="594360" y="2514600"/>
            <a:ext cx="73152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AD4E0"/>
              </a:buClr>
              <a:buSzPts val="1600"/>
              <a:buFont typeface="Calibri"/>
              <a:buNone/>
            </a:pPr>
            <a:r>
              <a:rPr lang="en-US" sz="1600">
                <a:solidFill>
                  <a:srgbClr val="BAD4E0"/>
                </a:solidFill>
              </a:rPr>
              <a:t>Addressing to IT specific contract-type </a:t>
            </a:r>
            <a:endParaRPr b="0" i="0" sz="1600" u="none" cap="none" strike="noStrike">
              <a:solidFill>
                <a:schemeClr val="dk1"/>
              </a:solidFill>
              <a:latin typeface="Arial"/>
              <a:ea typeface="Arial"/>
              <a:cs typeface="Arial"/>
              <a:sym typeface="Arial"/>
            </a:endParaRPr>
          </a:p>
        </p:txBody>
      </p:sp>
      <p:sp>
        <p:nvSpPr>
          <p:cNvPr id="260" name="Google Shape;260;p9"/>
          <p:cNvSpPr/>
          <p:nvPr/>
        </p:nvSpPr>
        <p:spPr>
          <a:xfrm>
            <a:off x="594360" y="3090672"/>
            <a:ext cx="4114800" cy="228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9"/>
          <p:cNvSpPr/>
          <p:nvPr/>
        </p:nvSpPr>
        <p:spPr>
          <a:xfrm>
            <a:off x="594360" y="3246120"/>
            <a:ext cx="45720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B8C8"/>
              </a:buClr>
              <a:buSzPts val="1300"/>
              <a:buFont typeface="Calibri"/>
              <a:buNone/>
            </a:pPr>
            <a:r>
              <a:rPr b="0" i="0" lang="en-US" sz="1300" u="none" cap="none" strike="noStrike">
                <a:solidFill>
                  <a:srgbClr val="90B8C8"/>
                </a:solidFill>
                <a:latin typeface="Arial"/>
                <a:ea typeface="Arial"/>
                <a:cs typeface="Arial"/>
                <a:sym typeface="Arial"/>
              </a:rPr>
              <a:t>ICT Dept   |   2026</a:t>
            </a:r>
            <a:endParaRPr b="0" i="0" sz="1300" u="none" cap="none" strike="noStrike">
              <a:solidFill>
                <a:schemeClr val="dk1"/>
              </a:solidFill>
              <a:latin typeface="Arial"/>
              <a:ea typeface="Arial"/>
              <a:cs typeface="Arial"/>
              <a:sym typeface="Arial"/>
            </a:endParaRPr>
          </a:p>
        </p:txBody>
      </p:sp>
      <p:sp>
        <p:nvSpPr>
          <p:cNvPr id="262" name="Google Shape;262;p9"/>
          <p:cNvSpPr/>
          <p:nvPr/>
        </p:nvSpPr>
        <p:spPr>
          <a:xfrm>
            <a:off x="594360" y="4434840"/>
            <a:ext cx="1645800" cy="347400"/>
          </a:xfrm>
          <a:prstGeom prst="rect">
            <a:avLst/>
          </a:prstGeom>
          <a:solidFill>
            <a:srgbClr val="14A8B8"/>
          </a:solidFill>
          <a:ln cap="flat" cmpd="sng" w="12700">
            <a:solidFill>
              <a:srgbClr val="14A8B8"/>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9"/>
          <p:cNvSpPr/>
          <p:nvPr/>
        </p:nvSpPr>
        <p:spPr>
          <a:xfrm>
            <a:off x="594360" y="4434840"/>
            <a:ext cx="16458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Arial"/>
                <a:ea typeface="Arial"/>
                <a:cs typeface="Arial"/>
                <a:sym typeface="Arial"/>
              </a:rPr>
              <a:t>For Discussion Use</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0"/>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0"/>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Current Challenges</a:t>
            </a:r>
            <a:endParaRPr b="0" i="0" sz="2800" u="none" cap="none" strike="noStrike">
              <a:solidFill>
                <a:schemeClr val="dk1"/>
              </a:solidFill>
              <a:latin typeface="Calibri"/>
              <a:ea typeface="Calibri"/>
              <a:cs typeface="Calibri"/>
              <a:sym typeface="Calibri"/>
            </a:endParaRPr>
          </a:p>
        </p:txBody>
      </p:sp>
      <p:sp>
        <p:nvSpPr>
          <p:cNvPr id="271" name="Google Shape;271;p10"/>
          <p:cNvSpPr/>
          <p:nvPr/>
        </p:nvSpPr>
        <p:spPr>
          <a:xfrm>
            <a:off x="457200" y="987552"/>
            <a:ext cx="658500" cy="868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01</a:t>
            </a:r>
            <a:endParaRPr b="0" i="0" sz="2800" u="none" cap="none" strike="noStrike">
              <a:solidFill>
                <a:schemeClr val="dk1"/>
              </a:solidFill>
              <a:latin typeface="Calibri"/>
              <a:ea typeface="Calibri"/>
              <a:cs typeface="Calibri"/>
              <a:sym typeface="Calibri"/>
            </a:endParaRPr>
          </a:p>
        </p:txBody>
      </p:sp>
      <p:sp>
        <p:nvSpPr>
          <p:cNvPr id="272" name="Google Shape;272;p10"/>
          <p:cNvSpPr/>
          <p:nvPr/>
        </p:nvSpPr>
        <p:spPr>
          <a:xfrm>
            <a:off x="1170432" y="1078992"/>
            <a:ext cx="2280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1261872" y="987552"/>
            <a:ext cx="74250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Absence of "Contract-Savvy" Personnel</a:t>
            </a:r>
            <a:endParaRPr b="0" i="0" sz="1250" u="none" cap="none" strike="noStrike">
              <a:solidFill>
                <a:schemeClr val="dk1"/>
              </a:solidFill>
              <a:latin typeface="Calibri"/>
              <a:ea typeface="Calibri"/>
              <a:cs typeface="Calibri"/>
              <a:sym typeface="Calibri"/>
            </a:endParaRPr>
          </a:p>
        </p:txBody>
      </p:sp>
      <p:sp>
        <p:nvSpPr>
          <p:cNvPr id="274" name="Google Shape;274;p10"/>
          <p:cNvSpPr/>
          <p:nvPr/>
        </p:nvSpPr>
        <p:spPr>
          <a:xfrm>
            <a:off x="1261872" y="1371600"/>
            <a:ext cx="74250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The IT department has staff well-versed in technology. However, there are no personnel capable of translating technical requirements into contract language or accurately assessing the technical and legal risks of vendor-proposed terms. A structure of total dependence—routing contract review to Legal and price negotiation to Procurement—has become entrenched.</a:t>
            </a:r>
            <a:endParaRPr b="0" i="0" sz="1100" u="none" cap="none" strike="noStrike">
              <a:solidFill>
                <a:schemeClr val="dk1"/>
              </a:solidFill>
              <a:latin typeface="Calibri"/>
              <a:ea typeface="Calibri"/>
              <a:cs typeface="Calibri"/>
              <a:sym typeface="Calibri"/>
            </a:endParaRPr>
          </a:p>
        </p:txBody>
      </p:sp>
      <p:sp>
        <p:nvSpPr>
          <p:cNvPr id="275" name="Google Shape;275;p10"/>
          <p:cNvSpPr/>
          <p:nvPr/>
        </p:nvSpPr>
        <p:spPr>
          <a:xfrm>
            <a:off x="457200" y="1993392"/>
            <a:ext cx="8229600" cy="22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p:nvPr/>
        </p:nvSpPr>
        <p:spPr>
          <a:xfrm>
            <a:off x="457200" y="2066544"/>
            <a:ext cx="658500" cy="868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02</a:t>
            </a:r>
            <a:endParaRPr b="0" i="0" sz="2800" u="none" cap="none" strike="noStrike">
              <a:solidFill>
                <a:schemeClr val="dk1"/>
              </a:solidFill>
              <a:latin typeface="Calibri"/>
              <a:ea typeface="Calibri"/>
              <a:cs typeface="Calibri"/>
              <a:sym typeface="Calibri"/>
            </a:endParaRPr>
          </a:p>
        </p:txBody>
      </p:sp>
      <p:sp>
        <p:nvSpPr>
          <p:cNvPr id="277" name="Google Shape;277;p10"/>
          <p:cNvSpPr/>
          <p:nvPr/>
        </p:nvSpPr>
        <p:spPr>
          <a:xfrm>
            <a:off x="1170432" y="2157984"/>
            <a:ext cx="2280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1261872" y="2066544"/>
            <a:ext cx="74250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Limits of Substitution by Adjacent Departments</a:t>
            </a:r>
            <a:endParaRPr b="0" i="0" sz="1250" u="none" cap="none" strike="noStrike">
              <a:solidFill>
                <a:schemeClr val="dk1"/>
              </a:solidFill>
              <a:latin typeface="Calibri"/>
              <a:ea typeface="Calibri"/>
              <a:cs typeface="Calibri"/>
              <a:sym typeface="Calibri"/>
            </a:endParaRPr>
          </a:p>
        </p:txBody>
      </p:sp>
      <p:sp>
        <p:nvSpPr>
          <p:cNvPr id="279" name="Google Shape;279;p10"/>
          <p:cNvSpPr/>
          <p:nvPr/>
        </p:nvSpPr>
        <p:spPr>
          <a:xfrm>
            <a:off x="1261872" y="2450592"/>
            <a:ext cx="74250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The Legal department has experts, but lacks the resources to individually review every contract the IT department is involved in. The Procurement department also struggles with effective conditions negotiation for increasingly complex IT contracts—cloud, SaaS, licenses, and APIs. Both departments prefer to delegate authority, assuming IT will exercise autonomous judgment.</a:t>
            </a:r>
            <a:endParaRPr b="0" i="0" sz="1100" u="none" cap="none" strike="noStrike">
              <a:solidFill>
                <a:schemeClr val="dk1"/>
              </a:solidFill>
              <a:latin typeface="Calibri"/>
              <a:ea typeface="Calibri"/>
              <a:cs typeface="Calibri"/>
              <a:sym typeface="Calibri"/>
            </a:endParaRPr>
          </a:p>
        </p:txBody>
      </p:sp>
      <p:sp>
        <p:nvSpPr>
          <p:cNvPr id="280" name="Google Shape;280;p10"/>
          <p:cNvSpPr/>
          <p:nvPr/>
        </p:nvSpPr>
        <p:spPr>
          <a:xfrm>
            <a:off x="457200" y="3072384"/>
            <a:ext cx="8229600" cy="22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0"/>
          <p:cNvSpPr/>
          <p:nvPr/>
        </p:nvSpPr>
        <p:spPr>
          <a:xfrm>
            <a:off x="457200" y="3145536"/>
            <a:ext cx="658500" cy="868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2800"/>
              <a:buFont typeface="Calibri"/>
              <a:buNone/>
            </a:pPr>
            <a:r>
              <a:rPr b="1" i="0" lang="en-US" sz="2800" u="none" cap="none" strike="noStrike">
                <a:solidFill>
                  <a:srgbClr val="0A7B8E"/>
                </a:solidFill>
                <a:latin typeface="Calibri"/>
                <a:ea typeface="Calibri"/>
                <a:cs typeface="Calibri"/>
                <a:sym typeface="Calibri"/>
              </a:rPr>
              <a:t>03</a:t>
            </a:r>
            <a:endParaRPr b="0" i="0" sz="2800" u="none" cap="none" strike="noStrike">
              <a:solidFill>
                <a:schemeClr val="dk1"/>
              </a:solidFill>
              <a:latin typeface="Calibri"/>
              <a:ea typeface="Calibri"/>
              <a:cs typeface="Calibri"/>
              <a:sym typeface="Calibri"/>
            </a:endParaRPr>
          </a:p>
        </p:txBody>
      </p:sp>
      <p:sp>
        <p:nvSpPr>
          <p:cNvPr id="282" name="Google Shape;282;p10"/>
          <p:cNvSpPr/>
          <p:nvPr/>
        </p:nvSpPr>
        <p:spPr>
          <a:xfrm>
            <a:off x="1170432" y="3236976"/>
            <a:ext cx="22800" cy="6858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
          <p:cNvSpPr/>
          <p:nvPr/>
        </p:nvSpPr>
        <p:spPr>
          <a:xfrm>
            <a:off x="1261872" y="3145536"/>
            <a:ext cx="74250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Absence of a "Translation Function" Among Three Departments</a:t>
            </a:r>
            <a:endParaRPr b="0" i="0" sz="1250" u="none" cap="none" strike="noStrike">
              <a:solidFill>
                <a:schemeClr val="dk1"/>
              </a:solidFill>
              <a:latin typeface="Calibri"/>
              <a:ea typeface="Calibri"/>
              <a:cs typeface="Calibri"/>
              <a:sym typeface="Calibri"/>
            </a:endParaRPr>
          </a:p>
        </p:txBody>
      </p:sp>
      <p:sp>
        <p:nvSpPr>
          <p:cNvPr id="284" name="Google Shape;284;p10"/>
          <p:cNvSpPr/>
          <p:nvPr/>
        </p:nvSpPr>
        <p:spPr>
          <a:xfrm>
            <a:off x="1261872" y="3529584"/>
            <a:ext cx="74250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The IT, Legal, and Procurement departments each read the same contract in different languages. Even when IT members convey technical requirements to Legal, they are not translated into legal issues, and responses proceed without IT being able to accurately interpret Legal's comments. The function to translate IT-specific cost structures into procurement terminology is also absent.</a:t>
            </a:r>
            <a:endParaRPr b="0" i="0" sz="1100" u="none" cap="none" strike="noStrike">
              <a:solidFill>
                <a:schemeClr val="dk1"/>
              </a:solidFill>
              <a:latin typeface="Calibri"/>
              <a:ea typeface="Calibri"/>
              <a:cs typeface="Calibri"/>
              <a:sym typeface="Calibri"/>
            </a:endParaRPr>
          </a:p>
        </p:txBody>
      </p:sp>
      <p:sp>
        <p:nvSpPr>
          <p:cNvPr id="285" name="Google Shape;285;p10"/>
          <p:cNvSpPr/>
          <p:nvPr/>
        </p:nvSpPr>
        <p:spPr>
          <a:xfrm>
            <a:off x="457200" y="4187952"/>
            <a:ext cx="8229600" cy="7131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457200" y="4187952"/>
            <a:ext cx="63900" cy="7131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640080" y="4187952"/>
            <a:ext cx="7955400" cy="71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Therefore — given the difficulty of securing specialized personnel, establishing a framework that enables the organization to make sound contract decisions is the only practical solution. This guideline provides concrete guidance for IT members to function as contract stakeholders.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11"/>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1"/>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Legal Department Scope of Work</a:t>
            </a:r>
            <a:endParaRPr b="0" i="0" sz="2800" u="none" cap="none" strike="noStrike">
              <a:solidFill>
                <a:schemeClr val="dk1"/>
              </a:solidFill>
              <a:latin typeface="Calibri"/>
              <a:ea typeface="Calibri"/>
              <a:cs typeface="Calibri"/>
              <a:sym typeface="Calibri"/>
            </a:endParaRPr>
          </a:p>
        </p:txBody>
      </p:sp>
      <p:sp>
        <p:nvSpPr>
          <p:cNvPr id="295" name="Google Shape;295;p11"/>
          <p:cNvSpPr/>
          <p:nvPr/>
        </p:nvSpPr>
        <p:spPr>
          <a:xfrm>
            <a:off x="457200"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548640"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Contract Review, Drafting, and Negotiation</a:t>
            </a:r>
            <a:endParaRPr b="0" i="0" sz="1100" u="none" cap="none" strike="noStrike">
              <a:solidFill>
                <a:schemeClr val="dk1"/>
              </a:solidFill>
              <a:latin typeface="Calibri"/>
              <a:ea typeface="Calibri"/>
              <a:cs typeface="Calibri"/>
              <a:sym typeface="Calibri"/>
            </a:endParaRPr>
          </a:p>
        </p:txBody>
      </p:sp>
      <p:sp>
        <p:nvSpPr>
          <p:cNvPr id="297" name="Google Shape;297;p11"/>
          <p:cNvSpPr/>
          <p:nvPr/>
        </p:nvSpPr>
        <p:spPr>
          <a:xfrm>
            <a:off x="457200"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1"/>
          <p:cNvSpPr/>
          <p:nvPr/>
        </p:nvSpPr>
        <p:spPr>
          <a:xfrm>
            <a:off x="566928"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Typical Civil Law Contracts (Major Types)</a:t>
            </a:r>
            <a:endParaRPr b="0" i="0" sz="1050" u="none" cap="none" strike="noStrike">
              <a:solidFill>
                <a:schemeClr val="dk1"/>
              </a:solidFill>
              <a:latin typeface="Calibri"/>
              <a:ea typeface="Calibri"/>
              <a:cs typeface="Calibri"/>
              <a:sym typeface="Calibri"/>
            </a:endParaRPr>
          </a:p>
        </p:txBody>
      </p:sp>
      <p:sp>
        <p:nvSpPr>
          <p:cNvPr id="299" name="Google Shape;299;p11"/>
          <p:cNvSpPr/>
          <p:nvPr/>
        </p:nvSpPr>
        <p:spPr>
          <a:xfrm>
            <a:off x="621792"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Sales Agreement</a:t>
            </a:r>
            <a:endParaRPr b="0" i="0" sz="900" u="none" cap="none" strike="noStrike">
              <a:solidFill>
                <a:schemeClr val="dk1"/>
              </a:solidFill>
              <a:latin typeface="Calibri"/>
              <a:ea typeface="Calibri"/>
              <a:cs typeface="Calibri"/>
              <a:sym typeface="Calibri"/>
            </a:endParaRPr>
          </a:p>
        </p:txBody>
      </p:sp>
      <p:sp>
        <p:nvSpPr>
          <p:cNvPr id="300" name="Google Shape;300;p11"/>
          <p:cNvSpPr/>
          <p:nvPr/>
        </p:nvSpPr>
        <p:spPr>
          <a:xfrm>
            <a:off x="621792"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Contract for Work</a:t>
            </a:r>
            <a:endParaRPr b="0" i="0" sz="900" u="none" cap="none" strike="noStrike">
              <a:solidFill>
                <a:schemeClr val="dk1"/>
              </a:solidFill>
              <a:latin typeface="Calibri"/>
              <a:ea typeface="Calibri"/>
              <a:cs typeface="Calibri"/>
              <a:sym typeface="Calibri"/>
            </a:endParaRPr>
          </a:p>
        </p:txBody>
      </p:sp>
      <p:sp>
        <p:nvSpPr>
          <p:cNvPr id="301" name="Google Shape;301;p11"/>
          <p:cNvSpPr/>
          <p:nvPr/>
        </p:nvSpPr>
        <p:spPr>
          <a:xfrm>
            <a:off x="621792"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Agency Agreement / Quasi-Agency Agreement</a:t>
            </a:r>
            <a:endParaRPr b="0" i="0" sz="900" u="none" cap="none" strike="noStrike">
              <a:solidFill>
                <a:schemeClr val="dk1"/>
              </a:solidFill>
              <a:latin typeface="Calibri"/>
              <a:ea typeface="Calibri"/>
              <a:cs typeface="Calibri"/>
              <a:sym typeface="Calibri"/>
            </a:endParaRPr>
          </a:p>
        </p:txBody>
      </p:sp>
      <p:sp>
        <p:nvSpPr>
          <p:cNvPr id="302" name="Google Shape;302;p11"/>
          <p:cNvSpPr/>
          <p:nvPr/>
        </p:nvSpPr>
        <p:spPr>
          <a:xfrm>
            <a:off x="621792" y="25328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Lease Agreement / Loan for Use Agreement</a:t>
            </a:r>
            <a:endParaRPr b="0" i="0" sz="900" u="none" cap="none" strike="noStrike">
              <a:solidFill>
                <a:schemeClr val="dk1"/>
              </a:solidFill>
              <a:latin typeface="Calibri"/>
              <a:ea typeface="Calibri"/>
              <a:cs typeface="Calibri"/>
              <a:sym typeface="Calibri"/>
            </a:endParaRPr>
          </a:p>
        </p:txBody>
      </p:sp>
      <p:sp>
        <p:nvSpPr>
          <p:cNvPr id="303" name="Google Shape;303;p11"/>
          <p:cNvSpPr/>
          <p:nvPr/>
        </p:nvSpPr>
        <p:spPr>
          <a:xfrm>
            <a:off x="621792" y="27614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Loan Agreement</a:t>
            </a:r>
            <a:endParaRPr b="0" i="0" sz="900" u="none" cap="none" strike="noStrike">
              <a:solidFill>
                <a:schemeClr val="dk1"/>
              </a:solidFill>
              <a:latin typeface="Calibri"/>
              <a:ea typeface="Calibri"/>
              <a:cs typeface="Calibri"/>
              <a:sym typeface="Calibri"/>
            </a:endParaRPr>
          </a:p>
        </p:txBody>
      </p:sp>
      <p:sp>
        <p:nvSpPr>
          <p:cNvPr id="304" name="Google Shape;304;p11"/>
          <p:cNvSpPr/>
          <p:nvPr/>
        </p:nvSpPr>
        <p:spPr>
          <a:xfrm>
            <a:off x="621792" y="2990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Employment Agreement</a:t>
            </a:r>
            <a:endParaRPr b="0" i="0" sz="900" u="none" cap="none" strike="noStrike">
              <a:solidFill>
                <a:schemeClr val="dk1"/>
              </a:solidFill>
              <a:latin typeface="Calibri"/>
              <a:ea typeface="Calibri"/>
              <a:cs typeface="Calibri"/>
              <a:sym typeface="Calibri"/>
            </a:endParaRPr>
          </a:p>
        </p:txBody>
      </p:sp>
      <p:sp>
        <p:nvSpPr>
          <p:cNvPr id="305" name="Google Shape;305;p11"/>
          <p:cNvSpPr/>
          <p:nvPr/>
        </p:nvSpPr>
        <p:spPr>
          <a:xfrm>
            <a:off x="621792" y="3218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Non-Disclosure Agreement (NDA)</a:t>
            </a:r>
            <a:endParaRPr b="0" i="0" sz="900" u="none" cap="none" strike="noStrike">
              <a:solidFill>
                <a:schemeClr val="dk1"/>
              </a:solidFill>
              <a:latin typeface="Calibri"/>
              <a:ea typeface="Calibri"/>
              <a:cs typeface="Calibri"/>
              <a:sym typeface="Calibri"/>
            </a:endParaRPr>
          </a:p>
        </p:txBody>
      </p:sp>
      <p:sp>
        <p:nvSpPr>
          <p:cNvPr id="306" name="Google Shape;306;p11"/>
          <p:cNvSpPr/>
          <p:nvPr/>
        </p:nvSpPr>
        <p:spPr>
          <a:xfrm>
            <a:off x="621792" y="3447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Distributor / Sales Agency Agreement</a:t>
            </a:r>
            <a:endParaRPr b="0" i="0" sz="900" u="none" cap="none" strike="noStrike">
              <a:solidFill>
                <a:schemeClr val="dk1"/>
              </a:solidFill>
              <a:latin typeface="Calibri"/>
              <a:ea typeface="Calibri"/>
              <a:cs typeface="Calibri"/>
              <a:sym typeface="Calibri"/>
            </a:endParaRPr>
          </a:p>
        </p:txBody>
      </p:sp>
      <p:sp>
        <p:nvSpPr>
          <p:cNvPr id="307" name="Google Shape;307;p11"/>
          <p:cNvSpPr/>
          <p:nvPr/>
        </p:nvSpPr>
        <p:spPr>
          <a:xfrm>
            <a:off x="566928" y="37490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1"/>
          <p:cNvSpPr/>
          <p:nvPr/>
        </p:nvSpPr>
        <p:spPr>
          <a:xfrm>
            <a:off x="566928" y="38404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Contract Management Process</a:t>
            </a:r>
            <a:endParaRPr b="0" i="0" sz="1050" u="none" cap="none" strike="noStrike">
              <a:solidFill>
                <a:schemeClr val="dk1"/>
              </a:solidFill>
              <a:latin typeface="Calibri"/>
              <a:ea typeface="Calibri"/>
              <a:cs typeface="Calibri"/>
              <a:sym typeface="Calibri"/>
            </a:endParaRPr>
          </a:p>
        </p:txBody>
      </p:sp>
      <p:sp>
        <p:nvSpPr>
          <p:cNvPr id="309" name="Google Shape;309;p11"/>
          <p:cNvSpPr/>
          <p:nvPr/>
        </p:nvSpPr>
        <p:spPr>
          <a:xfrm>
            <a:off x="621792" y="41696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Drafting, Review, and Revision</a:t>
            </a:r>
            <a:endParaRPr b="0" i="0" sz="900" u="none" cap="none" strike="noStrike">
              <a:solidFill>
                <a:schemeClr val="dk1"/>
              </a:solidFill>
              <a:latin typeface="Calibri"/>
              <a:ea typeface="Calibri"/>
              <a:cs typeface="Calibri"/>
              <a:sym typeface="Calibri"/>
            </a:endParaRPr>
          </a:p>
        </p:txBody>
      </p:sp>
      <p:sp>
        <p:nvSpPr>
          <p:cNvPr id="310" name="Google Shape;310;p11"/>
          <p:cNvSpPr/>
          <p:nvPr/>
        </p:nvSpPr>
        <p:spPr>
          <a:xfrm>
            <a:off x="621792" y="43982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Conditions Negotiation and Risk Assessment</a:t>
            </a:r>
            <a:endParaRPr b="0" i="0" sz="900" u="none" cap="none" strike="noStrike">
              <a:solidFill>
                <a:schemeClr val="dk1"/>
              </a:solidFill>
              <a:latin typeface="Calibri"/>
              <a:ea typeface="Calibri"/>
              <a:cs typeface="Calibri"/>
              <a:sym typeface="Calibri"/>
            </a:endParaRPr>
          </a:p>
        </p:txBody>
      </p:sp>
      <p:sp>
        <p:nvSpPr>
          <p:cNvPr id="311" name="Google Shape;311;p11"/>
          <p:cNvSpPr/>
          <p:nvPr/>
        </p:nvSpPr>
        <p:spPr>
          <a:xfrm>
            <a:off x="621792" y="4626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Execution, Storage, and Renewal Management</a:t>
            </a:r>
            <a:endParaRPr b="0" i="0" sz="900" u="none" cap="none" strike="noStrike">
              <a:solidFill>
                <a:schemeClr val="dk1"/>
              </a:solidFill>
              <a:latin typeface="Calibri"/>
              <a:ea typeface="Calibri"/>
              <a:cs typeface="Calibri"/>
              <a:sym typeface="Calibri"/>
            </a:endParaRPr>
          </a:p>
        </p:txBody>
      </p:sp>
      <p:sp>
        <p:nvSpPr>
          <p:cNvPr id="312" name="Google Shape;312;p11"/>
          <p:cNvSpPr/>
          <p:nvPr/>
        </p:nvSpPr>
        <p:spPr>
          <a:xfrm>
            <a:off x="3273552"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1"/>
          <p:cNvSpPr/>
          <p:nvPr/>
        </p:nvSpPr>
        <p:spPr>
          <a:xfrm>
            <a:off x="3364992"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Regulatory Compliance</a:t>
            </a:r>
            <a:endParaRPr b="0" i="0" sz="1100" u="none" cap="none" strike="noStrike">
              <a:solidFill>
                <a:schemeClr val="dk1"/>
              </a:solidFill>
              <a:latin typeface="Calibri"/>
              <a:ea typeface="Calibri"/>
              <a:cs typeface="Calibri"/>
              <a:sym typeface="Calibri"/>
            </a:endParaRPr>
          </a:p>
        </p:txBody>
      </p:sp>
      <p:sp>
        <p:nvSpPr>
          <p:cNvPr id="314" name="Google Shape;314;p11"/>
          <p:cNvSpPr/>
          <p:nvPr/>
        </p:nvSpPr>
        <p:spPr>
          <a:xfrm>
            <a:off x="3273552"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1"/>
          <p:cNvSpPr/>
          <p:nvPr/>
        </p:nvSpPr>
        <p:spPr>
          <a:xfrm>
            <a:off x="3383280"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Industry-Specific Law Compliance</a:t>
            </a:r>
            <a:endParaRPr b="0" i="0" sz="1050" u="none" cap="none" strike="noStrike">
              <a:solidFill>
                <a:schemeClr val="dk1"/>
              </a:solidFill>
              <a:latin typeface="Calibri"/>
              <a:ea typeface="Calibri"/>
              <a:cs typeface="Calibri"/>
              <a:sym typeface="Calibri"/>
            </a:endParaRPr>
          </a:p>
        </p:txBody>
      </p:sp>
      <p:sp>
        <p:nvSpPr>
          <p:cNvPr id="316" name="Google Shape;316;p11"/>
          <p:cNvSpPr/>
          <p:nvPr/>
        </p:nvSpPr>
        <p:spPr>
          <a:xfrm>
            <a:off x="3438144"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Pharmaceuticals and Medical Devices Act (PMD Act)</a:t>
            </a:r>
            <a:endParaRPr b="0" i="0" sz="900" u="none" cap="none" strike="noStrike">
              <a:solidFill>
                <a:schemeClr val="dk1"/>
              </a:solidFill>
              <a:latin typeface="Calibri"/>
              <a:ea typeface="Calibri"/>
              <a:cs typeface="Calibri"/>
              <a:sym typeface="Calibri"/>
            </a:endParaRPr>
          </a:p>
        </p:txBody>
      </p:sp>
      <p:sp>
        <p:nvSpPr>
          <p:cNvPr id="317" name="Google Shape;317;p11"/>
          <p:cNvSpPr/>
          <p:nvPr/>
        </p:nvSpPr>
        <p:spPr>
          <a:xfrm>
            <a:off x="3438144"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Financial Instruments and Exchange Act</a:t>
            </a:r>
            <a:endParaRPr b="0" i="0" sz="900" u="none" cap="none" strike="noStrike">
              <a:solidFill>
                <a:schemeClr val="dk1"/>
              </a:solidFill>
              <a:latin typeface="Calibri"/>
              <a:ea typeface="Calibri"/>
              <a:cs typeface="Calibri"/>
              <a:sym typeface="Calibri"/>
            </a:endParaRPr>
          </a:p>
        </p:txBody>
      </p:sp>
      <p:sp>
        <p:nvSpPr>
          <p:cNvPr id="318" name="Google Shape;318;p11"/>
          <p:cNvSpPr/>
          <p:nvPr/>
        </p:nvSpPr>
        <p:spPr>
          <a:xfrm>
            <a:off x="3438144"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Product Liability Act (PL Act)</a:t>
            </a:r>
            <a:endParaRPr b="0" i="0" sz="900" u="none" cap="none" strike="noStrike">
              <a:solidFill>
                <a:schemeClr val="dk1"/>
              </a:solidFill>
              <a:latin typeface="Calibri"/>
              <a:ea typeface="Calibri"/>
              <a:cs typeface="Calibri"/>
              <a:sym typeface="Calibri"/>
            </a:endParaRPr>
          </a:p>
        </p:txBody>
      </p:sp>
      <p:sp>
        <p:nvSpPr>
          <p:cNvPr id="319" name="Google Shape;319;p11"/>
          <p:cNvSpPr/>
          <p:nvPr/>
        </p:nvSpPr>
        <p:spPr>
          <a:xfrm>
            <a:off x="3438144" y="25328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Labor-Related Laws and Regulations</a:t>
            </a:r>
            <a:endParaRPr b="0" i="0" sz="900" u="none" cap="none" strike="noStrike">
              <a:solidFill>
                <a:schemeClr val="dk1"/>
              </a:solidFill>
              <a:latin typeface="Calibri"/>
              <a:ea typeface="Calibri"/>
              <a:cs typeface="Calibri"/>
              <a:sym typeface="Calibri"/>
            </a:endParaRPr>
          </a:p>
        </p:txBody>
      </p:sp>
      <p:sp>
        <p:nvSpPr>
          <p:cNvPr id="320" name="Google Shape;320;p11"/>
          <p:cNvSpPr/>
          <p:nvPr/>
        </p:nvSpPr>
        <p:spPr>
          <a:xfrm>
            <a:off x="3438144" y="27614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Other industry laws directly related to the business</a:t>
            </a:r>
            <a:endParaRPr b="0" i="0" sz="900" u="none" cap="none" strike="noStrike">
              <a:solidFill>
                <a:schemeClr val="dk1"/>
              </a:solidFill>
              <a:latin typeface="Calibri"/>
              <a:ea typeface="Calibri"/>
              <a:cs typeface="Calibri"/>
              <a:sym typeface="Calibri"/>
            </a:endParaRPr>
          </a:p>
        </p:txBody>
      </p:sp>
      <p:sp>
        <p:nvSpPr>
          <p:cNvPr id="321" name="Google Shape;321;p11"/>
          <p:cNvSpPr/>
          <p:nvPr/>
        </p:nvSpPr>
        <p:spPr>
          <a:xfrm>
            <a:off x="3383280" y="30632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1"/>
          <p:cNvSpPr/>
          <p:nvPr/>
        </p:nvSpPr>
        <p:spPr>
          <a:xfrm>
            <a:off x="3383280" y="31546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Competition Law and Trade Regulations</a:t>
            </a:r>
            <a:endParaRPr b="0" i="0" sz="1050" u="none" cap="none" strike="noStrike">
              <a:solidFill>
                <a:schemeClr val="dk1"/>
              </a:solidFill>
              <a:latin typeface="Calibri"/>
              <a:ea typeface="Calibri"/>
              <a:cs typeface="Calibri"/>
              <a:sym typeface="Calibri"/>
            </a:endParaRPr>
          </a:p>
        </p:txBody>
      </p:sp>
      <p:sp>
        <p:nvSpPr>
          <p:cNvPr id="323" name="Google Shape;323;p11"/>
          <p:cNvSpPr/>
          <p:nvPr/>
        </p:nvSpPr>
        <p:spPr>
          <a:xfrm>
            <a:off x="3438144" y="3483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Anti-Monopoly Act</a:t>
            </a:r>
            <a:endParaRPr b="0" i="0" sz="900" u="none" cap="none" strike="noStrike">
              <a:solidFill>
                <a:schemeClr val="dk1"/>
              </a:solidFill>
              <a:latin typeface="Calibri"/>
              <a:ea typeface="Calibri"/>
              <a:cs typeface="Calibri"/>
              <a:sym typeface="Calibri"/>
            </a:endParaRPr>
          </a:p>
        </p:txBody>
      </p:sp>
      <p:sp>
        <p:nvSpPr>
          <p:cNvPr id="324" name="Google Shape;324;p11"/>
          <p:cNvSpPr/>
          <p:nvPr/>
        </p:nvSpPr>
        <p:spPr>
          <a:xfrm>
            <a:off x="3438144" y="37124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Subcontracting Act</a:t>
            </a:r>
            <a:endParaRPr b="0" i="0" sz="900" u="none" cap="none" strike="noStrike">
              <a:solidFill>
                <a:schemeClr val="dk1"/>
              </a:solidFill>
              <a:latin typeface="Calibri"/>
              <a:ea typeface="Calibri"/>
              <a:cs typeface="Calibri"/>
              <a:sym typeface="Calibri"/>
            </a:endParaRPr>
          </a:p>
        </p:txBody>
      </p:sp>
      <p:sp>
        <p:nvSpPr>
          <p:cNvPr id="325" name="Google Shape;325;p11"/>
          <p:cNvSpPr/>
          <p:nvPr/>
        </p:nvSpPr>
        <p:spPr>
          <a:xfrm>
            <a:off x="3438144" y="39410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Unfair Competition Prevention Act</a:t>
            </a:r>
            <a:endParaRPr b="0" i="0" sz="900" u="none" cap="none" strike="noStrike">
              <a:solidFill>
                <a:schemeClr val="dk1"/>
              </a:solidFill>
              <a:latin typeface="Calibri"/>
              <a:ea typeface="Calibri"/>
              <a:cs typeface="Calibri"/>
              <a:sym typeface="Calibri"/>
            </a:endParaRPr>
          </a:p>
        </p:txBody>
      </p:sp>
      <p:sp>
        <p:nvSpPr>
          <p:cNvPr id="326" name="Google Shape;326;p11"/>
          <p:cNvSpPr/>
          <p:nvPr/>
        </p:nvSpPr>
        <p:spPr>
          <a:xfrm>
            <a:off x="3383280" y="4242816"/>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1"/>
          <p:cNvSpPr/>
          <p:nvPr/>
        </p:nvSpPr>
        <p:spPr>
          <a:xfrm>
            <a:off x="3383280" y="4334256"/>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Data and Privacy Regulations</a:t>
            </a:r>
            <a:endParaRPr b="0" i="0" sz="1050" u="none" cap="none" strike="noStrike">
              <a:solidFill>
                <a:schemeClr val="dk1"/>
              </a:solidFill>
              <a:latin typeface="Calibri"/>
              <a:ea typeface="Calibri"/>
              <a:cs typeface="Calibri"/>
              <a:sym typeface="Calibri"/>
            </a:endParaRPr>
          </a:p>
        </p:txBody>
      </p:sp>
      <p:sp>
        <p:nvSpPr>
          <p:cNvPr id="328" name="Google Shape;328;p11"/>
          <p:cNvSpPr/>
          <p:nvPr/>
        </p:nvSpPr>
        <p:spPr>
          <a:xfrm>
            <a:off x="3438144" y="46634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Act on Protection of Personal Information</a:t>
            </a:r>
            <a:endParaRPr b="0" i="0" sz="900" u="none" cap="none" strike="noStrike">
              <a:solidFill>
                <a:schemeClr val="dk1"/>
              </a:solidFill>
              <a:latin typeface="Calibri"/>
              <a:ea typeface="Calibri"/>
              <a:cs typeface="Calibri"/>
              <a:sym typeface="Calibri"/>
            </a:endParaRPr>
          </a:p>
        </p:txBody>
      </p:sp>
      <p:sp>
        <p:nvSpPr>
          <p:cNvPr id="329" name="Google Shape;329;p11"/>
          <p:cNvSpPr/>
          <p:nvPr/>
        </p:nvSpPr>
        <p:spPr>
          <a:xfrm>
            <a:off x="3438144" y="48920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EU General Data Protection Regulation (GDPR)</a:t>
            </a:r>
            <a:endParaRPr b="0" i="0" sz="900" u="none" cap="none" strike="noStrike">
              <a:solidFill>
                <a:schemeClr val="dk1"/>
              </a:solidFill>
              <a:latin typeface="Calibri"/>
              <a:ea typeface="Calibri"/>
              <a:cs typeface="Calibri"/>
              <a:sym typeface="Calibri"/>
            </a:endParaRPr>
          </a:p>
        </p:txBody>
      </p:sp>
      <p:sp>
        <p:nvSpPr>
          <p:cNvPr id="330" name="Google Shape;330;p11"/>
          <p:cNvSpPr/>
          <p:nvPr/>
        </p:nvSpPr>
        <p:spPr>
          <a:xfrm>
            <a:off x="3438144" y="51206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Cross-Border Data Transfer Regulations</a:t>
            </a:r>
            <a:endParaRPr b="0" i="0" sz="900" u="none" cap="none" strike="noStrike">
              <a:solidFill>
                <a:schemeClr val="dk1"/>
              </a:solidFill>
              <a:latin typeface="Calibri"/>
              <a:ea typeface="Calibri"/>
              <a:cs typeface="Calibri"/>
              <a:sym typeface="Calibri"/>
            </a:endParaRPr>
          </a:p>
        </p:txBody>
      </p:sp>
      <p:sp>
        <p:nvSpPr>
          <p:cNvPr id="331" name="Google Shape;331;p11"/>
          <p:cNvSpPr/>
          <p:nvPr/>
        </p:nvSpPr>
        <p:spPr>
          <a:xfrm>
            <a:off x="6089904"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1"/>
          <p:cNvSpPr/>
          <p:nvPr/>
        </p:nvSpPr>
        <p:spPr>
          <a:xfrm>
            <a:off x="6181344"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Corporate Legal Affairs</a:t>
            </a:r>
            <a:endParaRPr b="0" i="0" sz="1100" u="none" cap="none" strike="noStrike">
              <a:solidFill>
                <a:schemeClr val="dk1"/>
              </a:solidFill>
              <a:latin typeface="Calibri"/>
              <a:ea typeface="Calibri"/>
              <a:cs typeface="Calibri"/>
              <a:sym typeface="Calibri"/>
            </a:endParaRPr>
          </a:p>
        </p:txBody>
      </p:sp>
      <p:sp>
        <p:nvSpPr>
          <p:cNvPr id="333" name="Google Shape;333;p11"/>
          <p:cNvSpPr/>
          <p:nvPr/>
        </p:nvSpPr>
        <p:spPr>
          <a:xfrm>
            <a:off x="6089904"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1"/>
          <p:cNvSpPr/>
          <p:nvPr/>
        </p:nvSpPr>
        <p:spPr>
          <a:xfrm>
            <a:off x="6199632"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M&amp;A and Investment Matters</a:t>
            </a:r>
            <a:endParaRPr b="0" i="0" sz="1050" u="none" cap="none" strike="noStrike">
              <a:solidFill>
                <a:schemeClr val="dk1"/>
              </a:solidFill>
              <a:latin typeface="Calibri"/>
              <a:ea typeface="Calibri"/>
              <a:cs typeface="Calibri"/>
              <a:sym typeface="Calibri"/>
            </a:endParaRPr>
          </a:p>
        </p:txBody>
      </p:sp>
      <p:sp>
        <p:nvSpPr>
          <p:cNvPr id="335" name="Google Shape;335;p11"/>
          <p:cNvSpPr/>
          <p:nvPr/>
        </p:nvSpPr>
        <p:spPr>
          <a:xfrm>
            <a:off x="6254496"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Memorandum of Understanding (MOU / LOI)</a:t>
            </a:r>
            <a:endParaRPr b="0" i="0" sz="900" u="none" cap="none" strike="noStrike">
              <a:solidFill>
                <a:schemeClr val="dk1"/>
              </a:solidFill>
              <a:latin typeface="Calibri"/>
              <a:ea typeface="Calibri"/>
              <a:cs typeface="Calibri"/>
              <a:sym typeface="Calibri"/>
            </a:endParaRPr>
          </a:p>
        </p:txBody>
      </p:sp>
      <p:sp>
        <p:nvSpPr>
          <p:cNvPr id="336" name="Google Shape;336;p11"/>
          <p:cNvSpPr/>
          <p:nvPr/>
        </p:nvSpPr>
        <p:spPr>
          <a:xfrm>
            <a:off x="6254496"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Due Diligence Support</a:t>
            </a:r>
            <a:endParaRPr b="0" i="0" sz="900" u="none" cap="none" strike="noStrike">
              <a:solidFill>
                <a:schemeClr val="dk1"/>
              </a:solidFill>
              <a:latin typeface="Calibri"/>
              <a:ea typeface="Calibri"/>
              <a:cs typeface="Calibri"/>
              <a:sym typeface="Calibri"/>
            </a:endParaRPr>
          </a:p>
        </p:txBody>
      </p:sp>
      <p:sp>
        <p:nvSpPr>
          <p:cNvPr id="337" name="Google Shape;337;p11"/>
          <p:cNvSpPr/>
          <p:nvPr/>
        </p:nvSpPr>
        <p:spPr>
          <a:xfrm>
            <a:off x="6254496"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Share Purchase Agreement (SPA)</a:t>
            </a:r>
            <a:endParaRPr b="0" i="0" sz="900" u="none" cap="none" strike="noStrike">
              <a:solidFill>
                <a:schemeClr val="dk1"/>
              </a:solidFill>
              <a:latin typeface="Calibri"/>
              <a:ea typeface="Calibri"/>
              <a:cs typeface="Calibri"/>
              <a:sym typeface="Calibri"/>
            </a:endParaRPr>
          </a:p>
        </p:txBody>
      </p:sp>
      <p:sp>
        <p:nvSpPr>
          <p:cNvPr id="338" name="Google Shape;338;p11"/>
          <p:cNvSpPr/>
          <p:nvPr/>
        </p:nvSpPr>
        <p:spPr>
          <a:xfrm>
            <a:off x="6254496" y="25328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Joint Venture Agreement (JVA)</a:t>
            </a:r>
            <a:endParaRPr b="0" i="0" sz="900" u="none" cap="none" strike="noStrike">
              <a:solidFill>
                <a:schemeClr val="dk1"/>
              </a:solidFill>
              <a:latin typeface="Calibri"/>
              <a:ea typeface="Calibri"/>
              <a:cs typeface="Calibri"/>
              <a:sym typeface="Calibri"/>
            </a:endParaRPr>
          </a:p>
        </p:txBody>
      </p:sp>
      <p:sp>
        <p:nvSpPr>
          <p:cNvPr id="339" name="Google Shape;339;p11"/>
          <p:cNvSpPr/>
          <p:nvPr/>
        </p:nvSpPr>
        <p:spPr>
          <a:xfrm>
            <a:off x="6199632" y="28346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1"/>
          <p:cNvSpPr/>
          <p:nvPr/>
        </p:nvSpPr>
        <p:spPr>
          <a:xfrm>
            <a:off x="6199632" y="29260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Dispute Resolution</a:t>
            </a:r>
            <a:endParaRPr b="0" i="0" sz="1050" u="none" cap="none" strike="noStrike">
              <a:solidFill>
                <a:schemeClr val="dk1"/>
              </a:solidFill>
              <a:latin typeface="Calibri"/>
              <a:ea typeface="Calibri"/>
              <a:cs typeface="Calibri"/>
              <a:sym typeface="Calibri"/>
            </a:endParaRPr>
          </a:p>
        </p:txBody>
      </p:sp>
      <p:sp>
        <p:nvSpPr>
          <p:cNvPr id="341" name="Google Shape;341;p11"/>
          <p:cNvSpPr/>
          <p:nvPr/>
        </p:nvSpPr>
        <p:spPr>
          <a:xfrm>
            <a:off x="6254496" y="32552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Litigation, Arbitration, and Mediation</a:t>
            </a:r>
            <a:endParaRPr b="0" i="0" sz="900" u="none" cap="none" strike="noStrike">
              <a:solidFill>
                <a:schemeClr val="dk1"/>
              </a:solidFill>
              <a:latin typeface="Calibri"/>
              <a:ea typeface="Calibri"/>
              <a:cs typeface="Calibri"/>
              <a:sym typeface="Calibri"/>
            </a:endParaRPr>
          </a:p>
        </p:txBody>
      </p:sp>
      <p:sp>
        <p:nvSpPr>
          <p:cNvPr id="342" name="Google Shape;342;p11"/>
          <p:cNvSpPr/>
          <p:nvPr/>
        </p:nvSpPr>
        <p:spPr>
          <a:xfrm>
            <a:off x="6254496" y="3483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Settlement and Out-of-Court Negotiations</a:t>
            </a:r>
            <a:endParaRPr b="0" i="0" sz="900" u="none" cap="none" strike="noStrike">
              <a:solidFill>
                <a:schemeClr val="dk1"/>
              </a:solidFill>
              <a:latin typeface="Calibri"/>
              <a:ea typeface="Calibri"/>
              <a:cs typeface="Calibri"/>
              <a:sym typeface="Calibri"/>
            </a:endParaRPr>
          </a:p>
        </p:txBody>
      </p:sp>
      <p:sp>
        <p:nvSpPr>
          <p:cNvPr id="343" name="Google Shape;343;p11"/>
          <p:cNvSpPr/>
          <p:nvPr/>
        </p:nvSpPr>
        <p:spPr>
          <a:xfrm>
            <a:off x="6254496" y="37124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Claims and Damages Handling</a:t>
            </a:r>
            <a:endParaRPr b="0" i="0" sz="900" u="none" cap="none" strike="noStrike">
              <a:solidFill>
                <a:schemeClr val="dk1"/>
              </a:solidFill>
              <a:latin typeface="Calibri"/>
              <a:ea typeface="Calibri"/>
              <a:cs typeface="Calibri"/>
              <a:sym typeface="Calibri"/>
            </a:endParaRPr>
          </a:p>
        </p:txBody>
      </p:sp>
      <p:sp>
        <p:nvSpPr>
          <p:cNvPr id="344" name="Google Shape;344;p11"/>
          <p:cNvSpPr/>
          <p:nvPr/>
        </p:nvSpPr>
        <p:spPr>
          <a:xfrm>
            <a:off x="6199632" y="4014216"/>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1"/>
          <p:cNvSpPr/>
          <p:nvPr/>
        </p:nvSpPr>
        <p:spPr>
          <a:xfrm>
            <a:off x="6199632" y="4105656"/>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Governance and Intellectual Property</a:t>
            </a:r>
            <a:endParaRPr b="0" i="0" sz="1050" u="none" cap="none" strike="noStrike">
              <a:solidFill>
                <a:schemeClr val="dk1"/>
              </a:solidFill>
              <a:latin typeface="Calibri"/>
              <a:ea typeface="Calibri"/>
              <a:cs typeface="Calibri"/>
              <a:sym typeface="Calibri"/>
            </a:endParaRPr>
          </a:p>
        </p:txBody>
      </p:sp>
      <p:sp>
        <p:nvSpPr>
          <p:cNvPr id="346" name="Google Shape;346;p11"/>
          <p:cNvSpPr/>
          <p:nvPr/>
        </p:nvSpPr>
        <p:spPr>
          <a:xfrm>
            <a:off x="6254496" y="44348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Articles of Incorporation, Shareholders' Meetings, and Board of Directors</a:t>
            </a:r>
            <a:endParaRPr b="0" i="0" sz="900" u="none" cap="none" strike="noStrike">
              <a:solidFill>
                <a:schemeClr val="dk1"/>
              </a:solidFill>
              <a:latin typeface="Calibri"/>
              <a:ea typeface="Calibri"/>
              <a:cs typeface="Calibri"/>
              <a:sym typeface="Calibri"/>
            </a:endParaRPr>
          </a:p>
        </p:txBody>
      </p:sp>
      <p:sp>
        <p:nvSpPr>
          <p:cNvPr id="347" name="Google Shape;347;p11"/>
          <p:cNvSpPr/>
          <p:nvPr/>
        </p:nvSpPr>
        <p:spPr>
          <a:xfrm>
            <a:off x="6254496" y="46634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Corporate Governance Development</a:t>
            </a:r>
            <a:endParaRPr b="0" i="0" sz="900" u="none" cap="none" strike="noStrike">
              <a:solidFill>
                <a:schemeClr val="dk1"/>
              </a:solidFill>
              <a:latin typeface="Calibri"/>
              <a:ea typeface="Calibri"/>
              <a:cs typeface="Calibri"/>
              <a:sym typeface="Calibri"/>
            </a:endParaRPr>
          </a:p>
        </p:txBody>
      </p:sp>
      <p:sp>
        <p:nvSpPr>
          <p:cNvPr id="348" name="Google Shape;348;p11"/>
          <p:cNvSpPr/>
          <p:nvPr/>
        </p:nvSpPr>
        <p:spPr>
          <a:xfrm>
            <a:off x="6254496" y="48920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Patent, Trademark, and Copyright Management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12"/>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2"/>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Procurement Department Scope of Work</a:t>
            </a:r>
            <a:endParaRPr b="0" i="0" sz="2800" u="none" cap="none" strike="noStrike">
              <a:solidFill>
                <a:schemeClr val="dk1"/>
              </a:solidFill>
              <a:latin typeface="Calibri"/>
              <a:ea typeface="Calibri"/>
              <a:cs typeface="Calibri"/>
              <a:sym typeface="Calibri"/>
            </a:endParaRPr>
          </a:p>
        </p:txBody>
      </p:sp>
      <p:sp>
        <p:nvSpPr>
          <p:cNvPr id="356" name="Google Shape;356;p12"/>
          <p:cNvSpPr/>
          <p:nvPr/>
        </p:nvSpPr>
        <p:spPr>
          <a:xfrm>
            <a:off x="457200"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2"/>
          <p:cNvSpPr/>
          <p:nvPr/>
        </p:nvSpPr>
        <p:spPr>
          <a:xfrm>
            <a:off x="548640"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Direct Materials Procurement</a:t>
            </a:r>
            <a:endParaRPr b="0" i="0" sz="1100" u="none" cap="none" strike="noStrike">
              <a:solidFill>
                <a:schemeClr val="dk1"/>
              </a:solidFill>
              <a:latin typeface="Calibri"/>
              <a:ea typeface="Calibri"/>
              <a:cs typeface="Calibri"/>
              <a:sym typeface="Calibri"/>
            </a:endParaRPr>
          </a:p>
        </p:txBody>
      </p:sp>
      <p:sp>
        <p:nvSpPr>
          <p:cNvPr id="358" name="Google Shape;358;p12"/>
          <p:cNvSpPr/>
          <p:nvPr/>
        </p:nvSpPr>
        <p:spPr>
          <a:xfrm>
            <a:off x="457200"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2"/>
          <p:cNvSpPr/>
          <p:nvPr/>
        </p:nvSpPr>
        <p:spPr>
          <a:xfrm>
            <a:off x="566928"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Target Items</a:t>
            </a:r>
            <a:endParaRPr b="0" i="0" sz="1050" u="none" cap="none" strike="noStrike">
              <a:solidFill>
                <a:schemeClr val="dk1"/>
              </a:solidFill>
              <a:latin typeface="Calibri"/>
              <a:ea typeface="Calibri"/>
              <a:cs typeface="Calibri"/>
              <a:sym typeface="Calibri"/>
            </a:endParaRPr>
          </a:p>
        </p:txBody>
      </p:sp>
      <p:sp>
        <p:nvSpPr>
          <p:cNvPr id="360" name="Google Shape;360;p12"/>
          <p:cNvSpPr/>
          <p:nvPr/>
        </p:nvSpPr>
        <p:spPr>
          <a:xfrm>
            <a:off x="621792"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Raw Materials and Components</a:t>
            </a:r>
            <a:endParaRPr b="0" i="0" sz="900" u="none" cap="none" strike="noStrike">
              <a:solidFill>
                <a:schemeClr val="dk1"/>
              </a:solidFill>
              <a:latin typeface="Calibri"/>
              <a:ea typeface="Calibri"/>
              <a:cs typeface="Calibri"/>
              <a:sym typeface="Calibri"/>
            </a:endParaRPr>
          </a:p>
        </p:txBody>
      </p:sp>
      <p:sp>
        <p:nvSpPr>
          <p:cNvPr id="361" name="Google Shape;361;p12"/>
          <p:cNvSpPr/>
          <p:nvPr/>
        </p:nvSpPr>
        <p:spPr>
          <a:xfrm>
            <a:off x="621792"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Active Pharmaceutical Ingredients (API) and Excipients</a:t>
            </a:r>
            <a:endParaRPr b="0" i="0" sz="900" u="none" cap="none" strike="noStrike">
              <a:solidFill>
                <a:schemeClr val="dk1"/>
              </a:solidFill>
              <a:latin typeface="Calibri"/>
              <a:ea typeface="Calibri"/>
              <a:cs typeface="Calibri"/>
              <a:sym typeface="Calibri"/>
            </a:endParaRPr>
          </a:p>
        </p:txBody>
      </p:sp>
      <p:sp>
        <p:nvSpPr>
          <p:cNvPr id="362" name="Google Shape;362;p12"/>
          <p:cNvSpPr/>
          <p:nvPr/>
        </p:nvSpPr>
        <p:spPr>
          <a:xfrm>
            <a:off x="621792"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Packaging Materials and Labels</a:t>
            </a:r>
            <a:endParaRPr b="0" i="0" sz="900" u="none" cap="none" strike="noStrike">
              <a:solidFill>
                <a:schemeClr val="dk1"/>
              </a:solidFill>
              <a:latin typeface="Calibri"/>
              <a:ea typeface="Calibri"/>
              <a:cs typeface="Calibri"/>
              <a:sym typeface="Calibri"/>
            </a:endParaRPr>
          </a:p>
        </p:txBody>
      </p:sp>
      <p:sp>
        <p:nvSpPr>
          <p:cNvPr id="363" name="Google Shape;363;p12"/>
          <p:cNvSpPr/>
          <p:nvPr/>
        </p:nvSpPr>
        <p:spPr>
          <a:xfrm>
            <a:off x="566928" y="26060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2"/>
          <p:cNvSpPr/>
          <p:nvPr/>
        </p:nvSpPr>
        <p:spPr>
          <a:xfrm>
            <a:off x="566928" y="26974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Key Activities</a:t>
            </a:r>
            <a:endParaRPr b="0" i="0" sz="1050" u="none" cap="none" strike="noStrike">
              <a:solidFill>
                <a:schemeClr val="dk1"/>
              </a:solidFill>
              <a:latin typeface="Calibri"/>
              <a:ea typeface="Calibri"/>
              <a:cs typeface="Calibri"/>
              <a:sym typeface="Calibri"/>
            </a:endParaRPr>
          </a:p>
        </p:txBody>
      </p:sp>
      <p:sp>
        <p:nvSpPr>
          <p:cNvPr id="365" name="Google Shape;365;p12"/>
          <p:cNvSpPr/>
          <p:nvPr/>
        </p:nvSpPr>
        <p:spPr>
          <a:xfrm>
            <a:off x="621792" y="30266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Supplier Selection and Qualification</a:t>
            </a:r>
            <a:endParaRPr b="0" i="0" sz="900" u="none" cap="none" strike="noStrike">
              <a:solidFill>
                <a:schemeClr val="dk1"/>
              </a:solidFill>
              <a:latin typeface="Calibri"/>
              <a:ea typeface="Calibri"/>
              <a:cs typeface="Calibri"/>
              <a:sym typeface="Calibri"/>
            </a:endParaRPr>
          </a:p>
        </p:txBody>
      </p:sp>
      <p:sp>
        <p:nvSpPr>
          <p:cNvPr id="366" name="Google Shape;366;p12"/>
          <p:cNvSpPr/>
          <p:nvPr/>
        </p:nvSpPr>
        <p:spPr>
          <a:xfrm>
            <a:off x="621792" y="32552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Periodic Evaluation, Relationship Building, and Development</a:t>
            </a:r>
            <a:endParaRPr b="0" i="0" sz="900" u="none" cap="none" strike="noStrike">
              <a:solidFill>
                <a:schemeClr val="dk1"/>
              </a:solidFill>
              <a:latin typeface="Calibri"/>
              <a:ea typeface="Calibri"/>
              <a:cs typeface="Calibri"/>
              <a:sym typeface="Calibri"/>
            </a:endParaRPr>
          </a:p>
        </p:txBody>
      </p:sp>
      <p:sp>
        <p:nvSpPr>
          <p:cNvPr id="367" name="Google Shape;367;p12"/>
          <p:cNvSpPr/>
          <p:nvPr/>
        </p:nvSpPr>
        <p:spPr>
          <a:xfrm>
            <a:off x="621792" y="3483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QCD (Quality, Cost, Delivery) Optimization</a:t>
            </a:r>
            <a:endParaRPr b="0" i="0" sz="900" u="none" cap="none" strike="noStrike">
              <a:solidFill>
                <a:schemeClr val="dk1"/>
              </a:solidFill>
              <a:latin typeface="Calibri"/>
              <a:ea typeface="Calibri"/>
              <a:cs typeface="Calibri"/>
              <a:sym typeface="Calibri"/>
            </a:endParaRPr>
          </a:p>
        </p:txBody>
      </p:sp>
      <p:sp>
        <p:nvSpPr>
          <p:cNvPr id="368" name="Google Shape;368;p12"/>
          <p:cNvSpPr/>
          <p:nvPr/>
        </p:nvSpPr>
        <p:spPr>
          <a:xfrm>
            <a:off x="621792" y="37124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Long-Term Supply Agreements and Framework Contracts</a:t>
            </a:r>
            <a:endParaRPr b="0" i="0" sz="900" u="none" cap="none" strike="noStrike">
              <a:solidFill>
                <a:schemeClr val="dk1"/>
              </a:solidFill>
              <a:latin typeface="Calibri"/>
              <a:ea typeface="Calibri"/>
              <a:cs typeface="Calibri"/>
              <a:sym typeface="Calibri"/>
            </a:endParaRPr>
          </a:p>
        </p:txBody>
      </p:sp>
      <p:sp>
        <p:nvSpPr>
          <p:cNvPr id="369" name="Google Shape;369;p12"/>
          <p:cNvSpPr/>
          <p:nvPr/>
        </p:nvSpPr>
        <p:spPr>
          <a:xfrm>
            <a:off x="621792" y="39410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Supply Chain Risk Management</a:t>
            </a:r>
            <a:endParaRPr b="0" i="0" sz="900" u="none" cap="none" strike="noStrike">
              <a:solidFill>
                <a:schemeClr val="dk1"/>
              </a:solidFill>
              <a:latin typeface="Calibri"/>
              <a:ea typeface="Calibri"/>
              <a:cs typeface="Calibri"/>
              <a:sym typeface="Calibri"/>
            </a:endParaRPr>
          </a:p>
        </p:txBody>
      </p:sp>
      <p:sp>
        <p:nvSpPr>
          <p:cNvPr id="370" name="Google Shape;370;p12"/>
          <p:cNvSpPr/>
          <p:nvPr/>
        </p:nvSpPr>
        <p:spPr>
          <a:xfrm>
            <a:off x="621792" y="41696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Regulatory Compliance Verification</a:t>
            </a:r>
            <a:endParaRPr b="0" i="0" sz="900" u="none" cap="none" strike="noStrike">
              <a:solidFill>
                <a:schemeClr val="dk1"/>
              </a:solidFill>
              <a:latin typeface="Calibri"/>
              <a:ea typeface="Calibri"/>
              <a:cs typeface="Calibri"/>
              <a:sym typeface="Calibri"/>
            </a:endParaRPr>
          </a:p>
        </p:txBody>
      </p:sp>
      <p:sp>
        <p:nvSpPr>
          <p:cNvPr id="371" name="Google Shape;371;p12"/>
          <p:cNvSpPr/>
          <p:nvPr/>
        </p:nvSpPr>
        <p:spPr>
          <a:xfrm>
            <a:off x="3273552"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2"/>
          <p:cNvSpPr/>
          <p:nvPr/>
        </p:nvSpPr>
        <p:spPr>
          <a:xfrm>
            <a:off x="3364992"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Indirect Materials Procurement</a:t>
            </a:r>
            <a:endParaRPr b="0" i="0" sz="1100" u="none" cap="none" strike="noStrike">
              <a:solidFill>
                <a:schemeClr val="dk1"/>
              </a:solidFill>
              <a:latin typeface="Calibri"/>
              <a:ea typeface="Calibri"/>
              <a:cs typeface="Calibri"/>
              <a:sym typeface="Calibri"/>
            </a:endParaRPr>
          </a:p>
        </p:txBody>
      </p:sp>
      <p:sp>
        <p:nvSpPr>
          <p:cNvPr id="373" name="Google Shape;373;p12"/>
          <p:cNvSpPr/>
          <p:nvPr/>
        </p:nvSpPr>
        <p:spPr>
          <a:xfrm>
            <a:off x="3273552"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2"/>
          <p:cNvSpPr/>
          <p:nvPr/>
        </p:nvSpPr>
        <p:spPr>
          <a:xfrm>
            <a:off x="3383280"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Target Items and Services (Key Examples)</a:t>
            </a:r>
            <a:endParaRPr b="0" i="0" sz="1050" u="none" cap="none" strike="noStrike">
              <a:solidFill>
                <a:schemeClr val="dk1"/>
              </a:solidFill>
              <a:latin typeface="Calibri"/>
              <a:ea typeface="Calibri"/>
              <a:cs typeface="Calibri"/>
              <a:sym typeface="Calibri"/>
            </a:endParaRPr>
          </a:p>
        </p:txBody>
      </p:sp>
      <p:sp>
        <p:nvSpPr>
          <p:cNvPr id="375" name="Google Shape;375;p12"/>
          <p:cNvSpPr/>
          <p:nvPr/>
        </p:nvSpPr>
        <p:spPr>
          <a:xfrm>
            <a:off x="3438144"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Manufacturing Equipment and Inspection Instruments</a:t>
            </a:r>
            <a:endParaRPr b="0" i="0" sz="900" u="none" cap="none" strike="noStrike">
              <a:solidFill>
                <a:schemeClr val="dk1"/>
              </a:solidFill>
              <a:latin typeface="Calibri"/>
              <a:ea typeface="Calibri"/>
              <a:cs typeface="Calibri"/>
              <a:sym typeface="Calibri"/>
            </a:endParaRPr>
          </a:p>
        </p:txBody>
      </p:sp>
      <p:sp>
        <p:nvSpPr>
          <p:cNvPr id="376" name="Google Shape;376;p12"/>
          <p:cNvSpPr/>
          <p:nvPr/>
        </p:nvSpPr>
        <p:spPr>
          <a:xfrm>
            <a:off x="3438144"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Facilities and Utilities</a:t>
            </a:r>
            <a:endParaRPr b="0" i="0" sz="900" u="none" cap="none" strike="noStrike">
              <a:solidFill>
                <a:schemeClr val="dk1"/>
              </a:solidFill>
              <a:latin typeface="Calibri"/>
              <a:ea typeface="Calibri"/>
              <a:cs typeface="Calibri"/>
              <a:sym typeface="Calibri"/>
            </a:endParaRPr>
          </a:p>
        </p:txBody>
      </p:sp>
      <p:sp>
        <p:nvSpPr>
          <p:cNvPr id="377" name="Google Shape;377;p12"/>
          <p:cNvSpPr/>
          <p:nvPr/>
        </p:nvSpPr>
        <p:spPr>
          <a:xfrm>
            <a:off x="3438144"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Office Supplies and Consumables</a:t>
            </a:r>
            <a:endParaRPr b="0" i="0" sz="900" u="none" cap="none" strike="noStrike">
              <a:solidFill>
                <a:schemeClr val="dk1"/>
              </a:solidFill>
              <a:latin typeface="Calibri"/>
              <a:ea typeface="Calibri"/>
              <a:cs typeface="Calibri"/>
              <a:sym typeface="Calibri"/>
            </a:endParaRPr>
          </a:p>
        </p:txBody>
      </p:sp>
      <p:sp>
        <p:nvSpPr>
          <p:cNvPr id="378" name="Google Shape;378;p12"/>
          <p:cNvSpPr/>
          <p:nvPr/>
        </p:nvSpPr>
        <p:spPr>
          <a:xfrm>
            <a:off x="3438144" y="25328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Cleaning, Security, and Transportation Services</a:t>
            </a:r>
            <a:endParaRPr b="0" i="0" sz="900" u="none" cap="none" strike="noStrike">
              <a:solidFill>
                <a:schemeClr val="dk1"/>
              </a:solidFill>
              <a:latin typeface="Calibri"/>
              <a:ea typeface="Calibri"/>
              <a:cs typeface="Calibri"/>
              <a:sym typeface="Calibri"/>
            </a:endParaRPr>
          </a:p>
        </p:txBody>
      </p:sp>
      <p:sp>
        <p:nvSpPr>
          <p:cNvPr id="379" name="Google Shape;379;p12"/>
          <p:cNvSpPr/>
          <p:nvPr/>
        </p:nvSpPr>
        <p:spPr>
          <a:xfrm>
            <a:off x="3438144" y="27614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Standard Consulting Services</a:t>
            </a:r>
            <a:endParaRPr b="0" i="0" sz="900" u="none" cap="none" strike="noStrike">
              <a:solidFill>
                <a:schemeClr val="dk1"/>
              </a:solidFill>
              <a:latin typeface="Calibri"/>
              <a:ea typeface="Calibri"/>
              <a:cs typeface="Calibri"/>
              <a:sym typeface="Calibri"/>
            </a:endParaRPr>
          </a:p>
        </p:txBody>
      </p:sp>
      <p:sp>
        <p:nvSpPr>
          <p:cNvPr id="380" name="Google Shape;380;p12"/>
          <p:cNvSpPr/>
          <p:nvPr/>
        </p:nvSpPr>
        <p:spPr>
          <a:xfrm>
            <a:off x="3383280" y="30632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2"/>
          <p:cNvSpPr/>
          <p:nvPr/>
        </p:nvSpPr>
        <p:spPr>
          <a:xfrm>
            <a:off x="3383280" y="31546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Role / Positioning</a:t>
            </a:r>
            <a:endParaRPr b="0" i="0" sz="1050" u="none" cap="none" strike="noStrike">
              <a:solidFill>
                <a:schemeClr val="dk1"/>
              </a:solidFill>
              <a:latin typeface="Calibri"/>
              <a:ea typeface="Calibri"/>
              <a:cs typeface="Calibri"/>
              <a:sym typeface="Calibri"/>
            </a:endParaRPr>
          </a:p>
        </p:txBody>
      </p:sp>
      <p:sp>
        <p:nvSpPr>
          <p:cNvPr id="382" name="Google Shape;382;p12"/>
          <p:cNvSpPr/>
          <p:nvPr/>
        </p:nvSpPr>
        <p:spPr>
          <a:xfrm>
            <a:off x="3438144" y="3483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Complementary role supporting direct materials procurement</a:t>
            </a:r>
            <a:endParaRPr b="0" i="0" sz="900" u="none" cap="none" strike="noStrike">
              <a:solidFill>
                <a:schemeClr val="dk1"/>
              </a:solidFill>
              <a:latin typeface="Calibri"/>
              <a:ea typeface="Calibri"/>
              <a:cs typeface="Calibri"/>
              <a:sym typeface="Calibri"/>
            </a:endParaRPr>
          </a:p>
        </p:txBody>
      </p:sp>
      <p:sp>
        <p:nvSpPr>
          <p:cNvPr id="383" name="Google Shape;383;p12"/>
          <p:cNvSpPr/>
          <p:nvPr/>
        </p:nvSpPr>
        <p:spPr>
          <a:xfrm>
            <a:off x="3438144" y="37124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Focused on general-purpose items and services</a:t>
            </a:r>
            <a:endParaRPr b="0" i="0" sz="900" u="none" cap="none" strike="noStrike">
              <a:solidFill>
                <a:schemeClr val="dk1"/>
              </a:solidFill>
              <a:latin typeface="Calibri"/>
              <a:ea typeface="Calibri"/>
              <a:cs typeface="Calibri"/>
              <a:sym typeface="Calibri"/>
            </a:endParaRPr>
          </a:p>
        </p:txBody>
      </p:sp>
      <p:sp>
        <p:nvSpPr>
          <p:cNvPr id="384" name="Google Shape;384;p12"/>
          <p:cNvSpPr/>
          <p:nvPr/>
        </p:nvSpPr>
        <p:spPr>
          <a:xfrm>
            <a:off x="3438144" y="39410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Highly specialized categories handled individually as special cases</a:t>
            </a:r>
            <a:endParaRPr b="0" i="0" sz="900" u="none" cap="none" strike="noStrike">
              <a:solidFill>
                <a:schemeClr val="dk1"/>
              </a:solidFill>
              <a:latin typeface="Calibri"/>
              <a:ea typeface="Calibri"/>
              <a:cs typeface="Calibri"/>
              <a:sym typeface="Calibri"/>
            </a:endParaRPr>
          </a:p>
        </p:txBody>
      </p:sp>
      <p:sp>
        <p:nvSpPr>
          <p:cNvPr id="385" name="Google Shape;385;p12"/>
          <p:cNvSpPr/>
          <p:nvPr/>
        </p:nvSpPr>
        <p:spPr>
          <a:xfrm>
            <a:off x="6089904" y="987552"/>
            <a:ext cx="2670000" cy="4389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2"/>
          <p:cNvSpPr/>
          <p:nvPr/>
        </p:nvSpPr>
        <p:spPr>
          <a:xfrm>
            <a:off x="6181344" y="987552"/>
            <a:ext cx="25602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Procurement Process and Management Methods</a:t>
            </a:r>
            <a:endParaRPr b="0" i="0" sz="1100" u="none" cap="none" strike="noStrike">
              <a:solidFill>
                <a:schemeClr val="dk1"/>
              </a:solidFill>
              <a:latin typeface="Calibri"/>
              <a:ea typeface="Calibri"/>
              <a:cs typeface="Calibri"/>
              <a:sym typeface="Calibri"/>
            </a:endParaRPr>
          </a:p>
        </p:txBody>
      </p:sp>
      <p:sp>
        <p:nvSpPr>
          <p:cNvPr id="387" name="Google Shape;387;p12"/>
          <p:cNvSpPr/>
          <p:nvPr/>
        </p:nvSpPr>
        <p:spPr>
          <a:xfrm>
            <a:off x="6089904" y="1426464"/>
            <a:ext cx="2670000" cy="3456300"/>
          </a:xfrm>
          <a:prstGeom prst="rect">
            <a:avLst/>
          </a:prstGeom>
          <a:solidFill>
            <a:srgbClr val="F7F9FC"/>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2"/>
          <p:cNvSpPr/>
          <p:nvPr/>
        </p:nvSpPr>
        <p:spPr>
          <a:xfrm>
            <a:off x="6199632" y="1517904"/>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Competitive Procurement</a:t>
            </a:r>
            <a:endParaRPr b="0" i="0" sz="1050" u="none" cap="none" strike="noStrike">
              <a:solidFill>
                <a:schemeClr val="dk1"/>
              </a:solidFill>
              <a:latin typeface="Calibri"/>
              <a:ea typeface="Calibri"/>
              <a:cs typeface="Calibri"/>
              <a:sym typeface="Calibri"/>
            </a:endParaRPr>
          </a:p>
        </p:txBody>
      </p:sp>
      <p:sp>
        <p:nvSpPr>
          <p:cNvPr id="389" name="Google Shape;389;p12"/>
          <p:cNvSpPr/>
          <p:nvPr/>
        </p:nvSpPr>
        <p:spPr>
          <a:xfrm>
            <a:off x="6254496" y="18470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RFI (Request for Information)</a:t>
            </a:r>
            <a:endParaRPr b="0" i="0" sz="900" u="none" cap="none" strike="noStrike">
              <a:solidFill>
                <a:schemeClr val="dk1"/>
              </a:solidFill>
              <a:latin typeface="Calibri"/>
              <a:ea typeface="Calibri"/>
              <a:cs typeface="Calibri"/>
              <a:sym typeface="Calibri"/>
            </a:endParaRPr>
          </a:p>
        </p:txBody>
      </p:sp>
      <p:sp>
        <p:nvSpPr>
          <p:cNvPr id="390" name="Google Shape;390;p12"/>
          <p:cNvSpPr/>
          <p:nvPr/>
        </p:nvSpPr>
        <p:spPr>
          <a:xfrm>
            <a:off x="6254496" y="20756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RFP (Request for Proposal)</a:t>
            </a:r>
            <a:endParaRPr b="0" i="0" sz="900" u="none" cap="none" strike="noStrike">
              <a:solidFill>
                <a:schemeClr val="dk1"/>
              </a:solidFill>
              <a:latin typeface="Calibri"/>
              <a:ea typeface="Calibri"/>
              <a:cs typeface="Calibri"/>
              <a:sym typeface="Calibri"/>
            </a:endParaRPr>
          </a:p>
        </p:txBody>
      </p:sp>
      <p:sp>
        <p:nvSpPr>
          <p:cNvPr id="391" name="Google Shape;391;p12"/>
          <p:cNvSpPr/>
          <p:nvPr/>
        </p:nvSpPr>
        <p:spPr>
          <a:xfrm>
            <a:off x="6254496" y="23042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RFQ (Request for Quotation)</a:t>
            </a:r>
            <a:endParaRPr b="0" i="0" sz="900" u="none" cap="none" strike="noStrike">
              <a:solidFill>
                <a:schemeClr val="dk1"/>
              </a:solidFill>
              <a:latin typeface="Calibri"/>
              <a:ea typeface="Calibri"/>
              <a:cs typeface="Calibri"/>
              <a:sym typeface="Calibri"/>
            </a:endParaRPr>
          </a:p>
        </p:txBody>
      </p:sp>
      <p:sp>
        <p:nvSpPr>
          <p:cNvPr id="392" name="Google Shape;392;p12"/>
          <p:cNvSpPr/>
          <p:nvPr/>
        </p:nvSpPr>
        <p:spPr>
          <a:xfrm>
            <a:off x="6254496" y="2532888"/>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Competitive Bidding and Vendor Selection</a:t>
            </a:r>
            <a:endParaRPr b="0" i="0" sz="900" u="none" cap="none" strike="noStrike">
              <a:solidFill>
                <a:schemeClr val="dk1"/>
              </a:solidFill>
              <a:latin typeface="Calibri"/>
              <a:ea typeface="Calibri"/>
              <a:cs typeface="Calibri"/>
              <a:sym typeface="Calibri"/>
            </a:endParaRPr>
          </a:p>
        </p:txBody>
      </p:sp>
      <p:sp>
        <p:nvSpPr>
          <p:cNvPr id="393" name="Google Shape;393;p12"/>
          <p:cNvSpPr/>
          <p:nvPr/>
        </p:nvSpPr>
        <p:spPr>
          <a:xfrm>
            <a:off x="6199632" y="2834640"/>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2"/>
          <p:cNvSpPr/>
          <p:nvPr/>
        </p:nvSpPr>
        <p:spPr>
          <a:xfrm>
            <a:off x="6199632" y="2926080"/>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Cost and Contract Management</a:t>
            </a:r>
            <a:endParaRPr b="0" i="0" sz="1050" u="none" cap="none" strike="noStrike">
              <a:solidFill>
                <a:schemeClr val="dk1"/>
              </a:solidFill>
              <a:latin typeface="Calibri"/>
              <a:ea typeface="Calibri"/>
              <a:cs typeface="Calibri"/>
              <a:sym typeface="Calibri"/>
            </a:endParaRPr>
          </a:p>
        </p:txBody>
      </p:sp>
      <p:sp>
        <p:nvSpPr>
          <p:cNvPr id="395" name="Google Shape;395;p12"/>
          <p:cNvSpPr/>
          <p:nvPr/>
        </p:nvSpPr>
        <p:spPr>
          <a:xfrm>
            <a:off x="6254496" y="32552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TCO (Total Cost of Ownership) Analysis</a:t>
            </a:r>
            <a:endParaRPr b="0" i="0" sz="900" u="none" cap="none" strike="noStrike">
              <a:solidFill>
                <a:schemeClr val="dk1"/>
              </a:solidFill>
              <a:latin typeface="Calibri"/>
              <a:ea typeface="Calibri"/>
              <a:cs typeface="Calibri"/>
              <a:sym typeface="Calibri"/>
            </a:endParaRPr>
          </a:p>
        </p:txBody>
      </p:sp>
      <p:sp>
        <p:nvSpPr>
          <p:cNvPr id="396" name="Google Shape;396;p12"/>
          <p:cNvSpPr/>
          <p:nvPr/>
        </p:nvSpPr>
        <p:spPr>
          <a:xfrm>
            <a:off x="6254496" y="34838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Price Negotiation and Terms Optimization</a:t>
            </a:r>
            <a:endParaRPr b="0" i="0" sz="900" u="none" cap="none" strike="noStrike">
              <a:solidFill>
                <a:schemeClr val="dk1"/>
              </a:solidFill>
              <a:latin typeface="Calibri"/>
              <a:ea typeface="Calibri"/>
              <a:cs typeface="Calibri"/>
              <a:sym typeface="Calibri"/>
            </a:endParaRPr>
          </a:p>
        </p:txBody>
      </p:sp>
      <p:sp>
        <p:nvSpPr>
          <p:cNvPr id="397" name="Google Shape;397;p12"/>
          <p:cNvSpPr/>
          <p:nvPr/>
        </p:nvSpPr>
        <p:spPr>
          <a:xfrm>
            <a:off x="6254496" y="37124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Purchase Order (PO) Management</a:t>
            </a:r>
            <a:endParaRPr b="0" i="0" sz="900" u="none" cap="none" strike="noStrike">
              <a:solidFill>
                <a:schemeClr val="dk1"/>
              </a:solidFill>
              <a:latin typeface="Calibri"/>
              <a:ea typeface="Calibri"/>
              <a:cs typeface="Calibri"/>
              <a:sym typeface="Calibri"/>
            </a:endParaRPr>
          </a:p>
        </p:txBody>
      </p:sp>
      <p:sp>
        <p:nvSpPr>
          <p:cNvPr id="398" name="Google Shape;398;p12"/>
          <p:cNvSpPr/>
          <p:nvPr/>
        </p:nvSpPr>
        <p:spPr>
          <a:xfrm>
            <a:off x="6254496" y="3941064"/>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Master Purchase Agreement (MPA)</a:t>
            </a:r>
            <a:endParaRPr b="0" i="0" sz="900" u="none" cap="none" strike="noStrike">
              <a:solidFill>
                <a:schemeClr val="dk1"/>
              </a:solidFill>
              <a:latin typeface="Calibri"/>
              <a:ea typeface="Calibri"/>
              <a:cs typeface="Calibri"/>
              <a:sym typeface="Calibri"/>
            </a:endParaRPr>
          </a:p>
        </p:txBody>
      </p:sp>
      <p:sp>
        <p:nvSpPr>
          <p:cNvPr id="399" name="Google Shape;399;p12"/>
          <p:cNvSpPr/>
          <p:nvPr/>
        </p:nvSpPr>
        <p:spPr>
          <a:xfrm>
            <a:off x="6199632" y="4242816"/>
            <a:ext cx="2450700" cy="11100"/>
          </a:xfrm>
          <a:prstGeom prst="rect">
            <a:avLst/>
          </a:prstGeom>
          <a:solidFill>
            <a:srgbClr val="CBD5E1"/>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2"/>
          <p:cNvSpPr/>
          <p:nvPr/>
        </p:nvSpPr>
        <p:spPr>
          <a:xfrm>
            <a:off x="6199632" y="4334256"/>
            <a:ext cx="2487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1050"/>
              <a:buFont typeface="Calibri"/>
              <a:buNone/>
            </a:pPr>
            <a:r>
              <a:rPr b="1" i="0" lang="en-US" sz="1050" u="none" cap="none" strike="noStrike">
                <a:solidFill>
                  <a:srgbClr val="0A7B8E"/>
                </a:solidFill>
                <a:latin typeface="Calibri"/>
                <a:ea typeface="Calibri"/>
                <a:cs typeface="Calibri"/>
                <a:sym typeface="Calibri"/>
              </a:rPr>
              <a:t>Supplier Management</a:t>
            </a:r>
            <a:endParaRPr b="0" i="0" sz="1050" u="none" cap="none" strike="noStrike">
              <a:solidFill>
                <a:schemeClr val="dk1"/>
              </a:solidFill>
              <a:latin typeface="Calibri"/>
              <a:ea typeface="Calibri"/>
              <a:cs typeface="Calibri"/>
              <a:sym typeface="Calibri"/>
            </a:endParaRPr>
          </a:p>
        </p:txBody>
      </p:sp>
      <p:sp>
        <p:nvSpPr>
          <p:cNvPr id="401" name="Google Shape;401;p12"/>
          <p:cNvSpPr/>
          <p:nvPr/>
        </p:nvSpPr>
        <p:spPr>
          <a:xfrm>
            <a:off x="6254496" y="46634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Performance KPI Setting and Tracking</a:t>
            </a:r>
            <a:endParaRPr b="0" i="0" sz="900" u="none" cap="none" strike="noStrike">
              <a:solidFill>
                <a:schemeClr val="dk1"/>
              </a:solidFill>
              <a:latin typeface="Calibri"/>
              <a:ea typeface="Calibri"/>
              <a:cs typeface="Calibri"/>
              <a:sym typeface="Calibri"/>
            </a:endParaRPr>
          </a:p>
        </p:txBody>
      </p:sp>
      <p:sp>
        <p:nvSpPr>
          <p:cNvPr id="402" name="Google Shape;402;p12"/>
          <p:cNvSpPr/>
          <p:nvPr/>
        </p:nvSpPr>
        <p:spPr>
          <a:xfrm>
            <a:off x="6254496" y="48920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Periodic Review and Audits</a:t>
            </a:r>
            <a:endParaRPr b="0" i="0" sz="900" u="none" cap="none" strike="noStrike">
              <a:solidFill>
                <a:schemeClr val="dk1"/>
              </a:solidFill>
              <a:latin typeface="Calibri"/>
              <a:ea typeface="Calibri"/>
              <a:cs typeface="Calibri"/>
              <a:sym typeface="Calibri"/>
            </a:endParaRPr>
          </a:p>
        </p:txBody>
      </p:sp>
      <p:sp>
        <p:nvSpPr>
          <p:cNvPr id="403" name="Google Shape;403;p12"/>
          <p:cNvSpPr/>
          <p:nvPr/>
        </p:nvSpPr>
        <p:spPr>
          <a:xfrm>
            <a:off x="6254496" y="5120640"/>
            <a:ext cx="2414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Compliance Verification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13"/>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3"/>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IT Department's Unique Scope of Responsibility</a:t>
            </a:r>
            <a:endParaRPr b="0" i="0" sz="2800" u="none" cap="none" strike="noStrike">
              <a:solidFill>
                <a:schemeClr val="dk1"/>
              </a:solidFill>
              <a:latin typeface="Calibri"/>
              <a:ea typeface="Calibri"/>
              <a:cs typeface="Calibri"/>
              <a:sym typeface="Calibri"/>
            </a:endParaRPr>
          </a:p>
        </p:txBody>
      </p:sp>
      <p:sp>
        <p:nvSpPr>
          <p:cNvPr id="411" name="Google Shape;411;p13"/>
          <p:cNvSpPr/>
          <p:nvPr/>
        </p:nvSpPr>
        <p:spPr>
          <a:xfrm>
            <a:off x="1344168" y="1133856"/>
            <a:ext cx="3438000" cy="2706600"/>
          </a:xfrm>
          <a:prstGeom prst="ellipse">
            <a:avLst/>
          </a:prstGeom>
          <a:solidFill>
            <a:srgbClr val="C8DFF0">
              <a:alpha val="80000"/>
            </a:srgbClr>
          </a:solidFill>
          <a:ln cap="flat" cmpd="sng" w="19050">
            <a:solidFill>
              <a:srgbClr val="5A8DA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3"/>
          <p:cNvSpPr/>
          <p:nvPr/>
        </p:nvSpPr>
        <p:spPr>
          <a:xfrm>
            <a:off x="3813048" y="1133856"/>
            <a:ext cx="3438000" cy="2706600"/>
          </a:xfrm>
          <a:prstGeom prst="ellipse">
            <a:avLst/>
          </a:prstGeom>
          <a:solidFill>
            <a:srgbClr val="B8D8B8">
              <a:alpha val="80000"/>
            </a:srgbClr>
          </a:solidFill>
          <a:ln cap="flat" cmpd="sng" w="19050">
            <a:solidFill>
              <a:srgbClr val="4A8A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3"/>
          <p:cNvSpPr/>
          <p:nvPr/>
        </p:nvSpPr>
        <p:spPr>
          <a:xfrm>
            <a:off x="2578608" y="2231136"/>
            <a:ext cx="3438000" cy="2706600"/>
          </a:xfrm>
          <a:prstGeom prst="ellipse">
            <a:avLst/>
          </a:prstGeom>
          <a:solidFill>
            <a:srgbClr val="0A7B8E">
              <a:alpha val="45098"/>
            </a:srgbClr>
          </a:solidFill>
          <a:ln cap="flat" cmpd="sng" w="381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3"/>
          <p:cNvSpPr/>
          <p:nvPr/>
        </p:nvSpPr>
        <p:spPr>
          <a:xfrm>
            <a:off x="2286000" y="1243584"/>
            <a:ext cx="15546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5A7A"/>
              </a:buClr>
              <a:buSzPts val="1200"/>
              <a:buFont typeface="Calibri"/>
              <a:buNone/>
            </a:pPr>
            <a:r>
              <a:rPr b="1" i="0" lang="en-US" sz="1200" u="none" cap="none" strike="noStrike">
                <a:solidFill>
                  <a:srgbClr val="2A5A7A"/>
                </a:solidFill>
                <a:latin typeface="Calibri"/>
                <a:ea typeface="Calibri"/>
                <a:cs typeface="Calibri"/>
                <a:sym typeface="Calibri"/>
              </a:rPr>
              <a:t>Legal Department</a:t>
            </a:r>
            <a:endParaRPr b="0" i="0" sz="1200" u="none" cap="none" strike="noStrike">
              <a:solidFill>
                <a:schemeClr val="dk1"/>
              </a:solidFill>
              <a:latin typeface="Calibri"/>
              <a:ea typeface="Calibri"/>
              <a:cs typeface="Calibri"/>
              <a:sym typeface="Calibri"/>
            </a:endParaRPr>
          </a:p>
        </p:txBody>
      </p:sp>
      <p:sp>
        <p:nvSpPr>
          <p:cNvPr id="415" name="Google Shape;415;p13"/>
          <p:cNvSpPr/>
          <p:nvPr/>
        </p:nvSpPr>
        <p:spPr>
          <a:xfrm>
            <a:off x="4754880" y="1243584"/>
            <a:ext cx="15546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6A3A"/>
              </a:buClr>
              <a:buSzPts val="1200"/>
              <a:buFont typeface="Calibri"/>
              <a:buNone/>
            </a:pPr>
            <a:r>
              <a:rPr b="1" i="0" lang="en-US" sz="1200" u="none" cap="none" strike="noStrike">
                <a:solidFill>
                  <a:srgbClr val="2A6A3A"/>
                </a:solidFill>
                <a:latin typeface="Calibri"/>
                <a:ea typeface="Calibri"/>
                <a:cs typeface="Calibri"/>
                <a:sym typeface="Calibri"/>
              </a:rPr>
              <a:t>Procurement Department</a:t>
            </a:r>
            <a:endParaRPr b="0" i="0" sz="1200" u="none" cap="none" strike="noStrike">
              <a:solidFill>
                <a:schemeClr val="dk1"/>
              </a:solidFill>
              <a:latin typeface="Calibri"/>
              <a:ea typeface="Calibri"/>
              <a:cs typeface="Calibri"/>
              <a:sym typeface="Calibri"/>
            </a:endParaRPr>
          </a:p>
        </p:txBody>
      </p:sp>
      <p:sp>
        <p:nvSpPr>
          <p:cNvPr id="416" name="Google Shape;416;p13"/>
          <p:cNvSpPr/>
          <p:nvPr/>
        </p:nvSpPr>
        <p:spPr>
          <a:xfrm>
            <a:off x="3474720" y="4462272"/>
            <a:ext cx="1645800" cy="34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7B8E"/>
              </a:buClr>
              <a:buSzPts val="1200"/>
              <a:buFont typeface="Calibri"/>
              <a:buNone/>
            </a:pPr>
            <a:r>
              <a:rPr b="1" i="0" lang="en-US" sz="1200" u="none" cap="none" strike="noStrike">
                <a:solidFill>
                  <a:srgbClr val="0A7B8E"/>
                </a:solidFill>
                <a:latin typeface="Calibri"/>
                <a:ea typeface="Calibri"/>
                <a:cs typeface="Calibri"/>
                <a:sym typeface="Calibri"/>
              </a:rPr>
              <a:t>IT Department Contracts</a:t>
            </a:r>
            <a:endParaRPr b="0" i="0" sz="1200" u="none" cap="none" strike="noStrike">
              <a:solidFill>
                <a:schemeClr val="dk1"/>
              </a:solidFill>
              <a:latin typeface="Calibri"/>
              <a:ea typeface="Calibri"/>
              <a:cs typeface="Calibri"/>
              <a:sym typeface="Calibri"/>
            </a:endParaRPr>
          </a:p>
        </p:txBody>
      </p:sp>
      <p:sp>
        <p:nvSpPr>
          <p:cNvPr id="417" name="Google Shape;417;p13"/>
          <p:cNvSpPr/>
          <p:nvPr/>
        </p:nvSpPr>
        <p:spPr>
          <a:xfrm>
            <a:off x="960120" y="1783080"/>
            <a:ext cx="1691700" cy="640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5A7A"/>
              </a:buClr>
              <a:buSzPts val="900"/>
              <a:buFont typeface="Calibri"/>
              <a:buNone/>
            </a:pPr>
            <a:r>
              <a:rPr b="0" i="0" lang="en-US" sz="900" u="none" cap="none" strike="noStrike">
                <a:solidFill>
                  <a:srgbClr val="2A5A7A"/>
                </a:solidFill>
                <a:latin typeface="Calibri"/>
                <a:ea typeface="Calibri"/>
                <a:cs typeface="Calibri"/>
                <a:sym typeface="Calibri"/>
              </a:rPr>
              <a:t>M&amp;A and Corporate Legal Affairs</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5A7A"/>
              </a:buClr>
              <a:buSzPts val="900"/>
              <a:buFont typeface="Calibri"/>
              <a:buNone/>
            </a:pPr>
            <a:r>
              <a:rPr b="0" i="0" lang="en-US" sz="900" u="none" cap="none" strike="noStrike">
                <a:solidFill>
                  <a:srgbClr val="2A5A7A"/>
                </a:solidFill>
                <a:latin typeface="Calibri"/>
                <a:ea typeface="Calibri"/>
                <a:cs typeface="Calibri"/>
                <a:sym typeface="Calibri"/>
              </a:rPr>
              <a:t>Litigation, Arbitration, and IP Management</a:t>
            </a:r>
            <a:endParaRPr b="0" i="0" sz="900" u="none" cap="none" strike="noStrike">
              <a:solidFill>
                <a:schemeClr val="dk1"/>
              </a:solidFill>
              <a:latin typeface="Calibri"/>
              <a:ea typeface="Calibri"/>
              <a:cs typeface="Calibri"/>
              <a:sym typeface="Calibri"/>
            </a:endParaRPr>
          </a:p>
        </p:txBody>
      </p:sp>
      <p:sp>
        <p:nvSpPr>
          <p:cNvPr id="418" name="Google Shape;418;p13"/>
          <p:cNvSpPr/>
          <p:nvPr/>
        </p:nvSpPr>
        <p:spPr>
          <a:xfrm>
            <a:off x="5989320" y="1783080"/>
            <a:ext cx="1691700" cy="640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A6A3A"/>
              </a:buClr>
              <a:buSzPts val="900"/>
              <a:buFont typeface="Calibri"/>
              <a:buNone/>
            </a:pPr>
            <a:r>
              <a:rPr b="0" i="0" lang="en-US" sz="900" u="none" cap="none" strike="noStrike">
                <a:solidFill>
                  <a:srgbClr val="2A6A3A"/>
                </a:solidFill>
                <a:latin typeface="Calibri"/>
                <a:ea typeface="Calibri"/>
                <a:cs typeface="Calibri"/>
                <a:sym typeface="Calibri"/>
              </a:rPr>
              <a:t>Raw Materials and Direct Materials Procurement</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6A3A"/>
              </a:buClr>
              <a:buSzPts val="900"/>
              <a:buFont typeface="Calibri"/>
              <a:buNone/>
            </a:pPr>
            <a:r>
              <a:rPr b="0" i="0" lang="en-US" sz="900" u="none" cap="none" strike="noStrike">
                <a:solidFill>
                  <a:srgbClr val="2A6A3A"/>
                </a:solidFill>
                <a:latin typeface="Calibri"/>
                <a:ea typeface="Calibri"/>
                <a:cs typeface="Calibri"/>
                <a:sym typeface="Calibri"/>
              </a:rPr>
              <a:t>Supplier Qualification Management</a:t>
            </a:r>
            <a:endParaRPr b="0" i="0" sz="900" u="none" cap="none" strike="noStrike">
              <a:solidFill>
                <a:schemeClr val="dk1"/>
              </a:solidFill>
              <a:latin typeface="Calibri"/>
              <a:ea typeface="Calibri"/>
              <a:cs typeface="Calibri"/>
              <a:sym typeface="Calibri"/>
            </a:endParaRPr>
          </a:p>
        </p:txBody>
      </p:sp>
      <p:sp>
        <p:nvSpPr>
          <p:cNvPr id="419" name="Google Shape;419;p13"/>
          <p:cNvSpPr/>
          <p:nvPr/>
        </p:nvSpPr>
        <p:spPr>
          <a:xfrm>
            <a:off x="3657600" y="1536192"/>
            <a:ext cx="12801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General Transactions</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Master Agreements</a:t>
            </a:r>
            <a:endParaRPr b="0" i="0" sz="850" u="none" cap="none" strike="noStrike">
              <a:solidFill>
                <a:schemeClr val="dk1"/>
              </a:solidFill>
              <a:latin typeface="Calibri"/>
              <a:ea typeface="Calibri"/>
              <a:cs typeface="Calibri"/>
              <a:sym typeface="Calibri"/>
            </a:endParaRPr>
          </a:p>
        </p:txBody>
      </p:sp>
      <p:sp>
        <p:nvSpPr>
          <p:cNvPr id="420" name="Google Shape;420;p13"/>
          <p:cNvSpPr/>
          <p:nvPr/>
        </p:nvSpPr>
        <p:spPr>
          <a:xfrm>
            <a:off x="2450592" y="2944368"/>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Contracts</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Review Requests</a:t>
            </a:r>
            <a:endParaRPr b="0" i="0" sz="850" u="none" cap="none" strike="noStrike">
              <a:solidFill>
                <a:schemeClr val="dk1"/>
              </a:solidFill>
              <a:latin typeface="Calibri"/>
              <a:ea typeface="Calibri"/>
              <a:cs typeface="Calibri"/>
              <a:sym typeface="Calibri"/>
            </a:endParaRPr>
          </a:p>
        </p:txBody>
      </p:sp>
      <p:sp>
        <p:nvSpPr>
          <p:cNvPr id="421" name="Google Shape;421;p13"/>
          <p:cNvSpPr/>
          <p:nvPr/>
        </p:nvSpPr>
        <p:spPr>
          <a:xfrm>
            <a:off x="5010912" y="2944368"/>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Price Negotiation</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475569"/>
              </a:buClr>
              <a:buSzPts val="850"/>
              <a:buFont typeface="Calibri"/>
              <a:buNone/>
            </a:pPr>
            <a:r>
              <a:rPr b="0" i="1" lang="en-US" sz="850" u="none" cap="none" strike="noStrike">
                <a:solidFill>
                  <a:srgbClr val="475569"/>
                </a:solidFill>
                <a:latin typeface="Calibri"/>
                <a:ea typeface="Calibri"/>
                <a:cs typeface="Calibri"/>
                <a:sym typeface="Calibri"/>
              </a:rPr>
              <a:t>PO Management</a:t>
            </a:r>
            <a:endParaRPr b="0" i="0" sz="850" u="none" cap="none" strike="noStrike">
              <a:solidFill>
                <a:schemeClr val="dk1"/>
              </a:solidFill>
              <a:latin typeface="Calibri"/>
              <a:ea typeface="Calibri"/>
              <a:cs typeface="Calibri"/>
              <a:sym typeface="Calibri"/>
            </a:endParaRPr>
          </a:p>
        </p:txBody>
      </p:sp>
      <p:sp>
        <p:nvSpPr>
          <p:cNvPr id="422" name="Google Shape;422;p13"/>
          <p:cNvSpPr/>
          <p:nvPr/>
        </p:nvSpPr>
        <p:spPr>
          <a:xfrm>
            <a:off x="3657600" y="2578608"/>
            <a:ext cx="12801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850"/>
              <a:buFont typeface="Calibri"/>
              <a:buNone/>
            </a:pPr>
            <a:r>
              <a:rPr b="0" i="1" lang="en-US" sz="850" u="none" cap="none" strike="noStrike">
                <a:solidFill>
                  <a:srgbClr val="334155"/>
                </a:solidFill>
                <a:latin typeface="Calibri"/>
                <a:ea typeface="Calibri"/>
                <a:cs typeface="Calibri"/>
                <a:sym typeface="Calibri"/>
              </a:rPr>
              <a:t>Master Agreements</a:t>
            </a:r>
            <a:endParaRPr b="0" i="0" sz="8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334155"/>
              </a:buClr>
              <a:buSzPts val="850"/>
              <a:buFont typeface="Calibri"/>
              <a:buNone/>
            </a:pPr>
            <a:r>
              <a:rPr b="0" i="1" lang="en-US" sz="850" u="none" cap="none" strike="noStrike">
                <a:solidFill>
                  <a:srgbClr val="334155"/>
                </a:solidFill>
                <a:latin typeface="Calibri"/>
                <a:ea typeface="Calibri"/>
                <a:cs typeface="Calibri"/>
                <a:sym typeface="Calibri"/>
              </a:rPr>
              <a:t>Terms Development</a:t>
            </a:r>
            <a:endParaRPr b="0" i="0" sz="850" u="none" cap="none" strike="noStrike">
              <a:solidFill>
                <a:schemeClr val="dk1"/>
              </a:solidFill>
              <a:latin typeface="Calibri"/>
              <a:ea typeface="Calibri"/>
              <a:cs typeface="Calibri"/>
              <a:sym typeface="Calibri"/>
            </a:endParaRPr>
          </a:p>
        </p:txBody>
      </p:sp>
      <p:sp>
        <p:nvSpPr>
          <p:cNvPr id="423" name="Google Shape;423;p13"/>
          <p:cNvSpPr/>
          <p:nvPr/>
        </p:nvSpPr>
        <p:spPr>
          <a:xfrm>
            <a:off x="3108960" y="3968496"/>
            <a:ext cx="23775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B47"/>
              </a:buClr>
              <a:buSzPts val="950"/>
              <a:buFont typeface="Calibri"/>
              <a:buNone/>
            </a:pPr>
            <a:r>
              <a:rPr b="1" i="0" lang="en-US" sz="950" u="none" cap="none" strike="noStrike">
                <a:solidFill>
                  <a:srgbClr val="1A2B47"/>
                </a:solidFill>
                <a:latin typeface="Calibri"/>
                <a:ea typeface="Calibri"/>
                <a:cs typeface="Calibri"/>
                <a:sym typeface="Calibri"/>
              </a:rPr>
              <a:t>Cloud / SaaS  License Audit</a:t>
            </a:r>
            <a:endParaRPr b="0" i="0" sz="9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2B47"/>
              </a:buClr>
              <a:buSzPts val="950"/>
              <a:buFont typeface="Calibri"/>
              <a:buNone/>
            </a:pPr>
            <a:r>
              <a:rPr b="1" i="0" lang="en-US" sz="950" u="none" cap="none" strike="noStrike">
                <a:solidFill>
                  <a:srgbClr val="1A2B47"/>
                </a:solidFill>
                <a:latin typeface="Calibri"/>
                <a:ea typeface="Calibri"/>
                <a:cs typeface="Calibri"/>
                <a:sym typeface="Calibri"/>
              </a:rPr>
              <a:t>SLA  Cross-Border Data  EOL Response</a:t>
            </a:r>
            <a:endParaRPr b="0" i="0" sz="950" u="none" cap="none" strike="noStrike">
              <a:solidFill>
                <a:schemeClr val="dk1"/>
              </a:solidFill>
              <a:latin typeface="Calibri"/>
              <a:ea typeface="Calibri"/>
              <a:cs typeface="Calibri"/>
              <a:sym typeface="Calibri"/>
            </a:endParaRPr>
          </a:p>
        </p:txBody>
      </p:sp>
      <p:cxnSp>
        <p:nvCxnSpPr>
          <p:cNvPr id="424" name="Google Shape;424;p13"/>
          <p:cNvCxnSpPr/>
          <p:nvPr/>
        </p:nvCxnSpPr>
        <p:spPr>
          <a:xfrm flipH="1" rot="10800000">
            <a:off x="6053328" y="3447408"/>
            <a:ext cx="960000" cy="502800"/>
          </a:xfrm>
          <a:prstGeom prst="straightConnector1">
            <a:avLst/>
          </a:prstGeom>
          <a:noFill/>
          <a:ln cap="flat" cmpd="sng" w="19050">
            <a:solidFill>
              <a:srgbClr val="0A7B8E"/>
            </a:solidFill>
            <a:prstDash val="dash"/>
            <a:round/>
            <a:headEnd len="sm" w="sm" type="none"/>
            <a:tailEnd len="sm" w="sm" type="none"/>
          </a:ln>
        </p:spPr>
      </p:cxnSp>
      <p:sp>
        <p:nvSpPr>
          <p:cNvPr id="425" name="Google Shape;425;p13"/>
          <p:cNvSpPr/>
          <p:nvPr/>
        </p:nvSpPr>
        <p:spPr>
          <a:xfrm>
            <a:off x="7040880" y="3108960"/>
            <a:ext cx="1645800" cy="1353300"/>
          </a:xfrm>
          <a:prstGeom prst="rect">
            <a:avLst/>
          </a:prstGeom>
          <a:solidFill>
            <a:srgbClr val="1A2B47"/>
          </a:solidFill>
          <a:ln cap="flat" cmpd="sng" w="12700">
            <a:solidFill>
              <a:srgbClr val="1A2B47"/>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3"/>
          <p:cNvSpPr/>
          <p:nvPr/>
        </p:nvSpPr>
        <p:spPr>
          <a:xfrm>
            <a:off x="7040880" y="3108960"/>
            <a:ext cx="54900" cy="13533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3"/>
          <p:cNvSpPr/>
          <p:nvPr/>
        </p:nvSpPr>
        <p:spPr>
          <a:xfrm>
            <a:off x="7114032" y="3108960"/>
            <a:ext cx="1499700" cy="135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IT Department's Unique Domain</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Requiring Independent Judgment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(Details on next slide)</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 Detailed in the next slide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14"/>
          <p:cNvSpPr/>
          <p:nvPr/>
        </p:nvSpPr>
        <p:spPr>
          <a:xfrm>
            <a:off x="457200" y="256032"/>
            <a:ext cx="63900" cy="502800"/>
          </a:xfrm>
          <a:prstGeom prst="rect">
            <a:avLst/>
          </a:prstGeom>
          <a:solidFill>
            <a:srgbClr val="0A7B8E"/>
          </a:solidFill>
          <a:ln cap="flat" cmpd="sng" w="12700">
            <a:solidFill>
              <a:srgbClr val="0A7B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4"/>
          <p:cNvSpPr/>
          <p:nvPr/>
        </p:nvSpPr>
        <p:spPr>
          <a:xfrm>
            <a:off x="621792" y="201168"/>
            <a:ext cx="80466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B47"/>
              </a:buClr>
              <a:buSzPts val="2800"/>
              <a:buFont typeface="Calibri"/>
              <a:buNone/>
            </a:pPr>
            <a:r>
              <a:rPr b="1" i="0" lang="en-US" sz="2800" u="none" cap="none" strike="noStrike">
                <a:solidFill>
                  <a:srgbClr val="1A2B47"/>
                </a:solidFill>
                <a:latin typeface="Calibri"/>
                <a:ea typeface="Calibri"/>
                <a:cs typeface="Calibri"/>
                <a:sym typeface="Calibri"/>
              </a:rPr>
              <a:t>Contract Types Handled by the IT Department</a:t>
            </a:r>
            <a:endParaRPr b="0" i="0" sz="2800" u="none" cap="none" strike="noStrike">
              <a:solidFill>
                <a:schemeClr val="dk1"/>
              </a:solidFill>
              <a:latin typeface="Calibri"/>
              <a:ea typeface="Calibri"/>
              <a:cs typeface="Calibri"/>
              <a:sym typeface="Calibri"/>
            </a:endParaRPr>
          </a:p>
        </p:txBody>
      </p:sp>
      <p:sp>
        <p:nvSpPr>
          <p:cNvPr id="435" name="Google Shape;435;p14"/>
          <p:cNvSpPr/>
          <p:nvPr/>
        </p:nvSpPr>
        <p:spPr>
          <a:xfrm>
            <a:off x="457200" y="1005840"/>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p:nvPr/>
        </p:nvSpPr>
        <p:spPr>
          <a:xfrm>
            <a:off x="457200" y="1005840"/>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4"/>
          <p:cNvSpPr/>
          <p:nvPr/>
        </p:nvSpPr>
        <p:spPr>
          <a:xfrm>
            <a:off x="457200" y="1005840"/>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a:t>
            </a:r>
            <a:endParaRPr b="0" i="0" sz="2200" u="none" cap="none" strike="noStrike">
              <a:solidFill>
                <a:schemeClr val="dk1"/>
              </a:solidFill>
              <a:latin typeface="Calibri"/>
              <a:ea typeface="Calibri"/>
              <a:cs typeface="Calibri"/>
              <a:sym typeface="Calibri"/>
            </a:endParaRPr>
          </a:p>
        </p:txBody>
      </p:sp>
      <p:sp>
        <p:nvSpPr>
          <p:cNvPr id="438" name="Google Shape;438;p14"/>
          <p:cNvSpPr/>
          <p:nvPr/>
        </p:nvSpPr>
        <p:spPr>
          <a:xfrm>
            <a:off x="1024128" y="1005840"/>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4"/>
          <p:cNvSpPr/>
          <p:nvPr/>
        </p:nvSpPr>
        <p:spPr>
          <a:xfrm>
            <a:off x="1115568" y="1051560"/>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Cloud / SaaS Contracts</a:t>
            </a:r>
            <a:endParaRPr b="0" i="0" sz="1250" u="none" cap="none" strike="noStrike">
              <a:solidFill>
                <a:schemeClr val="dk1"/>
              </a:solidFill>
              <a:latin typeface="Calibri"/>
              <a:ea typeface="Calibri"/>
              <a:cs typeface="Calibri"/>
              <a:sym typeface="Calibri"/>
            </a:endParaRPr>
          </a:p>
        </p:txBody>
      </p:sp>
      <p:sp>
        <p:nvSpPr>
          <p:cNvPr id="440" name="Google Shape;440;p14"/>
          <p:cNvSpPr/>
          <p:nvPr/>
        </p:nvSpPr>
        <p:spPr>
          <a:xfrm>
            <a:off x="1115568" y="1481328"/>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41" name="Google Shape;441;p14"/>
          <p:cNvSpPr/>
          <p:nvPr/>
        </p:nvSpPr>
        <p:spPr>
          <a:xfrm>
            <a:off x="1755648" y="1481328"/>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Capacity / Billing Model / Data Ownership / Service Termination Terms</a:t>
            </a:r>
            <a:endParaRPr b="0" i="0" sz="950" u="none" cap="none" strike="noStrike">
              <a:solidFill>
                <a:schemeClr val="dk1"/>
              </a:solidFill>
              <a:latin typeface="Calibri"/>
              <a:ea typeface="Calibri"/>
              <a:cs typeface="Calibri"/>
              <a:sym typeface="Calibri"/>
            </a:endParaRPr>
          </a:p>
        </p:txBody>
      </p:sp>
      <p:sp>
        <p:nvSpPr>
          <p:cNvPr id="442" name="Google Shape;442;p14"/>
          <p:cNvSpPr/>
          <p:nvPr/>
        </p:nvSpPr>
        <p:spPr>
          <a:xfrm>
            <a:off x="4800600" y="1005840"/>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4"/>
          <p:cNvSpPr/>
          <p:nvPr/>
        </p:nvSpPr>
        <p:spPr>
          <a:xfrm>
            <a:off x="4800600" y="1005840"/>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4"/>
          <p:cNvSpPr/>
          <p:nvPr/>
        </p:nvSpPr>
        <p:spPr>
          <a:xfrm>
            <a:off x="4800600" y="1005840"/>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B</a:t>
            </a:r>
            <a:endParaRPr b="0" i="0" sz="2200" u="none" cap="none" strike="noStrike">
              <a:solidFill>
                <a:schemeClr val="dk1"/>
              </a:solidFill>
              <a:latin typeface="Calibri"/>
              <a:ea typeface="Calibri"/>
              <a:cs typeface="Calibri"/>
              <a:sym typeface="Calibri"/>
            </a:endParaRPr>
          </a:p>
        </p:txBody>
      </p:sp>
      <p:sp>
        <p:nvSpPr>
          <p:cNvPr id="445" name="Google Shape;445;p14"/>
          <p:cNvSpPr/>
          <p:nvPr/>
        </p:nvSpPr>
        <p:spPr>
          <a:xfrm>
            <a:off x="5367528" y="1005840"/>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4"/>
          <p:cNvSpPr/>
          <p:nvPr/>
        </p:nvSpPr>
        <p:spPr>
          <a:xfrm>
            <a:off x="5458968" y="1051560"/>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Software License Agreements</a:t>
            </a:r>
            <a:endParaRPr b="0" i="0" sz="1250" u="none" cap="none" strike="noStrike">
              <a:solidFill>
                <a:schemeClr val="dk1"/>
              </a:solidFill>
              <a:latin typeface="Calibri"/>
              <a:ea typeface="Calibri"/>
              <a:cs typeface="Calibri"/>
              <a:sym typeface="Calibri"/>
            </a:endParaRPr>
          </a:p>
        </p:txBody>
      </p:sp>
      <p:sp>
        <p:nvSpPr>
          <p:cNvPr id="447" name="Google Shape;447;p14"/>
          <p:cNvSpPr/>
          <p:nvPr/>
        </p:nvSpPr>
        <p:spPr>
          <a:xfrm>
            <a:off x="5458968" y="1481328"/>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48" name="Google Shape;448;p14"/>
          <p:cNvSpPr/>
          <p:nvPr/>
        </p:nvSpPr>
        <p:spPr>
          <a:xfrm>
            <a:off x="6099048" y="1481328"/>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Audit Rights / Auto-Renewal / Minimum Commitment</a:t>
            </a:r>
            <a:endParaRPr b="0" i="0" sz="950" u="none" cap="none" strike="noStrike">
              <a:solidFill>
                <a:schemeClr val="dk1"/>
              </a:solidFill>
              <a:latin typeface="Calibri"/>
              <a:ea typeface="Calibri"/>
              <a:cs typeface="Calibri"/>
              <a:sym typeface="Calibri"/>
            </a:endParaRPr>
          </a:p>
        </p:txBody>
      </p:sp>
      <p:sp>
        <p:nvSpPr>
          <p:cNvPr id="449" name="Google Shape;449;p14"/>
          <p:cNvSpPr/>
          <p:nvPr/>
        </p:nvSpPr>
        <p:spPr>
          <a:xfrm>
            <a:off x="457200" y="2029968"/>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4"/>
          <p:cNvSpPr/>
          <p:nvPr/>
        </p:nvSpPr>
        <p:spPr>
          <a:xfrm>
            <a:off x="457200" y="2029968"/>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4"/>
          <p:cNvSpPr/>
          <p:nvPr/>
        </p:nvSpPr>
        <p:spPr>
          <a:xfrm>
            <a:off x="457200" y="2029968"/>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a:t>
            </a:r>
            <a:endParaRPr b="0" i="0" sz="2200" u="none" cap="none" strike="noStrike">
              <a:solidFill>
                <a:schemeClr val="dk1"/>
              </a:solidFill>
              <a:latin typeface="Calibri"/>
              <a:ea typeface="Calibri"/>
              <a:cs typeface="Calibri"/>
              <a:sym typeface="Calibri"/>
            </a:endParaRPr>
          </a:p>
        </p:txBody>
      </p:sp>
      <p:sp>
        <p:nvSpPr>
          <p:cNvPr id="452" name="Google Shape;452;p14"/>
          <p:cNvSpPr/>
          <p:nvPr/>
        </p:nvSpPr>
        <p:spPr>
          <a:xfrm>
            <a:off x="1024128" y="2029968"/>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4"/>
          <p:cNvSpPr/>
          <p:nvPr/>
        </p:nvSpPr>
        <p:spPr>
          <a:xfrm>
            <a:off x="1115568" y="2075688"/>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System Development and Implementation Contracts</a:t>
            </a:r>
            <a:endParaRPr b="0" i="0" sz="1250" u="none" cap="none" strike="noStrike">
              <a:solidFill>
                <a:schemeClr val="dk1"/>
              </a:solidFill>
              <a:latin typeface="Calibri"/>
              <a:ea typeface="Calibri"/>
              <a:cs typeface="Calibri"/>
              <a:sym typeface="Calibri"/>
            </a:endParaRPr>
          </a:p>
        </p:txBody>
      </p:sp>
      <p:sp>
        <p:nvSpPr>
          <p:cNvPr id="454" name="Google Shape;454;p14"/>
          <p:cNvSpPr/>
          <p:nvPr/>
        </p:nvSpPr>
        <p:spPr>
          <a:xfrm>
            <a:off x="1115568" y="2505456"/>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55" name="Google Shape;455;p14"/>
          <p:cNvSpPr/>
          <p:nvPr/>
        </p:nvSpPr>
        <p:spPr>
          <a:xfrm>
            <a:off x="1755648" y="2505456"/>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Deliverable Definition / IP Ownership / Warranty Liability</a:t>
            </a:r>
            <a:endParaRPr b="0" i="0" sz="950" u="none" cap="none" strike="noStrike">
              <a:solidFill>
                <a:schemeClr val="dk1"/>
              </a:solidFill>
              <a:latin typeface="Calibri"/>
              <a:ea typeface="Calibri"/>
              <a:cs typeface="Calibri"/>
              <a:sym typeface="Calibri"/>
            </a:endParaRPr>
          </a:p>
        </p:txBody>
      </p:sp>
      <p:sp>
        <p:nvSpPr>
          <p:cNvPr id="456" name="Google Shape;456;p14"/>
          <p:cNvSpPr/>
          <p:nvPr/>
        </p:nvSpPr>
        <p:spPr>
          <a:xfrm>
            <a:off x="4800600" y="2029968"/>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4"/>
          <p:cNvSpPr/>
          <p:nvPr/>
        </p:nvSpPr>
        <p:spPr>
          <a:xfrm>
            <a:off x="4800600" y="2029968"/>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4"/>
          <p:cNvSpPr/>
          <p:nvPr/>
        </p:nvSpPr>
        <p:spPr>
          <a:xfrm>
            <a:off x="4800600" y="2029968"/>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a:t>
            </a:r>
            <a:endParaRPr b="0" i="0" sz="2200" u="none" cap="none" strike="noStrike">
              <a:solidFill>
                <a:schemeClr val="dk1"/>
              </a:solidFill>
              <a:latin typeface="Calibri"/>
              <a:ea typeface="Calibri"/>
              <a:cs typeface="Calibri"/>
              <a:sym typeface="Calibri"/>
            </a:endParaRPr>
          </a:p>
        </p:txBody>
      </p:sp>
      <p:sp>
        <p:nvSpPr>
          <p:cNvPr id="459" name="Google Shape;459;p14"/>
          <p:cNvSpPr/>
          <p:nvPr/>
        </p:nvSpPr>
        <p:spPr>
          <a:xfrm>
            <a:off x="5367528" y="2029968"/>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4"/>
          <p:cNvSpPr/>
          <p:nvPr/>
        </p:nvSpPr>
        <p:spPr>
          <a:xfrm>
            <a:off x="5458968" y="2075688"/>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Maintenance / Operations / Managed Services</a:t>
            </a:r>
            <a:endParaRPr b="0" i="0" sz="1250" u="none" cap="none" strike="noStrike">
              <a:solidFill>
                <a:schemeClr val="dk1"/>
              </a:solidFill>
              <a:latin typeface="Calibri"/>
              <a:ea typeface="Calibri"/>
              <a:cs typeface="Calibri"/>
              <a:sym typeface="Calibri"/>
            </a:endParaRPr>
          </a:p>
        </p:txBody>
      </p:sp>
      <p:sp>
        <p:nvSpPr>
          <p:cNvPr id="461" name="Google Shape;461;p14"/>
          <p:cNvSpPr/>
          <p:nvPr/>
        </p:nvSpPr>
        <p:spPr>
          <a:xfrm>
            <a:off x="5458968" y="2505456"/>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62" name="Google Shape;462;p14"/>
          <p:cNvSpPr/>
          <p:nvPr/>
        </p:nvSpPr>
        <p:spPr>
          <a:xfrm>
            <a:off x="6099048" y="2505456"/>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SLA / Subcontracting Restrictions / EOL and EOS Response</a:t>
            </a:r>
            <a:endParaRPr b="0" i="0" sz="950" u="none" cap="none" strike="noStrike">
              <a:solidFill>
                <a:schemeClr val="dk1"/>
              </a:solidFill>
              <a:latin typeface="Calibri"/>
              <a:ea typeface="Calibri"/>
              <a:cs typeface="Calibri"/>
              <a:sym typeface="Calibri"/>
            </a:endParaRPr>
          </a:p>
        </p:txBody>
      </p:sp>
      <p:sp>
        <p:nvSpPr>
          <p:cNvPr id="463" name="Google Shape;463;p14"/>
          <p:cNvSpPr/>
          <p:nvPr/>
        </p:nvSpPr>
        <p:spPr>
          <a:xfrm>
            <a:off x="457200" y="3054096"/>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4"/>
          <p:cNvSpPr/>
          <p:nvPr/>
        </p:nvSpPr>
        <p:spPr>
          <a:xfrm>
            <a:off x="457200" y="3054096"/>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4"/>
          <p:cNvSpPr/>
          <p:nvPr/>
        </p:nvSpPr>
        <p:spPr>
          <a:xfrm>
            <a:off x="457200" y="3054096"/>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E</a:t>
            </a:r>
            <a:endParaRPr b="0" i="0" sz="2200" u="none" cap="none" strike="noStrike">
              <a:solidFill>
                <a:schemeClr val="dk1"/>
              </a:solidFill>
              <a:latin typeface="Calibri"/>
              <a:ea typeface="Calibri"/>
              <a:cs typeface="Calibri"/>
              <a:sym typeface="Calibri"/>
            </a:endParaRPr>
          </a:p>
        </p:txBody>
      </p:sp>
      <p:sp>
        <p:nvSpPr>
          <p:cNvPr id="466" name="Google Shape;466;p14"/>
          <p:cNvSpPr/>
          <p:nvPr/>
        </p:nvSpPr>
        <p:spPr>
          <a:xfrm>
            <a:off x="1024128" y="3054096"/>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4"/>
          <p:cNvSpPr/>
          <p:nvPr/>
        </p:nvSpPr>
        <p:spPr>
          <a:xfrm>
            <a:off x="1115568" y="3099816"/>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Security and Data-Related Contracts</a:t>
            </a:r>
            <a:endParaRPr b="0" i="0" sz="1250" u="none" cap="none" strike="noStrike">
              <a:solidFill>
                <a:schemeClr val="dk1"/>
              </a:solidFill>
              <a:latin typeface="Calibri"/>
              <a:ea typeface="Calibri"/>
              <a:cs typeface="Calibri"/>
              <a:sym typeface="Calibri"/>
            </a:endParaRPr>
          </a:p>
        </p:txBody>
      </p:sp>
      <p:sp>
        <p:nvSpPr>
          <p:cNvPr id="468" name="Google Shape;468;p14"/>
          <p:cNvSpPr/>
          <p:nvPr/>
        </p:nvSpPr>
        <p:spPr>
          <a:xfrm>
            <a:off x="1115568" y="3529584"/>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69" name="Google Shape;469;p14"/>
          <p:cNvSpPr/>
          <p:nvPr/>
        </p:nvSpPr>
        <p:spPr>
          <a:xfrm>
            <a:off x="1755648" y="3529584"/>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GDPR Compliance / Cross-Border Transfer / Incident Liability</a:t>
            </a:r>
            <a:endParaRPr b="0" i="0" sz="950" u="none" cap="none" strike="noStrike">
              <a:solidFill>
                <a:schemeClr val="dk1"/>
              </a:solidFill>
              <a:latin typeface="Calibri"/>
              <a:ea typeface="Calibri"/>
              <a:cs typeface="Calibri"/>
              <a:sym typeface="Calibri"/>
            </a:endParaRPr>
          </a:p>
        </p:txBody>
      </p:sp>
      <p:sp>
        <p:nvSpPr>
          <p:cNvPr id="470" name="Google Shape;470;p14"/>
          <p:cNvSpPr/>
          <p:nvPr/>
        </p:nvSpPr>
        <p:spPr>
          <a:xfrm>
            <a:off x="4800600" y="3054096"/>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4"/>
          <p:cNvSpPr/>
          <p:nvPr/>
        </p:nvSpPr>
        <p:spPr>
          <a:xfrm>
            <a:off x="4800600" y="3054096"/>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4"/>
          <p:cNvSpPr/>
          <p:nvPr/>
        </p:nvSpPr>
        <p:spPr>
          <a:xfrm>
            <a:off x="4800600" y="3054096"/>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F</a:t>
            </a:r>
            <a:endParaRPr b="0" i="0" sz="2200" u="none" cap="none" strike="noStrike">
              <a:solidFill>
                <a:schemeClr val="dk1"/>
              </a:solidFill>
              <a:latin typeface="Calibri"/>
              <a:ea typeface="Calibri"/>
              <a:cs typeface="Calibri"/>
              <a:sym typeface="Calibri"/>
            </a:endParaRPr>
          </a:p>
        </p:txBody>
      </p:sp>
      <p:sp>
        <p:nvSpPr>
          <p:cNvPr id="473" name="Google Shape;473;p14"/>
          <p:cNvSpPr/>
          <p:nvPr/>
        </p:nvSpPr>
        <p:spPr>
          <a:xfrm>
            <a:off x="5367528" y="3054096"/>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4"/>
          <p:cNvSpPr/>
          <p:nvPr/>
        </p:nvSpPr>
        <p:spPr>
          <a:xfrm>
            <a:off x="5458968" y="3099816"/>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Telecom and Network Contracts</a:t>
            </a:r>
            <a:endParaRPr b="0" i="0" sz="1250" u="none" cap="none" strike="noStrike">
              <a:solidFill>
                <a:schemeClr val="dk1"/>
              </a:solidFill>
              <a:latin typeface="Calibri"/>
              <a:ea typeface="Calibri"/>
              <a:cs typeface="Calibri"/>
              <a:sym typeface="Calibri"/>
            </a:endParaRPr>
          </a:p>
        </p:txBody>
      </p:sp>
      <p:sp>
        <p:nvSpPr>
          <p:cNvPr id="475" name="Google Shape;475;p14"/>
          <p:cNvSpPr/>
          <p:nvPr/>
        </p:nvSpPr>
        <p:spPr>
          <a:xfrm>
            <a:off x="5458968" y="3529584"/>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76" name="Google Shape;476;p14"/>
          <p:cNvSpPr/>
          <p:nvPr/>
        </p:nvSpPr>
        <p:spPr>
          <a:xfrm>
            <a:off x="6099048" y="3529584"/>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SLA / Minimum Usage Period / Early Termination Penalties</a:t>
            </a:r>
            <a:endParaRPr b="0" i="0" sz="950" u="none" cap="none" strike="noStrike">
              <a:solidFill>
                <a:schemeClr val="dk1"/>
              </a:solidFill>
              <a:latin typeface="Calibri"/>
              <a:ea typeface="Calibri"/>
              <a:cs typeface="Calibri"/>
              <a:sym typeface="Calibri"/>
            </a:endParaRPr>
          </a:p>
        </p:txBody>
      </p:sp>
      <p:sp>
        <p:nvSpPr>
          <p:cNvPr id="477" name="Google Shape;477;p14"/>
          <p:cNvSpPr/>
          <p:nvPr/>
        </p:nvSpPr>
        <p:spPr>
          <a:xfrm>
            <a:off x="457200" y="4078224"/>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4"/>
          <p:cNvSpPr/>
          <p:nvPr/>
        </p:nvSpPr>
        <p:spPr>
          <a:xfrm>
            <a:off x="457200" y="4078224"/>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4"/>
          <p:cNvSpPr/>
          <p:nvPr/>
        </p:nvSpPr>
        <p:spPr>
          <a:xfrm>
            <a:off x="457200" y="4078224"/>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a:t>
            </a:r>
            <a:endParaRPr b="0" i="0" sz="2200" u="none" cap="none" strike="noStrike">
              <a:solidFill>
                <a:schemeClr val="dk1"/>
              </a:solidFill>
              <a:latin typeface="Calibri"/>
              <a:ea typeface="Calibri"/>
              <a:cs typeface="Calibri"/>
              <a:sym typeface="Calibri"/>
            </a:endParaRPr>
          </a:p>
        </p:txBody>
      </p:sp>
      <p:sp>
        <p:nvSpPr>
          <p:cNvPr id="480" name="Google Shape;480;p14"/>
          <p:cNvSpPr/>
          <p:nvPr/>
        </p:nvSpPr>
        <p:spPr>
          <a:xfrm>
            <a:off x="1024128" y="4078224"/>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4"/>
          <p:cNvSpPr/>
          <p:nvPr/>
        </p:nvSpPr>
        <p:spPr>
          <a:xfrm>
            <a:off x="1115568" y="4123944"/>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IT Personnel (Staffing / SES) Contracts</a:t>
            </a:r>
            <a:endParaRPr b="0" i="0" sz="1250" u="none" cap="none" strike="noStrike">
              <a:solidFill>
                <a:schemeClr val="dk1"/>
              </a:solidFill>
              <a:latin typeface="Calibri"/>
              <a:ea typeface="Calibri"/>
              <a:cs typeface="Calibri"/>
              <a:sym typeface="Calibri"/>
            </a:endParaRPr>
          </a:p>
        </p:txBody>
      </p:sp>
      <p:sp>
        <p:nvSpPr>
          <p:cNvPr id="482" name="Google Shape;482;p14"/>
          <p:cNvSpPr/>
          <p:nvPr/>
        </p:nvSpPr>
        <p:spPr>
          <a:xfrm>
            <a:off x="1115568" y="4553712"/>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83" name="Google Shape;483;p14"/>
          <p:cNvSpPr/>
          <p:nvPr/>
        </p:nvSpPr>
        <p:spPr>
          <a:xfrm>
            <a:off x="1755648" y="4553712"/>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Disguised Contracting Risk / Clarification of Chain of Command</a:t>
            </a:r>
            <a:endParaRPr b="0" i="0" sz="950" u="none" cap="none" strike="noStrike">
              <a:solidFill>
                <a:schemeClr val="dk1"/>
              </a:solidFill>
              <a:latin typeface="Calibri"/>
              <a:ea typeface="Calibri"/>
              <a:cs typeface="Calibri"/>
              <a:sym typeface="Calibri"/>
            </a:endParaRPr>
          </a:p>
        </p:txBody>
      </p:sp>
      <p:sp>
        <p:nvSpPr>
          <p:cNvPr id="484" name="Google Shape;484;p14"/>
          <p:cNvSpPr/>
          <p:nvPr/>
        </p:nvSpPr>
        <p:spPr>
          <a:xfrm>
            <a:off x="4800600" y="4078224"/>
            <a:ext cx="4096500" cy="932700"/>
          </a:xfrm>
          <a:prstGeom prst="rect">
            <a:avLst/>
          </a:prstGeom>
          <a:solidFill>
            <a:srgbClr val="FFFFFF"/>
          </a:solidFill>
          <a:ln cap="flat" cmpd="sng" w="12700">
            <a:solidFill>
              <a:srgbClr val="CBD5E1"/>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4"/>
          <p:cNvSpPr/>
          <p:nvPr/>
        </p:nvSpPr>
        <p:spPr>
          <a:xfrm>
            <a:off x="4800600" y="4078224"/>
            <a:ext cx="567000" cy="932700"/>
          </a:xfrm>
          <a:prstGeom prst="rect">
            <a:avLst/>
          </a:prstGeom>
          <a:solidFill>
            <a:srgbClr val="1A2B47"/>
          </a:solidFill>
          <a:ln cap="flat" cmpd="sng" w="12700">
            <a:solidFill>
              <a:srgbClr val="1A2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4"/>
          <p:cNvSpPr/>
          <p:nvPr/>
        </p:nvSpPr>
        <p:spPr>
          <a:xfrm>
            <a:off x="4800600" y="4078224"/>
            <a:ext cx="567000" cy="93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H</a:t>
            </a:r>
            <a:endParaRPr b="0" i="0" sz="2200" u="none" cap="none" strike="noStrike">
              <a:solidFill>
                <a:schemeClr val="dk1"/>
              </a:solidFill>
              <a:latin typeface="Calibri"/>
              <a:ea typeface="Calibri"/>
              <a:cs typeface="Calibri"/>
              <a:sym typeface="Calibri"/>
            </a:endParaRPr>
          </a:p>
        </p:txBody>
      </p:sp>
      <p:sp>
        <p:nvSpPr>
          <p:cNvPr id="487" name="Google Shape;487;p14"/>
          <p:cNvSpPr/>
          <p:nvPr/>
        </p:nvSpPr>
        <p:spPr>
          <a:xfrm>
            <a:off x="5367528" y="4078224"/>
            <a:ext cx="3529500" cy="36600"/>
          </a:xfrm>
          <a:prstGeom prst="rect">
            <a:avLst/>
          </a:prstGeom>
          <a:solidFill>
            <a:srgbClr val="14A8B8"/>
          </a:solidFill>
          <a:ln cap="flat" cmpd="sng" w="12700">
            <a:solidFill>
              <a:srgbClr val="14A8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4"/>
          <p:cNvSpPr/>
          <p:nvPr/>
        </p:nvSpPr>
        <p:spPr>
          <a:xfrm>
            <a:off x="5458968" y="4123944"/>
            <a:ext cx="3346800" cy="42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B47"/>
              </a:buClr>
              <a:buSzPts val="1250"/>
              <a:buFont typeface="Calibri"/>
              <a:buNone/>
            </a:pPr>
            <a:r>
              <a:rPr b="1" i="0" lang="en-US" sz="1250" u="none" cap="none" strike="noStrike">
                <a:solidFill>
                  <a:srgbClr val="1A2B47"/>
                </a:solidFill>
                <a:latin typeface="Calibri"/>
                <a:ea typeface="Calibri"/>
                <a:cs typeface="Calibri"/>
                <a:sym typeface="Calibri"/>
              </a:rPr>
              <a:t>Other (PoC / API / Domain)</a:t>
            </a:r>
            <a:endParaRPr b="0" i="0" sz="1250" u="none" cap="none" strike="noStrike">
              <a:solidFill>
                <a:schemeClr val="dk1"/>
              </a:solidFill>
              <a:latin typeface="Calibri"/>
              <a:ea typeface="Calibri"/>
              <a:cs typeface="Calibri"/>
              <a:sym typeface="Calibri"/>
            </a:endParaRPr>
          </a:p>
        </p:txBody>
      </p:sp>
      <p:sp>
        <p:nvSpPr>
          <p:cNvPr id="489" name="Google Shape;489;p14"/>
          <p:cNvSpPr/>
          <p:nvPr/>
        </p:nvSpPr>
        <p:spPr>
          <a:xfrm>
            <a:off x="5458968" y="4553712"/>
            <a:ext cx="658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A7B8E"/>
              </a:buClr>
              <a:buSzPts val="950"/>
              <a:buFont typeface="Calibri"/>
              <a:buNone/>
            </a:pPr>
            <a:r>
              <a:rPr b="1" i="0" lang="en-US" sz="950" u="none" cap="none" strike="noStrike">
                <a:solidFill>
                  <a:srgbClr val="0A7B8E"/>
                </a:solidFill>
                <a:latin typeface="Calibri"/>
                <a:ea typeface="Calibri"/>
                <a:cs typeface="Calibri"/>
                <a:sym typeface="Calibri"/>
              </a:rPr>
              <a:t>Risks: </a:t>
            </a:r>
            <a:endParaRPr b="0" i="0" sz="950" u="none" cap="none" strike="noStrike">
              <a:solidFill>
                <a:schemeClr val="dk1"/>
              </a:solidFill>
              <a:latin typeface="Calibri"/>
              <a:ea typeface="Calibri"/>
              <a:cs typeface="Calibri"/>
              <a:sym typeface="Calibri"/>
            </a:endParaRPr>
          </a:p>
        </p:txBody>
      </p:sp>
      <p:sp>
        <p:nvSpPr>
          <p:cNvPr id="490" name="Google Shape;490;p14"/>
          <p:cNvSpPr/>
          <p:nvPr/>
        </p:nvSpPr>
        <p:spPr>
          <a:xfrm>
            <a:off x="6099048" y="4553712"/>
            <a:ext cx="27066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75569"/>
              </a:buClr>
              <a:buSzPts val="950"/>
              <a:buFont typeface="Calibri"/>
              <a:buNone/>
            </a:pPr>
            <a:r>
              <a:rPr b="0" i="0" lang="en-US" sz="950" u="none" cap="none" strike="noStrike">
                <a:solidFill>
                  <a:srgbClr val="475569"/>
                </a:solidFill>
                <a:latin typeface="Calibri"/>
                <a:ea typeface="Calibri"/>
                <a:cs typeface="Calibri"/>
                <a:sym typeface="Calibri"/>
              </a:rPr>
              <a:t>Transition to Full Contract / Rate Limits / API Deprecation Notices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