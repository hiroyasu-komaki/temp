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4点構成。最初に「いつ準備を始めるか」を置く。ここを外すと、あとの3点をすべて正しくやっても交渉材料が残らない。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受諾の意向を伝えた後の交渉では、主要条件が「決定済み」の扱いになり、こちらの譲歩だけを求められる構図になる。RFP段階での準備着手が最大の交渉材料。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各フェーズの終了条件が「次に進んでよいか」の判定基準。日程で切らないことを強調する。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合意できる範囲は双方の限界線の「あいだ」にある。重ならなければ交渉は不成立。限界線の位置を決めているのは、契約しなかった場合の代替手段の強さ。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期限後の時間は「どちらが妥協案を出すか」ではなく、双方が譲り合う交渉になる。そこに最重要の論点を残さないことが、提示順序を決める目的。</a:t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左の入れ子：有限な時間の内側に順番があり、順番は「論点の順番」と「カードを切る順番」の2層。右はそのうち②の実務的な指針。</a:t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3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040880" y="868680"/>
            <a:ext cx="3017520" cy="3017520"/>
          </a:xfrm>
          <a:prstGeom prst="ellipse">
            <a:avLst/>
          </a:prstGeom>
          <a:solidFill>
            <a:srgbClr val="2E3338"/>
          </a:solidFill>
          <a:ln cap="flat" cmpd="sng" w="1587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818120" y="1645920"/>
            <a:ext cx="1463040" cy="1463040"/>
          </a:xfrm>
          <a:prstGeom prst="ellipse">
            <a:avLst/>
          </a:prstGeom>
          <a:solidFill>
            <a:srgbClr val="B8504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73152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契約交渉　社内共有資料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57200" y="114300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契約交渉の進め方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57200" y="2103126"/>
            <a:ext cx="63093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1450">
              <a:solidFill>
                <a:srgbClr val="F4F4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rgbClr val="F4F4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lang="en-US" sz="1450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いつ</a:t>
            </a:r>
            <a:r>
              <a:rPr b="0" i="0" lang="en-US" sz="14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準備を始める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2.  契約交渉のプロセス</a:t>
            </a:r>
            <a:r>
              <a:rPr lang="en-US" sz="1450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とは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lang="en-US" sz="1450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契約交渉の準備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F4F4F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lang="en-US" sz="1450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契約交渉の順番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1．準備を始めるタイミング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交渉のドアは、RFPを出した時点から狭くなっていく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提案書に書かれた条件は、受諾の意向を伝えた時点で「すでに決まったもの」として扱われる。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72768"/>
            <a:ext cx="8229600" cy="166420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457200" y="3310128"/>
            <a:ext cx="8229600" cy="13716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202436" y="3310128"/>
            <a:ext cx="18288" cy="9144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342900" y="343814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RFPの発出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416052" y="3694176"/>
            <a:ext cx="1591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まだ何も固まっていない。金額・サービスレベル・ペナルティを含め、すべてが交渉の材料になる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884932" y="3310128"/>
            <a:ext cx="18288" cy="9144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025396" y="343814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提案書の受領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2098548" y="3694176"/>
            <a:ext cx="1591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提示条件が文書化される。金額・サービスレベル・逸脱時のペナルティ／クレジットがここで示される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67428" y="3310128"/>
            <a:ext cx="18288" cy="9144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3707892" y="343814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比較検討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3781044" y="3694176"/>
            <a:ext cx="1591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提案内容を前提に評価が進む。前提そのものを覆す交渉はしにくくなる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49924" y="3310128"/>
            <a:ext cx="18288" cy="9144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5390388" y="343814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受諾の意向を伝達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463540" y="3694176"/>
            <a:ext cx="1591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主要条件は合意済みとして扱われる。他社への切替という代替手段も事実上失われる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932420" y="3310128"/>
            <a:ext cx="18288" cy="9144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7072884" y="343814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契約交渉の開始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7146036" y="3694176"/>
            <a:ext cx="15910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残るのは付随条件のみ。主要条件は交渉材料にならず、逆に他の条件を譲る理由に使われる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57200" y="131673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交渉できる条件の範囲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6949440" y="131673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時間の経過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fmla="val 9091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731520" y="452628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金額・サービスレベル・ペナルティを交渉したいなら、契約交渉の準備はRFPの発出と同時に始める。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2．契約交渉のプロセス全体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契約における</a:t>
            </a:r>
            <a:r>
              <a:rPr b="1" i="0" lang="en-US" sz="26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3つのフェーズ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フェーズの区切りは日程ではなく「状態」。到達状態が揃っていなければ次のフェーズに進まない。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444750"/>
            <a:ext cx="2560200" cy="3239100"/>
          </a:xfrm>
          <a:prstGeom prst="roundRect">
            <a:avLst>
              <a:gd fmla="val 2143" name="adj"/>
            </a:avLst>
          </a:prstGeom>
          <a:solidFill>
            <a:srgbClr val="F2F1EF"/>
          </a:solidFill>
          <a:ln cap="flat" cmpd="sng" w="9525">
            <a:solidFill>
              <a:srgbClr val="D9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" y="1444752"/>
            <a:ext cx="2560320" cy="566928"/>
          </a:xfrm>
          <a:prstGeom prst="roundRect">
            <a:avLst>
              <a:gd fmla="val 9677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621792" y="1499616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Pre-Award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621792" y="1755648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契約締結前　1.1 〜 1.5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621792" y="210312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開始条件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621792" y="2286000"/>
            <a:ext cx="2231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契約相手と提供サービスの内容が具体化している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621792" y="274320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この段階で行うこと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621792" y="2926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契約類型の特定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要求事項の</a:t>
            </a:r>
            <a:r>
              <a:rPr lang="en-US" sz="950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確認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交渉論点リストの作成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法務・調達</a:t>
            </a:r>
            <a:r>
              <a:rPr lang="en-US" sz="950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との事前連携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66925" y="3712478"/>
            <a:ext cx="2340900" cy="891900"/>
          </a:xfrm>
          <a:prstGeom prst="roundRect">
            <a:avLst>
              <a:gd fmla="val 6410" name="adj"/>
            </a:avLst>
          </a:prstGeom>
          <a:solidFill>
            <a:srgbClr val="F7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694944" y="3767328"/>
            <a:ext cx="20848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到達すべき状態（終了条件）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694944" y="4073935"/>
            <a:ext cx="2103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交渉論点リストが完成し、法務・調達の指摘が「必須対応事項」と「参考情報」に整理されている（契約書はまだ最終化しない）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3035808" y="2743200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91840" y="1444750"/>
            <a:ext cx="2560200" cy="3239100"/>
          </a:xfrm>
          <a:prstGeom prst="roundRect">
            <a:avLst>
              <a:gd fmla="val 2143" name="adj"/>
            </a:avLst>
          </a:prstGeom>
          <a:solidFill>
            <a:srgbClr val="F2F1EF"/>
          </a:solidFill>
          <a:ln cap="flat" cmpd="sng" w="9525">
            <a:solidFill>
              <a:srgbClr val="D9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91840" y="1444752"/>
            <a:ext cx="2560320" cy="566928"/>
          </a:xfrm>
          <a:prstGeom prst="roundRect">
            <a:avLst>
              <a:gd fmla="val 9677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3456432" y="1499616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3456432" y="1755648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契約締結　2.1 〜 2.4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3456432" y="210312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開始条件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3456432" y="2286000"/>
            <a:ext cx="2231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必須対応事項を反映した交渉論点リストが引き継がれている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3456432" y="274320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この段階で行うこと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3456432" y="2926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交渉戦略の立案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交渉の実施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交渉終結の判定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契約書の最終化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401567" y="3712478"/>
            <a:ext cx="2340900" cy="891900"/>
          </a:xfrm>
          <a:prstGeom prst="roundRect">
            <a:avLst>
              <a:gd fmla="val 6410" name="adj"/>
            </a:avLst>
          </a:prstGeom>
          <a:solidFill>
            <a:srgbClr val="F7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3529584" y="3767328"/>
            <a:ext cx="20848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到達すべき状態（終了条件）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3529575" y="4073925"/>
            <a:ext cx="223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合意または一部合意で締結されている。決裂の場合は、撤退条件に基づく代替案へ移行することに合意されている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870448" y="2743200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26480" y="1444750"/>
            <a:ext cx="2560200" cy="3239100"/>
          </a:xfrm>
          <a:prstGeom prst="roundRect">
            <a:avLst>
              <a:gd fmla="val 2143" name="adj"/>
            </a:avLst>
          </a:prstGeom>
          <a:solidFill>
            <a:srgbClr val="F2F1EF"/>
          </a:solidFill>
          <a:ln cap="flat" cmpd="sng" w="9525">
            <a:solidFill>
              <a:srgbClr val="D9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126480" y="1444752"/>
            <a:ext cx="2560320" cy="566928"/>
          </a:xfrm>
          <a:prstGeom prst="roundRect">
            <a:avLst>
              <a:gd fmla="val 9677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291072" y="1499616"/>
            <a:ext cx="2231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Post-Award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291072" y="1755648"/>
            <a:ext cx="2231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契約履行・クローズ　3.1 〜 3.3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6291072" y="210312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開始条件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291072" y="2286000"/>
            <a:ext cx="22311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契約が締結され、履行が開始されている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291072" y="2743200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この段階で行うこと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291072" y="29260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利用状況のモニタリング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条件変更への対応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契約終了・更新時の確認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236209" y="3712478"/>
            <a:ext cx="2340900" cy="891900"/>
          </a:xfrm>
          <a:prstGeom prst="roundRect">
            <a:avLst>
              <a:gd fmla="val 6410" name="adj"/>
            </a:avLst>
          </a:prstGeom>
          <a:solidFill>
            <a:srgbClr val="F7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6364224" y="3767328"/>
            <a:ext cx="20848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到達すべき状態（終了条件）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6364224" y="4073935"/>
            <a:ext cx="2103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更新または終了が決定している。終了の場合はデータ返還・消去・移行義務が完了している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457200" y="47496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出典：ANSI/NCMA CMS（Contract Management Standard）のライフサイクルフェーズに基づく／本書 chapters/01_business-process.md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3．合意できる範囲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合意できるのは、双方の限界線の間だけ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限界線とは「これを超えるなら契約しない」という線。両者の線が重ならなければ交渉は成立しない。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22960" y="2212848"/>
            <a:ext cx="2286000" cy="56692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108960" y="2212848"/>
            <a:ext cx="2834640" cy="5669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943600" y="2212848"/>
            <a:ext cx="2377440" cy="566928"/>
          </a:xfrm>
          <a:prstGeom prst="rect">
            <a:avLst/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822960" y="221284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ベンダーが受け入れない条件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3108960" y="2212848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合意できる範囲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5943600" y="22128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自社が受け入れない条件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095244" y="1847088"/>
            <a:ext cx="27432" cy="1298448"/>
          </a:xfrm>
          <a:prstGeom prst="rect">
            <a:avLst/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2057400" y="15727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ベンダーの限界線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2057400" y="318211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ベンダーの代替手段が決める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29884" y="1847088"/>
            <a:ext cx="27432" cy="1298448"/>
          </a:xfrm>
          <a:prstGeom prst="rect">
            <a:avLst/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4892040" y="15727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自社の限界線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892040" y="318211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自社の代替手段が決める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822960" y="287121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← 自社に有利な条件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943600" y="287121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ベンダーに有利な条件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3456432"/>
            <a:ext cx="2560320" cy="1005840"/>
          </a:xfrm>
          <a:prstGeom prst="roundRect">
            <a:avLst>
              <a:gd fmla="val 5455" name="adj"/>
            </a:avLst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658368" y="35661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代替手段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58368" y="3803904"/>
            <a:ext cx="21945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契約しなかった場合にどうするか。他ベンダーへの切替、現行契約の延長、内製化など。双方が持っており、これが限界線の位置を決める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291840" y="3456432"/>
            <a:ext cx="2560320" cy="1005840"/>
          </a:xfrm>
          <a:prstGeom prst="roundRect">
            <a:avLst>
              <a:gd fmla="val 5455" name="adj"/>
            </a:avLst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3493008" y="35661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限界線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3493008" y="3803904"/>
            <a:ext cx="21945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これを超えるなら契約しない、という各自の限界。希望額や予算ではなく、代替手段を取ったほうがましになる点として決まる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0" y="3456432"/>
            <a:ext cx="2560320" cy="1005840"/>
          </a:xfrm>
          <a:prstGeom prst="roundRect">
            <a:avLst>
              <a:gd fmla="val 5455" name="adj"/>
            </a:avLst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6327648" y="356616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合意できる範囲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6327648" y="3803904"/>
            <a:ext cx="21945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双方の限界線に挟まれた範囲。交渉とは、この範囲のどこで着地するかを決めること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自社の代替手段を用意しておくと、自社の限界線は有利な側へ動き、着地点を自社寄りに引き寄せられる。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4．時間の制約と、論点の提示順序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順番を誤ると、残り時間が妥協前提に変わる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箱の幅は論点の重要度（＝かけるべき時間）。期限は同じでも、何が期限後に残るかは提示順序で決まる。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57200" y="138988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箱の幅＝論点の重要度（かけるべき時間）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6949440" y="138988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時間の経過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6172200" y="162763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期限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6583680" y="162763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残り時間＝妥協の交渉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92240" y="1810512"/>
            <a:ext cx="1645920" cy="749808"/>
          </a:xfrm>
          <a:prstGeom prst="rect">
            <a:avLst/>
          </a:prstGeom>
          <a:solidFill>
            <a:srgbClr val="F7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457200" y="190195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順番を決めていない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395728" y="1901952"/>
            <a:ext cx="694944" cy="566928"/>
          </a:xfrm>
          <a:prstGeom prst="rect">
            <a:avLst/>
          </a:prstGeom>
          <a:solidFill>
            <a:srgbClr val="5F67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2377440" y="1901952"/>
            <a:ext cx="731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軽微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127248" y="1901952"/>
            <a:ext cx="1060704" cy="566928"/>
          </a:xfrm>
          <a:prstGeom prst="rect">
            <a:avLst/>
          </a:prstGeom>
          <a:solidFill>
            <a:srgbClr val="5F67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3108960" y="1901952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中程度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224528" y="1901952"/>
            <a:ext cx="1700784" cy="566928"/>
          </a:xfrm>
          <a:prstGeom prst="rect">
            <a:avLst/>
          </a:prstGeom>
          <a:solidFill>
            <a:srgbClr val="5F67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4206240" y="19019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重要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61888" y="1901952"/>
            <a:ext cx="2157984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998464" y="1947672"/>
            <a:ext cx="493776" cy="475488"/>
          </a:xfrm>
          <a:prstGeom prst="rect">
            <a:avLst/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5943600" y="190195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最重要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73952" y="1773936"/>
            <a:ext cx="36576" cy="8229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2377440" y="2633472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軽微な論点から順に時間を使い、最重要の論点に入ったところで期限が来る。最も重要な条件が、ほとんど手つかずのまま残り時間に押し出される。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492240" y="3127248"/>
            <a:ext cx="1645920" cy="749808"/>
          </a:xfrm>
          <a:prstGeom prst="rect">
            <a:avLst/>
          </a:prstGeom>
          <a:solidFill>
            <a:srgbClr val="F7EA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457200" y="3218688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順番を決めてある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395728" y="3218688"/>
            <a:ext cx="2157984" cy="566928"/>
          </a:xfrm>
          <a:prstGeom prst="rect">
            <a:avLst/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2377440" y="321868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最重要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90288" y="3218688"/>
            <a:ext cx="1700784" cy="566928"/>
          </a:xfrm>
          <a:prstGeom prst="rect">
            <a:avLst/>
          </a:prstGeom>
          <a:solidFill>
            <a:srgbClr val="5F67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4572000" y="321868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重要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327648" y="3218688"/>
            <a:ext cx="1060704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364224" y="3264408"/>
            <a:ext cx="128016" cy="475488"/>
          </a:xfrm>
          <a:prstGeom prst="rect">
            <a:avLst/>
          </a:prstGeom>
          <a:solidFill>
            <a:srgbClr val="5F67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6309360" y="3218688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中程度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424928" y="3218688"/>
            <a:ext cx="694944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7406640" y="3218688"/>
            <a:ext cx="731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軽微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73952" y="3090672"/>
            <a:ext cx="36576" cy="8229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2377440" y="3950208"/>
            <a:ext cx="5760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最重要・重要の論点は期限前に決着済み。残り時間で妥協し合うのは、中程度以下の論点にとどまる。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4443984"/>
            <a:ext cx="8229600" cy="566928"/>
          </a:xfrm>
          <a:prstGeom prst="roundRect">
            <a:avLst>
              <a:gd fmla="val 8065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731520" y="4443984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問題は締結できるかどうかではない。期限を過ぎた残り時間は、双方が譲り合う「妥協前提の交渉」に変わる。そこに何を残すかを決めるのが提示順序である。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TIPS ― カードを切る順番</a:t>
            </a:r>
            <a:endParaRPr b="1" sz="1150">
              <a:solidFill>
                <a:srgbClr val="B85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時間は資源、順番はその配分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有限な時間の内側に順番があり、順番はさらに2層に分かれる。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1763519"/>
            <a:ext cx="2743200" cy="2743200"/>
          </a:xfrm>
          <a:prstGeom prst="ellipse">
            <a:avLst/>
          </a:prstGeom>
          <a:solidFill>
            <a:srgbClr val="EFEC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845825" y="2648824"/>
            <a:ext cx="1965900" cy="1469100"/>
          </a:xfrm>
          <a:prstGeom prst="ellipse">
            <a:avLst/>
          </a:prstGeom>
          <a:solidFill>
            <a:srgbClr val="E1DA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004897" y="3066529"/>
            <a:ext cx="822900" cy="8229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C9C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982958" y="3066542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① 論点の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順番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873597" y="3066564"/>
            <a:ext cx="822900" cy="8229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1851633" y="3066552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カードを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切る順番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371600" y="1749779"/>
            <a:ext cx="914400" cy="274200"/>
          </a:xfrm>
          <a:prstGeom prst="roundRect">
            <a:avLst>
              <a:gd fmla="val 16667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1371600" y="1758617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時間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71600" y="2522989"/>
            <a:ext cx="914400" cy="255900"/>
          </a:xfrm>
          <a:prstGeom prst="roundRect">
            <a:avLst>
              <a:gd fmla="val 17857" name="adj"/>
            </a:avLst>
          </a:prstGeom>
          <a:solidFill>
            <a:srgbClr val="7C7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1371600" y="2549502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順番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457200" y="196540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時間</a:t>
            </a:r>
            <a:r>
              <a:rPr b="0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　合意に使える時間は有限。外れれば撤退に移る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429000" y="1502414"/>
            <a:ext cx="5257800" cy="987600"/>
          </a:xfrm>
          <a:prstGeom prst="roundRect">
            <a:avLst>
              <a:gd fmla="val 5556" name="adj"/>
            </a:avLst>
          </a:prstGeom>
          <a:solidFill>
            <a:srgbClr val="2E3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3611880" y="1667006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先に出す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3611880" y="1959614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アンカリング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093208" y="1648718"/>
            <a:ext cx="9000" cy="694800"/>
          </a:xfrm>
          <a:prstGeom prst="rect">
            <a:avLst/>
          </a:prstGeom>
          <a:solidFill>
            <a:srgbClr val="5A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239512" y="1630430"/>
            <a:ext cx="3291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数字の論点で、相場情報がこちらにあるとき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5239512" y="1859030"/>
            <a:ext cx="331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相手の基準が固まる前に、水準そのものを固定できる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5239512" y="2087630"/>
            <a:ext cx="331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例　</a:t>
            </a:r>
            <a:r>
              <a:rPr b="0" i="0" lang="en-US" sz="850" u="none" cap="none" strike="noStrike">
                <a:solidFill>
                  <a:srgbClr val="F4F4F2"/>
                </a:solidFill>
                <a:latin typeface="Calibri"/>
                <a:ea typeface="Calibri"/>
                <a:cs typeface="Calibri"/>
                <a:sym typeface="Calibri"/>
              </a:rPr>
              <a:t>他社の実績単価を把握したうえで、現行比15%減・3年契約を最初に提示する。以降の議論はその水準が起点になる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429000" y="2563118"/>
            <a:ext cx="5257800" cy="987600"/>
          </a:xfrm>
          <a:prstGeom prst="roundRect">
            <a:avLst>
              <a:gd fmla="val 5556" name="adj"/>
            </a:avLst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3611880" y="272771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相手に出させる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3611880" y="3020318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情報の取得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093208" y="2709422"/>
            <a:ext cx="9000" cy="69480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5239512" y="2691134"/>
            <a:ext cx="3291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数字の論点で、相場情報がこちらにないとき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5239512" y="2919734"/>
            <a:ext cx="331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相手の提示自体が情報になる。知らずに錨を下ろせば不利になる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5239512" y="3148334"/>
            <a:ext cx="331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例　</a:t>
            </a:r>
            <a:r>
              <a:rPr b="0" i="0" lang="en-US" sz="8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初めて導入する製品の価格。こちらの予算額は言わず、まず見積を出させ、構成と単価の内訳を確認する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429000" y="3623822"/>
            <a:ext cx="5257800" cy="987600"/>
          </a:xfrm>
          <a:prstGeom prst="roundRect">
            <a:avLst>
              <a:gd fmla="val 5556" name="adj"/>
            </a:avLst>
          </a:prstGeom>
          <a:solidFill>
            <a:srgbClr val="F2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3611880" y="3788414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後に出す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3611880" y="4081022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反論と条件付け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093208" y="3770126"/>
            <a:ext cx="9000" cy="694800"/>
          </a:xfrm>
          <a:prstGeom prst="rect">
            <a:avLst/>
          </a:prstGeom>
          <a:solidFill>
            <a:srgbClr val="D9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5239512" y="3751838"/>
            <a:ext cx="3291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条文・論理を競う論点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5239512" y="3980438"/>
            <a:ext cx="3310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相手の論拠に反論でき、譲歩に条件を付けられる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5239512" y="4209038"/>
            <a:ext cx="331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例　</a:t>
            </a:r>
            <a:r>
              <a:rPr b="0" i="0" lang="en-US" sz="8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SLA未達時のクレジット。自社案を先に出さず、相手に免責条項の根拠を説明させてから、その論理に条件を付ける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508025" y="270185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  <a:buClr>
                <a:srgbClr val="2E33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3338"/>
                </a:solidFill>
                <a:latin typeface="Calibri"/>
                <a:ea typeface="Calibri"/>
                <a:cs typeface="Calibri"/>
                <a:sym typeface="Calibri"/>
              </a:rPr>
              <a:t>順番</a:t>
            </a:r>
            <a:r>
              <a:rPr b="0" i="0" lang="en-US" sz="850" u="none" cap="none" strike="noStrike">
                <a:solidFill>
                  <a:srgbClr val="6B7278"/>
                </a:solidFill>
                <a:latin typeface="Calibri"/>
                <a:ea typeface="Calibri"/>
                <a:cs typeface="Calibri"/>
                <a:sym typeface="Calibri"/>
              </a:rPr>
              <a:t>　その有限な時間を、どこにどう配分するか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