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63" r:id="rId12"/>
    <p:sldId id="259" r:id="rId8"/>
    <p:sldId id="260" r:id="rId9"/>
    <p:sldId id="261" r:id="rId10"/>
    <p:sldId id="262" r:id="rId1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  <Relationship Id="rId12"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2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1" Type="http://schemas.openxmlformats.org/officeDocument/2006/relationships/image" Target="../media/image23.png"/><Relationship Id="rId10" Type="http://schemas.openxmlformats.org/officeDocument/2006/relationships/image" Target="../media/image3.png"/><Relationship Id="rId13" Type="http://schemas.openxmlformats.org/officeDocument/2006/relationships/image" Target="../media/image10.png"/><Relationship Id="rId12"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2.png"/><Relationship Id="rId9" Type="http://schemas.openxmlformats.org/officeDocument/2006/relationships/image" Target="../media/image20.png"/><Relationship Id="rId14" Type="http://schemas.openxmlformats.org/officeDocument/2006/relationships/image" Target="../media/image6.png"/><Relationship Id="rId5" Type="http://schemas.openxmlformats.org/officeDocument/2006/relationships/image" Target="../media/image25.png"/><Relationship Id="rId6" Type="http://schemas.openxmlformats.org/officeDocument/2006/relationships/image" Target="../media/image8.png"/><Relationship Id="rId7" Type="http://schemas.openxmlformats.org/officeDocument/2006/relationships/image" Target="../media/image19.png"/><Relationship Id="rId8"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5" name="Shape 15"/>
        <p:cNvGrpSpPr/>
        <p:nvPr/>
      </p:nvGrpSpPr>
      <p:grpSpPr>
        <a:xfrm>
          <a:off x="0" y="0"/>
          <a:ext cx="0" cy="0"/>
          <a:chOff x="0" y="0"/>
          <a:chExt cx="0" cy="0"/>
        </a:xfrm>
      </p:grpSpPr>
      <p:sp>
        <p:nvSpPr>
          <p:cNvPr id="16" name="Google Shape;16;p3"/>
          <p:cNvSpPr/>
          <p:nvPr/>
        </p:nvSpPr>
        <p:spPr>
          <a:xfrm>
            <a:off x="9509760" y="5120640"/>
            <a:ext cx="164592" cy="164592"/>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10332720" y="5577840"/>
            <a:ext cx="109728" cy="109728"/>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869680" y="5760720"/>
            <a:ext cx="91440" cy="91440"/>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10881360" y="4846320"/>
            <a:ext cx="91440" cy="91440"/>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9784080" y="4389120"/>
            <a:ext cx="73152" cy="73152"/>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11338560" y="5943600"/>
            <a:ext cx="128016" cy="128016"/>
          </a:xfrm>
          <a:prstGeom prst="ellipse">
            <a:avLst/>
          </a:prstGeom>
          <a:solidFill>
            <a:srgbClr val="CADCFC">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 name="Google Shape;22;p3"/>
          <p:cNvCxnSpPr/>
          <p:nvPr/>
        </p:nvCxnSpPr>
        <p:spPr>
          <a:xfrm flipH="1" rot="10800000">
            <a:off x="8869680" y="5303520"/>
            <a:ext cx="685800" cy="502920"/>
          </a:xfrm>
          <a:prstGeom prst="straightConnector1">
            <a:avLst/>
          </a:prstGeom>
          <a:noFill/>
          <a:ln cap="flat" cmpd="sng" w="9525">
            <a:solidFill>
              <a:srgbClr val="CADCFC">
                <a:alpha val="40000"/>
              </a:srgbClr>
            </a:solidFill>
            <a:prstDash val="solid"/>
            <a:round/>
            <a:headEnd len="sm" w="sm" type="none"/>
            <a:tailEnd len="sm" w="sm" type="none"/>
          </a:ln>
        </p:spPr>
      </p:cxnSp>
      <p:cxnSp>
        <p:nvCxnSpPr>
          <p:cNvPr id="23" name="Google Shape;23;p3"/>
          <p:cNvCxnSpPr/>
          <p:nvPr/>
        </p:nvCxnSpPr>
        <p:spPr>
          <a:xfrm>
            <a:off x="9555480" y="5303520"/>
            <a:ext cx="777240" cy="320040"/>
          </a:xfrm>
          <a:prstGeom prst="straightConnector1">
            <a:avLst/>
          </a:prstGeom>
          <a:noFill/>
          <a:ln cap="flat" cmpd="sng" w="9525">
            <a:solidFill>
              <a:srgbClr val="CADCFC">
                <a:alpha val="40000"/>
              </a:srgbClr>
            </a:solidFill>
            <a:prstDash val="solid"/>
            <a:round/>
            <a:headEnd len="sm" w="sm" type="none"/>
            <a:tailEnd len="sm" w="sm" type="none"/>
          </a:ln>
        </p:spPr>
      </p:cxnSp>
      <p:cxnSp>
        <p:nvCxnSpPr>
          <p:cNvPr id="24" name="Google Shape;24;p3"/>
          <p:cNvCxnSpPr/>
          <p:nvPr/>
        </p:nvCxnSpPr>
        <p:spPr>
          <a:xfrm>
            <a:off x="9829800" y="4480560"/>
            <a:ext cx="868680" cy="777240"/>
          </a:xfrm>
          <a:prstGeom prst="straightConnector1">
            <a:avLst/>
          </a:prstGeom>
          <a:noFill/>
          <a:ln cap="flat" cmpd="sng" w="9525">
            <a:solidFill>
              <a:srgbClr val="CADCFC">
                <a:alpha val="40000"/>
              </a:srgbClr>
            </a:solidFill>
            <a:prstDash val="solid"/>
            <a:round/>
            <a:headEnd len="sm" w="sm" type="none"/>
            <a:tailEnd len="sm" w="sm" type="none"/>
          </a:ln>
        </p:spPr>
      </p:cxnSp>
      <p:sp>
        <p:nvSpPr>
          <p:cNvPr id="25" name="Google Shape;25;p3"/>
          <p:cNvSpPr txBox="1"/>
          <p:nvPr/>
        </p:nvSpPr>
        <p:spPr>
          <a:xfrm>
            <a:off x="548640" y="23317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400"/>
              <a:buFont typeface="Calibri"/>
              <a:buNone/>
            </a:pPr>
            <a:r>
              <a:rPr b="1" i="0" lang="en-US" sz="1400" u="none" cap="none" strike="noStrike">
                <a:solidFill>
                  <a:srgbClr val="D4A017"/>
                </a:solidFill>
                <a:latin typeface="Calibri"/>
                <a:ea typeface="Calibri"/>
                <a:cs typeface="Calibri"/>
                <a:sym typeface="Calibri"/>
              </a:rPr>
              <a:t>予算策定の自動化提案</a:t>
            </a:r>
            <a:endParaRPr b="0" i="0" sz="1400" u="none" cap="none" strike="noStrike">
              <a:solidFill>
                <a:schemeClr val="dk1"/>
              </a:solidFill>
              <a:latin typeface="Calibri"/>
              <a:ea typeface="Calibri"/>
              <a:cs typeface="Calibri"/>
              <a:sym typeface="Calibri"/>
            </a:endParaRPr>
          </a:p>
        </p:txBody>
      </p:sp>
      <p:sp>
        <p:nvSpPr>
          <p:cNvPr id="26" name="Google Shape;26;p3"/>
          <p:cNvSpPr txBox="1"/>
          <p:nvPr/>
        </p:nvSpPr>
        <p:spPr>
          <a:xfrm>
            <a:off x="548640" y="2697480"/>
            <a:ext cx="9875520" cy="13716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4000"/>
              <a:buFont typeface="Cambria"/>
              <a:buNone/>
            </a:pPr>
            <a:r>
              <a:rPr b="1" lang="en-US" sz="4000">
                <a:solidFill>
                  <a:srgbClr val="FFFFFF"/>
                </a:solidFill>
                <a:latin typeface="Cambria"/>
                <a:ea typeface="Cambria"/>
                <a:cs typeface="Cambria"/>
                <a:sym typeface="Cambria"/>
              </a:rPr>
              <a:t>IT部門 Run予算管理の刷新に向けて</a:t>
            </a:r>
            <a:endParaRPr b="0" i="0" sz="4000" u="none" cap="none" strike="noStrike">
              <a:solidFill>
                <a:schemeClr val="dk1"/>
              </a:solidFill>
              <a:latin typeface="Calibri"/>
              <a:ea typeface="Calibri"/>
              <a:cs typeface="Calibri"/>
              <a:sym typeface="Calibri"/>
            </a:endParaRPr>
          </a:p>
        </p:txBody>
      </p:sp>
      <p:sp>
        <p:nvSpPr>
          <p:cNvPr id="27" name="Google Shape;27;p3"/>
          <p:cNvSpPr txBox="1"/>
          <p:nvPr/>
        </p:nvSpPr>
        <p:spPr>
          <a:xfrm>
            <a:off x="548640" y="3794760"/>
            <a:ext cx="94183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700"/>
              <a:buFont typeface="Calibri"/>
              <a:buNone/>
            </a:pPr>
            <a:r>
              <a:rPr b="0" i="0" lang="en-US" sz="1700" u="none" cap="none" strike="noStrike">
                <a:solidFill>
                  <a:srgbClr val="CADCFC"/>
                </a:solidFill>
                <a:latin typeface="Calibri"/>
                <a:ea typeface="Calibri"/>
                <a:cs typeface="Calibri"/>
                <a:sym typeface="Calibri"/>
              </a:rPr>
              <a:t>契約・固定資産・要員データから予算を導出する、ドライバーベース予算への刷新提案</a:t>
            </a:r>
            <a:endParaRPr b="0" i="0" sz="1700" u="none" cap="none" strike="noStrike">
              <a:solidFill>
                <a:schemeClr val="dk1"/>
              </a:solidFill>
              <a:latin typeface="Calibri"/>
              <a:ea typeface="Calibri"/>
              <a:cs typeface="Calibri"/>
              <a:sym typeface="Calibri"/>
            </a:endParaRPr>
          </a:p>
        </p:txBody>
      </p:sp>
      <p:cxnSp>
        <p:nvCxnSpPr>
          <p:cNvPr id="28" name="Google Shape;28;p3"/>
          <p:cNvCxnSpPr/>
          <p:nvPr/>
        </p:nvCxnSpPr>
        <p:spPr>
          <a:xfrm>
            <a:off x="548640" y="4617720"/>
            <a:ext cx="1463040" cy="0"/>
          </a:xfrm>
          <a:prstGeom prst="straightConnector1">
            <a:avLst/>
          </a:prstGeom>
          <a:noFill/>
          <a:ln cap="flat" cmpd="sng" w="25400">
            <a:solidFill>
              <a:srgbClr val="D4A017"/>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 name="Shape 33"/>
        <p:cNvGrpSpPr/>
        <p:nvPr/>
      </p:nvGrpSpPr>
      <p:grpSpPr>
        <a:xfrm>
          <a:off x="0" y="0"/>
          <a:ext cx="0" cy="0"/>
          <a:chOff x="0" y="0"/>
          <a:chExt cx="0" cy="0"/>
        </a:xfrm>
      </p:grpSpPr>
      <p:sp>
        <p:nvSpPr>
          <p:cNvPr id="34" name="Google Shape;34;p4"/>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BACKGROUND</a:t>
            </a:r>
            <a:endParaRPr b="0" i="0" sz="1300" u="none" cap="none" strike="noStrike">
              <a:solidFill>
                <a:schemeClr val="dk1"/>
              </a:solidFill>
              <a:latin typeface="Calibri"/>
              <a:ea typeface="Calibri"/>
              <a:cs typeface="Calibri"/>
              <a:sym typeface="Calibri"/>
            </a:endParaRPr>
          </a:p>
        </p:txBody>
      </p:sp>
      <p:sp>
        <p:nvSpPr>
          <p:cNvPr id="35" name="Google Shape;35;p4"/>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背景：従来方式の限界とM365ライセンスでの気づき</a:t>
            </a:r>
            <a:endParaRPr b="0" i="0" sz="3000" u="none" cap="none" strike="noStrike">
              <a:solidFill>
                <a:schemeClr val="dk1"/>
              </a:solidFill>
              <a:latin typeface="Calibri"/>
              <a:ea typeface="Calibri"/>
              <a:cs typeface="Calibri"/>
              <a:sym typeface="Calibri"/>
            </a:endParaRPr>
          </a:p>
        </p:txBody>
      </p:sp>
      <p:sp>
        <p:nvSpPr>
          <p:cNvPr id="36" name="Google Shape;36;p4"/>
          <p:cNvSpPr txBox="1"/>
          <p:nvPr/>
        </p:nvSpPr>
        <p:spPr>
          <a:xfrm>
            <a:off x="548640" y="1207008"/>
            <a:ext cx="11094415" cy="56692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5B6472"/>
              </a:buClr>
              <a:buSzPts val="1200"/>
              <a:buFont typeface="Calibri"/>
              <a:buNone/>
            </a:pPr>
            <a:r>
              <a:rPr b="0" i="0" lang="en-US" sz="1200" u="none" cap="none" strike="noStrike">
                <a:solidFill>
                  <a:srgbClr val="5B6472"/>
                </a:solidFill>
                <a:latin typeface="Calibri"/>
                <a:ea typeface="Calibri"/>
                <a:cs typeface="Calibri"/>
                <a:sym typeface="Calibri"/>
              </a:rPr>
              <a:t>IT部門の予算は、契約・資産ごとに個別管理されたExcelシートへ担当者が手作業で入力し、それらを集計・統合して全体予算を組み立てる「従来方式」に依存してきました。この方式には一般的な課題に加え、M365ライセンスのような複雑な会計処理に対応しきれないという固有の限界があることが分かってきました。</a:t>
            </a:r>
            <a:endParaRPr b="0" i="0" sz="1200" u="none" cap="none" strike="noStrike">
              <a:solidFill>
                <a:schemeClr val="dk1"/>
              </a:solidFill>
              <a:latin typeface="Calibri"/>
              <a:ea typeface="Calibri"/>
              <a:cs typeface="Calibri"/>
              <a:sym typeface="Calibri"/>
            </a:endParaRPr>
          </a:p>
        </p:txBody>
      </p:sp>
      <p:sp>
        <p:nvSpPr>
          <p:cNvPr id="37" name="Google Shape;37;p4"/>
          <p:cNvSpPr txBox="1"/>
          <p:nvPr/>
        </p:nvSpPr>
        <p:spPr>
          <a:xfrm>
            <a:off x="548640" y="1847088"/>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① 従来方式に共通する一般的な課題</a:t>
            </a:r>
            <a:endParaRPr b="0" i="0" sz="1250" u="none" cap="none" strike="noStrike">
              <a:solidFill>
                <a:schemeClr val="dk1"/>
              </a:solidFill>
              <a:latin typeface="Calibri"/>
              <a:ea typeface="Calibri"/>
              <a:cs typeface="Calibri"/>
              <a:sym typeface="Calibri"/>
            </a:endParaRPr>
          </a:p>
        </p:txBody>
      </p:sp>
      <p:sp>
        <p:nvSpPr>
          <p:cNvPr id="38" name="Google Shape;38;p4"/>
          <p:cNvSpPr/>
          <p:nvPr/>
        </p:nvSpPr>
        <p:spPr>
          <a:xfrm>
            <a:off x="548640" y="2194560"/>
            <a:ext cx="3576218" cy="1051560"/>
          </a:xfrm>
          <a:prstGeom prst="roundRect">
            <a:avLst>
              <a:gd fmla="val 6957"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749808" y="2377440"/>
            <a:ext cx="457200" cy="4572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check_FFFFFF.png" id="40" name="Google Shape;40;p4"/>
          <p:cNvPicPr preferRelativeResize="0"/>
          <p:nvPr/>
        </p:nvPicPr>
        <p:blipFill rotWithShape="1">
          <a:blip r:embed="rId3">
            <a:alphaModFix/>
          </a:blip>
          <a:srcRect b="0" l="0" r="0" t="0"/>
          <a:stretch/>
        </p:blipFill>
        <p:spPr>
          <a:xfrm>
            <a:off x="859536" y="2487168"/>
            <a:ext cx="237744" cy="237744"/>
          </a:xfrm>
          <a:prstGeom prst="rect">
            <a:avLst/>
          </a:prstGeom>
          <a:noFill/>
          <a:ln>
            <a:noFill/>
          </a:ln>
        </p:spPr>
      </p:pic>
      <p:sp>
        <p:nvSpPr>
          <p:cNvPr id="41" name="Google Shape;41;p4"/>
          <p:cNvSpPr txBox="1"/>
          <p:nvPr/>
        </p:nvSpPr>
        <p:spPr>
          <a:xfrm>
            <a:off x="1335024" y="2377440"/>
            <a:ext cx="266181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属人化</a:t>
            </a:r>
            <a:endParaRPr b="0" i="0" sz="1400" u="none" cap="none" strike="noStrike">
              <a:solidFill>
                <a:schemeClr val="dk1"/>
              </a:solidFill>
              <a:latin typeface="Calibri"/>
              <a:ea typeface="Calibri"/>
              <a:cs typeface="Calibri"/>
              <a:sym typeface="Calibri"/>
            </a:endParaRPr>
          </a:p>
        </p:txBody>
      </p:sp>
      <p:sp>
        <p:nvSpPr>
          <p:cNvPr id="42" name="Google Shape;42;p4"/>
          <p:cNvSpPr txBox="1"/>
          <p:nvPr/>
        </p:nvSpPr>
        <p:spPr>
          <a:xfrm>
            <a:off x="749808" y="2798064"/>
            <a:ext cx="3173882" cy="35661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62F"/>
              </a:buClr>
              <a:buSzPts val="1050"/>
              <a:buFont typeface="Calibri"/>
              <a:buNone/>
            </a:pPr>
            <a:r>
              <a:rPr b="0" i="0" lang="en-US" sz="1050" u="none" cap="none" strike="noStrike">
                <a:solidFill>
                  <a:srgbClr val="22262F"/>
                </a:solidFill>
                <a:latin typeface="Calibri"/>
                <a:ea typeface="Calibri"/>
                <a:cs typeface="Calibri"/>
                <a:sym typeface="Calibri"/>
              </a:rPr>
              <a:t>担当者ごとに入力・集計方法が異なり、数字の再現性や引き継ぎが難しくなります。</a:t>
            </a:r>
            <a:endParaRPr b="0" i="0" sz="1050" u="none" cap="none" strike="noStrike">
              <a:solidFill>
                <a:schemeClr val="dk1"/>
              </a:solidFill>
              <a:latin typeface="Calibri"/>
              <a:ea typeface="Calibri"/>
              <a:cs typeface="Calibri"/>
              <a:sym typeface="Calibri"/>
            </a:endParaRPr>
          </a:p>
        </p:txBody>
      </p:sp>
      <p:sp>
        <p:nvSpPr>
          <p:cNvPr id="43" name="Google Shape;43;p4"/>
          <p:cNvSpPr/>
          <p:nvPr/>
        </p:nvSpPr>
        <p:spPr>
          <a:xfrm>
            <a:off x="4307738" y="2194560"/>
            <a:ext cx="3576218" cy="1051560"/>
          </a:xfrm>
          <a:prstGeom prst="roundRect">
            <a:avLst>
              <a:gd fmla="val 6957"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4508906" y="2377440"/>
            <a:ext cx="457200" cy="4572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lock_FFFFFF.png" id="45" name="Google Shape;45;p4"/>
          <p:cNvPicPr preferRelativeResize="0"/>
          <p:nvPr/>
        </p:nvPicPr>
        <p:blipFill rotWithShape="1">
          <a:blip r:embed="rId4">
            <a:alphaModFix/>
          </a:blip>
          <a:srcRect b="0" l="0" r="0" t="0"/>
          <a:stretch/>
        </p:blipFill>
        <p:spPr>
          <a:xfrm>
            <a:off x="4618634" y="2487168"/>
            <a:ext cx="237744" cy="237744"/>
          </a:xfrm>
          <a:prstGeom prst="rect">
            <a:avLst/>
          </a:prstGeom>
          <a:noFill/>
          <a:ln>
            <a:noFill/>
          </a:ln>
        </p:spPr>
      </p:pic>
      <p:sp>
        <p:nvSpPr>
          <p:cNvPr id="46" name="Google Shape;46;p4"/>
          <p:cNvSpPr txBox="1"/>
          <p:nvPr/>
        </p:nvSpPr>
        <p:spPr>
          <a:xfrm>
            <a:off x="5094122" y="2377440"/>
            <a:ext cx="266181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再構築の手間</a:t>
            </a:r>
            <a:endParaRPr b="0" i="0" sz="1400" u="none" cap="none" strike="noStrike">
              <a:solidFill>
                <a:schemeClr val="dk1"/>
              </a:solidFill>
              <a:latin typeface="Calibri"/>
              <a:ea typeface="Calibri"/>
              <a:cs typeface="Calibri"/>
              <a:sym typeface="Calibri"/>
            </a:endParaRPr>
          </a:p>
        </p:txBody>
      </p:sp>
      <p:sp>
        <p:nvSpPr>
          <p:cNvPr id="47" name="Google Shape;47;p4"/>
          <p:cNvSpPr txBox="1"/>
          <p:nvPr/>
        </p:nvSpPr>
        <p:spPr>
          <a:xfrm>
            <a:off x="4508906" y="2798064"/>
            <a:ext cx="3173882" cy="35661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62F"/>
              </a:buClr>
              <a:buSzPts val="1050"/>
              <a:buFont typeface="Calibri"/>
              <a:buNone/>
            </a:pPr>
            <a:r>
              <a:rPr b="0" i="0" lang="en-US" sz="1050" u="none" cap="none" strike="noStrike">
                <a:solidFill>
                  <a:srgbClr val="22262F"/>
                </a:solidFill>
                <a:latin typeface="Calibri"/>
                <a:ea typeface="Calibri"/>
                <a:cs typeface="Calibri"/>
                <a:sym typeface="Calibri"/>
              </a:rPr>
              <a:t>契約更新や組織変更のたびに、シートを手作業で一から組み直す必要があります。</a:t>
            </a:r>
            <a:endParaRPr b="0" i="0" sz="1050" u="none" cap="none" strike="noStrike">
              <a:solidFill>
                <a:schemeClr val="dk1"/>
              </a:solidFill>
              <a:latin typeface="Calibri"/>
              <a:ea typeface="Calibri"/>
              <a:cs typeface="Calibri"/>
              <a:sym typeface="Calibri"/>
            </a:endParaRPr>
          </a:p>
        </p:txBody>
      </p:sp>
      <p:sp>
        <p:nvSpPr>
          <p:cNvPr id="48" name="Google Shape;48;p4"/>
          <p:cNvSpPr/>
          <p:nvPr/>
        </p:nvSpPr>
        <p:spPr>
          <a:xfrm>
            <a:off x="8066837" y="2194560"/>
            <a:ext cx="3576218" cy="1051560"/>
          </a:xfrm>
          <a:prstGeom prst="roundRect">
            <a:avLst>
              <a:gd fmla="val 6957"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8268005" y="2377440"/>
            <a:ext cx="457200" cy="45720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arget_FFFFFF.png" id="50" name="Google Shape;50;p4"/>
          <p:cNvPicPr preferRelativeResize="0"/>
          <p:nvPr/>
        </p:nvPicPr>
        <p:blipFill rotWithShape="1">
          <a:blip r:embed="rId5">
            <a:alphaModFix/>
          </a:blip>
          <a:srcRect b="0" l="0" r="0" t="0"/>
          <a:stretch/>
        </p:blipFill>
        <p:spPr>
          <a:xfrm>
            <a:off x="8377733" y="2487168"/>
            <a:ext cx="237744" cy="237744"/>
          </a:xfrm>
          <a:prstGeom prst="rect">
            <a:avLst/>
          </a:prstGeom>
          <a:noFill/>
          <a:ln>
            <a:noFill/>
          </a:ln>
        </p:spPr>
      </p:pic>
      <p:sp>
        <p:nvSpPr>
          <p:cNvPr id="51" name="Google Shape;51;p4"/>
          <p:cNvSpPr txBox="1"/>
          <p:nvPr/>
        </p:nvSpPr>
        <p:spPr>
          <a:xfrm>
            <a:off x="8853221" y="2377440"/>
            <a:ext cx="266181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mbria"/>
              <a:buNone/>
            </a:pPr>
            <a:r>
              <a:rPr b="1" i="0" lang="en-US" sz="1400" u="none" cap="none" strike="noStrike">
                <a:solidFill>
                  <a:srgbClr val="1E2761"/>
                </a:solidFill>
                <a:latin typeface="Cambria"/>
                <a:ea typeface="Cambria"/>
                <a:cs typeface="Cambria"/>
                <a:sym typeface="Cambria"/>
              </a:rPr>
              <a:t>精度の限界</a:t>
            </a:r>
            <a:endParaRPr b="0" i="0" sz="1400" u="none" cap="none" strike="noStrike">
              <a:solidFill>
                <a:schemeClr val="dk1"/>
              </a:solidFill>
              <a:latin typeface="Calibri"/>
              <a:ea typeface="Calibri"/>
              <a:cs typeface="Calibri"/>
              <a:sym typeface="Calibri"/>
            </a:endParaRPr>
          </a:p>
        </p:txBody>
      </p:sp>
      <p:sp>
        <p:nvSpPr>
          <p:cNvPr id="52" name="Google Shape;52;p4"/>
          <p:cNvSpPr txBox="1"/>
          <p:nvPr/>
        </p:nvSpPr>
        <p:spPr>
          <a:xfrm>
            <a:off x="8268005" y="2798064"/>
            <a:ext cx="3173882" cy="35661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62F"/>
              </a:buClr>
              <a:buSzPts val="1050"/>
              <a:buFont typeface="Calibri"/>
              <a:buNone/>
            </a:pPr>
            <a:r>
              <a:rPr b="0" i="0" lang="en-US" sz="1050" u="none" cap="none" strike="noStrike">
                <a:solidFill>
                  <a:srgbClr val="22262F"/>
                </a:solidFill>
                <a:latin typeface="Calibri"/>
                <a:ea typeface="Calibri"/>
                <a:cs typeface="Calibri"/>
                <a:sym typeface="Calibri"/>
              </a:rPr>
              <a:t>積み上げの過程で契約実態との乖離が生じやすく、差異の原因を追いにくくなります。</a:t>
            </a:r>
            <a:endParaRPr b="0" i="0" sz="1050" u="none" cap="none" strike="noStrike">
              <a:solidFill>
                <a:schemeClr val="dk1"/>
              </a:solidFill>
              <a:latin typeface="Calibri"/>
              <a:ea typeface="Calibri"/>
              <a:cs typeface="Calibri"/>
              <a:sym typeface="Calibri"/>
            </a:endParaRPr>
          </a:p>
        </p:txBody>
      </p:sp>
      <p:sp>
        <p:nvSpPr>
          <p:cNvPr id="53" name="Google Shape;53;p4"/>
          <p:cNvSpPr txBox="1"/>
          <p:nvPr/>
        </p:nvSpPr>
        <p:spPr>
          <a:xfrm>
            <a:off x="548640" y="3520440"/>
            <a:ext cx="11094415"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i="0" lang="en-US" sz="1250" u="none" cap="none" strike="noStrike">
                <a:solidFill>
                  <a:srgbClr val="1E2761"/>
                </a:solidFill>
                <a:latin typeface="Calibri"/>
                <a:ea typeface="Calibri"/>
                <a:cs typeface="Calibri"/>
                <a:sym typeface="Calibri"/>
              </a:rPr>
              <a:t>② 従来方式では対応しきれない複雑な会計処理</a:t>
            </a:r>
            <a:endParaRPr b="0" i="0" sz="1250" u="none" cap="none" strike="noStrike">
              <a:solidFill>
                <a:schemeClr val="dk1"/>
              </a:solidFill>
              <a:latin typeface="Calibri"/>
              <a:ea typeface="Calibri"/>
              <a:cs typeface="Calibri"/>
              <a:sym typeface="Calibri"/>
            </a:endParaRPr>
          </a:p>
        </p:txBody>
      </p:sp>
      <p:sp>
        <p:nvSpPr>
          <p:cNvPr id="54" name="Google Shape;54;p4"/>
          <p:cNvSpPr/>
          <p:nvPr/>
        </p:nvSpPr>
        <p:spPr>
          <a:xfrm>
            <a:off x="548640" y="3840480"/>
            <a:ext cx="11094415" cy="1600200"/>
          </a:xfrm>
          <a:prstGeom prst="roundRect">
            <a:avLst>
              <a:gd fmla="val 4571" name="adj"/>
            </a:avLst>
          </a:prstGeom>
          <a:solidFill>
            <a:srgbClr val="FBF3DE"/>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868680" y="4114800"/>
            <a:ext cx="777240" cy="777240"/>
          </a:xfrm>
          <a:prstGeom prst="ellipse">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alert_FFFFFF.png" id="56" name="Google Shape;56;p4"/>
          <p:cNvPicPr preferRelativeResize="0"/>
          <p:nvPr/>
        </p:nvPicPr>
        <p:blipFill rotWithShape="1">
          <a:blip r:embed="rId6">
            <a:alphaModFix/>
          </a:blip>
          <a:srcRect b="0" l="0" r="0" t="0"/>
          <a:stretch/>
        </p:blipFill>
        <p:spPr>
          <a:xfrm>
            <a:off x="1086307" y="4332427"/>
            <a:ext cx="341986" cy="341986"/>
          </a:xfrm>
          <a:prstGeom prst="rect">
            <a:avLst/>
          </a:prstGeom>
          <a:noFill/>
          <a:ln>
            <a:noFill/>
          </a:ln>
        </p:spPr>
      </p:pic>
      <p:sp>
        <p:nvSpPr>
          <p:cNvPr id="57" name="Google Shape;57;p4"/>
          <p:cNvSpPr txBox="1"/>
          <p:nvPr/>
        </p:nvSpPr>
        <p:spPr>
          <a:xfrm>
            <a:off x="1920240" y="4041648"/>
            <a:ext cx="935705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i="0" lang="en-US" sz="1600" u="none" cap="none" strike="noStrike">
                <a:solidFill>
                  <a:srgbClr val="1E2761"/>
                </a:solidFill>
                <a:latin typeface="Cambria"/>
                <a:ea typeface="Cambria"/>
                <a:cs typeface="Cambria"/>
                <a:sym typeface="Cambria"/>
              </a:rPr>
              <a:t>M365ライセンス費用の前払一括契約</a:t>
            </a:r>
            <a:endParaRPr b="0" i="0" sz="1600" u="none" cap="none" strike="noStrike">
              <a:solidFill>
                <a:schemeClr val="dk1"/>
              </a:solidFill>
              <a:latin typeface="Calibri"/>
              <a:ea typeface="Calibri"/>
              <a:cs typeface="Calibri"/>
              <a:sym typeface="Calibri"/>
            </a:endParaRPr>
          </a:p>
        </p:txBody>
      </p:sp>
      <p:sp>
        <p:nvSpPr>
          <p:cNvPr id="58" name="Google Shape;58;p4"/>
          <p:cNvSpPr txBox="1"/>
          <p:nvPr/>
        </p:nvSpPr>
        <p:spPr>
          <a:xfrm>
            <a:off x="1920240" y="4443984"/>
            <a:ext cx="9357055" cy="8686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契約更新月に費用を一括計上すると、その月だけIT部門の損益が乱高下し、月次の予実管理が機能しなくなります。前払費用（BS）を用いて12ヶ月均等償却する処理が必要になりますが、個別管理のExcelでは契約種別ごとに異なるこうした計算ロジックを表現・維持することが難しく、対応が担当者の力量に依存してしまいます。</a:t>
            </a:r>
            <a:endParaRPr b="0" i="0" sz="1150" u="none" cap="none" strike="noStrike">
              <a:solidFill>
                <a:schemeClr val="dk1"/>
              </a:solidFill>
              <a:latin typeface="Calibri"/>
              <a:ea typeface="Calibri"/>
              <a:cs typeface="Calibri"/>
              <a:sym typeface="Calibri"/>
            </a:endParaRPr>
          </a:p>
        </p:txBody>
      </p:sp>
      <p:sp>
        <p:nvSpPr>
          <p:cNvPr id="59" name="Google Shape;59;p4"/>
          <p:cNvSpPr txBox="1"/>
          <p:nvPr/>
        </p:nvSpPr>
        <p:spPr>
          <a:xfrm>
            <a:off x="548640" y="5605272"/>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7B1E"/>
              </a:buClr>
              <a:buSzPts val="1150"/>
              <a:buFont typeface="Calibri"/>
              <a:buNone/>
            </a:pPr>
            <a:r>
              <a:rPr b="0" i="1" lang="en-US" sz="1150" u="none" cap="none" strike="noStrike">
                <a:solidFill>
                  <a:srgbClr val="9A7B1E"/>
                </a:solidFill>
                <a:latin typeface="Calibri"/>
                <a:ea typeface="Calibri"/>
                <a:cs typeface="Calibri"/>
                <a:sym typeface="Calibri"/>
              </a:rPr>
              <a:t>→ この2つの課題が、契約・資産・要員という「事実」データから予算を機械的に導出する新方式（次頁）の検討につながりました。</a:t>
            </a:r>
            <a:endParaRPr b="0" i="0" sz="1150" u="none" cap="none" strike="noStrike">
              <a:solidFill>
                <a:schemeClr val="dk1"/>
              </a:solidFill>
              <a:latin typeface="Calibri"/>
              <a:ea typeface="Calibri"/>
              <a:cs typeface="Calibri"/>
              <a:sym typeface="Calibri"/>
            </a:endParaRPr>
          </a:p>
        </p:txBody>
      </p:sp>
      <p:sp>
        <p:nvSpPr>
          <p:cNvPr id="60" name="Google Shape;60;p4"/>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5"/>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VISION</a:t>
            </a:r>
            <a:endParaRPr b="0" i="0" sz="1300" u="none" cap="none" strike="noStrike">
              <a:solidFill>
                <a:schemeClr val="dk1"/>
              </a:solidFill>
              <a:latin typeface="Calibri"/>
              <a:ea typeface="Calibri"/>
              <a:cs typeface="Calibri"/>
              <a:sym typeface="Calibri"/>
            </a:endParaRPr>
          </a:p>
        </p:txBody>
      </p:sp>
      <p:sp>
        <p:nvSpPr>
          <p:cNvPr id="67" name="Google Shape;67;p5"/>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目指す姿：ドライバーベース予算編成への転換</a:t>
            </a:r>
            <a:endParaRPr b="0" i="0" sz="3000" u="none" cap="none" strike="noStrike">
              <a:solidFill>
                <a:schemeClr val="dk1"/>
              </a:solidFill>
              <a:latin typeface="Calibri"/>
              <a:ea typeface="Calibri"/>
              <a:cs typeface="Calibri"/>
              <a:sym typeface="Calibri"/>
            </a:endParaRPr>
          </a:p>
        </p:txBody>
      </p:sp>
      <p:sp>
        <p:nvSpPr>
          <p:cNvPr id="68" name="Google Shape;68;p5"/>
          <p:cNvSpPr txBox="1"/>
          <p:nvPr/>
        </p:nvSpPr>
        <p:spPr>
          <a:xfrm>
            <a:off x="548640" y="1298448"/>
            <a:ext cx="11094415" cy="77724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2262F"/>
              </a:buClr>
              <a:buSzPts val="1300"/>
              <a:buFont typeface="Calibri"/>
              <a:buNone/>
            </a:pPr>
            <a:r>
              <a:rPr b="0" i="0" lang="en-US" sz="1300" u="none" cap="none" strike="noStrike">
                <a:solidFill>
                  <a:srgbClr val="22262F"/>
                </a:solidFill>
                <a:latin typeface="Calibri"/>
                <a:ea typeface="Calibri"/>
                <a:cs typeface="Calibri"/>
                <a:sym typeface="Calibri"/>
              </a:rPr>
              <a:t>前年度予算に一定の伸び率を掛けて見積もる積み上げ方式から、契約金額・資産の取得価額・要員の稼働（FTE）といった実際の業務ドライバーに基づいて、予算を計算式で導く方式へ転換します。ドライバーが変われば、予算は数式に従って自動的に再計算されます。</a:t>
            </a:r>
            <a:endParaRPr b="0" i="0" sz="1300" u="none" cap="none" strike="noStrike">
              <a:solidFill>
                <a:schemeClr val="dk1"/>
              </a:solidFill>
              <a:latin typeface="Calibri"/>
              <a:ea typeface="Calibri"/>
              <a:cs typeface="Calibri"/>
              <a:sym typeface="Calibri"/>
            </a:endParaRPr>
          </a:p>
        </p:txBody>
      </p:sp>
      <p:sp>
        <p:nvSpPr>
          <p:cNvPr id="69" name="Google Shape;69;p5"/>
          <p:cNvSpPr/>
          <p:nvPr/>
        </p:nvSpPr>
        <p:spPr>
          <a:xfrm>
            <a:off x="883768" y="2240280"/>
            <a:ext cx="2834640" cy="1783080"/>
          </a:xfrm>
          <a:prstGeom prst="roundRect">
            <a:avLst>
              <a:gd fmla="val 4103" name="adj"/>
            </a:avLst>
          </a:prstGeom>
          <a:solidFill>
            <a:srgbClr val="1E2761"/>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1935328" y="2441448"/>
            <a:ext cx="731520" cy="731520"/>
          </a:xfrm>
          <a:prstGeom prst="ellipse">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FFFFFF.png" id="71" name="Google Shape;71;p5"/>
          <p:cNvPicPr preferRelativeResize="0"/>
          <p:nvPr/>
        </p:nvPicPr>
        <p:blipFill rotWithShape="1">
          <a:blip r:embed="rId3">
            <a:alphaModFix/>
          </a:blip>
          <a:srcRect b="0" l="0" r="0" t="0"/>
          <a:stretch/>
        </p:blipFill>
        <p:spPr>
          <a:xfrm>
            <a:off x="2140153" y="2646274"/>
            <a:ext cx="321869" cy="321869"/>
          </a:xfrm>
          <a:prstGeom prst="rect">
            <a:avLst/>
          </a:prstGeom>
          <a:noFill/>
          <a:ln>
            <a:noFill/>
          </a:ln>
        </p:spPr>
      </p:pic>
      <p:sp>
        <p:nvSpPr>
          <p:cNvPr id="72" name="Google Shape;72;p5"/>
          <p:cNvSpPr txBox="1"/>
          <p:nvPr/>
        </p:nvSpPr>
        <p:spPr>
          <a:xfrm>
            <a:off x="1020928" y="3227832"/>
            <a:ext cx="2560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ドライバー</a:t>
            </a:r>
            <a:endParaRPr b="0" i="0" sz="1500" u="none" cap="none" strike="noStrike">
              <a:solidFill>
                <a:schemeClr val="dk1"/>
              </a:solidFill>
              <a:latin typeface="Calibri"/>
              <a:ea typeface="Calibri"/>
              <a:cs typeface="Calibri"/>
              <a:sym typeface="Calibri"/>
            </a:endParaRPr>
          </a:p>
        </p:txBody>
      </p:sp>
      <p:sp>
        <p:nvSpPr>
          <p:cNvPr id="73" name="Google Shape;73;p5"/>
          <p:cNvSpPr txBox="1"/>
          <p:nvPr/>
        </p:nvSpPr>
        <p:spPr>
          <a:xfrm>
            <a:off x="975208" y="3538728"/>
            <a:ext cx="2651760" cy="43891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契約金額・資産の取得価額・</a:t>
            </a:r>
            <a:endParaRPr b="0" i="0" sz="1000" u="none" cap="none" strike="noStrike">
              <a:solidFill>
                <a:schemeClr val="dk1"/>
              </a:solidFill>
              <a:latin typeface="Calibri"/>
              <a:ea typeface="Calibri"/>
              <a:cs typeface="Calibri"/>
              <a:sym typeface="Calibri"/>
            </a:endParaRPr>
          </a:p>
          <a:p>
            <a:pPr indent="0" lvl="0" marL="0" marR="0" rtl="0" algn="ctr">
              <a:lnSpc>
                <a:spcPct val="108000"/>
              </a:lnSpc>
              <a:spcBef>
                <a:spcPts val="0"/>
              </a:spcBef>
              <a:spcAft>
                <a:spcPts val="0"/>
              </a:spcAft>
              <a:buClr>
                <a:srgbClr val="CADCFC"/>
              </a:buClr>
              <a:buSzPts val="1000"/>
              <a:buFont typeface="Calibri"/>
              <a:buNone/>
            </a:pPr>
            <a:r>
              <a:rPr b="0" i="0" lang="en-US" sz="1000" u="none" cap="none" strike="noStrike">
                <a:solidFill>
                  <a:srgbClr val="CADCFC"/>
                </a:solidFill>
                <a:latin typeface="Calibri"/>
                <a:ea typeface="Calibri"/>
                <a:cs typeface="Calibri"/>
                <a:sym typeface="Calibri"/>
              </a:rPr>
              <a:t>要員のFTE等の実データ</a:t>
            </a:r>
            <a:endParaRPr b="0" i="0" sz="1000" u="none" cap="none" strike="noStrike">
              <a:solidFill>
                <a:schemeClr val="dk1"/>
              </a:solidFill>
              <a:latin typeface="Calibri"/>
              <a:ea typeface="Calibri"/>
              <a:cs typeface="Calibri"/>
              <a:sym typeface="Calibri"/>
            </a:endParaRPr>
          </a:p>
        </p:txBody>
      </p:sp>
      <p:pic>
        <p:nvPicPr>
          <p:cNvPr descr="icons/arrowright_navy_1E2761.png" id="74" name="Google Shape;74;p5"/>
          <p:cNvPicPr preferRelativeResize="0"/>
          <p:nvPr/>
        </p:nvPicPr>
        <p:blipFill rotWithShape="1">
          <a:blip r:embed="rId4">
            <a:alphaModFix/>
          </a:blip>
          <a:srcRect b="0" l="0" r="0" t="0"/>
          <a:stretch/>
        </p:blipFill>
        <p:spPr>
          <a:xfrm>
            <a:off x="3997300" y="2930652"/>
            <a:ext cx="402336" cy="402336"/>
          </a:xfrm>
          <a:prstGeom prst="rect">
            <a:avLst/>
          </a:prstGeom>
          <a:noFill/>
          <a:ln>
            <a:noFill/>
          </a:ln>
        </p:spPr>
      </p:pic>
      <p:sp>
        <p:nvSpPr>
          <p:cNvPr id="75" name="Google Shape;75;p5"/>
          <p:cNvSpPr/>
          <p:nvPr/>
        </p:nvSpPr>
        <p:spPr>
          <a:xfrm>
            <a:off x="4678528" y="2240280"/>
            <a:ext cx="2834640" cy="1783080"/>
          </a:xfrm>
          <a:prstGeom prst="roundRect">
            <a:avLst>
              <a:gd fmla="val 410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5730088" y="2441448"/>
            <a:ext cx="731520" cy="73152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ettings_FFFFFF.png" id="77" name="Google Shape;77;p5"/>
          <p:cNvPicPr preferRelativeResize="0"/>
          <p:nvPr/>
        </p:nvPicPr>
        <p:blipFill rotWithShape="1">
          <a:blip r:embed="rId5">
            <a:alphaModFix/>
          </a:blip>
          <a:srcRect b="0" l="0" r="0" t="0"/>
          <a:stretch/>
        </p:blipFill>
        <p:spPr>
          <a:xfrm>
            <a:off x="5934913" y="2646274"/>
            <a:ext cx="321869" cy="321869"/>
          </a:xfrm>
          <a:prstGeom prst="rect">
            <a:avLst/>
          </a:prstGeom>
          <a:noFill/>
          <a:ln>
            <a:noFill/>
          </a:ln>
        </p:spPr>
      </p:pic>
      <p:sp>
        <p:nvSpPr>
          <p:cNvPr id="78" name="Google Shape;78;p5"/>
          <p:cNvSpPr txBox="1"/>
          <p:nvPr/>
        </p:nvSpPr>
        <p:spPr>
          <a:xfrm>
            <a:off x="4815688" y="3227832"/>
            <a:ext cx="2560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計算ロジック</a:t>
            </a:r>
            <a:endParaRPr b="0" i="0" sz="1500" u="none" cap="none" strike="noStrike">
              <a:solidFill>
                <a:schemeClr val="dk1"/>
              </a:solidFill>
              <a:latin typeface="Calibri"/>
              <a:ea typeface="Calibri"/>
              <a:cs typeface="Calibri"/>
              <a:sym typeface="Calibri"/>
            </a:endParaRPr>
          </a:p>
        </p:txBody>
      </p:sp>
      <p:sp>
        <p:nvSpPr>
          <p:cNvPr id="79" name="Google Shape;79;p5"/>
          <p:cNvSpPr txBox="1"/>
          <p:nvPr/>
        </p:nvSpPr>
        <p:spPr>
          <a:xfrm>
            <a:off x="4769968" y="3538728"/>
            <a:ext cx="2651760" cy="43891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契約種別・耐用年数等に応じた</a:t>
            </a:r>
            <a:endParaRPr b="0" i="0" sz="1000" u="none" cap="none" strike="noStrike">
              <a:solidFill>
                <a:schemeClr val="dk1"/>
              </a:solidFill>
              <a:latin typeface="Calibri"/>
              <a:ea typeface="Calibri"/>
              <a:cs typeface="Calibri"/>
              <a:sym typeface="Calibri"/>
            </a:endParaRPr>
          </a:p>
          <a:p>
            <a:pPr indent="0" lvl="0" marL="0" marR="0" rtl="0" algn="ctr">
              <a:lnSpc>
                <a:spcPct val="108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計算式（予算計算エンジン）</a:t>
            </a:r>
            <a:endParaRPr b="0" i="0" sz="1000" u="none" cap="none" strike="noStrike">
              <a:solidFill>
                <a:schemeClr val="dk1"/>
              </a:solidFill>
              <a:latin typeface="Calibri"/>
              <a:ea typeface="Calibri"/>
              <a:cs typeface="Calibri"/>
              <a:sym typeface="Calibri"/>
            </a:endParaRPr>
          </a:p>
        </p:txBody>
      </p:sp>
      <p:pic>
        <p:nvPicPr>
          <p:cNvPr descr="icons/arrowright_navy_1E2761.png" id="80" name="Google Shape;80;p5"/>
          <p:cNvPicPr preferRelativeResize="0"/>
          <p:nvPr/>
        </p:nvPicPr>
        <p:blipFill rotWithShape="1">
          <a:blip r:embed="rId4">
            <a:alphaModFix/>
          </a:blip>
          <a:srcRect b="0" l="0" r="0" t="0"/>
          <a:stretch/>
        </p:blipFill>
        <p:spPr>
          <a:xfrm>
            <a:off x="7792060" y="2930652"/>
            <a:ext cx="402336" cy="402336"/>
          </a:xfrm>
          <a:prstGeom prst="rect">
            <a:avLst/>
          </a:prstGeom>
          <a:noFill/>
          <a:ln>
            <a:noFill/>
          </a:ln>
        </p:spPr>
      </p:pic>
      <p:sp>
        <p:nvSpPr>
          <p:cNvPr id="81" name="Google Shape;81;p5"/>
          <p:cNvSpPr/>
          <p:nvPr/>
        </p:nvSpPr>
        <p:spPr>
          <a:xfrm>
            <a:off x="8473288" y="2240280"/>
            <a:ext cx="2834640" cy="1783080"/>
          </a:xfrm>
          <a:prstGeom prst="roundRect">
            <a:avLst>
              <a:gd fmla="val 410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9524848" y="2441448"/>
            <a:ext cx="731520" cy="73152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barchart_FFFFFF.png" id="83" name="Google Shape;83;p5"/>
          <p:cNvPicPr preferRelativeResize="0"/>
          <p:nvPr/>
        </p:nvPicPr>
        <p:blipFill rotWithShape="1">
          <a:blip r:embed="rId6">
            <a:alphaModFix/>
          </a:blip>
          <a:srcRect b="0" l="0" r="0" t="0"/>
          <a:stretch/>
        </p:blipFill>
        <p:spPr>
          <a:xfrm>
            <a:off x="9729673" y="2646274"/>
            <a:ext cx="321869" cy="321869"/>
          </a:xfrm>
          <a:prstGeom prst="rect">
            <a:avLst/>
          </a:prstGeom>
          <a:noFill/>
          <a:ln>
            <a:noFill/>
          </a:ln>
        </p:spPr>
      </p:pic>
      <p:sp>
        <p:nvSpPr>
          <p:cNvPr id="84" name="Google Shape;84;p5"/>
          <p:cNvSpPr txBox="1"/>
          <p:nvPr/>
        </p:nvSpPr>
        <p:spPr>
          <a:xfrm>
            <a:off x="8610448" y="3227832"/>
            <a:ext cx="2560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500"/>
              <a:buFont typeface="Cambria"/>
              <a:buNone/>
            </a:pPr>
            <a:r>
              <a:rPr b="1" i="0" lang="en-US" sz="1500" u="none" cap="none" strike="noStrike">
                <a:solidFill>
                  <a:srgbClr val="1E2761"/>
                </a:solidFill>
                <a:latin typeface="Cambria"/>
                <a:ea typeface="Cambria"/>
                <a:cs typeface="Cambria"/>
                <a:sym typeface="Cambria"/>
              </a:rPr>
              <a:t>予算</a:t>
            </a:r>
            <a:endParaRPr b="0" i="0" sz="1500" u="none" cap="none" strike="noStrike">
              <a:solidFill>
                <a:schemeClr val="dk1"/>
              </a:solidFill>
              <a:latin typeface="Calibri"/>
              <a:ea typeface="Calibri"/>
              <a:cs typeface="Calibri"/>
              <a:sym typeface="Calibri"/>
            </a:endParaRPr>
          </a:p>
        </p:txBody>
      </p:sp>
      <p:sp>
        <p:nvSpPr>
          <p:cNvPr id="85" name="Google Shape;85;p5"/>
          <p:cNvSpPr txBox="1"/>
          <p:nvPr/>
        </p:nvSpPr>
        <p:spPr>
          <a:xfrm>
            <a:off x="8564728" y="3538728"/>
            <a:ext cx="2651760" cy="438912"/>
          </a:xfrm>
          <a:prstGeom prst="rect">
            <a:avLst/>
          </a:prstGeom>
          <a:noFill/>
          <a:ln>
            <a:noFill/>
          </a:ln>
        </p:spPr>
        <p:txBody>
          <a:bodyPr anchorCtr="0" anchor="ctr" bIns="0" lIns="0" spcFirstLastPara="1" rIns="0" wrap="square" tIns="0">
            <a:noAutofit/>
          </a:bodyPr>
          <a:lstStyle/>
          <a:p>
            <a:pPr indent="0" lvl="0" marL="0" marR="0" rtl="0" algn="ctr">
              <a:lnSpc>
                <a:spcPct val="108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コストセンター別・</a:t>
            </a:r>
            <a:endParaRPr b="0" i="0" sz="1000" u="none" cap="none" strike="noStrike">
              <a:solidFill>
                <a:schemeClr val="dk1"/>
              </a:solidFill>
              <a:latin typeface="Calibri"/>
              <a:ea typeface="Calibri"/>
              <a:cs typeface="Calibri"/>
              <a:sym typeface="Calibri"/>
            </a:endParaRPr>
          </a:p>
          <a:p>
            <a:pPr indent="0" lvl="0" marL="0" marR="0" rtl="0" algn="ctr">
              <a:lnSpc>
                <a:spcPct val="108000"/>
              </a:lnSpc>
              <a:spcBef>
                <a:spcPts val="0"/>
              </a:spcBef>
              <a:spcAft>
                <a:spcPts val="0"/>
              </a:spcAft>
              <a:buClr>
                <a:srgbClr val="5B6472"/>
              </a:buClr>
              <a:buSzPts val="1000"/>
              <a:buFont typeface="Calibri"/>
              <a:buNone/>
            </a:pPr>
            <a:r>
              <a:rPr b="0" i="0" lang="en-US" sz="1000" u="none" cap="none" strike="noStrike">
                <a:solidFill>
                  <a:srgbClr val="5B6472"/>
                </a:solidFill>
                <a:latin typeface="Calibri"/>
                <a:ea typeface="Calibri"/>
                <a:cs typeface="Calibri"/>
                <a:sym typeface="Calibri"/>
              </a:rPr>
              <a:t>勘定科目別に自動算出</a:t>
            </a:r>
            <a:endParaRPr b="0" i="0" sz="1000" u="none" cap="none" strike="noStrike">
              <a:solidFill>
                <a:schemeClr val="dk1"/>
              </a:solidFill>
              <a:latin typeface="Calibri"/>
              <a:ea typeface="Calibri"/>
              <a:cs typeface="Calibri"/>
              <a:sym typeface="Calibri"/>
            </a:endParaRPr>
          </a:p>
        </p:txBody>
      </p:sp>
      <p:sp>
        <p:nvSpPr>
          <p:cNvPr id="86" name="Google Shape;86;p5"/>
          <p:cNvSpPr/>
          <p:nvPr/>
        </p:nvSpPr>
        <p:spPr>
          <a:xfrm>
            <a:off x="548640" y="4251960"/>
            <a:ext cx="1188720" cy="329184"/>
          </a:xfrm>
          <a:prstGeom prst="rect">
            <a:avLst/>
          </a:prstGeom>
          <a:solidFill>
            <a:srgbClr val="1E2761"/>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1737360" y="4251960"/>
            <a:ext cx="4952848" cy="329184"/>
          </a:xfrm>
          <a:prstGeom prst="rect">
            <a:avLst/>
          </a:prstGeom>
          <a:solidFill>
            <a:srgbClr val="1E2761"/>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6690208" y="4251960"/>
            <a:ext cx="4952848" cy="329184"/>
          </a:xfrm>
          <a:prstGeom prst="rect">
            <a:avLst/>
          </a:prstGeom>
          <a:solidFill>
            <a:srgbClr val="1E2761"/>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txBox="1"/>
          <p:nvPr/>
        </p:nvSpPr>
        <p:spPr>
          <a:xfrm>
            <a:off x="1737360" y="4251960"/>
            <a:ext cx="49528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CEDD"/>
              </a:buClr>
              <a:buSzPts val="1200"/>
              <a:buFont typeface="Calibri"/>
              <a:buNone/>
            </a:pPr>
            <a:r>
              <a:rPr b="1" i="0" lang="en-US" sz="1200" u="none" cap="none" strike="noStrike">
                <a:solidFill>
                  <a:srgbClr val="C7CEDD"/>
                </a:solidFill>
                <a:latin typeface="Calibri"/>
                <a:ea typeface="Calibri"/>
                <a:cs typeface="Calibri"/>
                <a:sym typeface="Calibri"/>
              </a:rPr>
              <a:t>従来方式</a:t>
            </a:r>
            <a:endParaRPr b="0" i="0" sz="1200" u="none" cap="none" strike="noStrike">
              <a:solidFill>
                <a:schemeClr val="dk1"/>
              </a:solidFill>
              <a:latin typeface="Calibri"/>
              <a:ea typeface="Calibri"/>
              <a:cs typeface="Calibri"/>
              <a:sym typeface="Calibri"/>
            </a:endParaRPr>
          </a:p>
        </p:txBody>
      </p:sp>
      <p:sp>
        <p:nvSpPr>
          <p:cNvPr id="90" name="Google Shape;90;p5"/>
          <p:cNvSpPr txBox="1"/>
          <p:nvPr/>
        </p:nvSpPr>
        <p:spPr>
          <a:xfrm>
            <a:off x="6690208" y="4251960"/>
            <a:ext cx="4952848"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4A017"/>
              </a:buClr>
              <a:buSzPts val="1200"/>
              <a:buFont typeface="Calibri"/>
              <a:buNone/>
            </a:pPr>
            <a:r>
              <a:rPr b="1" i="0" lang="en-US" sz="1200" u="none" cap="none" strike="noStrike">
                <a:solidFill>
                  <a:srgbClr val="D4A017"/>
                </a:solidFill>
                <a:latin typeface="Calibri"/>
                <a:ea typeface="Calibri"/>
                <a:cs typeface="Calibri"/>
                <a:sym typeface="Calibri"/>
              </a:rPr>
              <a:t>これから（ドライバーベース予算）</a:t>
            </a:r>
            <a:endParaRPr b="0" i="0" sz="1200" u="none" cap="none" strike="noStrike">
              <a:solidFill>
                <a:schemeClr val="dk1"/>
              </a:solidFill>
              <a:latin typeface="Calibri"/>
              <a:ea typeface="Calibri"/>
              <a:cs typeface="Calibri"/>
              <a:sym typeface="Calibri"/>
            </a:endParaRPr>
          </a:p>
        </p:txBody>
      </p:sp>
      <p:sp>
        <p:nvSpPr>
          <p:cNvPr id="91" name="Google Shape;91;p5"/>
          <p:cNvSpPr/>
          <p:nvPr/>
        </p:nvSpPr>
        <p:spPr>
          <a:xfrm>
            <a:off x="548640" y="4581144"/>
            <a:ext cx="1188720" cy="384048"/>
          </a:xfrm>
          <a:prstGeom prst="rect">
            <a:avLst/>
          </a:prstGeom>
          <a:solidFill>
            <a:srgbClr val="FAFA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txBox="1"/>
          <p:nvPr/>
        </p:nvSpPr>
        <p:spPr>
          <a:xfrm>
            <a:off x="658368" y="4581144"/>
            <a:ext cx="969264"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特徴</a:t>
            </a:r>
            <a:endParaRPr b="0" i="0" sz="1150" u="none" cap="none" strike="noStrike">
              <a:solidFill>
                <a:schemeClr val="dk1"/>
              </a:solidFill>
              <a:latin typeface="Calibri"/>
              <a:ea typeface="Calibri"/>
              <a:cs typeface="Calibri"/>
              <a:sym typeface="Calibri"/>
            </a:endParaRPr>
          </a:p>
        </p:txBody>
      </p:sp>
      <p:sp>
        <p:nvSpPr>
          <p:cNvPr id="93" name="Google Shape;93;p5"/>
          <p:cNvSpPr/>
          <p:nvPr/>
        </p:nvSpPr>
        <p:spPr>
          <a:xfrm>
            <a:off x="1737360" y="4581144"/>
            <a:ext cx="4952848" cy="384048"/>
          </a:xfrm>
          <a:prstGeom prst="rect">
            <a:avLst/>
          </a:prstGeom>
          <a:solidFill>
            <a:srgbClr val="F3F1EE"/>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txBox="1"/>
          <p:nvPr/>
        </p:nvSpPr>
        <p:spPr>
          <a:xfrm>
            <a:off x="1920240" y="4636008"/>
            <a:ext cx="4587088"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22262F"/>
              </a:buClr>
              <a:buSzPts val="1030"/>
              <a:buFont typeface="Calibri"/>
              <a:buNone/>
            </a:pPr>
            <a:r>
              <a:rPr b="0" i="0" lang="en-US" sz="1030" u="none" cap="none" strike="noStrike">
                <a:solidFill>
                  <a:srgbClr val="22262F"/>
                </a:solidFill>
                <a:latin typeface="Calibri"/>
                <a:ea typeface="Calibri"/>
                <a:cs typeface="Calibri"/>
                <a:sym typeface="Calibri"/>
              </a:rPr>
              <a:t>前年度予算 ×（1＋伸び率）による見積もり・積み上げ</a:t>
            </a:r>
            <a:endParaRPr b="0" i="0" sz="1030" u="none" cap="none" strike="noStrike">
              <a:solidFill>
                <a:schemeClr val="dk1"/>
              </a:solidFill>
              <a:latin typeface="Calibri"/>
              <a:ea typeface="Calibri"/>
              <a:cs typeface="Calibri"/>
              <a:sym typeface="Calibri"/>
            </a:endParaRPr>
          </a:p>
        </p:txBody>
      </p:sp>
      <p:sp>
        <p:nvSpPr>
          <p:cNvPr id="95" name="Google Shape;95;p5"/>
          <p:cNvSpPr/>
          <p:nvPr/>
        </p:nvSpPr>
        <p:spPr>
          <a:xfrm>
            <a:off x="6690208" y="4581144"/>
            <a:ext cx="4952848" cy="384048"/>
          </a:xfrm>
          <a:prstGeom prst="rect">
            <a:avLst/>
          </a:prstGeom>
          <a:solidFill>
            <a:srgbClr val="F5F7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txBox="1"/>
          <p:nvPr/>
        </p:nvSpPr>
        <p:spPr>
          <a:xfrm>
            <a:off x="6873088" y="4636008"/>
            <a:ext cx="4587088" cy="27432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22262F"/>
              </a:buClr>
              <a:buSzPts val="1030"/>
              <a:buFont typeface="Calibri"/>
              <a:buNone/>
            </a:pPr>
            <a:r>
              <a:rPr b="0" i="0" lang="en-US" sz="1030" u="none" cap="none" strike="noStrike">
                <a:solidFill>
                  <a:srgbClr val="22262F"/>
                </a:solidFill>
                <a:latin typeface="Calibri"/>
                <a:ea typeface="Calibri"/>
                <a:cs typeface="Calibri"/>
                <a:sym typeface="Calibri"/>
              </a:rPr>
              <a:t>契約・資産・要員の実データ × 計算式による自動算出</a:t>
            </a:r>
            <a:endParaRPr b="0" i="0" sz="1030" u="none" cap="none" strike="noStrike">
              <a:solidFill>
                <a:schemeClr val="dk1"/>
              </a:solidFill>
              <a:latin typeface="Calibri"/>
              <a:ea typeface="Calibri"/>
              <a:cs typeface="Calibri"/>
              <a:sym typeface="Calibri"/>
            </a:endParaRPr>
          </a:p>
        </p:txBody>
      </p:sp>
      <p:sp>
        <p:nvSpPr>
          <p:cNvPr id="97" name="Google Shape;97;p5"/>
          <p:cNvSpPr/>
          <p:nvPr/>
        </p:nvSpPr>
        <p:spPr>
          <a:xfrm>
            <a:off x="548640" y="4965192"/>
            <a:ext cx="1188720" cy="566928"/>
          </a:xfrm>
          <a:prstGeom prst="rect">
            <a:avLst/>
          </a:prstGeom>
          <a:solidFill>
            <a:srgbClr val="FAFA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txBox="1"/>
          <p:nvPr/>
        </p:nvSpPr>
        <p:spPr>
          <a:xfrm>
            <a:off x="658368" y="4965192"/>
            <a:ext cx="969264"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C5F2D"/>
              </a:buClr>
              <a:buSzPts val="1150"/>
              <a:buFont typeface="Calibri"/>
              <a:buNone/>
            </a:pPr>
            <a:r>
              <a:rPr b="1" i="0" lang="en-US" sz="1150" u="none" cap="none" strike="noStrike">
                <a:solidFill>
                  <a:srgbClr val="2C5F2D"/>
                </a:solidFill>
                <a:latin typeface="Calibri"/>
                <a:ea typeface="Calibri"/>
                <a:cs typeface="Calibri"/>
                <a:sym typeface="Calibri"/>
              </a:rPr>
              <a:t>Pros</a:t>
            </a:r>
            <a:endParaRPr b="0" i="0" sz="1150" u="none" cap="none" strike="noStrike">
              <a:solidFill>
                <a:schemeClr val="dk1"/>
              </a:solidFill>
              <a:latin typeface="Calibri"/>
              <a:ea typeface="Calibri"/>
              <a:cs typeface="Calibri"/>
              <a:sym typeface="Calibri"/>
            </a:endParaRPr>
          </a:p>
        </p:txBody>
      </p:sp>
      <p:sp>
        <p:nvSpPr>
          <p:cNvPr id="99" name="Google Shape;99;p5"/>
          <p:cNvSpPr/>
          <p:nvPr/>
        </p:nvSpPr>
        <p:spPr>
          <a:xfrm>
            <a:off x="1737360" y="4965192"/>
            <a:ext cx="4952848" cy="566928"/>
          </a:xfrm>
          <a:prstGeom prst="rect">
            <a:avLst/>
          </a:prstGeom>
          <a:solidFill>
            <a:srgbClr val="F3F1EE"/>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txBox="1"/>
          <p:nvPr/>
        </p:nvSpPr>
        <p:spPr>
          <a:xfrm>
            <a:off x="1920240" y="5020056"/>
            <a:ext cx="458708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・過去実績があれば短時間で予算化できる</a:t>
            </a:r>
            <a:endParaRPr b="0" i="0" sz="10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・契約内容を精査しなくても数字を作れる</a:t>
            </a:r>
            <a:endParaRPr b="0" i="0" sz="1000" u="none" cap="none" strike="noStrike">
              <a:solidFill>
                <a:schemeClr val="dk1"/>
              </a:solidFill>
              <a:latin typeface="Calibri"/>
              <a:ea typeface="Calibri"/>
              <a:cs typeface="Calibri"/>
              <a:sym typeface="Calibri"/>
            </a:endParaRPr>
          </a:p>
        </p:txBody>
      </p:sp>
      <p:sp>
        <p:nvSpPr>
          <p:cNvPr id="101" name="Google Shape;101;p5"/>
          <p:cNvSpPr/>
          <p:nvPr/>
        </p:nvSpPr>
        <p:spPr>
          <a:xfrm>
            <a:off x="6690208" y="4965192"/>
            <a:ext cx="4952848" cy="566928"/>
          </a:xfrm>
          <a:prstGeom prst="rect">
            <a:avLst/>
          </a:prstGeom>
          <a:solidFill>
            <a:srgbClr val="F5F7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txBox="1"/>
          <p:nvPr/>
        </p:nvSpPr>
        <p:spPr>
          <a:xfrm>
            <a:off x="6873088" y="5020056"/>
            <a:ext cx="458708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・マスタが正しければ誰が計算しても同じ数値になる（冪等性）</a:t>
            </a:r>
            <a:endParaRPr b="0" i="0" sz="10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・複雑な会計処理も自動化できる</a:t>
            </a:r>
            <a:endParaRPr b="0" i="0" sz="1000" u="none" cap="none" strike="noStrike">
              <a:solidFill>
                <a:schemeClr val="dk1"/>
              </a:solidFill>
              <a:latin typeface="Calibri"/>
              <a:ea typeface="Calibri"/>
              <a:cs typeface="Calibri"/>
              <a:sym typeface="Calibri"/>
            </a:endParaRPr>
          </a:p>
        </p:txBody>
      </p:sp>
      <p:sp>
        <p:nvSpPr>
          <p:cNvPr id="103" name="Google Shape;103;p5"/>
          <p:cNvSpPr/>
          <p:nvPr/>
        </p:nvSpPr>
        <p:spPr>
          <a:xfrm>
            <a:off x="548640" y="5532120"/>
            <a:ext cx="1188720" cy="731520"/>
          </a:xfrm>
          <a:prstGeom prst="rect">
            <a:avLst/>
          </a:prstGeom>
          <a:solidFill>
            <a:srgbClr val="FAFA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txBox="1"/>
          <p:nvPr/>
        </p:nvSpPr>
        <p:spPr>
          <a:xfrm>
            <a:off x="658368" y="5532120"/>
            <a:ext cx="969264"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50"/>
              <a:buFont typeface="Calibri"/>
              <a:buNone/>
            </a:pPr>
            <a:r>
              <a:rPr b="1" i="0" lang="en-US" sz="1150" u="none" cap="none" strike="noStrike">
                <a:solidFill>
                  <a:srgbClr val="6B7280"/>
                </a:solidFill>
                <a:latin typeface="Calibri"/>
                <a:ea typeface="Calibri"/>
                <a:cs typeface="Calibri"/>
                <a:sym typeface="Calibri"/>
              </a:rPr>
              <a:t>Cons</a:t>
            </a:r>
            <a:endParaRPr b="0" i="0" sz="1150" u="none" cap="none" strike="noStrike">
              <a:solidFill>
                <a:schemeClr val="dk1"/>
              </a:solidFill>
              <a:latin typeface="Calibri"/>
              <a:ea typeface="Calibri"/>
              <a:cs typeface="Calibri"/>
              <a:sym typeface="Calibri"/>
            </a:endParaRPr>
          </a:p>
        </p:txBody>
      </p:sp>
      <p:sp>
        <p:nvSpPr>
          <p:cNvPr id="105" name="Google Shape;105;p5"/>
          <p:cNvSpPr/>
          <p:nvPr/>
        </p:nvSpPr>
        <p:spPr>
          <a:xfrm>
            <a:off x="1737360" y="5532120"/>
            <a:ext cx="4952848" cy="731520"/>
          </a:xfrm>
          <a:prstGeom prst="rect">
            <a:avLst/>
          </a:prstGeom>
          <a:solidFill>
            <a:srgbClr val="F3F1EE"/>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txBox="1"/>
          <p:nvPr/>
        </p:nvSpPr>
        <p:spPr>
          <a:xfrm>
            <a:off x="1920240" y="5586984"/>
            <a:ext cx="4587088" cy="62179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・契約・資産の実態と乖離しやすい</a:t>
            </a:r>
            <a:endParaRPr b="0" i="0" sz="10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・複雑な会計処理（前払平準化等）に対応しづらい</a:t>
            </a:r>
            <a:endParaRPr b="0" i="0" sz="10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・属人化しやすい</a:t>
            </a:r>
            <a:endParaRPr b="0" i="0" sz="1000" u="none" cap="none" strike="noStrike">
              <a:solidFill>
                <a:schemeClr val="dk1"/>
              </a:solidFill>
              <a:latin typeface="Calibri"/>
              <a:ea typeface="Calibri"/>
              <a:cs typeface="Calibri"/>
              <a:sym typeface="Calibri"/>
            </a:endParaRPr>
          </a:p>
        </p:txBody>
      </p:sp>
      <p:sp>
        <p:nvSpPr>
          <p:cNvPr id="107" name="Google Shape;107;p5"/>
          <p:cNvSpPr/>
          <p:nvPr/>
        </p:nvSpPr>
        <p:spPr>
          <a:xfrm>
            <a:off x="6690208" y="5532120"/>
            <a:ext cx="4952848" cy="731520"/>
          </a:xfrm>
          <a:prstGeom prst="rect">
            <a:avLst/>
          </a:prstGeom>
          <a:solidFill>
            <a:srgbClr val="F5F7FC"/>
          </a:solidFill>
          <a:ln cap="flat" cmpd="sng" w="9525">
            <a:solidFill>
              <a:srgbClr val="E3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txBox="1"/>
          <p:nvPr/>
        </p:nvSpPr>
        <p:spPr>
          <a:xfrm>
            <a:off x="6873088" y="5586984"/>
            <a:ext cx="4587088" cy="621792"/>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・マスタデータの整備・維持に運用負荷がかかる</a:t>
            </a:r>
            <a:endParaRPr b="0" i="0" sz="10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22262F"/>
              </a:buClr>
              <a:buSzPts val="1000"/>
              <a:buFont typeface="Calibri"/>
              <a:buNone/>
            </a:pPr>
            <a:r>
              <a:rPr b="0" i="0" lang="en-US" sz="1000" u="none" cap="none" strike="noStrike">
                <a:solidFill>
                  <a:srgbClr val="22262F"/>
                </a:solidFill>
                <a:latin typeface="Calibri"/>
                <a:ea typeface="Calibri"/>
                <a:cs typeface="Calibri"/>
                <a:sym typeface="Calibri"/>
              </a:rPr>
              <a:t>・導入時に一定の設計・移行コストが必要</a:t>
            </a:r>
            <a:endParaRPr b="0" i="0" sz="1000" u="none" cap="none" strike="noStrike">
              <a:solidFill>
                <a:schemeClr val="dk1"/>
              </a:solidFill>
              <a:latin typeface="Calibri"/>
              <a:ea typeface="Calibri"/>
              <a:cs typeface="Calibri"/>
              <a:sym typeface="Calibri"/>
            </a:endParaRPr>
          </a:p>
        </p:txBody>
      </p:sp>
      <p:sp>
        <p:nvSpPr>
          <p:cNvPr id="109" name="Google Shape;109;p5"/>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6"/>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ARCHITECTURE</a:t>
            </a:r>
            <a:endParaRPr b="0" i="0" sz="1300" u="none" cap="none" strike="noStrike">
              <a:solidFill>
                <a:schemeClr val="dk1"/>
              </a:solidFill>
              <a:latin typeface="Calibri"/>
              <a:ea typeface="Calibri"/>
              <a:cs typeface="Calibri"/>
              <a:sym typeface="Calibri"/>
            </a:endParaRPr>
          </a:p>
        </p:txBody>
      </p:sp>
      <p:sp>
        <p:nvSpPr>
          <p:cNvPr id="116" name="Google Shape;116;p6"/>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全体アーキテクチャ</a:t>
            </a:r>
            <a:endParaRPr b="0" i="0" sz="3000" u="none" cap="none" strike="noStrike">
              <a:solidFill>
                <a:schemeClr val="dk1"/>
              </a:solidFill>
              <a:latin typeface="Calibri"/>
              <a:ea typeface="Calibri"/>
              <a:cs typeface="Calibri"/>
              <a:sym typeface="Calibri"/>
            </a:endParaRPr>
          </a:p>
        </p:txBody>
      </p:sp>
      <p:sp>
        <p:nvSpPr>
          <p:cNvPr id="117" name="Google Shape;117;p6"/>
          <p:cNvSpPr/>
          <p:nvPr/>
        </p:nvSpPr>
        <p:spPr>
          <a:xfrm>
            <a:off x="548640" y="1417320"/>
            <a:ext cx="7955280" cy="2651760"/>
          </a:xfrm>
          <a:prstGeom prst="roundRect">
            <a:avLst>
              <a:gd fmla="val 2069" name="adj"/>
            </a:avLst>
          </a:prstGeom>
          <a:solidFill>
            <a:srgbClr val="FBFCFE"/>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6"/>
          <p:cNvSpPr txBox="1"/>
          <p:nvPr/>
        </p:nvSpPr>
        <p:spPr>
          <a:xfrm>
            <a:off x="777240" y="1490472"/>
            <a:ext cx="74980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マスタ群（SSOT）－ 費用を生む「事実」データと、その集計・配賦の軸</a:t>
            </a:r>
            <a:endParaRPr b="0" i="0" sz="1100" u="none" cap="none" strike="noStrike">
              <a:solidFill>
                <a:schemeClr val="dk1"/>
              </a:solidFill>
              <a:latin typeface="Calibri"/>
              <a:ea typeface="Calibri"/>
              <a:cs typeface="Calibri"/>
              <a:sym typeface="Calibri"/>
            </a:endParaRPr>
          </a:p>
        </p:txBody>
      </p:sp>
      <p:sp>
        <p:nvSpPr>
          <p:cNvPr id="119" name="Google Shape;119;p6"/>
          <p:cNvSpPr txBox="1"/>
          <p:nvPr/>
        </p:nvSpPr>
        <p:spPr>
          <a:xfrm>
            <a:off x="777240" y="1755648"/>
            <a:ext cx="7498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950"/>
              <a:buFont typeface="Calibri"/>
              <a:buNone/>
            </a:pPr>
            <a:r>
              <a:rPr b="1" i="0" lang="en-US" sz="950" u="none" cap="none" strike="noStrike">
                <a:solidFill>
                  <a:srgbClr val="D4A017"/>
                </a:solidFill>
                <a:latin typeface="Calibri"/>
                <a:ea typeface="Calibri"/>
                <a:cs typeface="Calibri"/>
                <a:sym typeface="Calibri"/>
              </a:rPr>
              <a:t>◆ コアマスタ　－　費用を生む事実データ</a:t>
            </a:r>
            <a:endParaRPr b="0" i="0" sz="950" u="none" cap="none" strike="noStrike">
              <a:solidFill>
                <a:schemeClr val="dk1"/>
              </a:solidFill>
              <a:latin typeface="Calibri"/>
              <a:ea typeface="Calibri"/>
              <a:cs typeface="Calibri"/>
              <a:sym typeface="Calibri"/>
            </a:endParaRPr>
          </a:p>
        </p:txBody>
      </p:sp>
      <p:sp>
        <p:nvSpPr>
          <p:cNvPr id="120" name="Google Shape;120;p6"/>
          <p:cNvSpPr/>
          <p:nvPr/>
        </p:nvSpPr>
        <p:spPr>
          <a:xfrm>
            <a:off x="777240" y="1975104"/>
            <a:ext cx="2377440" cy="868680"/>
          </a:xfrm>
          <a:prstGeom prst="roundRect">
            <a:avLst>
              <a:gd fmla="val 5263"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
          <p:cNvSpPr/>
          <p:nvPr/>
        </p:nvSpPr>
        <p:spPr>
          <a:xfrm>
            <a:off x="896112" y="208483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iletext_FFFFFF.png" id="122" name="Google Shape;122;p6"/>
          <p:cNvPicPr preferRelativeResize="0"/>
          <p:nvPr/>
        </p:nvPicPr>
        <p:blipFill rotWithShape="1">
          <a:blip r:embed="rId3">
            <a:alphaModFix/>
          </a:blip>
          <a:srcRect b="0" l="0" r="0" t="0"/>
          <a:stretch/>
        </p:blipFill>
        <p:spPr>
          <a:xfrm>
            <a:off x="988284" y="2177004"/>
            <a:ext cx="199705" cy="199705"/>
          </a:xfrm>
          <a:prstGeom prst="rect">
            <a:avLst/>
          </a:prstGeom>
          <a:noFill/>
          <a:ln>
            <a:noFill/>
          </a:ln>
        </p:spPr>
      </p:pic>
      <p:sp>
        <p:nvSpPr>
          <p:cNvPr id="123" name="Google Shape;123;p6"/>
          <p:cNvSpPr txBox="1"/>
          <p:nvPr/>
        </p:nvSpPr>
        <p:spPr>
          <a:xfrm>
            <a:off x="1362456" y="2029968"/>
            <a:ext cx="16642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契約マスタ</a:t>
            </a:r>
            <a:endParaRPr b="0" i="0" sz="1100" u="none" cap="none" strike="noStrike">
              <a:solidFill>
                <a:schemeClr val="dk1"/>
              </a:solidFill>
              <a:latin typeface="Calibri"/>
              <a:ea typeface="Calibri"/>
              <a:cs typeface="Calibri"/>
              <a:sym typeface="Calibri"/>
            </a:endParaRPr>
          </a:p>
        </p:txBody>
      </p:sp>
      <p:sp>
        <p:nvSpPr>
          <p:cNvPr id="124" name="Google Shape;124;p6"/>
          <p:cNvSpPr txBox="1"/>
          <p:nvPr/>
        </p:nvSpPr>
        <p:spPr>
          <a:xfrm>
            <a:off x="896112" y="2542032"/>
            <a:ext cx="2157984" cy="24688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820"/>
              <a:buFont typeface="Calibri"/>
              <a:buNone/>
            </a:pPr>
            <a:r>
              <a:rPr b="0" i="0" lang="en-US" sz="820" u="none" cap="none" strike="noStrike">
                <a:solidFill>
                  <a:srgbClr val="5B6472"/>
                </a:solidFill>
                <a:latin typeface="Calibri"/>
                <a:ea typeface="Calibri"/>
                <a:cs typeface="Calibri"/>
                <a:sym typeface="Calibri"/>
              </a:rPr>
              <a:t>SaaS・保守・通信・業務委託等、契約に基づく費用（前払一括型／月額固定型）</a:t>
            </a:r>
            <a:endParaRPr b="0" i="0" sz="820" u="none" cap="none" strike="noStrike">
              <a:solidFill>
                <a:schemeClr val="dk1"/>
              </a:solidFill>
              <a:latin typeface="Calibri"/>
              <a:ea typeface="Calibri"/>
              <a:cs typeface="Calibri"/>
              <a:sym typeface="Calibri"/>
            </a:endParaRPr>
          </a:p>
        </p:txBody>
      </p:sp>
      <p:sp>
        <p:nvSpPr>
          <p:cNvPr id="125" name="Google Shape;125;p6"/>
          <p:cNvSpPr/>
          <p:nvPr/>
        </p:nvSpPr>
        <p:spPr>
          <a:xfrm>
            <a:off x="3337560" y="1975104"/>
            <a:ext cx="2377440" cy="868680"/>
          </a:xfrm>
          <a:prstGeom prst="roundRect">
            <a:avLst>
              <a:gd fmla="val 5263"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6"/>
          <p:cNvSpPr/>
          <p:nvPr/>
        </p:nvSpPr>
        <p:spPr>
          <a:xfrm>
            <a:off x="3456432" y="208483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arddrive_FFFFFF.png" id="127" name="Google Shape;127;p6"/>
          <p:cNvPicPr preferRelativeResize="0"/>
          <p:nvPr/>
        </p:nvPicPr>
        <p:blipFill rotWithShape="1">
          <a:blip r:embed="rId4">
            <a:alphaModFix/>
          </a:blip>
          <a:srcRect b="0" l="0" r="0" t="0"/>
          <a:stretch/>
        </p:blipFill>
        <p:spPr>
          <a:xfrm>
            <a:off x="3548604" y="2177004"/>
            <a:ext cx="199705" cy="199705"/>
          </a:xfrm>
          <a:prstGeom prst="rect">
            <a:avLst/>
          </a:prstGeom>
          <a:noFill/>
          <a:ln>
            <a:noFill/>
          </a:ln>
        </p:spPr>
      </p:pic>
      <p:sp>
        <p:nvSpPr>
          <p:cNvPr id="128" name="Google Shape;128;p6"/>
          <p:cNvSpPr txBox="1"/>
          <p:nvPr/>
        </p:nvSpPr>
        <p:spPr>
          <a:xfrm>
            <a:off x="3922776" y="2029968"/>
            <a:ext cx="16642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固定資産マスタ</a:t>
            </a:r>
            <a:endParaRPr b="0" i="0" sz="1100" u="none" cap="none" strike="noStrike">
              <a:solidFill>
                <a:schemeClr val="dk1"/>
              </a:solidFill>
              <a:latin typeface="Calibri"/>
              <a:ea typeface="Calibri"/>
              <a:cs typeface="Calibri"/>
              <a:sym typeface="Calibri"/>
            </a:endParaRPr>
          </a:p>
        </p:txBody>
      </p:sp>
      <p:sp>
        <p:nvSpPr>
          <p:cNvPr id="129" name="Google Shape;129;p6"/>
          <p:cNvSpPr txBox="1"/>
          <p:nvPr/>
        </p:nvSpPr>
        <p:spPr>
          <a:xfrm>
            <a:off x="3456432" y="2542032"/>
            <a:ext cx="2157984" cy="24688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820"/>
              <a:buFont typeface="Calibri"/>
              <a:buNone/>
            </a:pPr>
            <a:r>
              <a:rPr b="0" i="0" lang="en-US" sz="820" u="none" cap="none" strike="noStrike">
                <a:solidFill>
                  <a:srgbClr val="5B6472"/>
                </a:solidFill>
                <a:latin typeface="Calibri"/>
                <a:ea typeface="Calibri"/>
                <a:cs typeface="Calibri"/>
                <a:sym typeface="Calibri"/>
              </a:rPr>
              <a:t>貸与PC・NW機器等の取得価額と減価償却費（定額法・社内耐用年数）</a:t>
            </a:r>
            <a:endParaRPr b="0" i="0" sz="820" u="none" cap="none" strike="noStrike">
              <a:solidFill>
                <a:schemeClr val="dk1"/>
              </a:solidFill>
              <a:latin typeface="Calibri"/>
              <a:ea typeface="Calibri"/>
              <a:cs typeface="Calibri"/>
              <a:sym typeface="Calibri"/>
            </a:endParaRPr>
          </a:p>
        </p:txBody>
      </p:sp>
      <p:sp>
        <p:nvSpPr>
          <p:cNvPr id="130" name="Google Shape;130;p6"/>
          <p:cNvSpPr/>
          <p:nvPr/>
        </p:nvSpPr>
        <p:spPr>
          <a:xfrm>
            <a:off x="5897880" y="1975104"/>
            <a:ext cx="2377440" cy="868680"/>
          </a:xfrm>
          <a:prstGeom prst="roundRect">
            <a:avLst>
              <a:gd fmla="val 5263"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p:nvPr/>
        </p:nvSpPr>
        <p:spPr>
          <a:xfrm>
            <a:off x="6016752" y="2084832"/>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_FFFFFF.png" id="132" name="Google Shape;132;p6"/>
          <p:cNvPicPr preferRelativeResize="0"/>
          <p:nvPr/>
        </p:nvPicPr>
        <p:blipFill rotWithShape="1">
          <a:blip r:embed="rId5">
            <a:alphaModFix/>
          </a:blip>
          <a:srcRect b="0" l="0" r="0" t="0"/>
          <a:stretch/>
        </p:blipFill>
        <p:spPr>
          <a:xfrm>
            <a:off x="6108924" y="2177004"/>
            <a:ext cx="199705" cy="199705"/>
          </a:xfrm>
          <a:prstGeom prst="rect">
            <a:avLst/>
          </a:prstGeom>
          <a:noFill/>
          <a:ln>
            <a:noFill/>
          </a:ln>
        </p:spPr>
      </p:pic>
      <p:sp>
        <p:nvSpPr>
          <p:cNvPr id="133" name="Google Shape;133;p6"/>
          <p:cNvSpPr txBox="1"/>
          <p:nvPr/>
        </p:nvSpPr>
        <p:spPr>
          <a:xfrm>
            <a:off x="6483096" y="2029968"/>
            <a:ext cx="166420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組織・要員マスタ</a:t>
            </a:r>
            <a:endParaRPr b="0" i="0" sz="1100" u="none" cap="none" strike="noStrike">
              <a:solidFill>
                <a:schemeClr val="dk1"/>
              </a:solidFill>
              <a:latin typeface="Calibri"/>
              <a:ea typeface="Calibri"/>
              <a:cs typeface="Calibri"/>
              <a:sym typeface="Calibri"/>
            </a:endParaRPr>
          </a:p>
        </p:txBody>
      </p:sp>
      <p:sp>
        <p:nvSpPr>
          <p:cNvPr id="134" name="Google Shape;134;p6"/>
          <p:cNvSpPr txBox="1"/>
          <p:nvPr/>
        </p:nvSpPr>
        <p:spPr>
          <a:xfrm>
            <a:off x="6016752" y="2542032"/>
            <a:ext cx="2157984" cy="246888"/>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820"/>
              <a:buFont typeface="Calibri"/>
              <a:buNone/>
            </a:pPr>
            <a:r>
              <a:rPr b="0" i="0" lang="en-US" sz="820" u="none" cap="none" strike="noStrike">
                <a:solidFill>
                  <a:srgbClr val="5B6472"/>
                </a:solidFill>
                <a:latin typeface="Calibri"/>
                <a:ea typeface="Calibri"/>
                <a:cs typeface="Calibri"/>
                <a:sym typeface="Calibri"/>
              </a:rPr>
              <a:t>正社員のFTE按分人件費、外部人材（稼働単価型）の費用</a:t>
            </a:r>
            <a:endParaRPr b="0" i="0" sz="820" u="none" cap="none" strike="noStrike">
              <a:solidFill>
                <a:schemeClr val="dk1"/>
              </a:solidFill>
              <a:latin typeface="Calibri"/>
              <a:ea typeface="Calibri"/>
              <a:cs typeface="Calibri"/>
              <a:sym typeface="Calibri"/>
            </a:endParaRPr>
          </a:p>
        </p:txBody>
      </p:sp>
      <p:sp>
        <p:nvSpPr>
          <p:cNvPr id="135" name="Google Shape;135;p6"/>
          <p:cNvSpPr txBox="1"/>
          <p:nvPr/>
        </p:nvSpPr>
        <p:spPr>
          <a:xfrm>
            <a:off x="777240" y="2926080"/>
            <a:ext cx="749808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950"/>
              <a:buFont typeface="Calibri"/>
              <a:buNone/>
            </a:pPr>
            <a:r>
              <a:rPr b="1" i="0" lang="en-US" sz="950" u="none" cap="none" strike="noStrike">
                <a:solidFill>
                  <a:srgbClr val="6B7280"/>
                </a:solidFill>
                <a:latin typeface="Calibri"/>
                <a:ea typeface="Calibri"/>
                <a:cs typeface="Calibri"/>
                <a:sym typeface="Calibri"/>
              </a:rPr>
              <a:t>◆ 共通ディメンションマスタ　－　配賦・集計の軸（費用そのものは生まない）</a:t>
            </a:r>
            <a:endParaRPr b="0" i="0" sz="950" u="none" cap="none" strike="noStrike">
              <a:solidFill>
                <a:schemeClr val="dk1"/>
              </a:solidFill>
              <a:latin typeface="Calibri"/>
              <a:ea typeface="Calibri"/>
              <a:cs typeface="Calibri"/>
              <a:sym typeface="Calibri"/>
            </a:endParaRPr>
          </a:p>
        </p:txBody>
      </p:sp>
      <p:sp>
        <p:nvSpPr>
          <p:cNvPr id="136" name="Google Shape;136;p6"/>
          <p:cNvSpPr/>
          <p:nvPr/>
        </p:nvSpPr>
        <p:spPr>
          <a:xfrm>
            <a:off x="777240" y="3145536"/>
            <a:ext cx="1771650" cy="777240"/>
          </a:xfrm>
          <a:prstGeom prst="roundRect">
            <a:avLst>
              <a:gd fmla="val 5882" name="adj"/>
            </a:avLst>
          </a:prstGeom>
          <a:solidFill>
            <a:srgbClr val="F1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896112" y="3255264"/>
            <a:ext cx="310896" cy="310896"/>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rid_FFFFFF.png" id="138" name="Google Shape;138;p6"/>
          <p:cNvPicPr preferRelativeResize="0"/>
          <p:nvPr/>
        </p:nvPicPr>
        <p:blipFill rotWithShape="1">
          <a:blip r:embed="rId6">
            <a:alphaModFix/>
          </a:blip>
          <a:srcRect b="0" l="0" r="0" t="0"/>
          <a:stretch/>
        </p:blipFill>
        <p:spPr>
          <a:xfrm>
            <a:off x="970727" y="3329879"/>
            <a:ext cx="161666" cy="161666"/>
          </a:xfrm>
          <a:prstGeom prst="rect">
            <a:avLst/>
          </a:prstGeom>
          <a:noFill/>
          <a:ln>
            <a:noFill/>
          </a:ln>
        </p:spPr>
      </p:pic>
      <p:sp>
        <p:nvSpPr>
          <p:cNvPr id="139" name="Google Shape;139;p6"/>
          <p:cNvSpPr txBox="1"/>
          <p:nvPr/>
        </p:nvSpPr>
        <p:spPr>
          <a:xfrm>
            <a:off x="1289304" y="3200400"/>
            <a:ext cx="113157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コストセンター</a:t>
            </a:r>
            <a:endParaRPr b="0" i="0" sz="88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マスタ</a:t>
            </a:r>
            <a:endParaRPr b="0" i="0" sz="880" u="none" cap="none" strike="noStrike">
              <a:solidFill>
                <a:schemeClr val="dk1"/>
              </a:solidFill>
              <a:latin typeface="Calibri"/>
              <a:ea typeface="Calibri"/>
              <a:cs typeface="Calibri"/>
              <a:sym typeface="Calibri"/>
            </a:endParaRPr>
          </a:p>
        </p:txBody>
      </p:sp>
      <p:sp>
        <p:nvSpPr>
          <p:cNvPr id="140" name="Google Shape;140;p6"/>
          <p:cNvSpPr txBox="1"/>
          <p:nvPr/>
        </p:nvSpPr>
        <p:spPr>
          <a:xfrm>
            <a:off x="896112" y="3639312"/>
            <a:ext cx="1552194"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690"/>
              <a:buFont typeface="Calibri"/>
              <a:buNone/>
            </a:pPr>
            <a:r>
              <a:rPr b="0" i="0" lang="en-US" sz="690" u="none" cap="none" strike="noStrike">
                <a:solidFill>
                  <a:srgbClr val="5B6472"/>
                </a:solidFill>
                <a:latin typeface="Calibri"/>
                <a:ea typeface="Calibri"/>
                <a:cs typeface="Calibri"/>
                <a:sym typeface="Calibri"/>
              </a:rPr>
              <a:t>3リージョン×5機能＝15配賦単位</a:t>
            </a:r>
            <a:endParaRPr b="0" i="0" sz="690" u="none" cap="none" strike="noStrike">
              <a:solidFill>
                <a:schemeClr val="dk1"/>
              </a:solidFill>
              <a:latin typeface="Calibri"/>
              <a:ea typeface="Calibri"/>
              <a:cs typeface="Calibri"/>
              <a:sym typeface="Calibri"/>
            </a:endParaRPr>
          </a:p>
        </p:txBody>
      </p:sp>
      <p:sp>
        <p:nvSpPr>
          <p:cNvPr id="141" name="Google Shape;141;p6"/>
          <p:cNvSpPr/>
          <p:nvPr/>
        </p:nvSpPr>
        <p:spPr>
          <a:xfrm>
            <a:off x="2686050" y="3145536"/>
            <a:ext cx="1771650" cy="777240"/>
          </a:xfrm>
          <a:prstGeom prst="roundRect">
            <a:avLst>
              <a:gd fmla="val 5882" name="adj"/>
            </a:avLst>
          </a:prstGeom>
          <a:solidFill>
            <a:srgbClr val="F1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2804922" y="3255264"/>
            <a:ext cx="310896" cy="310896"/>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list_FFFFFF.png" id="143" name="Google Shape;143;p6"/>
          <p:cNvPicPr preferRelativeResize="0"/>
          <p:nvPr/>
        </p:nvPicPr>
        <p:blipFill rotWithShape="1">
          <a:blip r:embed="rId7">
            <a:alphaModFix/>
          </a:blip>
          <a:srcRect b="0" l="0" r="0" t="0"/>
          <a:stretch/>
        </p:blipFill>
        <p:spPr>
          <a:xfrm>
            <a:off x="2879537" y="3329879"/>
            <a:ext cx="161666" cy="161666"/>
          </a:xfrm>
          <a:prstGeom prst="rect">
            <a:avLst/>
          </a:prstGeom>
          <a:noFill/>
          <a:ln>
            <a:noFill/>
          </a:ln>
        </p:spPr>
      </p:pic>
      <p:sp>
        <p:nvSpPr>
          <p:cNvPr id="144" name="Google Shape;144;p6"/>
          <p:cNvSpPr txBox="1"/>
          <p:nvPr/>
        </p:nvSpPr>
        <p:spPr>
          <a:xfrm>
            <a:off x="3198114" y="3200400"/>
            <a:ext cx="113157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勘定科目</a:t>
            </a:r>
            <a:endParaRPr b="0" i="0" sz="88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マスタ</a:t>
            </a:r>
            <a:endParaRPr b="0" i="0" sz="880" u="none" cap="none" strike="noStrike">
              <a:solidFill>
                <a:schemeClr val="dk1"/>
              </a:solidFill>
              <a:latin typeface="Calibri"/>
              <a:ea typeface="Calibri"/>
              <a:cs typeface="Calibri"/>
              <a:sym typeface="Calibri"/>
            </a:endParaRPr>
          </a:p>
        </p:txBody>
      </p:sp>
      <p:sp>
        <p:nvSpPr>
          <p:cNvPr id="145" name="Google Shape;145;p6"/>
          <p:cNvSpPr txBox="1"/>
          <p:nvPr/>
        </p:nvSpPr>
        <p:spPr>
          <a:xfrm>
            <a:off x="2804922" y="3639312"/>
            <a:ext cx="1552194"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690"/>
              <a:buFont typeface="Calibri"/>
              <a:buNone/>
            </a:pPr>
            <a:r>
              <a:rPr b="0" i="0" lang="en-US" sz="690" u="none" cap="none" strike="noStrike">
                <a:solidFill>
                  <a:srgbClr val="5B6472"/>
                </a:solidFill>
                <a:latin typeface="Calibri"/>
                <a:ea typeface="Calibri"/>
                <a:cs typeface="Calibri"/>
                <a:sym typeface="Calibri"/>
              </a:rPr>
              <a:t>費用の勘定科目コード体系</a:t>
            </a:r>
            <a:endParaRPr b="0" i="0" sz="690" u="none" cap="none" strike="noStrike">
              <a:solidFill>
                <a:schemeClr val="dk1"/>
              </a:solidFill>
              <a:latin typeface="Calibri"/>
              <a:ea typeface="Calibri"/>
              <a:cs typeface="Calibri"/>
              <a:sym typeface="Calibri"/>
            </a:endParaRPr>
          </a:p>
        </p:txBody>
      </p:sp>
      <p:sp>
        <p:nvSpPr>
          <p:cNvPr id="146" name="Google Shape;146;p6"/>
          <p:cNvSpPr/>
          <p:nvPr/>
        </p:nvSpPr>
        <p:spPr>
          <a:xfrm>
            <a:off x="4594860" y="3145536"/>
            <a:ext cx="1771650" cy="777240"/>
          </a:xfrm>
          <a:prstGeom prst="roundRect">
            <a:avLst>
              <a:gd fmla="val 5882" name="adj"/>
            </a:avLst>
          </a:prstGeom>
          <a:solidFill>
            <a:srgbClr val="F1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4713732" y="3255264"/>
            <a:ext cx="310896" cy="310896"/>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arget_FFFFFF.png" id="148" name="Google Shape;148;p6"/>
          <p:cNvPicPr preferRelativeResize="0"/>
          <p:nvPr/>
        </p:nvPicPr>
        <p:blipFill rotWithShape="1">
          <a:blip r:embed="rId8">
            <a:alphaModFix/>
          </a:blip>
          <a:srcRect b="0" l="0" r="0" t="0"/>
          <a:stretch/>
        </p:blipFill>
        <p:spPr>
          <a:xfrm>
            <a:off x="4788347" y="3329879"/>
            <a:ext cx="161666" cy="161666"/>
          </a:xfrm>
          <a:prstGeom prst="rect">
            <a:avLst/>
          </a:prstGeom>
          <a:noFill/>
          <a:ln>
            <a:noFill/>
          </a:ln>
        </p:spPr>
      </p:pic>
      <p:sp>
        <p:nvSpPr>
          <p:cNvPr id="149" name="Google Shape;149;p6"/>
          <p:cNvSpPr txBox="1"/>
          <p:nvPr/>
        </p:nvSpPr>
        <p:spPr>
          <a:xfrm>
            <a:off x="5106924" y="3200400"/>
            <a:ext cx="113157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プロジェクト</a:t>
            </a:r>
            <a:endParaRPr b="0" i="0" sz="88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マスタ</a:t>
            </a:r>
            <a:endParaRPr b="0" i="0" sz="880" u="none" cap="none" strike="noStrike">
              <a:solidFill>
                <a:schemeClr val="dk1"/>
              </a:solidFill>
              <a:latin typeface="Calibri"/>
              <a:ea typeface="Calibri"/>
              <a:cs typeface="Calibri"/>
              <a:sym typeface="Calibri"/>
            </a:endParaRPr>
          </a:p>
        </p:txBody>
      </p:sp>
      <p:sp>
        <p:nvSpPr>
          <p:cNvPr id="150" name="Google Shape;150;p6"/>
          <p:cNvSpPr txBox="1"/>
          <p:nvPr/>
        </p:nvSpPr>
        <p:spPr>
          <a:xfrm>
            <a:off x="4713732" y="3639312"/>
            <a:ext cx="1552194"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690"/>
              <a:buFont typeface="Calibri"/>
              <a:buNone/>
            </a:pPr>
            <a:r>
              <a:rPr b="0" i="0" lang="en-US" sz="690" u="none" cap="none" strike="noStrike">
                <a:solidFill>
                  <a:srgbClr val="5B6472"/>
                </a:solidFill>
                <a:latin typeface="Calibri"/>
                <a:ea typeface="Calibri"/>
                <a:cs typeface="Calibri"/>
                <a:sym typeface="Calibri"/>
              </a:rPr>
              <a:t>要員配賦先と負担コストセンター</a:t>
            </a:r>
            <a:endParaRPr b="0" i="0" sz="690" u="none" cap="none" strike="noStrike">
              <a:solidFill>
                <a:schemeClr val="dk1"/>
              </a:solidFill>
              <a:latin typeface="Calibri"/>
              <a:ea typeface="Calibri"/>
              <a:cs typeface="Calibri"/>
              <a:sym typeface="Calibri"/>
            </a:endParaRPr>
          </a:p>
        </p:txBody>
      </p:sp>
      <p:sp>
        <p:nvSpPr>
          <p:cNvPr id="151" name="Google Shape;151;p6"/>
          <p:cNvSpPr/>
          <p:nvPr/>
        </p:nvSpPr>
        <p:spPr>
          <a:xfrm>
            <a:off x="6503670" y="3145536"/>
            <a:ext cx="1771650" cy="777240"/>
          </a:xfrm>
          <a:prstGeom prst="roundRect">
            <a:avLst>
              <a:gd fmla="val 5882" name="adj"/>
            </a:avLst>
          </a:prstGeom>
          <a:solidFill>
            <a:srgbClr val="F1F3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6622542" y="3255264"/>
            <a:ext cx="310896" cy="310896"/>
          </a:xfrm>
          <a:prstGeom prst="ellipse">
            <a:avLst/>
          </a:prstGeom>
          <a:solidFill>
            <a:srgbClr val="6B72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ending_FFFFFF.png" id="153" name="Google Shape;153;p6"/>
          <p:cNvPicPr preferRelativeResize="0"/>
          <p:nvPr/>
        </p:nvPicPr>
        <p:blipFill rotWithShape="1">
          <a:blip r:embed="rId9">
            <a:alphaModFix/>
          </a:blip>
          <a:srcRect b="0" l="0" r="0" t="0"/>
          <a:stretch/>
        </p:blipFill>
        <p:spPr>
          <a:xfrm>
            <a:off x="6697157" y="3329879"/>
            <a:ext cx="161666" cy="161666"/>
          </a:xfrm>
          <a:prstGeom prst="rect">
            <a:avLst/>
          </a:prstGeom>
          <a:noFill/>
          <a:ln>
            <a:noFill/>
          </a:ln>
        </p:spPr>
      </p:pic>
      <p:sp>
        <p:nvSpPr>
          <p:cNvPr id="154" name="Google Shape;154;p6"/>
          <p:cNvSpPr txBox="1"/>
          <p:nvPr/>
        </p:nvSpPr>
        <p:spPr>
          <a:xfrm>
            <a:off x="7015734" y="3200400"/>
            <a:ext cx="113157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為替レート</a:t>
            </a:r>
            <a:endParaRPr b="0" i="0" sz="88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E2761"/>
              </a:buClr>
              <a:buSzPts val="880"/>
              <a:buFont typeface="Calibri"/>
              <a:buNone/>
            </a:pPr>
            <a:r>
              <a:rPr b="1" i="0" lang="en-US" sz="880" u="none" cap="none" strike="noStrike">
                <a:solidFill>
                  <a:srgbClr val="1E2761"/>
                </a:solidFill>
                <a:latin typeface="Calibri"/>
                <a:ea typeface="Calibri"/>
                <a:cs typeface="Calibri"/>
                <a:sym typeface="Calibri"/>
              </a:rPr>
              <a:t>マスタ</a:t>
            </a:r>
            <a:endParaRPr b="0" i="0" sz="880" u="none" cap="none" strike="noStrike">
              <a:solidFill>
                <a:schemeClr val="dk1"/>
              </a:solidFill>
              <a:latin typeface="Calibri"/>
              <a:ea typeface="Calibri"/>
              <a:cs typeface="Calibri"/>
              <a:sym typeface="Calibri"/>
            </a:endParaRPr>
          </a:p>
        </p:txBody>
      </p:sp>
      <p:sp>
        <p:nvSpPr>
          <p:cNvPr id="155" name="Google Shape;155;p6"/>
          <p:cNvSpPr txBox="1"/>
          <p:nvPr/>
        </p:nvSpPr>
        <p:spPr>
          <a:xfrm>
            <a:off x="6622542" y="3639312"/>
            <a:ext cx="1552194" cy="2286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5B6472"/>
              </a:buClr>
              <a:buSzPts val="690"/>
              <a:buFont typeface="Calibri"/>
              <a:buNone/>
            </a:pPr>
            <a:r>
              <a:rPr b="0" i="0" lang="en-US" sz="690" u="none" cap="none" strike="noStrike">
                <a:solidFill>
                  <a:srgbClr val="5B6472"/>
                </a:solidFill>
                <a:latin typeface="Calibri"/>
                <a:ea typeface="Calibri"/>
                <a:cs typeface="Calibri"/>
                <a:sym typeface="Calibri"/>
              </a:rPr>
              <a:t>予算レート（期首固定）</a:t>
            </a:r>
            <a:endParaRPr b="0" i="0" sz="690" u="none" cap="none" strike="noStrike">
              <a:solidFill>
                <a:schemeClr val="dk1"/>
              </a:solidFill>
              <a:latin typeface="Calibri"/>
              <a:ea typeface="Calibri"/>
              <a:cs typeface="Calibri"/>
              <a:sym typeface="Calibri"/>
            </a:endParaRPr>
          </a:p>
        </p:txBody>
      </p:sp>
      <p:sp>
        <p:nvSpPr>
          <p:cNvPr id="156" name="Google Shape;156;p6"/>
          <p:cNvSpPr/>
          <p:nvPr/>
        </p:nvSpPr>
        <p:spPr>
          <a:xfrm>
            <a:off x="8732520" y="1417320"/>
            <a:ext cx="2910535" cy="2651760"/>
          </a:xfrm>
          <a:prstGeom prst="roundRect">
            <a:avLst>
              <a:gd fmla="val 2069" name="adj"/>
            </a:avLst>
          </a:prstGeom>
          <a:solidFill>
            <a:srgbClr val="FAF9F6"/>
          </a:solidFill>
          <a:ln cap="flat" cmpd="sng" w="19050">
            <a:solidFill>
              <a:srgbClr val="9CA3A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txBox="1"/>
          <p:nvPr/>
        </p:nvSpPr>
        <p:spPr>
          <a:xfrm>
            <a:off x="8915400" y="1490472"/>
            <a:ext cx="2544775"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1" i="0" lang="en-US" sz="1100" u="none" cap="none" strike="noStrike">
                <a:solidFill>
                  <a:srgbClr val="6B7280"/>
                </a:solidFill>
                <a:latin typeface="Calibri"/>
                <a:ea typeface="Calibri"/>
                <a:cs typeface="Calibri"/>
                <a:sym typeface="Calibri"/>
              </a:rPr>
              <a:t>経費予算（従来方式）</a:t>
            </a:r>
            <a:endParaRPr b="0" i="0" sz="1100" u="none" cap="none" strike="noStrike">
              <a:solidFill>
                <a:schemeClr val="dk1"/>
              </a:solidFill>
              <a:latin typeface="Calibri"/>
              <a:ea typeface="Calibri"/>
              <a:cs typeface="Calibri"/>
              <a:sym typeface="Calibri"/>
            </a:endParaRPr>
          </a:p>
        </p:txBody>
      </p:sp>
      <p:sp>
        <p:nvSpPr>
          <p:cNvPr id="158" name="Google Shape;158;p6"/>
          <p:cNvSpPr/>
          <p:nvPr/>
        </p:nvSpPr>
        <p:spPr>
          <a:xfrm>
            <a:off x="9931756" y="1874520"/>
            <a:ext cx="512064" cy="512064"/>
          </a:xfrm>
          <a:prstGeom prst="ellipse">
            <a:avLst/>
          </a:prstGeom>
          <a:solidFill>
            <a:srgbClr val="9CA3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check_FFFFFF.png" id="159" name="Google Shape;159;p6"/>
          <p:cNvPicPr preferRelativeResize="0"/>
          <p:nvPr/>
        </p:nvPicPr>
        <p:blipFill rotWithShape="1">
          <a:blip r:embed="rId10">
            <a:alphaModFix/>
          </a:blip>
          <a:srcRect b="0" l="0" r="0" t="0"/>
          <a:stretch/>
        </p:blipFill>
        <p:spPr>
          <a:xfrm>
            <a:off x="10054651" y="1997415"/>
            <a:ext cx="266273" cy="266273"/>
          </a:xfrm>
          <a:prstGeom prst="rect">
            <a:avLst/>
          </a:prstGeom>
          <a:noFill/>
          <a:ln>
            <a:noFill/>
          </a:ln>
        </p:spPr>
      </p:pic>
      <p:sp>
        <p:nvSpPr>
          <p:cNvPr id="160" name="Google Shape;160;p6"/>
          <p:cNvSpPr txBox="1"/>
          <p:nvPr/>
        </p:nvSpPr>
        <p:spPr>
          <a:xfrm>
            <a:off x="8933688" y="2587752"/>
            <a:ext cx="2508199" cy="7772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22262F"/>
              </a:buClr>
              <a:buSzPts val="860"/>
              <a:buFont typeface="Calibri"/>
              <a:buNone/>
            </a:pPr>
            <a:r>
              <a:rPr b="0" i="0" lang="en-US" sz="860" u="none" cap="none" strike="noStrike">
                <a:solidFill>
                  <a:srgbClr val="22262F"/>
                </a:solidFill>
                <a:latin typeface="Calibri"/>
                <a:ea typeface="Calibri"/>
                <a:cs typeface="Calibri"/>
                <a:sym typeface="Calibri"/>
              </a:rPr>
              <a:t>T&amp;E・教育費・出張旅費・イベント開催・謝礼、買い切り型ソフトウェア、クラウド利用料の完全変動部分 等</a:t>
            </a:r>
            <a:endParaRPr b="0" i="0" sz="860" u="none" cap="none" strike="noStrike">
              <a:solidFill>
                <a:schemeClr val="dk1"/>
              </a:solidFill>
              <a:latin typeface="Calibri"/>
              <a:ea typeface="Calibri"/>
              <a:cs typeface="Calibri"/>
              <a:sym typeface="Calibri"/>
            </a:endParaRPr>
          </a:p>
        </p:txBody>
      </p:sp>
      <p:sp>
        <p:nvSpPr>
          <p:cNvPr id="161" name="Google Shape;161;p6"/>
          <p:cNvSpPr txBox="1"/>
          <p:nvPr/>
        </p:nvSpPr>
        <p:spPr>
          <a:xfrm>
            <a:off x="8933688" y="3502152"/>
            <a:ext cx="2508199" cy="5029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B6472"/>
              </a:buClr>
              <a:buSzPts val="820"/>
              <a:buFont typeface="Calibri"/>
              <a:buNone/>
            </a:pPr>
            <a:r>
              <a:rPr b="0" i="1" lang="en-US" sz="820" u="none" cap="none" strike="noStrike">
                <a:solidFill>
                  <a:srgbClr val="5B6472"/>
                </a:solidFill>
                <a:latin typeface="Calibri"/>
                <a:ea typeface="Calibri"/>
                <a:cs typeface="Calibri"/>
                <a:sym typeface="Calibri"/>
              </a:rPr>
              <a:t>マスタを経由せず、従来どおり見積もり・積み上げにより手入力で予算化する</a:t>
            </a:r>
            <a:endParaRPr b="0" i="0" sz="820" u="none" cap="none" strike="noStrike">
              <a:solidFill>
                <a:schemeClr val="dk1"/>
              </a:solidFill>
              <a:latin typeface="Calibri"/>
              <a:ea typeface="Calibri"/>
              <a:cs typeface="Calibri"/>
              <a:sym typeface="Calibri"/>
            </a:endParaRPr>
          </a:p>
        </p:txBody>
      </p:sp>
      <p:cxnSp>
        <p:nvCxnSpPr>
          <p:cNvPr id="162" name="Google Shape;162;p6"/>
          <p:cNvCxnSpPr/>
          <p:nvPr/>
        </p:nvCxnSpPr>
        <p:spPr>
          <a:xfrm>
            <a:off x="4526280" y="4069080"/>
            <a:ext cx="1569568" cy="292608"/>
          </a:xfrm>
          <a:prstGeom prst="straightConnector1">
            <a:avLst/>
          </a:prstGeom>
          <a:noFill/>
          <a:ln cap="flat" cmpd="sng" w="19050">
            <a:solidFill>
              <a:srgbClr val="CADCFC"/>
            </a:solidFill>
            <a:prstDash val="solid"/>
            <a:round/>
            <a:headEnd len="sm" w="sm" type="none"/>
            <a:tailEnd len="med" w="med" type="triangle"/>
          </a:ln>
        </p:spPr>
      </p:cxnSp>
      <p:cxnSp>
        <p:nvCxnSpPr>
          <p:cNvPr id="163" name="Google Shape;163;p6"/>
          <p:cNvCxnSpPr/>
          <p:nvPr/>
        </p:nvCxnSpPr>
        <p:spPr>
          <a:xfrm>
            <a:off x="10187788" y="4069080"/>
            <a:ext cx="0" cy="1170432"/>
          </a:xfrm>
          <a:prstGeom prst="straightConnector1">
            <a:avLst/>
          </a:prstGeom>
          <a:noFill/>
          <a:ln cap="flat" cmpd="sng" w="15875">
            <a:solidFill>
              <a:srgbClr val="9CA3AF"/>
            </a:solidFill>
            <a:prstDash val="dash"/>
            <a:round/>
            <a:headEnd len="sm" w="sm" type="none"/>
            <a:tailEnd len="med" w="med" type="triangle"/>
          </a:ln>
        </p:spPr>
      </p:cxnSp>
      <p:sp>
        <p:nvSpPr>
          <p:cNvPr id="164" name="Google Shape;164;p6"/>
          <p:cNvSpPr/>
          <p:nvPr/>
        </p:nvSpPr>
        <p:spPr>
          <a:xfrm>
            <a:off x="4084168" y="4361688"/>
            <a:ext cx="4023360" cy="658368"/>
          </a:xfrm>
          <a:prstGeom prst="roundRect">
            <a:avLst>
              <a:gd fmla="val 11111" name="adj"/>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4248760" y="4471416"/>
            <a:ext cx="438912" cy="438912"/>
          </a:xfrm>
          <a:prstGeom prst="ellipse">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settings_FFFFFF.png" id="166" name="Google Shape;166;p6"/>
          <p:cNvPicPr preferRelativeResize="0"/>
          <p:nvPr/>
        </p:nvPicPr>
        <p:blipFill rotWithShape="1">
          <a:blip r:embed="rId11">
            <a:alphaModFix/>
          </a:blip>
          <a:srcRect b="0" l="0" r="0" t="0"/>
          <a:stretch/>
        </p:blipFill>
        <p:spPr>
          <a:xfrm>
            <a:off x="4345320" y="4567977"/>
            <a:ext cx="245791" cy="245791"/>
          </a:xfrm>
          <a:prstGeom prst="rect">
            <a:avLst/>
          </a:prstGeom>
          <a:noFill/>
          <a:ln>
            <a:noFill/>
          </a:ln>
        </p:spPr>
      </p:pic>
      <p:sp>
        <p:nvSpPr>
          <p:cNvPr id="167" name="Google Shape;167;p6"/>
          <p:cNvSpPr txBox="1"/>
          <p:nvPr/>
        </p:nvSpPr>
        <p:spPr>
          <a:xfrm>
            <a:off x="4815688" y="4416552"/>
            <a:ext cx="3154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予算計算エンジン</a:t>
            </a:r>
            <a:endParaRPr b="0" i="0" sz="1350" u="none" cap="none" strike="noStrike">
              <a:solidFill>
                <a:schemeClr val="dk1"/>
              </a:solidFill>
              <a:latin typeface="Calibri"/>
              <a:ea typeface="Calibri"/>
              <a:cs typeface="Calibri"/>
              <a:sym typeface="Calibri"/>
            </a:endParaRPr>
          </a:p>
        </p:txBody>
      </p:sp>
      <p:sp>
        <p:nvSpPr>
          <p:cNvPr id="168" name="Google Shape;168;p6"/>
          <p:cNvSpPr txBox="1"/>
          <p:nvPr/>
        </p:nvSpPr>
        <p:spPr>
          <a:xfrm>
            <a:off x="4815688" y="4709160"/>
            <a:ext cx="3154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900"/>
              <a:buFont typeface="Calibri"/>
              <a:buNone/>
            </a:pPr>
            <a:r>
              <a:rPr b="0" i="0" lang="en-US" sz="900" u="none" cap="none" strike="noStrike">
                <a:solidFill>
                  <a:srgbClr val="CADCFC"/>
                </a:solidFill>
                <a:latin typeface="Calibri"/>
                <a:ea typeface="Calibri"/>
                <a:cs typeface="Calibri"/>
                <a:sym typeface="Calibri"/>
              </a:rPr>
              <a:t>契約種別ごとに分岐した計算ロジック＋通貨換算</a:t>
            </a:r>
            <a:endParaRPr b="0" i="0" sz="900" u="none" cap="none" strike="noStrike">
              <a:solidFill>
                <a:schemeClr val="dk1"/>
              </a:solidFill>
              <a:latin typeface="Calibri"/>
              <a:ea typeface="Calibri"/>
              <a:cs typeface="Calibri"/>
              <a:sym typeface="Calibri"/>
            </a:endParaRPr>
          </a:p>
        </p:txBody>
      </p:sp>
      <p:cxnSp>
        <p:nvCxnSpPr>
          <p:cNvPr id="169" name="Google Shape;169;p6"/>
          <p:cNvCxnSpPr/>
          <p:nvPr/>
        </p:nvCxnSpPr>
        <p:spPr>
          <a:xfrm>
            <a:off x="6095848" y="5020056"/>
            <a:ext cx="0" cy="219456"/>
          </a:xfrm>
          <a:prstGeom prst="straightConnector1">
            <a:avLst/>
          </a:prstGeom>
          <a:noFill/>
          <a:ln cap="flat" cmpd="sng" w="19050">
            <a:solidFill>
              <a:srgbClr val="CADCFC"/>
            </a:solidFill>
            <a:prstDash val="solid"/>
            <a:round/>
            <a:headEnd len="sm" w="sm" type="none"/>
            <a:tailEnd len="med" w="med" type="triangle"/>
          </a:ln>
        </p:spPr>
      </p:cxnSp>
      <p:sp>
        <p:nvSpPr>
          <p:cNvPr id="170" name="Google Shape;170;p6"/>
          <p:cNvSpPr/>
          <p:nvPr/>
        </p:nvSpPr>
        <p:spPr>
          <a:xfrm>
            <a:off x="1920240" y="5239512"/>
            <a:ext cx="8348472" cy="1298448"/>
          </a:xfrm>
          <a:prstGeom prst="roundRect">
            <a:avLst>
              <a:gd fmla="val 4225" name="adj"/>
            </a:avLst>
          </a:prstGeom>
          <a:solidFill>
            <a:srgbClr val="FBFCFE"/>
          </a:solidFill>
          <a:ln cap="flat" cmpd="sng" w="19050">
            <a:solidFill>
              <a:srgbClr val="CADC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txBox="1"/>
          <p:nvPr/>
        </p:nvSpPr>
        <p:spPr>
          <a:xfrm>
            <a:off x="2148840" y="5312664"/>
            <a:ext cx="2743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00"/>
              <a:buFont typeface="Calibri"/>
              <a:buNone/>
            </a:pPr>
            <a:r>
              <a:rPr b="1" i="0" lang="en-US" sz="1100" u="none" cap="none" strike="noStrike">
                <a:solidFill>
                  <a:srgbClr val="1E2761"/>
                </a:solidFill>
                <a:latin typeface="Calibri"/>
                <a:ea typeface="Calibri"/>
                <a:cs typeface="Calibri"/>
                <a:sym typeface="Calibri"/>
              </a:rPr>
              <a:t>出力群</a:t>
            </a:r>
            <a:endParaRPr b="0" i="0" sz="1100" u="none" cap="none" strike="noStrike">
              <a:solidFill>
                <a:schemeClr val="dk1"/>
              </a:solidFill>
              <a:latin typeface="Calibri"/>
              <a:ea typeface="Calibri"/>
              <a:cs typeface="Calibri"/>
              <a:sym typeface="Calibri"/>
            </a:endParaRPr>
          </a:p>
        </p:txBody>
      </p:sp>
      <p:sp>
        <p:nvSpPr>
          <p:cNvPr id="172" name="Google Shape;172;p6"/>
          <p:cNvSpPr/>
          <p:nvPr/>
        </p:nvSpPr>
        <p:spPr>
          <a:xfrm>
            <a:off x="2148840" y="5623560"/>
            <a:ext cx="2495550" cy="777240"/>
          </a:xfrm>
          <a:prstGeom prst="roundRect">
            <a:avLst>
              <a:gd fmla="val 9412"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2276856" y="5820156"/>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FFFFFF.png" id="174" name="Google Shape;174;p6"/>
          <p:cNvPicPr preferRelativeResize="0"/>
          <p:nvPr/>
        </p:nvPicPr>
        <p:blipFill rotWithShape="1">
          <a:blip r:embed="rId12">
            <a:alphaModFix/>
          </a:blip>
          <a:srcRect b="0" l="0" r="0" t="0"/>
          <a:stretch/>
        </p:blipFill>
        <p:spPr>
          <a:xfrm>
            <a:off x="2369028" y="5912328"/>
            <a:ext cx="199705" cy="199705"/>
          </a:xfrm>
          <a:prstGeom prst="rect">
            <a:avLst/>
          </a:prstGeom>
          <a:noFill/>
          <a:ln>
            <a:noFill/>
          </a:ln>
        </p:spPr>
      </p:pic>
      <p:sp>
        <p:nvSpPr>
          <p:cNvPr id="175" name="Google Shape;175;p6"/>
          <p:cNvSpPr txBox="1"/>
          <p:nvPr/>
        </p:nvSpPr>
        <p:spPr>
          <a:xfrm>
            <a:off x="2770632" y="5676900"/>
            <a:ext cx="1762125"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コストセンター別予算配賦表</a:t>
            </a:r>
            <a:endParaRPr b="0" i="0" sz="1150" u="none" cap="none" strike="noStrike">
              <a:solidFill>
                <a:schemeClr val="dk1"/>
              </a:solidFill>
              <a:latin typeface="Calibri"/>
              <a:ea typeface="Calibri"/>
              <a:cs typeface="Calibri"/>
              <a:sym typeface="Calibri"/>
            </a:endParaRPr>
          </a:p>
        </p:txBody>
      </p:sp>
      <p:sp>
        <p:nvSpPr>
          <p:cNvPr id="176" name="Google Shape;176;p6"/>
          <p:cNvSpPr txBox="1"/>
          <p:nvPr/>
        </p:nvSpPr>
        <p:spPr>
          <a:xfrm>
            <a:off x="2770632" y="6076950"/>
            <a:ext cx="1762125" cy="28575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B6472"/>
              </a:buClr>
              <a:buSzPts val="830"/>
              <a:buFont typeface="Calibri"/>
              <a:buNone/>
            </a:pPr>
            <a:r>
              <a:rPr b="0" i="0" lang="en-US" sz="830" u="none" cap="none" strike="noStrike">
                <a:solidFill>
                  <a:srgbClr val="5B6472"/>
                </a:solidFill>
                <a:latin typeface="Calibri"/>
                <a:ea typeface="Calibri"/>
                <a:cs typeface="Calibri"/>
                <a:sym typeface="Calibri"/>
              </a:rPr>
              <a:t>15コストセンター単位の月次・年次</a:t>
            </a:r>
            <a:endParaRPr b="0" i="0" sz="830" u="none" cap="none" strike="noStrike">
              <a:solidFill>
                <a:schemeClr val="dk1"/>
              </a:solidFill>
              <a:latin typeface="Calibri"/>
              <a:ea typeface="Calibri"/>
              <a:cs typeface="Calibri"/>
              <a:sym typeface="Calibri"/>
            </a:endParaRPr>
          </a:p>
        </p:txBody>
      </p:sp>
      <p:sp>
        <p:nvSpPr>
          <p:cNvPr id="190" name="Google Shape;172;p6-o"/>
          <p:cNvSpPr/>
          <p:nvPr/>
        </p:nvSpPr>
        <p:spPr>
          <a:xfrm>
            <a:off x="4834890" y="5623560"/>
            <a:ext cx="2495550" cy="777240"/>
          </a:xfrm>
          <a:prstGeom prst="roundRect">
            <a:avLst>
              <a:gd fmla="val 9412"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73;p6-o"/>
          <p:cNvSpPr/>
          <p:nvPr/>
        </p:nvSpPr>
        <p:spPr>
          <a:xfrm>
            <a:off x="4962906" y="5820156"/>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FFFFFF.png" id="192" name="Google Shape;174;p6-o"/>
          <p:cNvPicPr preferRelativeResize="0"/>
          <p:nvPr/>
        </p:nvPicPr>
        <p:blipFill rotWithShape="1">
          <a:blip r:embed="rId12">
            <a:alphaModFix/>
          </a:blip>
          <a:srcRect b="0" l="0" r="0" t="0"/>
          <a:stretch/>
        </p:blipFill>
        <p:spPr>
          <a:xfrm>
            <a:off x="5055078" y="5912328"/>
            <a:ext cx="199705" cy="199705"/>
          </a:xfrm>
          <a:prstGeom prst="rect">
            <a:avLst/>
          </a:prstGeom>
          <a:noFill/>
          <a:ln>
            <a:noFill/>
          </a:ln>
        </p:spPr>
      </p:pic>
      <p:sp>
        <p:nvSpPr>
          <p:cNvPr id="193" name="Google Shape;175;p6-o"/>
          <p:cNvSpPr txBox="1"/>
          <p:nvPr/>
        </p:nvSpPr>
        <p:spPr>
          <a:xfrm>
            <a:off x="5456682" y="5676900"/>
            <a:ext cx="1762125"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IT部門全体総額</a:t>
            </a:r>
            <a:endParaRPr b="0" i="0" sz="1150" u="none" cap="none" strike="noStrike">
              <a:solidFill>
                <a:schemeClr val="dk1"/>
              </a:solidFill>
              <a:latin typeface="Calibri"/>
              <a:ea typeface="Calibri"/>
              <a:cs typeface="Calibri"/>
              <a:sym typeface="Calibri"/>
            </a:endParaRPr>
          </a:p>
        </p:txBody>
      </p:sp>
      <p:sp>
        <p:nvSpPr>
          <p:cNvPr id="194" name="Google Shape;176;p6-o"/>
          <p:cNvSpPr txBox="1"/>
          <p:nvPr/>
        </p:nvSpPr>
        <p:spPr>
          <a:xfrm>
            <a:off x="5456682" y="6076950"/>
            <a:ext cx="1762125" cy="28575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B6472"/>
              </a:buClr>
              <a:buSzPts val="830"/>
              <a:buFont typeface="Calibri"/>
              <a:buNone/>
            </a:pPr>
            <a:r>
              <a:rPr b="0" i="0" lang="en-US" sz="830" u="none" cap="none" strike="noStrike">
                <a:solidFill>
                  <a:srgbClr val="5B6472"/>
                </a:solidFill>
                <a:latin typeface="Calibri"/>
                <a:ea typeface="Calibri"/>
                <a:cs typeface="Calibri"/>
                <a:sym typeface="Calibri"/>
              </a:rPr>
              <a:t>コストセンターをまたいだRun予算の総額（月次・年次）</a:t>
            </a:r>
            <a:endParaRPr b="0" i="0" sz="830" u="none" cap="none" strike="noStrike">
              <a:solidFill>
                <a:schemeClr val="dk1"/>
              </a:solidFill>
              <a:latin typeface="Calibri"/>
              <a:ea typeface="Calibri"/>
              <a:cs typeface="Calibri"/>
              <a:sym typeface="Calibri"/>
            </a:endParaRPr>
          </a:p>
        </p:txBody>
      </p:sp>
      <p:sp>
        <p:nvSpPr>
          <p:cNvPr id="195" name="Google Shape;172;p6-o"/>
          <p:cNvSpPr/>
          <p:nvPr/>
        </p:nvSpPr>
        <p:spPr>
          <a:xfrm>
            <a:off x="7520940" y="5623560"/>
            <a:ext cx="2495550" cy="777240"/>
          </a:xfrm>
          <a:prstGeom prst="roundRect">
            <a:avLst>
              <a:gd fmla="val 9412" name="adj"/>
            </a:avLst>
          </a:prstGeom>
          <a:solidFill>
            <a:srgbClr val="F5F7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73;p6-o"/>
          <p:cNvSpPr/>
          <p:nvPr/>
        </p:nvSpPr>
        <p:spPr>
          <a:xfrm>
            <a:off x="7648956" y="5820156"/>
            <a:ext cx="384048" cy="384048"/>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database_FFFFFF.png" id="197" name="Google Shape;174;p6-o"/>
          <p:cNvPicPr preferRelativeResize="0"/>
          <p:nvPr/>
        </p:nvPicPr>
        <p:blipFill rotWithShape="1">
          <a:blip r:embed="rId12">
            <a:alphaModFix/>
          </a:blip>
          <a:srcRect b="0" l="0" r="0" t="0"/>
          <a:stretch/>
        </p:blipFill>
        <p:spPr>
          <a:xfrm>
            <a:off x="7741128" y="5912328"/>
            <a:ext cx="199705" cy="199705"/>
          </a:xfrm>
          <a:prstGeom prst="rect">
            <a:avLst/>
          </a:prstGeom>
          <a:noFill/>
          <a:ln>
            <a:noFill/>
          </a:ln>
        </p:spPr>
      </p:pic>
      <p:sp>
        <p:nvSpPr>
          <p:cNvPr id="198" name="Google Shape;175;p6-o"/>
          <p:cNvSpPr txBox="1"/>
          <p:nvPr/>
        </p:nvSpPr>
        <p:spPr>
          <a:xfrm>
            <a:off x="8142732" y="5676900"/>
            <a:ext cx="1762125" cy="381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勘定科目別集計表</a:t>
            </a:r>
            <a:endParaRPr b="0" i="0" sz="1150" u="none" cap="none" strike="noStrike">
              <a:solidFill>
                <a:schemeClr val="dk1"/>
              </a:solidFill>
              <a:latin typeface="Calibri"/>
              <a:ea typeface="Calibri"/>
              <a:cs typeface="Calibri"/>
              <a:sym typeface="Calibri"/>
            </a:endParaRPr>
          </a:p>
        </p:txBody>
      </p:sp>
      <p:sp>
        <p:nvSpPr>
          <p:cNvPr id="199" name="Google Shape;176;p6-o"/>
          <p:cNvSpPr txBox="1"/>
          <p:nvPr/>
        </p:nvSpPr>
        <p:spPr>
          <a:xfrm>
            <a:off x="8142732" y="6076950"/>
            <a:ext cx="1762125" cy="28575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5B6472"/>
              </a:buClr>
              <a:buSzPts val="830"/>
              <a:buFont typeface="Calibri"/>
              <a:buNone/>
            </a:pPr>
            <a:r>
              <a:rPr b="0" i="0" lang="en-US" sz="830" u="none" cap="none" strike="noStrike">
                <a:solidFill>
                  <a:srgbClr val="5B6472"/>
                </a:solidFill>
                <a:latin typeface="Calibri"/>
                <a:ea typeface="Calibri"/>
                <a:cs typeface="Calibri"/>
                <a:sym typeface="Calibri"/>
              </a:rPr>
              <a:t>減価償却費・通信費・業務委託費等の勘定科目単位</a:t>
            </a:r>
            <a:endParaRPr b="0" i="0" sz="830" u="none" cap="none" strike="noStrike">
              <a:solidFill>
                <a:schemeClr val="dk1"/>
              </a:solidFill>
              <a:latin typeface="Calibri"/>
              <a:ea typeface="Calibri"/>
              <a:cs typeface="Calibri"/>
              <a:sym typeface="Calibri"/>
            </a:endParaRPr>
          </a:p>
        </p:txBody>
      </p:sp>
      <p:sp>
        <p:nvSpPr>
          <p:cNvPr id="183" name="Google Shape;183;p6"/>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8" name="Shape 188"/>
        <p:cNvGrpSpPr/>
        <p:nvPr/>
      </p:nvGrpSpPr>
      <p:grpSpPr>
        <a:xfrm>
          <a:off x="0" y="0"/>
          <a:ext cx="0" cy="0"/>
          <a:chOff x="0" y="0"/>
          <a:chExt cx="0" cy="0"/>
        </a:xfrm>
      </p:grpSpPr>
      <p:sp>
        <p:nvSpPr>
          <p:cNvPr id="189" name="Google Shape;189;p7"/>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DRIVERS IN DETAIL</a:t>
            </a:r>
            <a:endParaRPr b="0" i="0" sz="1300" u="none" cap="none" strike="noStrike">
              <a:solidFill>
                <a:schemeClr val="dk1"/>
              </a:solidFill>
              <a:latin typeface="Calibri"/>
              <a:ea typeface="Calibri"/>
              <a:cs typeface="Calibri"/>
              <a:sym typeface="Calibri"/>
            </a:endParaRPr>
          </a:p>
        </p:txBody>
      </p:sp>
      <p:sp>
        <p:nvSpPr>
          <p:cNvPr id="190" name="Google Shape;190;p7"/>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ドライバーの詳細：予算を生む3つのコアマスタ</a:t>
            </a:r>
            <a:endParaRPr b="0" i="0" sz="3000" u="none" cap="none" strike="noStrike">
              <a:solidFill>
                <a:schemeClr val="dk1"/>
              </a:solidFill>
              <a:latin typeface="Calibri"/>
              <a:ea typeface="Calibri"/>
              <a:cs typeface="Calibri"/>
              <a:sym typeface="Calibri"/>
            </a:endParaRPr>
          </a:p>
        </p:txBody>
      </p:sp>
      <p:sp>
        <p:nvSpPr>
          <p:cNvPr id="191" name="Google Shape;191;p7"/>
          <p:cNvSpPr txBox="1"/>
          <p:nvPr/>
        </p:nvSpPr>
        <p:spPr>
          <a:xfrm>
            <a:off x="548640" y="123444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250"/>
              <a:buFont typeface="Calibri"/>
              <a:buNone/>
            </a:pPr>
            <a:r>
              <a:rPr b="0" i="0" lang="en-US" sz="1250" u="none" cap="none" strike="noStrike">
                <a:solidFill>
                  <a:srgbClr val="5B6472"/>
                </a:solidFill>
                <a:latin typeface="Calibri"/>
                <a:ea typeface="Calibri"/>
                <a:cs typeface="Calibri"/>
                <a:sym typeface="Calibri"/>
              </a:rPr>
              <a:t>予算計算の起点となる3つのコアマスタについて、主要項目と計算ロジックの概要を示します。</a:t>
            </a:r>
            <a:endParaRPr b="0" i="0" sz="1250" u="none" cap="none" strike="noStrike">
              <a:solidFill>
                <a:schemeClr val="dk1"/>
              </a:solidFill>
              <a:latin typeface="Calibri"/>
              <a:ea typeface="Calibri"/>
              <a:cs typeface="Calibri"/>
              <a:sym typeface="Calibri"/>
            </a:endParaRPr>
          </a:p>
        </p:txBody>
      </p:sp>
      <p:sp>
        <p:nvSpPr>
          <p:cNvPr id="192" name="Google Shape;192;p7"/>
          <p:cNvSpPr/>
          <p:nvPr/>
        </p:nvSpPr>
        <p:spPr>
          <a:xfrm>
            <a:off x="548640" y="1691640"/>
            <a:ext cx="3429000" cy="39776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822960" y="1947672"/>
            <a:ext cx="548640" cy="5486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filetext_FFFFFF.png" id="194" name="Google Shape;194;p7"/>
          <p:cNvPicPr preferRelativeResize="0"/>
          <p:nvPr/>
        </p:nvPicPr>
        <p:blipFill rotWithShape="1">
          <a:blip r:embed="rId3">
            <a:alphaModFix/>
          </a:blip>
          <a:srcRect b="0" l="0" r="0" t="0"/>
          <a:stretch/>
        </p:blipFill>
        <p:spPr>
          <a:xfrm>
            <a:off x="954634" y="2079346"/>
            <a:ext cx="285293" cy="285293"/>
          </a:xfrm>
          <a:prstGeom prst="rect">
            <a:avLst/>
          </a:prstGeom>
          <a:noFill/>
          <a:ln>
            <a:noFill/>
          </a:ln>
        </p:spPr>
      </p:pic>
      <p:sp>
        <p:nvSpPr>
          <p:cNvPr id="195" name="Google Shape;195;p7"/>
          <p:cNvSpPr txBox="1"/>
          <p:nvPr/>
        </p:nvSpPr>
        <p:spPr>
          <a:xfrm>
            <a:off x="1508760" y="1947672"/>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50"/>
              <a:buFont typeface="Cambria"/>
              <a:buNone/>
            </a:pPr>
            <a:r>
              <a:rPr b="1" i="0" lang="en-US" sz="1450" u="none" cap="none" strike="noStrike">
                <a:solidFill>
                  <a:srgbClr val="1E2761"/>
                </a:solidFill>
                <a:latin typeface="Cambria"/>
                <a:ea typeface="Cambria"/>
                <a:cs typeface="Cambria"/>
                <a:sym typeface="Cambria"/>
              </a:rPr>
              <a:t>契約マスタ</a:t>
            </a:r>
            <a:endParaRPr b="0" i="0" sz="1450" u="none" cap="none" strike="noStrike">
              <a:solidFill>
                <a:schemeClr val="dk1"/>
              </a:solidFill>
              <a:latin typeface="Calibri"/>
              <a:ea typeface="Calibri"/>
              <a:cs typeface="Calibri"/>
              <a:sym typeface="Calibri"/>
            </a:endParaRPr>
          </a:p>
        </p:txBody>
      </p:sp>
      <p:sp>
        <p:nvSpPr>
          <p:cNvPr id="196" name="Google Shape;196;p7"/>
          <p:cNvSpPr txBox="1"/>
          <p:nvPr/>
        </p:nvSpPr>
        <p:spPr>
          <a:xfrm>
            <a:off x="822960" y="2651760"/>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主要項目</a:t>
            </a:r>
            <a:endParaRPr b="0" i="0" sz="1000" u="none" cap="none" strike="noStrike">
              <a:solidFill>
                <a:schemeClr val="dk1"/>
              </a:solidFill>
              <a:latin typeface="Calibri"/>
              <a:ea typeface="Calibri"/>
              <a:cs typeface="Calibri"/>
              <a:sym typeface="Calibri"/>
            </a:endParaRPr>
          </a:p>
        </p:txBody>
      </p:sp>
      <p:sp>
        <p:nvSpPr>
          <p:cNvPr id="197" name="Google Shape;197;p7"/>
          <p:cNvSpPr txBox="1"/>
          <p:nvPr/>
        </p:nvSpPr>
        <p:spPr>
          <a:xfrm>
            <a:off x="822960" y="2898648"/>
            <a:ext cx="2880360" cy="868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契約種別（前払一括型／月額固定型／業務委託単価型）、契約金額、通貨、配賦先コストセンター、勘定科目コード</a:t>
            </a:r>
            <a:endParaRPr b="0" i="0" sz="930" u="none" cap="none" strike="noStrike">
              <a:solidFill>
                <a:schemeClr val="dk1"/>
              </a:solidFill>
              <a:latin typeface="Calibri"/>
              <a:ea typeface="Calibri"/>
              <a:cs typeface="Calibri"/>
              <a:sym typeface="Calibri"/>
            </a:endParaRPr>
          </a:p>
        </p:txBody>
      </p:sp>
      <p:cxnSp>
        <p:nvCxnSpPr>
          <p:cNvPr id="198" name="Google Shape;198;p7"/>
          <p:cNvCxnSpPr/>
          <p:nvPr/>
        </p:nvCxnSpPr>
        <p:spPr>
          <a:xfrm>
            <a:off x="822960" y="3813048"/>
            <a:ext cx="2880360" cy="0"/>
          </a:xfrm>
          <a:prstGeom prst="straightConnector1">
            <a:avLst/>
          </a:prstGeom>
          <a:noFill/>
          <a:ln cap="flat" cmpd="sng" w="9525">
            <a:solidFill>
              <a:srgbClr val="E3E6EE"/>
            </a:solidFill>
            <a:prstDash val="solid"/>
            <a:round/>
            <a:headEnd len="sm" w="sm" type="none"/>
            <a:tailEnd len="sm" w="sm" type="none"/>
          </a:ln>
        </p:spPr>
      </p:cxnSp>
      <p:sp>
        <p:nvSpPr>
          <p:cNvPr id="199" name="Google Shape;199;p7"/>
          <p:cNvSpPr txBox="1"/>
          <p:nvPr/>
        </p:nvSpPr>
        <p:spPr>
          <a:xfrm>
            <a:off x="822960" y="3922776"/>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計算ロジック</a:t>
            </a:r>
            <a:endParaRPr b="0" i="0" sz="1000" u="none" cap="none" strike="noStrike">
              <a:solidFill>
                <a:schemeClr val="dk1"/>
              </a:solidFill>
              <a:latin typeface="Calibri"/>
              <a:ea typeface="Calibri"/>
              <a:cs typeface="Calibri"/>
              <a:sym typeface="Calibri"/>
            </a:endParaRPr>
          </a:p>
        </p:txBody>
      </p:sp>
      <p:sp>
        <p:nvSpPr>
          <p:cNvPr id="200" name="Google Shape;200;p7"/>
          <p:cNvSpPr txBox="1"/>
          <p:nvPr/>
        </p:nvSpPr>
        <p:spPr>
          <a:xfrm>
            <a:off x="822960" y="4169664"/>
            <a:ext cx="2880360" cy="13258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・前払一括型：支払金額 ÷ 償却月数（既定12ヶ月）を月次PLに計上</a:t>
            </a:r>
            <a:endParaRPr b="0" i="0" sz="93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・月額固定型：月額固定額をそのまま月次PLに計上</a:t>
            </a:r>
            <a:endParaRPr b="0" i="0" sz="93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・業務委託単価型：単価情報のみ保持し、予算計上は組織・要員マスタ側で実施</a:t>
            </a:r>
            <a:endParaRPr b="0" i="0" sz="930" u="none" cap="none" strike="noStrike">
              <a:solidFill>
                <a:schemeClr val="dk1"/>
              </a:solidFill>
              <a:latin typeface="Calibri"/>
              <a:ea typeface="Calibri"/>
              <a:cs typeface="Calibri"/>
              <a:sym typeface="Calibri"/>
            </a:endParaRPr>
          </a:p>
        </p:txBody>
      </p:sp>
      <p:sp>
        <p:nvSpPr>
          <p:cNvPr id="201" name="Google Shape;201;p7"/>
          <p:cNvSpPr/>
          <p:nvPr/>
        </p:nvSpPr>
        <p:spPr>
          <a:xfrm>
            <a:off x="4297680" y="1691640"/>
            <a:ext cx="3429000" cy="39776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4572000" y="1947672"/>
            <a:ext cx="548640" cy="5486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harddrive_FFFFFF.png" id="203" name="Google Shape;203;p7"/>
          <p:cNvPicPr preferRelativeResize="0"/>
          <p:nvPr/>
        </p:nvPicPr>
        <p:blipFill rotWithShape="1">
          <a:blip r:embed="rId4">
            <a:alphaModFix/>
          </a:blip>
          <a:srcRect b="0" l="0" r="0" t="0"/>
          <a:stretch/>
        </p:blipFill>
        <p:spPr>
          <a:xfrm>
            <a:off x="4703674" y="2079346"/>
            <a:ext cx="285293" cy="285293"/>
          </a:xfrm>
          <a:prstGeom prst="rect">
            <a:avLst/>
          </a:prstGeom>
          <a:noFill/>
          <a:ln>
            <a:noFill/>
          </a:ln>
        </p:spPr>
      </p:pic>
      <p:sp>
        <p:nvSpPr>
          <p:cNvPr id="204" name="Google Shape;204;p7"/>
          <p:cNvSpPr txBox="1"/>
          <p:nvPr/>
        </p:nvSpPr>
        <p:spPr>
          <a:xfrm>
            <a:off x="5257800" y="1947672"/>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50"/>
              <a:buFont typeface="Cambria"/>
              <a:buNone/>
            </a:pPr>
            <a:r>
              <a:rPr b="1" i="0" lang="en-US" sz="1450" u="none" cap="none" strike="noStrike">
                <a:solidFill>
                  <a:srgbClr val="1E2761"/>
                </a:solidFill>
                <a:latin typeface="Cambria"/>
                <a:ea typeface="Cambria"/>
                <a:cs typeface="Cambria"/>
                <a:sym typeface="Cambria"/>
              </a:rPr>
              <a:t>固定資産マスタ</a:t>
            </a:r>
            <a:endParaRPr b="0" i="0" sz="1450" u="none" cap="none" strike="noStrike">
              <a:solidFill>
                <a:schemeClr val="dk1"/>
              </a:solidFill>
              <a:latin typeface="Calibri"/>
              <a:ea typeface="Calibri"/>
              <a:cs typeface="Calibri"/>
              <a:sym typeface="Calibri"/>
            </a:endParaRPr>
          </a:p>
        </p:txBody>
      </p:sp>
      <p:sp>
        <p:nvSpPr>
          <p:cNvPr id="205" name="Google Shape;205;p7"/>
          <p:cNvSpPr txBox="1"/>
          <p:nvPr/>
        </p:nvSpPr>
        <p:spPr>
          <a:xfrm>
            <a:off x="4572000" y="2651760"/>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主要項目</a:t>
            </a:r>
            <a:endParaRPr b="0" i="0" sz="1000" u="none" cap="none" strike="noStrike">
              <a:solidFill>
                <a:schemeClr val="dk1"/>
              </a:solidFill>
              <a:latin typeface="Calibri"/>
              <a:ea typeface="Calibri"/>
              <a:cs typeface="Calibri"/>
              <a:sym typeface="Calibri"/>
            </a:endParaRPr>
          </a:p>
        </p:txBody>
      </p:sp>
      <p:sp>
        <p:nvSpPr>
          <p:cNvPr id="206" name="Google Shape;206;p7"/>
          <p:cNvSpPr txBox="1"/>
          <p:nvPr/>
        </p:nvSpPr>
        <p:spPr>
          <a:xfrm>
            <a:off x="4572000" y="2898648"/>
            <a:ext cx="2880360" cy="868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資産名・用途、取得価額、通貨、社内耐用年数、配賦先コストセンター、勘定科目コード</a:t>
            </a:r>
            <a:endParaRPr b="0" i="0" sz="930" u="none" cap="none" strike="noStrike">
              <a:solidFill>
                <a:schemeClr val="dk1"/>
              </a:solidFill>
              <a:latin typeface="Calibri"/>
              <a:ea typeface="Calibri"/>
              <a:cs typeface="Calibri"/>
              <a:sym typeface="Calibri"/>
            </a:endParaRPr>
          </a:p>
        </p:txBody>
      </p:sp>
      <p:cxnSp>
        <p:nvCxnSpPr>
          <p:cNvPr id="207" name="Google Shape;207;p7"/>
          <p:cNvCxnSpPr/>
          <p:nvPr/>
        </p:nvCxnSpPr>
        <p:spPr>
          <a:xfrm>
            <a:off x="4572000" y="3813048"/>
            <a:ext cx="2880360" cy="0"/>
          </a:xfrm>
          <a:prstGeom prst="straightConnector1">
            <a:avLst/>
          </a:prstGeom>
          <a:noFill/>
          <a:ln cap="flat" cmpd="sng" w="9525">
            <a:solidFill>
              <a:srgbClr val="E3E6EE"/>
            </a:solidFill>
            <a:prstDash val="solid"/>
            <a:round/>
            <a:headEnd len="sm" w="sm" type="none"/>
            <a:tailEnd len="sm" w="sm" type="none"/>
          </a:ln>
        </p:spPr>
      </p:cxnSp>
      <p:sp>
        <p:nvSpPr>
          <p:cNvPr id="208" name="Google Shape;208;p7"/>
          <p:cNvSpPr txBox="1"/>
          <p:nvPr/>
        </p:nvSpPr>
        <p:spPr>
          <a:xfrm>
            <a:off x="4572000" y="3922776"/>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計算ロジック</a:t>
            </a:r>
            <a:endParaRPr b="0" i="0" sz="1000" u="none" cap="none" strike="noStrike">
              <a:solidFill>
                <a:schemeClr val="dk1"/>
              </a:solidFill>
              <a:latin typeface="Calibri"/>
              <a:ea typeface="Calibri"/>
              <a:cs typeface="Calibri"/>
              <a:sym typeface="Calibri"/>
            </a:endParaRPr>
          </a:p>
        </p:txBody>
      </p:sp>
      <p:sp>
        <p:nvSpPr>
          <p:cNvPr id="209" name="Google Shape;209;p7"/>
          <p:cNvSpPr txBox="1"/>
          <p:nvPr/>
        </p:nvSpPr>
        <p:spPr>
          <a:xfrm>
            <a:off x="4572000" y="4169664"/>
            <a:ext cx="2880360" cy="13258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・月次減価償却費 ＝ 取得価額 ÷ 社内耐用年数（定額法）</a:t>
            </a:r>
            <a:endParaRPr b="0" i="0" sz="93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・償却終了月まで自動的に計上を継続する</a:t>
            </a:r>
            <a:endParaRPr b="0" i="0" sz="930" u="none" cap="none" strike="noStrike">
              <a:solidFill>
                <a:schemeClr val="dk1"/>
              </a:solidFill>
              <a:latin typeface="Calibri"/>
              <a:ea typeface="Calibri"/>
              <a:cs typeface="Calibri"/>
              <a:sym typeface="Calibri"/>
            </a:endParaRPr>
          </a:p>
        </p:txBody>
      </p:sp>
      <p:sp>
        <p:nvSpPr>
          <p:cNvPr id="210" name="Google Shape;210;p7"/>
          <p:cNvSpPr/>
          <p:nvPr/>
        </p:nvSpPr>
        <p:spPr>
          <a:xfrm>
            <a:off x="8046720" y="1691640"/>
            <a:ext cx="3429000" cy="39776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8321040" y="1947672"/>
            <a:ext cx="548640" cy="5486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_FFFFFF.png" id="212" name="Google Shape;212;p7"/>
          <p:cNvPicPr preferRelativeResize="0"/>
          <p:nvPr/>
        </p:nvPicPr>
        <p:blipFill rotWithShape="1">
          <a:blip r:embed="rId5">
            <a:alphaModFix/>
          </a:blip>
          <a:srcRect b="0" l="0" r="0" t="0"/>
          <a:stretch/>
        </p:blipFill>
        <p:spPr>
          <a:xfrm>
            <a:off x="8452714" y="2079346"/>
            <a:ext cx="285293" cy="285293"/>
          </a:xfrm>
          <a:prstGeom prst="rect">
            <a:avLst/>
          </a:prstGeom>
          <a:noFill/>
          <a:ln>
            <a:noFill/>
          </a:ln>
        </p:spPr>
      </p:pic>
      <p:sp>
        <p:nvSpPr>
          <p:cNvPr id="213" name="Google Shape;213;p7"/>
          <p:cNvSpPr txBox="1"/>
          <p:nvPr/>
        </p:nvSpPr>
        <p:spPr>
          <a:xfrm>
            <a:off x="9006840" y="1947672"/>
            <a:ext cx="21945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50"/>
              <a:buFont typeface="Cambria"/>
              <a:buNone/>
            </a:pPr>
            <a:r>
              <a:rPr b="1" i="0" lang="en-US" sz="1450" u="none" cap="none" strike="noStrike">
                <a:solidFill>
                  <a:srgbClr val="1E2761"/>
                </a:solidFill>
                <a:latin typeface="Cambria"/>
                <a:ea typeface="Cambria"/>
                <a:cs typeface="Cambria"/>
                <a:sym typeface="Cambria"/>
              </a:rPr>
              <a:t>組織・要員マスタ</a:t>
            </a:r>
            <a:endParaRPr b="0" i="0" sz="1450" u="none" cap="none" strike="noStrike">
              <a:solidFill>
                <a:schemeClr val="dk1"/>
              </a:solidFill>
              <a:latin typeface="Calibri"/>
              <a:ea typeface="Calibri"/>
              <a:cs typeface="Calibri"/>
              <a:sym typeface="Calibri"/>
            </a:endParaRPr>
          </a:p>
        </p:txBody>
      </p:sp>
      <p:sp>
        <p:nvSpPr>
          <p:cNvPr id="214" name="Google Shape;214;p7"/>
          <p:cNvSpPr txBox="1"/>
          <p:nvPr/>
        </p:nvSpPr>
        <p:spPr>
          <a:xfrm>
            <a:off x="8321040" y="2651760"/>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主要項目</a:t>
            </a:r>
            <a:endParaRPr b="0" i="0" sz="1000" u="none" cap="none" strike="noStrike">
              <a:solidFill>
                <a:schemeClr val="dk1"/>
              </a:solidFill>
              <a:latin typeface="Calibri"/>
              <a:ea typeface="Calibri"/>
              <a:cs typeface="Calibri"/>
              <a:sym typeface="Calibri"/>
            </a:endParaRPr>
          </a:p>
        </p:txBody>
      </p:sp>
      <p:sp>
        <p:nvSpPr>
          <p:cNvPr id="215" name="Google Shape;215;p7"/>
          <p:cNvSpPr txBox="1"/>
          <p:nvPr/>
        </p:nvSpPr>
        <p:spPr>
          <a:xfrm>
            <a:off x="8321040" y="2898648"/>
            <a:ext cx="2880360" cy="868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種別（正社員／外部人材）、単価、配分先（コストセンター／プロジェクト）とFTE比率</a:t>
            </a:r>
            <a:endParaRPr b="0" i="0" sz="930" u="none" cap="none" strike="noStrike">
              <a:solidFill>
                <a:schemeClr val="dk1"/>
              </a:solidFill>
              <a:latin typeface="Calibri"/>
              <a:ea typeface="Calibri"/>
              <a:cs typeface="Calibri"/>
              <a:sym typeface="Calibri"/>
            </a:endParaRPr>
          </a:p>
        </p:txBody>
      </p:sp>
      <p:cxnSp>
        <p:nvCxnSpPr>
          <p:cNvPr id="216" name="Google Shape;216;p7"/>
          <p:cNvCxnSpPr/>
          <p:nvPr/>
        </p:nvCxnSpPr>
        <p:spPr>
          <a:xfrm>
            <a:off x="8321040" y="3813048"/>
            <a:ext cx="2880360" cy="0"/>
          </a:xfrm>
          <a:prstGeom prst="straightConnector1">
            <a:avLst/>
          </a:prstGeom>
          <a:noFill/>
          <a:ln cap="flat" cmpd="sng" w="9525">
            <a:solidFill>
              <a:srgbClr val="E3E6EE"/>
            </a:solidFill>
            <a:prstDash val="solid"/>
            <a:round/>
            <a:headEnd len="sm" w="sm" type="none"/>
            <a:tailEnd len="sm" w="sm" type="none"/>
          </a:ln>
        </p:spPr>
      </p:cxnSp>
      <p:sp>
        <p:nvSpPr>
          <p:cNvPr id="217" name="Google Shape;217;p7"/>
          <p:cNvSpPr txBox="1"/>
          <p:nvPr/>
        </p:nvSpPr>
        <p:spPr>
          <a:xfrm>
            <a:off x="8321040" y="3922776"/>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000"/>
              <a:buFont typeface="Calibri"/>
              <a:buNone/>
            </a:pPr>
            <a:r>
              <a:rPr b="1" i="0" lang="en-US" sz="1000" u="none" cap="none" strike="noStrike">
                <a:solidFill>
                  <a:srgbClr val="D4A017"/>
                </a:solidFill>
                <a:latin typeface="Calibri"/>
                <a:ea typeface="Calibri"/>
                <a:cs typeface="Calibri"/>
                <a:sym typeface="Calibri"/>
              </a:rPr>
              <a:t>計算ロジック</a:t>
            </a:r>
            <a:endParaRPr b="0" i="0" sz="1000" u="none" cap="none" strike="noStrike">
              <a:solidFill>
                <a:schemeClr val="dk1"/>
              </a:solidFill>
              <a:latin typeface="Calibri"/>
              <a:ea typeface="Calibri"/>
              <a:cs typeface="Calibri"/>
              <a:sym typeface="Calibri"/>
            </a:endParaRPr>
          </a:p>
        </p:txBody>
      </p:sp>
      <p:sp>
        <p:nvSpPr>
          <p:cNvPr id="218" name="Google Shape;218;p7"/>
          <p:cNvSpPr txBox="1"/>
          <p:nvPr/>
        </p:nvSpPr>
        <p:spPr>
          <a:xfrm>
            <a:off x="8321040" y="4169664"/>
            <a:ext cx="2880360" cy="13258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・単価 × FTE比率を各配分先に按分して計上</a:t>
            </a:r>
            <a:endParaRPr b="0" i="0" sz="930" u="none" cap="none" strike="noStrike">
              <a:solidFill>
                <a:schemeClr val="dk1"/>
              </a:solidFill>
              <a:latin typeface="Calibri"/>
              <a:ea typeface="Calibri"/>
              <a:cs typeface="Calibri"/>
              <a:sym typeface="Calibri"/>
            </a:endParaRPr>
          </a:p>
          <a:p>
            <a:pPr indent="0" lvl="0" marL="0" marR="0" rtl="0" algn="l">
              <a:lnSpc>
                <a:spcPct val="122000"/>
              </a:lnSpc>
              <a:spcBef>
                <a:spcPts val="0"/>
              </a:spcBef>
              <a:spcAft>
                <a:spcPts val="0"/>
              </a:spcAft>
              <a:buClr>
                <a:srgbClr val="22262F"/>
              </a:buClr>
              <a:buSzPts val="930"/>
              <a:buFont typeface="Calibri"/>
              <a:buNone/>
            </a:pPr>
            <a:r>
              <a:rPr b="0" i="0" lang="en-US" sz="930" u="none" cap="none" strike="noStrike">
                <a:solidFill>
                  <a:srgbClr val="22262F"/>
                </a:solidFill>
                <a:latin typeface="Calibri"/>
                <a:ea typeface="Calibri"/>
                <a:cs typeface="Calibri"/>
                <a:sym typeface="Calibri"/>
              </a:rPr>
              <a:t>・プロジェクトへの配分分もRun予算として計上し、プロジェクトマスタの負担コストセンターに配賦する</a:t>
            </a:r>
            <a:endParaRPr b="0" i="0" sz="930" u="none" cap="none" strike="noStrike">
              <a:solidFill>
                <a:schemeClr val="dk1"/>
              </a:solidFill>
              <a:latin typeface="Calibri"/>
              <a:ea typeface="Calibri"/>
              <a:cs typeface="Calibri"/>
              <a:sym typeface="Calibri"/>
            </a:endParaRPr>
          </a:p>
        </p:txBody>
      </p:sp>
      <p:sp>
        <p:nvSpPr>
          <p:cNvPr id="219" name="Google Shape;219;p7"/>
          <p:cNvSpPr txBox="1"/>
          <p:nvPr/>
        </p:nvSpPr>
        <p:spPr>
          <a:xfrm>
            <a:off x="548640" y="5852160"/>
            <a:ext cx="11094415"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472"/>
              </a:buClr>
              <a:buSzPts val="1050"/>
              <a:buFont typeface="Calibri"/>
              <a:buNone/>
            </a:pPr>
            <a:r>
              <a:rPr b="0" i="1" lang="en-US" sz="1050" u="none" cap="none" strike="noStrike">
                <a:solidFill>
                  <a:srgbClr val="5B6472"/>
                </a:solidFill>
                <a:latin typeface="Calibri"/>
                <a:ea typeface="Calibri"/>
                <a:cs typeface="Calibri"/>
                <a:sym typeface="Calibri"/>
              </a:rPr>
              <a:t>コストセンター・勘定科目・プロジェクト・為替レートの共通ディメンションマスタ、および経費予算（従来方式）の全体像は前頁（全体アーキテクチャ）を参照。</a:t>
            </a:r>
            <a:endParaRPr b="0" i="0" sz="1050" u="none" cap="none" strike="noStrike">
              <a:solidFill>
                <a:schemeClr val="dk1"/>
              </a:solidFill>
              <a:latin typeface="Calibri"/>
              <a:ea typeface="Calibri"/>
              <a:cs typeface="Calibri"/>
              <a:sym typeface="Calibri"/>
            </a:endParaRPr>
          </a:p>
        </p:txBody>
      </p:sp>
      <p:sp>
        <p:nvSpPr>
          <p:cNvPr id="220" name="Google Shape;220;p7"/>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8"/>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IMPLEMENTATION</a:t>
            </a:r>
            <a:endParaRPr b="0" i="0" sz="1300" u="none" cap="none" strike="noStrike">
              <a:solidFill>
                <a:schemeClr val="dk1"/>
              </a:solidFill>
              <a:latin typeface="Calibri"/>
              <a:ea typeface="Calibri"/>
              <a:cs typeface="Calibri"/>
              <a:sym typeface="Calibri"/>
            </a:endParaRPr>
          </a:p>
        </p:txBody>
      </p:sp>
      <p:sp>
        <p:nvSpPr>
          <p:cNvPr id="227" name="Google Shape;227;p8"/>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実装方式：Excel＋Power Query／Power Pivot</a:t>
            </a:r>
            <a:endParaRPr b="0" i="0" sz="3000" u="none" cap="none" strike="noStrike">
              <a:solidFill>
                <a:schemeClr val="dk1"/>
              </a:solidFill>
              <a:latin typeface="Calibri"/>
              <a:ea typeface="Calibri"/>
              <a:cs typeface="Calibri"/>
              <a:sym typeface="Calibri"/>
            </a:endParaRPr>
          </a:p>
        </p:txBody>
      </p:sp>
      <p:sp>
        <p:nvSpPr>
          <p:cNvPr id="228" name="Google Shape;228;p8"/>
          <p:cNvSpPr/>
          <p:nvPr/>
        </p:nvSpPr>
        <p:spPr>
          <a:xfrm>
            <a:off x="54864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86868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rid_FFFFFF.png" id="230" name="Google Shape;230;p8"/>
          <p:cNvPicPr preferRelativeResize="0"/>
          <p:nvPr/>
        </p:nvPicPr>
        <p:blipFill rotWithShape="1">
          <a:blip r:embed="rId3">
            <a:alphaModFix/>
          </a:blip>
          <a:srcRect b="0" l="0" r="0" t="0"/>
          <a:stretch/>
        </p:blipFill>
        <p:spPr>
          <a:xfrm>
            <a:off x="1086307" y="2229307"/>
            <a:ext cx="341986" cy="341986"/>
          </a:xfrm>
          <a:prstGeom prst="rect">
            <a:avLst/>
          </a:prstGeom>
          <a:noFill/>
          <a:ln>
            <a:noFill/>
          </a:ln>
        </p:spPr>
      </p:pic>
      <p:sp>
        <p:nvSpPr>
          <p:cNvPr id="231" name="Google Shape;231;p8"/>
          <p:cNvSpPr txBox="1"/>
          <p:nvPr/>
        </p:nvSpPr>
        <p:spPr>
          <a:xfrm>
            <a:off x="86868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既存基盤を活用</a:t>
            </a:r>
            <a:endParaRPr b="0" i="0" sz="1650" u="none" cap="none" strike="noStrike">
              <a:solidFill>
                <a:schemeClr val="dk1"/>
              </a:solidFill>
              <a:latin typeface="Calibri"/>
              <a:ea typeface="Calibri"/>
              <a:cs typeface="Calibri"/>
              <a:sym typeface="Calibri"/>
            </a:endParaRPr>
          </a:p>
        </p:txBody>
      </p:sp>
      <p:sp>
        <p:nvSpPr>
          <p:cNvPr id="232" name="Google Shape;232;p8"/>
          <p:cNvSpPr txBox="1"/>
          <p:nvPr/>
        </p:nvSpPr>
        <p:spPr>
          <a:xfrm>
            <a:off x="86868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追加のライセンスやツール導入なしに、使い慣れたWindows版Excelを土台として構築します。マスタブックと計算ブックは物理的に分離し、マスタの誤操作が計算ロジックに影響しない構成とします。導入・教育のコストを最小限に抑えられる点も採用理由です。</a:t>
            </a:r>
            <a:endParaRPr b="0" i="0" sz="1150" u="none" cap="none" strike="noStrike">
              <a:solidFill>
                <a:schemeClr val="dk1"/>
              </a:solidFill>
              <a:latin typeface="Calibri"/>
              <a:ea typeface="Calibri"/>
              <a:cs typeface="Calibri"/>
              <a:sym typeface="Calibri"/>
            </a:endParaRPr>
          </a:p>
        </p:txBody>
      </p:sp>
      <p:sp>
        <p:nvSpPr>
          <p:cNvPr id="233" name="Google Shape;233;p8"/>
          <p:cNvSpPr/>
          <p:nvPr/>
        </p:nvSpPr>
        <p:spPr>
          <a:xfrm>
            <a:off x="429768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461772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efresh_FFFFFF.png" id="235" name="Google Shape;235;p8"/>
          <p:cNvPicPr preferRelativeResize="0"/>
          <p:nvPr/>
        </p:nvPicPr>
        <p:blipFill rotWithShape="1">
          <a:blip r:embed="rId4">
            <a:alphaModFix/>
          </a:blip>
          <a:srcRect b="0" l="0" r="0" t="0"/>
          <a:stretch/>
        </p:blipFill>
        <p:spPr>
          <a:xfrm>
            <a:off x="4835347" y="2229307"/>
            <a:ext cx="341986" cy="341986"/>
          </a:xfrm>
          <a:prstGeom prst="rect">
            <a:avLst/>
          </a:prstGeom>
          <a:noFill/>
          <a:ln>
            <a:noFill/>
          </a:ln>
        </p:spPr>
      </p:pic>
      <p:sp>
        <p:nvSpPr>
          <p:cNvPr id="236" name="Google Shape;236;p8"/>
          <p:cNvSpPr txBox="1"/>
          <p:nvPr/>
        </p:nvSpPr>
        <p:spPr>
          <a:xfrm>
            <a:off x="461772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自動化で属人化を防止</a:t>
            </a:r>
            <a:endParaRPr b="0" i="0" sz="1650" u="none" cap="none" strike="noStrike">
              <a:solidFill>
                <a:schemeClr val="dk1"/>
              </a:solidFill>
              <a:latin typeface="Calibri"/>
              <a:ea typeface="Calibri"/>
              <a:cs typeface="Calibri"/>
              <a:sym typeface="Calibri"/>
            </a:endParaRPr>
          </a:p>
        </p:txBody>
      </p:sp>
      <p:sp>
        <p:nvSpPr>
          <p:cNvPr id="237" name="Google Shape;237;p8"/>
          <p:cNvSpPr txBox="1"/>
          <p:nvPr/>
        </p:nvSpPr>
        <p:spPr>
          <a:xfrm>
            <a:off x="461772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マスタデータからPower QueryとDAXメジャーによる数式で自動計算することを基本とし、手動での個別調整を許容しない設計とします。同一のマスタ入力からは常に同一の予算数値が算出され（冪等性）、誤りの原因を計算ロジックではなくマスタデータの品質に一本化できます。</a:t>
            </a:r>
            <a:endParaRPr b="0" i="0" sz="1150" u="none" cap="none" strike="noStrike">
              <a:solidFill>
                <a:schemeClr val="dk1"/>
              </a:solidFill>
              <a:latin typeface="Calibri"/>
              <a:ea typeface="Calibri"/>
              <a:cs typeface="Calibri"/>
              <a:sym typeface="Calibri"/>
            </a:endParaRPr>
          </a:p>
        </p:txBody>
      </p:sp>
      <p:sp>
        <p:nvSpPr>
          <p:cNvPr id="238" name="Google Shape;238;p8"/>
          <p:cNvSpPr/>
          <p:nvPr/>
        </p:nvSpPr>
        <p:spPr>
          <a:xfrm>
            <a:off x="804672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836676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ending_FFFFFF.png" id="240" name="Google Shape;240;p8"/>
          <p:cNvPicPr preferRelativeResize="0"/>
          <p:nvPr/>
        </p:nvPicPr>
        <p:blipFill rotWithShape="1">
          <a:blip r:embed="rId5">
            <a:alphaModFix/>
          </a:blip>
          <a:srcRect b="0" l="0" r="0" t="0"/>
          <a:stretch/>
        </p:blipFill>
        <p:spPr>
          <a:xfrm>
            <a:off x="8584387" y="2229307"/>
            <a:ext cx="341986" cy="341986"/>
          </a:xfrm>
          <a:prstGeom prst="rect">
            <a:avLst/>
          </a:prstGeom>
          <a:noFill/>
          <a:ln>
            <a:noFill/>
          </a:ln>
        </p:spPr>
      </p:pic>
      <p:sp>
        <p:nvSpPr>
          <p:cNvPr id="241" name="Google Shape;241;p8"/>
          <p:cNvSpPr txBox="1"/>
          <p:nvPr/>
        </p:nvSpPr>
        <p:spPr>
          <a:xfrm>
            <a:off x="836676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将来の拡張性</a:t>
            </a:r>
            <a:endParaRPr b="0" i="0" sz="1650" u="none" cap="none" strike="noStrike">
              <a:solidFill>
                <a:schemeClr val="dk1"/>
              </a:solidFill>
              <a:latin typeface="Calibri"/>
              <a:ea typeface="Calibri"/>
              <a:cs typeface="Calibri"/>
              <a:sym typeface="Calibri"/>
            </a:endParaRPr>
          </a:p>
        </p:txBody>
      </p:sp>
      <p:sp>
        <p:nvSpPr>
          <p:cNvPr id="242" name="Google Shape;242;p8"/>
          <p:cNvSpPr txBox="1"/>
          <p:nvPr/>
        </p:nvSpPr>
        <p:spPr>
          <a:xfrm>
            <a:off x="836676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想定している規模（契約・資産・要員を月次に展開して約8〜10万行）は、この構成で処理できる見込みです。将来、可視化の高度化や複数人での同時更新、実績データとの連携が必要になった場合は、Power QueryとDAXで記述した計算ロジックをそのままPower BIへ移行できる構成としています。</a:t>
            </a:r>
            <a:endParaRPr b="0" i="0" sz="1150" u="none" cap="none" strike="noStrike">
              <a:solidFill>
                <a:schemeClr val="dk1"/>
              </a:solidFill>
              <a:latin typeface="Calibri"/>
              <a:ea typeface="Calibri"/>
              <a:cs typeface="Calibri"/>
              <a:sym typeface="Calibri"/>
            </a:endParaRPr>
          </a:p>
        </p:txBody>
      </p:sp>
      <p:sp>
        <p:nvSpPr>
          <p:cNvPr id="243" name="Google Shape;243;p8"/>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248" name="Shape 248"/>
        <p:cNvGrpSpPr/>
        <p:nvPr/>
      </p:nvGrpSpPr>
      <p:grpSpPr>
        <a:xfrm>
          <a:off x="0" y="0"/>
          <a:ext cx="0" cy="0"/>
          <a:chOff x="0" y="0"/>
          <a:chExt cx="0" cy="0"/>
        </a:xfrm>
      </p:grpSpPr>
      <p:sp>
        <p:nvSpPr>
          <p:cNvPr id="249" name="Google Shape;249;p9"/>
          <p:cNvSpPr txBox="1"/>
          <p:nvPr/>
        </p:nvSpPr>
        <p:spPr>
          <a:xfrm>
            <a:off x="548640" y="68580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成功のカギ</a:t>
            </a:r>
            <a:endParaRPr b="0" i="0" sz="1300" u="none" cap="none" strike="noStrike">
              <a:solidFill>
                <a:schemeClr val="dk1"/>
              </a:solidFill>
              <a:latin typeface="Calibri"/>
              <a:ea typeface="Calibri"/>
              <a:cs typeface="Calibri"/>
              <a:sym typeface="Calibri"/>
            </a:endParaRPr>
          </a:p>
        </p:txBody>
      </p:sp>
      <p:sp>
        <p:nvSpPr>
          <p:cNvPr id="250" name="Google Shape;250;p9"/>
          <p:cNvSpPr txBox="1"/>
          <p:nvPr/>
        </p:nvSpPr>
        <p:spPr>
          <a:xfrm>
            <a:off x="548640" y="1005840"/>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新しい方式への理解とマスタデータ整備へのご協力</a:t>
            </a:r>
            <a:endParaRPr b="0" i="0" sz="2800" u="none" cap="none" strike="noStrike">
              <a:solidFill>
                <a:schemeClr val="dk1"/>
              </a:solidFill>
              <a:latin typeface="Calibri"/>
              <a:ea typeface="Calibri"/>
              <a:cs typeface="Calibri"/>
              <a:sym typeface="Calibri"/>
            </a:endParaRPr>
          </a:p>
        </p:txBody>
      </p:sp>
      <p:sp>
        <p:nvSpPr>
          <p:cNvPr id="251" name="Google Shape;251;p9"/>
          <p:cNvSpPr/>
          <p:nvPr/>
        </p:nvSpPr>
        <p:spPr>
          <a:xfrm>
            <a:off x="655168" y="2103120"/>
            <a:ext cx="5257800" cy="3429000"/>
          </a:xfrm>
          <a:prstGeom prst="roundRect">
            <a:avLst>
              <a:gd fmla="val 2133" name="adj"/>
            </a:avLst>
          </a:prstGeom>
          <a:solidFill>
            <a:srgbClr val="27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9"/>
          <p:cNvSpPr/>
          <p:nvPr/>
        </p:nvSpPr>
        <p:spPr>
          <a:xfrm>
            <a:off x="1020928" y="2468880"/>
            <a:ext cx="822960" cy="822960"/>
          </a:xfrm>
          <a:prstGeom prst="ellipse">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compass_1E2761.png" id="253" name="Google Shape;253;p9"/>
          <p:cNvPicPr preferRelativeResize="0"/>
          <p:nvPr/>
        </p:nvPicPr>
        <p:blipFill rotWithShape="1">
          <a:blip r:embed="rId3">
            <a:alphaModFix/>
          </a:blip>
          <a:srcRect b="0" l="0" r="0" t="0"/>
          <a:stretch/>
        </p:blipFill>
        <p:spPr>
          <a:xfrm>
            <a:off x="1251356" y="2699309"/>
            <a:ext cx="362102" cy="362102"/>
          </a:xfrm>
          <a:prstGeom prst="rect">
            <a:avLst/>
          </a:prstGeom>
          <a:noFill/>
          <a:ln>
            <a:noFill/>
          </a:ln>
        </p:spPr>
      </p:pic>
      <p:sp>
        <p:nvSpPr>
          <p:cNvPr id="254" name="Google Shape;254;p9"/>
          <p:cNvSpPr txBox="1"/>
          <p:nvPr/>
        </p:nvSpPr>
        <p:spPr>
          <a:xfrm>
            <a:off x="1020928" y="3474720"/>
            <a:ext cx="4526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変化を前向きに</a:t>
            </a:r>
            <a:endParaRPr b="0" i="0" sz="1800" u="none" cap="none" strike="noStrike">
              <a:solidFill>
                <a:schemeClr val="dk1"/>
              </a:solidFill>
              <a:latin typeface="Calibri"/>
              <a:ea typeface="Calibri"/>
              <a:cs typeface="Calibri"/>
              <a:sym typeface="Calibri"/>
            </a:endParaRPr>
          </a:p>
        </p:txBody>
      </p:sp>
      <p:sp>
        <p:nvSpPr>
          <p:cNvPr id="255" name="Google Shape;255;p9"/>
          <p:cNvSpPr txBox="1"/>
          <p:nvPr/>
        </p:nvSpPr>
        <p:spPr>
          <a:xfrm>
            <a:off x="1020928" y="3950208"/>
            <a:ext cx="4526280" cy="14173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予算策定方式の転換は、数字の「正しさ」を裏付ける仕組みへの投資です。恐れるものではなく、質の向上としてお受け止めいただきたいと考えています。M365ライセンス費用で前払費用（BS）による平準化モデルを導入した際も、当初は運用変更への戸惑いがありましたが、月次の予実が安定したことで定着しました。</a:t>
            </a:r>
            <a:endParaRPr b="0" i="0" sz="1200" u="none" cap="none" strike="noStrike">
              <a:solidFill>
                <a:schemeClr val="dk1"/>
              </a:solidFill>
              <a:latin typeface="Calibri"/>
              <a:ea typeface="Calibri"/>
              <a:cs typeface="Calibri"/>
              <a:sym typeface="Calibri"/>
            </a:endParaRPr>
          </a:p>
        </p:txBody>
      </p:sp>
      <p:sp>
        <p:nvSpPr>
          <p:cNvPr id="256" name="Google Shape;256;p9"/>
          <p:cNvSpPr/>
          <p:nvPr/>
        </p:nvSpPr>
        <p:spPr>
          <a:xfrm>
            <a:off x="6278728" y="2103120"/>
            <a:ext cx="5257800" cy="3429000"/>
          </a:xfrm>
          <a:prstGeom prst="roundRect">
            <a:avLst>
              <a:gd fmla="val 2133" name="adj"/>
            </a:avLst>
          </a:prstGeom>
          <a:solidFill>
            <a:srgbClr val="27357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6644488" y="2468880"/>
            <a:ext cx="822960" cy="822960"/>
          </a:xfrm>
          <a:prstGeom prst="ellipse">
            <a:avLst/>
          </a:prstGeom>
          <a:solidFill>
            <a:srgbClr val="D4A0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users_1E2761.png" id="258" name="Google Shape;258;p9"/>
          <p:cNvPicPr preferRelativeResize="0"/>
          <p:nvPr/>
        </p:nvPicPr>
        <p:blipFill rotWithShape="1">
          <a:blip r:embed="rId4">
            <a:alphaModFix/>
          </a:blip>
          <a:srcRect b="0" l="0" r="0" t="0"/>
          <a:stretch/>
        </p:blipFill>
        <p:spPr>
          <a:xfrm>
            <a:off x="6874916" y="2699309"/>
            <a:ext cx="362102" cy="362102"/>
          </a:xfrm>
          <a:prstGeom prst="rect">
            <a:avLst/>
          </a:prstGeom>
          <a:noFill/>
          <a:ln>
            <a:noFill/>
          </a:ln>
        </p:spPr>
      </p:pic>
      <p:sp>
        <p:nvSpPr>
          <p:cNvPr id="259" name="Google Shape;259;p9"/>
          <p:cNvSpPr txBox="1"/>
          <p:nvPr/>
        </p:nvSpPr>
        <p:spPr>
          <a:xfrm>
            <a:off x="6644488" y="3474720"/>
            <a:ext cx="4526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mbria"/>
              <a:buNone/>
            </a:pPr>
            <a:r>
              <a:rPr b="1" i="0" lang="en-US" sz="1800" u="none" cap="none" strike="noStrike">
                <a:solidFill>
                  <a:srgbClr val="FFFFFF"/>
                </a:solidFill>
                <a:latin typeface="Cambria"/>
                <a:ea typeface="Cambria"/>
                <a:cs typeface="Cambria"/>
                <a:sym typeface="Cambria"/>
              </a:rPr>
              <a:t>マスタデータへのご協力</a:t>
            </a:r>
            <a:endParaRPr b="0" i="0" sz="1800" u="none" cap="none" strike="noStrike">
              <a:solidFill>
                <a:schemeClr val="dk1"/>
              </a:solidFill>
              <a:latin typeface="Calibri"/>
              <a:ea typeface="Calibri"/>
              <a:cs typeface="Calibri"/>
              <a:sym typeface="Calibri"/>
            </a:endParaRPr>
          </a:p>
        </p:txBody>
      </p:sp>
      <p:sp>
        <p:nvSpPr>
          <p:cNvPr id="260" name="Google Shape;260;p9"/>
          <p:cNvSpPr txBox="1"/>
          <p:nvPr/>
        </p:nvSpPr>
        <p:spPr>
          <a:xfrm>
            <a:off x="6644488" y="3950208"/>
            <a:ext cx="4526280" cy="14173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この仕組みの成否は、契約・資産・要員マスタを正確に保ち続けられるかにかかっています。契約更新や人員異動が発生した際に、速やかにマスタへ反映いただく運用ルールの整備を含め、部門としての継続的なご協力をお願いします。</a:t>
            </a:r>
            <a:endParaRPr b="0" i="0" sz="1200" u="none" cap="none" strike="noStrike">
              <a:solidFill>
                <a:schemeClr val="dk1"/>
              </a:solidFill>
              <a:latin typeface="Calibri"/>
              <a:ea typeface="Calibri"/>
              <a:cs typeface="Calibri"/>
              <a:sym typeface="Calibri"/>
            </a:endParaRPr>
          </a:p>
        </p:txBody>
      </p:sp>
      <p:sp>
        <p:nvSpPr>
          <p:cNvPr id="261" name="Google Shape;261;p9"/>
          <p:cNvSpPr txBox="1"/>
          <p:nvPr/>
        </p:nvSpPr>
        <p:spPr>
          <a:xfrm>
            <a:off x="548640" y="5852160"/>
            <a:ext cx="11094415"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EB8D6"/>
              </a:buClr>
              <a:buSzPts val="1300"/>
              <a:buFont typeface="Calibri"/>
              <a:buNone/>
            </a:pPr>
            <a:r>
              <a:rPr b="0" i="0" lang="en-US" sz="1300" u="none" cap="none" strike="noStrike">
                <a:solidFill>
                  <a:srgbClr val="AEB8D6"/>
                </a:solidFill>
                <a:latin typeface="Calibri"/>
                <a:ea typeface="Calibri"/>
                <a:cs typeface="Calibri"/>
                <a:sym typeface="Calibri"/>
              </a:rPr>
              <a:t>ご清聴ありがとうございました。</a:t>
            </a:r>
            <a:endParaRPr b="0" i="0" sz="1300" u="none" cap="none" strike="noStrike">
              <a:solidFill>
                <a:schemeClr val="dk1"/>
              </a:solidFill>
              <a:latin typeface="Calibri"/>
              <a:ea typeface="Calibri"/>
              <a:cs typeface="Calibri"/>
              <a:sym typeface="Calibri"/>
            </a:endParaRPr>
          </a:p>
        </p:txBody>
      </p:sp>
      <p:sp>
        <p:nvSpPr>
          <p:cNvPr id="262" name="Google Shape;262;p9"/>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3A7"/>
              </a:buClr>
              <a:buSzPts val="900"/>
              <a:buFont typeface="Calibri"/>
              <a:buNone/>
            </a:pPr>
            <a:r>
              <a:rPr b="0" i="0" lang="en-US" sz="900" u="none" cap="none" strike="noStrike">
                <a:solidFill>
                  <a:srgbClr val="8B93A7"/>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8"/>
          <p:cNvSpPr txBox="1"/>
          <p:nvPr/>
        </p:nvSpPr>
        <p:spPr>
          <a:xfrm>
            <a:off x="548640" y="411480"/>
            <a:ext cx="9144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4A017"/>
              </a:buClr>
              <a:buSzPts val="1300"/>
              <a:buFont typeface="Calibri"/>
              <a:buNone/>
            </a:pPr>
            <a:r>
              <a:rPr b="1" i="0" lang="en-US" sz="1300" u="none" cap="none" strike="noStrike">
                <a:solidFill>
                  <a:srgbClr val="D4A017"/>
                </a:solidFill>
                <a:latin typeface="Calibri"/>
                <a:ea typeface="Calibri"/>
                <a:cs typeface="Calibri"/>
                <a:sym typeface="Calibri"/>
              </a:rPr>
              <a:t>SCOPE</a:t>
            </a:r>
            <a:endParaRPr b="0" i="0" sz="1300" u="none" cap="none" strike="noStrike">
              <a:solidFill>
                <a:schemeClr val="dk1"/>
              </a:solidFill>
              <a:latin typeface="Calibri"/>
              <a:ea typeface="Calibri"/>
              <a:cs typeface="Calibri"/>
              <a:sym typeface="Calibri"/>
            </a:endParaRPr>
          </a:p>
        </p:txBody>
      </p:sp>
      <p:sp>
        <p:nvSpPr>
          <p:cNvPr id="227" name="Google Shape;227;p8"/>
          <p:cNvSpPr txBox="1"/>
          <p:nvPr/>
        </p:nvSpPr>
        <p:spPr>
          <a:xfrm>
            <a:off x="548640" y="713232"/>
            <a:ext cx="1109441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3000"/>
              <a:buFont typeface="Cambria"/>
              <a:buNone/>
            </a:pPr>
            <a:r>
              <a:rPr b="1" i="0" lang="en-US" sz="3000" u="none" cap="none" strike="noStrike">
                <a:solidFill>
                  <a:srgbClr val="1E2761"/>
                </a:solidFill>
                <a:latin typeface="Cambria"/>
                <a:ea typeface="Cambria"/>
                <a:cs typeface="Cambria"/>
                <a:sym typeface="Cambria"/>
              </a:rPr>
              <a:t>対象範囲：Run予算に絞り込む</a:t>
            </a:r>
            <a:endParaRPr b="0" i="0" sz="3000" u="none" cap="none" strike="noStrike">
              <a:solidFill>
                <a:schemeClr val="dk1"/>
              </a:solidFill>
              <a:latin typeface="Calibri"/>
              <a:ea typeface="Calibri"/>
              <a:cs typeface="Calibri"/>
              <a:sym typeface="Calibri"/>
            </a:endParaRPr>
          </a:p>
        </p:txBody>
      </p:sp>
      <p:sp>
        <p:nvSpPr>
          <p:cNvPr id="228" name="Google Shape;228;p8"/>
          <p:cNvSpPr/>
          <p:nvPr/>
        </p:nvSpPr>
        <p:spPr>
          <a:xfrm>
            <a:off x="54864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86868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grid_FFFFFF.png" id="230" name="Google Shape;230;p8"/>
          <p:cNvPicPr preferRelativeResize="0"/>
          <p:nvPr/>
        </p:nvPicPr>
        <p:blipFill rotWithShape="1">
          <a:blip r:embed="rId3">
            <a:alphaModFix/>
          </a:blip>
          <a:srcRect b="0" l="0" r="0" t="0"/>
          <a:stretch/>
        </p:blipFill>
        <p:spPr>
          <a:xfrm>
            <a:off x="1086307" y="2229307"/>
            <a:ext cx="341986" cy="341986"/>
          </a:xfrm>
          <a:prstGeom prst="rect">
            <a:avLst/>
          </a:prstGeom>
          <a:noFill/>
          <a:ln>
            <a:noFill/>
          </a:ln>
        </p:spPr>
      </p:pic>
      <p:sp>
        <p:nvSpPr>
          <p:cNvPr id="231" name="Google Shape;231;p8"/>
          <p:cNvSpPr txBox="1"/>
          <p:nvPr/>
        </p:nvSpPr>
        <p:spPr>
          <a:xfrm>
            <a:off x="86868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対象：Run予算</a:t>
            </a:r>
            <a:endParaRPr b="0" i="0" sz="1650" u="none" cap="none" strike="noStrike">
              <a:solidFill>
                <a:schemeClr val="dk1"/>
              </a:solidFill>
              <a:latin typeface="Calibri"/>
              <a:ea typeface="Calibri"/>
              <a:cs typeface="Calibri"/>
              <a:sym typeface="Calibri"/>
            </a:endParaRPr>
          </a:p>
        </p:txBody>
      </p:sp>
      <p:sp>
        <p:nvSpPr>
          <p:cNvPr id="232" name="Google Shape;232;p8"/>
          <p:cNvSpPr txBox="1"/>
          <p:nvPr/>
        </p:nvSpPr>
        <p:spPr>
          <a:xfrm>
            <a:off x="86868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運用・維持のための経常的な予算を対象とします。契約マスタ・固定資産マスタ・組織要員マスタの3つのコアマスタから導出する費用と、従来方式で積み上げる経費予算（T&amp;E・教育費等）で構成されます。</a:t>
            </a:r>
            <a:endParaRPr b="0" i="0" sz="1150" u="none" cap="none" strike="noStrike">
              <a:solidFill>
                <a:schemeClr val="dk1"/>
              </a:solidFill>
              <a:latin typeface="Calibri"/>
              <a:ea typeface="Calibri"/>
              <a:cs typeface="Calibri"/>
              <a:sym typeface="Calibri"/>
            </a:endParaRPr>
          </a:p>
        </p:txBody>
      </p:sp>
      <p:sp>
        <p:nvSpPr>
          <p:cNvPr id="233" name="Google Shape;233;p8"/>
          <p:cNvSpPr/>
          <p:nvPr/>
        </p:nvSpPr>
        <p:spPr>
          <a:xfrm>
            <a:off x="429768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461772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refresh_FFFFFF.png" id="235" name="Google Shape;235;p8"/>
          <p:cNvPicPr preferRelativeResize="0"/>
          <p:nvPr/>
        </p:nvPicPr>
        <p:blipFill rotWithShape="1">
          <a:blip r:embed="rId4">
            <a:alphaModFix/>
          </a:blip>
          <a:srcRect b="0" l="0" r="0" t="0"/>
          <a:stretch/>
        </p:blipFill>
        <p:spPr>
          <a:xfrm>
            <a:off x="4835347" y="2229307"/>
            <a:ext cx="341986" cy="341986"/>
          </a:xfrm>
          <a:prstGeom prst="rect">
            <a:avLst/>
          </a:prstGeom>
          <a:noFill/>
          <a:ln>
            <a:noFill/>
          </a:ln>
        </p:spPr>
      </p:pic>
      <p:sp>
        <p:nvSpPr>
          <p:cNvPr id="236" name="Google Shape;236;p8"/>
          <p:cNvSpPr txBox="1"/>
          <p:nvPr/>
        </p:nvSpPr>
        <p:spPr>
          <a:xfrm>
            <a:off x="461772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対象外：Grow／Transform予算</a:t>
            </a:r>
            <a:endParaRPr b="0" i="0" sz="1650" u="none" cap="none" strike="noStrike">
              <a:solidFill>
                <a:schemeClr val="dk1"/>
              </a:solidFill>
              <a:latin typeface="Calibri"/>
              <a:ea typeface="Calibri"/>
              <a:cs typeface="Calibri"/>
              <a:sym typeface="Calibri"/>
            </a:endParaRPr>
          </a:p>
        </p:txBody>
      </p:sp>
      <p:sp>
        <p:nvSpPr>
          <p:cNvPr id="237" name="Google Shape;237;p8"/>
          <p:cNvSpPr txBox="1"/>
          <p:nvPr/>
        </p:nvSpPr>
        <p:spPr>
          <a:xfrm>
            <a:off x="461772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プロジェクト・新規投資の予算は対象外です。契約という確定した事実からの導出ではなく、ROIや優先順位に基づく意思決定に属するため、本方式にはなじみません。別途プロジェクト予算のガバナンスで管理します。リース資産も、現時点で契約が存在しないため今回は実装しません。</a:t>
            </a:r>
            <a:endParaRPr b="0" i="0" sz="1150" u="none" cap="none" strike="noStrike">
              <a:solidFill>
                <a:schemeClr val="dk1"/>
              </a:solidFill>
              <a:latin typeface="Calibri"/>
              <a:ea typeface="Calibri"/>
              <a:cs typeface="Calibri"/>
              <a:sym typeface="Calibri"/>
            </a:endParaRPr>
          </a:p>
        </p:txBody>
      </p:sp>
      <p:sp>
        <p:nvSpPr>
          <p:cNvPr id="238" name="Google Shape;238;p8"/>
          <p:cNvSpPr/>
          <p:nvPr/>
        </p:nvSpPr>
        <p:spPr>
          <a:xfrm>
            <a:off x="8046720" y="1691640"/>
            <a:ext cx="3429000" cy="3520440"/>
          </a:xfrm>
          <a:prstGeom prst="roundRect">
            <a:avLst>
              <a:gd fmla="val 2133" name="adj"/>
            </a:avLst>
          </a:prstGeom>
          <a:solidFill>
            <a:srgbClr val="F5F7FC"/>
          </a:solidFill>
          <a:ln>
            <a:noFill/>
          </a:ln>
          <a:effectLst>
            <a:outerShdw blurRad="101600" rotWithShape="0" algn="bl" dir="5400000" dist="25400">
              <a:srgbClr val="1E2761">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8366760" y="2011680"/>
            <a:ext cx="777240" cy="777240"/>
          </a:xfrm>
          <a:prstGeom prst="ellipse">
            <a:avLst/>
          </a:prstGeom>
          <a:solidFill>
            <a:srgbClr val="1E27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icons/trending_FFFFFF.png" id="240" name="Google Shape;240;p8"/>
          <p:cNvPicPr preferRelativeResize="0"/>
          <p:nvPr/>
        </p:nvPicPr>
        <p:blipFill rotWithShape="1">
          <a:blip r:embed="rId5">
            <a:alphaModFix/>
          </a:blip>
          <a:srcRect b="0" l="0" r="0" t="0"/>
          <a:stretch/>
        </p:blipFill>
        <p:spPr>
          <a:xfrm>
            <a:off x="8584387" y="2229307"/>
            <a:ext cx="341986" cy="341986"/>
          </a:xfrm>
          <a:prstGeom prst="rect">
            <a:avLst/>
          </a:prstGeom>
          <a:noFill/>
          <a:ln>
            <a:noFill/>
          </a:ln>
        </p:spPr>
      </p:pic>
      <p:sp>
        <p:nvSpPr>
          <p:cNvPr id="241" name="Google Shape;241;p8"/>
          <p:cNvSpPr txBox="1"/>
          <p:nvPr/>
        </p:nvSpPr>
        <p:spPr>
          <a:xfrm>
            <a:off x="8366760" y="2926080"/>
            <a:ext cx="27889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50"/>
              <a:buFont typeface="Cambria"/>
              <a:buNone/>
            </a:pPr>
            <a:r>
              <a:rPr b="1" i="0" lang="en-US" sz="1650" u="none" cap="none" strike="noStrike">
                <a:solidFill>
                  <a:srgbClr val="1E2761"/>
                </a:solidFill>
                <a:latin typeface="Cambria"/>
                <a:ea typeface="Cambria"/>
                <a:cs typeface="Cambria"/>
                <a:sym typeface="Cambria"/>
              </a:rPr>
              <a:t>境界：プロジェクトの人件費</a:t>
            </a:r>
            <a:endParaRPr b="0" i="0" sz="1650" u="none" cap="none" strike="noStrike">
              <a:solidFill>
                <a:schemeClr val="dk1"/>
              </a:solidFill>
              <a:latin typeface="Calibri"/>
              <a:ea typeface="Calibri"/>
              <a:cs typeface="Calibri"/>
              <a:sym typeface="Calibri"/>
            </a:endParaRPr>
          </a:p>
        </p:txBody>
      </p:sp>
      <p:sp>
        <p:nvSpPr>
          <p:cNvPr id="242" name="Google Shape;242;p8"/>
          <p:cNvSpPr txBox="1"/>
          <p:nvPr/>
        </p:nvSpPr>
        <p:spPr>
          <a:xfrm>
            <a:off x="8366760" y="3474720"/>
            <a:ext cx="2788920" cy="1554480"/>
          </a:xfrm>
          <a:prstGeom prst="rect">
            <a:avLst/>
          </a:prstGeom>
          <a:noFill/>
          <a:ln>
            <a:noFill/>
          </a:ln>
        </p:spPr>
        <p:txBody>
          <a:bodyPr anchorCtr="0" anchor="t" bIns="0" lIns="0" spcFirstLastPara="1" rIns="0" wrap="square" tIns="0">
            <a:noAutofit/>
          </a:bodyPr>
          <a:lstStyle/>
          <a:p>
            <a:pPr indent="0" lvl="0" marL="0" marR="0" rtl="0" algn="l">
              <a:lnSpc>
                <a:spcPct val="122000"/>
              </a:lnSpc>
              <a:spcBef>
                <a:spcPts val="0"/>
              </a:spcBef>
              <a:spcAft>
                <a:spcPts val="0"/>
              </a:spcAft>
              <a:buClr>
                <a:srgbClr val="22262F"/>
              </a:buClr>
              <a:buSzPts val="1150"/>
              <a:buFont typeface="Calibri"/>
              <a:buNone/>
            </a:pPr>
            <a:r>
              <a:rPr b="0" i="0" lang="en-US" sz="1150" u="none" cap="none" strike="noStrike">
                <a:solidFill>
                  <a:srgbClr val="22262F"/>
                </a:solidFill>
                <a:latin typeface="Calibri"/>
                <a:ea typeface="Calibri"/>
                <a:cs typeface="Calibri"/>
                <a:sym typeface="Calibri"/>
              </a:rPr>
              <a:t>要員がプロジェクトにアサインされている場合も、その人件費は正社員・外部人材を問わずRun予算として計上します。一方、プロジェクトの開発そのものは別途請負契約を締結し、Grow／Transform予算側で予算化します。</a:t>
            </a:r>
            <a:endParaRPr b="0" i="0" sz="1150" u="none" cap="none" strike="noStrike">
              <a:solidFill>
                <a:schemeClr val="dk1"/>
              </a:solidFill>
              <a:latin typeface="Calibri"/>
              <a:ea typeface="Calibri"/>
              <a:cs typeface="Calibri"/>
              <a:sym typeface="Calibri"/>
            </a:endParaRPr>
          </a:p>
        </p:txBody>
      </p:sp>
      <p:sp>
        <p:nvSpPr>
          <p:cNvPr id="243" name="Google Shape;243;p8"/>
          <p:cNvSpPr txBox="1"/>
          <p:nvPr/>
        </p:nvSpPr>
        <p:spPr>
          <a:xfrm>
            <a:off x="11094415" y="6473952"/>
            <a:ext cx="5486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