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822960" y="1554480"/>
            <a:ext cx="10515600" cy="2011680"/>
          </a:xfrm>
          <a:prstGeom prst="rect">
            <a:avLst/>
          </a:prstGeom>
          <a:noFill/>
          <a:ln/>
        </p:spPr>
        <p:txBody>
          <a:bodyPr wrap="square" lIns="0" tIns="0" rIns="0" bIns="0" rtlCol="0" anchor="b"/>
          <a:lstStyle/>
          <a:p>
            <a:pPr indent="0" marL="0">
              <a:buNone/>
            </a:pPr>
            <a:r>
              <a:rPr lang="en-US" sz="4800" b="1" dirty="0">
                <a:solidFill>
                  <a:srgbClr val="1C2B45"/>
                </a:solidFill>
                <a:latin typeface="Yu Gothic" pitchFamily="34" charset="0"/>
                <a:ea typeface="Yu Gothic" pitchFamily="34" charset="-122"/>
                <a:cs typeface="Yu Gothic" pitchFamily="34" charset="-120"/>
              </a:rPr>
              <a:t>新しいIT投資ガバナンスモデルに</a:t>
            </a:r>
            <a:endParaRPr lang="en-US" sz="4800" dirty="0"/>
          </a:p>
          <a:p>
            <a:pPr indent="0" marL="0">
              <a:buNone/>
            </a:pPr>
            <a:r>
              <a:rPr lang="en-US" sz="4800" b="1" dirty="0">
                <a:solidFill>
                  <a:srgbClr val="1C2B45"/>
                </a:solidFill>
                <a:latin typeface="Yu Gothic" pitchFamily="34" charset="0"/>
                <a:ea typeface="Yu Gothic" pitchFamily="34" charset="-122"/>
                <a:cs typeface="Yu Gothic" pitchFamily="34" charset="-120"/>
              </a:rPr>
              <a:t>関する一考察</a:t>
            </a:r>
            <a:endParaRPr lang="en-US" sz="4800" dirty="0"/>
          </a:p>
        </p:txBody>
      </p:sp>
      <p:sp>
        <p:nvSpPr>
          <p:cNvPr id="3" name="Shape 1"/>
          <p:cNvSpPr/>
          <p:nvPr/>
        </p:nvSpPr>
        <p:spPr>
          <a:xfrm>
            <a:off x="822960" y="3794760"/>
            <a:ext cx="6949440" cy="0"/>
          </a:xfrm>
          <a:prstGeom prst="line">
            <a:avLst/>
          </a:prstGeom>
          <a:noFill/>
          <a:ln w="19050">
            <a:solidFill>
              <a:srgbClr val="5E7391"/>
            </a:solidFill>
            <a:prstDash val="solid"/>
          </a:ln>
        </p:spPr>
      </p:sp>
      <p:sp>
        <p:nvSpPr>
          <p:cNvPr id="4" name="Text 2"/>
          <p:cNvSpPr txBox="1"/>
          <p:nvPr/>
        </p:nvSpPr>
        <p:spPr>
          <a:xfrm>
            <a:off x="822960" y="4023360"/>
            <a:ext cx="10058400" cy="1463040"/>
          </a:xfrm>
          <a:prstGeom prst="rect">
            <a:avLst/>
          </a:prstGeom>
          <a:noFill/>
          <a:ln/>
        </p:spPr>
        <p:txBody>
          <a:bodyPr wrap="square" lIns="0" tIns="0" rIns="0" bIns="0" rtlCol="0" anchor="t"/>
          <a:lstStyle/>
          <a:p>
            <a:pPr indent="0" marL="0">
              <a:spcAft>
                <a:spcPts val="400"/>
              </a:spcAft>
              <a:buNone/>
            </a:pPr>
            <a:r>
              <a:rPr lang="en-US" sz="2000" dirty="0">
                <a:solidFill>
                  <a:srgbClr val="5E7391"/>
                </a:solidFill>
                <a:latin typeface="Yu Gothic" pitchFamily="34" charset="0"/>
                <a:ea typeface="Yu Gothic" pitchFamily="34" charset="-122"/>
                <a:cs typeface="Yu Gothic" pitchFamily="34" charset="-120"/>
              </a:rPr>
              <a:t>1　変更前と変更後の比較</a:t>
            </a:r>
            <a:endParaRPr lang="en-US" sz="2000" dirty="0"/>
          </a:p>
          <a:p>
            <a:pPr indent="0" marL="0">
              <a:spcAft>
                <a:spcPts val="400"/>
              </a:spcAft>
              <a:buNone/>
            </a:pPr>
            <a:r>
              <a:rPr lang="en-US" sz="2000" dirty="0">
                <a:solidFill>
                  <a:srgbClr val="5E7391"/>
                </a:solidFill>
                <a:latin typeface="Yu Gothic" pitchFamily="34" charset="0"/>
                <a:ea typeface="Yu Gothic" pitchFamily="34" charset="-122"/>
                <a:cs typeface="Yu Gothic" pitchFamily="34" charset="-120"/>
              </a:rPr>
              <a:t>2　現状の課題と新モデルで解決すること</a:t>
            </a:r>
            <a:endParaRPr lang="en-US" sz="2000" dirty="0"/>
          </a:p>
          <a:p>
            <a:pPr indent="0" marL="0">
              <a:spcAft>
                <a:spcPts val="400"/>
              </a:spcAft>
              <a:buNone/>
            </a:pPr>
            <a:r>
              <a:rPr lang="en-US" sz="2000" dirty="0">
                <a:solidFill>
                  <a:srgbClr val="5E7391"/>
                </a:solidFill>
                <a:latin typeface="Yu Gothic" pitchFamily="34" charset="0"/>
                <a:ea typeface="Yu Gothic" pitchFamily="34" charset="-122"/>
                <a:cs typeface="Yu Gothic" pitchFamily="34" charset="-120"/>
              </a:rPr>
              <a:t>3　新モデルで解決しないこと</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2</a:t>
            </a:r>
            <a:endParaRPr lang="en-US" sz="1000" dirty="0"/>
          </a:p>
        </p:txBody>
      </p:sp>
      <p:sp>
        <p:nvSpPr>
          <p:cNvPr id="3" name="Text 1"/>
          <p:cNvSpPr txBox="1"/>
          <p:nvPr/>
        </p:nvSpPr>
        <p:spPr>
          <a:xfrm>
            <a:off x="822960" y="2377440"/>
            <a:ext cx="10515600" cy="548640"/>
          </a:xfrm>
          <a:prstGeom prst="rect">
            <a:avLst/>
          </a:prstGeom>
          <a:noFill/>
          <a:ln/>
        </p:spPr>
        <p:txBody>
          <a:bodyPr wrap="square" lIns="0" tIns="0" rIns="0" bIns="0" rtlCol="0" anchor="t"/>
          <a:lstStyle/>
          <a:p>
            <a:pPr indent="0" marL="0">
              <a:buNone/>
            </a:pPr>
            <a:r>
              <a:rPr lang="en-US" sz="2200" b="1" dirty="0">
                <a:solidFill>
                  <a:srgbClr val="5E7391"/>
                </a:solidFill>
                <a:latin typeface="Yu Gothic" pitchFamily="34" charset="0"/>
                <a:ea typeface="Yu Gothic" pitchFamily="34" charset="-122"/>
                <a:cs typeface="Yu Gothic" pitchFamily="34" charset="-120"/>
              </a:rPr>
              <a:t>1</a:t>
            </a:r>
            <a:endParaRPr lang="en-US" sz="2200" dirty="0"/>
          </a:p>
        </p:txBody>
      </p:sp>
      <p:sp>
        <p:nvSpPr>
          <p:cNvPr id="4" name="Text 2"/>
          <p:cNvSpPr txBox="1"/>
          <p:nvPr/>
        </p:nvSpPr>
        <p:spPr>
          <a:xfrm>
            <a:off x="822960" y="2926080"/>
            <a:ext cx="10515600" cy="914400"/>
          </a:xfrm>
          <a:prstGeom prst="rect">
            <a:avLst/>
          </a:prstGeom>
          <a:noFill/>
          <a:ln/>
        </p:spPr>
        <p:txBody>
          <a:bodyPr wrap="square" lIns="0" tIns="0" rIns="0" bIns="0" rtlCol="0" anchor="ctr"/>
          <a:lstStyle/>
          <a:p>
            <a:pPr indent="0" marL="0">
              <a:buNone/>
            </a:pPr>
            <a:r>
              <a:rPr lang="en-US" sz="4000" b="1" dirty="0">
                <a:solidFill>
                  <a:srgbClr val="1C2B45"/>
                </a:solidFill>
                <a:latin typeface="Yu Gothic" pitchFamily="34" charset="0"/>
                <a:ea typeface="Yu Gothic" pitchFamily="34" charset="-122"/>
                <a:cs typeface="Yu Gothic" pitchFamily="34" charset="-120"/>
              </a:rPr>
              <a:t>変更前と変更後の比較</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変更前後の比較①：会議体</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3</a:t>
            </a:r>
            <a:endParaRPr lang="en-US" sz="1000" dirty="0"/>
          </a:p>
        </p:txBody>
      </p:sp>
      <p:sp>
        <p:nvSpPr>
          <p:cNvPr id="4" name="Text 2"/>
          <p:cNvSpPr txBox="1"/>
          <p:nvPr/>
        </p:nvSpPr>
        <p:spPr>
          <a:xfrm>
            <a:off x="548640" y="1051560"/>
            <a:ext cx="4572000" cy="365760"/>
          </a:xfrm>
          <a:prstGeom prst="rect">
            <a:avLst/>
          </a:prstGeom>
          <a:noFill/>
          <a:ln/>
        </p:spPr>
        <p:txBody>
          <a:bodyPr wrap="square" lIns="0" tIns="0" rIns="0" bIns="0" rtlCol="0" anchor="t"/>
          <a:lstStyle/>
          <a:p>
            <a:pPr algn="ctr" indent="0" marL="0">
              <a:buNone/>
            </a:pPr>
            <a:r>
              <a:rPr lang="en-US" sz="1600" b="1" dirty="0">
                <a:solidFill>
                  <a:srgbClr val="5E7391"/>
                </a:solidFill>
                <a:latin typeface="Yu Gothic" pitchFamily="34" charset="0"/>
                <a:ea typeface="Yu Gothic" pitchFamily="34" charset="-122"/>
                <a:cs typeface="Yu Gothic" pitchFamily="34" charset="-120"/>
              </a:rPr>
              <a:t>変更前</a:t>
            </a:r>
            <a:endParaRPr lang="en-US" sz="1600" dirty="0"/>
          </a:p>
        </p:txBody>
      </p:sp>
      <p:sp>
        <p:nvSpPr>
          <p:cNvPr id="5" name="Text 3"/>
          <p:cNvSpPr txBox="1"/>
          <p:nvPr/>
        </p:nvSpPr>
        <p:spPr>
          <a:xfrm>
            <a:off x="6675120" y="1051560"/>
            <a:ext cx="4983480" cy="365760"/>
          </a:xfrm>
          <a:prstGeom prst="rect">
            <a:avLst/>
          </a:prstGeom>
          <a:noFill/>
          <a:ln/>
        </p:spPr>
        <p:txBody>
          <a:bodyPr wrap="square" lIns="0" tIns="0" rIns="0" bIns="0" rtlCol="0" anchor="t"/>
          <a:lstStyle/>
          <a:p>
            <a:pPr algn="ctr" indent="0" marL="0">
              <a:buNone/>
            </a:pPr>
            <a:r>
              <a:rPr lang="en-US" sz="1600" b="1" dirty="0">
                <a:solidFill>
                  <a:srgbClr val="1C2B45"/>
                </a:solidFill>
                <a:latin typeface="Yu Gothic" pitchFamily="34" charset="0"/>
                <a:ea typeface="Yu Gothic" pitchFamily="34" charset="-122"/>
                <a:cs typeface="Yu Gothic" pitchFamily="34" charset="-120"/>
              </a:rPr>
              <a:t>変更後</a:t>
            </a:r>
            <a:endParaRPr lang="en-US" sz="1600" dirty="0"/>
          </a:p>
        </p:txBody>
      </p:sp>
      <p:sp>
        <p:nvSpPr>
          <p:cNvPr id="6" name="Shape 4"/>
          <p:cNvSpPr/>
          <p:nvPr/>
        </p:nvSpPr>
        <p:spPr>
          <a:xfrm>
            <a:off x="548640" y="1508760"/>
            <a:ext cx="4572000" cy="1078992"/>
          </a:xfrm>
          <a:prstGeom prst="rect">
            <a:avLst/>
          </a:prstGeom>
          <a:solidFill>
            <a:srgbClr val="FBFAF6"/>
          </a:solidFill>
          <a:ln w="15875">
            <a:solidFill>
              <a:srgbClr val="5E7391"/>
            </a:solidFill>
            <a:prstDash val="solid"/>
          </a:ln>
        </p:spPr>
      </p:sp>
      <p:sp>
        <p:nvSpPr>
          <p:cNvPr id="7" name="Text 5"/>
          <p:cNvSpPr txBox="1"/>
          <p:nvPr/>
        </p:nvSpPr>
        <p:spPr>
          <a:xfrm>
            <a:off x="685800" y="1508760"/>
            <a:ext cx="1234440" cy="1078992"/>
          </a:xfrm>
          <a:prstGeom prst="rect">
            <a:avLst/>
          </a:prstGeom>
          <a:noFill/>
          <a:ln/>
        </p:spPr>
        <p:txBody>
          <a:bodyPr wrap="square" lIns="0" tIns="0" rIns="0" bIns="0" rtlCol="0" anchor="ctr"/>
          <a:lstStyle/>
          <a:p>
            <a:pPr indent="0" marL="0">
              <a:buNone/>
            </a:pPr>
            <a:r>
              <a:rPr lang="en-US" sz="1300" b="1" dirty="0">
                <a:solidFill>
                  <a:srgbClr val="5E7391"/>
                </a:solidFill>
                <a:latin typeface="Yu Gothic" pitchFamily="34" charset="0"/>
                <a:ea typeface="Yu Gothic" pitchFamily="34" charset="-122"/>
                <a:cs typeface="Yu Gothic" pitchFamily="34" charset="-120"/>
              </a:rPr>
              <a:t>DIB</a:t>
            </a:r>
            <a:endParaRPr lang="en-US" sz="1300" dirty="0"/>
          </a:p>
        </p:txBody>
      </p:sp>
      <p:sp>
        <p:nvSpPr>
          <p:cNvPr id="8" name="Shape 6"/>
          <p:cNvSpPr/>
          <p:nvPr/>
        </p:nvSpPr>
        <p:spPr>
          <a:xfrm>
            <a:off x="1965960" y="1618488"/>
            <a:ext cx="0" cy="859536"/>
          </a:xfrm>
          <a:prstGeom prst="line">
            <a:avLst/>
          </a:prstGeom>
          <a:noFill/>
          <a:ln w="12700">
            <a:solidFill>
              <a:srgbClr val="CFCABE"/>
            </a:solidFill>
            <a:prstDash val="solid"/>
          </a:ln>
        </p:spPr>
      </p:sp>
      <p:sp>
        <p:nvSpPr>
          <p:cNvPr id="9" name="Text 7"/>
          <p:cNvSpPr txBox="1"/>
          <p:nvPr/>
        </p:nvSpPr>
        <p:spPr>
          <a:xfrm>
            <a:off x="2103120" y="1508760"/>
            <a:ext cx="2926080" cy="1078992"/>
          </a:xfrm>
          <a:prstGeom prst="rect">
            <a:avLst/>
          </a:prstGeom>
          <a:noFill/>
          <a:ln/>
        </p:spPr>
        <p:txBody>
          <a:bodyPr wrap="square" lIns="0" tIns="0" rIns="0" bIns="0" rtlCol="0" anchor="ctr"/>
          <a:lstStyle/>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承認者：役員レベル</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対象：50百万円以上の投資計画（年1回、予算編成前）</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目的：予算計上の是非（予算承認）</a:t>
            </a:r>
            <a:endParaRPr lang="en-US" sz="1050" dirty="0"/>
          </a:p>
        </p:txBody>
      </p:sp>
      <p:sp>
        <p:nvSpPr>
          <p:cNvPr id="10" name="Shape 8"/>
          <p:cNvSpPr/>
          <p:nvPr/>
        </p:nvSpPr>
        <p:spPr>
          <a:xfrm>
            <a:off x="548640" y="2734056"/>
            <a:ext cx="4572000" cy="1078992"/>
          </a:xfrm>
          <a:prstGeom prst="rect">
            <a:avLst/>
          </a:prstGeom>
          <a:solidFill>
            <a:srgbClr val="FBFAF6"/>
          </a:solidFill>
          <a:ln w="15875">
            <a:solidFill>
              <a:srgbClr val="5E7391"/>
            </a:solidFill>
            <a:prstDash val="solid"/>
          </a:ln>
        </p:spPr>
      </p:sp>
      <p:sp>
        <p:nvSpPr>
          <p:cNvPr id="11" name="Text 9"/>
          <p:cNvSpPr txBox="1"/>
          <p:nvPr/>
        </p:nvSpPr>
        <p:spPr>
          <a:xfrm>
            <a:off x="685800" y="2734056"/>
            <a:ext cx="1234440" cy="1078992"/>
          </a:xfrm>
          <a:prstGeom prst="rect">
            <a:avLst/>
          </a:prstGeom>
          <a:noFill/>
          <a:ln/>
        </p:spPr>
        <p:txBody>
          <a:bodyPr wrap="square" lIns="0" tIns="0" rIns="0" bIns="0" rtlCol="0" anchor="ctr"/>
          <a:lstStyle/>
          <a:p>
            <a:pPr indent="0" marL="0">
              <a:buNone/>
            </a:pPr>
            <a:r>
              <a:rPr lang="en-US" sz="1300" b="1" dirty="0">
                <a:solidFill>
                  <a:srgbClr val="5E7391"/>
                </a:solidFill>
                <a:latin typeface="Yu Gothic" pitchFamily="34" charset="0"/>
                <a:ea typeface="Yu Gothic" pitchFamily="34" charset="-122"/>
                <a:cs typeface="Yu Gothic" pitchFamily="34" charset="-120"/>
              </a:rPr>
              <a:t>ICTB</a:t>
            </a:r>
            <a:endParaRPr lang="en-US" sz="1300" dirty="0"/>
          </a:p>
          <a:p>
            <a:pPr indent="0" marL="0">
              <a:buNone/>
            </a:pPr>
            <a:r>
              <a:rPr lang="en-US" sz="1300" b="1" dirty="0">
                <a:solidFill>
                  <a:srgbClr val="5E7391"/>
                </a:solidFill>
                <a:latin typeface="Yu Gothic" pitchFamily="34" charset="0"/>
                <a:ea typeface="Yu Gothic" pitchFamily="34" charset="-122"/>
                <a:cs typeface="Yu Gothic" pitchFamily="34" charset="-120"/>
              </a:rPr>
              <a:t>（ローカル）</a:t>
            </a:r>
            <a:endParaRPr lang="en-US" sz="1300" dirty="0"/>
          </a:p>
        </p:txBody>
      </p:sp>
      <p:sp>
        <p:nvSpPr>
          <p:cNvPr id="12" name="Shape 10"/>
          <p:cNvSpPr/>
          <p:nvPr/>
        </p:nvSpPr>
        <p:spPr>
          <a:xfrm>
            <a:off x="1965960" y="2843784"/>
            <a:ext cx="0" cy="859536"/>
          </a:xfrm>
          <a:prstGeom prst="line">
            <a:avLst/>
          </a:prstGeom>
          <a:noFill/>
          <a:ln w="12700">
            <a:solidFill>
              <a:srgbClr val="CFCABE"/>
            </a:solidFill>
            <a:prstDash val="solid"/>
          </a:ln>
        </p:spPr>
      </p:sp>
      <p:sp>
        <p:nvSpPr>
          <p:cNvPr id="13" name="Text 11"/>
          <p:cNvSpPr txBox="1"/>
          <p:nvPr/>
        </p:nvSpPr>
        <p:spPr>
          <a:xfrm>
            <a:off x="2103120" y="2734056"/>
            <a:ext cx="2926080" cy="1078992"/>
          </a:xfrm>
          <a:prstGeom prst="rect">
            <a:avLst/>
          </a:prstGeom>
          <a:noFill/>
          <a:ln/>
        </p:spPr>
        <p:txBody>
          <a:bodyPr wrap="square" lIns="0" tIns="0" rIns="0" bIns="0" rtlCol="0" anchor="ctr"/>
          <a:lstStyle/>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承認者：IT部門責任者</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対象：単一の国・地域に閉じた案件</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目的：実行計画の承認（実行承認）</a:t>
            </a:r>
            <a:endParaRPr lang="en-US" sz="1050" dirty="0"/>
          </a:p>
        </p:txBody>
      </p:sp>
      <p:sp>
        <p:nvSpPr>
          <p:cNvPr id="14" name="Shape 12"/>
          <p:cNvSpPr/>
          <p:nvPr/>
        </p:nvSpPr>
        <p:spPr>
          <a:xfrm>
            <a:off x="548640" y="3959352"/>
            <a:ext cx="4572000" cy="1078992"/>
          </a:xfrm>
          <a:prstGeom prst="rect">
            <a:avLst/>
          </a:prstGeom>
          <a:solidFill>
            <a:srgbClr val="FBFAF6"/>
          </a:solidFill>
          <a:ln w="15875">
            <a:solidFill>
              <a:srgbClr val="5E7391"/>
            </a:solidFill>
            <a:prstDash val="solid"/>
          </a:ln>
        </p:spPr>
      </p:sp>
      <p:sp>
        <p:nvSpPr>
          <p:cNvPr id="15" name="Text 13"/>
          <p:cNvSpPr txBox="1"/>
          <p:nvPr/>
        </p:nvSpPr>
        <p:spPr>
          <a:xfrm>
            <a:off x="685800" y="3959352"/>
            <a:ext cx="1234440" cy="1078992"/>
          </a:xfrm>
          <a:prstGeom prst="rect">
            <a:avLst/>
          </a:prstGeom>
          <a:noFill/>
          <a:ln/>
        </p:spPr>
        <p:txBody>
          <a:bodyPr wrap="square" lIns="0" tIns="0" rIns="0" bIns="0" rtlCol="0" anchor="ctr"/>
          <a:lstStyle/>
          <a:p>
            <a:pPr indent="0" marL="0">
              <a:buNone/>
            </a:pPr>
            <a:r>
              <a:rPr lang="en-US" sz="1300" b="1" dirty="0">
                <a:solidFill>
                  <a:srgbClr val="5E7391"/>
                </a:solidFill>
                <a:latin typeface="Yu Gothic" pitchFamily="34" charset="0"/>
                <a:ea typeface="Yu Gothic" pitchFamily="34" charset="-122"/>
                <a:cs typeface="Yu Gothic" pitchFamily="34" charset="-120"/>
              </a:rPr>
              <a:t>ICTB</a:t>
            </a:r>
            <a:endParaRPr lang="en-US" sz="1300" dirty="0"/>
          </a:p>
          <a:p>
            <a:pPr indent="0" marL="0">
              <a:buNone/>
            </a:pPr>
            <a:r>
              <a:rPr lang="en-US" sz="1300" b="1" dirty="0">
                <a:solidFill>
                  <a:srgbClr val="5E7391"/>
                </a:solidFill>
                <a:latin typeface="Yu Gothic" pitchFamily="34" charset="0"/>
                <a:ea typeface="Yu Gothic" pitchFamily="34" charset="-122"/>
                <a:cs typeface="Yu Gothic" pitchFamily="34" charset="-120"/>
              </a:rPr>
              <a:t>（グローバル）</a:t>
            </a:r>
            <a:endParaRPr lang="en-US" sz="1300" dirty="0"/>
          </a:p>
        </p:txBody>
      </p:sp>
      <p:sp>
        <p:nvSpPr>
          <p:cNvPr id="16" name="Shape 14"/>
          <p:cNvSpPr/>
          <p:nvPr/>
        </p:nvSpPr>
        <p:spPr>
          <a:xfrm>
            <a:off x="1965960" y="4069080"/>
            <a:ext cx="0" cy="859536"/>
          </a:xfrm>
          <a:prstGeom prst="line">
            <a:avLst/>
          </a:prstGeom>
          <a:noFill/>
          <a:ln w="12700">
            <a:solidFill>
              <a:srgbClr val="CFCABE"/>
            </a:solidFill>
            <a:prstDash val="solid"/>
          </a:ln>
        </p:spPr>
      </p:sp>
      <p:sp>
        <p:nvSpPr>
          <p:cNvPr id="17" name="Text 15"/>
          <p:cNvSpPr txBox="1"/>
          <p:nvPr/>
        </p:nvSpPr>
        <p:spPr>
          <a:xfrm>
            <a:off x="2103120" y="3959352"/>
            <a:ext cx="2926080" cy="1078992"/>
          </a:xfrm>
          <a:prstGeom prst="rect">
            <a:avLst/>
          </a:prstGeom>
          <a:noFill/>
          <a:ln/>
        </p:spPr>
        <p:txBody>
          <a:bodyPr wrap="square" lIns="0" tIns="0" rIns="0" bIns="0" rtlCol="0" anchor="ctr"/>
          <a:lstStyle/>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承認者：IT部門責任者</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対象：2つ以上の国・地域にまたがる案件</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目的：実行計画の承認（実態はローカルと同じ）</a:t>
            </a:r>
            <a:endParaRPr lang="en-US" sz="1050" dirty="0"/>
          </a:p>
        </p:txBody>
      </p:sp>
      <p:sp>
        <p:nvSpPr>
          <p:cNvPr id="18" name="Shape 16"/>
          <p:cNvSpPr/>
          <p:nvPr/>
        </p:nvSpPr>
        <p:spPr>
          <a:xfrm>
            <a:off x="548640" y="5184648"/>
            <a:ext cx="4572000" cy="1078992"/>
          </a:xfrm>
          <a:prstGeom prst="rect">
            <a:avLst/>
          </a:prstGeom>
          <a:solidFill>
            <a:srgbClr val="FBFAF6"/>
          </a:solidFill>
          <a:ln w="15875">
            <a:solidFill>
              <a:srgbClr val="5E7391"/>
            </a:solidFill>
            <a:prstDash val="solid"/>
          </a:ln>
        </p:spPr>
      </p:sp>
      <p:sp>
        <p:nvSpPr>
          <p:cNvPr id="19" name="Text 17"/>
          <p:cNvSpPr txBox="1"/>
          <p:nvPr/>
        </p:nvSpPr>
        <p:spPr>
          <a:xfrm>
            <a:off x="685800" y="5184648"/>
            <a:ext cx="1234440" cy="1078992"/>
          </a:xfrm>
          <a:prstGeom prst="rect">
            <a:avLst/>
          </a:prstGeom>
          <a:noFill/>
          <a:ln/>
        </p:spPr>
        <p:txBody>
          <a:bodyPr wrap="square" lIns="0" tIns="0" rIns="0" bIns="0" rtlCol="0" anchor="ctr"/>
          <a:lstStyle/>
          <a:p>
            <a:pPr indent="0" marL="0">
              <a:buNone/>
            </a:pPr>
            <a:r>
              <a:rPr lang="en-US" sz="1300" b="1" dirty="0">
                <a:solidFill>
                  <a:srgbClr val="5E7391"/>
                </a:solidFill>
                <a:latin typeface="Yu Gothic" pitchFamily="34" charset="0"/>
                <a:ea typeface="Yu Gothic" pitchFamily="34" charset="-122"/>
                <a:cs typeface="Yu Gothic" pitchFamily="34" charset="-120"/>
              </a:rPr>
              <a:t>事業部門内の</a:t>
            </a:r>
            <a:endParaRPr lang="en-US" sz="1300" dirty="0"/>
          </a:p>
          <a:p>
            <a:pPr indent="0" marL="0">
              <a:buNone/>
            </a:pPr>
            <a:r>
              <a:rPr lang="en-US" sz="1300" b="1" dirty="0">
                <a:solidFill>
                  <a:srgbClr val="5E7391"/>
                </a:solidFill>
                <a:latin typeface="Yu Gothic" pitchFamily="34" charset="0"/>
                <a:ea typeface="Yu Gothic" pitchFamily="34" charset="-122"/>
                <a:cs typeface="Yu Gothic" pitchFamily="34" charset="-120"/>
              </a:rPr>
              <a:t>承認会議</a:t>
            </a:r>
            <a:endParaRPr lang="en-US" sz="1300" dirty="0"/>
          </a:p>
        </p:txBody>
      </p:sp>
      <p:sp>
        <p:nvSpPr>
          <p:cNvPr id="20" name="Shape 18"/>
          <p:cNvSpPr/>
          <p:nvPr/>
        </p:nvSpPr>
        <p:spPr>
          <a:xfrm>
            <a:off x="1965960" y="5294376"/>
            <a:ext cx="0" cy="859536"/>
          </a:xfrm>
          <a:prstGeom prst="line">
            <a:avLst/>
          </a:prstGeom>
          <a:noFill/>
          <a:ln w="12700">
            <a:solidFill>
              <a:srgbClr val="CFCABE"/>
            </a:solidFill>
            <a:prstDash val="solid"/>
          </a:ln>
        </p:spPr>
      </p:sp>
      <p:sp>
        <p:nvSpPr>
          <p:cNvPr id="21" name="Text 19"/>
          <p:cNvSpPr txBox="1"/>
          <p:nvPr/>
        </p:nvSpPr>
        <p:spPr>
          <a:xfrm>
            <a:off x="2103120" y="5184648"/>
            <a:ext cx="2926080" cy="1078992"/>
          </a:xfrm>
          <a:prstGeom prst="rect">
            <a:avLst/>
          </a:prstGeom>
          <a:noFill/>
          <a:ln/>
        </p:spPr>
        <p:txBody>
          <a:bodyPr wrap="square" lIns="0" tIns="0" rIns="0" bIns="0" rtlCol="0" anchor="ctr"/>
          <a:lstStyle/>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承認者：各事業部門</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対象：事業部門予算の案件（IT投資の大半）</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目的：自部門予算によるIT投資の承認（共通ルールなし）</a:t>
            </a:r>
            <a:endParaRPr lang="en-US" sz="1050" dirty="0"/>
          </a:p>
        </p:txBody>
      </p:sp>
      <p:sp>
        <p:nvSpPr>
          <p:cNvPr id="22" name="Shape 20"/>
          <p:cNvSpPr/>
          <p:nvPr/>
        </p:nvSpPr>
        <p:spPr>
          <a:xfrm>
            <a:off x="6675120" y="1508760"/>
            <a:ext cx="4983480" cy="850392"/>
          </a:xfrm>
          <a:prstGeom prst="rect">
            <a:avLst/>
          </a:prstGeom>
          <a:solidFill>
            <a:srgbClr val="FBFAF6"/>
          </a:solidFill>
          <a:ln w="15875">
            <a:solidFill>
              <a:srgbClr val="1C2B45"/>
            </a:solidFill>
            <a:prstDash val="solid"/>
          </a:ln>
        </p:spPr>
      </p:sp>
      <p:sp>
        <p:nvSpPr>
          <p:cNvPr id="23" name="Text 21"/>
          <p:cNvSpPr txBox="1"/>
          <p:nvPr/>
        </p:nvSpPr>
        <p:spPr>
          <a:xfrm>
            <a:off x="6812280" y="1508760"/>
            <a:ext cx="1280160" cy="850392"/>
          </a:xfrm>
          <a:prstGeom prst="rect">
            <a:avLst/>
          </a:prstGeom>
          <a:noFill/>
          <a:ln/>
        </p:spPr>
        <p:txBody>
          <a:bodyPr wrap="square" lIns="0" tIns="0" rIns="0" bIns="0" rtlCol="0" anchor="ctr"/>
          <a:lstStyle/>
          <a:p>
            <a:pPr indent="0" marL="0">
              <a:buNone/>
            </a:pPr>
            <a:r>
              <a:rPr lang="en-US" sz="1300" b="1" dirty="0">
                <a:solidFill>
                  <a:srgbClr val="1C2B45"/>
                </a:solidFill>
                <a:latin typeface="Yu Gothic" pitchFamily="34" charset="0"/>
                <a:ea typeface="Yu Gothic" pitchFamily="34" charset="-122"/>
                <a:cs typeface="Yu Gothic" pitchFamily="34" charset="-120"/>
              </a:rPr>
              <a:t>Tier1</a:t>
            </a:r>
            <a:endParaRPr lang="en-US" sz="1300" dirty="0"/>
          </a:p>
        </p:txBody>
      </p:sp>
      <p:sp>
        <p:nvSpPr>
          <p:cNvPr id="24" name="Shape 22"/>
          <p:cNvSpPr/>
          <p:nvPr/>
        </p:nvSpPr>
        <p:spPr>
          <a:xfrm>
            <a:off x="8138160" y="1618488"/>
            <a:ext cx="0" cy="630936"/>
          </a:xfrm>
          <a:prstGeom prst="line">
            <a:avLst/>
          </a:prstGeom>
          <a:noFill/>
          <a:ln w="12700">
            <a:solidFill>
              <a:srgbClr val="CFCABE"/>
            </a:solidFill>
            <a:prstDash val="solid"/>
          </a:ln>
        </p:spPr>
      </p:sp>
      <p:sp>
        <p:nvSpPr>
          <p:cNvPr id="25" name="Text 23"/>
          <p:cNvSpPr txBox="1"/>
          <p:nvPr/>
        </p:nvSpPr>
        <p:spPr>
          <a:xfrm>
            <a:off x="8275320" y="1508760"/>
            <a:ext cx="3291840" cy="850392"/>
          </a:xfrm>
          <a:prstGeom prst="rect">
            <a:avLst/>
          </a:prstGeom>
          <a:noFill/>
          <a:ln/>
        </p:spPr>
        <p:txBody>
          <a:bodyPr wrap="square" lIns="0" tIns="0" rIns="0" bIns="0" rtlCol="0" anchor="ctr"/>
          <a:lstStyle/>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参加者：経営層／対象：全IT投資案件（金額基準なし）</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審議：経営戦略・事業戦略とIT投資の接合性（投資計画の詳細は不要）→ 優先度</a:t>
            </a:r>
            <a:endParaRPr lang="en-US" sz="1050" dirty="0"/>
          </a:p>
        </p:txBody>
      </p:sp>
      <p:sp>
        <p:nvSpPr>
          <p:cNvPr id="26" name="Shape 24"/>
          <p:cNvSpPr/>
          <p:nvPr/>
        </p:nvSpPr>
        <p:spPr>
          <a:xfrm>
            <a:off x="6675120" y="2468880"/>
            <a:ext cx="4983480" cy="850392"/>
          </a:xfrm>
          <a:prstGeom prst="rect">
            <a:avLst/>
          </a:prstGeom>
          <a:solidFill>
            <a:srgbClr val="FBFAF6"/>
          </a:solidFill>
          <a:ln w="15875">
            <a:solidFill>
              <a:srgbClr val="1C2B45"/>
            </a:solidFill>
            <a:prstDash val="solid"/>
          </a:ln>
        </p:spPr>
      </p:sp>
      <p:sp>
        <p:nvSpPr>
          <p:cNvPr id="27" name="Text 25"/>
          <p:cNvSpPr txBox="1"/>
          <p:nvPr/>
        </p:nvSpPr>
        <p:spPr>
          <a:xfrm>
            <a:off x="6812280" y="2468880"/>
            <a:ext cx="1280160" cy="850392"/>
          </a:xfrm>
          <a:prstGeom prst="rect">
            <a:avLst/>
          </a:prstGeom>
          <a:noFill/>
          <a:ln/>
        </p:spPr>
        <p:txBody>
          <a:bodyPr wrap="square" lIns="0" tIns="0" rIns="0" bIns="0" rtlCol="0" anchor="ctr"/>
          <a:lstStyle/>
          <a:p>
            <a:pPr indent="0" marL="0">
              <a:buNone/>
            </a:pPr>
            <a:r>
              <a:rPr lang="en-US" sz="1300" b="1" dirty="0">
                <a:solidFill>
                  <a:srgbClr val="1C2B45"/>
                </a:solidFill>
                <a:latin typeface="Yu Gothic" pitchFamily="34" charset="0"/>
                <a:ea typeface="Yu Gothic" pitchFamily="34" charset="-122"/>
                <a:cs typeface="Yu Gothic" pitchFamily="34" charset="-120"/>
              </a:rPr>
              <a:t>Tier2（予算）</a:t>
            </a:r>
            <a:endParaRPr lang="en-US" sz="1300" dirty="0"/>
          </a:p>
        </p:txBody>
      </p:sp>
      <p:sp>
        <p:nvSpPr>
          <p:cNvPr id="28" name="Shape 26"/>
          <p:cNvSpPr/>
          <p:nvPr/>
        </p:nvSpPr>
        <p:spPr>
          <a:xfrm>
            <a:off x="8138160" y="2578608"/>
            <a:ext cx="0" cy="630936"/>
          </a:xfrm>
          <a:prstGeom prst="line">
            <a:avLst/>
          </a:prstGeom>
          <a:noFill/>
          <a:ln w="12700">
            <a:solidFill>
              <a:srgbClr val="CFCABE"/>
            </a:solidFill>
            <a:prstDash val="solid"/>
          </a:ln>
        </p:spPr>
      </p:sp>
      <p:sp>
        <p:nvSpPr>
          <p:cNvPr id="29" name="Text 27"/>
          <p:cNvSpPr txBox="1"/>
          <p:nvPr/>
        </p:nvSpPr>
        <p:spPr>
          <a:xfrm>
            <a:off x="8275320" y="2468880"/>
            <a:ext cx="3291840" cy="850392"/>
          </a:xfrm>
          <a:prstGeom prst="rect">
            <a:avLst/>
          </a:prstGeom>
          <a:noFill/>
          <a:ln/>
        </p:spPr>
        <p:txBody>
          <a:bodyPr wrap="square" lIns="0" tIns="0" rIns="0" bIns="0" rtlCol="0" anchor="ctr"/>
          <a:lstStyle/>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参加者：事業部門長とIT組織の責任者（複数）／対象：Tier1で優先度がついた案件</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審議：IT投資計画 → 予算計上の可否、決裁権（実行承認者）</a:t>
            </a:r>
            <a:endParaRPr lang="en-US" sz="1050" dirty="0"/>
          </a:p>
        </p:txBody>
      </p:sp>
      <p:sp>
        <p:nvSpPr>
          <p:cNvPr id="30" name="Shape 28"/>
          <p:cNvSpPr/>
          <p:nvPr/>
        </p:nvSpPr>
        <p:spPr>
          <a:xfrm>
            <a:off x="6675120" y="3429000"/>
            <a:ext cx="4983480" cy="850392"/>
          </a:xfrm>
          <a:prstGeom prst="rect">
            <a:avLst/>
          </a:prstGeom>
          <a:solidFill>
            <a:srgbClr val="FBFAF6"/>
          </a:solidFill>
          <a:ln w="15875">
            <a:solidFill>
              <a:srgbClr val="1C2B45"/>
            </a:solidFill>
            <a:prstDash val="solid"/>
          </a:ln>
        </p:spPr>
      </p:sp>
      <p:sp>
        <p:nvSpPr>
          <p:cNvPr id="31" name="Text 29"/>
          <p:cNvSpPr txBox="1"/>
          <p:nvPr/>
        </p:nvSpPr>
        <p:spPr>
          <a:xfrm>
            <a:off x="6812280" y="3429000"/>
            <a:ext cx="1280160" cy="850392"/>
          </a:xfrm>
          <a:prstGeom prst="rect">
            <a:avLst/>
          </a:prstGeom>
          <a:noFill/>
          <a:ln/>
        </p:spPr>
        <p:txBody>
          <a:bodyPr wrap="square" lIns="0" tIns="0" rIns="0" bIns="0" rtlCol="0" anchor="ctr"/>
          <a:lstStyle/>
          <a:p>
            <a:pPr indent="0" marL="0">
              <a:buNone/>
            </a:pPr>
            <a:r>
              <a:rPr lang="en-US" sz="1300" b="1" dirty="0">
                <a:solidFill>
                  <a:srgbClr val="1C2B45"/>
                </a:solidFill>
                <a:latin typeface="Yu Gothic" pitchFamily="34" charset="0"/>
                <a:ea typeface="Yu Gothic" pitchFamily="34" charset="-122"/>
                <a:cs typeface="Yu Gothic" pitchFamily="34" charset="-120"/>
              </a:rPr>
              <a:t>Tier2（実行）</a:t>
            </a:r>
            <a:endParaRPr lang="en-US" sz="1300" dirty="0"/>
          </a:p>
        </p:txBody>
      </p:sp>
      <p:sp>
        <p:nvSpPr>
          <p:cNvPr id="32" name="Shape 30"/>
          <p:cNvSpPr/>
          <p:nvPr/>
        </p:nvSpPr>
        <p:spPr>
          <a:xfrm>
            <a:off x="8138160" y="3538728"/>
            <a:ext cx="0" cy="630936"/>
          </a:xfrm>
          <a:prstGeom prst="line">
            <a:avLst/>
          </a:prstGeom>
          <a:noFill/>
          <a:ln w="12700">
            <a:solidFill>
              <a:srgbClr val="CFCABE"/>
            </a:solidFill>
            <a:prstDash val="solid"/>
          </a:ln>
        </p:spPr>
      </p:sp>
      <p:sp>
        <p:nvSpPr>
          <p:cNvPr id="33" name="Text 31"/>
          <p:cNvSpPr txBox="1"/>
          <p:nvPr/>
        </p:nvSpPr>
        <p:spPr>
          <a:xfrm>
            <a:off x="8275320" y="3429000"/>
            <a:ext cx="3291840" cy="850392"/>
          </a:xfrm>
          <a:prstGeom prst="rect">
            <a:avLst/>
          </a:prstGeom>
          <a:noFill/>
          <a:ln/>
        </p:spPr>
        <p:txBody>
          <a:bodyPr wrap="square" lIns="0" tIns="0" rIns="0" bIns="0" rtlCol="0" anchor="ctr"/>
          <a:lstStyle/>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参加者：同上／対象：決裁権がTier2にある案件</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審議：実行計画 → 実行承認</a:t>
            </a:r>
            <a:endParaRPr lang="en-US" sz="1050" dirty="0"/>
          </a:p>
        </p:txBody>
      </p:sp>
      <p:sp>
        <p:nvSpPr>
          <p:cNvPr id="34" name="Shape 32"/>
          <p:cNvSpPr/>
          <p:nvPr/>
        </p:nvSpPr>
        <p:spPr>
          <a:xfrm>
            <a:off x="6675120" y="4389120"/>
            <a:ext cx="4983480" cy="850392"/>
          </a:xfrm>
          <a:prstGeom prst="rect">
            <a:avLst/>
          </a:prstGeom>
          <a:solidFill>
            <a:srgbClr val="FBFAF6"/>
          </a:solidFill>
          <a:ln w="15875">
            <a:solidFill>
              <a:srgbClr val="1C2B45"/>
            </a:solidFill>
            <a:prstDash val="solid"/>
          </a:ln>
        </p:spPr>
      </p:sp>
      <p:sp>
        <p:nvSpPr>
          <p:cNvPr id="35" name="Text 33"/>
          <p:cNvSpPr txBox="1"/>
          <p:nvPr/>
        </p:nvSpPr>
        <p:spPr>
          <a:xfrm>
            <a:off x="6812280" y="4389120"/>
            <a:ext cx="1280160" cy="850392"/>
          </a:xfrm>
          <a:prstGeom prst="rect">
            <a:avLst/>
          </a:prstGeom>
          <a:noFill/>
          <a:ln/>
        </p:spPr>
        <p:txBody>
          <a:bodyPr wrap="square" lIns="0" tIns="0" rIns="0" bIns="0" rtlCol="0" anchor="ctr"/>
          <a:lstStyle/>
          <a:p>
            <a:pPr indent="0" marL="0">
              <a:buNone/>
            </a:pPr>
            <a:r>
              <a:rPr lang="en-US" sz="1300" b="1" dirty="0">
                <a:solidFill>
                  <a:srgbClr val="1C2B45"/>
                </a:solidFill>
                <a:latin typeface="Yu Gothic" pitchFamily="34" charset="0"/>
                <a:ea typeface="Yu Gothic" pitchFamily="34" charset="-122"/>
                <a:cs typeface="Yu Gothic" pitchFamily="34" charset="-120"/>
              </a:rPr>
              <a:t>Tier3（新設）</a:t>
            </a:r>
            <a:endParaRPr lang="en-US" sz="1300" dirty="0"/>
          </a:p>
        </p:txBody>
      </p:sp>
      <p:sp>
        <p:nvSpPr>
          <p:cNvPr id="36" name="Shape 34"/>
          <p:cNvSpPr/>
          <p:nvPr/>
        </p:nvSpPr>
        <p:spPr>
          <a:xfrm>
            <a:off x="8138160" y="4498848"/>
            <a:ext cx="0" cy="630936"/>
          </a:xfrm>
          <a:prstGeom prst="line">
            <a:avLst/>
          </a:prstGeom>
          <a:noFill/>
          <a:ln w="12700">
            <a:solidFill>
              <a:srgbClr val="CFCABE"/>
            </a:solidFill>
            <a:prstDash val="solid"/>
          </a:ln>
        </p:spPr>
      </p:sp>
      <p:sp>
        <p:nvSpPr>
          <p:cNvPr id="37" name="Text 35"/>
          <p:cNvSpPr txBox="1"/>
          <p:nvPr/>
        </p:nvSpPr>
        <p:spPr>
          <a:xfrm>
            <a:off x="8275320" y="4389120"/>
            <a:ext cx="3291840" cy="850392"/>
          </a:xfrm>
          <a:prstGeom prst="rect">
            <a:avLst/>
          </a:prstGeom>
          <a:noFill/>
          <a:ln/>
        </p:spPr>
        <p:txBody>
          <a:bodyPr wrap="square" lIns="0" tIns="0" rIns="0" bIns="0" rtlCol="0" anchor="ctr"/>
          <a:lstStyle/>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参加者：固定メンバーなし。案件ごとにTier2が任命／対象：Tier2が指定した案件</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審議：技術面（Tier2の補完）→ 審議結果をTier2へレポート</a:t>
            </a:r>
            <a:endParaRPr lang="en-US" sz="1050" dirty="0"/>
          </a:p>
        </p:txBody>
      </p:sp>
      <p:sp>
        <p:nvSpPr>
          <p:cNvPr id="38" name="Shape 36"/>
          <p:cNvSpPr/>
          <p:nvPr/>
        </p:nvSpPr>
        <p:spPr>
          <a:xfrm>
            <a:off x="6675120" y="5349240"/>
            <a:ext cx="4983480" cy="850392"/>
          </a:xfrm>
          <a:prstGeom prst="rect">
            <a:avLst/>
          </a:prstGeom>
          <a:solidFill>
            <a:srgbClr val="FBFAF6"/>
          </a:solidFill>
          <a:ln w="15875">
            <a:solidFill>
              <a:srgbClr val="1C2B45"/>
            </a:solidFill>
            <a:prstDash val="solid"/>
          </a:ln>
        </p:spPr>
      </p:sp>
      <p:sp>
        <p:nvSpPr>
          <p:cNvPr id="39" name="Text 37"/>
          <p:cNvSpPr txBox="1"/>
          <p:nvPr/>
        </p:nvSpPr>
        <p:spPr>
          <a:xfrm>
            <a:off x="6812280" y="5349240"/>
            <a:ext cx="1280160" cy="850392"/>
          </a:xfrm>
          <a:prstGeom prst="rect">
            <a:avLst/>
          </a:prstGeom>
          <a:noFill/>
          <a:ln/>
        </p:spPr>
        <p:txBody>
          <a:bodyPr wrap="square" lIns="0" tIns="0" rIns="0" bIns="0" rtlCol="0" anchor="ctr"/>
          <a:lstStyle/>
          <a:p>
            <a:pPr indent="0" marL="0">
              <a:buNone/>
            </a:pPr>
            <a:r>
              <a:rPr lang="en-US" sz="1300" b="1" dirty="0">
                <a:solidFill>
                  <a:srgbClr val="1C2B45"/>
                </a:solidFill>
                <a:latin typeface="Yu Gothic" pitchFamily="34" charset="0"/>
                <a:ea typeface="Yu Gothic" pitchFamily="34" charset="-122"/>
                <a:cs typeface="Yu Gothic" pitchFamily="34" charset="-120"/>
              </a:rPr>
              <a:t>事業部門</a:t>
            </a:r>
            <a:endParaRPr lang="en-US" sz="1300" dirty="0"/>
          </a:p>
        </p:txBody>
      </p:sp>
      <p:sp>
        <p:nvSpPr>
          <p:cNvPr id="40" name="Shape 38"/>
          <p:cNvSpPr/>
          <p:nvPr/>
        </p:nvSpPr>
        <p:spPr>
          <a:xfrm>
            <a:off x="8138160" y="5458968"/>
            <a:ext cx="0" cy="630936"/>
          </a:xfrm>
          <a:prstGeom prst="line">
            <a:avLst/>
          </a:prstGeom>
          <a:noFill/>
          <a:ln w="12700">
            <a:solidFill>
              <a:srgbClr val="CFCABE"/>
            </a:solidFill>
            <a:prstDash val="solid"/>
          </a:ln>
        </p:spPr>
      </p:sp>
      <p:sp>
        <p:nvSpPr>
          <p:cNvPr id="41" name="Text 39"/>
          <p:cNvSpPr txBox="1"/>
          <p:nvPr/>
        </p:nvSpPr>
        <p:spPr>
          <a:xfrm>
            <a:off x="8275320" y="5349240"/>
            <a:ext cx="3291840" cy="850392"/>
          </a:xfrm>
          <a:prstGeom prst="rect">
            <a:avLst/>
          </a:prstGeom>
          <a:noFill/>
          <a:ln/>
        </p:spPr>
        <p:txBody>
          <a:bodyPr wrap="square" lIns="0" tIns="0" rIns="0" bIns="0" rtlCol="0" anchor="ctr"/>
          <a:lstStyle/>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対象：決裁権が事業部門に委ねられた案件</a:t>
            </a:r>
            <a:endParaRPr lang="en-US" sz="1050" dirty="0"/>
          </a:p>
          <a:p>
            <a:pPr indent="0" marL="0">
              <a:spcAft>
                <a:spcPts val="200"/>
              </a:spcAft>
              <a:buNone/>
            </a:pPr>
            <a:r>
              <a:rPr lang="en-US" sz="1050" dirty="0">
                <a:solidFill>
                  <a:srgbClr val="222B38"/>
                </a:solidFill>
                <a:latin typeface="Yu Gothic" pitchFamily="34" charset="0"/>
                <a:ea typeface="Yu Gothic" pitchFamily="34" charset="-122"/>
                <a:cs typeface="Yu Gothic" pitchFamily="34" charset="-120"/>
              </a:rPr>
              <a:t>審議：実行計画 → 実行承認</a:t>
            </a:r>
            <a:endParaRPr lang="en-US" sz="1050" dirty="0"/>
          </a:p>
        </p:txBody>
      </p:sp>
      <p:sp>
        <p:nvSpPr>
          <p:cNvPr id="42" name="Shape 40"/>
          <p:cNvSpPr/>
          <p:nvPr/>
        </p:nvSpPr>
        <p:spPr>
          <a:xfrm flipV="1">
            <a:off x="5120640" y="1933956"/>
            <a:ext cx="1554480" cy="114300"/>
          </a:xfrm>
          <a:prstGeom prst="line">
            <a:avLst/>
          </a:prstGeom>
          <a:noFill/>
          <a:ln w="19050">
            <a:solidFill>
              <a:srgbClr val="3F4F6A"/>
            </a:solidFill>
            <a:prstDash val="solid"/>
            <a:tailEnd type="triangle"/>
          </a:ln>
        </p:spPr>
      </p:sp>
      <p:sp>
        <p:nvSpPr>
          <p:cNvPr id="43" name="Shape 41"/>
          <p:cNvSpPr/>
          <p:nvPr/>
        </p:nvSpPr>
        <p:spPr>
          <a:xfrm>
            <a:off x="5120640" y="2048256"/>
            <a:ext cx="1554480" cy="845820"/>
          </a:xfrm>
          <a:prstGeom prst="line">
            <a:avLst/>
          </a:prstGeom>
          <a:noFill/>
          <a:ln w="19050">
            <a:solidFill>
              <a:srgbClr val="3F4F6A"/>
            </a:solidFill>
            <a:prstDash val="solid"/>
            <a:tailEnd type="triangle"/>
          </a:ln>
        </p:spPr>
      </p:sp>
      <p:sp>
        <p:nvSpPr>
          <p:cNvPr id="44" name="Shape 42"/>
          <p:cNvSpPr/>
          <p:nvPr/>
        </p:nvSpPr>
        <p:spPr>
          <a:xfrm>
            <a:off x="5120640" y="3273552"/>
            <a:ext cx="1554480" cy="580644"/>
          </a:xfrm>
          <a:prstGeom prst="line">
            <a:avLst/>
          </a:prstGeom>
          <a:noFill/>
          <a:ln w="19050">
            <a:solidFill>
              <a:srgbClr val="3F4F6A"/>
            </a:solidFill>
            <a:prstDash val="solid"/>
            <a:tailEnd type="triangle"/>
          </a:ln>
        </p:spPr>
      </p:sp>
      <p:sp>
        <p:nvSpPr>
          <p:cNvPr id="45" name="Shape 43"/>
          <p:cNvSpPr/>
          <p:nvPr/>
        </p:nvSpPr>
        <p:spPr>
          <a:xfrm flipV="1">
            <a:off x="5120640" y="3854196"/>
            <a:ext cx="1554480" cy="644652"/>
          </a:xfrm>
          <a:prstGeom prst="line">
            <a:avLst/>
          </a:prstGeom>
          <a:noFill/>
          <a:ln w="19050">
            <a:solidFill>
              <a:srgbClr val="3F4F6A"/>
            </a:solidFill>
            <a:prstDash val="solid"/>
            <a:tailEnd type="triangle"/>
          </a:ln>
        </p:spPr>
      </p:sp>
      <p:sp>
        <p:nvSpPr>
          <p:cNvPr id="46" name="Shape 44"/>
          <p:cNvSpPr/>
          <p:nvPr/>
        </p:nvSpPr>
        <p:spPr>
          <a:xfrm>
            <a:off x="5120640" y="5724144"/>
            <a:ext cx="1554480" cy="50292"/>
          </a:xfrm>
          <a:prstGeom prst="line">
            <a:avLst/>
          </a:prstGeom>
          <a:noFill/>
          <a:ln w="19050">
            <a:solidFill>
              <a:srgbClr val="3F4F6A"/>
            </a:solidFill>
            <a:prstDash val="solid"/>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変更前後の比較②：プロセス（予算計上まで）</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4</a:t>
            </a:r>
            <a:endParaRPr lang="en-US" sz="1000" dirty="0"/>
          </a:p>
        </p:txBody>
      </p:sp>
      <p:sp>
        <p:nvSpPr>
          <p:cNvPr id="4" name="Text 2"/>
          <p:cNvSpPr txBox="1"/>
          <p:nvPr/>
        </p:nvSpPr>
        <p:spPr>
          <a:xfrm>
            <a:off x="548640" y="1051560"/>
            <a:ext cx="4572000" cy="365760"/>
          </a:xfrm>
          <a:prstGeom prst="rect">
            <a:avLst/>
          </a:prstGeom>
          <a:noFill/>
          <a:ln/>
        </p:spPr>
        <p:txBody>
          <a:bodyPr wrap="square" lIns="0" tIns="0" rIns="0" bIns="0" rtlCol="0" anchor="t"/>
          <a:lstStyle/>
          <a:p>
            <a:pPr algn="ctr" indent="0" marL="0">
              <a:buNone/>
            </a:pPr>
            <a:r>
              <a:rPr lang="en-US" sz="1600" b="1" dirty="0">
                <a:solidFill>
                  <a:srgbClr val="5E7391"/>
                </a:solidFill>
                <a:latin typeface="Yu Gothic" pitchFamily="34" charset="0"/>
                <a:ea typeface="Yu Gothic" pitchFamily="34" charset="-122"/>
                <a:cs typeface="Yu Gothic" pitchFamily="34" charset="-120"/>
              </a:rPr>
              <a:t>変更前</a:t>
            </a:r>
            <a:endParaRPr lang="en-US" sz="1600" dirty="0"/>
          </a:p>
        </p:txBody>
      </p:sp>
      <p:sp>
        <p:nvSpPr>
          <p:cNvPr id="5" name="Text 3"/>
          <p:cNvSpPr txBox="1"/>
          <p:nvPr/>
        </p:nvSpPr>
        <p:spPr>
          <a:xfrm>
            <a:off x="6675120" y="1051560"/>
            <a:ext cx="4983480" cy="365760"/>
          </a:xfrm>
          <a:prstGeom prst="rect">
            <a:avLst/>
          </a:prstGeom>
          <a:noFill/>
          <a:ln/>
        </p:spPr>
        <p:txBody>
          <a:bodyPr wrap="square" lIns="0" tIns="0" rIns="0" bIns="0" rtlCol="0" anchor="t"/>
          <a:lstStyle/>
          <a:p>
            <a:pPr algn="ctr" indent="0" marL="0">
              <a:buNone/>
            </a:pPr>
            <a:r>
              <a:rPr lang="en-US" sz="1600" b="1" dirty="0">
                <a:solidFill>
                  <a:srgbClr val="1C2B45"/>
                </a:solidFill>
                <a:latin typeface="Yu Gothic" pitchFamily="34" charset="0"/>
                <a:ea typeface="Yu Gothic" pitchFamily="34" charset="-122"/>
                <a:cs typeface="Yu Gothic" pitchFamily="34" charset="-120"/>
              </a:rPr>
              <a:t>変更後</a:t>
            </a:r>
            <a:endParaRPr lang="en-US" sz="1600" dirty="0"/>
          </a:p>
        </p:txBody>
      </p:sp>
      <p:sp>
        <p:nvSpPr>
          <p:cNvPr id="6" name="Shape 4"/>
          <p:cNvSpPr/>
          <p:nvPr/>
        </p:nvSpPr>
        <p:spPr>
          <a:xfrm>
            <a:off x="5897880" y="1097280"/>
            <a:ext cx="0" cy="4892040"/>
          </a:xfrm>
          <a:prstGeom prst="line">
            <a:avLst/>
          </a:prstGeom>
          <a:noFill/>
          <a:ln w="12700">
            <a:solidFill>
              <a:srgbClr val="CFCABE"/>
            </a:solidFill>
            <a:prstDash val="solid"/>
          </a:ln>
        </p:spPr>
      </p:sp>
      <p:sp>
        <p:nvSpPr>
          <p:cNvPr id="7" name="Text 5"/>
          <p:cNvSpPr/>
          <p:nvPr/>
        </p:nvSpPr>
        <p:spPr>
          <a:xfrm>
            <a:off x="1554480" y="1554480"/>
            <a:ext cx="2194560" cy="548640"/>
          </a:xfrm>
          <a:prstGeom prst="roundRect">
            <a:avLst>
              <a:gd name="adj" fmla="val 13333"/>
            </a:avLst>
          </a:prstGeom>
          <a:solidFill>
            <a:srgbClr val="5E7391"/>
          </a:solidFill>
          <a:ln w="15875">
            <a:solidFill>
              <a:srgbClr val="5E7391"/>
            </a:solidFill>
            <a:prstDash val="solid"/>
          </a:ln>
        </p:spPr>
        <p:txBody>
          <a:bodyPr wrap="square" lIns="38100" tIns="38100" rIns="38100" bIns="38100" rtlCol="0" anchor="ctr"/>
          <a:lstStyle/>
          <a:p>
            <a:pPr algn="ctr" indent="0" marL="0">
              <a:buNone/>
            </a:pPr>
            <a:r>
              <a:rPr lang="en-US" sz="1200" dirty="0">
                <a:solidFill>
                  <a:srgbClr val="FFFFFF"/>
                </a:solidFill>
                <a:latin typeface="Yu Gothic" pitchFamily="34" charset="0"/>
                <a:ea typeface="Yu Gothic" pitchFamily="34" charset="-122"/>
                <a:cs typeface="Yu Gothic" pitchFamily="34" charset="-120"/>
              </a:rPr>
              <a:t>IT投資計画</a:t>
            </a:r>
            <a:endParaRPr lang="en-US" sz="1200" dirty="0"/>
          </a:p>
        </p:txBody>
      </p:sp>
      <p:sp>
        <p:nvSpPr>
          <p:cNvPr id="8" name="Shape 6"/>
          <p:cNvSpPr/>
          <p:nvPr/>
        </p:nvSpPr>
        <p:spPr>
          <a:xfrm>
            <a:off x="2651760" y="2103120"/>
            <a:ext cx="0" cy="228600"/>
          </a:xfrm>
          <a:prstGeom prst="line">
            <a:avLst/>
          </a:prstGeom>
          <a:noFill/>
          <a:ln w="19050">
            <a:solidFill>
              <a:srgbClr val="3F4F6A"/>
            </a:solidFill>
            <a:prstDash val="solid"/>
            <a:tailEnd type="triangle"/>
          </a:ln>
        </p:spPr>
      </p:sp>
      <p:sp>
        <p:nvSpPr>
          <p:cNvPr id="9" name="Text 7"/>
          <p:cNvSpPr/>
          <p:nvPr/>
        </p:nvSpPr>
        <p:spPr>
          <a:xfrm>
            <a:off x="1783080" y="2331720"/>
            <a:ext cx="1737360" cy="914400"/>
          </a:xfrm>
          <a:prstGeom prst="diamond">
            <a:avLst/>
          </a:prstGeom>
          <a:solidFill>
            <a:srgbClr val="1C2B45"/>
          </a:solidFill>
          <a:ln w="12700">
            <a:solidFill>
              <a:srgbClr val="1C2B45"/>
            </a:solidFill>
          </a:ln>
        </p:spPr>
        <p:txBody>
          <a:bodyPr wrap="square" lIns="0" tIns="0" rIns="0" bIns="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50百万円</a:t>
            </a:r>
            <a:endParaRPr lang="en-US" sz="1100" dirty="0"/>
          </a:p>
          <a:p>
            <a:pPr algn="ctr" indent="0" marL="0">
              <a:buNone/>
            </a:pPr>
            <a:r>
              <a:rPr lang="en-US" sz="1100" dirty="0">
                <a:solidFill>
                  <a:srgbClr val="FFFFFF"/>
                </a:solidFill>
                <a:latin typeface="Yu Gothic" pitchFamily="34" charset="0"/>
                <a:ea typeface="Yu Gothic" pitchFamily="34" charset="-122"/>
                <a:cs typeface="Yu Gothic" pitchFamily="34" charset="-120"/>
              </a:rPr>
              <a:t>以上？</a:t>
            </a:r>
            <a:endParaRPr lang="en-US" sz="1100" dirty="0"/>
          </a:p>
        </p:txBody>
      </p:sp>
      <p:sp>
        <p:nvSpPr>
          <p:cNvPr id="10" name="Text 8"/>
          <p:cNvSpPr/>
          <p:nvPr/>
        </p:nvSpPr>
        <p:spPr>
          <a:xfrm>
            <a:off x="1554480" y="3611880"/>
            <a:ext cx="2194560" cy="685800"/>
          </a:xfrm>
          <a:prstGeom prst="roundRect">
            <a:avLst>
              <a:gd name="adj" fmla="val 10667"/>
            </a:avLst>
          </a:prstGeom>
          <a:solidFill>
            <a:srgbClr val="1C2B45"/>
          </a:solidFill>
          <a:ln w="15875">
            <a:solidFill>
              <a:srgbClr val="1C2B45"/>
            </a:solidFill>
            <a:prstDash val="solid"/>
          </a:ln>
        </p:spPr>
        <p:txBody>
          <a:bodyPr wrap="square" lIns="38100" tIns="38100" rIns="38100" bIns="3810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DIB</a:t>
            </a:r>
            <a:endParaRPr lang="en-US" sz="1100" dirty="0"/>
          </a:p>
          <a:p>
            <a:pPr algn="ctr" indent="0" marL="0">
              <a:buNone/>
            </a:pPr>
            <a:r>
              <a:rPr lang="en-US" sz="1100" dirty="0">
                <a:solidFill>
                  <a:srgbClr val="FFFFFF"/>
                </a:solidFill>
                <a:latin typeface="Yu Gothic" pitchFamily="34" charset="0"/>
                <a:ea typeface="Yu Gothic" pitchFamily="34" charset="-122"/>
                <a:cs typeface="Yu Gothic" pitchFamily="34" charset="-120"/>
              </a:rPr>
              <a:t>予算計上の承認</a:t>
            </a:r>
            <a:endParaRPr lang="en-US" sz="1100" dirty="0"/>
          </a:p>
          <a:p>
            <a:pPr algn="ctr" indent="0" marL="0">
              <a:buNone/>
            </a:pPr>
            <a:r>
              <a:rPr lang="en-US" sz="1100" dirty="0">
                <a:solidFill>
                  <a:srgbClr val="FFFFFF"/>
                </a:solidFill>
                <a:latin typeface="Yu Gothic" pitchFamily="34" charset="0"/>
                <a:ea typeface="Yu Gothic" pitchFamily="34" charset="-122"/>
                <a:cs typeface="Yu Gothic" pitchFamily="34" charset="-120"/>
              </a:rPr>
              <a:t>（役員・年1回）</a:t>
            </a:r>
            <a:endParaRPr lang="en-US" sz="1100" dirty="0"/>
          </a:p>
        </p:txBody>
      </p:sp>
      <p:sp>
        <p:nvSpPr>
          <p:cNvPr id="11" name="Shape 9"/>
          <p:cNvSpPr/>
          <p:nvPr/>
        </p:nvSpPr>
        <p:spPr>
          <a:xfrm>
            <a:off x="2651760" y="3246120"/>
            <a:ext cx="0" cy="365760"/>
          </a:xfrm>
          <a:prstGeom prst="line">
            <a:avLst/>
          </a:prstGeom>
          <a:noFill/>
          <a:ln w="19050">
            <a:solidFill>
              <a:srgbClr val="3F4F6A"/>
            </a:solidFill>
            <a:prstDash val="solid"/>
            <a:tailEnd type="triangle"/>
          </a:ln>
        </p:spPr>
      </p:sp>
      <p:sp>
        <p:nvSpPr>
          <p:cNvPr id="12" name="Text 10"/>
          <p:cNvSpPr txBox="1"/>
          <p:nvPr/>
        </p:nvSpPr>
        <p:spPr>
          <a:xfrm>
            <a:off x="2697480" y="3291840"/>
            <a:ext cx="457200" cy="274320"/>
          </a:xfrm>
          <a:prstGeom prst="rect">
            <a:avLst/>
          </a:prstGeom>
          <a:noFill/>
          <a:ln/>
        </p:spPr>
        <p:txBody>
          <a:bodyPr wrap="square" lIns="0" tIns="0" rIns="0" bIns="0" rtlCol="0" anchor="ctr"/>
          <a:lstStyle/>
          <a:p>
            <a:pPr algn="l" indent="0" marL="0">
              <a:buNone/>
            </a:pPr>
            <a:r>
              <a:rPr lang="en-US" sz="1000" dirty="0">
                <a:solidFill>
                  <a:srgbClr val="5B6675"/>
                </a:solidFill>
                <a:latin typeface="Yu Gothic" pitchFamily="34" charset="0"/>
                <a:ea typeface="Yu Gothic" pitchFamily="34" charset="-122"/>
                <a:cs typeface="Yu Gothic" pitchFamily="34" charset="-120"/>
              </a:rPr>
              <a:t>Yes</a:t>
            </a:r>
            <a:endParaRPr lang="en-US" sz="1000" dirty="0"/>
          </a:p>
        </p:txBody>
      </p:sp>
      <p:sp>
        <p:nvSpPr>
          <p:cNvPr id="13" name="Text 11"/>
          <p:cNvSpPr/>
          <p:nvPr/>
        </p:nvSpPr>
        <p:spPr>
          <a:xfrm>
            <a:off x="1554480" y="4892040"/>
            <a:ext cx="2194560" cy="640080"/>
          </a:xfrm>
          <a:prstGeom prst="roundRect">
            <a:avLst>
              <a:gd name="adj" fmla="val 11429"/>
            </a:avLst>
          </a:prstGeom>
          <a:solidFill>
            <a:srgbClr val="DCE6F2"/>
          </a:solidFill>
          <a:ln w="15875">
            <a:solidFill>
              <a:srgbClr val="5E7391"/>
            </a:solidFill>
            <a:prstDash val="solid"/>
          </a:ln>
        </p:spPr>
        <p:txBody>
          <a:bodyPr wrap="square" lIns="38100" tIns="38100" rIns="38100" bIns="38100" rtlCol="0" anchor="ctr"/>
          <a:lstStyle/>
          <a:p>
            <a:pPr algn="ctr" indent="0" marL="0">
              <a:buNone/>
            </a:pPr>
            <a:r>
              <a:rPr lang="en-US" sz="1200" b="1" dirty="0">
                <a:solidFill>
                  <a:srgbClr val="1C2B45"/>
                </a:solidFill>
                <a:latin typeface="Yu Gothic" pitchFamily="34" charset="0"/>
                <a:ea typeface="Yu Gothic" pitchFamily="34" charset="-122"/>
                <a:cs typeface="Yu Gothic" pitchFamily="34" charset="-120"/>
              </a:rPr>
              <a:t>予算計上</a:t>
            </a:r>
            <a:endParaRPr lang="en-US" sz="1200" dirty="0"/>
          </a:p>
        </p:txBody>
      </p:sp>
      <p:sp>
        <p:nvSpPr>
          <p:cNvPr id="14" name="Shape 12"/>
          <p:cNvSpPr/>
          <p:nvPr/>
        </p:nvSpPr>
        <p:spPr>
          <a:xfrm>
            <a:off x="2651760" y="4297680"/>
            <a:ext cx="0" cy="594360"/>
          </a:xfrm>
          <a:prstGeom prst="line">
            <a:avLst/>
          </a:prstGeom>
          <a:noFill/>
          <a:ln w="19050">
            <a:solidFill>
              <a:srgbClr val="3F4F6A"/>
            </a:solidFill>
            <a:prstDash val="solid"/>
            <a:tailEnd type="triangle"/>
          </a:ln>
        </p:spPr>
      </p:sp>
      <p:sp>
        <p:nvSpPr>
          <p:cNvPr id="15" name="Shape 13"/>
          <p:cNvSpPr/>
          <p:nvPr/>
        </p:nvSpPr>
        <p:spPr>
          <a:xfrm>
            <a:off x="3520440" y="2788920"/>
            <a:ext cx="822960" cy="0"/>
          </a:xfrm>
          <a:prstGeom prst="line">
            <a:avLst/>
          </a:prstGeom>
          <a:noFill/>
          <a:ln w="19050">
            <a:solidFill>
              <a:srgbClr val="3F4F6A"/>
            </a:solidFill>
            <a:prstDash val="solid"/>
          </a:ln>
        </p:spPr>
      </p:sp>
      <p:sp>
        <p:nvSpPr>
          <p:cNvPr id="16" name="Shape 14"/>
          <p:cNvSpPr/>
          <p:nvPr/>
        </p:nvSpPr>
        <p:spPr>
          <a:xfrm>
            <a:off x="4343400" y="2788920"/>
            <a:ext cx="0" cy="2423160"/>
          </a:xfrm>
          <a:prstGeom prst="line">
            <a:avLst/>
          </a:prstGeom>
          <a:noFill/>
          <a:ln w="19050">
            <a:solidFill>
              <a:srgbClr val="3F4F6A"/>
            </a:solidFill>
            <a:prstDash val="solid"/>
          </a:ln>
        </p:spPr>
      </p:sp>
      <p:sp>
        <p:nvSpPr>
          <p:cNvPr id="17" name="Shape 15"/>
          <p:cNvSpPr/>
          <p:nvPr/>
        </p:nvSpPr>
        <p:spPr>
          <a:xfrm flipH="1">
            <a:off x="3749040" y="5212080"/>
            <a:ext cx="594360" cy="0"/>
          </a:xfrm>
          <a:prstGeom prst="line">
            <a:avLst/>
          </a:prstGeom>
          <a:noFill/>
          <a:ln w="19050">
            <a:solidFill>
              <a:srgbClr val="3F4F6A"/>
            </a:solidFill>
            <a:prstDash val="solid"/>
            <a:tailEnd type="triangle"/>
          </a:ln>
        </p:spPr>
      </p:sp>
      <p:sp>
        <p:nvSpPr>
          <p:cNvPr id="18" name="Text 16"/>
          <p:cNvSpPr txBox="1"/>
          <p:nvPr/>
        </p:nvSpPr>
        <p:spPr>
          <a:xfrm>
            <a:off x="3520440" y="2487168"/>
            <a:ext cx="457200" cy="274320"/>
          </a:xfrm>
          <a:prstGeom prst="rect">
            <a:avLst/>
          </a:prstGeom>
          <a:noFill/>
          <a:ln/>
        </p:spPr>
        <p:txBody>
          <a:bodyPr wrap="square" lIns="0" tIns="0" rIns="0" bIns="0" rtlCol="0" anchor="ctr"/>
          <a:lstStyle/>
          <a:p>
            <a:pPr algn="l" indent="0" marL="0">
              <a:buNone/>
            </a:pPr>
            <a:r>
              <a:rPr lang="en-US" sz="1000" dirty="0">
                <a:solidFill>
                  <a:srgbClr val="5B6675"/>
                </a:solidFill>
                <a:latin typeface="Yu Gothic" pitchFamily="34" charset="0"/>
                <a:ea typeface="Yu Gothic" pitchFamily="34" charset="-122"/>
                <a:cs typeface="Yu Gothic" pitchFamily="34" charset="-120"/>
              </a:rPr>
              <a:t>No</a:t>
            </a:r>
            <a:endParaRPr lang="en-US" sz="1000" dirty="0"/>
          </a:p>
        </p:txBody>
      </p:sp>
      <p:sp>
        <p:nvSpPr>
          <p:cNvPr id="19" name="Text 17"/>
          <p:cNvSpPr/>
          <p:nvPr/>
        </p:nvSpPr>
        <p:spPr>
          <a:xfrm>
            <a:off x="7955280" y="1554480"/>
            <a:ext cx="2377440" cy="548640"/>
          </a:xfrm>
          <a:prstGeom prst="roundRect">
            <a:avLst>
              <a:gd name="adj" fmla="val 13333"/>
            </a:avLst>
          </a:prstGeom>
          <a:solidFill>
            <a:srgbClr val="5E7391"/>
          </a:solidFill>
          <a:ln w="15875">
            <a:solidFill>
              <a:srgbClr val="5E7391"/>
            </a:solidFill>
            <a:prstDash val="solid"/>
          </a:ln>
        </p:spPr>
        <p:txBody>
          <a:bodyPr wrap="square" lIns="38100" tIns="38100" rIns="38100" bIns="38100" rtlCol="0" anchor="ctr"/>
          <a:lstStyle/>
          <a:p>
            <a:pPr algn="ctr" indent="0" marL="0">
              <a:buNone/>
            </a:pPr>
            <a:r>
              <a:rPr lang="en-US" sz="1200" dirty="0">
                <a:solidFill>
                  <a:srgbClr val="FFFFFF"/>
                </a:solidFill>
                <a:latin typeface="Yu Gothic" pitchFamily="34" charset="0"/>
                <a:ea typeface="Yu Gothic" pitchFamily="34" charset="-122"/>
                <a:cs typeface="Yu Gothic" pitchFamily="34" charset="-120"/>
              </a:rPr>
              <a:t>IT投資案件（全件）</a:t>
            </a:r>
            <a:endParaRPr lang="en-US" sz="1200" dirty="0"/>
          </a:p>
        </p:txBody>
      </p:sp>
      <p:sp>
        <p:nvSpPr>
          <p:cNvPr id="20" name="Text 18"/>
          <p:cNvSpPr/>
          <p:nvPr/>
        </p:nvSpPr>
        <p:spPr>
          <a:xfrm>
            <a:off x="7955280" y="2468880"/>
            <a:ext cx="2377440" cy="685800"/>
          </a:xfrm>
          <a:prstGeom prst="roundRect">
            <a:avLst>
              <a:gd name="adj" fmla="val 10667"/>
            </a:avLst>
          </a:prstGeom>
          <a:solidFill>
            <a:srgbClr val="1C2B45"/>
          </a:solidFill>
          <a:ln w="15875">
            <a:solidFill>
              <a:srgbClr val="1C2B45"/>
            </a:solidFill>
            <a:prstDash val="solid"/>
          </a:ln>
        </p:spPr>
        <p:txBody>
          <a:bodyPr wrap="square" lIns="38100" tIns="38100" rIns="38100" bIns="3810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Tier1</a:t>
            </a:r>
            <a:endParaRPr lang="en-US" sz="1100" dirty="0"/>
          </a:p>
          <a:p>
            <a:pPr algn="ctr" indent="0" marL="0">
              <a:buNone/>
            </a:pPr>
            <a:r>
              <a:rPr lang="en-US" sz="1100" dirty="0">
                <a:solidFill>
                  <a:srgbClr val="FFFFFF"/>
                </a:solidFill>
                <a:latin typeface="Yu Gothic" pitchFamily="34" charset="0"/>
                <a:ea typeface="Yu Gothic" pitchFamily="34" charset="-122"/>
                <a:cs typeface="Yu Gothic" pitchFamily="34" charset="-120"/>
              </a:rPr>
              <a:t>優先度の承認（経営層）</a:t>
            </a:r>
            <a:endParaRPr lang="en-US" sz="1100" dirty="0"/>
          </a:p>
        </p:txBody>
      </p:sp>
      <p:sp>
        <p:nvSpPr>
          <p:cNvPr id="21" name="Shape 19"/>
          <p:cNvSpPr/>
          <p:nvPr/>
        </p:nvSpPr>
        <p:spPr>
          <a:xfrm>
            <a:off x="9144000" y="2103120"/>
            <a:ext cx="0" cy="365760"/>
          </a:xfrm>
          <a:prstGeom prst="line">
            <a:avLst/>
          </a:prstGeom>
          <a:noFill/>
          <a:ln w="19050">
            <a:solidFill>
              <a:srgbClr val="3F4F6A"/>
            </a:solidFill>
            <a:prstDash val="solid"/>
            <a:tailEnd type="triangle"/>
          </a:ln>
        </p:spPr>
      </p:sp>
      <p:sp>
        <p:nvSpPr>
          <p:cNvPr id="22" name="Text 20"/>
          <p:cNvSpPr/>
          <p:nvPr/>
        </p:nvSpPr>
        <p:spPr>
          <a:xfrm>
            <a:off x="7955280" y="3520440"/>
            <a:ext cx="2377440" cy="868680"/>
          </a:xfrm>
          <a:prstGeom prst="roundRect">
            <a:avLst>
              <a:gd name="adj" fmla="val 8421"/>
            </a:avLst>
          </a:prstGeom>
          <a:solidFill>
            <a:srgbClr val="1C2B45"/>
          </a:solidFill>
          <a:ln w="15875">
            <a:solidFill>
              <a:srgbClr val="1C2B45"/>
            </a:solidFill>
            <a:prstDash val="solid"/>
          </a:ln>
        </p:spPr>
        <p:txBody>
          <a:bodyPr wrap="square" lIns="38100" tIns="38100" rIns="38100" bIns="3810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Tier2</a:t>
            </a:r>
            <a:endParaRPr lang="en-US" sz="1100" dirty="0"/>
          </a:p>
          <a:p>
            <a:pPr algn="ctr" indent="0" marL="0">
              <a:buNone/>
            </a:pPr>
            <a:r>
              <a:rPr lang="en-US" sz="1100" dirty="0">
                <a:solidFill>
                  <a:srgbClr val="FFFFFF"/>
                </a:solidFill>
                <a:latin typeface="Yu Gothic" pitchFamily="34" charset="0"/>
                <a:ea typeface="Yu Gothic" pitchFamily="34" charset="-122"/>
                <a:cs typeface="Yu Gothic" pitchFamily="34" charset="-120"/>
              </a:rPr>
              <a:t>IT投資計画の審議・承認</a:t>
            </a:r>
            <a:endParaRPr lang="en-US" sz="1100" dirty="0"/>
          </a:p>
          <a:p>
            <a:pPr algn="ctr" indent="0" marL="0">
              <a:buNone/>
            </a:pPr>
            <a:r>
              <a:rPr lang="en-US" sz="1100" dirty="0">
                <a:solidFill>
                  <a:srgbClr val="FFFFFF"/>
                </a:solidFill>
                <a:latin typeface="Yu Gothic" pitchFamily="34" charset="0"/>
                <a:ea typeface="Yu Gothic" pitchFamily="34" charset="-122"/>
                <a:cs typeface="Yu Gothic" pitchFamily="34" charset="-120"/>
              </a:rPr>
              <a:t>決裁権の決定</a:t>
            </a:r>
            <a:endParaRPr lang="en-US" sz="1100" dirty="0"/>
          </a:p>
        </p:txBody>
      </p:sp>
      <p:sp>
        <p:nvSpPr>
          <p:cNvPr id="23" name="Shape 21"/>
          <p:cNvSpPr/>
          <p:nvPr/>
        </p:nvSpPr>
        <p:spPr>
          <a:xfrm>
            <a:off x="9144000" y="3154680"/>
            <a:ext cx="0" cy="365760"/>
          </a:xfrm>
          <a:prstGeom prst="line">
            <a:avLst/>
          </a:prstGeom>
          <a:noFill/>
          <a:ln w="19050">
            <a:solidFill>
              <a:srgbClr val="3F4F6A"/>
            </a:solidFill>
            <a:prstDash val="solid"/>
            <a:tailEnd type="triangle"/>
          </a:ln>
        </p:spPr>
      </p:sp>
      <p:sp>
        <p:nvSpPr>
          <p:cNvPr id="24" name="Text 22"/>
          <p:cNvSpPr/>
          <p:nvPr/>
        </p:nvSpPr>
        <p:spPr>
          <a:xfrm>
            <a:off x="7955280" y="4892040"/>
            <a:ext cx="2377440" cy="640080"/>
          </a:xfrm>
          <a:prstGeom prst="roundRect">
            <a:avLst>
              <a:gd name="adj" fmla="val 11429"/>
            </a:avLst>
          </a:prstGeom>
          <a:solidFill>
            <a:srgbClr val="DCE6F2"/>
          </a:solidFill>
          <a:ln w="15875">
            <a:solidFill>
              <a:srgbClr val="5E7391"/>
            </a:solidFill>
            <a:prstDash val="solid"/>
          </a:ln>
        </p:spPr>
        <p:txBody>
          <a:bodyPr wrap="square" lIns="38100" tIns="38100" rIns="38100" bIns="38100" rtlCol="0" anchor="ctr"/>
          <a:lstStyle/>
          <a:p>
            <a:pPr algn="ctr" indent="0" marL="0">
              <a:buNone/>
            </a:pPr>
            <a:r>
              <a:rPr lang="en-US" sz="1200" b="1" dirty="0">
                <a:solidFill>
                  <a:srgbClr val="1C2B45"/>
                </a:solidFill>
                <a:latin typeface="Yu Gothic" pitchFamily="34" charset="0"/>
                <a:ea typeface="Yu Gothic" pitchFamily="34" charset="-122"/>
                <a:cs typeface="Yu Gothic" pitchFamily="34" charset="-120"/>
              </a:rPr>
              <a:t>予算計上</a:t>
            </a:r>
            <a:endParaRPr lang="en-US" sz="1200" dirty="0"/>
          </a:p>
        </p:txBody>
      </p:sp>
      <p:sp>
        <p:nvSpPr>
          <p:cNvPr id="25" name="Shape 23"/>
          <p:cNvSpPr/>
          <p:nvPr/>
        </p:nvSpPr>
        <p:spPr>
          <a:xfrm>
            <a:off x="9144000" y="4389120"/>
            <a:ext cx="0" cy="502920"/>
          </a:xfrm>
          <a:prstGeom prst="line">
            <a:avLst/>
          </a:prstGeom>
          <a:noFill/>
          <a:ln w="19050">
            <a:solidFill>
              <a:srgbClr val="3F4F6A"/>
            </a:solidFill>
            <a:prstDash val="solid"/>
            <a:tailEnd type="triangle"/>
          </a:ln>
        </p:spPr>
      </p:sp>
      <p:sp>
        <p:nvSpPr>
          <p:cNvPr id="26" name="Shape 24"/>
          <p:cNvSpPr/>
          <p:nvPr/>
        </p:nvSpPr>
        <p:spPr>
          <a:xfrm flipH="1">
            <a:off x="7498080" y="1828800"/>
            <a:ext cx="457200" cy="0"/>
          </a:xfrm>
          <a:prstGeom prst="line">
            <a:avLst/>
          </a:prstGeom>
          <a:noFill/>
          <a:ln w="19050">
            <a:solidFill>
              <a:srgbClr val="3F4F6A"/>
            </a:solidFill>
            <a:prstDash val="dash"/>
          </a:ln>
        </p:spPr>
      </p:sp>
      <p:sp>
        <p:nvSpPr>
          <p:cNvPr id="27" name="Shape 25"/>
          <p:cNvSpPr/>
          <p:nvPr/>
        </p:nvSpPr>
        <p:spPr>
          <a:xfrm>
            <a:off x="7498080" y="1828800"/>
            <a:ext cx="0" cy="2121408"/>
          </a:xfrm>
          <a:prstGeom prst="line">
            <a:avLst/>
          </a:prstGeom>
          <a:noFill/>
          <a:ln w="19050">
            <a:solidFill>
              <a:srgbClr val="3F4F6A"/>
            </a:solidFill>
            <a:prstDash val="dash"/>
          </a:ln>
        </p:spPr>
      </p:sp>
      <p:sp>
        <p:nvSpPr>
          <p:cNvPr id="28" name="Shape 26"/>
          <p:cNvSpPr/>
          <p:nvPr/>
        </p:nvSpPr>
        <p:spPr>
          <a:xfrm>
            <a:off x="7498080" y="3950208"/>
            <a:ext cx="457200" cy="0"/>
          </a:xfrm>
          <a:prstGeom prst="line">
            <a:avLst/>
          </a:prstGeom>
          <a:noFill/>
          <a:ln w="19050">
            <a:solidFill>
              <a:srgbClr val="3F4F6A"/>
            </a:solidFill>
            <a:prstDash val="dash"/>
            <a:tailEnd type="triangle"/>
          </a:ln>
        </p:spPr>
      </p:sp>
      <p:sp>
        <p:nvSpPr>
          <p:cNvPr id="29" name="Text 27"/>
          <p:cNvSpPr txBox="1"/>
          <p:nvPr/>
        </p:nvSpPr>
        <p:spPr>
          <a:xfrm>
            <a:off x="6446520" y="2606040"/>
            <a:ext cx="1005840" cy="548640"/>
          </a:xfrm>
          <a:prstGeom prst="rect">
            <a:avLst/>
          </a:prstGeom>
          <a:noFill/>
          <a:ln/>
        </p:spPr>
        <p:txBody>
          <a:bodyPr wrap="square" lIns="0" tIns="0" rIns="0" bIns="0" rtlCol="0" anchor="ctr"/>
          <a:lstStyle/>
          <a:p>
            <a:pPr algn="r" indent="0" marL="0">
              <a:buNone/>
            </a:pPr>
            <a:r>
              <a:rPr lang="en-US" sz="950" dirty="0">
                <a:solidFill>
                  <a:srgbClr val="5B6675"/>
                </a:solidFill>
                <a:latin typeface="Yu Gothic" pitchFamily="34" charset="0"/>
                <a:ea typeface="Yu Gothic" pitchFamily="34" charset="-122"/>
                <a:cs typeface="Yu Gothic" pitchFamily="34" charset="-120"/>
              </a:rPr>
              <a:t>次年度以降</a:t>
            </a:r>
            <a:endParaRPr lang="en-US" sz="950" dirty="0"/>
          </a:p>
          <a:p>
            <a:pPr algn="r" indent="0" marL="0">
              <a:buNone/>
            </a:pPr>
            <a:r>
              <a:rPr lang="en-US" sz="950" dirty="0">
                <a:solidFill>
                  <a:srgbClr val="5B6675"/>
                </a:solidFill>
                <a:latin typeface="Yu Gothic" pitchFamily="34" charset="0"/>
                <a:ea typeface="Yu Gothic" pitchFamily="34" charset="-122"/>
                <a:cs typeface="Yu Gothic" pitchFamily="34" charset="-120"/>
              </a:rPr>
              <a:t>基準該当案件</a:t>
            </a:r>
            <a:endParaRPr lang="en-US" sz="950" dirty="0"/>
          </a:p>
        </p:txBody>
      </p:sp>
      <p:sp>
        <p:nvSpPr>
          <p:cNvPr id="30" name="Shape 28"/>
          <p:cNvSpPr/>
          <p:nvPr/>
        </p:nvSpPr>
        <p:spPr>
          <a:xfrm>
            <a:off x="10332720" y="3950208"/>
            <a:ext cx="457200" cy="0"/>
          </a:xfrm>
          <a:prstGeom prst="line">
            <a:avLst/>
          </a:prstGeom>
          <a:noFill/>
          <a:ln w="19050">
            <a:solidFill>
              <a:srgbClr val="3F4F6A"/>
            </a:solidFill>
            <a:prstDash val="dash"/>
          </a:ln>
        </p:spPr>
      </p:sp>
      <p:sp>
        <p:nvSpPr>
          <p:cNvPr id="31" name="Shape 29"/>
          <p:cNvSpPr/>
          <p:nvPr/>
        </p:nvSpPr>
        <p:spPr>
          <a:xfrm flipV="1">
            <a:off x="10789920" y="2816352"/>
            <a:ext cx="0" cy="1133856"/>
          </a:xfrm>
          <a:prstGeom prst="line">
            <a:avLst/>
          </a:prstGeom>
          <a:noFill/>
          <a:ln w="19050">
            <a:solidFill>
              <a:srgbClr val="3F4F6A"/>
            </a:solidFill>
            <a:prstDash val="dash"/>
          </a:ln>
        </p:spPr>
      </p:sp>
      <p:sp>
        <p:nvSpPr>
          <p:cNvPr id="32" name="Shape 30"/>
          <p:cNvSpPr/>
          <p:nvPr/>
        </p:nvSpPr>
        <p:spPr>
          <a:xfrm flipH="1">
            <a:off x="10332720" y="2816352"/>
            <a:ext cx="457200" cy="0"/>
          </a:xfrm>
          <a:prstGeom prst="line">
            <a:avLst/>
          </a:prstGeom>
          <a:noFill/>
          <a:ln w="19050">
            <a:solidFill>
              <a:srgbClr val="3F4F6A"/>
            </a:solidFill>
            <a:prstDash val="dash"/>
            <a:tailEnd type="triangle"/>
          </a:ln>
        </p:spPr>
      </p:sp>
      <p:sp>
        <p:nvSpPr>
          <p:cNvPr id="33" name="Text 31"/>
          <p:cNvSpPr txBox="1"/>
          <p:nvPr/>
        </p:nvSpPr>
        <p:spPr>
          <a:xfrm>
            <a:off x="10881360" y="3108960"/>
            <a:ext cx="914400" cy="548640"/>
          </a:xfrm>
          <a:prstGeom prst="rect">
            <a:avLst/>
          </a:prstGeom>
          <a:noFill/>
          <a:ln/>
        </p:spPr>
        <p:txBody>
          <a:bodyPr wrap="square" lIns="0" tIns="0" rIns="0" bIns="0" rtlCol="0" anchor="ctr"/>
          <a:lstStyle/>
          <a:p>
            <a:pPr indent="0" marL="0">
              <a:buNone/>
            </a:pPr>
            <a:r>
              <a:rPr lang="en-US" sz="950" dirty="0">
                <a:solidFill>
                  <a:srgbClr val="5B6675"/>
                </a:solidFill>
                <a:latin typeface="Yu Gothic" pitchFamily="34" charset="0"/>
                <a:ea typeface="Yu Gothic" pitchFamily="34" charset="-122"/>
                <a:cs typeface="Yu Gothic" pitchFamily="34" charset="-120"/>
              </a:rPr>
              <a:t>意見具申</a:t>
            </a:r>
            <a:endParaRPr lang="en-US" sz="950" dirty="0"/>
          </a:p>
          <a:p>
            <a:pPr indent="0" marL="0">
              <a:buNone/>
            </a:pPr>
            <a:r>
              <a:rPr lang="en-US" sz="950" dirty="0">
                <a:solidFill>
                  <a:srgbClr val="5B6675"/>
                </a:solidFill>
                <a:latin typeface="Yu Gothic" pitchFamily="34" charset="0"/>
                <a:ea typeface="Yu Gothic" pitchFamily="34" charset="-122"/>
                <a:cs typeface="Yu Gothic" pitchFamily="34" charset="-120"/>
              </a:rPr>
              <a:t>再審議の要請</a:t>
            </a:r>
            <a:endParaRPr lang="en-US" sz="950" dirty="0"/>
          </a:p>
        </p:txBody>
      </p:sp>
      <p:sp>
        <p:nvSpPr>
          <p:cNvPr id="34" name="Shape 32"/>
          <p:cNvSpPr/>
          <p:nvPr/>
        </p:nvSpPr>
        <p:spPr>
          <a:xfrm>
            <a:off x="548640" y="6281928"/>
            <a:ext cx="256032" cy="164592"/>
          </a:xfrm>
          <a:prstGeom prst="rect">
            <a:avLst/>
          </a:prstGeom>
          <a:solidFill>
            <a:srgbClr val="DCE6F2"/>
          </a:solidFill>
          <a:ln w="12700">
            <a:solidFill>
              <a:srgbClr val="5E7391"/>
            </a:solidFill>
            <a:prstDash val="solid"/>
          </a:ln>
        </p:spPr>
      </p:sp>
      <p:sp>
        <p:nvSpPr>
          <p:cNvPr id="35" name="Text 33"/>
          <p:cNvSpPr txBox="1"/>
          <p:nvPr/>
        </p:nvSpPr>
        <p:spPr>
          <a:xfrm>
            <a:off x="868680" y="6236208"/>
            <a:ext cx="822960" cy="256032"/>
          </a:xfrm>
          <a:prstGeom prst="rect">
            <a:avLst/>
          </a:prstGeom>
          <a:noFill/>
          <a:ln/>
        </p:spPr>
        <p:txBody>
          <a:bodyPr wrap="square" lIns="0" tIns="0" rIns="0" bIns="0" rtlCol="0" anchor="ctr"/>
          <a:lstStyle/>
          <a:p>
            <a:pPr indent="0" marL="0">
              <a:buNone/>
            </a:pPr>
            <a:r>
              <a:rPr lang="en-US" sz="950" dirty="0">
                <a:solidFill>
                  <a:srgbClr val="5B6675"/>
                </a:solidFill>
                <a:latin typeface="Yu Gothic" pitchFamily="34" charset="0"/>
                <a:ea typeface="Yu Gothic" pitchFamily="34" charset="-122"/>
                <a:cs typeface="Yu Gothic" pitchFamily="34" charset="-120"/>
              </a:rPr>
              <a:t>イベント</a:t>
            </a:r>
            <a:endParaRPr lang="en-US" sz="950" dirty="0"/>
          </a:p>
        </p:txBody>
      </p:sp>
      <p:sp>
        <p:nvSpPr>
          <p:cNvPr id="36" name="Shape 34"/>
          <p:cNvSpPr/>
          <p:nvPr/>
        </p:nvSpPr>
        <p:spPr>
          <a:xfrm>
            <a:off x="1783080" y="6364224"/>
            <a:ext cx="320040" cy="0"/>
          </a:xfrm>
          <a:prstGeom prst="line">
            <a:avLst/>
          </a:prstGeom>
          <a:noFill/>
          <a:ln w="19050">
            <a:solidFill>
              <a:srgbClr val="3F4F6A"/>
            </a:solidFill>
            <a:prstDash val="dash"/>
          </a:ln>
        </p:spPr>
      </p:sp>
      <p:sp>
        <p:nvSpPr>
          <p:cNvPr id="37" name="Text 35"/>
          <p:cNvSpPr txBox="1"/>
          <p:nvPr/>
        </p:nvSpPr>
        <p:spPr>
          <a:xfrm>
            <a:off x="2194560" y="6236208"/>
            <a:ext cx="2743200" cy="256032"/>
          </a:xfrm>
          <a:prstGeom prst="rect">
            <a:avLst/>
          </a:prstGeom>
          <a:noFill/>
          <a:ln/>
        </p:spPr>
        <p:txBody>
          <a:bodyPr wrap="square" lIns="0" tIns="0" rIns="0" bIns="0" rtlCol="0" anchor="ctr"/>
          <a:lstStyle/>
          <a:p>
            <a:pPr indent="0" marL="0">
              <a:buNone/>
            </a:pPr>
            <a:r>
              <a:rPr lang="en-US" sz="950" dirty="0">
                <a:solidFill>
                  <a:srgbClr val="5B6675"/>
                </a:solidFill>
                <a:latin typeface="Yu Gothic" pitchFamily="34" charset="0"/>
                <a:ea typeface="Yu Gothic" pitchFamily="34" charset="-122"/>
                <a:cs typeface="Yu Gothic" pitchFamily="34" charset="-120"/>
              </a:rPr>
              <a:t>条件付きの経路・任命／レポート</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変更前後の比較②：プロセス（予算計上から実行まで）</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5</a:t>
            </a:r>
            <a:endParaRPr lang="en-US" sz="1000" dirty="0"/>
          </a:p>
        </p:txBody>
      </p:sp>
      <p:sp>
        <p:nvSpPr>
          <p:cNvPr id="4" name="Text 2"/>
          <p:cNvSpPr txBox="1"/>
          <p:nvPr/>
        </p:nvSpPr>
        <p:spPr>
          <a:xfrm>
            <a:off x="548640" y="1051560"/>
            <a:ext cx="4572000" cy="365760"/>
          </a:xfrm>
          <a:prstGeom prst="rect">
            <a:avLst/>
          </a:prstGeom>
          <a:noFill/>
          <a:ln/>
        </p:spPr>
        <p:txBody>
          <a:bodyPr wrap="square" lIns="0" tIns="0" rIns="0" bIns="0" rtlCol="0" anchor="t"/>
          <a:lstStyle/>
          <a:p>
            <a:pPr algn="ctr" indent="0" marL="0">
              <a:buNone/>
            </a:pPr>
            <a:r>
              <a:rPr lang="en-US" sz="1600" b="1" dirty="0">
                <a:solidFill>
                  <a:srgbClr val="5E7391"/>
                </a:solidFill>
                <a:latin typeface="Yu Gothic" pitchFamily="34" charset="0"/>
                <a:ea typeface="Yu Gothic" pitchFamily="34" charset="-122"/>
                <a:cs typeface="Yu Gothic" pitchFamily="34" charset="-120"/>
              </a:rPr>
              <a:t>変更前</a:t>
            </a:r>
            <a:endParaRPr lang="en-US" sz="1600" dirty="0"/>
          </a:p>
        </p:txBody>
      </p:sp>
      <p:sp>
        <p:nvSpPr>
          <p:cNvPr id="5" name="Text 3"/>
          <p:cNvSpPr txBox="1"/>
          <p:nvPr/>
        </p:nvSpPr>
        <p:spPr>
          <a:xfrm>
            <a:off x="6675120" y="1051560"/>
            <a:ext cx="4983480" cy="365760"/>
          </a:xfrm>
          <a:prstGeom prst="rect">
            <a:avLst/>
          </a:prstGeom>
          <a:noFill/>
          <a:ln/>
        </p:spPr>
        <p:txBody>
          <a:bodyPr wrap="square" lIns="0" tIns="0" rIns="0" bIns="0" rtlCol="0" anchor="t"/>
          <a:lstStyle/>
          <a:p>
            <a:pPr algn="ctr" indent="0" marL="0">
              <a:buNone/>
            </a:pPr>
            <a:r>
              <a:rPr lang="en-US" sz="1600" b="1" dirty="0">
                <a:solidFill>
                  <a:srgbClr val="1C2B45"/>
                </a:solidFill>
                <a:latin typeface="Yu Gothic" pitchFamily="34" charset="0"/>
                <a:ea typeface="Yu Gothic" pitchFamily="34" charset="-122"/>
                <a:cs typeface="Yu Gothic" pitchFamily="34" charset="-120"/>
              </a:rPr>
              <a:t>変更後</a:t>
            </a:r>
            <a:endParaRPr lang="en-US" sz="1600" dirty="0"/>
          </a:p>
        </p:txBody>
      </p:sp>
      <p:sp>
        <p:nvSpPr>
          <p:cNvPr id="6" name="Shape 4"/>
          <p:cNvSpPr/>
          <p:nvPr/>
        </p:nvSpPr>
        <p:spPr>
          <a:xfrm>
            <a:off x="5897880" y="1097280"/>
            <a:ext cx="0" cy="4892040"/>
          </a:xfrm>
          <a:prstGeom prst="line">
            <a:avLst/>
          </a:prstGeom>
          <a:noFill/>
          <a:ln w="12700">
            <a:solidFill>
              <a:srgbClr val="CFCABE"/>
            </a:solidFill>
            <a:prstDash val="solid"/>
          </a:ln>
        </p:spPr>
      </p:sp>
      <p:sp>
        <p:nvSpPr>
          <p:cNvPr id="7" name="Text 5"/>
          <p:cNvSpPr/>
          <p:nvPr/>
        </p:nvSpPr>
        <p:spPr>
          <a:xfrm>
            <a:off x="1051560" y="1554480"/>
            <a:ext cx="2103120" cy="457200"/>
          </a:xfrm>
          <a:prstGeom prst="roundRect">
            <a:avLst>
              <a:gd name="adj" fmla="val 16000"/>
            </a:avLst>
          </a:prstGeom>
          <a:solidFill>
            <a:srgbClr val="DCE6F2"/>
          </a:solidFill>
          <a:ln w="15875">
            <a:solidFill>
              <a:srgbClr val="5E7391"/>
            </a:solidFill>
            <a:prstDash val="solid"/>
          </a:ln>
        </p:spPr>
        <p:txBody>
          <a:bodyPr wrap="square" lIns="38100" tIns="38100" rIns="38100" bIns="38100" rtlCol="0" anchor="ctr"/>
          <a:lstStyle/>
          <a:p>
            <a:pPr algn="ctr" indent="0" marL="0">
              <a:buNone/>
            </a:pPr>
            <a:r>
              <a:rPr lang="en-US" sz="1200" b="1" dirty="0">
                <a:solidFill>
                  <a:srgbClr val="1C2B45"/>
                </a:solidFill>
                <a:latin typeface="Yu Gothic" pitchFamily="34" charset="0"/>
                <a:ea typeface="Yu Gothic" pitchFamily="34" charset="-122"/>
                <a:cs typeface="Yu Gothic" pitchFamily="34" charset="-120"/>
              </a:rPr>
              <a:t>予算計上</a:t>
            </a:r>
            <a:endParaRPr lang="en-US" sz="1200" dirty="0"/>
          </a:p>
        </p:txBody>
      </p:sp>
      <p:sp>
        <p:nvSpPr>
          <p:cNvPr id="8" name="Shape 6"/>
          <p:cNvSpPr/>
          <p:nvPr/>
        </p:nvSpPr>
        <p:spPr>
          <a:xfrm>
            <a:off x="2103120" y="2011680"/>
            <a:ext cx="0" cy="228600"/>
          </a:xfrm>
          <a:prstGeom prst="line">
            <a:avLst/>
          </a:prstGeom>
          <a:noFill/>
          <a:ln w="19050">
            <a:solidFill>
              <a:srgbClr val="3F4F6A"/>
            </a:solidFill>
            <a:prstDash val="solid"/>
            <a:tailEnd type="triangle"/>
          </a:ln>
        </p:spPr>
      </p:sp>
      <p:sp>
        <p:nvSpPr>
          <p:cNvPr id="9" name="Text 7"/>
          <p:cNvSpPr/>
          <p:nvPr/>
        </p:nvSpPr>
        <p:spPr>
          <a:xfrm>
            <a:off x="1051560" y="2240280"/>
            <a:ext cx="2103120" cy="457200"/>
          </a:xfrm>
          <a:prstGeom prst="roundRect">
            <a:avLst>
              <a:gd name="adj" fmla="val 16000"/>
            </a:avLst>
          </a:prstGeom>
          <a:solidFill>
            <a:srgbClr val="5E7391"/>
          </a:solidFill>
          <a:ln w="15875">
            <a:solidFill>
              <a:srgbClr val="5E7391"/>
            </a:solidFill>
            <a:prstDash val="solid"/>
          </a:ln>
        </p:spPr>
        <p:txBody>
          <a:bodyPr wrap="square" lIns="38100" tIns="38100" rIns="38100" bIns="38100" rtlCol="0" anchor="ctr"/>
          <a:lstStyle/>
          <a:p>
            <a:pPr algn="ctr" indent="0" marL="0">
              <a:buNone/>
            </a:pPr>
            <a:r>
              <a:rPr lang="en-US" sz="1150" dirty="0">
                <a:solidFill>
                  <a:srgbClr val="FFFFFF"/>
                </a:solidFill>
                <a:latin typeface="Yu Gothic" pitchFamily="34" charset="0"/>
                <a:ea typeface="Yu Gothic" pitchFamily="34" charset="-122"/>
                <a:cs typeface="Yu Gothic" pitchFamily="34" charset="-120"/>
              </a:rPr>
              <a:t>実行計画策定</a:t>
            </a:r>
            <a:endParaRPr lang="en-US" sz="1150" dirty="0"/>
          </a:p>
        </p:txBody>
      </p:sp>
      <p:sp>
        <p:nvSpPr>
          <p:cNvPr id="10" name="Shape 8"/>
          <p:cNvSpPr/>
          <p:nvPr/>
        </p:nvSpPr>
        <p:spPr>
          <a:xfrm>
            <a:off x="2103120" y="2697480"/>
            <a:ext cx="0" cy="228600"/>
          </a:xfrm>
          <a:prstGeom prst="line">
            <a:avLst/>
          </a:prstGeom>
          <a:noFill/>
          <a:ln w="19050">
            <a:solidFill>
              <a:srgbClr val="3F4F6A"/>
            </a:solidFill>
            <a:prstDash val="solid"/>
            <a:tailEnd type="triangle"/>
          </a:ln>
        </p:spPr>
      </p:sp>
      <p:sp>
        <p:nvSpPr>
          <p:cNvPr id="11" name="Text 9"/>
          <p:cNvSpPr/>
          <p:nvPr/>
        </p:nvSpPr>
        <p:spPr>
          <a:xfrm>
            <a:off x="1051560" y="2926080"/>
            <a:ext cx="2103120" cy="548640"/>
          </a:xfrm>
          <a:prstGeom prst="roundRect">
            <a:avLst>
              <a:gd name="adj" fmla="val 13333"/>
            </a:avLst>
          </a:prstGeom>
          <a:solidFill>
            <a:srgbClr val="B8603F"/>
          </a:solidFill>
          <a:ln w="15875">
            <a:solidFill>
              <a:srgbClr val="B8603F"/>
            </a:solidFill>
            <a:prstDash val="solid"/>
          </a:ln>
        </p:spPr>
        <p:txBody>
          <a:bodyPr wrap="square" lIns="38100" tIns="38100" rIns="38100" bIns="3810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事業部門内承認</a:t>
            </a:r>
            <a:endParaRPr lang="en-US" sz="1100" dirty="0"/>
          </a:p>
          <a:p>
            <a:pPr algn="ctr" indent="0" marL="0">
              <a:buNone/>
            </a:pPr>
            <a:r>
              <a:rPr lang="en-US" sz="1100" dirty="0">
                <a:solidFill>
                  <a:srgbClr val="FFFFFF"/>
                </a:solidFill>
                <a:latin typeface="Yu Gothic" pitchFamily="34" charset="0"/>
                <a:ea typeface="Yu Gothic" pitchFamily="34" charset="-122"/>
                <a:cs typeface="Yu Gothic" pitchFamily="34" charset="-120"/>
              </a:rPr>
              <a:t>（共通ルールなし）</a:t>
            </a:r>
            <a:endParaRPr lang="en-US" sz="1100" dirty="0"/>
          </a:p>
        </p:txBody>
      </p:sp>
      <p:sp>
        <p:nvSpPr>
          <p:cNvPr id="12" name="Shape 10"/>
          <p:cNvSpPr/>
          <p:nvPr/>
        </p:nvSpPr>
        <p:spPr>
          <a:xfrm>
            <a:off x="2103120" y="3474720"/>
            <a:ext cx="0" cy="182880"/>
          </a:xfrm>
          <a:prstGeom prst="line">
            <a:avLst/>
          </a:prstGeom>
          <a:noFill/>
          <a:ln w="19050">
            <a:solidFill>
              <a:srgbClr val="3F4F6A"/>
            </a:solidFill>
            <a:prstDash val="solid"/>
            <a:tailEnd type="triangle"/>
          </a:ln>
        </p:spPr>
      </p:sp>
      <p:sp>
        <p:nvSpPr>
          <p:cNvPr id="13" name="Text 11"/>
          <p:cNvSpPr/>
          <p:nvPr/>
        </p:nvSpPr>
        <p:spPr>
          <a:xfrm>
            <a:off x="1188720" y="3657600"/>
            <a:ext cx="1828800" cy="1005840"/>
          </a:xfrm>
          <a:prstGeom prst="diamond">
            <a:avLst/>
          </a:prstGeom>
          <a:solidFill>
            <a:srgbClr val="1C2B45"/>
          </a:solidFill>
          <a:ln w="12700">
            <a:solidFill>
              <a:srgbClr val="1C2B45"/>
            </a:solidFill>
          </a:ln>
        </p:spPr>
        <p:txBody>
          <a:bodyPr wrap="square" lIns="0" tIns="0" rIns="0" bIns="0" rtlCol="0" anchor="ctr"/>
          <a:lstStyle/>
          <a:p>
            <a:pPr algn="ctr" indent="0" marL="0">
              <a:buNone/>
            </a:pPr>
            <a:r>
              <a:rPr lang="en-US" sz="1000" dirty="0">
                <a:solidFill>
                  <a:srgbClr val="FFFFFF"/>
                </a:solidFill>
                <a:latin typeface="Yu Gothic" pitchFamily="34" charset="0"/>
                <a:ea typeface="Yu Gothic" pitchFamily="34" charset="-122"/>
                <a:cs typeface="Yu Gothic" pitchFamily="34" charset="-120"/>
              </a:rPr>
              <a:t>ローカルかつ</a:t>
            </a:r>
            <a:endParaRPr lang="en-US" sz="1000" dirty="0"/>
          </a:p>
          <a:p>
            <a:pPr algn="ctr" indent="0" marL="0">
              <a:buNone/>
            </a:pPr>
            <a:r>
              <a:rPr lang="en-US" sz="1000" dirty="0">
                <a:solidFill>
                  <a:srgbClr val="FFFFFF"/>
                </a:solidFill>
                <a:latin typeface="Yu Gothic" pitchFamily="34" charset="0"/>
                <a:ea typeface="Yu Gothic" pitchFamily="34" charset="-122"/>
                <a:cs typeface="Yu Gothic" pitchFamily="34" charset="-120"/>
              </a:rPr>
              <a:t>50百万円未満？</a:t>
            </a:r>
            <a:endParaRPr lang="en-US" sz="1000" dirty="0"/>
          </a:p>
        </p:txBody>
      </p:sp>
      <p:sp>
        <p:nvSpPr>
          <p:cNvPr id="14" name="Text 12"/>
          <p:cNvSpPr/>
          <p:nvPr/>
        </p:nvSpPr>
        <p:spPr>
          <a:xfrm>
            <a:off x="1371600" y="4983480"/>
            <a:ext cx="1463040" cy="502920"/>
          </a:xfrm>
          <a:prstGeom prst="roundRect">
            <a:avLst>
              <a:gd name="adj" fmla="val 14545"/>
            </a:avLst>
          </a:prstGeom>
          <a:solidFill>
            <a:srgbClr val="B8603F"/>
          </a:solidFill>
          <a:ln w="15875">
            <a:solidFill>
              <a:srgbClr val="B8603F"/>
            </a:solidFill>
            <a:prstDash val="solid"/>
          </a:ln>
        </p:spPr>
        <p:txBody>
          <a:bodyPr wrap="square" lIns="38100" tIns="38100" rIns="38100" bIns="38100" rtlCol="0" anchor="ctr"/>
          <a:lstStyle/>
          <a:p>
            <a:pPr algn="ctr" indent="0" marL="0">
              <a:buNone/>
            </a:pPr>
            <a:r>
              <a:rPr lang="en-US" sz="1000" dirty="0">
                <a:solidFill>
                  <a:srgbClr val="FFFFFF"/>
                </a:solidFill>
                <a:latin typeface="Yu Gothic" pitchFamily="34" charset="0"/>
                <a:ea typeface="Yu Gothic" pitchFamily="34" charset="-122"/>
                <a:cs typeface="Yu Gothic" pitchFamily="34" charset="-120"/>
              </a:rPr>
              <a:t>ICTB審議不要</a:t>
            </a:r>
            <a:endParaRPr lang="en-US" sz="1000" dirty="0"/>
          </a:p>
          <a:p>
            <a:pPr algn="ctr" indent="0" marL="0">
              <a:buNone/>
            </a:pPr>
            <a:r>
              <a:rPr lang="en-US" sz="1000" dirty="0">
                <a:solidFill>
                  <a:srgbClr val="FFFFFF"/>
                </a:solidFill>
                <a:latin typeface="Yu Gothic" pitchFamily="34" charset="0"/>
                <a:ea typeface="Yu Gothic" pitchFamily="34" charset="-122"/>
                <a:cs typeface="Yu Gothic" pitchFamily="34" charset="-120"/>
              </a:rPr>
              <a:t>（内規）</a:t>
            </a:r>
            <a:endParaRPr lang="en-US" sz="1000" dirty="0"/>
          </a:p>
        </p:txBody>
      </p:sp>
      <p:sp>
        <p:nvSpPr>
          <p:cNvPr id="15" name="Shape 13"/>
          <p:cNvSpPr/>
          <p:nvPr/>
        </p:nvSpPr>
        <p:spPr>
          <a:xfrm>
            <a:off x="2103120" y="4663440"/>
            <a:ext cx="0" cy="320040"/>
          </a:xfrm>
          <a:prstGeom prst="line">
            <a:avLst/>
          </a:prstGeom>
          <a:noFill/>
          <a:ln w="19050">
            <a:solidFill>
              <a:srgbClr val="3F4F6A"/>
            </a:solidFill>
            <a:prstDash val="solid"/>
            <a:tailEnd type="triangle"/>
          </a:ln>
        </p:spPr>
      </p:sp>
      <p:sp>
        <p:nvSpPr>
          <p:cNvPr id="16" name="Text 14"/>
          <p:cNvSpPr txBox="1"/>
          <p:nvPr/>
        </p:nvSpPr>
        <p:spPr>
          <a:xfrm>
            <a:off x="2148840" y="4663440"/>
            <a:ext cx="457200" cy="274320"/>
          </a:xfrm>
          <a:prstGeom prst="rect">
            <a:avLst/>
          </a:prstGeom>
          <a:noFill/>
          <a:ln/>
        </p:spPr>
        <p:txBody>
          <a:bodyPr wrap="square" lIns="0" tIns="0" rIns="0" bIns="0" rtlCol="0" anchor="ctr"/>
          <a:lstStyle/>
          <a:p>
            <a:pPr algn="l" indent="0" marL="0">
              <a:buNone/>
            </a:pPr>
            <a:r>
              <a:rPr lang="en-US" sz="1000" dirty="0">
                <a:solidFill>
                  <a:srgbClr val="5B6675"/>
                </a:solidFill>
                <a:latin typeface="Yu Gothic" pitchFamily="34" charset="0"/>
                <a:ea typeface="Yu Gothic" pitchFamily="34" charset="-122"/>
                <a:cs typeface="Yu Gothic" pitchFamily="34" charset="-120"/>
              </a:rPr>
              <a:t>Yes</a:t>
            </a:r>
            <a:endParaRPr lang="en-US" sz="1000" dirty="0"/>
          </a:p>
        </p:txBody>
      </p:sp>
      <p:sp>
        <p:nvSpPr>
          <p:cNvPr id="17" name="Text 15"/>
          <p:cNvSpPr/>
          <p:nvPr/>
        </p:nvSpPr>
        <p:spPr>
          <a:xfrm>
            <a:off x="3657600" y="3794760"/>
            <a:ext cx="1280160" cy="731520"/>
          </a:xfrm>
          <a:prstGeom prst="diamond">
            <a:avLst/>
          </a:prstGeom>
          <a:solidFill>
            <a:srgbClr val="1C2B45"/>
          </a:solidFill>
          <a:ln w="12700">
            <a:solidFill>
              <a:srgbClr val="1C2B45"/>
            </a:solidFill>
          </a:ln>
        </p:spPr>
        <p:txBody>
          <a:bodyPr wrap="square" lIns="0" tIns="0" rIns="0" bIns="0" rtlCol="0" anchor="ctr"/>
          <a:lstStyle/>
          <a:p>
            <a:pPr algn="ctr" indent="0" marL="0">
              <a:buNone/>
            </a:pPr>
            <a:r>
              <a:rPr lang="en-US" sz="1000" dirty="0">
                <a:solidFill>
                  <a:srgbClr val="FFFFFF"/>
                </a:solidFill>
                <a:latin typeface="Yu Gothic" pitchFamily="34" charset="0"/>
                <a:ea typeface="Yu Gothic" pitchFamily="34" charset="-122"/>
                <a:cs typeface="Yu Gothic" pitchFamily="34" charset="-120"/>
              </a:rPr>
              <a:t>対象範囲</a:t>
            </a:r>
            <a:endParaRPr lang="en-US" sz="1000" dirty="0"/>
          </a:p>
        </p:txBody>
      </p:sp>
      <p:sp>
        <p:nvSpPr>
          <p:cNvPr id="18" name="Shape 16"/>
          <p:cNvSpPr/>
          <p:nvPr/>
        </p:nvSpPr>
        <p:spPr>
          <a:xfrm>
            <a:off x="3017520" y="4160520"/>
            <a:ext cx="640080" cy="0"/>
          </a:xfrm>
          <a:prstGeom prst="line">
            <a:avLst/>
          </a:prstGeom>
          <a:noFill/>
          <a:ln w="19050">
            <a:solidFill>
              <a:srgbClr val="3F4F6A"/>
            </a:solidFill>
            <a:prstDash val="solid"/>
            <a:tailEnd type="triangle"/>
          </a:ln>
        </p:spPr>
      </p:sp>
      <p:sp>
        <p:nvSpPr>
          <p:cNvPr id="19" name="Text 17"/>
          <p:cNvSpPr txBox="1"/>
          <p:nvPr/>
        </p:nvSpPr>
        <p:spPr>
          <a:xfrm>
            <a:off x="3063240" y="3858768"/>
            <a:ext cx="457200" cy="274320"/>
          </a:xfrm>
          <a:prstGeom prst="rect">
            <a:avLst/>
          </a:prstGeom>
          <a:noFill/>
          <a:ln/>
        </p:spPr>
        <p:txBody>
          <a:bodyPr wrap="square" lIns="0" tIns="0" rIns="0" bIns="0" rtlCol="0" anchor="ctr"/>
          <a:lstStyle/>
          <a:p>
            <a:pPr algn="l" indent="0" marL="0">
              <a:buNone/>
            </a:pPr>
            <a:r>
              <a:rPr lang="en-US" sz="1000" dirty="0">
                <a:solidFill>
                  <a:srgbClr val="5B6675"/>
                </a:solidFill>
                <a:latin typeface="Yu Gothic" pitchFamily="34" charset="0"/>
                <a:ea typeface="Yu Gothic" pitchFamily="34" charset="-122"/>
                <a:cs typeface="Yu Gothic" pitchFamily="34" charset="-120"/>
              </a:rPr>
              <a:t>No</a:t>
            </a:r>
            <a:endParaRPr lang="en-US" sz="1000" dirty="0"/>
          </a:p>
        </p:txBody>
      </p:sp>
      <p:sp>
        <p:nvSpPr>
          <p:cNvPr id="20" name="Text 18"/>
          <p:cNvSpPr/>
          <p:nvPr/>
        </p:nvSpPr>
        <p:spPr>
          <a:xfrm>
            <a:off x="3154680" y="4983480"/>
            <a:ext cx="1143000" cy="502920"/>
          </a:xfrm>
          <a:prstGeom prst="roundRect">
            <a:avLst>
              <a:gd name="adj" fmla="val 14545"/>
            </a:avLst>
          </a:prstGeom>
          <a:solidFill>
            <a:srgbClr val="1C2B45"/>
          </a:solidFill>
          <a:ln w="15875">
            <a:solidFill>
              <a:srgbClr val="1C2B45"/>
            </a:solidFill>
            <a:prstDash val="solid"/>
          </a:ln>
        </p:spPr>
        <p:txBody>
          <a:bodyPr wrap="square" lIns="38100" tIns="38100" rIns="38100" bIns="38100" rtlCol="0" anchor="ctr"/>
          <a:lstStyle/>
          <a:p>
            <a:pPr algn="ctr" indent="0" marL="0">
              <a:buNone/>
            </a:pPr>
            <a:r>
              <a:rPr lang="en-US" sz="950" dirty="0">
                <a:solidFill>
                  <a:srgbClr val="FFFFFF"/>
                </a:solidFill>
                <a:latin typeface="Yu Gothic" pitchFamily="34" charset="0"/>
                <a:ea typeface="Yu Gothic" pitchFamily="34" charset="-122"/>
                <a:cs typeface="Yu Gothic" pitchFamily="34" charset="-120"/>
              </a:rPr>
              <a:t>ローカルICTB</a:t>
            </a:r>
            <a:endParaRPr lang="en-US" sz="950" dirty="0"/>
          </a:p>
          <a:p>
            <a:pPr algn="ctr" indent="0" marL="0">
              <a:buNone/>
            </a:pPr>
            <a:r>
              <a:rPr lang="en-US" sz="950" dirty="0">
                <a:solidFill>
                  <a:srgbClr val="FFFFFF"/>
                </a:solidFill>
                <a:latin typeface="Yu Gothic" pitchFamily="34" charset="0"/>
                <a:ea typeface="Yu Gothic" pitchFamily="34" charset="-122"/>
                <a:cs typeface="Yu Gothic" pitchFamily="34" charset="-120"/>
              </a:rPr>
              <a:t>実行承認</a:t>
            </a:r>
            <a:endParaRPr lang="en-US" sz="950" dirty="0"/>
          </a:p>
        </p:txBody>
      </p:sp>
      <p:sp>
        <p:nvSpPr>
          <p:cNvPr id="21" name="Text 19"/>
          <p:cNvSpPr/>
          <p:nvPr/>
        </p:nvSpPr>
        <p:spPr>
          <a:xfrm>
            <a:off x="4389120" y="4983480"/>
            <a:ext cx="1234440" cy="502920"/>
          </a:xfrm>
          <a:prstGeom prst="roundRect">
            <a:avLst>
              <a:gd name="adj" fmla="val 14545"/>
            </a:avLst>
          </a:prstGeom>
          <a:solidFill>
            <a:srgbClr val="1C2B45"/>
          </a:solidFill>
          <a:ln w="15875">
            <a:solidFill>
              <a:srgbClr val="1C2B45"/>
            </a:solidFill>
            <a:prstDash val="solid"/>
          </a:ln>
        </p:spPr>
        <p:txBody>
          <a:bodyPr wrap="square" lIns="38100" tIns="38100" rIns="38100" bIns="38100" rtlCol="0" anchor="ctr"/>
          <a:lstStyle/>
          <a:p>
            <a:pPr algn="ctr" indent="0" marL="0">
              <a:buNone/>
            </a:pPr>
            <a:r>
              <a:rPr lang="en-US" sz="950" dirty="0">
                <a:solidFill>
                  <a:srgbClr val="FFFFFF"/>
                </a:solidFill>
                <a:latin typeface="Yu Gothic" pitchFamily="34" charset="0"/>
                <a:ea typeface="Yu Gothic" pitchFamily="34" charset="-122"/>
                <a:cs typeface="Yu Gothic" pitchFamily="34" charset="-120"/>
              </a:rPr>
              <a:t>グローバルICTB</a:t>
            </a:r>
            <a:endParaRPr lang="en-US" sz="950" dirty="0"/>
          </a:p>
          <a:p>
            <a:pPr algn="ctr" indent="0" marL="0">
              <a:buNone/>
            </a:pPr>
            <a:r>
              <a:rPr lang="en-US" sz="950" dirty="0">
                <a:solidFill>
                  <a:srgbClr val="FFFFFF"/>
                </a:solidFill>
                <a:latin typeface="Yu Gothic" pitchFamily="34" charset="0"/>
                <a:ea typeface="Yu Gothic" pitchFamily="34" charset="-122"/>
                <a:cs typeface="Yu Gothic" pitchFamily="34" charset="-120"/>
              </a:rPr>
              <a:t>実行承認</a:t>
            </a:r>
            <a:endParaRPr lang="en-US" sz="950" dirty="0"/>
          </a:p>
        </p:txBody>
      </p:sp>
      <p:sp>
        <p:nvSpPr>
          <p:cNvPr id="22" name="Shape 20"/>
          <p:cNvSpPr/>
          <p:nvPr/>
        </p:nvSpPr>
        <p:spPr>
          <a:xfrm>
            <a:off x="4297680" y="4526280"/>
            <a:ext cx="0" cy="228600"/>
          </a:xfrm>
          <a:prstGeom prst="line">
            <a:avLst/>
          </a:prstGeom>
          <a:noFill/>
          <a:ln w="19050">
            <a:solidFill>
              <a:srgbClr val="3F4F6A"/>
            </a:solidFill>
            <a:prstDash val="solid"/>
          </a:ln>
        </p:spPr>
      </p:sp>
      <p:sp>
        <p:nvSpPr>
          <p:cNvPr id="23" name="Shape 21"/>
          <p:cNvSpPr/>
          <p:nvPr/>
        </p:nvSpPr>
        <p:spPr>
          <a:xfrm flipH="1">
            <a:off x="3726180" y="4754880"/>
            <a:ext cx="571500" cy="0"/>
          </a:xfrm>
          <a:prstGeom prst="line">
            <a:avLst/>
          </a:prstGeom>
          <a:noFill/>
          <a:ln w="19050">
            <a:solidFill>
              <a:srgbClr val="3F4F6A"/>
            </a:solidFill>
            <a:prstDash val="solid"/>
          </a:ln>
        </p:spPr>
      </p:sp>
      <p:sp>
        <p:nvSpPr>
          <p:cNvPr id="24" name="Shape 22"/>
          <p:cNvSpPr/>
          <p:nvPr/>
        </p:nvSpPr>
        <p:spPr>
          <a:xfrm>
            <a:off x="3726180" y="4754880"/>
            <a:ext cx="0" cy="228600"/>
          </a:xfrm>
          <a:prstGeom prst="line">
            <a:avLst/>
          </a:prstGeom>
          <a:noFill/>
          <a:ln w="19050">
            <a:solidFill>
              <a:srgbClr val="3F4F6A"/>
            </a:solidFill>
            <a:prstDash val="solid"/>
            <a:tailEnd type="triangle"/>
          </a:ln>
        </p:spPr>
      </p:sp>
      <p:sp>
        <p:nvSpPr>
          <p:cNvPr id="25" name="Shape 23"/>
          <p:cNvSpPr/>
          <p:nvPr/>
        </p:nvSpPr>
        <p:spPr>
          <a:xfrm>
            <a:off x="4297680" y="4754880"/>
            <a:ext cx="708660" cy="0"/>
          </a:xfrm>
          <a:prstGeom prst="line">
            <a:avLst/>
          </a:prstGeom>
          <a:noFill/>
          <a:ln w="19050">
            <a:solidFill>
              <a:srgbClr val="3F4F6A"/>
            </a:solidFill>
            <a:prstDash val="solid"/>
          </a:ln>
        </p:spPr>
      </p:sp>
      <p:sp>
        <p:nvSpPr>
          <p:cNvPr id="26" name="Shape 24"/>
          <p:cNvSpPr/>
          <p:nvPr/>
        </p:nvSpPr>
        <p:spPr>
          <a:xfrm>
            <a:off x="5006340" y="4754880"/>
            <a:ext cx="0" cy="228600"/>
          </a:xfrm>
          <a:prstGeom prst="line">
            <a:avLst/>
          </a:prstGeom>
          <a:noFill/>
          <a:ln w="19050">
            <a:solidFill>
              <a:srgbClr val="3F4F6A"/>
            </a:solidFill>
            <a:prstDash val="solid"/>
            <a:tailEnd type="triangle"/>
          </a:ln>
        </p:spPr>
      </p:sp>
      <p:sp>
        <p:nvSpPr>
          <p:cNvPr id="27" name="Text 25"/>
          <p:cNvSpPr txBox="1"/>
          <p:nvPr/>
        </p:nvSpPr>
        <p:spPr>
          <a:xfrm>
            <a:off x="2743200" y="4507992"/>
            <a:ext cx="960120" cy="274320"/>
          </a:xfrm>
          <a:prstGeom prst="rect">
            <a:avLst/>
          </a:prstGeom>
          <a:noFill/>
          <a:ln/>
        </p:spPr>
        <p:txBody>
          <a:bodyPr wrap="square" lIns="0" tIns="0" rIns="0" bIns="0" rtlCol="0" anchor="ctr"/>
          <a:lstStyle/>
          <a:p>
            <a:pPr algn="r" indent="0" marL="0">
              <a:buNone/>
            </a:pPr>
            <a:r>
              <a:rPr lang="en-US" sz="850" dirty="0">
                <a:solidFill>
                  <a:srgbClr val="5B6675"/>
                </a:solidFill>
                <a:latin typeface="Yu Gothic" pitchFamily="34" charset="0"/>
                <a:ea typeface="Yu Gothic" pitchFamily="34" charset="-122"/>
                <a:cs typeface="Yu Gothic" pitchFamily="34" charset="-120"/>
              </a:rPr>
              <a:t>単一国・地域</a:t>
            </a:r>
            <a:endParaRPr lang="en-US" sz="850" dirty="0"/>
          </a:p>
        </p:txBody>
      </p:sp>
      <p:sp>
        <p:nvSpPr>
          <p:cNvPr id="28" name="Text 26"/>
          <p:cNvSpPr txBox="1"/>
          <p:nvPr/>
        </p:nvSpPr>
        <p:spPr>
          <a:xfrm>
            <a:off x="4754880" y="4507992"/>
            <a:ext cx="960120" cy="274320"/>
          </a:xfrm>
          <a:prstGeom prst="rect">
            <a:avLst/>
          </a:prstGeom>
          <a:noFill/>
          <a:ln/>
        </p:spPr>
        <p:txBody>
          <a:bodyPr wrap="square" lIns="0" tIns="0" rIns="0" bIns="0" rtlCol="0" anchor="ctr"/>
          <a:lstStyle/>
          <a:p>
            <a:pPr algn="l" indent="0" marL="0">
              <a:buNone/>
            </a:pPr>
            <a:r>
              <a:rPr lang="en-US" sz="850" dirty="0">
                <a:solidFill>
                  <a:srgbClr val="5B6675"/>
                </a:solidFill>
                <a:latin typeface="Yu Gothic" pitchFamily="34" charset="0"/>
                <a:ea typeface="Yu Gothic" pitchFamily="34" charset="-122"/>
                <a:cs typeface="Yu Gothic" pitchFamily="34" charset="-120"/>
              </a:rPr>
              <a:t>複数国・地域</a:t>
            </a:r>
            <a:endParaRPr lang="en-US" sz="850" dirty="0"/>
          </a:p>
        </p:txBody>
      </p:sp>
      <p:sp>
        <p:nvSpPr>
          <p:cNvPr id="29" name="Text 27"/>
          <p:cNvSpPr/>
          <p:nvPr/>
        </p:nvSpPr>
        <p:spPr>
          <a:xfrm>
            <a:off x="1051560" y="5715000"/>
            <a:ext cx="4572000" cy="365760"/>
          </a:xfrm>
          <a:prstGeom prst="roundRect">
            <a:avLst>
              <a:gd name="adj" fmla="val 20000"/>
            </a:avLst>
          </a:prstGeom>
          <a:solidFill>
            <a:srgbClr val="5E7391"/>
          </a:solidFill>
          <a:ln w="15875">
            <a:solidFill>
              <a:srgbClr val="5E7391"/>
            </a:solidFill>
            <a:prstDash val="solid"/>
          </a:ln>
        </p:spPr>
        <p:txBody>
          <a:bodyPr wrap="square" lIns="38100" tIns="38100" rIns="38100" bIns="3810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実行</a:t>
            </a:r>
            <a:endParaRPr lang="en-US" sz="1100" dirty="0"/>
          </a:p>
        </p:txBody>
      </p:sp>
      <p:sp>
        <p:nvSpPr>
          <p:cNvPr id="30" name="Shape 28"/>
          <p:cNvSpPr/>
          <p:nvPr/>
        </p:nvSpPr>
        <p:spPr>
          <a:xfrm>
            <a:off x="2103120" y="5486400"/>
            <a:ext cx="0" cy="228600"/>
          </a:xfrm>
          <a:prstGeom prst="line">
            <a:avLst/>
          </a:prstGeom>
          <a:noFill/>
          <a:ln w="19050">
            <a:solidFill>
              <a:srgbClr val="3F4F6A"/>
            </a:solidFill>
            <a:prstDash val="solid"/>
            <a:tailEnd type="triangle"/>
          </a:ln>
        </p:spPr>
      </p:sp>
      <p:sp>
        <p:nvSpPr>
          <p:cNvPr id="31" name="Shape 29"/>
          <p:cNvSpPr/>
          <p:nvPr/>
        </p:nvSpPr>
        <p:spPr>
          <a:xfrm>
            <a:off x="3726180" y="5486400"/>
            <a:ext cx="0" cy="228600"/>
          </a:xfrm>
          <a:prstGeom prst="line">
            <a:avLst/>
          </a:prstGeom>
          <a:noFill/>
          <a:ln w="19050">
            <a:solidFill>
              <a:srgbClr val="3F4F6A"/>
            </a:solidFill>
            <a:prstDash val="solid"/>
            <a:tailEnd type="triangle"/>
          </a:ln>
        </p:spPr>
      </p:sp>
      <p:sp>
        <p:nvSpPr>
          <p:cNvPr id="32" name="Shape 30"/>
          <p:cNvSpPr/>
          <p:nvPr/>
        </p:nvSpPr>
        <p:spPr>
          <a:xfrm>
            <a:off x="5006340" y="5486400"/>
            <a:ext cx="0" cy="228600"/>
          </a:xfrm>
          <a:prstGeom prst="line">
            <a:avLst/>
          </a:prstGeom>
          <a:noFill/>
          <a:ln w="19050">
            <a:solidFill>
              <a:srgbClr val="3F4F6A"/>
            </a:solidFill>
            <a:prstDash val="solid"/>
            <a:tailEnd type="triangle"/>
          </a:ln>
        </p:spPr>
      </p:sp>
      <p:sp>
        <p:nvSpPr>
          <p:cNvPr id="33" name="Text 31"/>
          <p:cNvSpPr/>
          <p:nvPr/>
        </p:nvSpPr>
        <p:spPr>
          <a:xfrm>
            <a:off x="8046720" y="1554480"/>
            <a:ext cx="2194560" cy="457200"/>
          </a:xfrm>
          <a:prstGeom prst="roundRect">
            <a:avLst>
              <a:gd name="adj" fmla="val 16000"/>
            </a:avLst>
          </a:prstGeom>
          <a:solidFill>
            <a:srgbClr val="DCE6F2"/>
          </a:solidFill>
          <a:ln w="15875">
            <a:solidFill>
              <a:srgbClr val="5E7391"/>
            </a:solidFill>
            <a:prstDash val="solid"/>
          </a:ln>
        </p:spPr>
        <p:txBody>
          <a:bodyPr wrap="square" lIns="38100" tIns="38100" rIns="38100" bIns="38100" rtlCol="0" anchor="ctr"/>
          <a:lstStyle/>
          <a:p>
            <a:pPr algn="ctr" indent="0" marL="0">
              <a:buNone/>
            </a:pPr>
            <a:r>
              <a:rPr lang="en-US" sz="1200" b="1" dirty="0">
                <a:solidFill>
                  <a:srgbClr val="1C2B45"/>
                </a:solidFill>
                <a:latin typeface="Yu Gothic" pitchFamily="34" charset="0"/>
                <a:ea typeface="Yu Gothic" pitchFamily="34" charset="-122"/>
                <a:cs typeface="Yu Gothic" pitchFamily="34" charset="-120"/>
              </a:rPr>
              <a:t>予算計上</a:t>
            </a:r>
            <a:endParaRPr lang="en-US" sz="1200" dirty="0"/>
          </a:p>
        </p:txBody>
      </p:sp>
      <p:sp>
        <p:nvSpPr>
          <p:cNvPr id="34" name="Shape 32"/>
          <p:cNvSpPr/>
          <p:nvPr/>
        </p:nvSpPr>
        <p:spPr>
          <a:xfrm>
            <a:off x="9144000" y="2011680"/>
            <a:ext cx="0" cy="228600"/>
          </a:xfrm>
          <a:prstGeom prst="line">
            <a:avLst/>
          </a:prstGeom>
          <a:noFill/>
          <a:ln w="19050">
            <a:solidFill>
              <a:srgbClr val="3F4F6A"/>
            </a:solidFill>
            <a:prstDash val="solid"/>
            <a:tailEnd type="triangle"/>
          </a:ln>
        </p:spPr>
      </p:sp>
      <p:sp>
        <p:nvSpPr>
          <p:cNvPr id="35" name="Text 33"/>
          <p:cNvSpPr/>
          <p:nvPr/>
        </p:nvSpPr>
        <p:spPr>
          <a:xfrm>
            <a:off x="8046720" y="2240280"/>
            <a:ext cx="2194560" cy="457200"/>
          </a:xfrm>
          <a:prstGeom prst="roundRect">
            <a:avLst>
              <a:gd name="adj" fmla="val 16000"/>
            </a:avLst>
          </a:prstGeom>
          <a:solidFill>
            <a:srgbClr val="5E7391"/>
          </a:solidFill>
          <a:ln w="15875">
            <a:solidFill>
              <a:srgbClr val="5E7391"/>
            </a:solidFill>
            <a:prstDash val="solid"/>
          </a:ln>
        </p:spPr>
        <p:txBody>
          <a:bodyPr wrap="square" lIns="38100" tIns="38100" rIns="38100" bIns="38100" rtlCol="0" anchor="ctr"/>
          <a:lstStyle/>
          <a:p>
            <a:pPr algn="ctr" indent="0" marL="0">
              <a:buNone/>
            </a:pPr>
            <a:r>
              <a:rPr lang="en-US" sz="1150" dirty="0">
                <a:solidFill>
                  <a:srgbClr val="FFFFFF"/>
                </a:solidFill>
                <a:latin typeface="Yu Gothic" pitchFamily="34" charset="0"/>
                <a:ea typeface="Yu Gothic" pitchFamily="34" charset="-122"/>
                <a:cs typeface="Yu Gothic" pitchFamily="34" charset="-120"/>
              </a:rPr>
              <a:t>実行計画策定</a:t>
            </a:r>
            <a:endParaRPr lang="en-US" sz="1150" dirty="0"/>
          </a:p>
        </p:txBody>
      </p:sp>
      <p:sp>
        <p:nvSpPr>
          <p:cNvPr id="36" name="Shape 34"/>
          <p:cNvSpPr/>
          <p:nvPr/>
        </p:nvSpPr>
        <p:spPr>
          <a:xfrm>
            <a:off x="9144000" y="2697480"/>
            <a:ext cx="0" cy="91440"/>
          </a:xfrm>
          <a:prstGeom prst="line">
            <a:avLst/>
          </a:prstGeom>
          <a:noFill/>
          <a:ln w="19050">
            <a:solidFill>
              <a:srgbClr val="3F4F6A"/>
            </a:solidFill>
            <a:prstDash val="solid"/>
            <a:tailEnd type="triangle"/>
          </a:ln>
        </p:spPr>
      </p:sp>
      <p:sp>
        <p:nvSpPr>
          <p:cNvPr id="37" name="Text 35"/>
          <p:cNvSpPr/>
          <p:nvPr/>
        </p:nvSpPr>
        <p:spPr>
          <a:xfrm>
            <a:off x="8412480" y="2788920"/>
            <a:ext cx="1463040" cy="731520"/>
          </a:xfrm>
          <a:prstGeom prst="diamond">
            <a:avLst/>
          </a:prstGeom>
          <a:solidFill>
            <a:srgbClr val="1C2B45"/>
          </a:solidFill>
          <a:ln w="12700">
            <a:solidFill>
              <a:srgbClr val="1C2B45"/>
            </a:solidFill>
          </a:ln>
        </p:spPr>
        <p:txBody>
          <a:bodyPr wrap="square" lIns="0" tIns="0" rIns="0" bIns="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決裁権</a:t>
            </a:r>
            <a:endParaRPr lang="en-US" sz="1100" dirty="0"/>
          </a:p>
        </p:txBody>
      </p:sp>
      <p:sp>
        <p:nvSpPr>
          <p:cNvPr id="38" name="Text 36"/>
          <p:cNvSpPr/>
          <p:nvPr/>
        </p:nvSpPr>
        <p:spPr>
          <a:xfrm>
            <a:off x="6858000" y="3840480"/>
            <a:ext cx="1920240" cy="548640"/>
          </a:xfrm>
          <a:prstGeom prst="roundRect">
            <a:avLst>
              <a:gd name="adj" fmla="val 13333"/>
            </a:avLst>
          </a:prstGeom>
          <a:solidFill>
            <a:srgbClr val="E9EFE6"/>
          </a:solidFill>
          <a:ln w="15875">
            <a:solidFill>
              <a:srgbClr val="5F7F5B"/>
            </a:solidFill>
            <a:prstDash val="solid"/>
          </a:ln>
        </p:spPr>
        <p:txBody>
          <a:bodyPr wrap="square" lIns="38100" tIns="38100" rIns="38100" bIns="38100" rtlCol="0" anchor="ctr"/>
          <a:lstStyle/>
          <a:p>
            <a:pPr algn="ctr" indent="0" marL="0">
              <a:buNone/>
            </a:pPr>
            <a:r>
              <a:rPr lang="en-US" sz="1100" b="1" dirty="0">
                <a:solidFill>
                  <a:srgbClr val="222B38"/>
                </a:solidFill>
                <a:latin typeface="Yu Gothic" pitchFamily="34" charset="0"/>
                <a:ea typeface="Yu Gothic" pitchFamily="34" charset="-122"/>
                <a:cs typeface="Yu Gothic" pitchFamily="34" charset="-120"/>
              </a:rPr>
              <a:t>事業部門</a:t>
            </a:r>
            <a:endParaRPr lang="en-US" sz="1100" dirty="0"/>
          </a:p>
          <a:p>
            <a:pPr algn="ctr" indent="0" marL="0">
              <a:buNone/>
            </a:pPr>
            <a:r>
              <a:rPr lang="en-US" sz="1100" b="1" dirty="0">
                <a:solidFill>
                  <a:srgbClr val="222B38"/>
                </a:solidFill>
                <a:latin typeface="Yu Gothic" pitchFamily="34" charset="0"/>
                <a:ea typeface="Yu Gothic" pitchFamily="34" charset="-122"/>
                <a:cs typeface="Yu Gothic" pitchFamily="34" charset="-120"/>
              </a:rPr>
              <a:t>実行承認</a:t>
            </a:r>
            <a:endParaRPr lang="en-US" sz="1100" dirty="0"/>
          </a:p>
        </p:txBody>
      </p:sp>
      <p:sp>
        <p:nvSpPr>
          <p:cNvPr id="39" name="Text 37"/>
          <p:cNvSpPr/>
          <p:nvPr/>
        </p:nvSpPr>
        <p:spPr>
          <a:xfrm>
            <a:off x="9509760" y="3840480"/>
            <a:ext cx="1920240" cy="548640"/>
          </a:xfrm>
          <a:prstGeom prst="roundRect">
            <a:avLst>
              <a:gd name="adj" fmla="val 13333"/>
            </a:avLst>
          </a:prstGeom>
          <a:solidFill>
            <a:srgbClr val="1C2B45"/>
          </a:solidFill>
          <a:ln w="15875">
            <a:solidFill>
              <a:srgbClr val="1C2B45"/>
            </a:solidFill>
            <a:prstDash val="solid"/>
          </a:ln>
        </p:spPr>
        <p:txBody>
          <a:bodyPr wrap="square" lIns="38100" tIns="38100" rIns="38100" bIns="3810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Tier2</a:t>
            </a:r>
            <a:endParaRPr lang="en-US" sz="1100" dirty="0"/>
          </a:p>
          <a:p>
            <a:pPr algn="ctr" indent="0" marL="0">
              <a:buNone/>
            </a:pPr>
            <a:r>
              <a:rPr lang="en-US" sz="1100" dirty="0">
                <a:solidFill>
                  <a:srgbClr val="FFFFFF"/>
                </a:solidFill>
                <a:latin typeface="Yu Gothic" pitchFamily="34" charset="0"/>
                <a:ea typeface="Yu Gothic" pitchFamily="34" charset="-122"/>
                <a:cs typeface="Yu Gothic" pitchFamily="34" charset="-120"/>
              </a:rPr>
              <a:t>実行承認</a:t>
            </a:r>
            <a:endParaRPr lang="en-US" sz="1100" dirty="0"/>
          </a:p>
        </p:txBody>
      </p:sp>
      <p:sp>
        <p:nvSpPr>
          <p:cNvPr id="40" name="Shape 38"/>
          <p:cNvSpPr/>
          <p:nvPr/>
        </p:nvSpPr>
        <p:spPr>
          <a:xfrm flipH="1">
            <a:off x="7818120" y="3154680"/>
            <a:ext cx="594360" cy="0"/>
          </a:xfrm>
          <a:prstGeom prst="line">
            <a:avLst/>
          </a:prstGeom>
          <a:noFill/>
          <a:ln w="19050">
            <a:solidFill>
              <a:srgbClr val="3F4F6A"/>
            </a:solidFill>
            <a:prstDash val="solid"/>
          </a:ln>
        </p:spPr>
      </p:sp>
      <p:sp>
        <p:nvSpPr>
          <p:cNvPr id="41" name="Shape 39"/>
          <p:cNvSpPr/>
          <p:nvPr/>
        </p:nvSpPr>
        <p:spPr>
          <a:xfrm>
            <a:off x="7818120" y="3154680"/>
            <a:ext cx="0" cy="685800"/>
          </a:xfrm>
          <a:prstGeom prst="line">
            <a:avLst/>
          </a:prstGeom>
          <a:noFill/>
          <a:ln w="19050">
            <a:solidFill>
              <a:srgbClr val="3F4F6A"/>
            </a:solidFill>
            <a:prstDash val="solid"/>
            <a:tailEnd type="triangle"/>
          </a:ln>
        </p:spPr>
      </p:sp>
      <p:sp>
        <p:nvSpPr>
          <p:cNvPr id="42" name="Text 40"/>
          <p:cNvSpPr txBox="1"/>
          <p:nvPr/>
        </p:nvSpPr>
        <p:spPr>
          <a:xfrm>
            <a:off x="7863840" y="2834640"/>
            <a:ext cx="822960" cy="274320"/>
          </a:xfrm>
          <a:prstGeom prst="rect">
            <a:avLst/>
          </a:prstGeom>
          <a:noFill/>
          <a:ln/>
        </p:spPr>
        <p:txBody>
          <a:bodyPr wrap="square" lIns="0" tIns="0" rIns="0" bIns="0" rtlCol="0" anchor="ctr"/>
          <a:lstStyle/>
          <a:p>
            <a:pPr algn="l" indent="0" marL="0">
              <a:buNone/>
            </a:pPr>
            <a:r>
              <a:rPr lang="en-US" sz="1000" dirty="0">
                <a:solidFill>
                  <a:srgbClr val="5B6675"/>
                </a:solidFill>
                <a:latin typeface="Yu Gothic" pitchFamily="34" charset="0"/>
                <a:ea typeface="Yu Gothic" pitchFamily="34" charset="-122"/>
                <a:cs typeface="Yu Gothic" pitchFamily="34" charset="-120"/>
              </a:rPr>
              <a:t>事業部門</a:t>
            </a:r>
            <a:endParaRPr lang="en-US" sz="1000" dirty="0"/>
          </a:p>
        </p:txBody>
      </p:sp>
      <p:sp>
        <p:nvSpPr>
          <p:cNvPr id="43" name="Shape 41"/>
          <p:cNvSpPr/>
          <p:nvPr/>
        </p:nvSpPr>
        <p:spPr>
          <a:xfrm>
            <a:off x="9875520" y="3154680"/>
            <a:ext cx="594360" cy="0"/>
          </a:xfrm>
          <a:prstGeom prst="line">
            <a:avLst/>
          </a:prstGeom>
          <a:noFill/>
          <a:ln w="19050">
            <a:solidFill>
              <a:srgbClr val="3F4F6A"/>
            </a:solidFill>
            <a:prstDash val="solid"/>
          </a:ln>
        </p:spPr>
      </p:sp>
      <p:sp>
        <p:nvSpPr>
          <p:cNvPr id="44" name="Shape 42"/>
          <p:cNvSpPr/>
          <p:nvPr/>
        </p:nvSpPr>
        <p:spPr>
          <a:xfrm>
            <a:off x="10469880" y="3154680"/>
            <a:ext cx="0" cy="685800"/>
          </a:xfrm>
          <a:prstGeom prst="line">
            <a:avLst/>
          </a:prstGeom>
          <a:noFill/>
          <a:ln w="19050">
            <a:solidFill>
              <a:srgbClr val="3F4F6A"/>
            </a:solidFill>
            <a:prstDash val="solid"/>
            <a:tailEnd type="triangle"/>
          </a:ln>
        </p:spPr>
      </p:sp>
      <p:sp>
        <p:nvSpPr>
          <p:cNvPr id="45" name="Text 43"/>
          <p:cNvSpPr txBox="1"/>
          <p:nvPr/>
        </p:nvSpPr>
        <p:spPr>
          <a:xfrm>
            <a:off x="10515600" y="2834640"/>
            <a:ext cx="822960" cy="274320"/>
          </a:xfrm>
          <a:prstGeom prst="rect">
            <a:avLst/>
          </a:prstGeom>
          <a:noFill/>
          <a:ln/>
        </p:spPr>
        <p:txBody>
          <a:bodyPr wrap="square" lIns="0" tIns="0" rIns="0" bIns="0" rtlCol="0" anchor="ctr"/>
          <a:lstStyle/>
          <a:p>
            <a:pPr algn="l" indent="0" marL="0">
              <a:buNone/>
            </a:pPr>
            <a:r>
              <a:rPr lang="en-US" sz="1000" dirty="0">
                <a:solidFill>
                  <a:srgbClr val="5B6675"/>
                </a:solidFill>
                <a:latin typeface="Yu Gothic" pitchFamily="34" charset="0"/>
                <a:ea typeface="Yu Gothic" pitchFamily="34" charset="-122"/>
                <a:cs typeface="Yu Gothic" pitchFamily="34" charset="-120"/>
              </a:rPr>
              <a:t>Tier2</a:t>
            </a:r>
            <a:endParaRPr lang="en-US" sz="1000" dirty="0"/>
          </a:p>
        </p:txBody>
      </p:sp>
      <p:sp>
        <p:nvSpPr>
          <p:cNvPr id="46" name="Text 44"/>
          <p:cNvSpPr/>
          <p:nvPr/>
        </p:nvSpPr>
        <p:spPr>
          <a:xfrm>
            <a:off x="9509760" y="4800600"/>
            <a:ext cx="1920240" cy="594360"/>
          </a:xfrm>
          <a:prstGeom prst="roundRect">
            <a:avLst>
              <a:gd name="adj" fmla="val 12308"/>
            </a:avLst>
          </a:prstGeom>
          <a:solidFill>
            <a:srgbClr val="5E7391"/>
          </a:solidFill>
          <a:ln w="15875">
            <a:solidFill>
              <a:srgbClr val="5E7391"/>
            </a:solidFill>
            <a:prstDash val="solid"/>
          </a:ln>
        </p:spPr>
        <p:txBody>
          <a:bodyPr wrap="square" lIns="38100" tIns="38100" rIns="38100" bIns="38100" rtlCol="0" anchor="ctr"/>
          <a:lstStyle/>
          <a:p>
            <a:pPr algn="ctr" indent="0" marL="0">
              <a:buNone/>
            </a:pPr>
            <a:r>
              <a:rPr lang="en-US" sz="1050" dirty="0">
                <a:solidFill>
                  <a:srgbClr val="FFFFFF"/>
                </a:solidFill>
                <a:latin typeface="Yu Gothic" pitchFamily="34" charset="0"/>
                <a:ea typeface="Yu Gothic" pitchFamily="34" charset="-122"/>
                <a:cs typeface="Yu Gothic" pitchFamily="34" charset="-120"/>
              </a:rPr>
              <a:t>Tier3 技術審議</a:t>
            </a:r>
            <a:endParaRPr lang="en-US" sz="1050" dirty="0"/>
          </a:p>
          <a:p>
            <a:pPr algn="ctr" indent="0" marL="0">
              <a:buNone/>
            </a:pPr>
            <a:r>
              <a:rPr lang="en-US" sz="1050" dirty="0">
                <a:solidFill>
                  <a:srgbClr val="FFFFFF"/>
                </a:solidFill>
                <a:latin typeface="Yu Gothic" pitchFamily="34" charset="0"/>
                <a:ea typeface="Yu Gothic" pitchFamily="34" charset="-122"/>
                <a:cs typeface="Yu Gothic" pitchFamily="34" charset="-120"/>
              </a:rPr>
              <a:t>（案件ごとに編成）</a:t>
            </a:r>
            <a:endParaRPr lang="en-US" sz="1050" dirty="0"/>
          </a:p>
        </p:txBody>
      </p:sp>
      <p:sp>
        <p:nvSpPr>
          <p:cNvPr id="47" name="Shape 45"/>
          <p:cNvSpPr/>
          <p:nvPr/>
        </p:nvSpPr>
        <p:spPr>
          <a:xfrm>
            <a:off x="10104120" y="4389120"/>
            <a:ext cx="0" cy="411480"/>
          </a:xfrm>
          <a:prstGeom prst="line">
            <a:avLst/>
          </a:prstGeom>
          <a:noFill/>
          <a:ln w="19050">
            <a:solidFill>
              <a:srgbClr val="3F4F6A"/>
            </a:solidFill>
            <a:prstDash val="dash"/>
            <a:tailEnd type="triangle"/>
          </a:ln>
        </p:spPr>
      </p:sp>
      <p:sp>
        <p:nvSpPr>
          <p:cNvPr id="48" name="Text 46"/>
          <p:cNvSpPr txBox="1"/>
          <p:nvPr/>
        </p:nvSpPr>
        <p:spPr>
          <a:xfrm>
            <a:off x="9235440" y="4453128"/>
            <a:ext cx="822960" cy="274320"/>
          </a:xfrm>
          <a:prstGeom prst="rect">
            <a:avLst/>
          </a:prstGeom>
          <a:noFill/>
          <a:ln/>
        </p:spPr>
        <p:txBody>
          <a:bodyPr wrap="square" lIns="0" tIns="0" rIns="0" bIns="0" rtlCol="0" anchor="ctr"/>
          <a:lstStyle/>
          <a:p>
            <a:pPr algn="r" indent="0" marL="0">
              <a:buNone/>
            </a:pPr>
            <a:r>
              <a:rPr lang="en-US" sz="950" dirty="0">
                <a:solidFill>
                  <a:srgbClr val="5B6675"/>
                </a:solidFill>
                <a:latin typeface="Yu Gothic" pitchFamily="34" charset="0"/>
                <a:ea typeface="Yu Gothic" pitchFamily="34" charset="-122"/>
                <a:cs typeface="Yu Gothic" pitchFamily="34" charset="-120"/>
              </a:rPr>
              <a:t>任命</a:t>
            </a:r>
            <a:endParaRPr lang="en-US" sz="950" dirty="0"/>
          </a:p>
        </p:txBody>
      </p:sp>
      <p:sp>
        <p:nvSpPr>
          <p:cNvPr id="49" name="Shape 47"/>
          <p:cNvSpPr/>
          <p:nvPr/>
        </p:nvSpPr>
        <p:spPr>
          <a:xfrm flipV="1">
            <a:off x="10835640" y="4389120"/>
            <a:ext cx="0" cy="411480"/>
          </a:xfrm>
          <a:prstGeom prst="line">
            <a:avLst/>
          </a:prstGeom>
          <a:noFill/>
          <a:ln w="19050">
            <a:solidFill>
              <a:srgbClr val="3F4F6A"/>
            </a:solidFill>
            <a:prstDash val="dash"/>
            <a:tailEnd type="triangle"/>
          </a:ln>
        </p:spPr>
      </p:sp>
      <p:sp>
        <p:nvSpPr>
          <p:cNvPr id="50" name="Text 48"/>
          <p:cNvSpPr txBox="1"/>
          <p:nvPr/>
        </p:nvSpPr>
        <p:spPr>
          <a:xfrm>
            <a:off x="10881360" y="4453128"/>
            <a:ext cx="822960" cy="274320"/>
          </a:xfrm>
          <a:prstGeom prst="rect">
            <a:avLst/>
          </a:prstGeom>
          <a:noFill/>
          <a:ln/>
        </p:spPr>
        <p:txBody>
          <a:bodyPr wrap="square" lIns="0" tIns="0" rIns="0" bIns="0" rtlCol="0" anchor="ctr"/>
          <a:lstStyle/>
          <a:p>
            <a:pPr algn="l" indent="0" marL="0">
              <a:buNone/>
            </a:pPr>
            <a:r>
              <a:rPr lang="en-US" sz="950" dirty="0">
                <a:solidFill>
                  <a:srgbClr val="5B6675"/>
                </a:solidFill>
                <a:latin typeface="Yu Gothic" pitchFamily="34" charset="0"/>
                <a:ea typeface="Yu Gothic" pitchFamily="34" charset="-122"/>
                <a:cs typeface="Yu Gothic" pitchFamily="34" charset="-120"/>
              </a:rPr>
              <a:t>レポート</a:t>
            </a:r>
            <a:endParaRPr lang="en-US" sz="950" dirty="0"/>
          </a:p>
        </p:txBody>
      </p:sp>
      <p:sp>
        <p:nvSpPr>
          <p:cNvPr id="51" name="Text 49"/>
          <p:cNvSpPr/>
          <p:nvPr/>
        </p:nvSpPr>
        <p:spPr>
          <a:xfrm>
            <a:off x="6858000" y="5715000"/>
            <a:ext cx="4572000" cy="365760"/>
          </a:xfrm>
          <a:prstGeom prst="roundRect">
            <a:avLst>
              <a:gd name="adj" fmla="val 20000"/>
            </a:avLst>
          </a:prstGeom>
          <a:solidFill>
            <a:srgbClr val="5E7391"/>
          </a:solidFill>
          <a:ln w="15875">
            <a:solidFill>
              <a:srgbClr val="5E7391"/>
            </a:solidFill>
            <a:prstDash val="solid"/>
          </a:ln>
        </p:spPr>
        <p:txBody>
          <a:bodyPr wrap="square" lIns="38100" tIns="38100" rIns="38100" bIns="38100" rtlCol="0" anchor="ctr"/>
          <a:lstStyle/>
          <a:p>
            <a:pPr algn="ctr" indent="0" marL="0">
              <a:buNone/>
            </a:pPr>
            <a:r>
              <a:rPr lang="en-US" sz="1100" dirty="0">
                <a:solidFill>
                  <a:srgbClr val="FFFFFF"/>
                </a:solidFill>
                <a:latin typeface="Yu Gothic" pitchFamily="34" charset="0"/>
                <a:ea typeface="Yu Gothic" pitchFamily="34" charset="-122"/>
                <a:cs typeface="Yu Gothic" pitchFamily="34" charset="-120"/>
              </a:rPr>
              <a:t>実行</a:t>
            </a:r>
            <a:endParaRPr lang="en-US" sz="1100" dirty="0"/>
          </a:p>
        </p:txBody>
      </p:sp>
      <p:sp>
        <p:nvSpPr>
          <p:cNvPr id="52" name="Shape 50"/>
          <p:cNvSpPr/>
          <p:nvPr/>
        </p:nvSpPr>
        <p:spPr>
          <a:xfrm>
            <a:off x="7818120" y="4389120"/>
            <a:ext cx="0" cy="1325880"/>
          </a:xfrm>
          <a:prstGeom prst="line">
            <a:avLst/>
          </a:prstGeom>
          <a:noFill/>
          <a:ln w="19050">
            <a:solidFill>
              <a:srgbClr val="3F4F6A"/>
            </a:solidFill>
            <a:prstDash val="solid"/>
            <a:tailEnd type="triangle"/>
          </a:ln>
        </p:spPr>
      </p:sp>
      <p:sp>
        <p:nvSpPr>
          <p:cNvPr id="53" name="Shape 51"/>
          <p:cNvSpPr/>
          <p:nvPr/>
        </p:nvSpPr>
        <p:spPr>
          <a:xfrm>
            <a:off x="11430000" y="4114800"/>
            <a:ext cx="228600" cy="0"/>
          </a:xfrm>
          <a:prstGeom prst="line">
            <a:avLst/>
          </a:prstGeom>
          <a:noFill/>
          <a:ln w="19050">
            <a:solidFill>
              <a:srgbClr val="3F4F6A"/>
            </a:solidFill>
            <a:prstDash val="solid"/>
          </a:ln>
        </p:spPr>
      </p:sp>
      <p:sp>
        <p:nvSpPr>
          <p:cNvPr id="54" name="Shape 52"/>
          <p:cNvSpPr/>
          <p:nvPr/>
        </p:nvSpPr>
        <p:spPr>
          <a:xfrm>
            <a:off x="11658600" y="4114800"/>
            <a:ext cx="0" cy="1783080"/>
          </a:xfrm>
          <a:prstGeom prst="line">
            <a:avLst/>
          </a:prstGeom>
          <a:noFill/>
          <a:ln w="19050">
            <a:solidFill>
              <a:srgbClr val="3F4F6A"/>
            </a:solidFill>
            <a:prstDash val="solid"/>
          </a:ln>
        </p:spPr>
      </p:sp>
      <p:sp>
        <p:nvSpPr>
          <p:cNvPr id="55" name="Shape 53"/>
          <p:cNvSpPr/>
          <p:nvPr/>
        </p:nvSpPr>
        <p:spPr>
          <a:xfrm flipH="1">
            <a:off x="11430000" y="5897880"/>
            <a:ext cx="228600" cy="0"/>
          </a:xfrm>
          <a:prstGeom prst="line">
            <a:avLst/>
          </a:prstGeom>
          <a:noFill/>
          <a:ln w="19050">
            <a:solidFill>
              <a:srgbClr val="3F4F6A"/>
            </a:solidFill>
            <a:prstDash val="solid"/>
            <a:tailEnd type="triangle"/>
          </a:ln>
        </p:spPr>
      </p:sp>
      <p:sp>
        <p:nvSpPr>
          <p:cNvPr id="56" name="Shape 54"/>
          <p:cNvSpPr/>
          <p:nvPr/>
        </p:nvSpPr>
        <p:spPr>
          <a:xfrm>
            <a:off x="548640" y="6281928"/>
            <a:ext cx="256032" cy="164592"/>
          </a:xfrm>
          <a:prstGeom prst="rect">
            <a:avLst/>
          </a:prstGeom>
          <a:solidFill>
            <a:srgbClr val="B8603F"/>
          </a:solidFill>
          <a:ln w="12700">
            <a:solidFill>
              <a:srgbClr val="B8603F"/>
            </a:solidFill>
            <a:prstDash val="solid"/>
          </a:ln>
        </p:spPr>
      </p:sp>
      <p:sp>
        <p:nvSpPr>
          <p:cNvPr id="57" name="Text 55"/>
          <p:cNvSpPr txBox="1"/>
          <p:nvPr/>
        </p:nvSpPr>
        <p:spPr>
          <a:xfrm>
            <a:off x="868680" y="6236208"/>
            <a:ext cx="3840480" cy="256032"/>
          </a:xfrm>
          <a:prstGeom prst="rect">
            <a:avLst/>
          </a:prstGeom>
          <a:noFill/>
          <a:ln/>
        </p:spPr>
        <p:txBody>
          <a:bodyPr wrap="square" lIns="0" tIns="0" rIns="0" bIns="0" rtlCol="0" anchor="ctr"/>
          <a:lstStyle/>
          <a:p>
            <a:pPr indent="0" marL="0">
              <a:buNone/>
            </a:pPr>
            <a:r>
              <a:rPr lang="en-US" sz="950" dirty="0">
                <a:solidFill>
                  <a:srgbClr val="5B6675"/>
                </a:solidFill>
                <a:latin typeface="Yu Gothic" pitchFamily="34" charset="0"/>
                <a:ea typeface="Yu Gothic" pitchFamily="34" charset="-122"/>
                <a:cs typeface="Yu Gothic" pitchFamily="34" charset="-120"/>
              </a:rPr>
              <a:t>課題箇所（客観チェックなし／IT部門の関与なし）</a:t>
            </a:r>
            <a:endParaRPr lang="en-US" sz="950" dirty="0"/>
          </a:p>
        </p:txBody>
      </p:sp>
      <p:sp>
        <p:nvSpPr>
          <p:cNvPr id="58" name="Shape 56"/>
          <p:cNvSpPr/>
          <p:nvPr/>
        </p:nvSpPr>
        <p:spPr>
          <a:xfrm>
            <a:off x="4754880" y="6281928"/>
            <a:ext cx="256032" cy="164592"/>
          </a:xfrm>
          <a:prstGeom prst="rect">
            <a:avLst/>
          </a:prstGeom>
          <a:solidFill>
            <a:srgbClr val="DCE6F2"/>
          </a:solidFill>
          <a:ln w="12700">
            <a:solidFill>
              <a:srgbClr val="5E7391"/>
            </a:solidFill>
            <a:prstDash val="solid"/>
          </a:ln>
        </p:spPr>
      </p:sp>
      <p:sp>
        <p:nvSpPr>
          <p:cNvPr id="59" name="Text 57"/>
          <p:cNvSpPr txBox="1"/>
          <p:nvPr/>
        </p:nvSpPr>
        <p:spPr>
          <a:xfrm>
            <a:off x="5074920" y="6236208"/>
            <a:ext cx="822960" cy="256032"/>
          </a:xfrm>
          <a:prstGeom prst="rect">
            <a:avLst/>
          </a:prstGeom>
          <a:noFill/>
          <a:ln/>
        </p:spPr>
        <p:txBody>
          <a:bodyPr wrap="square" lIns="0" tIns="0" rIns="0" bIns="0" rtlCol="0" anchor="ctr"/>
          <a:lstStyle/>
          <a:p>
            <a:pPr indent="0" marL="0">
              <a:buNone/>
            </a:pPr>
            <a:r>
              <a:rPr lang="en-US" sz="950" dirty="0">
                <a:solidFill>
                  <a:srgbClr val="5B6675"/>
                </a:solidFill>
                <a:latin typeface="Yu Gothic" pitchFamily="34" charset="0"/>
                <a:ea typeface="Yu Gothic" pitchFamily="34" charset="-122"/>
                <a:cs typeface="Yu Gothic" pitchFamily="34" charset="-120"/>
              </a:rPr>
              <a:t>イベント</a:t>
            </a:r>
            <a:endParaRPr lang="en-US" sz="950" dirty="0"/>
          </a:p>
        </p:txBody>
      </p:sp>
      <p:sp>
        <p:nvSpPr>
          <p:cNvPr id="60" name="Shape 58"/>
          <p:cNvSpPr/>
          <p:nvPr/>
        </p:nvSpPr>
        <p:spPr>
          <a:xfrm>
            <a:off x="5989320" y="6364224"/>
            <a:ext cx="320040" cy="0"/>
          </a:xfrm>
          <a:prstGeom prst="line">
            <a:avLst/>
          </a:prstGeom>
          <a:noFill/>
          <a:ln w="19050">
            <a:solidFill>
              <a:srgbClr val="3F4F6A"/>
            </a:solidFill>
            <a:prstDash val="dash"/>
          </a:ln>
        </p:spPr>
      </p:sp>
      <p:sp>
        <p:nvSpPr>
          <p:cNvPr id="61" name="Text 59"/>
          <p:cNvSpPr txBox="1"/>
          <p:nvPr/>
        </p:nvSpPr>
        <p:spPr>
          <a:xfrm>
            <a:off x="6400800" y="6236208"/>
            <a:ext cx="2743200" cy="256032"/>
          </a:xfrm>
          <a:prstGeom prst="rect">
            <a:avLst/>
          </a:prstGeom>
          <a:noFill/>
          <a:ln/>
        </p:spPr>
        <p:txBody>
          <a:bodyPr wrap="square" lIns="0" tIns="0" rIns="0" bIns="0" rtlCol="0" anchor="ctr"/>
          <a:lstStyle/>
          <a:p>
            <a:pPr indent="0" marL="0">
              <a:buNone/>
            </a:pPr>
            <a:r>
              <a:rPr lang="en-US" sz="950" dirty="0">
                <a:solidFill>
                  <a:srgbClr val="5B6675"/>
                </a:solidFill>
                <a:latin typeface="Yu Gothic" pitchFamily="34" charset="0"/>
                <a:ea typeface="Yu Gothic" pitchFamily="34" charset="-122"/>
                <a:cs typeface="Yu Gothic" pitchFamily="34" charset="-120"/>
              </a:rPr>
              <a:t>条件付きの経路・任命／レポート</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変更前後の比較③：そのほか</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201400" cy="914400"/>
        </p:xfrm>
        <a:graphic>
          <a:graphicData uri="http://schemas.openxmlformats.org/drawingml/2006/table">
            <a:tbl>
              <a:tblPr/>
              <a:tblGrid>
                <a:gridCol w="2103120"/>
                <a:gridCol w="4206240"/>
                <a:gridCol w="4892040"/>
              </a:tblGrid>
              <a:tr h="0">
                <a:tc>
                  <a:txBody>
                    <a:bodyPr/>
                    <a:lstStyle/>
                    <a:p>
                      <a:pPr indent="0" marL="0">
                        <a:buNone/>
                      </a:pPr>
                      <a:r>
                        <a:rPr lang="en-US" sz="1350" b="1" dirty="0">
                          <a:solidFill>
                            <a:srgbClr val="FFFFFF"/>
                          </a:solidFill>
                          <a:latin typeface="Yu Gothic" pitchFamily="34" charset="0"/>
                          <a:ea typeface="Yu Gothic" pitchFamily="34" charset="-122"/>
                          <a:cs typeface="Yu Gothic" pitchFamily="34" charset="-120"/>
                        </a:rPr>
                        <a:t>観点</a:t>
                      </a:r>
                      <a:endParaRPr lang="en-US" sz="13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350" b="1" dirty="0">
                          <a:solidFill>
                            <a:srgbClr val="FFFFFF"/>
                          </a:solidFill>
                          <a:latin typeface="Yu Gothic" pitchFamily="34" charset="0"/>
                          <a:ea typeface="Yu Gothic" pitchFamily="34" charset="-122"/>
                          <a:cs typeface="Yu Gothic" pitchFamily="34" charset="-120"/>
                        </a:rPr>
                        <a:t>変更前</a:t>
                      </a:r>
                      <a:endParaRPr lang="en-US" sz="13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350" b="1" dirty="0">
                          <a:solidFill>
                            <a:srgbClr val="FFFFFF"/>
                          </a:solidFill>
                          <a:latin typeface="Yu Gothic" pitchFamily="34" charset="0"/>
                          <a:ea typeface="Yu Gothic" pitchFamily="34" charset="-122"/>
                          <a:cs typeface="Yu Gothic" pitchFamily="34" charset="-120"/>
                        </a:rPr>
                        <a:t>変更後</a:t>
                      </a:r>
                      <a:endParaRPr lang="en-US" sz="13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r>
              <a:tr h="0">
                <a:tc>
                  <a:txBody>
                    <a:bodyPr/>
                    <a:lstStyle/>
                    <a:p>
                      <a:pPr indent="0" marL="0">
                        <a:buNone/>
                      </a:pPr>
                      <a:r>
                        <a:rPr lang="en-US" sz="1350" b="1" dirty="0">
                          <a:solidFill>
                            <a:srgbClr val="222B38"/>
                          </a:solidFill>
                          <a:latin typeface="Yu Gothic" pitchFamily="34" charset="0"/>
                          <a:ea typeface="Yu Gothic" pitchFamily="34" charset="-122"/>
                          <a:cs typeface="Yu Gothic" pitchFamily="34" charset="-120"/>
                        </a:rPr>
                        <a:t>審議の観点</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DIB：予算計上の是非</a:t>
                      </a:r>
                      <a:endParaRPr lang="en-US" sz="1350" dirty="0">
                        <a:latin typeface="Yu Gothic" charset="0"/>
                        <a:ea typeface="Yu Gothic" charset="0"/>
                        <a:cs typeface="Yu Gothic" charset="0"/>
                      </a:endParaRPr>
                    </a:p>
                    <a:p>
                      <a:pPr indent="0" marL="0">
                        <a:buNone/>
                      </a:pPr>
                      <a:r>
                        <a:rPr lang="en-US" sz="1350" dirty="0">
                          <a:solidFill>
                            <a:srgbClr val="222B38"/>
                          </a:solidFill>
                          <a:latin typeface="Yu Gothic" pitchFamily="34" charset="0"/>
                          <a:ea typeface="Yu Gothic" pitchFamily="34" charset="-122"/>
                          <a:cs typeface="Yu Gothic" pitchFamily="34" charset="-120"/>
                        </a:rPr>
                        <a:t>ICTB：実行計画の承認</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経営戦略（Tier1）→ IT投資計画（Tier2）→ 技術（Tier3）の順に、異なる視点で多段階に審議する</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350" b="1" dirty="0">
                          <a:solidFill>
                            <a:srgbClr val="222B38"/>
                          </a:solidFill>
                          <a:latin typeface="Yu Gothic" pitchFamily="34" charset="0"/>
                          <a:ea typeface="Yu Gothic" pitchFamily="34" charset="-122"/>
                          <a:cs typeface="Yu Gothic" pitchFamily="34" charset="-120"/>
                        </a:rPr>
                        <a:t>金額基準</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DIBは50百万円以上が対象。50百万円未満のローカル案件は、内規によりICTBの審議なしに実行できる</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金額基準を撤廃し、全てのIT投資案件をTier1の優先度判断の対象とする（全件審議は初年度に限る。次年度以降は基準該当案件を最初からTier2で審議することを検討）</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350" b="1" dirty="0">
                          <a:solidFill>
                            <a:srgbClr val="222B38"/>
                          </a:solidFill>
                          <a:latin typeface="Yu Gothic" pitchFamily="34" charset="0"/>
                          <a:ea typeface="Yu Gothic" pitchFamily="34" charset="-122"/>
                          <a:cs typeface="Yu Gothic" pitchFamily="34" charset="-120"/>
                        </a:rPr>
                        <a:t>IT部門の関与</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50百万円未満はIT部門の関与なしに予算計上される</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予算計上の前に、IT組織が参加するTier2の審議が必ず入る</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350" b="1" dirty="0">
                          <a:solidFill>
                            <a:srgbClr val="222B38"/>
                          </a:solidFill>
                          <a:latin typeface="Yu Gothic" pitchFamily="34" charset="0"/>
                          <a:ea typeface="Yu Gothic" pitchFamily="34" charset="-122"/>
                          <a:cs typeface="Yu Gothic" pitchFamily="34" charset="-120"/>
                        </a:rPr>
                        <a:t>実行承認の経路</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事業部門内承認 → ICTB の二重審議</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予算計上の時点で実行承認を誰が行うか（決裁権）を案件ごとに決め、実行承認の場を一本化する</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350" b="1" dirty="0">
                          <a:solidFill>
                            <a:srgbClr val="222B38"/>
                          </a:solidFill>
                          <a:latin typeface="Yu Gothic" pitchFamily="34" charset="0"/>
                          <a:ea typeface="Yu Gothic" pitchFamily="34" charset="-122"/>
                          <a:cs typeface="Yu Gothic" pitchFamily="34" charset="-120"/>
                        </a:rPr>
                        <a:t>地域による区分</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ローカル／グローバルICTB（実態は同じ）</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区分は設けず、審議の観点の違いはTier3の案件別編成で担う</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350" b="1" dirty="0">
                          <a:solidFill>
                            <a:srgbClr val="222B38"/>
                          </a:solidFill>
                          <a:latin typeface="Yu Gothic" pitchFamily="34" charset="0"/>
                          <a:ea typeface="Yu Gothic" pitchFamily="34" charset="-122"/>
                          <a:cs typeface="Yu Gothic" pitchFamily="34" charset="-120"/>
                        </a:rPr>
                        <a:t>年次予算</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年次予算は策定後、期中に見直さない</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350" dirty="0">
                          <a:solidFill>
                            <a:srgbClr val="222B38"/>
                          </a:solidFill>
                          <a:latin typeface="Yu Gothic" pitchFamily="34" charset="0"/>
                          <a:ea typeface="Yu Gothic" pitchFamily="34" charset="-122"/>
                          <a:cs typeface="Yu Gothic" pitchFamily="34" charset="-120"/>
                        </a:rPr>
                        <a:t>年次予算の前にTier1・Tier2を行う構造は変わらず、期中の見直しは扱わない</a:t>
                      </a:r>
                      <a:endParaRPr lang="en-US" sz="13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7</a:t>
            </a:r>
            <a:endParaRPr lang="en-US" sz="1000" dirty="0"/>
          </a:p>
        </p:txBody>
      </p:sp>
      <p:sp>
        <p:nvSpPr>
          <p:cNvPr id="3" name="Text 1"/>
          <p:cNvSpPr txBox="1"/>
          <p:nvPr/>
        </p:nvSpPr>
        <p:spPr>
          <a:xfrm>
            <a:off x="822960" y="2377440"/>
            <a:ext cx="10515600" cy="548640"/>
          </a:xfrm>
          <a:prstGeom prst="rect">
            <a:avLst/>
          </a:prstGeom>
          <a:noFill/>
          <a:ln/>
        </p:spPr>
        <p:txBody>
          <a:bodyPr wrap="square" lIns="0" tIns="0" rIns="0" bIns="0" rtlCol="0" anchor="t"/>
          <a:lstStyle/>
          <a:p>
            <a:pPr indent="0" marL="0">
              <a:buNone/>
            </a:pPr>
            <a:r>
              <a:rPr lang="en-US" sz="2200" b="1" dirty="0">
                <a:solidFill>
                  <a:srgbClr val="5E7391"/>
                </a:solidFill>
                <a:latin typeface="Yu Gothic" pitchFamily="34" charset="0"/>
                <a:ea typeface="Yu Gothic" pitchFamily="34" charset="-122"/>
                <a:cs typeface="Yu Gothic" pitchFamily="34" charset="-120"/>
              </a:rPr>
              <a:t>2</a:t>
            </a:r>
            <a:endParaRPr lang="en-US" sz="2200" dirty="0"/>
          </a:p>
        </p:txBody>
      </p:sp>
      <p:sp>
        <p:nvSpPr>
          <p:cNvPr id="4" name="Text 2"/>
          <p:cNvSpPr txBox="1"/>
          <p:nvPr/>
        </p:nvSpPr>
        <p:spPr>
          <a:xfrm>
            <a:off x="822960" y="2926080"/>
            <a:ext cx="10515600" cy="914400"/>
          </a:xfrm>
          <a:prstGeom prst="rect">
            <a:avLst/>
          </a:prstGeom>
          <a:noFill/>
          <a:ln/>
        </p:spPr>
        <p:txBody>
          <a:bodyPr wrap="square" lIns="0" tIns="0" rIns="0" bIns="0" rtlCol="0" anchor="ctr"/>
          <a:lstStyle/>
          <a:p>
            <a:pPr indent="0" marL="0">
              <a:buNone/>
            </a:pPr>
            <a:r>
              <a:rPr lang="en-US" sz="4000" b="1" dirty="0">
                <a:solidFill>
                  <a:srgbClr val="1C2B45"/>
                </a:solidFill>
                <a:latin typeface="Yu Gothic" pitchFamily="34" charset="0"/>
                <a:ea typeface="Yu Gothic" pitchFamily="34" charset="-122"/>
                <a:cs typeface="Yu Gothic" pitchFamily="34" charset="-120"/>
              </a:rPr>
              <a:t>現状の課題と新モデルで解決すること</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現状の課題：ITガバナンス側の視点</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201400" cy="914400"/>
        </p:xfrm>
        <a:graphic>
          <a:graphicData uri="http://schemas.openxmlformats.org/drawingml/2006/table">
            <a:tbl>
              <a:tblPr/>
              <a:tblGrid>
                <a:gridCol w="457200"/>
                <a:gridCol w="2651760"/>
                <a:gridCol w="3931920"/>
                <a:gridCol w="4160520"/>
              </a:tblGrid>
              <a:tr h="0">
                <a:tc>
                  <a:txBody>
                    <a:bodyPr/>
                    <a:lstStyle/>
                    <a:p>
                      <a:pPr indent="0" marL="0">
                        <a:buNone/>
                      </a:pPr>
                      <a:r>
                        <a:rPr lang="en-US" sz="1250" b="1" dirty="0">
                          <a:solidFill>
                            <a:srgbClr val="FFFFFF"/>
                          </a:solidFill>
                          <a:latin typeface="Yu Gothic" pitchFamily="34" charset="0"/>
                          <a:ea typeface="Yu Gothic" pitchFamily="34" charset="-122"/>
                          <a:cs typeface="Yu Gothic" pitchFamily="34" charset="-120"/>
                        </a:rPr>
                        <a:t>#</a:t>
                      </a:r>
                      <a:endParaRPr lang="en-US" sz="12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250" b="1" dirty="0">
                          <a:solidFill>
                            <a:srgbClr val="FFFFFF"/>
                          </a:solidFill>
                          <a:latin typeface="Yu Gothic" pitchFamily="34" charset="0"/>
                          <a:ea typeface="Yu Gothic" pitchFamily="34" charset="-122"/>
                          <a:cs typeface="Yu Gothic" pitchFamily="34" charset="-120"/>
                        </a:rPr>
                        <a:t>課題名称</a:t>
                      </a:r>
                      <a:endParaRPr lang="en-US" sz="12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250" b="1" dirty="0">
                          <a:solidFill>
                            <a:srgbClr val="FFFFFF"/>
                          </a:solidFill>
                          <a:latin typeface="Yu Gothic" pitchFamily="34" charset="0"/>
                          <a:ea typeface="Yu Gothic" pitchFamily="34" charset="-122"/>
                          <a:cs typeface="Yu Gothic" pitchFamily="34" charset="-120"/>
                        </a:rPr>
                        <a:t>説明</a:t>
                      </a:r>
                      <a:endParaRPr lang="en-US" sz="12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250" b="1" dirty="0">
                          <a:solidFill>
                            <a:srgbClr val="FFFFFF"/>
                          </a:solidFill>
                          <a:latin typeface="Yu Gothic" pitchFamily="34" charset="0"/>
                          <a:ea typeface="Yu Gothic" pitchFamily="34" charset="-122"/>
                          <a:cs typeface="Yu Gothic" pitchFamily="34" charset="-120"/>
                        </a:rPr>
                        <a:t>当社の状況</a:t>
                      </a:r>
                      <a:endParaRPr lang="en-US" sz="12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r>
              <a:tr h="0">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1</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b="1" dirty="0">
                          <a:solidFill>
                            <a:srgbClr val="222B38"/>
                          </a:solidFill>
                          <a:latin typeface="Yu Gothic" pitchFamily="34" charset="0"/>
                          <a:ea typeface="Yu Gothic" pitchFamily="34" charset="-122"/>
                          <a:cs typeface="Yu Gothic" pitchFamily="34" charset="-120"/>
                        </a:rPr>
                        <a:t>シャドーIT／投資の不可視化</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IT部門が把握しないIT投資が発生し、全社のIT投資の全体像が見えない</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50百万円未満のローカル案件はICTB不要のため、IT部門が関与せず情報すらない案件が存在</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2</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b="1" dirty="0">
                          <a:solidFill>
                            <a:srgbClr val="222B38"/>
                          </a:solidFill>
                          <a:latin typeface="Yu Gothic" pitchFamily="34" charset="0"/>
                          <a:ea typeface="Yu Gothic" pitchFamily="34" charset="-122"/>
                          <a:cs typeface="Yu Gothic" pitchFamily="34" charset="-120"/>
                        </a:rPr>
                        <a:t>事業部門内承認の自己完結</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起案部門と承認部門が同一で、利害から独立した客観的チェックが働かない</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共通ルールがなく、ほとんどの案件が客観チェックなしで承認</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3</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b="1" dirty="0">
                          <a:solidFill>
                            <a:srgbClr val="222B38"/>
                          </a:solidFill>
                          <a:latin typeface="Yu Gothic" pitchFamily="34" charset="0"/>
                          <a:ea typeface="Yu Gothic" pitchFamily="34" charset="-122"/>
                          <a:cs typeface="Yu Gothic" pitchFamily="34" charset="-120"/>
                        </a:rPr>
                        <a:t>審議会の形骸化（ラバースタンプ化）</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審議に必要な情報が不足し、否決や条件付き承認が実質できない</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IT部門以外の起案案件は情報不足で、ICTBは承認以外の選択肢がない状態</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4</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b="1" dirty="0">
                          <a:solidFill>
                            <a:srgbClr val="222B38"/>
                          </a:solidFill>
                          <a:latin typeface="Yu Gothic" pitchFamily="34" charset="0"/>
                          <a:ea typeface="Yu Gothic" pitchFamily="34" charset="-122"/>
                          <a:cs typeface="Yu Gothic" pitchFamily="34" charset="-120"/>
                        </a:rPr>
                        <a:t>二重審議・承認順序の逆転</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予算・事業側の承認が先行し、後段の審議が追認になる</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事業部門で承認済みの案件がICTBに回り、二重審議かつ追認のみ</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5</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b="1" dirty="0">
                          <a:solidFill>
                            <a:srgbClr val="222B38"/>
                          </a:solidFill>
                          <a:latin typeface="Yu Gothic" pitchFamily="34" charset="0"/>
                          <a:ea typeface="Yu Gothic" pitchFamily="34" charset="-122"/>
                          <a:cs typeface="Yu Gothic" pitchFamily="34" charset="-120"/>
                        </a:rPr>
                        <a:t>会議体区分の名目化</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区分が形式上存在するが、審議内容・基準に差がない</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ローカル／グローバルICTBは実態として同じ</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6</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b="1" dirty="0">
                          <a:solidFill>
                            <a:srgbClr val="222B38"/>
                          </a:solidFill>
                          <a:latin typeface="Yu Gothic" pitchFamily="34" charset="0"/>
                          <a:ea typeface="Yu Gothic" pitchFamily="34" charset="-122"/>
                          <a:cs typeface="Yu Gothic" pitchFamily="34" charset="-120"/>
                        </a:rPr>
                        <a:t>免除閾値の高さ</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審議免除の範囲が広く、ガバナンスの対象外となる投資が大きい</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50" dirty="0">
                          <a:solidFill>
                            <a:srgbClr val="222B38"/>
                          </a:solidFill>
                          <a:latin typeface="Yu Gothic" pitchFamily="34" charset="0"/>
                          <a:ea typeface="Yu Gothic" pitchFamily="34" charset="-122"/>
                          <a:cs typeface="Yu Gothic" pitchFamily="34" charset="-120"/>
                        </a:rPr>
                        <a:t>50百万円未満のローカル案件は一律免除。事業部門予算主流と重なり空白が拡大</a:t>
                      </a:r>
                      <a:endParaRPr lang="en-US" sz="12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現状の課題：申請者側の視点</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11201400" cy="914400"/>
        </p:xfrm>
        <a:graphic>
          <a:graphicData uri="http://schemas.openxmlformats.org/drawingml/2006/table">
            <a:tbl>
              <a:tblPr/>
              <a:tblGrid>
                <a:gridCol w="457200"/>
                <a:gridCol w="2651760"/>
                <a:gridCol w="3931920"/>
                <a:gridCol w="4160520"/>
              </a:tblGrid>
              <a:tr h="0">
                <a:tc>
                  <a:txBody>
                    <a:bodyPr/>
                    <a:lstStyle/>
                    <a:p>
                      <a:pPr indent="0" marL="0">
                        <a:buNone/>
                      </a:pPr>
                      <a:r>
                        <a:rPr lang="en-US" sz="1150" b="1" dirty="0">
                          <a:solidFill>
                            <a:srgbClr val="FFFFFF"/>
                          </a:solidFill>
                          <a:latin typeface="Yu Gothic" pitchFamily="34" charset="0"/>
                          <a:ea typeface="Yu Gothic" pitchFamily="34" charset="-122"/>
                          <a:cs typeface="Yu Gothic" pitchFamily="34" charset="-120"/>
                        </a:rPr>
                        <a:t>#</a:t>
                      </a:r>
                      <a:endParaRPr lang="en-US" sz="11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150" b="1" dirty="0">
                          <a:solidFill>
                            <a:srgbClr val="FFFFFF"/>
                          </a:solidFill>
                          <a:latin typeface="Yu Gothic" pitchFamily="34" charset="0"/>
                          <a:ea typeface="Yu Gothic" pitchFamily="34" charset="-122"/>
                          <a:cs typeface="Yu Gothic" pitchFamily="34" charset="-120"/>
                        </a:rPr>
                        <a:t>課題名称</a:t>
                      </a:r>
                      <a:endParaRPr lang="en-US" sz="11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150" b="1" dirty="0">
                          <a:solidFill>
                            <a:srgbClr val="FFFFFF"/>
                          </a:solidFill>
                          <a:latin typeface="Yu Gothic" pitchFamily="34" charset="0"/>
                          <a:ea typeface="Yu Gothic" pitchFamily="34" charset="-122"/>
                          <a:cs typeface="Yu Gothic" pitchFamily="34" charset="-120"/>
                        </a:rPr>
                        <a:t>説明</a:t>
                      </a:r>
                      <a:endParaRPr lang="en-US" sz="11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150" b="1" dirty="0">
                          <a:solidFill>
                            <a:srgbClr val="FFFFFF"/>
                          </a:solidFill>
                          <a:latin typeface="Yu Gothic" pitchFamily="34" charset="0"/>
                          <a:ea typeface="Yu Gothic" pitchFamily="34" charset="-122"/>
                          <a:cs typeface="Yu Gothic" pitchFamily="34" charset="-120"/>
                        </a:rPr>
                        <a:t>当社の状況</a:t>
                      </a:r>
                      <a:endParaRPr lang="en-US" sz="115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r>
              <a:tr h="0">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A1</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b="1" dirty="0">
                          <a:solidFill>
                            <a:srgbClr val="222B38"/>
                          </a:solidFill>
                          <a:latin typeface="Yu Gothic" pitchFamily="34" charset="0"/>
                          <a:ea typeface="Yu Gothic" pitchFamily="34" charset="-122"/>
                          <a:cs typeface="Yu Gothic" pitchFamily="34" charset="-120"/>
                        </a:rPr>
                        <a:t>年次予算の硬直性</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期中に予算を見直せないため、翌年度のIT投資をすべて予算編成前に確定させる必要がある</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期中見直しなし。DIB時点で全計画の準備が必要</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A2</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b="1" dirty="0">
                          <a:solidFill>
                            <a:srgbClr val="222B38"/>
                          </a:solidFill>
                          <a:latin typeface="Yu Gothic" pitchFamily="34" charset="0"/>
                          <a:ea typeface="Yu Gothic" pitchFamily="34" charset="-122"/>
                          <a:cs typeface="Yu Gothic" pitchFamily="34" charset="-120"/>
                        </a:rPr>
                        <a:t>案件類型による計画精度の差</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案件の性質によって、必要性の説明しやすさと計画精度が大きく異なる</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継続案件の追加投資は精度・説明性とも高い。EOSL対応は必要性は明確だが精度が低い。CTBは起案自体が困難</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A3</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b="1" dirty="0">
                          <a:solidFill>
                            <a:srgbClr val="222B38"/>
                          </a:solidFill>
                          <a:latin typeface="Yu Gothic" pitchFamily="34" charset="0"/>
                          <a:ea typeface="Yu Gothic" pitchFamily="34" charset="-122"/>
                          <a:cs typeface="Yu Gothic" pitchFamily="34" charset="-120"/>
                        </a:rPr>
                        <a:t>閾値回避のための案件分割</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審議を避けるため、案件を分割・改名して閾値未満にする</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CTB案件を50百万円未満に細切れにし、名称を変えてDIBを回避し、事業部内承認で予算計上</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A4</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b="1" dirty="0">
                          <a:solidFill>
                            <a:srgbClr val="222B38"/>
                          </a:solidFill>
                          <a:latin typeface="Yu Gothic" pitchFamily="34" charset="0"/>
                          <a:ea typeface="Yu Gothic" pitchFamily="34" charset="-122"/>
                          <a:cs typeface="Yu Gothic" pitchFamily="34" charset="-120"/>
                        </a:rPr>
                        <a:t>審議フォーマットの不適合</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IT投資の審議に必要な項目がなく、判断材料が揃わない</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経営会議用の汎用フォーマット（設備投資・研究開発と共通）を流用。ビジネスメリット中心</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A5</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b="1" dirty="0">
                          <a:solidFill>
                            <a:srgbClr val="222B38"/>
                          </a:solidFill>
                          <a:latin typeface="Yu Gothic" pitchFamily="34" charset="0"/>
                          <a:ea typeface="Yu Gothic" pitchFamily="34" charset="-122"/>
                          <a:cs typeface="Yu Gothic" pitchFamily="34" charset="-120"/>
                        </a:rPr>
                        <a:t>作文的な定量効果</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実態と結びつかない効果が記載され、承認判断にも事後評価にも使えない</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工数削減を金額換算するなど、PLに影響しない定量効果が記載される</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A6</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b="1" dirty="0">
                          <a:solidFill>
                            <a:srgbClr val="222B38"/>
                          </a:solidFill>
                          <a:latin typeface="Yu Gothic" pitchFamily="34" charset="0"/>
                          <a:ea typeface="Yu Gothic" pitchFamily="34" charset="-122"/>
                          <a:cs typeface="Yu Gothic" pitchFamily="34" charset="-120"/>
                        </a:rPr>
                        <a:t>二重の資料作成負荷</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審議の場ごとに別資料を作る必要がある</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事業部門向けとICTB向けに別々に資料を作成</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A7</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b="1" dirty="0">
                          <a:solidFill>
                            <a:srgbClr val="222B38"/>
                          </a:solidFill>
                          <a:latin typeface="Yu Gothic" pitchFamily="34" charset="0"/>
                          <a:ea typeface="Yu Gothic" pitchFamily="34" charset="-122"/>
                          <a:cs typeface="Yu Gothic" pitchFamily="34" charset="-120"/>
                        </a:rPr>
                        <a:t>資料作成のベンダー依存とロックイン</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起案作業を外部に委ねることで、社内情報・予算情報がベンダーに集まり交渉力が低下する</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150" dirty="0">
                          <a:solidFill>
                            <a:srgbClr val="222B38"/>
                          </a:solidFill>
                          <a:latin typeface="Yu Gothic" pitchFamily="34" charset="0"/>
                          <a:ea typeface="Yu Gothic" pitchFamily="34" charset="-122"/>
                          <a:cs typeface="Yu Gothic" pitchFamily="34" charset="-120"/>
                        </a:rPr>
                        <a:t>資料作成をベンダーに任せた結果、ベンダーが社内事情と予算に詳しくなり、ロックインが進行</a:t>
                      </a:r>
                      <a:endParaRPr lang="en-US" sz="115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課題間の関係</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10</a:t>
            </a:r>
            <a:endParaRPr lang="en-US" sz="1000" dirty="0"/>
          </a:p>
        </p:txBody>
      </p:sp>
      <p:sp>
        <p:nvSpPr>
          <p:cNvPr id="4" name="Text 2"/>
          <p:cNvSpPr txBox="1"/>
          <p:nvPr/>
        </p:nvSpPr>
        <p:spPr>
          <a:xfrm>
            <a:off x="548640" y="1051560"/>
            <a:ext cx="10972800" cy="3657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申請者側の課題が、ガバナンス側の課題の原因になっている。</a:t>
            </a:r>
            <a:endParaRPr lang="en-US" sz="1500" dirty="0"/>
          </a:p>
        </p:txBody>
      </p:sp>
      <p:sp>
        <p:nvSpPr>
          <p:cNvPr id="5" name="Text 3"/>
          <p:cNvSpPr txBox="1"/>
          <p:nvPr/>
        </p:nvSpPr>
        <p:spPr>
          <a:xfrm>
            <a:off x="548640" y="1554480"/>
            <a:ext cx="5669280" cy="320040"/>
          </a:xfrm>
          <a:prstGeom prst="rect">
            <a:avLst/>
          </a:prstGeom>
          <a:noFill/>
          <a:ln/>
        </p:spPr>
        <p:txBody>
          <a:bodyPr wrap="square" lIns="0" tIns="0" rIns="0" bIns="0" rtlCol="0" anchor="t"/>
          <a:lstStyle/>
          <a:p>
            <a:pPr algn="ctr" indent="0" marL="0">
              <a:buNone/>
            </a:pPr>
            <a:r>
              <a:rPr lang="en-US" sz="1300" b="1" dirty="0">
                <a:solidFill>
                  <a:srgbClr val="5F7F5B"/>
                </a:solidFill>
                <a:latin typeface="Yu Gothic" pitchFamily="34" charset="0"/>
                <a:ea typeface="Yu Gothic" pitchFamily="34" charset="-122"/>
                <a:cs typeface="Yu Gothic" pitchFamily="34" charset="-120"/>
              </a:rPr>
              <a:t>申請者側の課題</a:t>
            </a:r>
            <a:endParaRPr lang="en-US" sz="1300" dirty="0"/>
          </a:p>
        </p:txBody>
      </p:sp>
      <p:sp>
        <p:nvSpPr>
          <p:cNvPr id="6" name="Text 4"/>
          <p:cNvSpPr txBox="1"/>
          <p:nvPr/>
        </p:nvSpPr>
        <p:spPr>
          <a:xfrm>
            <a:off x="7863840" y="1554480"/>
            <a:ext cx="3840480" cy="320040"/>
          </a:xfrm>
          <a:prstGeom prst="rect">
            <a:avLst/>
          </a:prstGeom>
          <a:noFill/>
          <a:ln/>
        </p:spPr>
        <p:txBody>
          <a:bodyPr wrap="square" lIns="0" tIns="0" rIns="0" bIns="0" rtlCol="0" anchor="t"/>
          <a:lstStyle/>
          <a:p>
            <a:pPr algn="ctr" indent="0" marL="0">
              <a:buNone/>
            </a:pPr>
            <a:r>
              <a:rPr lang="en-US" sz="1300" b="1" dirty="0">
                <a:solidFill>
                  <a:srgbClr val="5E7391"/>
                </a:solidFill>
                <a:latin typeface="Yu Gothic" pitchFamily="34" charset="0"/>
                <a:ea typeface="Yu Gothic" pitchFamily="34" charset="-122"/>
                <a:cs typeface="Yu Gothic" pitchFamily="34" charset="-120"/>
              </a:rPr>
              <a:t>ガバナンス側の課題</a:t>
            </a:r>
            <a:endParaRPr lang="en-US" sz="1300" dirty="0"/>
          </a:p>
        </p:txBody>
      </p:sp>
      <p:sp>
        <p:nvSpPr>
          <p:cNvPr id="7" name="Shape 5"/>
          <p:cNvSpPr/>
          <p:nvPr/>
        </p:nvSpPr>
        <p:spPr>
          <a:xfrm>
            <a:off x="7040880" y="1600200"/>
            <a:ext cx="0" cy="3063240"/>
          </a:xfrm>
          <a:prstGeom prst="line">
            <a:avLst/>
          </a:prstGeom>
          <a:noFill/>
          <a:ln w="12700">
            <a:solidFill>
              <a:srgbClr val="CFCABE"/>
            </a:solidFill>
            <a:prstDash val="solid"/>
          </a:ln>
        </p:spPr>
      </p:sp>
      <p:sp>
        <p:nvSpPr>
          <p:cNvPr id="8" name="Text 6"/>
          <p:cNvSpPr/>
          <p:nvPr/>
        </p:nvSpPr>
        <p:spPr>
          <a:xfrm>
            <a:off x="548640" y="2011680"/>
            <a:ext cx="2377440" cy="548640"/>
          </a:xfrm>
          <a:prstGeom prst="roundRect">
            <a:avLst>
              <a:gd name="adj" fmla="val 13333"/>
            </a:avLst>
          </a:prstGeom>
          <a:solidFill>
            <a:srgbClr val="E9EFE6"/>
          </a:solidFill>
          <a:ln w="15875">
            <a:solidFill>
              <a:srgbClr val="5F7F5B"/>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A1 年次予算の硬直性</a:t>
            </a:r>
            <a:endParaRPr lang="en-US" sz="1150" dirty="0"/>
          </a:p>
        </p:txBody>
      </p:sp>
      <p:sp>
        <p:nvSpPr>
          <p:cNvPr id="9" name="Text 7"/>
          <p:cNvSpPr/>
          <p:nvPr/>
        </p:nvSpPr>
        <p:spPr>
          <a:xfrm>
            <a:off x="548640" y="2743200"/>
            <a:ext cx="2377440" cy="548640"/>
          </a:xfrm>
          <a:prstGeom prst="roundRect">
            <a:avLst>
              <a:gd name="adj" fmla="val 13333"/>
            </a:avLst>
          </a:prstGeom>
          <a:solidFill>
            <a:srgbClr val="E9EFE6"/>
          </a:solidFill>
          <a:ln w="15875">
            <a:solidFill>
              <a:srgbClr val="5F7F5B"/>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A2 案件類型による計画精度の差</a:t>
            </a:r>
            <a:endParaRPr lang="en-US" sz="1150" dirty="0"/>
          </a:p>
        </p:txBody>
      </p:sp>
      <p:sp>
        <p:nvSpPr>
          <p:cNvPr id="10" name="Text 8"/>
          <p:cNvSpPr/>
          <p:nvPr/>
        </p:nvSpPr>
        <p:spPr>
          <a:xfrm>
            <a:off x="3566160" y="2377440"/>
            <a:ext cx="2651760" cy="548640"/>
          </a:xfrm>
          <a:prstGeom prst="roundRect">
            <a:avLst>
              <a:gd name="adj" fmla="val 13333"/>
            </a:avLst>
          </a:prstGeom>
          <a:solidFill>
            <a:srgbClr val="E9EFE6"/>
          </a:solidFill>
          <a:ln w="15875">
            <a:solidFill>
              <a:srgbClr val="5F7F5B"/>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A3 閾値回避のための案件分割</a:t>
            </a:r>
            <a:endParaRPr lang="en-US" sz="1150" dirty="0"/>
          </a:p>
        </p:txBody>
      </p:sp>
      <p:sp>
        <p:nvSpPr>
          <p:cNvPr id="11" name="Shape 9"/>
          <p:cNvSpPr/>
          <p:nvPr/>
        </p:nvSpPr>
        <p:spPr>
          <a:xfrm>
            <a:off x="2926080" y="2286000"/>
            <a:ext cx="320040" cy="0"/>
          </a:xfrm>
          <a:prstGeom prst="line">
            <a:avLst/>
          </a:prstGeom>
          <a:noFill/>
          <a:ln w="19050">
            <a:solidFill>
              <a:srgbClr val="3F4F6A"/>
            </a:solidFill>
            <a:prstDash val="solid"/>
          </a:ln>
        </p:spPr>
      </p:sp>
      <p:sp>
        <p:nvSpPr>
          <p:cNvPr id="12" name="Shape 10"/>
          <p:cNvSpPr/>
          <p:nvPr/>
        </p:nvSpPr>
        <p:spPr>
          <a:xfrm>
            <a:off x="3246120" y="2286000"/>
            <a:ext cx="0" cy="365760"/>
          </a:xfrm>
          <a:prstGeom prst="line">
            <a:avLst/>
          </a:prstGeom>
          <a:noFill/>
          <a:ln w="19050">
            <a:solidFill>
              <a:srgbClr val="3F4F6A"/>
            </a:solidFill>
            <a:prstDash val="solid"/>
          </a:ln>
        </p:spPr>
      </p:sp>
      <p:sp>
        <p:nvSpPr>
          <p:cNvPr id="13" name="Shape 11"/>
          <p:cNvSpPr/>
          <p:nvPr/>
        </p:nvSpPr>
        <p:spPr>
          <a:xfrm>
            <a:off x="3246120" y="2651760"/>
            <a:ext cx="320040" cy="0"/>
          </a:xfrm>
          <a:prstGeom prst="line">
            <a:avLst/>
          </a:prstGeom>
          <a:noFill/>
          <a:ln w="19050">
            <a:solidFill>
              <a:srgbClr val="3F4F6A"/>
            </a:solidFill>
            <a:prstDash val="solid"/>
            <a:tailEnd type="triangle"/>
          </a:ln>
        </p:spPr>
      </p:sp>
      <p:sp>
        <p:nvSpPr>
          <p:cNvPr id="14" name="Shape 12"/>
          <p:cNvSpPr/>
          <p:nvPr/>
        </p:nvSpPr>
        <p:spPr>
          <a:xfrm>
            <a:off x="2926080" y="3017520"/>
            <a:ext cx="320040" cy="0"/>
          </a:xfrm>
          <a:prstGeom prst="line">
            <a:avLst/>
          </a:prstGeom>
          <a:noFill/>
          <a:ln w="19050">
            <a:solidFill>
              <a:srgbClr val="3F4F6A"/>
            </a:solidFill>
            <a:prstDash val="solid"/>
          </a:ln>
        </p:spPr>
      </p:sp>
      <p:sp>
        <p:nvSpPr>
          <p:cNvPr id="15" name="Shape 13"/>
          <p:cNvSpPr/>
          <p:nvPr/>
        </p:nvSpPr>
        <p:spPr>
          <a:xfrm flipV="1">
            <a:off x="3246120" y="2651760"/>
            <a:ext cx="0" cy="365760"/>
          </a:xfrm>
          <a:prstGeom prst="line">
            <a:avLst/>
          </a:prstGeom>
          <a:noFill/>
          <a:ln w="19050">
            <a:solidFill>
              <a:srgbClr val="3F4F6A"/>
            </a:solidFill>
            <a:prstDash val="solid"/>
            <a:tailEnd type="triangle"/>
          </a:ln>
        </p:spPr>
      </p:sp>
      <p:sp>
        <p:nvSpPr>
          <p:cNvPr id="16" name="Text 14"/>
          <p:cNvSpPr/>
          <p:nvPr/>
        </p:nvSpPr>
        <p:spPr>
          <a:xfrm>
            <a:off x="7863840" y="2011680"/>
            <a:ext cx="3840480" cy="548640"/>
          </a:xfrm>
          <a:prstGeom prst="roundRect">
            <a:avLst>
              <a:gd name="adj" fmla="val 13333"/>
            </a:avLst>
          </a:prstGeom>
          <a:solidFill>
            <a:srgbClr val="E6EBF2"/>
          </a:solidFill>
          <a:ln w="15875">
            <a:solidFill>
              <a:srgbClr val="5E7391"/>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#1 シャドーIT／投資の不可視化</a:t>
            </a:r>
            <a:endParaRPr lang="en-US" sz="1150" dirty="0"/>
          </a:p>
        </p:txBody>
      </p:sp>
      <p:sp>
        <p:nvSpPr>
          <p:cNvPr id="17" name="Text 15"/>
          <p:cNvSpPr/>
          <p:nvPr/>
        </p:nvSpPr>
        <p:spPr>
          <a:xfrm>
            <a:off x="7863840" y="2743200"/>
            <a:ext cx="3840480" cy="548640"/>
          </a:xfrm>
          <a:prstGeom prst="roundRect">
            <a:avLst>
              <a:gd name="adj" fmla="val 13333"/>
            </a:avLst>
          </a:prstGeom>
          <a:solidFill>
            <a:srgbClr val="E6EBF2"/>
          </a:solidFill>
          <a:ln w="15875">
            <a:solidFill>
              <a:srgbClr val="5E7391"/>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#6 免除閾値の高さ</a:t>
            </a:r>
            <a:endParaRPr lang="en-US" sz="1150" dirty="0"/>
          </a:p>
        </p:txBody>
      </p:sp>
      <p:sp>
        <p:nvSpPr>
          <p:cNvPr id="18" name="Shape 16"/>
          <p:cNvSpPr/>
          <p:nvPr/>
        </p:nvSpPr>
        <p:spPr>
          <a:xfrm>
            <a:off x="6217920" y="2651760"/>
            <a:ext cx="1280160" cy="0"/>
          </a:xfrm>
          <a:prstGeom prst="line">
            <a:avLst/>
          </a:prstGeom>
          <a:noFill/>
          <a:ln w="19050">
            <a:solidFill>
              <a:srgbClr val="3F4F6A"/>
            </a:solidFill>
            <a:prstDash val="solid"/>
          </a:ln>
        </p:spPr>
      </p:sp>
      <p:sp>
        <p:nvSpPr>
          <p:cNvPr id="19" name="Shape 17"/>
          <p:cNvSpPr/>
          <p:nvPr/>
        </p:nvSpPr>
        <p:spPr>
          <a:xfrm flipV="1">
            <a:off x="7498080" y="2286000"/>
            <a:ext cx="0" cy="365760"/>
          </a:xfrm>
          <a:prstGeom prst="line">
            <a:avLst/>
          </a:prstGeom>
          <a:noFill/>
          <a:ln w="19050">
            <a:solidFill>
              <a:srgbClr val="3F4F6A"/>
            </a:solidFill>
            <a:prstDash val="solid"/>
          </a:ln>
        </p:spPr>
      </p:sp>
      <p:sp>
        <p:nvSpPr>
          <p:cNvPr id="20" name="Shape 18"/>
          <p:cNvSpPr/>
          <p:nvPr/>
        </p:nvSpPr>
        <p:spPr>
          <a:xfrm>
            <a:off x="7498080" y="2286000"/>
            <a:ext cx="365760" cy="0"/>
          </a:xfrm>
          <a:prstGeom prst="line">
            <a:avLst/>
          </a:prstGeom>
          <a:noFill/>
          <a:ln w="19050">
            <a:solidFill>
              <a:srgbClr val="3F4F6A"/>
            </a:solidFill>
            <a:prstDash val="solid"/>
            <a:tailEnd type="triangle"/>
          </a:ln>
        </p:spPr>
      </p:sp>
      <p:sp>
        <p:nvSpPr>
          <p:cNvPr id="21" name="Shape 19"/>
          <p:cNvSpPr/>
          <p:nvPr/>
        </p:nvSpPr>
        <p:spPr>
          <a:xfrm>
            <a:off x="7498080" y="2651760"/>
            <a:ext cx="0" cy="365760"/>
          </a:xfrm>
          <a:prstGeom prst="line">
            <a:avLst/>
          </a:prstGeom>
          <a:noFill/>
          <a:ln w="19050">
            <a:solidFill>
              <a:srgbClr val="3F4F6A"/>
            </a:solidFill>
            <a:prstDash val="solid"/>
          </a:ln>
        </p:spPr>
      </p:sp>
      <p:sp>
        <p:nvSpPr>
          <p:cNvPr id="22" name="Shape 20"/>
          <p:cNvSpPr/>
          <p:nvPr/>
        </p:nvSpPr>
        <p:spPr>
          <a:xfrm>
            <a:off x="7498080" y="3017520"/>
            <a:ext cx="365760" cy="0"/>
          </a:xfrm>
          <a:prstGeom prst="line">
            <a:avLst/>
          </a:prstGeom>
          <a:noFill/>
          <a:ln w="19050">
            <a:solidFill>
              <a:srgbClr val="3F4F6A"/>
            </a:solidFill>
            <a:prstDash val="solid"/>
            <a:tailEnd type="triangle"/>
          </a:ln>
        </p:spPr>
      </p:sp>
      <p:sp>
        <p:nvSpPr>
          <p:cNvPr id="23" name="Text 21"/>
          <p:cNvSpPr/>
          <p:nvPr/>
        </p:nvSpPr>
        <p:spPr>
          <a:xfrm>
            <a:off x="548640" y="3840480"/>
            <a:ext cx="2377440" cy="548640"/>
          </a:xfrm>
          <a:prstGeom prst="roundRect">
            <a:avLst>
              <a:gd name="adj" fmla="val 13333"/>
            </a:avLst>
          </a:prstGeom>
          <a:solidFill>
            <a:srgbClr val="E9EFE6"/>
          </a:solidFill>
          <a:ln w="15875">
            <a:solidFill>
              <a:srgbClr val="5F7F5B"/>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A4 審議フォーマットの不適合</a:t>
            </a:r>
            <a:endParaRPr lang="en-US" sz="1150" dirty="0"/>
          </a:p>
        </p:txBody>
      </p:sp>
      <p:sp>
        <p:nvSpPr>
          <p:cNvPr id="24" name="Text 22"/>
          <p:cNvSpPr/>
          <p:nvPr/>
        </p:nvSpPr>
        <p:spPr>
          <a:xfrm>
            <a:off x="3566160" y="3840480"/>
            <a:ext cx="2651760" cy="548640"/>
          </a:xfrm>
          <a:prstGeom prst="roundRect">
            <a:avLst>
              <a:gd name="adj" fmla="val 13333"/>
            </a:avLst>
          </a:prstGeom>
          <a:solidFill>
            <a:srgbClr val="E9EFE6"/>
          </a:solidFill>
          <a:ln w="15875">
            <a:solidFill>
              <a:srgbClr val="5F7F5B"/>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A5 作文的な定量効果</a:t>
            </a:r>
            <a:endParaRPr lang="en-US" sz="1150" dirty="0"/>
          </a:p>
        </p:txBody>
      </p:sp>
      <p:sp>
        <p:nvSpPr>
          <p:cNvPr id="25" name="Shape 23"/>
          <p:cNvSpPr/>
          <p:nvPr/>
        </p:nvSpPr>
        <p:spPr>
          <a:xfrm>
            <a:off x="2926080" y="4114800"/>
            <a:ext cx="640080" cy="0"/>
          </a:xfrm>
          <a:prstGeom prst="line">
            <a:avLst/>
          </a:prstGeom>
          <a:noFill/>
          <a:ln w="19050">
            <a:solidFill>
              <a:srgbClr val="3F4F6A"/>
            </a:solidFill>
            <a:prstDash val="solid"/>
            <a:tailEnd type="triangle"/>
          </a:ln>
        </p:spPr>
      </p:sp>
      <p:sp>
        <p:nvSpPr>
          <p:cNvPr id="26" name="Text 24"/>
          <p:cNvSpPr/>
          <p:nvPr/>
        </p:nvSpPr>
        <p:spPr>
          <a:xfrm>
            <a:off x="7863840" y="3840480"/>
            <a:ext cx="3840480" cy="548640"/>
          </a:xfrm>
          <a:prstGeom prst="roundRect">
            <a:avLst>
              <a:gd name="adj" fmla="val 13333"/>
            </a:avLst>
          </a:prstGeom>
          <a:solidFill>
            <a:srgbClr val="E6EBF2"/>
          </a:solidFill>
          <a:ln w="15875">
            <a:solidFill>
              <a:srgbClr val="5E7391"/>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#3 審議会の形骸化（ラバースタンプ化）</a:t>
            </a:r>
            <a:endParaRPr lang="en-US" sz="1150" dirty="0"/>
          </a:p>
        </p:txBody>
      </p:sp>
      <p:sp>
        <p:nvSpPr>
          <p:cNvPr id="27" name="Shape 25"/>
          <p:cNvSpPr/>
          <p:nvPr/>
        </p:nvSpPr>
        <p:spPr>
          <a:xfrm>
            <a:off x="6217920" y="4114800"/>
            <a:ext cx="1645920" cy="0"/>
          </a:xfrm>
          <a:prstGeom prst="line">
            <a:avLst/>
          </a:prstGeom>
          <a:noFill/>
          <a:ln w="19050">
            <a:solidFill>
              <a:srgbClr val="3F4F6A"/>
            </a:solidFill>
            <a:prstDash val="solid"/>
            <a:tailEnd type="triangle"/>
          </a:ln>
        </p:spPr>
      </p:sp>
      <p:sp>
        <p:nvSpPr>
          <p:cNvPr id="28" name="Shape 26"/>
          <p:cNvSpPr/>
          <p:nvPr/>
        </p:nvSpPr>
        <p:spPr>
          <a:xfrm>
            <a:off x="548640" y="4846320"/>
            <a:ext cx="11155680" cy="0"/>
          </a:xfrm>
          <a:prstGeom prst="line">
            <a:avLst/>
          </a:prstGeom>
          <a:noFill/>
          <a:ln w="12700">
            <a:solidFill>
              <a:srgbClr val="CFCABE"/>
            </a:solidFill>
            <a:prstDash val="dash"/>
          </a:ln>
        </p:spPr>
      </p:sp>
      <p:sp>
        <p:nvSpPr>
          <p:cNvPr id="29" name="Text 27"/>
          <p:cNvSpPr txBox="1"/>
          <p:nvPr/>
        </p:nvSpPr>
        <p:spPr>
          <a:xfrm>
            <a:off x="548640" y="4937760"/>
            <a:ext cx="2743200" cy="274320"/>
          </a:xfrm>
          <a:prstGeom prst="rect">
            <a:avLst/>
          </a:prstGeom>
          <a:noFill/>
          <a:ln/>
        </p:spPr>
        <p:txBody>
          <a:bodyPr wrap="square" lIns="0" tIns="0" rIns="0" bIns="0" rtlCol="0" anchor="t"/>
          <a:lstStyle/>
          <a:p>
            <a:pPr indent="0" marL="0">
              <a:buNone/>
            </a:pPr>
            <a:r>
              <a:rPr lang="en-US" sz="1200" b="1" dirty="0">
                <a:solidFill>
                  <a:srgbClr val="5B6675"/>
                </a:solidFill>
                <a:latin typeface="Yu Gothic" pitchFamily="34" charset="0"/>
                <a:ea typeface="Yu Gothic" pitchFamily="34" charset="-122"/>
                <a:cs typeface="Yu Gothic" pitchFamily="34" charset="-120"/>
              </a:rPr>
              <a:t>独立した課題</a:t>
            </a:r>
            <a:endParaRPr lang="en-US" sz="1200" dirty="0"/>
          </a:p>
        </p:txBody>
      </p:sp>
      <p:sp>
        <p:nvSpPr>
          <p:cNvPr id="30" name="Text 28"/>
          <p:cNvSpPr/>
          <p:nvPr/>
        </p:nvSpPr>
        <p:spPr>
          <a:xfrm>
            <a:off x="548640" y="5349240"/>
            <a:ext cx="2377440" cy="548640"/>
          </a:xfrm>
          <a:prstGeom prst="roundRect">
            <a:avLst>
              <a:gd name="adj" fmla="val 13333"/>
            </a:avLst>
          </a:prstGeom>
          <a:solidFill>
            <a:srgbClr val="E9EFE6"/>
          </a:solidFill>
          <a:ln w="15875">
            <a:solidFill>
              <a:srgbClr val="5F7F5B"/>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A6 二重の資料作成負荷</a:t>
            </a:r>
            <a:endParaRPr lang="en-US" sz="1150" dirty="0"/>
          </a:p>
        </p:txBody>
      </p:sp>
      <p:sp>
        <p:nvSpPr>
          <p:cNvPr id="31" name="Text 29"/>
          <p:cNvSpPr/>
          <p:nvPr/>
        </p:nvSpPr>
        <p:spPr>
          <a:xfrm>
            <a:off x="3566160" y="5349240"/>
            <a:ext cx="3108960" cy="548640"/>
          </a:xfrm>
          <a:prstGeom prst="roundRect">
            <a:avLst>
              <a:gd name="adj" fmla="val 13333"/>
            </a:avLst>
          </a:prstGeom>
          <a:solidFill>
            <a:srgbClr val="E9EFE6"/>
          </a:solidFill>
          <a:ln w="15875">
            <a:solidFill>
              <a:srgbClr val="5F7F5B"/>
            </a:solidFill>
            <a:prstDash val="solid"/>
          </a:ln>
        </p:spPr>
        <p:txBody>
          <a:bodyPr wrap="square" lIns="38100" tIns="38100" rIns="38100" bIns="38100" rtlCol="0" anchor="ctr"/>
          <a:lstStyle/>
          <a:p>
            <a:pPr algn="ctr" indent="0" marL="0">
              <a:buNone/>
            </a:pPr>
            <a:r>
              <a:rPr lang="en-US" sz="1150" b="1" dirty="0">
                <a:solidFill>
                  <a:srgbClr val="222B38"/>
                </a:solidFill>
                <a:latin typeface="Yu Gothic" pitchFamily="34" charset="0"/>
                <a:ea typeface="Yu Gothic" pitchFamily="34" charset="-122"/>
                <a:cs typeface="Yu Gothic" pitchFamily="34" charset="-120"/>
              </a:rPr>
              <a:t>A7 資料作成のベンダー依存とロックイン</a:t>
            </a:r>
            <a:endParaRPr lang="en-US" sz="1150" dirty="0"/>
          </a:p>
        </p:txBody>
      </p:sp>
      <p:sp>
        <p:nvSpPr>
          <p:cNvPr id="32" name="Shape 30"/>
          <p:cNvSpPr/>
          <p:nvPr/>
        </p:nvSpPr>
        <p:spPr>
          <a:xfrm>
            <a:off x="2926080" y="5623560"/>
            <a:ext cx="640080" cy="0"/>
          </a:xfrm>
          <a:prstGeom prst="line">
            <a:avLst/>
          </a:prstGeom>
          <a:noFill/>
          <a:ln w="19050">
            <a:solidFill>
              <a:srgbClr val="3F4F6A"/>
            </a:solidFill>
            <a:prstDash val="solid"/>
            <a:tailEnd type="triangle"/>
          </a:ln>
        </p:spPr>
      </p:sp>
      <p:sp>
        <p:nvSpPr>
          <p:cNvPr id="33" name="Text 31"/>
          <p:cNvSpPr/>
          <p:nvPr/>
        </p:nvSpPr>
        <p:spPr>
          <a:xfrm>
            <a:off x="6949440" y="5349240"/>
            <a:ext cx="1783080" cy="548640"/>
          </a:xfrm>
          <a:prstGeom prst="roundRect">
            <a:avLst>
              <a:gd name="adj" fmla="val 13333"/>
            </a:avLst>
          </a:prstGeom>
          <a:solidFill>
            <a:srgbClr val="E6EBF2"/>
          </a:solidFill>
          <a:ln w="15875">
            <a:solidFill>
              <a:srgbClr val="5E7391"/>
            </a:solidFill>
            <a:prstDash val="solid"/>
          </a:ln>
        </p:spPr>
        <p:txBody>
          <a:bodyPr wrap="square" lIns="38100" tIns="38100" rIns="38100" bIns="38100" rtlCol="0" anchor="ctr"/>
          <a:lstStyle/>
          <a:p>
            <a:pPr algn="ctr" indent="0" marL="0">
              <a:buNone/>
            </a:pPr>
            <a:r>
              <a:rPr lang="en-US" sz="1000" b="1" dirty="0">
                <a:solidFill>
                  <a:srgbClr val="222B38"/>
                </a:solidFill>
                <a:latin typeface="Yu Gothic" pitchFamily="34" charset="0"/>
                <a:ea typeface="Yu Gothic" pitchFamily="34" charset="-122"/>
                <a:cs typeface="Yu Gothic" pitchFamily="34" charset="-120"/>
              </a:rPr>
              <a:t>#2 事業部門内承認</a:t>
            </a:r>
            <a:endParaRPr lang="en-US" sz="1000" dirty="0"/>
          </a:p>
          <a:p>
            <a:pPr algn="ctr" indent="0" marL="0">
              <a:buNone/>
            </a:pPr>
            <a:r>
              <a:rPr lang="en-US" sz="1000" b="1" dirty="0">
                <a:solidFill>
                  <a:srgbClr val="222B38"/>
                </a:solidFill>
                <a:latin typeface="Yu Gothic" pitchFamily="34" charset="0"/>
                <a:ea typeface="Yu Gothic" pitchFamily="34" charset="-122"/>
                <a:cs typeface="Yu Gothic" pitchFamily="34" charset="-120"/>
              </a:rPr>
              <a:t>の自己完結</a:t>
            </a:r>
            <a:endParaRPr lang="en-US" sz="1000" dirty="0"/>
          </a:p>
        </p:txBody>
      </p:sp>
      <p:sp>
        <p:nvSpPr>
          <p:cNvPr id="34" name="Text 32"/>
          <p:cNvSpPr/>
          <p:nvPr/>
        </p:nvSpPr>
        <p:spPr>
          <a:xfrm>
            <a:off x="8869680" y="5349240"/>
            <a:ext cx="1417320" cy="548640"/>
          </a:xfrm>
          <a:prstGeom prst="roundRect">
            <a:avLst>
              <a:gd name="adj" fmla="val 13333"/>
            </a:avLst>
          </a:prstGeom>
          <a:solidFill>
            <a:srgbClr val="E6EBF2"/>
          </a:solidFill>
          <a:ln w="15875">
            <a:solidFill>
              <a:srgbClr val="5E7391"/>
            </a:solidFill>
            <a:prstDash val="solid"/>
          </a:ln>
        </p:spPr>
        <p:txBody>
          <a:bodyPr wrap="square" lIns="38100" tIns="38100" rIns="38100" bIns="38100" rtlCol="0" anchor="ctr"/>
          <a:lstStyle/>
          <a:p>
            <a:pPr algn="ctr" indent="0" marL="0">
              <a:buNone/>
            </a:pPr>
            <a:r>
              <a:rPr lang="en-US" sz="1000" b="1" dirty="0">
                <a:solidFill>
                  <a:srgbClr val="222B38"/>
                </a:solidFill>
                <a:latin typeface="Yu Gothic" pitchFamily="34" charset="0"/>
                <a:ea typeface="Yu Gothic" pitchFamily="34" charset="-122"/>
                <a:cs typeface="Yu Gothic" pitchFamily="34" charset="-120"/>
              </a:rPr>
              <a:t>#4 二重審議・</a:t>
            </a:r>
            <a:endParaRPr lang="en-US" sz="1000" dirty="0"/>
          </a:p>
          <a:p>
            <a:pPr algn="ctr" indent="0" marL="0">
              <a:buNone/>
            </a:pPr>
            <a:r>
              <a:rPr lang="en-US" sz="1000" b="1" dirty="0">
                <a:solidFill>
                  <a:srgbClr val="222B38"/>
                </a:solidFill>
                <a:latin typeface="Yu Gothic" pitchFamily="34" charset="0"/>
                <a:ea typeface="Yu Gothic" pitchFamily="34" charset="-122"/>
                <a:cs typeface="Yu Gothic" pitchFamily="34" charset="-120"/>
              </a:rPr>
              <a:t>承認順序の逆転</a:t>
            </a:r>
            <a:endParaRPr lang="en-US" sz="1000" dirty="0"/>
          </a:p>
        </p:txBody>
      </p:sp>
      <p:sp>
        <p:nvSpPr>
          <p:cNvPr id="35" name="Text 33"/>
          <p:cNvSpPr/>
          <p:nvPr/>
        </p:nvSpPr>
        <p:spPr>
          <a:xfrm>
            <a:off x="10424160" y="5349240"/>
            <a:ext cx="1280160" cy="548640"/>
          </a:xfrm>
          <a:prstGeom prst="roundRect">
            <a:avLst>
              <a:gd name="adj" fmla="val 13333"/>
            </a:avLst>
          </a:prstGeom>
          <a:solidFill>
            <a:srgbClr val="E6EBF2"/>
          </a:solidFill>
          <a:ln w="15875">
            <a:solidFill>
              <a:srgbClr val="5E7391"/>
            </a:solidFill>
            <a:prstDash val="solid"/>
          </a:ln>
        </p:spPr>
        <p:txBody>
          <a:bodyPr wrap="square" lIns="38100" tIns="38100" rIns="38100" bIns="38100" rtlCol="0" anchor="ctr"/>
          <a:lstStyle/>
          <a:p>
            <a:pPr algn="ctr" indent="0" marL="0">
              <a:buNone/>
            </a:pPr>
            <a:r>
              <a:rPr lang="en-US" sz="1000" b="1" dirty="0">
                <a:solidFill>
                  <a:srgbClr val="222B38"/>
                </a:solidFill>
                <a:latin typeface="Yu Gothic" pitchFamily="34" charset="0"/>
                <a:ea typeface="Yu Gothic" pitchFamily="34" charset="-122"/>
                <a:cs typeface="Yu Gothic" pitchFamily="34" charset="-120"/>
              </a:rPr>
              <a:t>#5 会議体区分</a:t>
            </a:r>
            <a:endParaRPr lang="en-US" sz="1000" dirty="0"/>
          </a:p>
          <a:p>
            <a:pPr algn="ctr" indent="0" marL="0">
              <a:buNone/>
            </a:pPr>
            <a:r>
              <a:rPr lang="en-US" sz="1000" b="1" dirty="0">
                <a:solidFill>
                  <a:srgbClr val="222B38"/>
                </a:solidFill>
                <a:latin typeface="Yu Gothic" pitchFamily="34" charset="0"/>
                <a:ea typeface="Yu Gothic" pitchFamily="34" charset="-122"/>
                <a:cs typeface="Yu Gothic" pitchFamily="34" charset="-120"/>
              </a:rPr>
              <a:t>の名目化</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現状の課題から得られる示唆</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11</a:t>
            </a:r>
            <a:endParaRPr lang="en-US" sz="1000" dirty="0"/>
          </a:p>
        </p:txBody>
      </p:sp>
      <p:sp>
        <p:nvSpPr>
          <p:cNvPr id="4" name="Shape 2"/>
          <p:cNvSpPr/>
          <p:nvPr/>
        </p:nvSpPr>
        <p:spPr>
          <a:xfrm>
            <a:off x="548640" y="1645920"/>
            <a:ext cx="11064240" cy="1463040"/>
          </a:xfrm>
          <a:prstGeom prst="rect">
            <a:avLst/>
          </a:prstGeom>
          <a:solidFill>
            <a:srgbClr val="FBFAF6"/>
          </a:solidFill>
          <a:ln w="12700">
            <a:solidFill>
              <a:srgbClr val="5E7391"/>
            </a:solidFill>
            <a:prstDash val="solid"/>
          </a:ln>
        </p:spPr>
      </p:sp>
      <p:sp>
        <p:nvSpPr>
          <p:cNvPr id="5" name="Text 3"/>
          <p:cNvSpPr/>
          <p:nvPr/>
        </p:nvSpPr>
        <p:spPr>
          <a:xfrm>
            <a:off x="868680" y="2103120"/>
            <a:ext cx="548640" cy="548640"/>
          </a:xfrm>
          <a:prstGeom prst="ellipse">
            <a:avLst/>
          </a:prstGeom>
          <a:solidFill>
            <a:srgbClr val="1C2B45"/>
          </a:solidFill>
          <a:ln>
            <a:solidFill>
              <a:srgbClr val="1C2B45"/>
            </a:solid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1</a:t>
            </a:r>
            <a:endParaRPr lang="en-US" sz="1600" dirty="0"/>
          </a:p>
        </p:txBody>
      </p:sp>
      <p:sp>
        <p:nvSpPr>
          <p:cNvPr id="6" name="Text 4"/>
          <p:cNvSpPr txBox="1"/>
          <p:nvPr/>
        </p:nvSpPr>
        <p:spPr>
          <a:xfrm>
            <a:off x="1737360" y="1828800"/>
            <a:ext cx="9601200" cy="1097280"/>
          </a:xfrm>
          <a:prstGeom prst="rect">
            <a:avLst/>
          </a:prstGeom>
          <a:noFill/>
          <a:ln/>
        </p:spPr>
        <p:txBody>
          <a:bodyPr wrap="square" lIns="0" tIns="0" rIns="0" bIns="0" rtlCol="0" anchor="ctr"/>
          <a:lstStyle/>
          <a:p>
            <a:pPr indent="0" marL="0">
              <a:buNone/>
            </a:pPr>
            <a:r>
              <a:rPr lang="en-US" sz="1800" dirty="0">
                <a:solidFill>
                  <a:srgbClr val="222B38"/>
                </a:solidFill>
                <a:latin typeface="Yu Gothic" pitchFamily="34" charset="0"/>
                <a:ea typeface="Yu Gothic" pitchFamily="34" charset="-122"/>
                <a:cs typeface="Yu Gothic" pitchFamily="34" charset="-120"/>
              </a:rPr>
              <a:t>個々の課題は教科書的だが、複数の課題が重なり、ガバナンスの空白が大きくなっている点が当社の特徴。</a:t>
            </a:r>
            <a:endParaRPr lang="en-US" sz="1800" dirty="0"/>
          </a:p>
        </p:txBody>
      </p:sp>
      <p:sp>
        <p:nvSpPr>
          <p:cNvPr id="7" name="Shape 5"/>
          <p:cNvSpPr/>
          <p:nvPr/>
        </p:nvSpPr>
        <p:spPr>
          <a:xfrm>
            <a:off x="548640" y="3474720"/>
            <a:ext cx="11064240" cy="1463040"/>
          </a:xfrm>
          <a:prstGeom prst="rect">
            <a:avLst/>
          </a:prstGeom>
          <a:solidFill>
            <a:srgbClr val="FBFAF6"/>
          </a:solidFill>
          <a:ln w="12700">
            <a:solidFill>
              <a:srgbClr val="5E7391"/>
            </a:solidFill>
            <a:prstDash val="solid"/>
          </a:ln>
        </p:spPr>
      </p:sp>
      <p:sp>
        <p:nvSpPr>
          <p:cNvPr id="8" name="Text 6"/>
          <p:cNvSpPr/>
          <p:nvPr/>
        </p:nvSpPr>
        <p:spPr>
          <a:xfrm>
            <a:off x="868680" y="3931920"/>
            <a:ext cx="548640" cy="548640"/>
          </a:xfrm>
          <a:prstGeom prst="ellipse">
            <a:avLst/>
          </a:prstGeom>
          <a:solidFill>
            <a:srgbClr val="1C2B45"/>
          </a:solidFill>
          <a:ln>
            <a:solidFill>
              <a:srgbClr val="1C2B45"/>
            </a:solid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2</a:t>
            </a:r>
            <a:endParaRPr lang="en-US" sz="1600" dirty="0"/>
          </a:p>
        </p:txBody>
      </p:sp>
      <p:sp>
        <p:nvSpPr>
          <p:cNvPr id="9" name="Text 7"/>
          <p:cNvSpPr txBox="1"/>
          <p:nvPr/>
        </p:nvSpPr>
        <p:spPr>
          <a:xfrm>
            <a:off x="1737360" y="3657600"/>
            <a:ext cx="9601200" cy="1097280"/>
          </a:xfrm>
          <a:prstGeom prst="rect">
            <a:avLst/>
          </a:prstGeom>
          <a:noFill/>
          <a:ln/>
        </p:spPr>
        <p:txBody>
          <a:bodyPr wrap="square" lIns="0" tIns="0" rIns="0" bIns="0" rtlCol="0" anchor="ctr"/>
          <a:lstStyle/>
          <a:p>
            <a:pPr indent="0" marL="0">
              <a:buNone/>
            </a:pPr>
            <a:r>
              <a:rPr lang="en-US" sz="1800" dirty="0">
                <a:solidFill>
                  <a:srgbClr val="222B38"/>
                </a:solidFill>
                <a:latin typeface="Yu Gothic" pitchFamily="34" charset="0"/>
                <a:ea typeface="Yu Gothic" pitchFamily="34" charset="-122"/>
                <a:cs typeface="Yu Gothic" pitchFamily="34" charset="-120"/>
              </a:rPr>
              <a:t>ガバナンス側だけを強化すると、申請者側の回避行動（案件分割など）がさらに増えるリスクがある。両側を同時に手当てする設計が必要。</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新モデルで解決すること：◎ 解決</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12</a:t>
            </a:r>
            <a:endParaRPr lang="en-US" sz="1000" dirty="0"/>
          </a:p>
        </p:txBody>
      </p:sp>
      <p:sp>
        <p:nvSpPr>
          <p:cNvPr id="4" name="Text 2"/>
          <p:cNvSpPr txBox="1"/>
          <p:nvPr/>
        </p:nvSpPr>
        <p:spPr>
          <a:xfrm>
            <a:off x="548640" y="1051560"/>
            <a:ext cx="10972800" cy="320040"/>
          </a:xfrm>
          <a:prstGeom prst="rect">
            <a:avLst/>
          </a:prstGeom>
          <a:noFill/>
          <a:ln/>
        </p:spPr>
        <p:txBody>
          <a:bodyPr wrap="square" lIns="0" tIns="0" rIns="0" bIns="0" rtlCol="0" anchor="t"/>
          <a:lstStyle/>
          <a:p>
            <a:pPr indent="0" marL="0">
              <a:buNone/>
            </a:pPr>
            <a:r>
              <a:rPr lang="en-US" sz="1200" dirty="0">
                <a:solidFill>
                  <a:srgbClr val="5B6675"/>
                </a:solidFill>
                <a:latin typeface="Yu Gothic" pitchFamily="34" charset="0"/>
                <a:ea typeface="Yu Gothic" pitchFamily="34" charset="-122"/>
                <a:cs typeface="Yu Gothic" pitchFamily="34" charset="-120"/>
              </a:rPr>
              <a:t>判定：◎ 解決　○ 部分的に解決（詳細設計次第）　× 対象外</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201400" cy="914400"/>
        </p:xfrm>
        <a:graphic>
          <a:graphicData uri="http://schemas.openxmlformats.org/drawingml/2006/table">
            <a:tbl>
              <a:tblPr/>
              <a:tblGrid>
                <a:gridCol w="2743200"/>
                <a:gridCol w="4206240"/>
                <a:gridCol w="4251960"/>
              </a:tblGrid>
              <a:tr h="0">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課題</a:t>
                      </a:r>
                      <a:endParaRPr lang="en-US" sz="120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新モデルでの解決の仕組み</a:t>
                      </a:r>
                      <a:endParaRPr lang="en-US" sz="120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200" b="1" dirty="0">
                          <a:solidFill>
                            <a:srgbClr val="FFFFFF"/>
                          </a:solidFill>
                          <a:latin typeface="Yu Gothic" pitchFamily="34" charset="0"/>
                          <a:ea typeface="Yu Gothic" pitchFamily="34" charset="-122"/>
                          <a:cs typeface="Yu Gothic" pitchFamily="34" charset="-120"/>
                        </a:rPr>
                        <a:t>必要な詳細設計</a:t>
                      </a:r>
                      <a:endParaRPr lang="en-US" sz="120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r>
              <a:tr h="0">
                <a:tc>
                  <a:txBody>
                    <a:bodyPr/>
                    <a:lstStyle/>
                    <a:p>
                      <a:pPr indent="0" marL="0">
                        <a:buNone/>
                      </a:pPr>
                      <a:r>
                        <a:rPr lang="en-US" sz="1200" b="1" dirty="0">
                          <a:solidFill>
                            <a:srgbClr val="222B38"/>
                          </a:solidFill>
                          <a:latin typeface="Yu Gothic" pitchFamily="34" charset="0"/>
                          <a:ea typeface="Yu Gothic" pitchFamily="34" charset="-122"/>
                          <a:cs typeface="Yu Gothic" pitchFamily="34" charset="-120"/>
                        </a:rPr>
                        <a:t>#1 シャドーIT／投資の不可視化</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全案件がTier1またはTier2を通るため、IT組織が全IT投資を把握できる</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IT投資の定義（対象範囲：SaaS、経費処理案件、保守・更新の扱い）／案件の登録方法と台帳</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00" b="1" dirty="0">
                          <a:solidFill>
                            <a:srgbClr val="222B38"/>
                          </a:solidFill>
                          <a:latin typeface="Yu Gothic" pitchFamily="34" charset="0"/>
                          <a:ea typeface="Yu Gothic" pitchFamily="34" charset="-122"/>
                          <a:cs typeface="Yu Gothic" pitchFamily="34" charset="-120"/>
                        </a:rPr>
                        <a:t>#6 免除閾値の高さ</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金額基準を撤廃し、審議免除の範囲がなくなる</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次年度以降の「Tier2直行」基準（Tier1を省略するだけで、Tier2は省略しない設計とする）</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00" b="1" dirty="0">
                          <a:solidFill>
                            <a:srgbClr val="222B38"/>
                          </a:solidFill>
                          <a:latin typeface="Yu Gothic" pitchFamily="34" charset="0"/>
                          <a:ea typeface="Yu Gothic" pitchFamily="34" charset="-122"/>
                          <a:cs typeface="Yu Gothic" pitchFamily="34" charset="-120"/>
                        </a:rPr>
                        <a:t>A3 閾値回避のための案件分割</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閾値がないため、分割・改名で審議を避ける動機がなくなる</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Tier2直行基準が新たな閾値として回避の対象にならないよう、同一目的・同一システムの合算ルールを置く</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00" b="1" dirty="0">
                          <a:solidFill>
                            <a:srgbClr val="222B38"/>
                          </a:solidFill>
                          <a:latin typeface="Yu Gothic" pitchFamily="34" charset="0"/>
                          <a:ea typeface="Yu Gothic" pitchFamily="34" charset="-122"/>
                          <a:cs typeface="Yu Gothic" pitchFamily="34" charset="-120"/>
                        </a:rPr>
                        <a:t>A2 案件類型による計画精度の差</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Tier1は詳細不要で戦略との接合性のみを見るため、計画精度の低いCTB案件でも起案できる</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Tier1の起案情報（戦略接合性の記載様式）／Tier2で求める計画精度を案件類型（継続・EOSL・CTB）ごとに定義</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00" b="1" dirty="0">
                          <a:solidFill>
                            <a:srgbClr val="222B38"/>
                          </a:solidFill>
                          <a:latin typeface="Yu Gothic" pitchFamily="34" charset="0"/>
                          <a:ea typeface="Yu Gothic" pitchFamily="34" charset="-122"/>
                          <a:cs typeface="Yu Gothic" pitchFamily="34" charset="-120"/>
                        </a:rPr>
                        <a:t>#4 二重審議・承認順序の逆転</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IT組織の関与を予算計上前（Tier2）に前倒しし、実行承認の場は決裁権により一本化</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予算承認（Tier2）と実行承認（Tier2／事業部門）の審議観点の切り分け</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200" b="1" dirty="0">
                          <a:solidFill>
                            <a:srgbClr val="222B38"/>
                          </a:solidFill>
                          <a:latin typeface="Yu Gothic" pitchFamily="34" charset="0"/>
                          <a:ea typeface="Yu Gothic" pitchFamily="34" charset="-122"/>
                          <a:cs typeface="Yu Gothic" pitchFamily="34" charset="-120"/>
                        </a:rPr>
                        <a:t>#5 会議体区分の名目化</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地域による区分を廃止し、案件の性質に応じてTier3を編成</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200" dirty="0">
                          <a:solidFill>
                            <a:srgbClr val="222B38"/>
                          </a:solidFill>
                          <a:latin typeface="Yu Gothic" pitchFamily="34" charset="0"/>
                          <a:ea typeface="Yu Gothic" pitchFamily="34" charset="-122"/>
                          <a:cs typeface="Yu Gothic" pitchFamily="34" charset="-120"/>
                        </a:rPr>
                        <a:t>Tier3の要否判断とメンバー任命の基準（グローバル標準・共通基盤・セキュリティなど）</a:t>
                      </a:r>
                      <a:endParaRPr lang="en-US" sz="12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新モデルで解決すること：○ 部分的に解決（詳細設計次第）</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13</a:t>
            </a:r>
            <a:endParaRPr lang="en-US" sz="1000" dirty="0"/>
          </a:p>
        </p:txBody>
      </p:sp>
      <p:sp>
        <p:nvSpPr>
          <p:cNvPr id="4" name="Text 2"/>
          <p:cNvSpPr txBox="1"/>
          <p:nvPr/>
        </p:nvSpPr>
        <p:spPr>
          <a:xfrm>
            <a:off x="548640" y="1051560"/>
            <a:ext cx="10972800" cy="320040"/>
          </a:xfrm>
          <a:prstGeom prst="rect">
            <a:avLst/>
          </a:prstGeom>
          <a:noFill/>
          <a:ln/>
        </p:spPr>
        <p:txBody>
          <a:bodyPr wrap="square" lIns="0" tIns="0" rIns="0" bIns="0" rtlCol="0" anchor="t"/>
          <a:lstStyle/>
          <a:p>
            <a:pPr indent="0" marL="0">
              <a:buNone/>
            </a:pPr>
            <a:r>
              <a:rPr lang="en-US" sz="1200" dirty="0">
                <a:solidFill>
                  <a:srgbClr val="5B6675"/>
                </a:solidFill>
                <a:latin typeface="Yu Gothic" pitchFamily="34" charset="0"/>
                <a:ea typeface="Yu Gothic" pitchFamily="34" charset="-122"/>
                <a:cs typeface="Yu Gothic" pitchFamily="34" charset="-120"/>
              </a:rPr>
              <a:t>判定：◎ 解決　○ 部分的に解決（詳細設計次第）　× 対象外</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201400" cy="914400"/>
        </p:xfrm>
        <a:graphic>
          <a:graphicData uri="http://schemas.openxmlformats.org/drawingml/2006/table">
            <a:tbl>
              <a:tblPr/>
              <a:tblGrid>
                <a:gridCol w="2743200"/>
                <a:gridCol w="4206240"/>
                <a:gridCol w="4251960"/>
              </a:tblGrid>
              <a:tr h="0">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課題</a:t>
                      </a:r>
                      <a:endParaRPr lang="en-US" sz="140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新モデルでの解決の仕組み</a:t>
                      </a:r>
                      <a:endParaRPr lang="en-US" sz="140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必要な詳細設計</a:t>
                      </a:r>
                      <a:endParaRPr lang="en-US" sz="140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r>
              <a:tr h="0">
                <a:tc>
                  <a:txBody>
                    <a:bodyPr/>
                    <a:lstStyle/>
                    <a:p>
                      <a:pPr indent="0" marL="0">
                        <a:buNone/>
                      </a:pPr>
                      <a:r>
                        <a:rPr lang="en-US" sz="1400" b="1" dirty="0">
                          <a:solidFill>
                            <a:srgbClr val="222B38"/>
                          </a:solidFill>
                          <a:latin typeface="Yu Gothic" pitchFamily="34" charset="0"/>
                          <a:ea typeface="Yu Gothic" pitchFamily="34" charset="-122"/>
                          <a:cs typeface="Yu Gothic" pitchFamily="34" charset="-120"/>
                        </a:rPr>
                        <a:t>#2 事業部門内承認の自己完結</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予算計上はTier2（事業部門とIT組織の合同）で承認されるため、客観チェックが入る</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決裁権を事業部門に委ねる基準／委ねた案件の報告義務と事後モニタリング（ここが緩いと旧来の自己完結が再現する）</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400" b="1" dirty="0">
                          <a:solidFill>
                            <a:srgbClr val="222B38"/>
                          </a:solidFill>
                          <a:latin typeface="Yu Gothic" pitchFamily="34" charset="0"/>
                          <a:ea typeface="Yu Gothic" pitchFamily="34" charset="-122"/>
                          <a:cs typeface="Yu Gothic" pitchFamily="34" charset="-120"/>
                        </a:rPr>
                        <a:t>#3 審議会の形骸化</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観点の異なる多段階審議と、Tier3による技術面の補完で判断材料が揃う</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各Tierの提出情報の最低要件／判断区分（承認・条件付き承認・差し戻し・否決）と基準</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400" b="1" dirty="0">
                          <a:solidFill>
                            <a:srgbClr val="222B38"/>
                          </a:solidFill>
                          <a:latin typeface="Yu Gothic" pitchFamily="34" charset="0"/>
                          <a:ea typeface="Yu Gothic" pitchFamily="34" charset="-122"/>
                          <a:cs typeface="Yu Gothic" pitchFamily="34" charset="-120"/>
                        </a:rPr>
                        <a:t>A4 審議フォーマットの不適合</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会議体の一新に合わせて、IT投資専用の様式を定める前提が整う</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Tier1・Tier2・Tier3の各様式（IT投資の審議に必要な項目を含む）</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400" b="1" dirty="0">
                          <a:solidFill>
                            <a:srgbClr val="222B38"/>
                          </a:solidFill>
                          <a:latin typeface="Yu Gothic" pitchFamily="34" charset="0"/>
                          <a:ea typeface="Yu Gothic" pitchFamily="34" charset="-122"/>
                          <a:cs typeface="Yu Gothic" pitchFamily="34" charset="-120"/>
                        </a:rPr>
                        <a:t>A6 二重の資料作成負荷</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実行承認の場が一本化され、同一案件を2つの場向けに作り直す必要がなくなる</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段階が進むごとに書き足していく一本の起案書（Tier1の記載をTier2・実行承認で引き継ぐ）</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新モデルで新たに生じる論点</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14</a:t>
            </a:r>
            <a:endParaRPr lang="en-US" sz="1000" dirty="0"/>
          </a:p>
        </p:txBody>
      </p:sp>
      <p:sp>
        <p:nvSpPr>
          <p:cNvPr id="4" name="Shape 2"/>
          <p:cNvSpPr/>
          <p:nvPr/>
        </p:nvSpPr>
        <p:spPr>
          <a:xfrm>
            <a:off x="548640" y="1280160"/>
            <a:ext cx="5440680" cy="2194560"/>
          </a:xfrm>
          <a:prstGeom prst="rect">
            <a:avLst/>
          </a:prstGeom>
          <a:solidFill>
            <a:srgbClr val="FBFAF6"/>
          </a:solidFill>
          <a:ln w="12700">
            <a:solidFill>
              <a:srgbClr val="5E7391"/>
            </a:solidFill>
            <a:prstDash val="solid"/>
          </a:ln>
        </p:spPr>
      </p:sp>
      <p:sp>
        <p:nvSpPr>
          <p:cNvPr id="5" name="Text 3"/>
          <p:cNvSpPr txBox="1"/>
          <p:nvPr/>
        </p:nvSpPr>
        <p:spPr>
          <a:xfrm>
            <a:off x="868680" y="1554480"/>
            <a:ext cx="4846320" cy="457200"/>
          </a:xfrm>
          <a:prstGeom prst="rect">
            <a:avLst/>
          </a:prstGeom>
          <a:noFill/>
          <a:ln/>
        </p:spPr>
        <p:txBody>
          <a:bodyPr wrap="square" lIns="0" tIns="0" rIns="0" bIns="0" rtlCol="0" anchor="t"/>
          <a:lstStyle/>
          <a:p>
            <a:pPr indent="0" marL="0">
              <a:buNone/>
            </a:pPr>
            <a:r>
              <a:rPr lang="en-US" sz="1900" b="1" dirty="0">
                <a:solidFill>
                  <a:srgbClr val="1C2B45"/>
                </a:solidFill>
                <a:latin typeface="Yu Gothic" pitchFamily="34" charset="0"/>
                <a:ea typeface="Yu Gothic" pitchFamily="34" charset="-122"/>
                <a:cs typeface="Yu Gothic" pitchFamily="34" charset="-120"/>
              </a:rPr>
              <a:t>会議負荷</a:t>
            </a:r>
            <a:endParaRPr lang="en-US" sz="1900" dirty="0"/>
          </a:p>
        </p:txBody>
      </p:sp>
      <p:sp>
        <p:nvSpPr>
          <p:cNvPr id="6" name="Text 4"/>
          <p:cNvSpPr txBox="1"/>
          <p:nvPr/>
        </p:nvSpPr>
        <p:spPr>
          <a:xfrm>
            <a:off x="868680" y="2148840"/>
            <a:ext cx="4846320" cy="1188720"/>
          </a:xfrm>
          <a:prstGeom prst="rect">
            <a:avLst/>
          </a:prstGeom>
          <a:noFill/>
          <a:ln/>
        </p:spPr>
        <p:txBody>
          <a:bodyPr wrap="square" lIns="0" tIns="0" rIns="0" bIns="0" rtlCol="0" anchor="t"/>
          <a:lstStyle/>
          <a:p>
            <a:pPr indent="0" marL="0">
              <a:buNone/>
            </a:pPr>
            <a:r>
              <a:rPr lang="en-US" sz="1700" dirty="0">
                <a:solidFill>
                  <a:srgbClr val="222B38"/>
                </a:solidFill>
                <a:latin typeface="Yu Gothic" pitchFamily="34" charset="0"/>
                <a:ea typeface="Yu Gothic" pitchFamily="34" charset="-122"/>
                <a:cs typeface="Yu Gothic" pitchFamily="34" charset="-120"/>
              </a:rPr>
              <a:t>初年度はTier1で全件を審議するため、件数に応じた審議方法（一括審議、ポートフォリオ単位の審議など）が必要。</a:t>
            </a:r>
            <a:endParaRPr lang="en-US" sz="1700" dirty="0"/>
          </a:p>
        </p:txBody>
      </p:sp>
      <p:sp>
        <p:nvSpPr>
          <p:cNvPr id="7" name="Shape 5"/>
          <p:cNvSpPr/>
          <p:nvPr/>
        </p:nvSpPr>
        <p:spPr>
          <a:xfrm>
            <a:off x="6172200" y="1280160"/>
            <a:ext cx="5440680" cy="2194560"/>
          </a:xfrm>
          <a:prstGeom prst="rect">
            <a:avLst/>
          </a:prstGeom>
          <a:solidFill>
            <a:srgbClr val="FBFAF6"/>
          </a:solidFill>
          <a:ln w="12700">
            <a:solidFill>
              <a:srgbClr val="5E7391"/>
            </a:solidFill>
            <a:prstDash val="solid"/>
          </a:ln>
        </p:spPr>
      </p:sp>
      <p:sp>
        <p:nvSpPr>
          <p:cNvPr id="8" name="Text 6"/>
          <p:cNvSpPr txBox="1"/>
          <p:nvPr/>
        </p:nvSpPr>
        <p:spPr>
          <a:xfrm>
            <a:off x="6492240" y="1554480"/>
            <a:ext cx="4846320" cy="457200"/>
          </a:xfrm>
          <a:prstGeom prst="rect">
            <a:avLst/>
          </a:prstGeom>
          <a:noFill/>
          <a:ln/>
        </p:spPr>
        <p:txBody>
          <a:bodyPr wrap="square" lIns="0" tIns="0" rIns="0" bIns="0" rtlCol="0" anchor="t"/>
          <a:lstStyle/>
          <a:p>
            <a:pPr indent="0" marL="0">
              <a:buNone/>
            </a:pPr>
            <a:r>
              <a:rPr lang="en-US" sz="1900" b="1" dirty="0">
                <a:solidFill>
                  <a:srgbClr val="1C2B45"/>
                </a:solidFill>
                <a:latin typeface="Yu Gothic" pitchFamily="34" charset="0"/>
                <a:ea typeface="Yu Gothic" pitchFamily="34" charset="-122"/>
                <a:cs typeface="Yu Gothic" pitchFamily="34" charset="-120"/>
              </a:rPr>
              <a:t>スケジュール</a:t>
            </a:r>
            <a:endParaRPr lang="en-US" sz="1900" dirty="0"/>
          </a:p>
        </p:txBody>
      </p:sp>
      <p:sp>
        <p:nvSpPr>
          <p:cNvPr id="9" name="Text 7"/>
          <p:cNvSpPr txBox="1"/>
          <p:nvPr/>
        </p:nvSpPr>
        <p:spPr>
          <a:xfrm>
            <a:off x="6492240" y="2148840"/>
            <a:ext cx="4846320" cy="1188720"/>
          </a:xfrm>
          <a:prstGeom prst="rect">
            <a:avLst/>
          </a:prstGeom>
          <a:noFill/>
          <a:ln/>
        </p:spPr>
        <p:txBody>
          <a:bodyPr wrap="square" lIns="0" tIns="0" rIns="0" bIns="0" rtlCol="0" anchor="t"/>
          <a:lstStyle/>
          <a:p>
            <a:pPr indent="0" marL="0">
              <a:buNone/>
            </a:pPr>
            <a:r>
              <a:rPr lang="en-US" sz="1700" dirty="0">
                <a:solidFill>
                  <a:srgbClr val="222B38"/>
                </a:solidFill>
                <a:latin typeface="Yu Gothic" pitchFamily="34" charset="0"/>
                <a:ea typeface="Yu Gothic" pitchFamily="34" charset="-122"/>
                <a:cs typeface="Yu Gothic" pitchFamily="34" charset="-120"/>
              </a:rPr>
              <a:t>予算編成前にTier1とTier2の2段階を完了させる必要があり、起案開始の時期が前倒しになる。</a:t>
            </a:r>
            <a:endParaRPr lang="en-US" sz="1700" dirty="0"/>
          </a:p>
        </p:txBody>
      </p:sp>
      <p:sp>
        <p:nvSpPr>
          <p:cNvPr id="10" name="Shape 8"/>
          <p:cNvSpPr/>
          <p:nvPr/>
        </p:nvSpPr>
        <p:spPr>
          <a:xfrm>
            <a:off x="548640" y="3749040"/>
            <a:ext cx="5440680" cy="2194560"/>
          </a:xfrm>
          <a:prstGeom prst="rect">
            <a:avLst/>
          </a:prstGeom>
          <a:solidFill>
            <a:srgbClr val="FBFAF6"/>
          </a:solidFill>
          <a:ln w="12700">
            <a:solidFill>
              <a:srgbClr val="5E7391"/>
            </a:solidFill>
            <a:prstDash val="solid"/>
          </a:ln>
        </p:spPr>
      </p:sp>
      <p:sp>
        <p:nvSpPr>
          <p:cNvPr id="11" name="Text 9"/>
          <p:cNvSpPr txBox="1"/>
          <p:nvPr/>
        </p:nvSpPr>
        <p:spPr>
          <a:xfrm>
            <a:off x="868680" y="4023360"/>
            <a:ext cx="4846320" cy="457200"/>
          </a:xfrm>
          <a:prstGeom prst="rect">
            <a:avLst/>
          </a:prstGeom>
          <a:noFill/>
          <a:ln/>
        </p:spPr>
        <p:txBody>
          <a:bodyPr wrap="square" lIns="0" tIns="0" rIns="0" bIns="0" rtlCol="0" anchor="t"/>
          <a:lstStyle/>
          <a:p>
            <a:pPr indent="0" marL="0">
              <a:buNone/>
            </a:pPr>
            <a:r>
              <a:rPr lang="en-US" sz="1900" b="1" dirty="0">
                <a:solidFill>
                  <a:srgbClr val="1C2B45"/>
                </a:solidFill>
                <a:latin typeface="Yu Gothic" pitchFamily="34" charset="0"/>
                <a:ea typeface="Yu Gothic" pitchFamily="34" charset="-122"/>
                <a:cs typeface="Yu Gothic" pitchFamily="34" charset="-120"/>
              </a:rPr>
              <a:t>決裁権の委譲が抜け穴になるリスク</a:t>
            </a:r>
            <a:endParaRPr lang="en-US" sz="1900" dirty="0"/>
          </a:p>
        </p:txBody>
      </p:sp>
      <p:sp>
        <p:nvSpPr>
          <p:cNvPr id="12" name="Text 10"/>
          <p:cNvSpPr txBox="1"/>
          <p:nvPr/>
        </p:nvSpPr>
        <p:spPr>
          <a:xfrm>
            <a:off x="868680" y="4617720"/>
            <a:ext cx="4846320" cy="1188720"/>
          </a:xfrm>
          <a:prstGeom prst="rect">
            <a:avLst/>
          </a:prstGeom>
          <a:noFill/>
          <a:ln/>
        </p:spPr>
        <p:txBody>
          <a:bodyPr wrap="square" lIns="0" tIns="0" rIns="0" bIns="0" rtlCol="0" anchor="t"/>
          <a:lstStyle/>
          <a:p>
            <a:pPr indent="0" marL="0">
              <a:buNone/>
            </a:pPr>
            <a:r>
              <a:rPr lang="en-US" sz="1700" dirty="0">
                <a:solidFill>
                  <a:srgbClr val="222B38"/>
                </a:solidFill>
                <a:latin typeface="Yu Gothic" pitchFamily="34" charset="0"/>
                <a:ea typeface="Yu Gothic" pitchFamily="34" charset="-122"/>
                <a:cs typeface="Yu Gothic" pitchFamily="34" charset="-120"/>
              </a:rPr>
              <a:t>事業部門に決裁権を委ねた案件は、実行段階で旧来と同じ自己完結の構造に戻る。#2の詳細設計が要となる。</a:t>
            </a:r>
            <a:endParaRPr lang="en-US" sz="1700" dirty="0"/>
          </a:p>
        </p:txBody>
      </p:sp>
      <p:sp>
        <p:nvSpPr>
          <p:cNvPr id="13" name="Shape 11"/>
          <p:cNvSpPr/>
          <p:nvPr/>
        </p:nvSpPr>
        <p:spPr>
          <a:xfrm>
            <a:off x="6172200" y="3749040"/>
            <a:ext cx="5440680" cy="2194560"/>
          </a:xfrm>
          <a:prstGeom prst="rect">
            <a:avLst/>
          </a:prstGeom>
          <a:solidFill>
            <a:srgbClr val="FBFAF6"/>
          </a:solidFill>
          <a:ln w="12700">
            <a:solidFill>
              <a:srgbClr val="5E7391"/>
            </a:solidFill>
            <a:prstDash val="solid"/>
          </a:ln>
        </p:spPr>
      </p:sp>
      <p:sp>
        <p:nvSpPr>
          <p:cNvPr id="14" name="Text 12"/>
          <p:cNvSpPr txBox="1"/>
          <p:nvPr/>
        </p:nvSpPr>
        <p:spPr>
          <a:xfrm>
            <a:off x="6492240" y="4023360"/>
            <a:ext cx="4846320" cy="457200"/>
          </a:xfrm>
          <a:prstGeom prst="rect">
            <a:avLst/>
          </a:prstGeom>
          <a:noFill/>
          <a:ln/>
        </p:spPr>
        <p:txBody>
          <a:bodyPr wrap="square" lIns="0" tIns="0" rIns="0" bIns="0" rtlCol="0" anchor="t"/>
          <a:lstStyle/>
          <a:p>
            <a:pPr indent="0" marL="0">
              <a:buNone/>
            </a:pPr>
            <a:r>
              <a:rPr lang="en-US" sz="1900" b="1" dirty="0">
                <a:solidFill>
                  <a:srgbClr val="1C2B45"/>
                </a:solidFill>
                <a:latin typeface="Yu Gothic" pitchFamily="34" charset="0"/>
                <a:ea typeface="Yu Gothic" pitchFamily="34" charset="-122"/>
                <a:cs typeface="Yu Gothic" pitchFamily="34" charset="-120"/>
              </a:rPr>
              <a:t>Tier3の独立性</a:t>
            </a:r>
            <a:endParaRPr lang="en-US" sz="1900" dirty="0"/>
          </a:p>
        </p:txBody>
      </p:sp>
      <p:sp>
        <p:nvSpPr>
          <p:cNvPr id="15" name="Text 13"/>
          <p:cNvSpPr txBox="1"/>
          <p:nvPr/>
        </p:nvSpPr>
        <p:spPr>
          <a:xfrm>
            <a:off x="6492240" y="4617720"/>
            <a:ext cx="4846320" cy="1188720"/>
          </a:xfrm>
          <a:prstGeom prst="rect">
            <a:avLst/>
          </a:prstGeom>
          <a:noFill/>
          <a:ln/>
        </p:spPr>
        <p:txBody>
          <a:bodyPr wrap="square" lIns="0" tIns="0" rIns="0" bIns="0" rtlCol="0" anchor="t"/>
          <a:lstStyle/>
          <a:p>
            <a:pPr indent="0" marL="0">
              <a:buNone/>
            </a:pPr>
            <a:r>
              <a:rPr lang="en-US" sz="1700" dirty="0">
                <a:solidFill>
                  <a:srgbClr val="222B38"/>
                </a:solidFill>
                <a:latin typeface="Yu Gothic" pitchFamily="34" charset="0"/>
                <a:ea typeface="Yu Gothic" pitchFamily="34" charset="-122"/>
                <a:cs typeface="Yu Gothic" pitchFamily="34" charset="-120"/>
              </a:rPr>
              <a:t>Tier2が案件ごとに任命するため、任命の基準と、利害関係者を避ける原則が必要。</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15</a:t>
            </a:r>
            <a:endParaRPr lang="en-US" sz="1000" dirty="0"/>
          </a:p>
        </p:txBody>
      </p:sp>
      <p:sp>
        <p:nvSpPr>
          <p:cNvPr id="3" name="Text 1"/>
          <p:cNvSpPr txBox="1"/>
          <p:nvPr/>
        </p:nvSpPr>
        <p:spPr>
          <a:xfrm>
            <a:off x="822960" y="2377440"/>
            <a:ext cx="10515600" cy="548640"/>
          </a:xfrm>
          <a:prstGeom prst="rect">
            <a:avLst/>
          </a:prstGeom>
          <a:noFill/>
          <a:ln/>
        </p:spPr>
        <p:txBody>
          <a:bodyPr wrap="square" lIns="0" tIns="0" rIns="0" bIns="0" rtlCol="0" anchor="t"/>
          <a:lstStyle/>
          <a:p>
            <a:pPr indent="0" marL="0">
              <a:buNone/>
            </a:pPr>
            <a:r>
              <a:rPr lang="en-US" sz="2200" b="1" dirty="0">
                <a:solidFill>
                  <a:srgbClr val="5E7391"/>
                </a:solidFill>
                <a:latin typeface="Yu Gothic" pitchFamily="34" charset="0"/>
                <a:ea typeface="Yu Gothic" pitchFamily="34" charset="-122"/>
                <a:cs typeface="Yu Gothic" pitchFamily="34" charset="-120"/>
              </a:rPr>
              <a:t>3</a:t>
            </a:r>
            <a:endParaRPr lang="en-US" sz="2200" dirty="0"/>
          </a:p>
        </p:txBody>
      </p:sp>
      <p:sp>
        <p:nvSpPr>
          <p:cNvPr id="4" name="Text 2"/>
          <p:cNvSpPr txBox="1"/>
          <p:nvPr/>
        </p:nvSpPr>
        <p:spPr>
          <a:xfrm>
            <a:off x="822960" y="2926080"/>
            <a:ext cx="10515600" cy="914400"/>
          </a:xfrm>
          <a:prstGeom prst="rect">
            <a:avLst/>
          </a:prstGeom>
          <a:noFill/>
          <a:ln/>
        </p:spPr>
        <p:txBody>
          <a:bodyPr wrap="square" lIns="0" tIns="0" rIns="0" bIns="0" rtlCol="0" anchor="ctr"/>
          <a:lstStyle/>
          <a:p>
            <a:pPr indent="0" marL="0">
              <a:buNone/>
            </a:pPr>
            <a:r>
              <a:rPr lang="en-US" sz="4000" b="1" dirty="0">
                <a:solidFill>
                  <a:srgbClr val="1C2B45"/>
                </a:solidFill>
                <a:latin typeface="Yu Gothic" pitchFamily="34" charset="0"/>
                <a:ea typeface="Yu Gothic" pitchFamily="34" charset="-122"/>
                <a:cs typeface="Yu Gothic" pitchFamily="34" charset="-120"/>
              </a:rPr>
              <a:t>新モデルで解決しないこと</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新モデルで解決しないこと（全体）</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16</a:t>
            </a:r>
            <a:endParaRPr lang="en-US" sz="1000" dirty="0"/>
          </a:p>
        </p:txBody>
      </p:sp>
      <p:sp>
        <p:nvSpPr>
          <p:cNvPr id="4" name="Text 2"/>
          <p:cNvSpPr txBox="1"/>
          <p:nvPr/>
        </p:nvSpPr>
        <p:spPr>
          <a:xfrm>
            <a:off x="548640" y="1051560"/>
            <a:ext cx="10972800" cy="3657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新しいガバナンスモデル（会議体の設計）ではカバーできない次の課題を、第3章で扱う。</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201400" cy="914400"/>
        </p:xfrm>
        <a:graphic>
          <a:graphicData uri="http://schemas.openxmlformats.org/drawingml/2006/table">
            <a:tbl>
              <a:tblPr/>
              <a:tblGrid>
                <a:gridCol w="3017520"/>
                <a:gridCol w="4114800"/>
                <a:gridCol w="4069080"/>
              </a:tblGrid>
              <a:tr h="0">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課題</a:t>
                      </a:r>
                      <a:endParaRPr lang="en-US" sz="140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新モデルで扱わない範囲</a:t>
                      </a:r>
                      <a:endParaRPr lang="en-US" sz="140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c>
                  <a:txBody>
                    <a:bodyPr/>
                    <a:lstStyle/>
                    <a:p>
                      <a:pPr indent="0" marL="0">
                        <a:buNone/>
                      </a:pPr>
                      <a:r>
                        <a:rPr lang="en-US" sz="1400" b="1" dirty="0">
                          <a:solidFill>
                            <a:srgbClr val="FFFFFF"/>
                          </a:solidFill>
                          <a:latin typeface="Yu Gothic" pitchFamily="34" charset="0"/>
                          <a:ea typeface="Yu Gothic" pitchFamily="34" charset="-122"/>
                          <a:cs typeface="Yu Gothic" pitchFamily="34" charset="-120"/>
                        </a:rPr>
                        <a:t>カバーできない理由</a:t>
                      </a:r>
                      <a:endParaRPr lang="en-US" sz="1400" dirty="0">
                        <a:latin typeface="Yu Gothic" charset="0"/>
                        <a:ea typeface="Yu Gothic" charset="0"/>
                        <a:cs typeface="Yu Gothic" charset="0"/>
                      </a:endParaRPr>
                    </a:p>
                  </a:txBody>
                  <a:tcPr marL="76200" marR="76200" marT="50800" marB="50800" anchor="ctr">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1C2B45"/>
                    </a:solidFill>
                  </a:tcPr>
                </a:tc>
              </a:tr>
              <a:tr h="0">
                <a:tc>
                  <a:txBody>
                    <a:bodyPr/>
                    <a:lstStyle/>
                    <a:p>
                      <a:pPr indent="0" marL="0">
                        <a:buNone/>
                      </a:pPr>
                      <a:r>
                        <a:rPr lang="en-US" sz="1400" b="1" dirty="0">
                          <a:solidFill>
                            <a:srgbClr val="222B38"/>
                          </a:solidFill>
                          <a:latin typeface="Yu Gothic" pitchFamily="34" charset="0"/>
                          <a:ea typeface="Yu Gothic" pitchFamily="34" charset="-122"/>
                          <a:cs typeface="Yu Gothic" pitchFamily="34" charset="-120"/>
                        </a:rPr>
                        <a:t>A1 年次予算の硬直性</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年次予算の前にTier1・Tier2を行う構造は変わらず、期中の見直しは扱わない</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予算制度（期中見直しの有無）の問題であり、会議体の設計では変えられない</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400" b="1" dirty="0">
                          <a:solidFill>
                            <a:srgbClr val="222B38"/>
                          </a:solidFill>
                          <a:latin typeface="Yu Gothic" pitchFamily="34" charset="0"/>
                          <a:ea typeface="Yu Gothic" pitchFamily="34" charset="-122"/>
                          <a:cs typeface="Yu Gothic" pitchFamily="34" charset="-120"/>
                        </a:rPr>
                        <a:t>A5 作文的な定量効果</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Tier1が戦略の接合性で優先度を決めるため効果の誇張の動機は弱まるが、効果の定義と追跡は扱わない</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効果の定義・測定・事後追跡の仕組みが必要で、承認前の審議だけでは解決しない</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r h="0">
                <a:tc>
                  <a:txBody>
                    <a:bodyPr/>
                    <a:lstStyle/>
                    <a:p>
                      <a:pPr indent="0" marL="0">
                        <a:buNone/>
                      </a:pPr>
                      <a:r>
                        <a:rPr lang="en-US" sz="1400" b="1" dirty="0">
                          <a:solidFill>
                            <a:srgbClr val="222B38"/>
                          </a:solidFill>
                          <a:latin typeface="Yu Gothic" pitchFamily="34" charset="0"/>
                          <a:ea typeface="Yu Gothic" pitchFamily="34" charset="-122"/>
                          <a:cs typeface="Yu Gothic" pitchFamily="34" charset="-120"/>
                        </a:rPr>
                        <a:t>A7 資料作成のベンダー依存とロックイン</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起案支援の担い手とベンダーへの情報開示は扱わない</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c>
                  <a:txBody>
                    <a:bodyPr/>
                    <a:lstStyle/>
                    <a:p>
                      <a:pPr indent="0" marL="0">
                        <a:buNone/>
                      </a:pPr>
                      <a:r>
                        <a:rPr lang="en-US" sz="1400" dirty="0">
                          <a:solidFill>
                            <a:srgbClr val="222B38"/>
                          </a:solidFill>
                          <a:latin typeface="Yu Gothic" pitchFamily="34" charset="0"/>
                          <a:ea typeface="Yu Gothic" pitchFamily="34" charset="-122"/>
                          <a:cs typeface="Yu Gothic" pitchFamily="34" charset="-120"/>
                        </a:rPr>
                        <a:t>社内の起案支援体制とベンダー管理の問題であり、審議の仕組みの外側にある</a:t>
                      </a:r>
                      <a:endParaRPr lang="en-US" sz="1400" dirty="0">
                        <a:latin typeface="Yu Gothic" charset="0"/>
                        <a:ea typeface="Yu Gothic" charset="0"/>
                        <a:cs typeface="Yu Gothic" charset="0"/>
                      </a:endParaRPr>
                    </a:p>
                  </a:txBody>
                  <a:tcPr marL="76200" marR="76200" marT="50800" marB="50800" anchor="t">
                    <a:lnL w="9525" cap="flat" cmpd="sng" algn="ctr">
                      <a:solidFill>
                        <a:srgbClr val="CFCABE"/>
                      </a:solidFill>
                      <a:prstDash val="solid"/>
                      <a:round/>
                      <a:headEnd type="none" w="med" len="med"/>
                      <a:tailEnd type="none" w="med" len="med"/>
                    </a:lnL>
                    <a:lnR w="9525" cap="flat" cmpd="sng" algn="ctr">
                      <a:solidFill>
                        <a:srgbClr val="CFCABE"/>
                      </a:solidFill>
                      <a:prstDash val="solid"/>
                      <a:round/>
                      <a:headEnd type="none" w="med" len="med"/>
                      <a:tailEnd type="none" w="med" len="med"/>
                    </a:lnR>
                    <a:lnT w="9525" cap="flat" cmpd="sng" algn="ctr">
                      <a:solidFill>
                        <a:srgbClr val="CFCABE"/>
                      </a:solidFill>
                      <a:prstDash val="solid"/>
                      <a:round/>
                      <a:headEnd type="none" w="med" len="med"/>
                      <a:tailEnd type="none" w="med" len="med"/>
                    </a:lnT>
                    <a:lnB w="9525" cap="flat" cmpd="sng" algn="ctr">
                      <a:solidFill>
                        <a:srgbClr val="CFCABE"/>
                      </a:solidFill>
                      <a:prstDash val="solid"/>
                      <a:round/>
                      <a:headEnd type="none" w="med" len="med"/>
                      <a:tailEnd type="none" w="med" len="med"/>
                    </a:lnB>
                    <a:solidFill>
                      <a:srgbClr val="FBFAF6"/>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ディスカッション①：A1 年次予算の硬直性</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17</a:t>
            </a:r>
            <a:endParaRPr lang="en-US" sz="10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dirty="0">
                <a:solidFill>
                  <a:srgbClr val="5B6675"/>
                </a:solidFill>
                <a:latin typeface="Yu Gothic" pitchFamily="34" charset="0"/>
                <a:ea typeface="Yu Gothic" pitchFamily="34" charset="-122"/>
                <a:cs typeface="Yu Gothic" pitchFamily="34" charset="-120"/>
              </a:rPr>
              <a:t>期中に予算を見直せないため、翌年度のIT投資をすべて予算編成前に確定させる必要がある</a:t>
            </a:r>
            <a:endParaRPr lang="en-US" sz="1500" dirty="0"/>
          </a:p>
        </p:txBody>
      </p:sp>
      <p:sp>
        <p:nvSpPr>
          <p:cNvPr id="5" name="Shape 3"/>
          <p:cNvSpPr/>
          <p:nvPr/>
        </p:nvSpPr>
        <p:spPr>
          <a:xfrm>
            <a:off x="548640" y="1645920"/>
            <a:ext cx="5440680" cy="2103120"/>
          </a:xfrm>
          <a:prstGeom prst="rect">
            <a:avLst/>
          </a:prstGeom>
          <a:solidFill>
            <a:srgbClr val="FBFAF6"/>
          </a:solidFill>
          <a:ln w="12700">
            <a:solidFill>
              <a:srgbClr val="5E7391"/>
            </a:solidFill>
            <a:prstDash val="solid"/>
          </a:ln>
        </p:spPr>
      </p:sp>
      <p:sp>
        <p:nvSpPr>
          <p:cNvPr id="6" name="Text 4"/>
          <p:cNvSpPr txBox="1"/>
          <p:nvPr/>
        </p:nvSpPr>
        <p:spPr>
          <a:xfrm>
            <a:off x="822960" y="1828800"/>
            <a:ext cx="4892040" cy="411480"/>
          </a:xfrm>
          <a:prstGeom prst="rect">
            <a:avLst/>
          </a:prstGeom>
          <a:noFill/>
          <a:ln/>
        </p:spPr>
        <p:txBody>
          <a:bodyPr wrap="square" lIns="0" tIns="0" rIns="0" bIns="0" rtlCol="0" anchor="t"/>
          <a:lstStyle/>
          <a:p>
            <a:pPr indent="0" marL="0">
              <a:buNone/>
            </a:pPr>
            <a:r>
              <a:rPr lang="en-US" sz="1600" b="1" dirty="0">
                <a:solidFill>
                  <a:srgbClr val="5E7391"/>
                </a:solidFill>
                <a:latin typeface="Yu Gothic" pitchFamily="34" charset="0"/>
                <a:ea typeface="Yu Gothic" pitchFamily="34" charset="-122"/>
                <a:cs typeface="Yu Gothic" pitchFamily="34" charset="-120"/>
              </a:rPr>
              <a:t>当社の状況</a:t>
            </a:r>
            <a:endParaRPr lang="en-US" sz="1600" dirty="0"/>
          </a:p>
        </p:txBody>
      </p:sp>
      <p:sp>
        <p:nvSpPr>
          <p:cNvPr id="7" name="Text 5"/>
          <p:cNvSpPr txBox="1"/>
          <p:nvPr/>
        </p:nvSpPr>
        <p:spPr>
          <a:xfrm>
            <a:off x="822960" y="233172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期中見直しなし。DIB時点で全計画の準備が必要</a:t>
            </a:r>
            <a:endParaRPr lang="en-US" sz="1500" dirty="0"/>
          </a:p>
        </p:txBody>
      </p:sp>
      <p:sp>
        <p:nvSpPr>
          <p:cNvPr id="8" name="Shape 6"/>
          <p:cNvSpPr/>
          <p:nvPr/>
        </p:nvSpPr>
        <p:spPr>
          <a:xfrm>
            <a:off x="6172200" y="1645920"/>
            <a:ext cx="5440680" cy="2103120"/>
          </a:xfrm>
          <a:prstGeom prst="rect">
            <a:avLst/>
          </a:prstGeom>
          <a:solidFill>
            <a:srgbClr val="FBFAF6"/>
          </a:solidFill>
          <a:ln w="12700">
            <a:solidFill>
              <a:srgbClr val="5E7391"/>
            </a:solidFill>
            <a:prstDash val="solid"/>
          </a:ln>
        </p:spPr>
      </p:sp>
      <p:sp>
        <p:nvSpPr>
          <p:cNvPr id="9" name="Text 7"/>
          <p:cNvSpPr txBox="1"/>
          <p:nvPr/>
        </p:nvSpPr>
        <p:spPr>
          <a:xfrm>
            <a:off x="6446520" y="1828800"/>
            <a:ext cx="4892040" cy="411480"/>
          </a:xfrm>
          <a:prstGeom prst="rect">
            <a:avLst/>
          </a:prstGeom>
          <a:noFill/>
          <a:ln/>
        </p:spPr>
        <p:txBody>
          <a:bodyPr wrap="square" lIns="0" tIns="0" rIns="0" bIns="0" rtlCol="0" anchor="t"/>
          <a:lstStyle/>
          <a:p>
            <a:pPr indent="0" marL="0">
              <a:buNone/>
            </a:pPr>
            <a:r>
              <a:rPr lang="en-US" sz="1600" b="1" dirty="0">
                <a:solidFill>
                  <a:srgbClr val="5E7391"/>
                </a:solidFill>
                <a:latin typeface="Yu Gothic" pitchFamily="34" charset="0"/>
                <a:ea typeface="Yu Gothic" pitchFamily="34" charset="-122"/>
                <a:cs typeface="Yu Gothic" pitchFamily="34" charset="-120"/>
              </a:rPr>
              <a:t>新モデルでカバーできない理由</a:t>
            </a:r>
            <a:endParaRPr lang="en-US" sz="1600" dirty="0"/>
          </a:p>
        </p:txBody>
      </p:sp>
      <p:sp>
        <p:nvSpPr>
          <p:cNvPr id="10" name="Text 8"/>
          <p:cNvSpPr txBox="1"/>
          <p:nvPr/>
        </p:nvSpPr>
        <p:spPr>
          <a:xfrm>
            <a:off x="6446520" y="233172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予算制度（期中見直しの有無）の問題であり、会議体の設計では変えられない。新モデルでも、年次予算の前にTier1・Tier2を行う構造は変わらない</a:t>
            </a:r>
            <a:endParaRPr lang="en-US" sz="1500" dirty="0"/>
          </a:p>
        </p:txBody>
      </p:sp>
      <p:sp>
        <p:nvSpPr>
          <p:cNvPr id="11" name="Shape 9"/>
          <p:cNvSpPr/>
          <p:nvPr/>
        </p:nvSpPr>
        <p:spPr>
          <a:xfrm>
            <a:off x="548640" y="3977640"/>
            <a:ext cx="5440680" cy="2103120"/>
          </a:xfrm>
          <a:prstGeom prst="rect">
            <a:avLst/>
          </a:prstGeom>
          <a:solidFill>
            <a:srgbClr val="FBFAF6"/>
          </a:solidFill>
          <a:ln w="12700">
            <a:solidFill>
              <a:srgbClr val="5E7391"/>
            </a:solidFill>
            <a:prstDash val="solid"/>
          </a:ln>
        </p:spPr>
      </p:sp>
      <p:sp>
        <p:nvSpPr>
          <p:cNvPr id="12" name="Text 10"/>
          <p:cNvSpPr txBox="1"/>
          <p:nvPr/>
        </p:nvSpPr>
        <p:spPr>
          <a:xfrm>
            <a:off x="822960" y="4160520"/>
            <a:ext cx="4892040" cy="411480"/>
          </a:xfrm>
          <a:prstGeom prst="rect">
            <a:avLst/>
          </a:prstGeom>
          <a:noFill/>
          <a:ln/>
        </p:spPr>
        <p:txBody>
          <a:bodyPr wrap="square" lIns="0" tIns="0" rIns="0" bIns="0" rtlCol="0" anchor="t"/>
          <a:lstStyle/>
          <a:p>
            <a:pPr indent="0" marL="0">
              <a:buNone/>
            </a:pPr>
            <a:r>
              <a:rPr lang="en-US" sz="1600" b="1" dirty="0">
                <a:solidFill>
                  <a:srgbClr val="5E7391"/>
                </a:solidFill>
                <a:latin typeface="Yu Gothic" pitchFamily="34" charset="0"/>
                <a:ea typeface="Yu Gothic" pitchFamily="34" charset="-122"/>
                <a:cs typeface="Yu Gothic" pitchFamily="34" charset="-120"/>
              </a:rPr>
              <a:t>一般的な処方箋</a:t>
            </a:r>
            <a:endParaRPr lang="en-US" sz="1600" dirty="0"/>
          </a:p>
        </p:txBody>
      </p:sp>
      <p:sp>
        <p:nvSpPr>
          <p:cNvPr id="13" name="Text 11"/>
          <p:cNvSpPr txBox="1"/>
          <p:nvPr/>
        </p:nvSpPr>
        <p:spPr>
          <a:xfrm>
            <a:off x="822960" y="466344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期中の予算見直し枠や、目的別の枠予算（ポートフォリオ枠）を設け、案件は後から枠内で承認する</a:t>
            </a:r>
            <a:endParaRPr lang="en-US" sz="1500" dirty="0"/>
          </a:p>
        </p:txBody>
      </p:sp>
      <p:sp>
        <p:nvSpPr>
          <p:cNvPr id="14" name="Shape 12"/>
          <p:cNvSpPr/>
          <p:nvPr/>
        </p:nvSpPr>
        <p:spPr>
          <a:xfrm>
            <a:off x="6172200" y="3977640"/>
            <a:ext cx="5440680" cy="2103120"/>
          </a:xfrm>
          <a:prstGeom prst="rect">
            <a:avLst/>
          </a:prstGeom>
          <a:solidFill>
            <a:srgbClr val="FBFAF6"/>
          </a:solidFill>
          <a:ln w="25400">
            <a:solidFill>
              <a:srgbClr val="1C2B45"/>
            </a:solidFill>
            <a:prstDash val="solid"/>
          </a:ln>
        </p:spPr>
      </p:sp>
      <p:sp>
        <p:nvSpPr>
          <p:cNvPr id="15" name="Text 13"/>
          <p:cNvSpPr txBox="1"/>
          <p:nvPr/>
        </p:nvSpPr>
        <p:spPr>
          <a:xfrm>
            <a:off x="6446520" y="4160520"/>
            <a:ext cx="4892040" cy="411480"/>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改善アイデア</a:t>
            </a:r>
            <a:endParaRPr lang="en-US" sz="1600" dirty="0"/>
          </a:p>
        </p:txBody>
      </p:sp>
      <p:sp>
        <p:nvSpPr>
          <p:cNvPr id="16" name="Text 14"/>
          <p:cNvSpPr txBox="1"/>
          <p:nvPr/>
        </p:nvSpPr>
        <p:spPr>
          <a:xfrm>
            <a:off x="6446520" y="466344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Intakeプロセス（案件受付）の常時運用と、四半期ごとのTier1会議の開催。年次予算では未配分の枠を確保し、四半期のTier1・Tier2で配分する</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ディスカッション②：A5 作文的な定量効果</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18</a:t>
            </a:r>
            <a:endParaRPr lang="en-US" sz="10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dirty="0">
                <a:solidFill>
                  <a:srgbClr val="5B6675"/>
                </a:solidFill>
                <a:latin typeface="Yu Gothic" pitchFamily="34" charset="0"/>
                <a:ea typeface="Yu Gothic" pitchFamily="34" charset="-122"/>
                <a:cs typeface="Yu Gothic" pitchFamily="34" charset="-120"/>
              </a:rPr>
              <a:t>実態と結びつかない効果が記載され、承認判断にも事後評価にも使えない</a:t>
            </a:r>
            <a:endParaRPr lang="en-US" sz="1500" dirty="0"/>
          </a:p>
        </p:txBody>
      </p:sp>
      <p:sp>
        <p:nvSpPr>
          <p:cNvPr id="5" name="Shape 3"/>
          <p:cNvSpPr/>
          <p:nvPr/>
        </p:nvSpPr>
        <p:spPr>
          <a:xfrm>
            <a:off x="548640" y="1645920"/>
            <a:ext cx="5440680" cy="2103120"/>
          </a:xfrm>
          <a:prstGeom prst="rect">
            <a:avLst/>
          </a:prstGeom>
          <a:solidFill>
            <a:srgbClr val="FBFAF6"/>
          </a:solidFill>
          <a:ln w="12700">
            <a:solidFill>
              <a:srgbClr val="5E7391"/>
            </a:solidFill>
            <a:prstDash val="solid"/>
          </a:ln>
        </p:spPr>
      </p:sp>
      <p:sp>
        <p:nvSpPr>
          <p:cNvPr id="6" name="Text 4"/>
          <p:cNvSpPr txBox="1"/>
          <p:nvPr/>
        </p:nvSpPr>
        <p:spPr>
          <a:xfrm>
            <a:off x="822960" y="1828800"/>
            <a:ext cx="4892040" cy="411480"/>
          </a:xfrm>
          <a:prstGeom prst="rect">
            <a:avLst/>
          </a:prstGeom>
          <a:noFill/>
          <a:ln/>
        </p:spPr>
        <p:txBody>
          <a:bodyPr wrap="square" lIns="0" tIns="0" rIns="0" bIns="0" rtlCol="0" anchor="t"/>
          <a:lstStyle/>
          <a:p>
            <a:pPr indent="0" marL="0">
              <a:buNone/>
            </a:pPr>
            <a:r>
              <a:rPr lang="en-US" sz="1600" b="1" dirty="0">
                <a:solidFill>
                  <a:srgbClr val="5E7391"/>
                </a:solidFill>
                <a:latin typeface="Yu Gothic" pitchFamily="34" charset="0"/>
                <a:ea typeface="Yu Gothic" pitchFamily="34" charset="-122"/>
                <a:cs typeface="Yu Gothic" pitchFamily="34" charset="-120"/>
              </a:rPr>
              <a:t>当社の状況</a:t>
            </a:r>
            <a:endParaRPr lang="en-US" sz="1600" dirty="0"/>
          </a:p>
        </p:txBody>
      </p:sp>
      <p:sp>
        <p:nvSpPr>
          <p:cNvPr id="7" name="Text 5"/>
          <p:cNvSpPr txBox="1"/>
          <p:nvPr/>
        </p:nvSpPr>
        <p:spPr>
          <a:xfrm>
            <a:off x="822960" y="233172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工数削減を金額換算するなど、PLに影響しない定量効果が記載される</a:t>
            </a:r>
            <a:endParaRPr lang="en-US" sz="1500" dirty="0"/>
          </a:p>
        </p:txBody>
      </p:sp>
      <p:sp>
        <p:nvSpPr>
          <p:cNvPr id="8" name="Shape 6"/>
          <p:cNvSpPr/>
          <p:nvPr/>
        </p:nvSpPr>
        <p:spPr>
          <a:xfrm>
            <a:off x="6172200" y="1645920"/>
            <a:ext cx="5440680" cy="2103120"/>
          </a:xfrm>
          <a:prstGeom prst="rect">
            <a:avLst/>
          </a:prstGeom>
          <a:solidFill>
            <a:srgbClr val="FBFAF6"/>
          </a:solidFill>
          <a:ln w="12700">
            <a:solidFill>
              <a:srgbClr val="5E7391"/>
            </a:solidFill>
            <a:prstDash val="solid"/>
          </a:ln>
        </p:spPr>
      </p:sp>
      <p:sp>
        <p:nvSpPr>
          <p:cNvPr id="9" name="Text 7"/>
          <p:cNvSpPr txBox="1"/>
          <p:nvPr/>
        </p:nvSpPr>
        <p:spPr>
          <a:xfrm>
            <a:off x="6446520" y="1828800"/>
            <a:ext cx="4892040" cy="411480"/>
          </a:xfrm>
          <a:prstGeom prst="rect">
            <a:avLst/>
          </a:prstGeom>
          <a:noFill/>
          <a:ln/>
        </p:spPr>
        <p:txBody>
          <a:bodyPr wrap="square" lIns="0" tIns="0" rIns="0" bIns="0" rtlCol="0" anchor="t"/>
          <a:lstStyle/>
          <a:p>
            <a:pPr indent="0" marL="0">
              <a:buNone/>
            </a:pPr>
            <a:r>
              <a:rPr lang="en-US" sz="1600" b="1" dirty="0">
                <a:solidFill>
                  <a:srgbClr val="5E7391"/>
                </a:solidFill>
                <a:latin typeface="Yu Gothic" pitchFamily="34" charset="0"/>
                <a:ea typeface="Yu Gothic" pitchFamily="34" charset="-122"/>
                <a:cs typeface="Yu Gothic" pitchFamily="34" charset="-120"/>
              </a:rPr>
              <a:t>新モデルでカバーできない理由</a:t>
            </a:r>
            <a:endParaRPr lang="en-US" sz="1600" dirty="0"/>
          </a:p>
        </p:txBody>
      </p:sp>
      <p:sp>
        <p:nvSpPr>
          <p:cNvPr id="10" name="Text 8"/>
          <p:cNvSpPr txBox="1"/>
          <p:nvPr/>
        </p:nvSpPr>
        <p:spPr>
          <a:xfrm>
            <a:off x="6446520" y="233172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効果の定義・測定・事後追跡の仕組みが必要で、承認前の審議だけでは解決しない。Tier1が戦略の接合性で優先度を決めるため効果の誇張の動機は弱まる</a:t>
            </a:r>
            <a:endParaRPr lang="en-US" sz="1500" dirty="0"/>
          </a:p>
        </p:txBody>
      </p:sp>
      <p:sp>
        <p:nvSpPr>
          <p:cNvPr id="11" name="Shape 9"/>
          <p:cNvSpPr/>
          <p:nvPr/>
        </p:nvSpPr>
        <p:spPr>
          <a:xfrm>
            <a:off x="548640" y="3977640"/>
            <a:ext cx="5440680" cy="2103120"/>
          </a:xfrm>
          <a:prstGeom prst="rect">
            <a:avLst/>
          </a:prstGeom>
          <a:solidFill>
            <a:srgbClr val="FBFAF6"/>
          </a:solidFill>
          <a:ln w="12700">
            <a:solidFill>
              <a:srgbClr val="5E7391"/>
            </a:solidFill>
            <a:prstDash val="solid"/>
          </a:ln>
        </p:spPr>
      </p:sp>
      <p:sp>
        <p:nvSpPr>
          <p:cNvPr id="12" name="Text 10"/>
          <p:cNvSpPr txBox="1"/>
          <p:nvPr/>
        </p:nvSpPr>
        <p:spPr>
          <a:xfrm>
            <a:off x="822960" y="4160520"/>
            <a:ext cx="4892040" cy="411480"/>
          </a:xfrm>
          <a:prstGeom prst="rect">
            <a:avLst/>
          </a:prstGeom>
          <a:noFill/>
          <a:ln/>
        </p:spPr>
        <p:txBody>
          <a:bodyPr wrap="square" lIns="0" tIns="0" rIns="0" bIns="0" rtlCol="0" anchor="t"/>
          <a:lstStyle/>
          <a:p>
            <a:pPr indent="0" marL="0">
              <a:buNone/>
            </a:pPr>
            <a:r>
              <a:rPr lang="en-US" sz="1600" b="1" dirty="0">
                <a:solidFill>
                  <a:srgbClr val="5E7391"/>
                </a:solidFill>
                <a:latin typeface="Yu Gothic" pitchFamily="34" charset="0"/>
                <a:ea typeface="Yu Gothic" pitchFamily="34" charset="-122"/>
                <a:cs typeface="Yu Gothic" pitchFamily="34" charset="-120"/>
              </a:rPr>
              <a:t>一般的な処方箋</a:t>
            </a:r>
            <a:endParaRPr lang="en-US" sz="1600" dirty="0"/>
          </a:p>
        </p:txBody>
      </p:sp>
      <p:sp>
        <p:nvSpPr>
          <p:cNvPr id="13" name="Text 11"/>
          <p:cNvSpPr txBox="1"/>
          <p:nvPr/>
        </p:nvSpPr>
        <p:spPr>
          <a:xfrm>
            <a:off x="822960" y="466344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効果を財務効果（PLに反映）と非財務効果に区分して記載させる。承認後の効果追跡（ベネフィットトラッキング）</a:t>
            </a:r>
            <a:endParaRPr lang="en-US" sz="1500" dirty="0"/>
          </a:p>
        </p:txBody>
      </p:sp>
      <p:sp>
        <p:nvSpPr>
          <p:cNvPr id="14" name="Shape 12"/>
          <p:cNvSpPr/>
          <p:nvPr/>
        </p:nvSpPr>
        <p:spPr>
          <a:xfrm>
            <a:off x="6172200" y="3977640"/>
            <a:ext cx="5440680" cy="2103120"/>
          </a:xfrm>
          <a:prstGeom prst="rect">
            <a:avLst/>
          </a:prstGeom>
          <a:solidFill>
            <a:srgbClr val="FBFAF6"/>
          </a:solidFill>
          <a:ln w="25400">
            <a:solidFill>
              <a:srgbClr val="1C2B45"/>
            </a:solidFill>
            <a:prstDash val="solid"/>
          </a:ln>
        </p:spPr>
      </p:sp>
      <p:sp>
        <p:nvSpPr>
          <p:cNvPr id="15" name="Text 13"/>
          <p:cNvSpPr txBox="1"/>
          <p:nvPr/>
        </p:nvSpPr>
        <p:spPr>
          <a:xfrm>
            <a:off x="6446520" y="4160520"/>
            <a:ext cx="4892040" cy="411480"/>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改善アイデア</a:t>
            </a:r>
            <a:endParaRPr lang="en-US" sz="1600" dirty="0"/>
          </a:p>
        </p:txBody>
      </p:sp>
      <p:sp>
        <p:nvSpPr>
          <p:cNvPr id="16" name="Text 14"/>
          <p:cNvSpPr txBox="1"/>
          <p:nvPr/>
        </p:nvSpPr>
        <p:spPr>
          <a:xfrm>
            <a:off x="6446520" y="466344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起案時に効果指標と測定方法を登録し、財務効果は事業部門の翌年度予算に織り込む。稼働後の効果レビューをTier2の定例議題にする</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indent="0" marL="0">
              <a:buNone/>
            </a:pPr>
            <a:r>
              <a:rPr lang="en-US" sz="2800" b="1" dirty="0">
                <a:solidFill>
                  <a:srgbClr val="1C2B45"/>
                </a:solidFill>
                <a:latin typeface="Yu Gothic" pitchFamily="34" charset="0"/>
                <a:ea typeface="Yu Gothic" pitchFamily="34" charset="-122"/>
                <a:cs typeface="Yu Gothic" pitchFamily="34" charset="-120"/>
              </a:rPr>
              <a:t>ディスカッション③：A7 資料作成のベンダー依存とロックイン</a:t>
            </a:r>
            <a:endParaRPr lang="en-US" sz="2800" dirty="0"/>
          </a:p>
        </p:txBody>
      </p:sp>
      <p:sp>
        <p:nvSpPr>
          <p:cNvPr id="3" name="Text 1"/>
          <p:cNvSpPr txBox="1"/>
          <p:nvPr/>
        </p:nvSpPr>
        <p:spPr>
          <a:xfrm>
            <a:off x="11155680" y="6355080"/>
            <a:ext cx="548640" cy="274320"/>
          </a:xfrm>
          <a:prstGeom prst="rect">
            <a:avLst/>
          </a:prstGeom>
          <a:noFill/>
          <a:ln/>
        </p:spPr>
        <p:txBody>
          <a:bodyPr wrap="square" lIns="0" tIns="0" rIns="0" bIns="0" rtlCol="0" anchor="ctr"/>
          <a:lstStyle/>
          <a:p>
            <a:pPr algn="r" indent="0" marL="0">
              <a:buNone/>
            </a:pPr>
            <a:r>
              <a:rPr lang="en-US" sz="1000" dirty="0">
                <a:solidFill>
                  <a:srgbClr val="5B6675"/>
                </a:solidFill>
                <a:latin typeface="Yu Gothic" pitchFamily="34" charset="0"/>
                <a:ea typeface="Yu Gothic" pitchFamily="34" charset="-122"/>
                <a:cs typeface="Yu Gothic" pitchFamily="34" charset="-120"/>
              </a:rPr>
              <a:t>19</a:t>
            </a:r>
            <a:endParaRPr lang="en-US" sz="1000" dirty="0"/>
          </a:p>
        </p:txBody>
      </p:sp>
      <p:sp>
        <p:nvSpPr>
          <p:cNvPr id="4" name="Text 2"/>
          <p:cNvSpPr txBox="1"/>
          <p:nvPr/>
        </p:nvSpPr>
        <p:spPr>
          <a:xfrm>
            <a:off x="548640" y="1051560"/>
            <a:ext cx="11064240" cy="411480"/>
          </a:xfrm>
          <a:prstGeom prst="rect">
            <a:avLst/>
          </a:prstGeom>
          <a:noFill/>
          <a:ln/>
        </p:spPr>
        <p:txBody>
          <a:bodyPr wrap="square" lIns="0" tIns="0" rIns="0" bIns="0" rtlCol="0" anchor="t"/>
          <a:lstStyle/>
          <a:p>
            <a:pPr indent="0" marL="0">
              <a:buNone/>
            </a:pPr>
            <a:r>
              <a:rPr lang="en-US" sz="1500" dirty="0">
                <a:solidFill>
                  <a:srgbClr val="5B6675"/>
                </a:solidFill>
                <a:latin typeface="Yu Gothic" pitchFamily="34" charset="0"/>
                <a:ea typeface="Yu Gothic" pitchFamily="34" charset="-122"/>
                <a:cs typeface="Yu Gothic" pitchFamily="34" charset="-120"/>
              </a:rPr>
              <a:t>起案作業を外部に委ねることで、社内情報・予算情報がベンダーに集まり交渉力が低下する</a:t>
            </a:r>
            <a:endParaRPr lang="en-US" sz="1500" dirty="0"/>
          </a:p>
        </p:txBody>
      </p:sp>
      <p:sp>
        <p:nvSpPr>
          <p:cNvPr id="5" name="Shape 3"/>
          <p:cNvSpPr/>
          <p:nvPr/>
        </p:nvSpPr>
        <p:spPr>
          <a:xfrm>
            <a:off x="548640" y="1645920"/>
            <a:ext cx="5440680" cy="2103120"/>
          </a:xfrm>
          <a:prstGeom prst="rect">
            <a:avLst/>
          </a:prstGeom>
          <a:solidFill>
            <a:srgbClr val="FBFAF6"/>
          </a:solidFill>
          <a:ln w="12700">
            <a:solidFill>
              <a:srgbClr val="5E7391"/>
            </a:solidFill>
            <a:prstDash val="solid"/>
          </a:ln>
        </p:spPr>
      </p:sp>
      <p:sp>
        <p:nvSpPr>
          <p:cNvPr id="6" name="Text 4"/>
          <p:cNvSpPr txBox="1"/>
          <p:nvPr/>
        </p:nvSpPr>
        <p:spPr>
          <a:xfrm>
            <a:off x="822960" y="1828800"/>
            <a:ext cx="4892040" cy="411480"/>
          </a:xfrm>
          <a:prstGeom prst="rect">
            <a:avLst/>
          </a:prstGeom>
          <a:noFill/>
          <a:ln/>
        </p:spPr>
        <p:txBody>
          <a:bodyPr wrap="square" lIns="0" tIns="0" rIns="0" bIns="0" rtlCol="0" anchor="t"/>
          <a:lstStyle/>
          <a:p>
            <a:pPr indent="0" marL="0">
              <a:buNone/>
            </a:pPr>
            <a:r>
              <a:rPr lang="en-US" sz="1600" b="1" dirty="0">
                <a:solidFill>
                  <a:srgbClr val="5E7391"/>
                </a:solidFill>
                <a:latin typeface="Yu Gothic" pitchFamily="34" charset="0"/>
                <a:ea typeface="Yu Gothic" pitchFamily="34" charset="-122"/>
                <a:cs typeface="Yu Gothic" pitchFamily="34" charset="-120"/>
              </a:rPr>
              <a:t>当社の状況</a:t>
            </a:r>
            <a:endParaRPr lang="en-US" sz="1600" dirty="0"/>
          </a:p>
        </p:txBody>
      </p:sp>
      <p:sp>
        <p:nvSpPr>
          <p:cNvPr id="7" name="Text 5"/>
          <p:cNvSpPr txBox="1"/>
          <p:nvPr/>
        </p:nvSpPr>
        <p:spPr>
          <a:xfrm>
            <a:off x="822960" y="233172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資料作成をベンダーに任せた結果、ベンダーが社内事情と予算に詳しくなり、ロックインが進行</a:t>
            </a:r>
            <a:endParaRPr lang="en-US" sz="1500" dirty="0"/>
          </a:p>
        </p:txBody>
      </p:sp>
      <p:sp>
        <p:nvSpPr>
          <p:cNvPr id="8" name="Shape 6"/>
          <p:cNvSpPr/>
          <p:nvPr/>
        </p:nvSpPr>
        <p:spPr>
          <a:xfrm>
            <a:off x="6172200" y="1645920"/>
            <a:ext cx="5440680" cy="2103120"/>
          </a:xfrm>
          <a:prstGeom prst="rect">
            <a:avLst/>
          </a:prstGeom>
          <a:solidFill>
            <a:srgbClr val="FBFAF6"/>
          </a:solidFill>
          <a:ln w="12700">
            <a:solidFill>
              <a:srgbClr val="5E7391"/>
            </a:solidFill>
            <a:prstDash val="solid"/>
          </a:ln>
        </p:spPr>
      </p:sp>
      <p:sp>
        <p:nvSpPr>
          <p:cNvPr id="9" name="Text 7"/>
          <p:cNvSpPr txBox="1"/>
          <p:nvPr/>
        </p:nvSpPr>
        <p:spPr>
          <a:xfrm>
            <a:off x="6446520" y="1828800"/>
            <a:ext cx="4892040" cy="411480"/>
          </a:xfrm>
          <a:prstGeom prst="rect">
            <a:avLst/>
          </a:prstGeom>
          <a:noFill/>
          <a:ln/>
        </p:spPr>
        <p:txBody>
          <a:bodyPr wrap="square" lIns="0" tIns="0" rIns="0" bIns="0" rtlCol="0" anchor="t"/>
          <a:lstStyle/>
          <a:p>
            <a:pPr indent="0" marL="0">
              <a:buNone/>
            </a:pPr>
            <a:r>
              <a:rPr lang="en-US" sz="1600" b="1" dirty="0">
                <a:solidFill>
                  <a:srgbClr val="5E7391"/>
                </a:solidFill>
                <a:latin typeface="Yu Gothic" pitchFamily="34" charset="0"/>
                <a:ea typeface="Yu Gothic" pitchFamily="34" charset="-122"/>
                <a:cs typeface="Yu Gothic" pitchFamily="34" charset="-120"/>
              </a:rPr>
              <a:t>新モデルでカバーできない理由</a:t>
            </a:r>
            <a:endParaRPr lang="en-US" sz="1600" dirty="0"/>
          </a:p>
        </p:txBody>
      </p:sp>
      <p:sp>
        <p:nvSpPr>
          <p:cNvPr id="10" name="Text 8"/>
          <p:cNvSpPr txBox="1"/>
          <p:nvPr/>
        </p:nvSpPr>
        <p:spPr>
          <a:xfrm>
            <a:off x="6446520" y="233172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社内の起案支援体制とベンダー管理の問題であり、審議の仕組みの外側にある</a:t>
            </a:r>
            <a:endParaRPr lang="en-US" sz="1500" dirty="0"/>
          </a:p>
        </p:txBody>
      </p:sp>
      <p:sp>
        <p:nvSpPr>
          <p:cNvPr id="11" name="Shape 9"/>
          <p:cNvSpPr/>
          <p:nvPr/>
        </p:nvSpPr>
        <p:spPr>
          <a:xfrm>
            <a:off x="548640" y="3977640"/>
            <a:ext cx="5440680" cy="2103120"/>
          </a:xfrm>
          <a:prstGeom prst="rect">
            <a:avLst/>
          </a:prstGeom>
          <a:solidFill>
            <a:srgbClr val="FBFAF6"/>
          </a:solidFill>
          <a:ln w="12700">
            <a:solidFill>
              <a:srgbClr val="5E7391"/>
            </a:solidFill>
            <a:prstDash val="solid"/>
          </a:ln>
        </p:spPr>
      </p:sp>
      <p:sp>
        <p:nvSpPr>
          <p:cNvPr id="12" name="Text 10"/>
          <p:cNvSpPr txBox="1"/>
          <p:nvPr/>
        </p:nvSpPr>
        <p:spPr>
          <a:xfrm>
            <a:off x="822960" y="4160520"/>
            <a:ext cx="4892040" cy="411480"/>
          </a:xfrm>
          <a:prstGeom prst="rect">
            <a:avLst/>
          </a:prstGeom>
          <a:noFill/>
          <a:ln/>
        </p:spPr>
        <p:txBody>
          <a:bodyPr wrap="square" lIns="0" tIns="0" rIns="0" bIns="0" rtlCol="0" anchor="t"/>
          <a:lstStyle/>
          <a:p>
            <a:pPr indent="0" marL="0">
              <a:buNone/>
            </a:pPr>
            <a:r>
              <a:rPr lang="en-US" sz="1600" b="1" dirty="0">
                <a:solidFill>
                  <a:srgbClr val="5E7391"/>
                </a:solidFill>
                <a:latin typeface="Yu Gothic" pitchFamily="34" charset="0"/>
                <a:ea typeface="Yu Gothic" pitchFamily="34" charset="-122"/>
                <a:cs typeface="Yu Gothic" pitchFamily="34" charset="-120"/>
              </a:rPr>
              <a:t>一般的な処方箋</a:t>
            </a:r>
            <a:endParaRPr lang="en-US" sz="1600" dirty="0"/>
          </a:p>
        </p:txBody>
      </p:sp>
      <p:sp>
        <p:nvSpPr>
          <p:cNvPr id="13" name="Text 11"/>
          <p:cNvSpPr txBox="1"/>
          <p:nvPr/>
        </p:nvSpPr>
        <p:spPr>
          <a:xfrm>
            <a:off x="822960" y="466344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社内の起案支援機能（PMO、ビジネスリレーションシップマネージャー等）の設置。ベンダーへの情報開示範囲のルール化</a:t>
            </a:r>
            <a:endParaRPr lang="en-US" sz="1500" dirty="0"/>
          </a:p>
        </p:txBody>
      </p:sp>
      <p:sp>
        <p:nvSpPr>
          <p:cNvPr id="14" name="Shape 12"/>
          <p:cNvSpPr/>
          <p:nvPr/>
        </p:nvSpPr>
        <p:spPr>
          <a:xfrm>
            <a:off x="6172200" y="3977640"/>
            <a:ext cx="5440680" cy="2103120"/>
          </a:xfrm>
          <a:prstGeom prst="rect">
            <a:avLst/>
          </a:prstGeom>
          <a:solidFill>
            <a:srgbClr val="FBFAF6"/>
          </a:solidFill>
          <a:ln w="25400">
            <a:solidFill>
              <a:srgbClr val="1C2B45"/>
            </a:solidFill>
            <a:prstDash val="solid"/>
          </a:ln>
        </p:spPr>
      </p:sp>
      <p:sp>
        <p:nvSpPr>
          <p:cNvPr id="15" name="Text 13"/>
          <p:cNvSpPr txBox="1"/>
          <p:nvPr/>
        </p:nvSpPr>
        <p:spPr>
          <a:xfrm>
            <a:off x="6446520" y="4160520"/>
            <a:ext cx="4892040" cy="411480"/>
          </a:xfrm>
          <a:prstGeom prst="rect">
            <a:avLst/>
          </a:prstGeom>
          <a:noFill/>
          <a:ln/>
        </p:spPr>
        <p:txBody>
          <a:bodyPr wrap="square" lIns="0" tIns="0" rIns="0" bIns="0" rtlCol="0" anchor="t"/>
          <a:lstStyle/>
          <a:p>
            <a:pPr indent="0" marL="0">
              <a:buNone/>
            </a:pPr>
            <a:r>
              <a:rPr lang="en-US" sz="1600" b="1" dirty="0">
                <a:solidFill>
                  <a:srgbClr val="1C2B45"/>
                </a:solidFill>
                <a:latin typeface="Yu Gothic" pitchFamily="34" charset="0"/>
                <a:ea typeface="Yu Gothic" pitchFamily="34" charset="-122"/>
                <a:cs typeface="Yu Gothic" pitchFamily="34" charset="-120"/>
              </a:rPr>
              <a:t>改善アイデア</a:t>
            </a:r>
            <a:endParaRPr lang="en-US" sz="1600" dirty="0"/>
          </a:p>
        </p:txBody>
      </p:sp>
      <p:sp>
        <p:nvSpPr>
          <p:cNvPr id="16" name="Text 14"/>
          <p:cNvSpPr txBox="1"/>
          <p:nvPr/>
        </p:nvSpPr>
        <p:spPr>
          <a:xfrm>
            <a:off x="6446520" y="4663440"/>
            <a:ext cx="4892040" cy="1280160"/>
          </a:xfrm>
          <a:prstGeom prst="rect">
            <a:avLst/>
          </a:prstGeom>
          <a:noFill/>
          <a:ln/>
        </p:spPr>
        <p:txBody>
          <a:bodyPr wrap="square" lIns="0" tIns="0" rIns="0" bIns="0" rtlCol="0" anchor="t"/>
          <a:lstStyle/>
          <a:p>
            <a:pPr indent="0" marL="0">
              <a:buNone/>
            </a:pPr>
            <a:r>
              <a:rPr lang="en-US" sz="1500" dirty="0">
                <a:solidFill>
                  <a:srgbClr val="222B38"/>
                </a:solidFill>
                <a:latin typeface="Yu Gothic" pitchFamily="34" charset="0"/>
                <a:ea typeface="Yu Gothic" pitchFamily="34" charset="-122"/>
                <a:cs typeface="Yu Gothic" pitchFamily="34" charset="-120"/>
              </a:rPr>
              <a:t>IT部門が起案書の作成を支援する窓口を設ける。起案書とベンダーの提案・見積を分離し、予算情報はベンダーに開示しないルールを定める</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新しいIT投資ガバナンスモデルに関する一考察</dc:title>
  <dc:subject>PptxGenJS Presentation</dc:subject>
  <dc:creator>PptxGenJS</dc:creator>
  <cp:lastModifiedBy>PptxGenJS</cp:lastModifiedBy>
  <cp:revision>1</cp:revision>
  <dcterms:created xsi:type="dcterms:W3CDTF">2026-09-29T02:14:10Z</dcterms:created>
  <dcterms:modified xsi:type="dcterms:W3CDTF">2026-09-29T02:14:10Z</dcterms:modified>
</cp:coreProperties>
</file>