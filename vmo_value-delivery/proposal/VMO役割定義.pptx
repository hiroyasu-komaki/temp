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vmo_deck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886054"/>
            <a:ext cx="559613" cy="55961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VMO 実務ガイド ― 内部体制の提案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VMO内部体制の再定義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86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基盤担当・受付担当（L1）の役割を、あらためて定義する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部内共有資料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本日の目的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685800"/>
            <a:ext cx="914400" cy="914400"/>
          </a:xfrm>
          <a:prstGeom prst="ellipse">
            <a:avLst/>
          </a:prstGeom>
          <a:solidFill>
            <a:srgbClr val="E8EFFC"/>
          </a:solidFill>
          <a:ln/>
        </p:spPr>
      </p:sp>
      <p:pic>
        <p:nvPicPr>
          <p:cNvPr id="5" name="Image 0" descr="/home/claude/vmo_deck/icon_purp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76" y="8138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19456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VMOの実務ガイド整備に伴い、内部の役割分担を明文化した</a:t>
            </a:r>
            <a:endParaRPr lang="en-US" sz="17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基盤担当・受付担当（L1）は、現状の実態と定義との間にギャップがある</a:t>
            </a:r>
            <a:endParaRPr lang="en-US" sz="17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今回、両者の役割を改めて定義し、共有・承認をお願いしたい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52120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本日お伝えする2つの役割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53492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基盤担当（データ基盤の提供・維持）　　受付担当＝L1（相談受付の定型業務）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VMOの内部体制 ― 4つの役割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685800"/>
            <a:ext cx="914400" cy="914400"/>
          </a:xfrm>
          <a:prstGeom prst="ellipse">
            <a:avLst/>
          </a:prstGeom>
          <a:solidFill>
            <a:srgbClr val="E8EFFC"/>
          </a:solidFill>
          <a:ln/>
        </p:spPr>
      </p:sp>
      <p:pic>
        <p:nvPicPr>
          <p:cNvPr id="5" name="Image 0" descr="/home/claude/vmo_deck/icon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76" y="8138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相談者から見えるのは「L1（相談受付）」「L2（対応）」の2つ。内部はこれを支える4つの役割に分かれる。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242316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E8EF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平時のオペレーショナル業務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944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定型業務として、日々の情報とプロセスを支える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97280" y="3429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vmo_deck/icon_heads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891" y="35186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20240" y="340156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受付担当（L1）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相談受付・案件登録、更新カレンダーに基づく声がけ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097280" y="44348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/home/claude/vmo_deck/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891" y="4524451"/>
            <a:ext cx="460858" cy="46085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920240" y="440740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基盤担当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データ基盤の提供・維持、L1/L2プロセスのオーナー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09728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同じ人材が互いにバックアップを兼ねる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263640" y="242316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53796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Adhocな個別対応（エージェント）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537960" y="2944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案件が発生したときにだけ、専門性を持って動く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537960" y="3429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vmo_deck/icon_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1" y="351861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340156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ベンダー担当（L2）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市場調査・相場提示、価格・条件交渉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537960" y="4434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4" descr="/home/claude/vmo_deck/icon_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571" y="4524451"/>
            <a:ext cx="460858" cy="46085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360920" y="440740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契約担当（L2）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契約条件・SLAの設計、リスクの洗い出し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53796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必要になった時点でL1から引き継ぐ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COLLABORATION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基盤担当とL1担当 ― 役割と連携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685800"/>
            <a:ext cx="914400" cy="914400"/>
          </a:xfrm>
          <a:prstGeom prst="ellipse">
            <a:avLst/>
          </a:prstGeom>
          <a:solidFill>
            <a:srgbClr val="E8EFFC"/>
          </a:solidFill>
          <a:ln/>
        </p:spPr>
      </p:sp>
      <p:pic>
        <p:nvPicPr>
          <p:cNvPr id="5" name="Image 0" descr="/home/claude/vmo_deck/icon_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76" y="813816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48840" y="1828800"/>
            <a:ext cx="46177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7" name="Shape 4"/>
          <p:cNvSpPr/>
          <p:nvPr/>
        </p:nvSpPr>
        <p:spPr>
          <a:xfrm>
            <a:off x="2258568" y="1906524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1" descr="/home/claude/vmo_deck/icon_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016" y="1967972"/>
            <a:ext cx="316017" cy="31601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807208" y="1828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基盤担当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903720" y="1828800"/>
            <a:ext cx="46177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1" name="Shape 7"/>
          <p:cNvSpPr/>
          <p:nvPr/>
        </p:nvSpPr>
        <p:spPr>
          <a:xfrm>
            <a:off x="7013448" y="1906524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2" descr="/home/claude/vmo_deck/icon_heads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896" y="1967972"/>
            <a:ext cx="316017" cy="31601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562088" y="1828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受付担当（L1）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2441448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個々で実行すること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2148840" y="2441448"/>
            <a:ext cx="4617720" cy="1645920"/>
          </a:xfrm>
          <a:prstGeom prst="roundRect">
            <a:avLst>
              <a:gd name="adj" fmla="val 4444"/>
            </a:avLst>
          </a:prstGeom>
          <a:solidFill>
            <a:srgbClr val="F5F7FC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2377440" y="2587752"/>
            <a:ext cx="41605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ベンダーマスタ・契約マスタのデータ整備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案件管理表・市場調査・交渉記録のデータ基盤（システム・環境）の提供と維持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入力するだけでなく、正しい状態を保ち続ける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VMOのL1/L2プロセス全体のプロセスオーナー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903720" y="2441448"/>
            <a:ext cx="4617720" cy="1645920"/>
          </a:xfrm>
          <a:prstGeom prst="roundRect">
            <a:avLst>
              <a:gd name="adj" fmla="val 4444"/>
            </a:avLst>
          </a:prstGeom>
          <a:solidFill>
            <a:srgbClr val="F5F7FC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7132320" y="2587752"/>
            <a:ext cx="41605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相談受付・案件登録（案件管理表への正しい登録）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ベンダー分類の判定、契約更新カレンダーに基づく声がけ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週次・月次の平時レビュー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IT部門メンバーとの日々の接点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4197096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連携すること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2148840" y="4197096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E8EFFC"/>
          </a:solidFill>
          <a:ln/>
        </p:spPr>
      </p:sp>
      <p:sp>
        <p:nvSpPr>
          <p:cNvPr id="21" name="Shape 16"/>
          <p:cNvSpPr/>
          <p:nvPr/>
        </p:nvSpPr>
        <p:spPr>
          <a:xfrm>
            <a:off x="2331720" y="44714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vmo_deck/icon_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2129" y="4541825"/>
            <a:ext cx="362102" cy="3621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2971800" y="4197096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社内のデータ基盤・記録を正しく理解し、L1へ共有する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903720" y="4197096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E8EFFC"/>
          </a:solidFill>
          <a:ln/>
        </p:spPr>
      </p:sp>
      <p:sp>
        <p:nvSpPr>
          <p:cNvPr id="25" name="Shape 19"/>
          <p:cNvSpPr/>
          <p:nvPr/>
        </p:nvSpPr>
        <p:spPr>
          <a:xfrm>
            <a:off x="7086600" y="44714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vmo_deck/icon_l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7009" y="4541825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726680" y="4197096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現場で起きていることを正しく理解し、基盤担当へ伝える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" y="5358384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共同すること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2148840" y="5358384"/>
            <a:ext cx="9372600" cy="9144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/>
        </p:spPr>
      </p:sp>
      <p:sp>
        <p:nvSpPr>
          <p:cNvPr id="30" name="Shape 23"/>
          <p:cNvSpPr/>
          <p:nvPr/>
        </p:nvSpPr>
        <p:spPr>
          <a:xfrm>
            <a:off x="2331720" y="5532120"/>
            <a:ext cx="566928" cy="566928"/>
          </a:xfrm>
          <a:prstGeom prst="ellipse">
            <a:avLst/>
          </a:prstGeom>
          <a:solidFill>
            <a:srgbClr val="161C4D"/>
          </a:solidFill>
          <a:ln/>
        </p:spPr>
      </p:sp>
      <p:pic>
        <p:nvPicPr>
          <p:cNvPr id="31" name="Image 5" descr="/home/claude/vmo_deck/icon_calend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1090" y="5611490"/>
            <a:ext cx="408188" cy="40818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063240" y="535838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四半期・年次レビューは、二人の共同作業。事前準備から、結果をVMOの戦略・活動計画へ反映するところまでを含む。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GROWTH PATH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受付担当（L1）の成長段階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685800"/>
            <a:ext cx="914400" cy="914400"/>
          </a:xfrm>
          <a:prstGeom prst="ellipse">
            <a:avLst/>
          </a:prstGeom>
          <a:solidFill>
            <a:srgbClr val="E8EFFC"/>
          </a:solidFill>
          <a:ln/>
        </p:spPr>
      </p:sp>
      <p:pic>
        <p:nvPicPr>
          <p:cNvPr id="5" name="Image 0" descr="/home/claude/vmo_deck/icon_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76" y="8138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3832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6027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L1定型業務の定着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393192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51560" y="40690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相談受付・案件登録・声がけを、一人で回せる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087368" y="45262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274320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29626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L1プラス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389120" y="329184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CADC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17720" y="34290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判断が難しい相談を見立て、L2へ的確に引き継げる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653528" y="45262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210312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232257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L2業務への着手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7955280" y="265176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183880" y="278892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ベンダー担当・契約担当の一部を任せられる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2960" y="534924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8EFFC"/>
          </a:solidFill>
          <a:ln/>
        </p:spPr>
      </p:sp>
      <p:sp>
        <p:nvSpPr>
          <p:cNvPr id="21" name="Shape 18"/>
          <p:cNvSpPr/>
          <p:nvPr/>
        </p:nvSpPr>
        <p:spPr>
          <a:xfrm>
            <a:off x="1051560" y="56007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1" descr="/home/claude/vmo_deck/icon_grow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70" y="5677510"/>
            <a:ext cx="395021" cy="395021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737360" y="545896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 ― スキルで測る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737360" y="58064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ここまでできるようになったら、次の役割を任せる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400800" y="534924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8EFFC"/>
          </a:solidFill>
          <a:ln/>
        </p:spPr>
      </p:sp>
      <p:sp>
        <p:nvSpPr>
          <p:cNvPr id="26" name="Shape 22"/>
          <p:cNvSpPr/>
          <p:nvPr/>
        </p:nvSpPr>
        <p:spPr>
          <a:xfrm>
            <a:off x="6629400" y="56007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2" descr="/home/claude/vmo_deck/icon_vo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210" y="5677510"/>
            <a:ext cx="395021" cy="39502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315200" y="545896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志向性 ― 1on1で確認する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0" y="58064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本人のキャリアプランとして言語化されたら、次の仕事の本質を伝えてみる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2026-09-06T02:09:27Z</dcterms:created>
  <dcterms:modified xsi:type="dcterms:W3CDTF">2026-09-06T02:09:27Z</dcterms:modified>
</cp:coreProperties>
</file>