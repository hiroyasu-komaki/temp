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04667"/>
  <p:notesSz cx="680466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2026年実績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460"/>
              </a:solidFill>
              <a:ln w="6350" cap="flat">
                <a:solidFill>
                  <a:srgbClr val="8A97A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3CAD3"/>
              </a:solidFill>
              <a:ln w="6350" cap="flat">
                <a:solidFill>
                  <a:srgbClr val="8A97A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ベンダー支出</c:v>
                </c:pt>
                <c:pt idx="1">
                  <c:v>その他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2027年予算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460"/>
              </a:solidFill>
              <a:ln w="6350" cap="flat">
                <a:solidFill>
                  <a:srgbClr val="8A97A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3CAD3"/>
              </a:solidFill>
              <a:ln w="6350" cap="flat">
                <a:solidFill>
                  <a:srgbClr val="8A97A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ベンダー支出</c:v>
                </c:pt>
                <c:pt idx="1">
                  <c:v>その他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</c:v>
                </c:pt>
                <c:pt idx="1">
                  <c:v>72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5B86B5">
                <a:alpha val="45000"/>
              </a:srgbClr>
            </a:solidFill>
            <a:ln w="25400" cap="flat">
              <a:solidFill>
                <a:srgbClr val="5B86B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B86B5"/>
              </a:solidFill>
              <a:ln w="9525" cap="flat">
                <a:solidFill>
                  <a:srgbClr val="5B86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コスト削減</c:v>
                  </c:pt>
                  <c:pt idx="1">
                    <c:v/>
                  </c:pt>
                  <c:pt idx="2">
                    <c:v>値上げの回避</c:v>
                  </c:pt>
                  <c:pt idx="3">
                    <c:v/>
                  </c:pt>
                  <c:pt idx="4">
                    <c:v>代わりの価値</c:v>
                  </c:pt>
                  <c:pt idx="5">
                    <c:v/>
                  </c:pt>
                  <c:pt idx="6">
                    <c:v>依存の低減</c:v>
                  </c:pt>
                  <c:pt idx="7">
                    <c:v/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3.6</c:v>
                </c:pt>
                <c:pt idx="1">
                  <c:v>2</c:v>
                </c:pt>
                <c:pt idx="2">
                  <c:v>2</c:v>
                </c:pt>
                <c:pt idx="3">
                  <c:v>1.5</c:v>
                </c:pt>
                <c:pt idx="4">
                  <c:v>2.2</c:v>
                </c:pt>
                <c:pt idx="5">
                  <c:v>1.5</c:v>
                </c:pt>
                <c:pt idx="6">
                  <c:v>3.4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E3B866">
                <a:alpha val="45000"/>
              </a:srgbClr>
            </a:solidFill>
            <a:ln w="25400" cap="flat">
              <a:solidFill>
                <a:srgbClr val="E3B86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3B866"/>
              </a:solidFill>
              <a:ln w="9525" cap="flat">
                <a:solidFill>
                  <a:srgbClr val="E3B8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コスト削減</c:v>
                  </c:pt>
                  <c:pt idx="1">
                    <c:v/>
                  </c:pt>
                  <c:pt idx="2">
                    <c:v>値上げの回避</c:v>
                  </c:pt>
                  <c:pt idx="3">
                    <c:v/>
                  </c:pt>
                  <c:pt idx="4">
                    <c:v>代わりの価値</c:v>
                  </c:pt>
                  <c:pt idx="5">
                    <c:v/>
                  </c:pt>
                  <c:pt idx="6">
                    <c:v>依存の低減</c:v>
                  </c:pt>
                  <c:pt idx="7">
                    <c:v/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2.4</c:v>
                </c:pt>
                <c:pt idx="1">
                  <c:v>1.8</c:v>
                </c:pt>
                <c:pt idx="2">
                  <c:v>3.6</c:v>
                </c:pt>
                <c:pt idx="3">
                  <c:v>2</c:v>
                </c:pt>
                <c:pt idx="4">
                  <c:v>4.1</c:v>
                </c:pt>
                <c:pt idx="5">
                  <c:v>2</c:v>
                </c:pt>
                <c:pt idx="6">
                  <c:v>2.2</c:v>
                </c:pt>
                <c:pt idx="7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" b="0" i="0" u="none" strike="noStrike">
                <a:solidFill>
                  <a:srgbClr val="F4F4F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majorGridlines>
          <c:spPr>
            <a:ln w="9525" cap="flat">
              <a:solidFill>
                <a:srgbClr val="9DB3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数値は仮。2026年実績・2027年予算の実値に置き換える。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購買部門と確認中。vmo_purchasing-authority_check.xlsx の確認結果にあわせて更新する。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256027"/>
          </a:xfrm>
          <a:prstGeom prst="rect">
            <a:avLst/>
          </a:prstGeom>
          <a:solidFill>
            <a:srgbClr val="F8F8F6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41732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F4E"/>
                </a:solidFill>
              </a:rPr>
              <a:t>来期のコスト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F4E"/>
                </a:solidFill>
              </a:rPr>
              <a:t>最適化に向けて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657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共創のブループリント ― IT部門と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VMOの新しいパートナーシップ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2834640" cy="914400"/>
          </a:xfrm>
          <a:prstGeom prst="rect">
            <a:avLst/>
          </a:prstGeom>
          <a:solidFill>
            <a:srgbClr val="F8F8F6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[2026年11月]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GDS</a:t>
            </a:r>
            <a:endParaRPr lang="en-US" sz="1400" dirty="0"/>
          </a:p>
        </p:txBody>
      </p:sp>
      <p:pic>
        <p:nvPicPr>
          <p:cNvPr id="7" name="Image 0" descr="設計図風の構造体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68680"/>
            <a:ext cx="4663440" cy="49994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コスト最適化は、部門全体の共通の価値観である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1783080"/>
          </a:xfrm>
          <a:prstGeom prst="rect">
            <a:avLst/>
          </a:prstGeom>
          <a:solidFill>
            <a:srgbClr val="E9ECF0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A37"/>
                </a:solidFill>
              </a:rPr>
              <a:t>「来期の方針として、我々は部門全体でコスト最適化に取り組みます。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A37"/>
                </a:solidFill>
              </a:rPr>
              <a:t>これは一部の担当者の業務ではなく、我々の組織基盤を強固にするための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A37"/>
                </a:solidFill>
              </a:rPr>
              <a:t>共通目標です。」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― IT部門長 [氏名]</a:t>
            </a:r>
            <a:endParaRPr lang="en-US" sz="1600" dirty="0"/>
          </a:p>
        </p:txBody>
      </p:sp>
      <p:pic>
        <p:nvPicPr>
          <p:cNvPr id="6" name="Image 0" descr="重なり合う2枚の板（業務要件とコスト最適化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08" y="3429000"/>
            <a:ext cx="5669280" cy="2508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6608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現場の業務要件の実現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6208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組織全体のコスト最適化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これらはトレードオフではなく、両輪である。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IT予算におけるベンダー支出の規模と影響力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F4E"/>
                </a:solidFill>
              </a:rPr>
              <a:t>IT支出の構成比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4A59"/>
                </a:solidFill>
              </a:rPr>
              <a:t>2026年実績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4A59"/>
                </a:solidFill>
              </a:rPr>
              <a:t>ベンダー支出額 120億円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4A59"/>
                </a:solidFill>
              </a:rPr>
              <a:t>構成比 25%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337560" y="210312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3375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4A59"/>
                </a:solidFill>
              </a:rPr>
              <a:t>2027年予算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15468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4A59"/>
                </a:solidFill>
              </a:rPr>
              <a:t>ベンダー支出額 150億円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4A59"/>
                </a:solidFill>
              </a:rPr>
              <a:t>構成比 28%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80760" y="1463040"/>
            <a:ext cx="0" cy="4480560"/>
          </a:xfrm>
          <a:prstGeom prst="line">
            <a:avLst/>
          </a:prstGeom>
          <a:noFill/>
          <a:ln w="12700">
            <a:solidFill>
              <a:srgbClr val="8A97A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F4E"/>
                </a:solidFill>
              </a:rPr>
              <a:t>ベンダー支出の内訳（契約区分別）</a:t>
            </a:r>
            <a:pPr indent="0" marL="0">
              <a:buNone/>
            </a:pPr>
            <a:r>
              <a:rPr lang="en-US" sz="1400" dirty="0">
                <a:solidFill>
                  <a:srgbClr val="3F4A59"/>
                </a:solidFill>
              </a:rPr>
              <a:t>　単位：億円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92240" y="2331720"/>
            <a:ext cx="0" cy="2103120"/>
          </a:xfrm>
          <a:prstGeom prst="line">
            <a:avLst/>
          </a:prstGeom>
          <a:noFill/>
          <a:ln w="12700">
            <a:solidFill>
              <a:srgbClr val="3F4A59"/>
            </a:solidFill>
            <a:prstDash val="solid"/>
          </a:ln>
        </p:spPr>
      </p:sp>
      <p:sp>
        <p:nvSpPr>
          <p:cNvPr id="13" name="seg-SaaS・ソフトウェア"/>
          <p:cNvSpPr/>
          <p:nvPr/>
        </p:nvSpPr>
        <p:spPr>
          <a:xfrm>
            <a:off x="6492240" y="2880360"/>
            <a:ext cx="2139696" cy="594360"/>
          </a:xfrm>
          <a:prstGeom prst="rect">
            <a:avLst/>
          </a:prstGeom>
          <a:solidFill>
            <a:srgbClr val="0F3460"/>
          </a:solidFill>
          <a:ln w="6350">
            <a:solidFill>
              <a:srgbClr val="6B768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214884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SaaS・ソフトウェア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65億円</a:t>
            </a:r>
            <a:endParaRPr lang="en-US" sz="1100" dirty="0"/>
          </a:p>
        </p:txBody>
      </p:sp>
      <p:sp>
        <p:nvSpPr>
          <p:cNvPr id="15" name="seg-インフラ・クラウド"/>
          <p:cNvSpPr/>
          <p:nvPr/>
        </p:nvSpPr>
        <p:spPr>
          <a:xfrm>
            <a:off x="8631936" y="2880360"/>
            <a:ext cx="1810512" cy="594360"/>
          </a:xfrm>
          <a:prstGeom prst="rect">
            <a:avLst/>
          </a:prstGeom>
          <a:solidFill>
            <a:srgbClr val="8A97A6"/>
          </a:solidFill>
          <a:ln w="6350">
            <a:solidFill>
              <a:srgbClr val="6B768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31936" y="21488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インフラ・クラウド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55億円</a:t>
            </a:r>
            <a:endParaRPr lang="en-US" sz="1100" dirty="0"/>
          </a:p>
        </p:txBody>
      </p:sp>
      <p:sp>
        <p:nvSpPr>
          <p:cNvPr id="17" name="seg-業務委託・コンサル"/>
          <p:cNvSpPr/>
          <p:nvPr/>
        </p:nvSpPr>
        <p:spPr>
          <a:xfrm>
            <a:off x="10442448" y="2880360"/>
            <a:ext cx="987552" cy="594360"/>
          </a:xfrm>
          <a:prstGeom prst="rect">
            <a:avLst/>
          </a:prstGeom>
          <a:solidFill>
            <a:srgbClr val="E8C46A"/>
          </a:solidFill>
          <a:ln w="6350">
            <a:solidFill>
              <a:srgbClr val="6B768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227564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業務委託・コンサル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4A59"/>
                </a:solidFill>
              </a:rPr>
              <a:t>30億円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組織力で臨むベンダーに対し、VMOが「交渉の層」を補完する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多層の交渉と決裁</a:t>
            </a:r>
            <a:endParaRPr lang="en-US" sz="1800" dirty="0"/>
          </a:p>
        </p:txBody>
      </p:sp>
      <p:sp>
        <p:nvSpPr>
          <p:cNvPr id="4" name="layer0"/>
          <p:cNvSpPr/>
          <p:nvPr/>
        </p:nvSpPr>
        <p:spPr>
          <a:xfrm>
            <a:off x="914400" y="1828800"/>
            <a:ext cx="3108960" cy="5669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決裁者（役員）</a:t>
            </a:r>
            <a:endParaRPr lang="en-US" sz="1600" dirty="0"/>
          </a:p>
        </p:txBody>
      </p:sp>
      <p:sp>
        <p:nvSpPr>
          <p:cNvPr id="6" name="layer1"/>
          <p:cNvSpPr/>
          <p:nvPr/>
        </p:nvSpPr>
        <p:spPr>
          <a:xfrm>
            <a:off x="914400" y="2432304"/>
            <a:ext cx="3108960" cy="5669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323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営業部門長</a:t>
            </a:r>
            <a:endParaRPr lang="en-US" sz="1600" dirty="0"/>
          </a:p>
        </p:txBody>
      </p:sp>
      <p:sp>
        <p:nvSpPr>
          <p:cNvPr id="8" name="layer2"/>
          <p:cNvSpPr/>
          <p:nvPr/>
        </p:nvSpPr>
        <p:spPr>
          <a:xfrm>
            <a:off x="914400" y="3035808"/>
            <a:ext cx="3108960" cy="5669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0358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営業マネージャー・技術担当</a:t>
            </a:r>
            <a:endParaRPr lang="en-US" sz="1600" dirty="0"/>
          </a:p>
        </p:txBody>
      </p:sp>
      <p:sp>
        <p:nvSpPr>
          <p:cNvPr id="10" name="layer3"/>
          <p:cNvSpPr/>
          <p:nvPr/>
        </p:nvSpPr>
        <p:spPr>
          <a:xfrm>
            <a:off x="914400" y="3639312"/>
            <a:ext cx="3108960" cy="5669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39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営業担当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1463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1901952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持っている情報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F4A59"/>
                </a:solidFill>
              </a:rPr>
              <a:t>技術の情報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F4A59"/>
                </a:solidFill>
              </a:rPr>
              <a:t>市場の情報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F4A59"/>
                </a:solidFill>
              </a:rPr>
              <a:t>他企業の情報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F4A59"/>
                </a:solidFill>
              </a:rPr>
              <a:t>業界団体の後ろ盾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当社側 現状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0" y="1828800"/>
            <a:ext cx="329184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F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IT担当者（＋上司など数名）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377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F4A59"/>
                </a:solidFill>
              </a:rPr>
              <a:t>・現行の業務と並行して対応する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F4A59"/>
                </a:solidFill>
              </a:rPr>
              <a:t>・情報は自社の契約と経験の範囲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F4A59"/>
                </a:solidFill>
              </a:rPr>
              <a:t>・交渉の経験は案件ごとに個人に残る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246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VMOが補うもの</a:t>
            </a:r>
            <a:endParaRPr lang="en-US" sz="1800" dirty="0"/>
          </a:p>
        </p:txBody>
      </p:sp>
      <p:sp>
        <p:nvSpPr>
          <p:cNvPr id="19" name="vmo-panel"/>
          <p:cNvSpPr/>
          <p:nvPr/>
        </p:nvSpPr>
        <p:spPr>
          <a:xfrm>
            <a:off x="5852160" y="3657600"/>
            <a:ext cx="5029200" cy="16459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3749040"/>
            <a:ext cx="1170432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07608" y="3803904"/>
            <a:ext cx="1042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F4E"/>
                </a:solidFill>
              </a:rPr>
              <a:t>情報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相場・他契約の条件・市場の動きを集めて渡す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68896" y="3749040"/>
            <a:ext cx="1170432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32904" y="3803904"/>
            <a:ext cx="1042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F4E"/>
                </a:solidFill>
              </a:rPr>
              <a:t>ノウハウ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論点・条項・進め方の型を案件ごとに持ち込む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94192" y="3749040"/>
            <a:ext cx="1170432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3803904"/>
            <a:ext cx="1042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F4E"/>
                </a:solidFill>
              </a:rPr>
              <a:t>交渉の層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調達部門とともに方針合わせと場づくりを行う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19488" y="3749040"/>
            <a:ext cx="1170432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83496" y="3803904"/>
            <a:ext cx="1042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F4E"/>
                </a:solidFill>
              </a:rPr>
              <a:t>手・足・耳・口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資料づくり、社内外の調整、情報収集、論点の整理を引き受ける</a:t>
            </a:r>
            <a:endParaRPr lang="en-US" sz="1300" dirty="0"/>
          </a:p>
        </p:txBody>
      </p:sp>
      <p:sp>
        <p:nvSpPr>
          <p:cNvPr id="28" name="beam"/>
          <p:cNvSpPr/>
          <p:nvPr/>
        </p:nvSpPr>
        <p:spPr>
          <a:xfrm rot="120000">
            <a:off x="868680" y="5440680"/>
            <a:ext cx="9921240" cy="109728"/>
          </a:xfrm>
          <a:prstGeom prst="rect">
            <a:avLst/>
          </a:prstGeom>
          <a:solidFill>
            <a:srgbClr val="C9D1DB"/>
          </a:solidFill>
          <a:ln w="6350">
            <a:solidFill>
              <a:srgbClr val="9AA5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5577840"/>
            <a:ext cx="685800" cy="594360"/>
          </a:xfrm>
          <a:prstGeom prst="triangle">
            <a:avLst/>
          </a:prstGeom>
          <a:solidFill>
            <a:srgbClr val="C3CAD3"/>
          </a:solidFill>
          <a:ln w="9525">
            <a:solidFill>
              <a:srgbClr val="8A97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737360" y="5715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5"/>
                </a:solidFill>
              </a:rPr>
              <a:t>ベンダー側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6035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当社側 現状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IT担当者の決定権を侵さず、交渉の材料と段取りをVMOが担う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659654"/>
                <a:gridCol w="3217380"/>
                <a:gridCol w="32173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IT部門の権限内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（VMOが行う）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重なり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（購買部門と確認中）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購買部門の権限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（VMOは行わない）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ベンダー・契約・費用・更新日・利用実態の台帳整備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購買が持つ契約・価格情報の提供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価格・条件の交渉の主導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解約通知期限に向けたIT担当者への声がけ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情報収集のためのベンダー接触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条件への合意（口頭を含む）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重複・余剰・集約余地の分析と予算見通し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Tier1来期会議への参加と目標の提示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見積・条件の提示とコミット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要件整理、評価基準・比較表、選定の推奨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評価結果のベンダーへの伝達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RFPの発出、発注先の決定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交渉方針の材料づくり、購買同席での技術説明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SLA未達時の書面での改善要求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発注、契約の締結・変更・解約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SOW・SLAなど契約条項の案づくりと点検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統合・巻き取りの決定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値上げ通知への回答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既存契約の範囲での運用定例とSLAの社内評価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発注前の相談の必須化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SLAクレジットや契約外作業の合意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IT部門内の運用ルール（登録、相談の推奨）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ベンダーへの「VMOが窓口」の名乗り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対象の選び方：現場の運用リスクを最優先する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88920" y="1280160"/>
            <a:ext cx="66751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cell0"/>
          <p:cNvSpPr/>
          <p:nvPr/>
        </p:nvSpPr>
        <p:spPr>
          <a:xfrm>
            <a:off x="2926080" y="1417320"/>
            <a:ext cx="3127248" cy="1645920"/>
          </a:xfrm>
          <a:prstGeom prst="rect">
            <a:avLst/>
          </a:prstGeom>
          <a:solidFill>
            <a:srgbClr val="D7E2D3"/>
          </a:solidFill>
          <a:ln w="15875">
            <a:solidFill>
              <a:srgbClr val="7C9A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17520" y="150876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37"/>
                </a:solidFill>
              </a:rPr>
              <a:t>現状維持・保護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業務影響が大きいため、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無理な変更は押し付けない。</a:t>
            </a:r>
            <a:endParaRPr lang="en-US" sz="1800" dirty="0"/>
          </a:p>
        </p:txBody>
      </p:sp>
      <p:sp>
        <p:nvSpPr>
          <p:cNvPr id="6" name="cell1"/>
          <p:cNvSpPr/>
          <p:nvPr/>
        </p:nvSpPr>
        <p:spPr>
          <a:xfrm>
            <a:off x="6172200" y="1417320"/>
            <a:ext cx="3127248" cy="1645920"/>
          </a:xfrm>
          <a:prstGeom prst="rect">
            <a:avLst/>
          </a:prstGeom>
          <a:solidFill>
            <a:srgbClr val="F6DFB5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63640" y="150876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37"/>
                </a:solidFill>
              </a:rPr>
              <a:t>慎重協議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担当者と深く相談し、リスクを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コントロールしながら進める。</a:t>
            </a:r>
            <a:endParaRPr lang="en-US" sz="1800" dirty="0"/>
          </a:p>
        </p:txBody>
      </p:sp>
      <p:sp>
        <p:nvSpPr>
          <p:cNvPr id="8" name="cell2"/>
          <p:cNvSpPr/>
          <p:nvPr/>
        </p:nvSpPr>
        <p:spPr>
          <a:xfrm>
            <a:off x="2926080" y="3172968"/>
            <a:ext cx="3127248" cy="1645920"/>
          </a:xfrm>
          <a:prstGeom prst="rect">
            <a:avLst/>
          </a:prstGeom>
          <a:solidFill>
            <a:srgbClr val="F6DFB5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3264408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37"/>
                </a:solidFill>
              </a:rPr>
              <a:t>慎重協議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担当者と深く相談し、リスクを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コントロールしながら進める。</a:t>
            </a:r>
            <a:endParaRPr lang="en-US" sz="1800" dirty="0"/>
          </a:p>
        </p:txBody>
      </p:sp>
      <p:sp>
        <p:nvSpPr>
          <p:cNvPr id="10" name="cell3"/>
          <p:cNvSpPr/>
          <p:nvPr/>
        </p:nvSpPr>
        <p:spPr>
          <a:xfrm>
            <a:off x="6172200" y="3172968"/>
            <a:ext cx="3127248" cy="1645920"/>
          </a:xfrm>
          <a:prstGeom prst="rect">
            <a:avLst/>
          </a:prstGeom>
          <a:solidFill>
            <a:srgbClr val="DCE8F5"/>
          </a:solidFill>
          <a:ln w="15875">
            <a:solidFill>
              <a:srgbClr val="7FA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3264408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37"/>
                </a:solidFill>
              </a:rPr>
              <a:t>実行推奨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4A59"/>
                </a:solidFill>
              </a:rPr>
              <a:t>積極的な最適化の対象。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 rot="16200000">
            <a:off x="9601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ベンダー依存度（低 → 高）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施策のインパクト（低 → 高）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5623560"/>
            <a:ext cx="8092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8575">
            <a:solidFill>
              <a:srgbClr val="1B2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94560" y="566928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実行の可否は、現場の事情を最もよく知る担当者と必ず相談して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決定します。無謀なコストカットは行いません。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成果の捉え方：「値下げ」だけが最適化ではない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60520" y="1645920"/>
          <a:ext cx="3886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E"/>
                </a:solidFill>
              </a:rPr>
              <a:t>Total Value</a:t>
            </a:r>
            <a:endParaRPr lang="en-US" sz="1300" dirty="0"/>
          </a:p>
        </p:txBody>
      </p:sp>
      <p:sp>
        <p:nvSpPr>
          <p:cNvPr id="5" name="measure1"/>
          <p:cNvSpPr/>
          <p:nvPr/>
        </p:nvSpPr>
        <p:spPr>
          <a:xfrm>
            <a:off x="4114800" y="102412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206240" y="107899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1. コスト削減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F4A59"/>
                </a:solidFill>
              </a:rPr>
              <a:t>単純なライセンス費や委託費の引き下げ。</a:t>
            </a:r>
            <a:endParaRPr lang="en-US" sz="1500" dirty="0"/>
          </a:p>
        </p:txBody>
      </p:sp>
      <p:sp>
        <p:nvSpPr>
          <p:cNvPr id="7" name="measure2"/>
          <p:cNvSpPr/>
          <p:nvPr/>
        </p:nvSpPr>
        <p:spPr>
          <a:xfrm>
            <a:off x="8183880" y="2971800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75320" y="30266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2. 値上げの回避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F4A59"/>
                </a:solidFill>
              </a:rPr>
              <a:t>ベンダーからの不合理な価格改定要求のブロック。</a:t>
            </a:r>
            <a:endParaRPr lang="en-US" sz="1500" dirty="0"/>
          </a:p>
        </p:txBody>
      </p:sp>
      <p:sp>
        <p:nvSpPr>
          <p:cNvPr id="9" name="measure3"/>
          <p:cNvSpPr/>
          <p:nvPr/>
        </p:nvSpPr>
        <p:spPr>
          <a:xfrm>
            <a:off x="3703320" y="5166360"/>
            <a:ext cx="4800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794760" y="522122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3. 代わりの価値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F4A59"/>
                </a:solidFill>
              </a:rPr>
              <a:t>価格維持の代わりに、サポートレベルの向上や追加機能の獲得。</a:t>
            </a:r>
            <a:endParaRPr lang="en-US" sz="1500" dirty="0"/>
          </a:p>
        </p:txBody>
      </p:sp>
      <p:sp>
        <p:nvSpPr>
          <p:cNvPr id="11" name="measure4"/>
          <p:cNvSpPr/>
          <p:nvPr/>
        </p:nvSpPr>
        <p:spPr>
          <a:xfrm>
            <a:off x="868680" y="2971800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60120" y="30266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</a:rPr>
              <a:t>4. 依存の低減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F4A59"/>
                </a:solidFill>
              </a:rPr>
              <a:t>特定ベンダーへのロックイン排除、将来的な選択肢の確保。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4400" y="6035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「うちの契約はもう下がらない」と諦める前に、別の軸で価値を引き出せないか問い直してみてください。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来期に向けたフライトプラン（11月～1月のスケジュール）</a:t>
            </a:r>
            <a:endParaRPr lang="en-US" sz="2800" dirty="0"/>
          </a:p>
        </p:txBody>
      </p:sp>
      <p:sp>
        <p:nvSpPr>
          <p:cNvPr id="3" name="band"/>
          <p:cNvSpPr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4" name="phase1"/>
          <p:cNvSpPr/>
          <p:nvPr/>
        </p:nvSpPr>
        <p:spPr>
          <a:xfrm>
            <a:off x="1325880" y="192024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2588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4E"/>
                </a:solidFill>
              </a:rPr>
              <a:t>11月～12月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2578608"/>
            <a:ext cx="2423160" cy="0"/>
          </a:xfrm>
          <a:prstGeom prst="line">
            <a:avLst/>
          </a:prstGeom>
          <a:noFill/>
          <a:ln w="12700">
            <a:solidFill>
              <a:srgbClr val="C5CC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26974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37"/>
                </a:solidFill>
              </a:rPr>
              <a:t>対象契約についての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37"/>
                </a:solidFill>
              </a:rPr>
              <a:t>個別打ち合わせ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A6EA5"/>
                </a:solidFill>
              </a:rPr>
              <a:t>VMO</a:t>
            </a:r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と担当者で、契約状況と今後の見通しをすり合わせ、方針を</a:t>
            </a:r>
            <a:pPr algn="ctr" indent="0" marL="0">
              <a:buNone/>
            </a:pPr>
            <a:r>
              <a:rPr lang="en-US" sz="1200" b="1" dirty="0">
                <a:solidFill>
                  <a:srgbClr val="D9A23A"/>
                </a:solidFill>
              </a:rPr>
              <a:t>「一緒に」</a:t>
            </a:r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決めます。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990088"/>
            <a:ext cx="411480" cy="411480"/>
          </a:xfrm>
          <a:prstGeom prst="chevron">
            <a:avLst/>
          </a:prstGeom>
          <a:solidFill>
            <a:srgbClr val="FFFFFF"/>
          </a:solidFill>
          <a:ln/>
        </p:spPr>
      </p:sp>
      <p:sp>
        <p:nvSpPr>
          <p:cNvPr id="9" name="phase2"/>
          <p:cNvSpPr/>
          <p:nvPr/>
        </p:nvSpPr>
        <p:spPr>
          <a:xfrm>
            <a:off x="4709160" y="192024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916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4E"/>
                </a:solidFill>
              </a:rPr>
              <a:t>12月～1月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2578608"/>
            <a:ext cx="2423160" cy="0"/>
          </a:xfrm>
          <a:prstGeom prst="line">
            <a:avLst/>
          </a:prstGeom>
          <a:noFill/>
          <a:ln w="12700">
            <a:solidFill>
              <a:srgbClr val="C5CC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6974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戦略の立案と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ベンダー交渉フェーズ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990088"/>
            <a:ext cx="411480" cy="411480"/>
          </a:xfrm>
          <a:prstGeom prst="chevron">
            <a:avLst/>
          </a:prstGeom>
          <a:solidFill>
            <a:srgbClr val="FFFFFF"/>
          </a:solidFill>
          <a:ln/>
        </p:spPr>
      </p:sp>
      <p:sp>
        <p:nvSpPr>
          <p:cNvPr id="14" name="phase3"/>
          <p:cNvSpPr/>
          <p:nvPr/>
        </p:nvSpPr>
        <p:spPr>
          <a:xfrm>
            <a:off x="8092440" y="192024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9244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4E"/>
                </a:solidFill>
              </a:rPr>
              <a:t>1月以降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75320" y="2578608"/>
            <a:ext cx="2423160" cy="0"/>
          </a:xfrm>
          <a:prstGeom prst="line">
            <a:avLst/>
          </a:prstGeom>
          <a:noFill/>
          <a:ln w="12700">
            <a:solidFill>
              <a:srgbClr val="C5CC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6974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来期予算への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反映・契約化</a:t>
            </a:r>
            <a:endParaRPr lang="en-US" sz="1600" dirty="0"/>
          </a:p>
        </p:txBody>
      </p:sp>
      <p:sp>
        <p:nvSpPr>
          <p:cNvPr id="18" name="focus-zone"/>
          <p:cNvSpPr/>
          <p:nvPr/>
        </p:nvSpPr>
        <p:spPr>
          <a:xfrm>
            <a:off x="1097280" y="1600200"/>
            <a:ext cx="3246120" cy="3794760"/>
          </a:xfrm>
          <a:prstGeom prst="rect">
            <a:avLst/>
          </a:prstGeom>
          <a:ln w="38100">
            <a:solidFill>
              <a:srgbClr val="D9A2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11704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23A"/>
                </a:solidFill>
              </a:rPr>
              <a:t>Focus Zone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94415" cy="365760"/>
          </a:xfrm>
          <a:prstGeom prst="rightArrow">
            <a:avLst/>
          </a:prstGeom>
          <a:solidFill>
            <a:srgbClr val="1B2F4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あなたの契約を可視化する計器盤：マスタデータの活用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15568"/>
            <a:ext cx="10362895" cy="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1188720"/>
            <a:ext cx="4434840" cy="5029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86200" y="1188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対象額: 50億円 / 契約数: 120 / ベンダー数: 45</a:t>
            </a:r>
            <a:endParaRPr lang="en-US" sz="1500" dirty="0"/>
          </a:p>
        </p:txBody>
      </p:sp>
      <p:pic>
        <p:nvPicPr>
          <p:cNvPr id="6" name="Image 0" descr="契約マスタのダッシュボード画面のイメー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920240"/>
            <a:ext cx="4617720" cy="31682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2148840"/>
            <a:ext cx="2240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F4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8992" y="1993392"/>
            <a:ext cx="310896" cy="310896"/>
          </a:xfrm>
          <a:prstGeom prst="ellipse">
            <a:avLst/>
          </a:prstGeom>
          <a:solidFill>
            <a:srgbClr val="1B2F4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7899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解約通知期限</a:t>
            </a:r>
            <a:endParaRPr lang="en-US" sz="17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アクションのタイムリミット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78240" y="306324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F4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22792" y="2907792"/>
            <a:ext cx="310896" cy="310896"/>
          </a:xfrm>
          <a:prstGeom prst="ellipse">
            <a:avLst/>
          </a:prstGeom>
          <a:solidFill>
            <a:srgbClr val="1B2F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2279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063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更新方式</a:t>
            </a:r>
            <a:endParaRPr lang="en-US" sz="17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自動更新のリスク確認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417320" y="416052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F4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61872" y="4005072"/>
            <a:ext cx="310896" cy="310896"/>
          </a:xfrm>
          <a:prstGeom prst="ellipse">
            <a:avLst/>
          </a:prstGeom>
          <a:solidFill>
            <a:srgbClr val="1B2F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61872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契約形態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474720" y="2560320"/>
            <a:ext cx="1097280" cy="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55280" y="3474720"/>
            <a:ext cx="822960" cy="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20440" y="4480560"/>
            <a:ext cx="777240" cy="-77724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5088509"/>
            <a:ext cx="0" cy="535051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5623560"/>
            <a:ext cx="10469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F4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60120" y="562356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マスタの公開場所：社内ポータル &gt; VMOダッシュボード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見方やアクセスに関するお問い合わせ：基盤担当へ。まずはご自身の担当契約をご確認ください。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Tier戦略とガバナンス：仕組みで回すベンダー管理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15568"/>
            <a:ext cx="10362895" cy="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417320"/>
            <a:ext cx="6903720" cy="4572000"/>
          </a:xfrm>
          <a:prstGeom prst="rect">
            <a:avLst/>
          </a:prstGeom>
          <a:solidFill>
            <a:srgbClr val="F8F8F6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5623560"/>
            <a:ext cx="0" cy="-4023360"/>
          </a:xfrm>
          <a:prstGeom prst="line">
            <a:avLst/>
          </a:prstGeom>
          <a:noFill/>
          <a:ln w="19050">
            <a:solidFill>
              <a:srgbClr val="1B2F4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63040" y="5623560"/>
            <a:ext cx="6400800" cy="0"/>
          </a:xfrm>
          <a:prstGeom prst="line">
            <a:avLst/>
          </a:prstGeom>
          <a:noFill/>
          <a:ln w="19050">
            <a:solidFill>
              <a:srgbClr val="1B2F4E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 rot="16200000">
            <a:off x="-13716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取引額（低 → 高）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6126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戦略的重要度（低 → 高）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6002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60020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Tier 2: Collaborative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（協業パートナー）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継続的改善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60020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Tier 1: Strategic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（戦略的パートナー）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深い協業とイノベーション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91640" y="361188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83080" y="36118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Tier 4: Commodity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（コモディティ）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自動化とコスト最小化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361188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6118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Tier 3: Operational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F4E"/>
                </a:solidFill>
              </a:rPr>
              <a:t>（運用パートナー）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効率化と標準化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2880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0" y="1600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会議体（ガバナンス）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CD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49640" y="2194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参加者: VMO,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調達部門, IT担当者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0" y="3337560"/>
            <a:ext cx="2514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CD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4964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頻度: 月1回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0" y="425196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CD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549640" y="4251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議題: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・取引方針のレビュー、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・リスク評価のアップデート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相談窓口のサービスメニュー：あらゆるフェーズで支援します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15568"/>
            <a:ext cx="10362895" cy="0"/>
          </a:xfrm>
          <a:prstGeom prst="line">
            <a:avLst/>
          </a:prstGeom>
          <a:noFill/>
          <a:ln w="15875">
            <a:solidFill>
              <a:srgbClr val="1B2F4E"/>
            </a:solidFill>
            <a:prstDash val="solid"/>
          </a:ln>
        </p:spPr>
      </p:sp>
      <p:sp>
        <p:nvSpPr>
          <p:cNvPr id="4" name="phase1"/>
          <p:cNvSpPr/>
          <p:nvPr/>
        </p:nvSpPr>
        <p:spPr>
          <a:xfrm>
            <a:off x="777240" y="3520440"/>
            <a:ext cx="2880360" cy="1097280"/>
          </a:xfrm>
          <a:prstGeom prst="chevron">
            <a:avLst/>
          </a:prstGeom>
          <a:solidFill>
            <a:srgbClr val="FFFFFF"/>
          </a:solidFill>
          <a:ln w="25400">
            <a:solidFill>
              <a:srgbClr val="1B2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1. 探索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2697480"/>
            <a:ext cx="411480" cy="777240"/>
          </a:xfrm>
          <a:prstGeom prst="downArrow">
            <a:avLst/>
          </a:prstGeom>
          <a:solidFill>
            <a:srgbClr val="2F4F6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288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「新しい要件を満たす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ツールを探している…」</a:t>
            </a:r>
            <a:endParaRPr lang="en-US" sz="1300" dirty="0"/>
          </a:p>
        </p:txBody>
      </p:sp>
      <p:sp>
        <p:nvSpPr>
          <p:cNvPr id="9" name="phase2"/>
          <p:cNvSpPr/>
          <p:nvPr/>
        </p:nvSpPr>
        <p:spPr>
          <a:xfrm>
            <a:off x="3474720" y="3520440"/>
            <a:ext cx="2880360" cy="1097280"/>
          </a:xfrm>
          <a:prstGeom prst="chevron">
            <a:avLst/>
          </a:prstGeom>
          <a:solidFill>
            <a:srgbClr val="FFFFFF"/>
          </a:solidFill>
          <a:ln w="25400">
            <a:solidFill>
              <a:srgbClr val="1B2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2. 選定・契約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2697480"/>
            <a:ext cx="411480" cy="777240"/>
          </a:xfrm>
          <a:prstGeom prst="downArrow">
            <a:avLst/>
          </a:prstGeom>
          <a:solidFill>
            <a:srgbClr val="2F4F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18288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5760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「契約書のこの条件、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妥当なのか分からない…」</a:t>
            </a:r>
            <a:endParaRPr lang="en-US" sz="1300" dirty="0"/>
          </a:p>
        </p:txBody>
      </p:sp>
      <p:sp>
        <p:nvSpPr>
          <p:cNvPr id="14" name="phase3"/>
          <p:cNvSpPr/>
          <p:nvPr/>
        </p:nvSpPr>
        <p:spPr>
          <a:xfrm>
            <a:off x="6172200" y="3520440"/>
            <a:ext cx="2880360" cy="1097280"/>
          </a:xfrm>
          <a:prstGeom prst="chevron">
            <a:avLst/>
          </a:prstGeom>
          <a:solidFill>
            <a:srgbClr val="FFFFFF"/>
          </a:solidFill>
          <a:ln w="25400">
            <a:solidFill>
              <a:srgbClr val="1B2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3. 運用・改善</a:t>
            </a:r>
            <a:endParaRPr lang="en-US" sz="1800" dirty="0"/>
          </a:p>
        </p:txBody>
      </p:sp>
      <p:sp>
        <p:nvSpPr>
          <p:cNvPr id="16" name="phase4"/>
          <p:cNvSpPr/>
          <p:nvPr/>
        </p:nvSpPr>
        <p:spPr>
          <a:xfrm>
            <a:off x="8869680" y="3520440"/>
            <a:ext cx="2880360" cy="1097280"/>
          </a:xfrm>
          <a:prstGeom prst="chevron">
            <a:avLst/>
          </a:prstGeom>
          <a:solidFill>
            <a:srgbClr val="FFFFFF"/>
          </a:solidFill>
          <a:ln w="25400">
            <a:solidFill>
              <a:srgbClr val="1B2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</a:rPr>
              <a:t>4. 見直し・転換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104120" y="2697480"/>
            <a:ext cx="411480" cy="777240"/>
          </a:xfrm>
          <a:prstGeom prst="downArrow">
            <a:avLst/>
          </a:prstGeom>
          <a:solidFill>
            <a:srgbClr val="2F4F6E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8288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5256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「突然、大幅な値上げの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連絡が来た！」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394960"/>
            <a:ext cx="10469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F4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539496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37"/>
                </a:solidFill>
              </a:rPr>
              <a:t>どのフェーズにいても、課題を感じたらすぐにVMO窓口へご相談ください。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最適化のエコシステム：持続可能な価値創出のサイクル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4415" cy="5257800"/>
          </a:xfrm>
          <a:prstGeom prst="rect">
            <a:avLst/>
          </a:prstGeom>
          <a:solidFill>
            <a:srgbClr val="F8F8F6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36220" y="2655906"/>
            <a:ext cx="1678000" cy="1957667"/>
          </a:xfrm>
          <a:prstGeom prst="line">
            <a:avLst/>
          </a:prstGeom>
          <a:noFill/>
          <a:ln w="635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7589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相談窓口へ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4178808" y="5234940"/>
            <a:ext cx="3849624" cy="0"/>
          </a:xfrm>
          <a:prstGeom prst="line">
            <a:avLst/>
          </a:prstGeom>
          <a:noFill/>
          <a:ln w="635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40680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成果の獲得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V="1">
            <a:off x="3893020" y="2655906"/>
            <a:ext cx="1678000" cy="1957667"/>
          </a:xfrm>
          <a:prstGeom prst="line">
            <a:avLst/>
          </a:prstGeom>
          <a:noFill/>
          <a:ln w="635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9" name="node-top"/>
          <p:cNvSpPr/>
          <p:nvPr/>
        </p:nvSpPr>
        <p:spPr>
          <a:xfrm>
            <a:off x="5394960" y="1325880"/>
            <a:ext cx="1417320" cy="14173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1B2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04688" y="1435608"/>
            <a:ext cx="1197864" cy="1197864"/>
          </a:xfrm>
          <a:prstGeom prst="ellipse">
            <a:avLst/>
          </a:prstGeom>
          <a:ln w="25400">
            <a:solidFill>
              <a:srgbClr val="D9A2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13258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問いの発見</a:t>
            </a:r>
            <a:endParaRPr lang="en-US" sz="1600" dirty="0"/>
          </a:p>
        </p:txBody>
      </p:sp>
      <p:sp>
        <p:nvSpPr>
          <p:cNvPr id="12" name="node-br"/>
          <p:cNvSpPr/>
          <p:nvPr/>
        </p:nvSpPr>
        <p:spPr>
          <a:xfrm>
            <a:off x="8138160" y="4526280"/>
            <a:ext cx="1417320" cy="14173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1B2F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4636008"/>
            <a:ext cx="1197864" cy="1197864"/>
          </a:xfrm>
          <a:prstGeom prst="ellipse">
            <a:avLst/>
          </a:prstGeom>
          <a:ln w="25400">
            <a:solidFill>
              <a:srgbClr val="D9A2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45262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共創の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戦略立案</a:t>
            </a:r>
            <a:endParaRPr lang="en-US" sz="1600" dirty="0"/>
          </a:p>
        </p:txBody>
      </p:sp>
      <p:sp>
        <p:nvSpPr>
          <p:cNvPr id="15" name="node-bl"/>
          <p:cNvSpPr/>
          <p:nvPr/>
        </p:nvSpPr>
        <p:spPr>
          <a:xfrm>
            <a:off x="2651760" y="4526280"/>
            <a:ext cx="1417320" cy="14173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1B2F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4636008"/>
            <a:ext cx="1197864" cy="1197864"/>
          </a:xfrm>
          <a:prstGeom prst="ellipse">
            <a:avLst/>
          </a:prstGeom>
          <a:ln w="25400">
            <a:solidFill>
              <a:srgbClr val="D9A2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45262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マスタの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進化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IT担当者がマスタデータを確認し、最適化の余地を発見する。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4526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A37"/>
                </a:solidFill>
              </a:rPr>
              <a:t>共創の戦略立案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IT担当者（Pilot）とVMO（Co-Pilot）が合同で交渉戦略を構築・実行する。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5262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A37"/>
                </a:solidFill>
              </a:rPr>
              <a:t>マスタの進化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獲得した条件が新たなマスタデータとして更新され、組織の資産となる。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3566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コスト削減は単発の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作業ではなく、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我々の働き方そのものの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アップグレードです。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F4E"/>
                </a:solidFill>
              </a:rPr>
              <a:t>VMOへのアクセス：内容に応じたスムーズな連携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26280" y="1463040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26280" y="1463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どのようなご用件ですか？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03620" y="2011680"/>
            <a:ext cx="0" cy="457200"/>
          </a:xfrm>
          <a:prstGeom prst="line">
            <a:avLst/>
          </a:prstGeom>
          <a:noFill/>
          <a:ln w="50800">
            <a:solidFill>
              <a:srgbClr val="D9A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2468880"/>
            <a:ext cx="6995160" cy="0"/>
          </a:xfrm>
          <a:prstGeom prst="line">
            <a:avLst/>
          </a:prstGeom>
          <a:noFill/>
          <a:ln w="25400">
            <a:solidFill>
              <a:srgbClr val="1B2F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2468880"/>
            <a:ext cx="0" cy="274320"/>
          </a:xfrm>
          <a:prstGeom prst="line">
            <a:avLst/>
          </a:prstGeom>
          <a:noFill/>
          <a:ln w="25400">
            <a:solidFill>
              <a:srgbClr val="1B2F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契約・ベンダーの詳細や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連絡先を知りたい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0" cy="274320"/>
          </a:xfrm>
          <a:prstGeom prst="line">
            <a:avLst/>
          </a:prstGeom>
          <a:noFill/>
          <a:ln w="25400">
            <a:solidFill>
              <a:srgbClr val="1B2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7947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8016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[基盤担当]: 鈴木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内線 1234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03620" y="2468880"/>
            <a:ext cx="0" cy="274320"/>
          </a:xfrm>
          <a:prstGeom prst="line">
            <a:avLst/>
          </a:prstGeom>
          <a:noFill/>
          <a:ln w="50800">
            <a:solidFill>
              <a:srgbClr val="D9A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058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個別の案件、更新、値上げ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などについて相談したい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03620" y="3520440"/>
            <a:ext cx="0" cy="274320"/>
          </a:xfrm>
          <a:prstGeom prst="line">
            <a:avLst/>
          </a:prstGeom>
          <a:noFill/>
          <a:ln w="50800">
            <a:solidFill>
              <a:srgbClr val="D9A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7740" y="37947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7774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[受付担当]: 佐藤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Teamsチャネル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0" y="2468880"/>
            <a:ext cx="0" cy="274320"/>
          </a:xfrm>
          <a:prstGeom prst="line">
            <a:avLst/>
          </a:prstGeom>
          <a:noFill/>
          <a:ln w="25400">
            <a:solidFill>
              <a:srgbClr val="1B2F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年次計画や全社的な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コスト削減施策について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0" y="3520440"/>
            <a:ext cx="0" cy="274320"/>
          </a:xfrm>
          <a:prstGeom prst="line">
            <a:avLst/>
          </a:prstGeom>
          <a:noFill/>
          <a:ln w="25400">
            <a:solidFill>
              <a:srgbClr val="1B2F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37947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[VMO管理者]: 田中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内線 5678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相談チャネル: Teams #VMO-相談窓口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迷った場合は、まずは受付担当へご連絡ください。丁寧にナビゲートします。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来期のコスト最適化に向けて</dc:title>
  <dc:subject>PptxGenJS Presentation</dc:subject>
  <dc:creator>PptxGenJS</dc:creator>
  <cp:lastModifiedBy>PptxGenJS</cp:lastModifiedBy>
  <cp:revision>1</cp:revision>
  <dcterms:created xsi:type="dcterms:W3CDTF">2026-10-28T23:45:16Z</dcterms:created>
  <dcterms:modified xsi:type="dcterms:W3CDTF">2026-10-28T23:45:16Z</dcterms:modified>
</cp:coreProperties>
</file>