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全体像" id="{6f38e059-07b9-4529-9b27-1f630e0045f5}">
          <p14:sldIdLst>
            <p14:sldId id="256"/>
            <p14:sldId id="257"/>
            <p14:sldId id="258"/>
            <p14:sldId id="259"/>
          </p14:sldIdLst>
        </p14:section>
        <p14:section name="契約区分ごとの取り組み" id="{83fb09be-c94a-fafc-8767-04d2daa347a7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月初旬に説明会を行い、すぐにアンケートを開始。2週間で締め切って取りまとめ、案件担当とのラリーで施策と時期を合意し、12月末までに実行計画と目標値をまとめる。マイルストーンごとに調達チームと情報を連携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取り組みの中身は、Tierと契約区分の組み合わせで決まる。次ページ以降で区分ごとに説明する。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理由の選択肢は依存の型（取引上の依存、ブラックボックス、知見の希少性、ロックイン戦略）と依存度「高」に対応させている。目標値は回答をもとに別途合意する。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1672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554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アンケート説明資料　Survey briefing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0116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chemeClr val="bg1"/>
                </a:solidFill>
              </a:rPr>
              <a:t>来期の取り組み候補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chemeClr val="bg1"/>
                </a:solidFill>
              </a:rPr>
              <a:t>契約区分ごとの活動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Vendor engagement candidates by contract category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FY2027–FY2028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074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GDS　[2026年11月]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進め方　Approach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12月末までの進め方  </a:t>
            </a:r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Steps to year-end</a:t>
            </a:r>
            <a:endParaRPr lang="en-US" sz="2600" dirty="0"/>
          </a:p>
        </p:txBody>
      </p:sp>
      <p:sp>
        <p:nvSpPr>
          <p:cNvPr id="4" name="step1"/>
          <p:cNvSpPr/>
          <p:nvPr/>
        </p:nvSpPr>
        <p:spPr>
          <a:xfrm>
            <a:off x="548640" y="1554480"/>
            <a:ext cx="2108606" cy="2331720"/>
          </a:xfrm>
          <a:prstGeom prst="roundRect">
            <a:avLst>
              <a:gd name="adj" fmla="val 3469"/>
            </a:avLst>
          </a:prstGeom>
          <a:solidFill>
            <a:schemeClr val="bg2"/>
          </a:solidFill>
          <a:ln/>
        </p:spPr>
      </p:sp>
      <p:sp>
        <p:nvSpPr>
          <p:cNvPr id="5" name="step1-text"/>
          <p:cNvSpPr txBox="1"/>
          <p:nvPr/>
        </p:nvSpPr>
        <p:spPr>
          <a:xfrm>
            <a:off x="685800" y="1719072"/>
            <a:ext cx="183428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11月初旬　Early Nov</a:t>
            </a:r>
            <a:endParaRPr lang="en-US" sz="11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説明会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Briefing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取り組み候補とアンケートを説明する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Walk through candidates and the survey</a:t>
            </a:r>
            <a:endParaRPr lang="en-US" sz="1100" dirty="0"/>
          </a:p>
        </p:txBody>
      </p:sp>
      <p:sp>
        <p:nvSpPr>
          <p:cNvPr id="6" name="step2"/>
          <p:cNvSpPr/>
          <p:nvPr/>
        </p:nvSpPr>
        <p:spPr>
          <a:xfrm>
            <a:off x="2794406" y="1554480"/>
            <a:ext cx="2108606" cy="2331720"/>
          </a:xfrm>
          <a:prstGeom prst="roundRect">
            <a:avLst>
              <a:gd name="adj" fmla="val 3469"/>
            </a:avLst>
          </a:prstGeom>
          <a:solidFill>
            <a:schemeClr val="bg2"/>
          </a:solidFill>
          <a:ln/>
        </p:spPr>
      </p:sp>
      <p:sp>
        <p:nvSpPr>
          <p:cNvPr id="7" name="step2-text"/>
          <p:cNvSpPr txBox="1"/>
          <p:nvPr/>
        </p:nvSpPr>
        <p:spPr>
          <a:xfrm>
            <a:off x="2931566" y="1719072"/>
            <a:ext cx="183428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11月（2週間）　2 weeks</a:t>
            </a:r>
            <a:endParaRPr lang="en-US" sz="11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アンケート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Survey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案件ごとに可否・時期・理由を回答する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Feasibility, timing and reasons per item</a:t>
            </a:r>
            <a:endParaRPr lang="en-US" sz="1100" dirty="0"/>
          </a:p>
        </p:txBody>
      </p:sp>
      <p:sp>
        <p:nvSpPr>
          <p:cNvPr id="8" name="step3"/>
          <p:cNvSpPr/>
          <p:nvPr/>
        </p:nvSpPr>
        <p:spPr>
          <a:xfrm>
            <a:off x="5040173" y="1554480"/>
            <a:ext cx="2108606" cy="2331720"/>
          </a:xfrm>
          <a:prstGeom prst="roundRect">
            <a:avLst>
              <a:gd name="adj" fmla="val 3469"/>
            </a:avLst>
          </a:prstGeom>
          <a:solidFill>
            <a:schemeClr val="bg2"/>
          </a:solidFill>
          <a:ln/>
        </p:spPr>
      </p:sp>
      <p:sp>
        <p:nvSpPr>
          <p:cNvPr id="9" name="step3-text"/>
          <p:cNvSpPr txBox="1"/>
          <p:nvPr/>
        </p:nvSpPr>
        <p:spPr>
          <a:xfrm>
            <a:off x="5177333" y="1719072"/>
            <a:ext cx="183428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11月下旬　Late Nov</a:t>
            </a:r>
            <a:endParaRPr lang="en-US" sz="11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締め切り・取りまとめ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Close and consolidate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回答をTier・区分ごとに整理する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Organize answers by tier and category</a:t>
            </a:r>
            <a:endParaRPr lang="en-US" sz="1100" dirty="0"/>
          </a:p>
        </p:txBody>
      </p:sp>
      <p:sp>
        <p:nvSpPr>
          <p:cNvPr id="10" name="step4"/>
          <p:cNvSpPr/>
          <p:nvPr/>
        </p:nvSpPr>
        <p:spPr>
          <a:xfrm>
            <a:off x="7285939" y="1554480"/>
            <a:ext cx="2108606" cy="2331720"/>
          </a:xfrm>
          <a:prstGeom prst="roundRect">
            <a:avLst>
              <a:gd name="adj" fmla="val 3469"/>
            </a:avLst>
          </a:prstGeom>
          <a:solidFill>
            <a:schemeClr val="bg2"/>
          </a:solidFill>
          <a:ln/>
        </p:spPr>
      </p:sp>
      <p:sp>
        <p:nvSpPr>
          <p:cNvPr id="11" name="step4-text"/>
          <p:cNvSpPr txBox="1"/>
          <p:nvPr/>
        </p:nvSpPr>
        <p:spPr>
          <a:xfrm>
            <a:off x="7423099" y="1719072"/>
            <a:ext cx="183428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12月上旬〜中旬　Early–mid Dec</a:t>
            </a:r>
            <a:endParaRPr lang="en-US" sz="11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案件担当とのラリー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Follow-up with owners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施策と時期を案件ごとに合意する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Agree actions and timing per item</a:t>
            </a:r>
            <a:endParaRPr lang="en-US" sz="1100" dirty="0"/>
          </a:p>
        </p:txBody>
      </p:sp>
      <p:sp>
        <p:nvSpPr>
          <p:cNvPr id="12" name="step5"/>
          <p:cNvSpPr/>
          <p:nvPr/>
        </p:nvSpPr>
        <p:spPr>
          <a:xfrm>
            <a:off x="9531706" y="1554480"/>
            <a:ext cx="2108606" cy="2331720"/>
          </a:xfrm>
          <a:prstGeom prst="roundRect">
            <a:avLst>
              <a:gd name="adj" fmla="val 3469"/>
            </a:avLst>
          </a:prstGeom>
          <a:solidFill>
            <a:schemeClr val="tx1"/>
          </a:solidFill>
          <a:ln/>
        </p:spPr>
      </p:sp>
      <p:sp>
        <p:nvSpPr>
          <p:cNvPr id="13" name="step5-text"/>
          <p:cNvSpPr txBox="1"/>
          <p:nvPr/>
        </p:nvSpPr>
        <p:spPr>
          <a:xfrm>
            <a:off x="9668866" y="1719072"/>
            <a:ext cx="183428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chemeClr val="accent2"/>
                </a:solidFill>
              </a:rPr>
              <a:t>12月末　End of Dec</a:t>
            </a:r>
            <a:endParaRPr lang="en-US" sz="11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実行計画と目標値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3"/>
                </a:solidFill>
              </a:rPr>
              <a:t>Plan and targets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全体をまとめ、目標値を設定する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Consolidate and set targets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114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調達チームとの情報連携　Procurement sync</a:t>
            </a:r>
            <a:endParaRPr lang="en-US" sz="1200" dirty="0"/>
          </a:p>
        </p:txBody>
      </p:sp>
      <p:sp>
        <p:nvSpPr>
          <p:cNvPr id="15" name="milestone-M1"/>
          <p:cNvSpPr/>
          <p:nvPr/>
        </p:nvSpPr>
        <p:spPr>
          <a:xfrm>
            <a:off x="548640" y="4434840"/>
            <a:ext cx="2108606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4526280"/>
            <a:ext cx="18342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説明内容の事前共有</a:t>
            </a:r>
            <a:endParaRPr lang="en-US" sz="1200" dirty="0"/>
          </a:p>
        </p:txBody>
      </p:sp>
      <p:sp>
        <p:nvSpPr>
          <p:cNvPr id="17" name="milestone-M2"/>
          <p:cNvSpPr/>
          <p:nvPr/>
        </p:nvSpPr>
        <p:spPr>
          <a:xfrm>
            <a:off x="5040173" y="4434840"/>
            <a:ext cx="2108606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177333" y="4526280"/>
            <a:ext cx="18342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回答の取りまとめを共有</a:t>
            </a:r>
            <a:endParaRPr lang="en-US" sz="1200" dirty="0"/>
          </a:p>
        </p:txBody>
      </p:sp>
      <p:sp>
        <p:nvSpPr>
          <p:cNvPr id="19" name="milestone-M3"/>
          <p:cNvSpPr/>
          <p:nvPr/>
        </p:nvSpPr>
        <p:spPr>
          <a:xfrm>
            <a:off x="7285939" y="4434840"/>
            <a:ext cx="2108606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23099" y="4526280"/>
            <a:ext cx="18342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合意結果と協働案件を共有</a:t>
            </a:r>
            <a:endParaRPr lang="en-US" sz="1200" dirty="0"/>
          </a:p>
        </p:txBody>
      </p:sp>
      <p:sp>
        <p:nvSpPr>
          <p:cNvPr id="21" name="milestone-M4"/>
          <p:cNvSpPr/>
          <p:nvPr/>
        </p:nvSpPr>
        <p:spPr>
          <a:xfrm>
            <a:off x="9531706" y="4434840"/>
            <a:ext cx="2108606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68866" y="4526280"/>
            <a:ext cx="18342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実行計画を共有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394960"/>
            <a:ext cx="1109167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56235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実行計画では案件ごとに分ける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Each item in the plan is</a:t>
            </a:r>
            <a:endParaRPr lang="en-US" sz="1200" dirty="0"/>
          </a:p>
        </p:txBody>
      </p:sp>
      <p:sp>
        <p:nvSpPr>
          <p:cNvPr id="25" name="split1"/>
          <p:cNvSpPr/>
          <p:nvPr/>
        </p:nvSpPr>
        <p:spPr>
          <a:xfrm>
            <a:off x="3108960" y="5532120"/>
            <a:ext cx="416052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291840" y="562356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IT部門で単独で行う　IT-led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利用状況の把握、文書化、ライセンスの整理など</a:t>
            </a:r>
            <a:endParaRPr lang="en-US" sz="1300" dirty="0"/>
          </a:p>
        </p:txBody>
      </p:sp>
      <p:sp>
        <p:nvSpPr>
          <p:cNvPr id="27" name="split2"/>
          <p:cNvSpPr/>
          <p:nvPr/>
        </p:nvSpPr>
        <p:spPr>
          <a:xfrm>
            <a:off x="7452360" y="5532120"/>
            <a:ext cx="416052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635240" y="562356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調達と協働する　Joint with procurement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価格・条件の交渉、契約の変更・統合など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全体像　Overview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ベンダーのTierと接点  </a:t>
            </a:r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Vendor tiers and engagement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664208" y="1600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重要度：高　High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17136" y="1600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重要度：低　Low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11680"/>
            <a:ext cx="1005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取引額：大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Large spend</a:t>
            </a:r>
            <a:endParaRPr lang="en-US" sz="1300" dirty="0"/>
          </a:p>
        </p:txBody>
      </p:sp>
      <p:sp>
        <p:nvSpPr>
          <p:cNvPr id="7" name="Tier1"/>
          <p:cNvSpPr/>
          <p:nvPr/>
        </p:nvSpPr>
        <p:spPr>
          <a:xfrm>
            <a:off x="1664208" y="2011680"/>
            <a:ext cx="2743200" cy="1783080"/>
          </a:xfrm>
          <a:prstGeom prst="roundRect">
            <a:avLst>
              <a:gd name="adj" fmla="val 4103"/>
            </a:avLst>
          </a:prstGeom>
          <a:solidFill>
            <a:schemeClr val="accent4"/>
          </a:solidFill>
          <a:ln/>
        </p:spPr>
      </p:sp>
      <p:sp>
        <p:nvSpPr>
          <p:cNvPr id="8" name="Tier1-text"/>
          <p:cNvSpPr txBox="1"/>
          <p:nvPr/>
        </p:nvSpPr>
        <p:spPr>
          <a:xfrm>
            <a:off x="1847088" y="219456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Tier1</a:t>
            </a:r>
            <a:endParaRPr lang="en-US" sz="1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年次の来期会議で中長期の提案を受ける</a:t>
            </a:r>
            <a:endParaRPr lang="en-US" sz="18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Annual planning meeting; multi-year proposal</a:t>
            </a:r>
            <a:endParaRPr lang="en-US" sz="1800" dirty="0"/>
          </a:p>
        </p:txBody>
      </p:sp>
      <p:sp>
        <p:nvSpPr>
          <p:cNvPr id="9" name="Tier3"/>
          <p:cNvSpPr/>
          <p:nvPr/>
        </p:nvSpPr>
        <p:spPr>
          <a:xfrm>
            <a:off x="4517136" y="2011680"/>
            <a:ext cx="274320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/>
        </p:spPr>
      </p:sp>
      <p:sp>
        <p:nvSpPr>
          <p:cNvPr id="10" name="Tier3-text"/>
          <p:cNvSpPr txBox="1"/>
          <p:nvPr/>
        </p:nvSpPr>
        <p:spPr>
          <a:xfrm>
            <a:off x="4700016" y="219456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Tier3</a:t>
            </a:r>
            <a:endParaRPr lang="en-US" sz="1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年次で他のベンダーへの統合を協議する</a:t>
            </a:r>
            <a:endParaRPr lang="en-US" sz="18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Annual consolidation review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904488"/>
            <a:ext cx="1005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取引額：小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Small spend</a:t>
            </a:r>
            <a:endParaRPr lang="en-US" sz="1300" dirty="0"/>
          </a:p>
        </p:txBody>
      </p:sp>
      <p:sp>
        <p:nvSpPr>
          <p:cNvPr id="12" name="Tier2"/>
          <p:cNvSpPr/>
          <p:nvPr/>
        </p:nvSpPr>
        <p:spPr>
          <a:xfrm>
            <a:off x="1664208" y="3904488"/>
            <a:ext cx="274320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/>
        </p:spPr>
      </p:sp>
      <p:sp>
        <p:nvSpPr>
          <p:cNvPr id="13" name="Tier2-text"/>
          <p:cNvSpPr txBox="1"/>
          <p:nvPr/>
        </p:nvSpPr>
        <p:spPr>
          <a:xfrm>
            <a:off x="1847088" y="4087368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Tier2</a:t>
            </a:r>
            <a:endParaRPr lang="en-US" sz="1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契約更新時・プロジェクト終了時に評価する</a:t>
            </a:r>
            <a:endParaRPr lang="en-US" sz="18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Review at renewal or project end</a:t>
            </a:r>
            <a:endParaRPr lang="en-US" sz="1800" dirty="0"/>
          </a:p>
        </p:txBody>
      </p:sp>
      <p:sp>
        <p:nvSpPr>
          <p:cNvPr id="14" name="Tier4"/>
          <p:cNvSpPr/>
          <p:nvPr/>
        </p:nvSpPr>
        <p:spPr>
          <a:xfrm>
            <a:off x="4517136" y="3904488"/>
            <a:ext cx="274320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/>
        </p:spPr>
      </p:sp>
      <p:sp>
        <p:nvSpPr>
          <p:cNvPr id="15" name="Tier4-text"/>
          <p:cNvSpPr txBox="1"/>
          <p:nvPr/>
        </p:nvSpPr>
        <p:spPr>
          <a:xfrm>
            <a:off x="4700016" y="4087368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Tier4</a:t>
            </a:r>
            <a:endParaRPr lang="en-US" sz="1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四半期ごとに他のベンダーへの巻き取りを協議する</a:t>
            </a:r>
            <a:endParaRPr lang="en-US" sz="18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Quarterly fold-in review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498080" y="2011680"/>
            <a:ext cx="414223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98080" y="2148840"/>
            <a:ext cx="41422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取引額「大」　Large spend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予算額の上位から累計8割までのベンダー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Vendors making up the top 80% of budget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498080" y="3291840"/>
            <a:ext cx="414223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98080" y="3429000"/>
            <a:ext cx="41422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重要度「高」　High importance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売上・利益に直接影響する、または担う業務の範囲が広い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Direct impact on revenue or profit, or broad coverage of IT work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498080" y="4572000"/>
            <a:ext cx="414223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98080" y="4709160"/>
            <a:ext cx="41422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契約区分　Contract categories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ライセンス・SaaS／運用保守委託／開発・改修／ミドルウェア・DB／オンプレ維持／クラウド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回答方法　How to answer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アンケートでお聞きすること  </a:t>
            </a:r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What we will ask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回答の単位：ベンダー × リージョン × システム × 費用区分　One answer per vendor × region × system × cost category</a:t>
            </a:r>
            <a:endParaRPr lang="en-US" sz="1200" dirty="0"/>
          </a:p>
        </p:txBody>
      </p:sp>
      <p:sp>
        <p:nvSpPr>
          <p:cNvPr id="5" name="q1"/>
          <p:cNvSpPr/>
          <p:nvPr/>
        </p:nvSpPr>
        <p:spPr>
          <a:xfrm>
            <a:off x="548640" y="1783080"/>
            <a:ext cx="2926080" cy="2423160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938528"/>
            <a:ext cx="25603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1　実施可否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Feasibility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可　Yes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条件付きで可　Yes, with conditions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不可　No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判断できない　Can’t judge</a:t>
            </a:r>
            <a:endParaRPr lang="en-US" sz="1600" dirty="0"/>
          </a:p>
        </p:txBody>
      </p:sp>
      <p:sp>
        <p:nvSpPr>
          <p:cNvPr id="7" name="q2"/>
          <p:cNvSpPr/>
          <p:nvPr/>
        </p:nvSpPr>
        <p:spPr>
          <a:xfrm>
            <a:off x="548640" y="4343400"/>
            <a:ext cx="292608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4498848"/>
            <a:ext cx="2560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2　時期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Timing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2027Q1〜2028Q4の四半期から1つ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One quarter between 2027 Q1 and 2028 Q4</a:t>
            </a:r>
            <a:endParaRPr lang="en-US" sz="1600" dirty="0"/>
          </a:p>
        </p:txBody>
      </p:sp>
      <p:sp>
        <p:nvSpPr>
          <p:cNvPr id="9" name="q3"/>
          <p:cNvSpPr/>
          <p:nvPr/>
        </p:nvSpPr>
        <p:spPr>
          <a:xfrm>
            <a:off x="3657600" y="1783080"/>
            <a:ext cx="7982712" cy="4434840"/>
          </a:xfrm>
          <a:prstGeom prst="roundRect">
            <a:avLst>
              <a:gd name="adj" fmla="val 1649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931920" y="1938528"/>
            <a:ext cx="7434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3　実施できない理由　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Reason if not feasible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2560320"/>
            <a:ext cx="35798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契約上いまは動けない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Contract terms prevent action now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786116" y="2560320"/>
            <a:ext cx="35798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作業内容や構成を自社で把握できていない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Scope or configuration not visible to us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931920" y="3429000"/>
            <a:ext cx="35798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代わりの会社が見当たらない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No alternative provider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786116" y="3429000"/>
            <a:ext cx="35798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製品・契約体系から抜けにくい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Hard to exit the product or licensing model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931920" y="4297680"/>
            <a:ext cx="35798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全社の標準・IT戦略に関わる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Tied to company-wide standards or IT strategy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786116" y="4297680"/>
            <a:ext cx="35798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業務上の都合（プロジェクト中など）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Operational constraints, e.g. ongoing project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931920" y="5166360"/>
            <a:ext cx="35798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実施済み・予算に織り込み済み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Already done or already in the budget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786116" y="5166360"/>
            <a:ext cx="35798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その他（自由記述）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Other (free text)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区分 1／6　Category 1 of 6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ライセンス・SaaS  </a:t>
            </a:r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Licenses &amp; SaaS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ねらう価値 Value　</a:t>
            </a:r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削減 Savings ／ 値上げの回避 Cost avoidance ／ 代わりの価値 Added value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758952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9202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Tier1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大×高</a:t>
            </a:r>
            <a:endParaRPr lang="en-US" sz="1400" dirty="0"/>
          </a:p>
        </p:txBody>
      </p:sp>
      <p:sp>
        <p:nvSpPr>
          <p:cNvPr id="7" name="Tier1-activity"/>
          <p:cNvSpPr txBox="1"/>
          <p:nvPr/>
        </p:nvSpPr>
        <p:spPr>
          <a:xfrm>
            <a:off x="1600200" y="1920240"/>
            <a:ext cx="6537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来期会議で、複数年の単価固定・価格上限、更新時の減席権、AIアドオンの見直しを含む中長期の提案を受ける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Annual planning meeting: request a multi-year proposal covering price locks and caps, seat reduction at renewal, and AI add-on review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758952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0175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Tier2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小×高</a:t>
            </a:r>
            <a:endParaRPr lang="en-US" sz="1400" dirty="0"/>
          </a:p>
        </p:txBody>
      </p:sp>
      <p:sp>
        <p:nvSpPr>
          <p:cNvPr id="10" name="Tier2-activity"/>
          <p:cNvSpPr txBox="1"/>
          <p:nvPr/>
        </p:nvSpPr>
        <p:spPr>
          <a:xfrm>
            <a:off x="1600200" y="3017520"/>
            <a:ext cx="6537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更新時の評価をもとに、席数とエディションを見直し、値上げを抑える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At renewal, use the review to right-size seats and editions and contain price increases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758952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41148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Tier3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大×低</a:t>
            </a:r>
            <a:endParaRPr lang="en-US" sz="1400" dirty="0"/>
          </a:p>
        </p:txBody>
      </p:sp>
      <p:sp>
        <p:nvSpPr>
          <p:cNvPr id="13" name="Tier3-activity"/>
          <p:cNvSpPr txBox="1"/>
          <p:nvPr/>
        </p:nvSpPr>
        <p:spPr>
          <a:xfrm>
            <a:off x="1600200" y="4114800"/>
            <a:ext cx="6537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同種の製品を扱う他のベンダーへ統合し、数量と条件をまとめる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Consolidate into another vendor offering similar products, combining volumes and terms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074920"/>
            <a:ext cx="758952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52120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Tier4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小×低</a:t>
            </a:r>
            <a:endParaRPr lang="en-US" sz="1400" dirty="0"/>
          </a:p>
        </p:txBody>
      </p:sp>
      <p:sp>
        <p:nvSpPr>
          <p:cNvPr id="16" name="Tier4-activity"/>
          <p:cNvSpPr txBox="1"/>
          <p:nvPr/>
        </p:nvSpPr>
        <p:spPr>
          <a:xfrm>
            <a:off x="1600200" y="5212080"/>
            <a:ext cx="6537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他のベンダー・製品へ巻き取るか、解約・自動更新の停止を検討する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Fold into another vendor or product, or terminate / stop auto-renewal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6172200"/>
            <a:ext cx="758952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8" name="ask"/>
          <p:cNvSpPr/>
          <p:nvPr/>
        </p:nvSpPr>
        <p:spPr>
          <a:xfrm>
            <a:off x="8458200" y="1783080"/>
            <a:ext cx="3182112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641080" y="1965960"/>
            <a:ext cx="28163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お願いすること　What we ask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利用者数と利用状況、契約の更新時期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User counts and usage; renewal date</a:t>
            </a:r>
            <a:endParaRPr lang="en-US" sz="1200" dirty="0"/>
          </a:p>
        </p:txBody>
      </p:sp>
      <p:sp>
        <p:nvSpPr>
          <p:cNvPr id="20" name="terms"/>
          <p:cNvSpPr/>
          <p:nvPr/>
        </p:nvSpPr>
        <p:spPr>
          <a:xfrm>
            <a:off x="8458200" y="4069080"/>
            <a:ext cx="3182112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41080" y="4251960"/>
            <a:ext cx="28163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契約に残す条項の例　Contract terms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価格上限、更新時の減席権、AIクレジットの繰越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Price cap, seat reduction at renewal, AI credit rollover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区分 2／6　Category 2 of 6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運用保守委託  </a:t>
            </a:r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Managed services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ねらう価値 Value　</a:t>
            </a:r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依存の低減 Reduced dependency（初年度は文書化 Year one: documentation）／ 将来の集約 Future consolidation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758952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9202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Tier1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大×高</a:t>
            </a:r>
            <a:endParaRPr lang="en-US" sz="1400" dirty="0"/>
          </a:p>
        </p:txBody>
      </p:sp>
      <p:sp>
        <p:nvSpPr>
          <p:cNvPr id="7" name="Tier1-activity"/>
          <p:cNvSpPr txBox="1"/>
          <p:nvPr/>
        </p:nvSpPr>
        <p:spPr>
          <a:xfrm>
            <a:off x="1600200" y="1920240"/>
            <a:ext cx="6537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業務範囲・SLA・スキル要件の文書化と契約形態の見直しを、中長期の提案に組み込んでもらう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Ask the vendor to build documentation of scope, SLAs and skill requirements, and a review of the contract model, into its multi-year proposal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758952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0175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Tier2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小×高</a:t>
            </a:r>
            <a:endParaRPr lang="en-US" sz="1400" dirty="0"/>
          </a:p>
        </p:txBody>
      </p:sp>
      <p:sp>
        <p:nvSpPr>
          <p:cNvPr id="10" name="Tier2-activity"/>
          <p:cNvSpPr txBox="1"/>
          <p:nvPr/>
        </p:nvSpPr>
        <p:spPr>
          <a:xfrm>
            <a:off x="1600200" y="3017520"/>
            <a:ext cx="6537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更新時の評価をもとに、作業範囲を明確にし、工数の報告を契約に入れる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At renewal, clarify the scope of work and add effort reporting to the contract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758952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41148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Tier3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大×低</a:t>
            </a:r>
            <a:endParaRPr lang="en-US" sz="1400" dirty="0"/>
          </a:p>
        </p:txBody>
      </p:sp>
      <p:sp>
        <p:nvSpPr>
          <p:cNvPr id="13" name="Tier3-activity"/>
          <p:cNvSpPr txBox="1"/>
          <p:nvPr/>
        </p:nvSpPr>
        <p:spPr>
          <a:xfrm>
            <a:off x="1600200" y="4114800"/>
            <a:ext cx="6537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スキル要件の重なる他の委託契約へ統合する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Consolidate into another service contract with overlapping skill requirements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074920"/>
            <a:ext cx="758952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52120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Tier4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小×低</a:t>
            </a:r>
            <a:endParaRPr lang="en-US" sz="1400" dirty="0"/>
          </a:p>
        </p:txBody>
      </p:sp>
      <p:sp>
        <p:nvSpPr>
          <p:cNvPr id="16" name="Tier4-activity"/>
          <p:cNvSpPr txBox="1"/>
          <p:nvPr/>
        </p:nvSpPr>
        <p:spPr>
          <a:xfrm>
            <a:off x="1600200" y="5212080"/>
            <a:ext cx="6537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他の委託先へ巻き取る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Fold into another service provider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6172200"/>
            <a:ext cx="758952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8" name="ask"/>
          <p:cNvSpPr/>
          <p:nvPr/>
        </p:nvSpPr>
        <p:spPr>
          <a:xfrm>
            <a:off x="8458200" y="1783080"/>
            <a:ext cx="3182112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641080" y="1965960"/>
            <a:ext cx="28163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お願いすること　What we ask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作業範囲・体制・工数の現状、手順書と構成情報の所在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Current scope, staffing and effort; where runbooks and configuration data are kept</a:t>
            </a:r>
            <a:endParaRPr lang="en-US" sz="1200" dirty="0"/>
          </a:p>
        </p:txBody>
      </p:sp>
      <p:sp>
        <p:nvSpPr>
          <p:cNvPr id="20" name="terms"/>
          <p:cNvSpPr/>
          <p:nvPr/>
        </p:nvSpPr>
        <p:spPr>
          <a:xfrm>
            <a:off x="8458200" y="4069080"/>
            <a:ext cx="3182112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41080" y="4251960"/>
            <a:ext cx="28163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契約に残す条項の例　Contract terms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作業区分ごとの工数報告、文書の自社帰属、再委託の条件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Effort reporting by task, company ownership of documents, subcontracting terms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区分 3／6　Category 3 of 6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開発・改修  </a:t>
            </a:r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Development &amp; enhancement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ねらう価値 Value　</a:t>
            </a:r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削減（単価・集約） Savings: rates, consolidation ／ 代わりの価値 Added value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758952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9202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Tier1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大×高</a:t>
            </a:r>
            <a:endParaRPr lang="en-US" sz="1400" dirty="0"/>
          </a:p>
        </p:txBody>
      </p:sp>
      <p:sp>
        <p:nvSpPr>
          <p:cNvPr id="7" name="Tier1-activity"/>
          <p:cNvSpPr txBox="1"/>
          <p:nvPr/>
        </p:nvSpPr>
        <p:spPr>
          <a:xfrm>
            <a:off x="1600200" y="1920240"/>
            <a:ext cx="6537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単価表と体制の妥当性を確認し、中長期の案件を束ねた提案を受ける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Review rate cards and team structure; request a proposal that bundles upcoming projects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758952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0175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Tier2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小×高</a:t>
            </a:r>
            <a:endParaRPr lang="en-US" sz="1400" dirty="0"/>
          </a:p>
        </p:txBody>
      </p:sp>
      <p:sp>
        <p:nvSpPr>
          <p:cNvPr id="10" name="Tier2-activity"/>
          <p:cNvSpPr txBox="1"/>
          <p:nvPr/>
        </p:nvSpPr>
        <p:spPr>
          <a:xfrm>
            <a:off x="1600200" y="3017520"/>
            <a:ext cx="6537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プロジェクト終了時の評価を、次回の単価・体制に反映する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Feed the end-of-project review into rates and team structure for the next engagement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758952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41148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Tier3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大×低</a:t>
            </a:r>
            <a:endParaRPr lang="en-US" sz="1400" dirty="0"/>
          </a:p>
        </p:txBody>
      </p:sp>
      <p:sp>
        <p:nvSpPr>
          <p:cNvPr id="13" name="Tier3-activity"/>
          <p:cNvSpPr txBox="1"/>
          <p:nvPr/>
        </p:nvSpPr>
        <p:spPr>
          <a:xfrm>
            <a:off x="1600200" y="4114800"/>
            <a:ext cx="6537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他のベンダーへ発注を集約する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Consolidate orders with another vendor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074920"/>
            <a:ext cx="758952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52120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Tier4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小×低</a:t>
            </a:r>
            <a:endParaRPr lang="en-US" sz="1400" dirty="0"/>
          </a:p>
        </p:txBody>
      </p:sp>
      <p:sp>
        <p:nvSpPr>
          <p:cNvPr id="16" name="Tier4-activity"/>
          <p:cNvSpPr txBox="1"/>
          <p:nvPr/>
        </p:nvSpPr>
        <p:spPr>
          <a:xfrm>
            <a:off x="1600200" y="5212080"/>
            <a:ext cx="6537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他のTierのベンダーへ発注を寄せる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Shift orders to a vendor in another tier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6172200"/>
            <a:ext cx="758952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8" name="ask"/>
          <p:cNvSpPr/>
          <p:nvPr/>
        </p:nvSpPr>
        <p:spPr>
          <a:xfrm>
            <a:off x="8458200" y="1783080"/>
            <a:ext cx="3182112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641080" y="1965960"/>
            <a:ext cx="28163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お願いすること　What we ask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今後2年の案件の見通しと、プロジェクトの終了時期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Project pipeline for the next two years and expected end dates</a:t>
            </a:r>
            <a:endParaRPr lang="en-US" sz="1200" dirty="0"/>
          </a:p>
        </p:txBody>
      </p:sp>
      <p:sp>
        <p:nvSpPr>
          <p:cNvPr id="20" name="terms"/>
          <p:cNvSpPr/>
          <p:nvPr/>
        </p:nvSpPr>
        <p:spPr>
          <a:xfrm>
            <a:off x="8458200" y="4069080"/>
            <a:ext cx="3182112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41080" y="4251960"/>
            <a:ext cx="28163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契約に残す条項の例　Contract terms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単価表、変更管理の手続き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Rate card, change control procedure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区分 4／6　Category 4 of 6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ミドルウェア・DB  </a:t>
            </a:r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Middleware &amp; database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ねらう価値 Value　</a:t>
            </a:r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削減 Savings ／ 依存の低減 Reduced dependency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758952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9202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Tier1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大×高</a:t>
            </a:r>
            <a:endParaRPr lang="en-US" sz="1400" dirty="0"/>
          </a:p>
        </p:txBody>
      </p:sp>
      <p:sp>
        <p:nvSpPr>
          <p:cNvPr id="7" name="Tier1-activity"/>
          <p:cNvSpPr txBox="1"/>
          <p:nvPr/>
        </p:nvSpPr>
        <p:spPr>
          <a:xfrm>
            <a:off x="1600200" y="1920240"/>
            <a:ext cx="6537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未使用ライセンスの整理と、代替製品（OpenJDKなど）を含む中長期の提案を受ける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Request a multi-year proposal covering removal of unused licenses and alternatives such as OpenJDK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758952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0175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Tier2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小×高</a:t>
            </a:r>
            <a:endParaRPr lang="en-US" sz="1400" dirty="0"/>
          </a:p>
        </p:txBody>
      </p:sp>
      <p:sp>
        <p:nvSpPr>
          <p:cNvPr id="10" name="Tier2-activity"/>
          <p:cNvSpPr txBox="1"/>
          <p:nvPr/>
        </p:nvSpPr>
        <p:spPr>
          <a:xfrm>
            <a:off x="1600200" y="3017520"/>
            <a:ext cx="6537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更新時の評価をもとに、未使用ライセンスを整理する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At renewal, remove unused licenses based on the review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758952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41148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Tier3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大×低</a:t>
            </a:r>
            <a:endParaRPr lang="en-US" sz="1400" dirty="0"/>
          </a:p>
        </p:txBody>
      </p:sp>
      <p:sp>
        <p:nvSpPr>
          <p:cNvPr id="13" name="Tier3-activity"/>
          <p:cNvSpPr txBox="1"/>
          <p:nvPr/>
        </p:nvSpPr>
        <p:spPr>
          <a:xfrm>
            <a:off x="1600200" y="4114800"/>
            <a:ext cx="6537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ライセンスを統合・標準化する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Consolidate and standardize licenses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074920"/>
            <a:ext cx="758952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52120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Tier4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小×低</a:t>
            </a:r>
            <a:endParaRPr lang="en-US" sz="1400" dirty="0"/>
          </a:p>
        </p:txBody>
      </p:sp>
      <p:sp>
        <p:nvSpPr>
          <p:cNvPr id="16" name="Tier4-activity"/>
          <p:cNvSpPr txBox="1"/>
          <p:nvPr/>
        </p:nvSpPr>
        <p:spPr>
          <a:xfrm>
            <a:off x="1600200" y="5212080"/>
            <a:ext cx="6537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解約するか、他の製品へ巻き取る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Terminate, or fold into another product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6172200"/>
            <a:ext cx="758952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8" name="ask"/>
          <p:cNvSpPr/>
          <p:nvPr/>
        </p:nvSpPr>
        <p:spPr>
          <a:xfrm>
            <a:off x="8458200" y="1783080"/>
            <a:ext cx="3182112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641080" y="1965960"/>
            <a:ext cx="28163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お願いすること　What we ask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導入数（台数・コア数）と稼働状況、代替できるかの技術的な見立て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Deployed count (servers, cores) and usage; technical view on alternatives</a:t>
            </a:r>
            <a:endParaRPr lang="en-US" sz="1200" dirty="0"/>
          </a:p>
        </p:txBody>
      </p:sp>
      <p:sp>
        <p:nvSpPr>
          <p:cNvPr id="20" name="terms"/>
          <p:cNvSpPr/>
          <p:nvPr/>
        </p:nvSpPr>
        <p:spPr>
          <a:xfrm>
            <a:off x="8458200" y="4069080"/>
            <a:ext cx="3182112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41080" y="4251960"/>
            <a:ext cx="28163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契約に残す条項の例　Contract terms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部分解約時の保守料の扱い、監査条項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Support fees on partial termination, audit clause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区分 5／6　Category 5 of 6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オンプレ維持  </a:t>
            </a:r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On-premises infrastructure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ねらう価値 Value　</a:t>
            </a:r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削減 Savings ／ 依存の低減 Reduced dependency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758952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9202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Tier1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大×高</a:t>
            </a:r>
            <a:endParaRPr lang="en-US" sz="1400" dirty="0"/>
          </a:p>
        </p:txBody>
      </p:sp>
      <p:sp>
        <p:nvSpPr>
          <p:cNvPr id="7" name="Tier1-activity"/>
          <p:cNvSpPr txBox="1"/>
          <p:nvPr/>
        </p:nvSpPr>
        <p:spPr>
          <a:xfrm>
            <a:off x="1600200" y="1920240"/>
            <a:ext cx="6537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機器・回線の統合と更新計画、延長保守の条件を含む中長期の提案を受ける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Request a multi-year proposal covering consolidation of equipment and lines, refresh plans and extended support terms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758952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0175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Tier2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小×高</a:t>
            </a:r>
            <a:endParaRPr lang="en-US" sz="1400" dirty="0"/>
          </a:p>
        </p:txBody>
      </p:sp>
      <p:sp>
        <p:nvSpPr>
          <p:cNvPr id="10" name="Tier2-activity"/>
          <p:cNvSpPr txBox="1"/>
          <p:nvPr/>
        </p:nvSpPr>
        <p:spPr>
          <a:xfrm>
            <a:off x="1600200" y="3017520"/>
            <a:ext cx="6537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更新時の評価をもとに、延長保守の単価と解約の通知期間を見直す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At renewal, revisit extended support rates and termination notice periods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758952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41148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Tier3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大×低</a:t>
            </a:r>
            <a:endParaRPr lang="en-US" sz="1400" dirty="0"/>
          </a:p>
        </p:txBody>
      </p:sp>
      <p:sp>
        <p:nvSpPr>
          <p:cNvPr id="13" name="Tier3-activity"/>
          <p:cNvSpPr txBox="1"/>
          <p:nvPr/>
        </p:nvSpPr>
        <p:spPr>
          <a:xfrm>
            <a:off x="1600200" y="4114800"/>
            <a:ext cx="6537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保守・回線を他のベンダーへ集約する（リージョンをまたぐ統合を含む）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Consolidate support and lines with another vendor, including across regions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074920"/>
            <a:ext cx="758952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52120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Tier4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小×低</a:t>
            </a:r>
            <a:endParaRPr lang="en-US" sz="1400" dirty="0"/>
          </a:p>
        </p:txBody>
      </p:sp>
      <p:sp>
        <p:nvSpPr>
          <p:cNvPr id="16" name="Tier4-activity"/>
          <p:cNvSpPr txBox="1"/>
          <p:nvPr/>
        </p:nvSpPr>
        <p:spPr>
          <a:xfrm>
            <a:off x="1600200" y="5212080"/>
            <a:ext cx="6537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他のベンダーへ巻き取るか、解約する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Fold into another vendor, or terminate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6172200"/>
            <a:ext cx="758952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8" name="ask"/>
          <p:cNvSpPr/>
          <p:nvPr/>
        </p:nvSpPr>
        <p:spPr>
          <a:xfrm>
            <a:off x="8458200" y="1783080"/>
            <a:ext cx="3182112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641080" y="1965960"/>
            <a:ext cx="28163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お願いすること　What we ask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機器の保守期限・EOL、構成情報の所在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Support end and EOL dates; where configuration data is kept</a:t>
            </a:r>
            <a:endParaRPr lang="en-US" sz="1200" dirty="0"/>
          </a:p>
        </p:txBody>
      </p:sp>
      <p:sp>
        <p:nvSpPr>
          <p:cNvPr id="20" name="terms"/>
          <p:cNvSpPr/>
          <p:nvPr/>
        </p:nvSpPr>
        <p:spPr>
          <a:xfrm>
            <a:off x="8458200" y="4069080"/>
            <a:ext cx="3182112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41080" y="4251960"/>
            <a:ext cx="28163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契約に残す条項の例　Contract terms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延長保守の単価、解約の通知期間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Extended support rates, termination notice period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区分 6／6　Category 6 of 6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クラウド  </a:t>
            </a:r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Cloud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ねらう価値 Value　</a:t>
            </a:r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削減 Savings ／ 値上げの回避 Cost avoidance ／ 代わりの価値 Added value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758952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9202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Tier1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大×高</a:t>
            </a:r>
            <a:endParaRPr lang="en-US" sz="1400" dirty="0"/>
          </a:p>
        </p:txBody>
      </p:sp>
      <p:sp>
        <p:nvSpPr>
          <p:cNvPr id="7" name="Tier1-activity"/>
          <p:cNvSpPr txBox="1"/>
          <p:nvPr/>
        </p:nvSpPr>
        <p:spPr>
          <a:xfrm>
            <a:off x="1600200" y="1920240"/>
            <a:ext cx="6537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コミット額の設計（上乗せ幅・繰越・サービス横断の消化）とワークロードの切り分けを協議する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Discuss commitment design (uplift, rollover, cross-service drawdown) and workload placement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758952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0175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Tier2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小×高</a:t>
            </a:r>
            <a:endParaRPr lang="en-US" sz="1400" dirty="0"/>
          </a:p>
        </p:txBody>
      </p:sp>
      <p:sp>
        <p:nvSpPr>
          <p:cNvPr id="10" name="Tier2-activity"/>
          <p:cNvSpPr txBox="1"/>
          <p:nvPr/>
        </p:nvSpPr>
        <p:spPr>
          <a:xfrm>
            <a:off x="1600200" y="3017520"/>
            <a:ext cx="6537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更新時の評価をもとに、コミット額を見直す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At renewal, revisit the commitment amount based on the review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758952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41148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Tier3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大×低</a:t>
            </a:r>
            <a:endParaRPr lang="en-US" sz="1400" dirty="0"/>
          </a:p>
        </p:txBody>
      </p:sp>
      <p:sp>
        <p:nvSpPr>
          <p:cNvPr id="13" name="Tier3-activity"/>
          <p:cNvSpPr txBox="1"/>
          <p:nvPr/>
        </p:nvSpPr>
        <p:spPr>
          <a:xfrm>
            <a:off x="1600200" y="4114800"/>
            <a:ext cx="6537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配置方針の範囲で、他のクラウド契約へ集約する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Consolidate into another cloud contract within the placement policy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074920"/>
            <a:ext cx="758952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52120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Tier4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小×低</a:t>
            </a:r>
            <a:endParaRPr lang="en-US" sz="1400" dirty="0"/>
          </a:p>
        </p:txBody>
      </p:sp>
      <p:sp>
        <p:nvSpPr>
          <p:cNvPr id="16" name="Tier4-activity"/>
          <p:cNvSpPr txBox="1"/>
          <p:nvPr/>
        </p:nvSpPr>
        <p:spPr>
          <a:xfrm>
            <a:off x="1600200" y="5212080"/>
            <a:ext cx="6537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解約するか、他の契約へ巻き取る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Terminate, or fold into another contract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6172200"/>
            <a:ext cx="758952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8" name="ask"/>
          <p:cNvSpPr/>
          <p:nvPr/>
        </p:nvSpPr>
        <p:spPr>
          <a:xfrm>
            <a:off x="8458200" y="1783080"/>
            <a:ext cx="3182112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641080" y="1965960"/>
            <a:ext cx="28163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お願いすること　What we ask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利用量の見通し、コミット契約の期間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Usage forecast; commitment term</a:t>
            </a:r>
            <a:endParaRPr lang="en-US" sz="1200" dirty="0"/>
          </a:p>
        </p:txBody>
      </p:sp>
      <p:sp>
        <p:nvSpPr>
          <p:cNvPr id="20" name="terms"/>
          <p:cNvSpPr/>
          <p:nvPr/>
        </p:nvSpPr>
        <p:spPr>
          <a:xfrm>
            <a:off x="8458200" y="4069080"/>
            <a:ext cx="3182112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41080" y="4251960"/>
            <a:ext cx="28163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契約に残す条項の例　Contract terms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上乗せ幅、減額・繰越の条件、サービス横断の消化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Uplift, reduction and rollover terms, cross-service drawdown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ndor Engagement">
  <a:themeElements>
    <a:clrScheme name="Vendor Engagement">
      <a:dk1>
        <a:srgbClr val="1F2A37"/>
      </a:dk1>
      <a:lt1>
        <a:srgbClr val="FFFFFF"/>
      </a:lt1>
      <a:dk2>
        <a:srgbClr val="5B6675"/>
      </a:dk2>
      <a:lt2>
        <a:srgbClr val="EEF1F5"/>
      </a:lt2>
      <a:accent1>
        <a:srgbClr val="2A5FA0"/>
      </a:accent1>
      <a:accent2>
        <a:srgbClr val="9FB8D8"/>
      </a:accent2>
      <a:accent3>
        <a:srgbClr val="C9D1DB"/>
      </a:accent3>
      <a:accent4>
        <a:srgbClr val="E3EAF3"/>
      </a:accent4>
      <a:accent5>
        <a:srgbClr val="3F4A59"/>
      </a:accent5>
      <a:accent6>
        <a:srgbClr val="F2F1EC"/>
      </a:accent6>
      <a:hlink>
        <a:srgbClr val="2A5FA0"/>
      </a:hlink>
      <a:folHlink>
        <a:srgbClr val="5B6675"/>
      </a:folHlink>
    </a:clrScheme>
    <a:fontScheme name="Vendor Engagement">
      <a:majorFont>
        <a:latin typeface="Meiryo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来期の取り組み候補（契約区分別）</dc:title>
  <dc:subject>PptxGenJS Presentation</dc:subject>
  <dc:creator>PptxGenJS</dc:creator>
  <cp:lastModifiedBy>PptxGenJS</cp:lastModifiedBy>
  <cp:revision>1</cp:revision>
  <dcterms:created xsi:type="dcterms:W3CDTF">2026-10-28T22:23:08Z</dcterms:created>
  <dcterms:modified xsi:type="dcterms:W3CDTF">2026-10-28T22:23:08Z</dcterms:modified>
</cp:coreProperties>
</file>