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70" r:id="rId16"/>
    <p:sldId id="284" r:id="rId35"/>
    <p:sldId id="309" r:id="rId60"/>
    <p:sldId id="312" r:id="rId63"/>
    <p:sldId id="313" r:id="rId64"/>
    <p:sldId id="314" r:id="rId65"/>
    <p:sldId id="315" r:id="rId66"/>
    <p:sldId id="316" r:id="rId67"/>
    <p:sldId id="317" r:id="rId68"/>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16" Type="http://schemas.openxmlformats.org/officeDocument/2006/relationships/slide" Target="slides/slide4.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 Id="rId60" Type="http://schemas.openxmlformats.org/officeDocument/2006/relationships/slide" Target="slides/slide6.xml"/><Relationship Id="rId63" Type="http://schemas.openxmlformats.org/officeDocument/2006/relationships/slide" Target="slides/slide7.xml"/><Relationship Id="rId64" Type="http://schemas.openxmlformats.org/officeDocument/2006/relationships/slide" Target="slides/slide8.xml"/><Relationship Id="rId65" Type="http://schemas.openxmlformats.org/officeDocument/2006/relationships/slide" Target="slides/slide9.xml"/><Relationship Id="rId66"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前提とデータソースを確認したうえで、第1部でバリューストリーム、第2部でケイパビリティマップを示す。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前提が変わる場合（低分子、一般疾患、日本基準など）は、希少疾患・米国基準に固有の項目と制度名を見直す必要がある。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創薬研究：疾患の原因を理解して標的を定め、抗体を創出・最適化し、開発候補品を1つに絞り込む段階
非臨床開発：開発候補品をヒトに初めて投与できるよう、薬理・体内動態・安全性を非臨床で評価し、INDを発効させる段階
CMC開発（臨床と並行）：候補品を安定して生産し品質を保証できる細胞株・製造プロセス・製剤・分析法を確立し、治験薬を供給し、商用プロセスをバリデーションする段階
臨床開発：自然歴研究で疾患を把握し、患者での臨床試験を通じて、安全性・有効性のエビデンスを確立する段階
BLA申請・審査：開発で得たエビデンスをBLAにまとめてFDAに提出し、審査・査察に対応して承認を得る段階
商用製造（継続）：承認されたプロセスで、原薬・製剤をGMPに従って製造し、品質を保証して出荷できる状態にする継続的な活動
上市（1回きり）：承認後、価格・償還と、診断支援・流通・情報提供の体制を整え、患者が治療を受けられる状態をつくる段階
供給・流通（継続）：需要に応じて、品質を保った製品を患者・医療機関へ継続的に届ける活動
市販後：市販後の安全性を監視し、FDAとの約束（PMR／PMC）を果たし、適応追加などで製品価値を最大化する継続的な活動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戦略・ガバナンス（戦略）：研究開発の方向性・資源配分と、知財・外部パートナーを通じた事業基盤を統制する能力
研究（創薬）（コア）：疾患を理解し、標的に対する抗体を創出・最適化して開発候補品を生み出す能力
非臨床・臨床薬理（コア）：ヒトへの投与を可能にし、用法用量を裏づける薬理・安全性・体内動態の知見を生み出す能力
CMC開発（コア）：生細胞で抗体を安定して生産し、品質を保証できる製造プロセス・製剤・分析法を開発する能力
臨床開発（コア）：少ない患者で、ヒトでの安全性・有効性の確かなエビデンスを生み出す能力
薬事（コア）：FDAとの対話を通じて、開発を承認に導き、承認後も製品を適法に維持する能力
製造（コア）：生細胞を用いて、GMPに従い、原薬・製剤を安定して製造する能力
品質（コア）：製品がGMPなどの要件に適合していることを、製造から独立した立場で試験・保証する能力
ファーマコビジランス（安全性）（コア）：治験中から市販後まで、有害事象を把握し、リスクを評価・最小化する能力
メディカル・患者エンゲージメント（コア）：患者・患者団体・専門医との関係を築き、科学的情報と支援を通じて患者に届ける能力（希少疾患で差別化の源泉）
市場アクセス・商業（コア）：製品の価値を価格と償還に結びつけ、適正に販売する能力
サプライチェーン（コア）：患者単位の需要に応え、品質を保った製品を確実に届ける能力
共通基盤（支援）：全領域が使う情報・文書・教育の基盤を提供する能力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fda.gov/industry/medical-products-rare-diseases-and-conditions/rare-pediatric-disease-designation-and-priority-review-voucher-programs" TargetMode="External"/><Relationship Id="rId2" Type="http://schemas.openxmlformats.org/officeDocument/2006/relationships/hyperlink" Target="https://www.spencerfane.com/insight/congress-extends-rare-pediatric-disease-priority-review-voucher-program-through-2029/" TargetMode="External"/><Relationship Id="rId3" Type="http://schemas.openxmlformats.org/officeDocument/2006/relationships/hyperlink" Target="https://www.wsgr.com/en/insights/congress-reauthorizes-the-rare-pediatric-disease-priority-review-voucher-program-and-clarifies-orphan-drug-exclusivity.html" TargetMode="External"/><Relationship Id="rId4" Type="http://schemas.openxmlformats.org/officeDocument/2006/relationships/hyperlink" Target="https://www.jonesday.com/en/insights/2025/07/congress-expands-orphan-drug-exemptions-from-medicare-price-negotiations" TargetMode="External"/><Relationship Id="rId5" Type="http://schemas.openxmlformats.org/officeDocument/2006/relationships/hyperlink" Target="https://www.fda.gov/industry/fda-rare-disease-innovation-hub/cdercber-rare-disease-evidence-principles-rdep" TargetMode="External"/><Relationship Id="rId6" Type="http://schemas.openxmlformats.org/officeDocument/2006/relationships/hyperlink" Target="https://www.cooley.com/news/insight/2025/2025-09-19-the-correct-clinical-study-for-ultra-rare-diseases-involving-genetic-defects-fdas-rare-disease-evidence-principles-process-provides-guidance-for-applications-supported-by-a-single-pivotal-trial" TargetMode="Externa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hyperlink" Target="https://www.fda.gov/industry/medical-products-rare-diseases-and-conditions/rare-pediatric-disease-designation-and-priority-review-voucher-programs" TargetMode="External"/><Relationship Id="rId2" Type="http://schemas.openxmlformats.org/officeDocument/2006/relationships/hyperlink" Target="https://www.spencerfane.com/insight/congress-extends-rare-pediatric-disease-priority-review-voucher-program-through-2029/" TargetMode="External"/><Relationship Id="rId3" Type="http://schemas.openxmlformats.org/officeDocument/2006/relationships/hyperlink" Target="https://www.wsgr.com/en/insights/congress-reauthorizes-the-rare-pediatric-disease-priority-review-voucher-program-and-clarifies-orphan-drug-exclusivity.html" TargetMode="External"/><Relationship Id="rId4" Type="http://schemas.openxmlformats.org/officeDocument/2006/relationships/hyperlink" Target="https://www.jonesday.com/en/insights/2025/07/congress-expands-orphan-drug-exemptions-from-medicare-price-negotiations" TargetMode="External"/><Relationship Id="rId5" Type="http://schemas.openxmlformats.org/officeDocument/2006/relationships/hyperlink" Target="https://www.fda.gov/industry/fda-rare-disease-innovation-hub/cdercber-rare-disease-evidence-principles-rdep" TargetMode="External"/><Relationship Id="rId6" Type="http://schemas.openxmlformats.org/officeDocument/2006/relationships/hyperlink" Target="https://www.cooley.com/news/insight/2025/2025-09-19-the-correct-clinical-study-for-ultra-rare-diseases-involving-genetic-defects-fdas-rare-disease-evidence-principles-process-provides-guidance-for-applications-supported-by-a-single-pivotal-trial" TargetMode="External"/><Relationship Id="rId7"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hyperlink" Target="https://www.fda.gov/industry/medical-products-rare-diseases-and-conditions/rare-pediatric-disease-designation-and-priority-review-voucher-programs" TargetMode="External"/><Relationship Id="rId2" Type="http://schemas.openxmlformats.org/officeDocument/2006/relationships/hyperlink" Target="https://www.spencerfane.com/insight/congress-extends-rare-pediatric-disease-priority-review-voucher-program-through-2029/" TargetMode="External"/><Relationship Id="rId3" Type="http://schemas.openxmlformats.org/officeDocument/2006/relationships/hyperlink" Target="https://www.wsgr.com/en/insights/congress-reauthorizes-the-rare-pediatric-disease-priority-review-voucher-program-and-clarifies-orphan-drug-exclusivity.html" TargetMode="External"/><Relationship Id="rId4" Type="http://schemas.openxmlformats.org/officeDocument/2006/relationships/hyperlink" Target="https://www.jonesday.com/en/insights/2025/07/congress-expands-orphan-drug-exemptions-from-medicare-price-negotiations" TargetMode="External"/><Relationship Id="rId5" Type="http://schemas.openxmlformats.org/officeDocument/2006/relationships/hyperlink" Target="https://www.fda.gov/industry/fda-rare-disease-innovation-hub/cdercber-rare-disease-evidence-principles-rdep" TargetMode="External"/><Relationship Id="rId6" Type="http://schemas.openxmlformats.org/officeDocument/2006/relationships/hyperlink" Target="https://www.cooley.com/news/insight/2025/2025-09-19-the-correct-clinical-study-for-ultra-rare-diseases-involving-genetic-defects-fdas-rare-disease-evidence-principles-process-provides-guidance-for-applications-supported-by-a-single-pivotal-trial" TargetMode="External"/><Relationship Id="rId7"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hyperlink" Target="https://www.fda.gov/industry/medical-products-rare-diseases-and-conditions/rare-pediatric-disease-designation-and-priority-review-voucher-programs" TargetMode="External"/><Relationship Id="rId2" Type="http://schemas.openxmlformats.org/officeDocument/2006/relationships/hyperlink" Target="https://www.spencerfane.com/insight/congress-extends-rare-pediatric-disease-priority-review-voucher-program-through-2029/" TargetMode="External"/><Relationship Id="rId3" Type="http://schemas.openxmlformats.org/officeDocument/2006/relationships/hyperlink" Target="https://www.wsgr.com/en/insights/congress-reauthorizes-the-rare-pediatric-disease-priority-review-voucher-program-and-clarifies-orphan-drug-exclusivity.html" TargetMode="External"/><Relationship Id="rId4" Type="http://schemas.openxmlformats.org/officeDocument/2006/relationships/hyperlink" Target="https://www.jonesday.com/en/insights/2025/07/congress-expands-orphan-drug-exemptions-from-medicare-price-negotiations" TargetMode="External"/><Relationship Id="rId5" Type="http://schemas.openxmlformats.org/officeDocument/2006/relationships/hyperlink" Target="https://www.fda.gov/industry/fda-rare-disease-innovation-hub/cdercber-rare-disease-evidence-principles-rdep" TargetMode="External"/><Relationship Id="rId6" Type="http://schemas.openxmlformats.org/officeDocument/2006/relationships/hyperlink" Target="https://www.cooley.com/news/insight/2025/2025-09-19-the-correct-clinical-study-for-ultra-rare-diseases-involving-genetic-defects-fdas-rare-disease-evidence-principles-process-provides-guidance-for-applications-supported-by-a-single-pivotal-trial" TargetMode="External"/><Relationship Id="rId7"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E35"/>
        </a:solidFill>
      </p:bgPr>
    </p:bg>
    <p:spTree>
      <p:nvGrpSpPr>
        <p:cNvPr id="1" name=""/>
        <p:cNvGrpSpPr/>
        <p:nvPr/>
      </p:nvGrpSpPr>
      <p:grpSpPr>
        <a:xfrm>
          <a:off x="0" y="0"/>
          <a:ext cx="0" cy="0"/>
          <a:chOff x="0" y="0"/>
          <a:chExt cx="0" cy="0"/>
        </a:xfrm>
      </p:grpSpPr>
      <p:sp>
        <p:nvSpPr>
          <p:cNvPr id="2" name="Text 0"/>
          <p:cNvSpPr txBox="1"/>
          <p:nvPr/>
        </p:nvSpPr>
        <p:spPr>
          <a:xfrm>
            <a:off x="731520" y="1783080"/>
            <a:ext cx="10515600" cy="1005840"/>
          </a:xfrm>
          <a:prstGeom prst="rect">
            <a:avLst/>
          </a:prstGeom>
          <a:noFill/>
          <a:ln/>
        </p:spPr>
        <p:txBody>
          <a:bodyPr wrap="square" lIns="0" tIns="0" rIns="0" bIns="0" rtlCol="0" anchor="ctr"/>
          <a:lstStyle/>
          <a:p>
            <a:pPr indent="0" marL="0">
              <a:buNone/>
            </a:pPr>
            <a:r>
              <a:rPr lang="en-US" sz="4800" b="1" dirty="0">
                <a:solidFill>
                  <a:srgbClr val="FFFFFF"/>
                </a:solidFill>
                <a:latin typeface="Yu Gothic" pitchFamily="34" charset="0"/>
                <a:ea typeface="Yu Gothic" pitchFamily="34" charset="-122"/>
                <a:cs typeface="Yu Gothic" pitchFamily="34" charset="-120"/>
              </a:rPr>
              <a:t>Target-to-Patient</a:t>
            </a:r>
            <a:endParaRPr lang="en-US" sz="4800" dirty="0"/>
          </a:p>
        </p:txBody>
      </p:sp>
      <p:sp>
        <p:nvSpPr>
          <p:cNvPr id="3" name="Text 1"/>
          <p:cNvSpPr txBox="1"/>
          <p:nvPr/>
        </p:nvSpPr>
        <p:spPr>
          <a:xfrm>
            <a:off x="731520" y="2880360"/>
            <a:ext cx="9601200" cy="822960"/>
          </a:xfrm>
          <a:prstGeom prst="rect">
            <a:avLst/>
          </a:prstGeom>
          <a:noFill/>
          <a:ln/>
        </p:spPr>
        <p:txBody>
          <a:bodyPr wrap="square" lIns="0" tIns="0" rIns="0" bIns="0" rtlCol="0" anchor="t"/>
          <a:lstStyle/>
          <a:p>
            <a:pPr indent="0" marL="0">
              <a:buNone/>
            </a:pPr>
            <a:r>
              <a:rPr lang="en-US" sz="1800" dirty="0">
                <a:solidFill>
                  <a:srgbClr val="D5DEE0"/>
                </a:solidFill>
                <a:latin typeface="Yu Gothic" pitchFamily="34" charset="0"/>
                <a:ea typeface="Yu Gothic" pitchFamily="34" charset="-122"/>
                <a:cs typeface="Yu Gothic" pitchFamily="34" charset="-120"/>
              </a:rPr>
              <a:t>希少疾患の標的探索から、FDA承認・上市を経て、少数の患者へ確実に届け、市販後に価値を最大化するまで</a:t>
            </a:r>
            <a:endParaRPr lang="en-US" sz="1800" dirty="0"/>
          </a:p>
        </p:txBody>
      </p:sp>
      <p:sp>
        <p:nvSpPr>
          <p:cNvPr id="4" name="Text 2"/>
          <p:cNvSpPr txBox="1"/>
          <p:nvPr/>
        </p:nvSpPr>
        <p:spPr>
          <a:xfrm>
            <a:off x="731520" y="3840480"/>
            <a:ext cx="9601200" cy="365760"/>
          </a:xfrm>
          <a:prstGeom prst="rect">
            <a:avLst/>
          </a:prstGeom>
          <a:noFill/>
          <a:ln/>
        </p:spPr>
        <p:txBody>
          <a:bodyPr wrap="square" lIns="0" tIns="0" rIns="0" bIns="0" rtlCol="0" anchor="ctr"/>
          <a:lstStyle/>
          <a:p>
            <a:pPr indent="0" marL="0">
              <a:buNone/>
            </a:pPr>
            <a:r>
              <a:rPr lang="en-US" sz="1300" dirty="0">
                <a:solidFill>
                  <a:srgbClr val="A9BCC1"/>
                </a:solidFill>
                <a:latin typeface="Yu Gothic" pitchFamily="34" charset="0"/>
                <a:ea typeface="Yu Gothic" pitchFamily="34" charset="-122"/>
                <a:cs typeface="Yu Gothic" pitchFamily="34" charset="-120"/>
              </a:rPr>
              <a:t>希少疾患向け新規バイオ医薬品（抗体医薬）／米国基準（FDA・BLA）</a:t>
            </a:r>
            <a:endParaRPr lang="en-US" sz="1300" dirty="0"/>
          </a:p>
        </p:txBody>
      </p:sp>
      <p:sp>
        <p:nvSpPr>
          <p:cNvPr id="5" name="Shape 3"/>
          <p:cNvSpPr/>
          <p:nvPr/>
        </p:nvSpPr>
        <p:spPr>
          <a:xfrm>
            <a:off x="731520" y="5120640"/>
            <a:ext cx="530352" cy="237744"/>
          </a:xfrm>
          <a:prstGeom prst="homePlate">
            <a:avLst/>
          </a:prstGeom>
          <a:solidFill>
            <a:srgbClr val="4B6A74"/>
          </a:solidFill>
          <a:ln w="9525">
            <a:solidFill>
              <a:srgbClr val="1F2E35"/>
            </a:solidFill>
            <a:prstDash val="solid"/>
          </a:ln>
        </p:spPr>
      </p:sp>
      <p:sp>
        <p:nvSpPr>
          <p:cNvPr id="6" name="Shape 4"/>
          <p:cNvSpPr/>
          <p:nvPr/>
        </p:nvSpPr>
        <p:spPr>
          <a:xfrm>
            <a:off x="1298448" y="5120640"/>
            <a:ext cx="530352" cy="237744"/>
          </a:xfrm>
          <a:prstGeom prst="homePlate">
            <a:avLst/>
          </a:prstGeom>
          <a:solidFill>
            <a:srgbClr val="4B6A74"/>
          </a:solidFill>
          <a:ln w="9525">
            <a:solidFill>
              <a:srgbClr val="1F2E35"/>
            </a:solidFill>
            <a:prstDash val="solid"/>
          </a:ln>
        </p:spPr>
      </p:sp>
      <p:sp>
        <p:nvSpPr>
          <p:cNvPr id="7" name="Shape 5"/>
          <p:cNvSpPr/>
          <p:nvPr/>
        </p:nvSpPr>
        <p:spPr>
          <a:xfrm>
            <a:off x="1865376" y="5120640"/>
            <a:ext cx="530352" cy="237744"/>
          </a:xfrm>
          <a:prstGeom prst="homePlate">
            <a:avLst/>
          </a:prstGeom>
          <a:solidFill>
            <a:srgbClr val="4B6A74"/>
          </a:solidFill>
          <a:ln w="9525">
            <a:solidFill>
              <a:srgbClr val="1F2E35"/>
            </a:solidFill>
            <a:prstDash val="solid"/>
          </a:ln>
        </p:spPr>
      </p:sp>
      <p:sp>
        <p:nvSpPr>
          <p:cNvPr id="8" name="Shape 6"/>
          <p:cNvSpPr/>
          <p:nvPr/>
        </p:nvSpPr>
        <p:spPr>
          <a:xfrm>
            <a:off x="2432304" y="5120640"/>
            <a:ext cx="530352" cy="237744"/>
          </a:xfrm>
          <a:prstGeom prst="homePlate">
            <a:avLst/>
          </a:prstGeom>
          <a:solidFill>
            <a:srgbClr val="4B6A74"/>
          </a:solidFill>
          <a:ln w="9525">
            <a:solidFill>
              <a:srgbClr val="1F2E35"/>
            </a:solidFill>
            <a:prstDash val="solid"/>
          </a:ln>
        </p:spPr>
      </p:sp>
      <p:sp>
        <p:nvSpPr>
          <p:cNvPr id="9" name="Shape 7"/>
          <p:cNvSpPr/>
          <p:nvPr/>
        </p:nvSpPr>
        <p:spPr>
          <a:xfrm>
            <a:off x="2999232" y="5120640"/>
            <a:ext cx="530352" cy="237744"/>
          </a:xfrm>
          <a:prstGeom prst="homePlate">
            <a:avLst/>
          </a:prstGeom>
          <a:solidFill>
            <a:srgbClr val="4B6A74"/>
          </a:solidFill>
          <a:ln w="9525">
            <a:solidFill>
              <a:srgbClr val="1F2E35"/>
            </a:solidFill>
            <a:prstDash val="solid"/>
          </a:ln>
        </p:spPr>
      </p:sp>
      <p:sp>
        <p:nvSpPr>
          <p:cNvPr id="10" name="Shape 8"/>
          <p:cNvSpPr/>
          <p:nvPr/>
        </p:nvSpPr>
        <p:spPr>
          <a:xfrm>
            <a:off x="3566160" y="5120640"/>
            <a:ext cx="530352" cy="237744"/>
          </a:xfrm>
          <a:prstGeom prst="homePlate">
            <a:avLst/>
          </a:prstGeom>
          <a:solidFill>
            <a:srgbClr val="6E8B93"/>
          </a:solidFill>
          <a:ln w="9525">
            <a:solidFill>
              <a:srgbClr val="1F2E35"/>
            </a:solidFill>
            <a:prstDash val="solid"/>
          </a:ln>
        </p:spPr>
      </p:sp>
      <p:sp>
        <p:nvSpPr>
          <p:cNvPr id="11" name="Shape 9"/>
          <p:cNvSpPr/>
          <p:nvPr/>
        </p:nvSpPr>
        <p:spPr>
          <a:xfrm>
            <a:off x="4133088" y="5120640"/>
            <a:ext cx="530352" cy="237744"/>
          </a:xfrm>
          <a:prstGeom prst="homePlate">
            <a:avLst/>
          </a:prstGeom>
          <a:solidFill>
            <a:srgbClr val="6E8B93"/>
          </a:solidFill>
          <a:ln w="9525">
            <a:solidFill>
              <a:srgbClr val="1F2E35"/>
            </a:solidFill>
            <a:prstDash val="solid"/>
          </a:ln>
        </p:spPr>
      </p:sp>
      <p:sp>
        <p:nvSpPr>
          <p:cNvPr id="12" name="Shape 10"/>
          <p:cNvSpPr/>
          <p:nvPr/>
        </p:nvSpPr>
        <p:spPr>
          <a:xfrm>
            <a:off x="4700016" y="5120640"/>
            <a:ext cx="530352" cy="237744"/>
          </a:xfrm>
          <a:prstGeom prst="homePlate">
            <a:avLst/>
          </a:prstGeom>
          <a:solidFill>
            <a:srgbClr val="6E8B93"/>
          </a:solidFill>
          <a:ln w="9525">
            <a:solidFill>
              <a:srgbClr val="1F2E35"/>
            </a:solidFill>
            <a:prstDash val="solid"/>
          </a:ln>
        </p:spPr>
      </p:sp>
      <p:sp>
        <p:nvSpPr>
          <p:cNvPr id="13" name="Shape 11"/>
          <p:cNvSpPr/>
          <p:nvPr/>
        </p:nvSpPr>
        <p:spPr>
          <a:xfrm>
            <a:off x="5266944" y="5120640"/>
            <a:ext cx="530352" cy="237744"/>
          </a:xfrm>
          <a:prstGeom prst="homePlate">
            <a:avLst/>
          </a:prstGeom>
          <a:solidFill>
            <a:srgbClr val="6E8B93"/>
          </a:solidFill>
          <a:ln w="9525">
            <a:solidFill>
              <a:srgbClr val="1F2E3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9144000" cy="640080"/>
          </a:xfrm>
          <a:prstGeom prst="rect">
            <a:avLst/>
          </a:prstGeom>
          <a:noFill/>
          <a:ln/>
        </p:spPr>
        <p:txBody>
          <a:bodyPr wrap="square" lIns="0" tIns="0" rIns="0" bIns="0" rtlCol="0" anchor="ctr"/>
          <a:lstStyle/>
          <a:p>
            <a:pPr indent="0" marL="0">
              <a:buNone/>
            </a:pPr>
            <a:r>
              <a:rPr lang="en-US" sz="3000" b="1" dirty="0">
                <a:solidFill>
                  <a:srgbClr val="1F2E35"/>
                </a:solidFill>
                <a:latin typeface="Yu Gothic" pitchFamily="34" charset="0"/>
                <a:ea typeface="Yu Gothic" pitchFamily="34" charset="-122"/>
                <a:cs typeface="Yu Gothic" pitchFamily="34" charset="-120"/>
              </a:rPr>
              <a:t>前提条件とデータソース</a:t>
            </a:r>
            <a:endParaRPr lang="en-US" sz="3000" dirty="0"/>
          </a:p>
        </p:txBody>
      </p:sp>
      <p:sp>
        <p:nvSpPr>
          <p:cNvPr id="3" name="Text 1"/>
          <p:cNvSpPr txBox="1"/>
          <p:nvPr/>
        </p:nvSpPr>
        <p:spPr>
          <a:xfrm>
            <a:off x="457200" y="960120"/>
            <a:ext cx="9144000" cy="365760"/>
          </a:xfrm>
          <a:prstGeom prst="rect">
            <a:avLst/>
          </a:prstGeom>
          <a:noFill/>
          <a:ln/>
        </p:spPr>
        <p:txBody>
          <a:bodyPr wrap="square" lIns="0" tIns="0" rIns="0" bIns="0" rtlCol="0" anchor="ctr"/>
          <a:lstStyle/>
          <a:p>
            <a:pPr indent="0" marL="0">
              <a:buNone/>
            </a:pPr>
            <a:r>
              <a:rPr lang="en-US" sz="1400" dirty="0">
                <a:solidFill>
                  <a:srgbClr val="5B6B70"/>
                </a:solidFill>
                <a:latin typeface="Yu Gothic" pitchFamily="34" charset="0"/>
                <a:ea typeface="Yu Gothic" pitchFamily="34" charset="-122"/>
                <a:cs typeface="Yu Gothic" pitchFamily="34" charset="-120"/>
              </a:rPr>
              <a:t>本資料は、次の前提で定義したマップ一式の全体像を図示したものです。</a:t>
            </a:r>
            <a:endParaRPr lang="en-US" sz="1400" dirty="0"/>
          </a:p>
        </p:txBody>
      </p:sp>
      <p:sp>
        <p:nvSpPr>
          <p:cNvPr id="4" name="Text 2"/>
          <p:cNvSpPr txBox="1"/>
          <p:nvPr/>
        </p:nvSpPr>
        <p:spPr>
          <a:xfrm>
            <a:off x="457200" y="1600200"/>
            <a:ext cx="5486400" cy="320040"/>
          </a:xfrm>
          <a:prstGeom prst="rect">
            <a:avLst/>
          </a:prstGeom>
          <a:noFill/>
          <a:ln/>
        </p:spPr>
        <p:txBody>
          <a:bodyPr wrap="square" lIns="0" tIns="0" rIns="0" bIns="0" rtlCol="0" anchor="ctr"/>
          <a:lstStyle/>
          <a:p>
            <a:pPr indent="0" marL="0">
              <a:buNone/>
            </a:pPr>
            <a:r>
              <a:rPr lang="en-US" sz="1600" b="1" dirty="0">
                <a:solidFill>
                  <a:srgbClr val="2F4F5A"/>
                </a:solidFill>
                <a:latin typeface="Yu Gothic" pitchFamily="34" charset="0"/>
                <a:ea typeface="Yu Gothic" pitchFamily="34" charset="-122"/>
                <a:cs typeface="Yu Gothic" pitchFamily="34" charset="-120"/>
              </a:rPr>
              <a:t>前提条件</a:t>
            </a:r>
            <a:endParaRPr lang="en-US" sz="1600" dirty="0"/>
          </a:p>
        </p:txBody>
      </p:sp>
      <p:sp>
        <p:nvSpPr>
          <p:cNvPr id="5" name="Shape 3"/>
          <p:cNvSpPr/>
          <p:nvPr/>
        </p:nvSpPr>
        <p:spPr>
          <a:xfrm>
            <a:off x="457200" y="2011680"/>
            <a:ext cx="6035040" cy="822960"/>
          </a:xfrm>
          <a:prstGeom prst="rect">
            <a:avLst/>
          </a:prstGeom>
          <a:solidFill>
            <a:srgbClr val="EEF2F2"/>
          </a:solidFill>
          <a:ln w="12700">
            <a:solidFill>
              <a:srgbClr val="EEF2F2"/>
            </a:solidFill>
            <a:prstDash val="solid"/>
          </a:ln>
        </p:spPr>
      </p:sp>
      <p:sp>
        <p:nvSpPr>
          <p:cNvPr id="6" name="Text 4"/>
          <p:cNvSpPr txBox="1"/>
          <p:nvPr/>
        </p:nvSpPr>
        <p:spPr>
          <a:xfrm>
            <a:off x="640080" y="2011680"/>
            <a:ext cx="1463040" cy="822960"/>
          </a:xfrm>
          <a:prstGeom prst="rect">
            <a:avLst/>
          </a:prstGeom>
          <a:noFill/>
          <a:ln/>
        </p:spPr>
        <p:txBody>
          <a:bodyPr wrap="square" lIns="0" tIns="0" rIns="0" bIns="0" rtlCol="0" anchor="ctr"/>
          <a:lstStyle/>
          <a:p>
            <a:pPr indent="0" marL="0">
              <a:buNone/>
            </a:pPr>
            <a:r>
              <a:rPr lang="en-US" sz="1300" b="1" dirty="0">
                <a:solidFill>
                  <a:srgbClr val="2F4F5A"/>
                </a:solidFill>
                <a:latin typeface="Yu Gothic" pitchFamily="34" charset="0"/>
                <a:ea typeface="Yu Gothic" pitchFamily="34" charset="-122"/>
                <a:cs typeface="Yu Gothic" pitchFamily="34" charset="-120"/>
              </a:rPr>
              <a:t>モダリティ</a:t>
            </a:r>
            <a:endParaRPr lang="en-US" sz="1300" dirty="0"/>
          </a:p>
        </p:txBody>
      </p:sp>
      <p:sp>
        <p:nvSpPr>
          <p:cNvPr id="7" name="Text 5"/>
          <p:cNvSpPr txBox="1"/>
          <p:nvPr/>
        </p:nvSpPr>
        <p:spPr>
          <a:xfrm>
            <a:off x="2148840" y="2011680"/>
            <a:ext cx="4206240" cy="822960"/>
          </a:xfrm>
          <a:prstGeom prst="rect">
            <a:avLst/>
          </a:prstGeom>
          <a:noFill/>
          <a:ln/>
        </p:spPr>
        <p:txBody>
          <a:bodyPr wrap="square" lIns="0" tIns="0" rIns="0" bIns="0" rtlCol="0" anchor="ctr"/>
          <a:lstStyle/>
          <a:p>
            <a:pPr indent="0" marL="0">
              <a:buNone/>
            </a:pPr>
            <a:r>
              <a:rPr lang="en-US" sz="1300" dirty="0">
                <a:solidFill>
                  <a:srgbClr val="1F2E35"/>
                </a:solidFill>
                <a:latin typeface="Yu Gothic" pitchFamily="34" charset="0"/>
                <a:ea typeface="Yu Gothic" pitchFamily="34" charset="-122"/>
                <a:cs typeface="Yu Gothic" pitchFamily="34" charset="-120"/>
              </a:rPr>
              <a:t>高分子（バイオ医薬品）。代表例として抗体医薬を想定</a:t>
            </a:r>
            <a:endParaRPr lang="en-US" sz="1300" dirty="0"/>
          </a:p>
        </p:txBody>
      </p:sp>
      <p:sp>
        <p:nvSpPr>
          <p:cNvPr id="8" name="Shape 6"/>
          <p:cNvSpPr/>
          <p:nvPr/>
        </p:nvSpPr>
        <p:spPr>
          <a:xfrm>
            <a:off x="457200" y="2971800"/>
            <a:ext cx="6035040" cy="822960"/>
          </a:xfrm>
          <a:prstGeom prst="rect">
            <a:avLst/>
          </a:prstGeom>
          <a:solidFill>
            <a:srgbClr val="EEF2F2"/>
          </a:solidFill>
          <a:ln w="12700">
            <a:solidFill>
              <a:srgbClr val="EEF2F2"/>
            </a:solidFill>
            <a:prstDash val="solid"/>
          </a:ln>
        </p:spPr>
      </p:sp>
      <p:sp>
        <p:nvSpPr>
          <p:cNvPr id="9" name="Text 7"/>
          <p:cNvSpPr txBox="1"/>
          <p:nvPr/>
        </p:nvSpPr>
        <p:spPr>
          <a:xfrm>
            <a:off x="640080" y="2971800"/>
            <a:ext cx="1463040" cy="822960"/>
          </a:xfrm>
          <a:prstGeom prst="rect">
            <a:avLst/>
          </a:prstGeom>
          <a:noFill/>
          <a:ln/>
        </p:spPr>
        <p:txBody>
          <a:bodyPr wrap="square" lIns="0" tIns="0" rIns="0" bIns="0" rtlCol="0" anchor="ctr"/>
          <a:lstStyle/>
          <a:p>
            <a:pPr indent="0" marL="0">
              <a:buNone/>
            </a:pPr>
            <a:r>
              <a:rPr lang="en-US" sz="1300" b="1" dirty="0">
                <a:solidFill>
                  <a:srgbClr val="2F4F5A"/>
                </a:solidFill>
                <a:latin typeface="Yu Gothic" pitchFamily="34" charset="0"/>
                <a:ea typeface="Yu Gothic" pitchFamily="34" charset="-122"/>
                <a:cs typeface="Yu Gothic" pitchFamily="34" charset="-120"/>
              </a:rPr>
              <a:t>対象疾患</a:t>
            </a:r>
            <a:endParaRPr lang="en-US" sz="1300" dirty="0"/>
          </a:p>
        </p:txBody>
      </p:sp>
      <p:sp>
        <p:nvSpPr>
          <p:cNvPr id="10" name="Text 8"/>
          <p:cNvSpPr txBox="1"/>
          <p:nvPr/>
        </p:nvSpPr>
        <p:spPr>
          <a:xfrm>
            <a:off x="2148840" y="2971800"/>
            <a:ext cx="4206240" cy="822960"/>
          </a:xfrm>
          <a:prstGeom prst="rect">
            <a:avLst/>
          </a:prstGeom>
          <a:noFill/>
          <a:ln/>
        </p:spPr>
        <p:txBody>
          <a:bodyPr wrap="square" lIns="0" tIns="0" rIns="0" bIns="0" rtlCol="0" anchor="ctr"/>
          <a:lstStyle/>
          <a:p>
            <a:pPr indent="0" marL="0">
              <a:buNone/>
            </a:pPr>
            <a:r>
              <a:rPr lang="en-US" sz="1300" dirty="0">
                <a:solidFill>
                  <a:srgbClr val="1F2E35"/>
                </a:solidFill>
                <a:latin typeface="Yu Gothic" pitchFamily="34" charset="0"/>
                <a:ea typeface="Yu Gothic" pitchFamily="34" charset="-122"/>
                <a:cs typeface="Yu Gothic" pitchFamily="34" charset="-120"/>
              </a:rPr>
              <a:t>希少疾患（米国の患者数が20万人未満）</a:t>
            </a:r>
            <a:endParaRPr lang="en-US" sz="1300" dirty="0"/>
          </a:p>
        </p:txBody>
      </p:sp>
      <p:sp>
        <p:nvSpPr>
          <p:cNvPr id="11" name="Shape 9"/>
          <p:cNvSpPr/>
          <p:nvPr/>
        </p:nvSpPr>
        <p:spPr>
          <a:xfrm>
            <a:off x="457200" y="3931920"/>
            <a:ext cx="6035040" cy="822960"/>
          </a:xfrm>
          <a:prstGeom prst="rect">
            <a:avLst/>
          </a:prstGeom>
          <a:solidFill>
            <a:srgbClr val="EEF2F2"/>
          </a:solidFill>
          <a:ln w="12700">
            <a:solidFill>
              <a:srgbClr val="EEF2F2"/>
            </a:solidFill>
            <a:prstDash val="solid"/>
          </a:ln>
        </p:spPr>
      </p:sp>
      <p:sp>
        <p:nvSpPr>
          <p:cNvPr id="12" name="Text 10"/>
          <p:cNvSpPr txBox="1"/>
          <p:nvPr/>
        </p:nvSpPr>
        <p:spPr>
          <a:xfrm>
            <a:off x="640080" y="3931920"/>
            <a:ext cx="1463040" cy="822960"/>
          </a:xfrm>
          <a:prstGeom prst="rect">
            <a:avLst/>
          </a:prstGeom>
          <a:noFill/>
          <a:ln/>
        </p:spPr>
        <p:txBody>
          <a:bodyPr wrap="square" lIns="0" tIns="0" rIns="0" bIns="0" rtlCol="0" anchor="ctr"/>
          <a:lstStyle/>
          <a:p>
            <a:pPr indent="0" marL="0">
              <a:buNone/>
            </a:pPr>
            <a:r>
              <a:rPr lang="en-US" sz="1300" b="1" dirty="0">
                <a:solidFill>
                  <a:srgbClr val="2F4F5A"/>
                </a:solidFill>
                <a:latin typeface="Yu Gothic" pitchFamily="34" charset="0"/>
                <a:ea typeface="Yu Gothic" pitchFamily="34" charset="-122"/>
                <a:cs typeface="Yu Gothic" pitchFamily="34" charset="-120"/>
              </a:rPr>
              <a:t>対象製品</a:t>
            </a:r>
            <a:endParaRPr lang="en-US" sz="1300" dirty="0"/>
          </a:p>
        </p:txBody>
      </p:sp>
      <p:sp>
        <p:nvSpPr>
          <p:cNvPr id="13" name="Text 11"/>
          <p:cNvSpPr txBox="1"/>
          <p:nvPr/>
        </p:nvSpPr>
        <p:spPr>
          <a:xfrm>
            <a:off x="2148840" y="3931920"/>
            <a:ext cx="4206240" cy="822960"/>
          </a:xfrm>
          <a:prstGeom prst="rect">
            <a:avLst/>
          </a:prstGeom>
          <a:noFill/>
          <a:ln/>
        </p:spPr>
        <p:txBody>
          <a:bodyPr wrap="square" lIns="0" tIns="0" rIns="0" bIns="0" rtlCol="0" anchor="ctr"/>
          <a:lstStyle/>
          <a:p>
            <a:pPr indent="0" marL="0">
              <a:buNone/>
            </a:pPr>
            <a:r>
              <a:rPr lang="en-US" sz="1300" dirty="0">
                <a:solidFill>
                  <a:srgbClr val="1F2E35"/>
                </a:solidFill>
                <a:latin typeface="Yu Gothic" pitchFamily="34" charset="0"/>
                <a:ea typeface="Yu Gothic" pitchFamily="34" charset="-122"/>
                <a:cs typeface="Yu Gothic" pitchFamily="34" charset="-120"/>
              </a:rPr>
              <a:t>新薬（先発品）のみ。バイオシミラーは対象外</a:t>
            </a:r>
            <a:endParaRPr lang="en-US" sz="1300" dirty="0"/>
          </a:p>
        </p:txBody>
      </p:sp>
      <p:sp>
        <p:nvSpPr>
          <p:cNvPr id="14" name="Shape 12"/>
          <p:cNvSpPr/>
          <p:nvPr/>
        </p:nvSpPr>
        <p:spPr>
          <a:xfrm>
            <a:off x="457200" y="4892040"/>
            <a:ext cx="6035040" cy="822960"/>
          </a:xfrm>
          <a:prstGeom prst="rect">
            <a:avLst/>
          </a:prstGeom>
          <a:solidFill>
            <a:srgbClr val="EEF2F2"/>
          </a:solidFill>
          <a:ln w="12700">
            <a:solidFill>
              <a:srgbClr val="EEF2F2"/>
            </a:solidFill>
            <a:prstDash val="solid"/>
          </a:ln>
        </p:spPr>
      </p:sp>
      <p:sp>
        <p:nvSpPr>
          <p:cNvPr id="15" name="Text 13"/>
          <p:cNvSpPr txBox="1"/>
          <p:nvPr/>
        </p:nvSpPr>
        <p:spPr>
          <a:xfrm>
            <a:off x="640080" y="4892040"/>
            <a:ext cx="1463040" cy="822960"/>
          </a:xfrm>
          <a:prstGeom prst="rect">
            <a:avLst/>
          </a:prstGeom>
          <a:noFill/>
          <a:ln/>
        </p:spPr>
        <p:txBody>
          <a:bodyPr wrap="square" lIns="0" tIns="0" rIns="0" bIns="0" rtlCol="0" anchor="ctr"/>
          <a:lstStyle/>
          <a:p>
            <a:pPr indent="0" marL="0">
              <a:buNone/>
            </a:pPr>
            <a:r>
              <a:rPr lang="en-US" sz="1300" b="1" dirty="0">
                <a:solidFill>
                  <a:srgbClr val="2F4F5A"/>
                </a:solidFill>
                <a:latin typeface="Yu Gothic" pitchFamily="34" charset="0"/>
                <a:ea typeface="Yu Gothic" pitchFamily="34" charset="-122"/>
                <a:cs typeface="Yu Gothic" pitchFamily="34" charset="-120"/>
              </a:rPr>
              <a:t>制度の基準</a:t>
            </a:r>
            <a:endParaRPr lang="en-US" sz="1300" dirty="0"/>
          </a:p>
        </p:txBody>
      </p:sp>
      <p:sp>
        <p:nvSpPr>
          <p:cNvPr id="16" name="Text 14"/>
          <p:cNvSpPr txBox="1"/>
          <p:nvPr/>
        </p:nvSpPr>
        <p:spPr>
          <a:xfrm>
            <a:off x="2148840" y="4892040"/>
            <a:ext cx="4206240" cy="822960"/>
          </a:xfrm>
          <a:prstGeom prst="rect">
            <a:avLst/>
          </a:prstGeom>
          <a:noFill/>
          <a:ln/>
        </p:spPr>
        <p:txBody>
          <a:bodyPr wrap="square" lIns="0" tIns="0" rIns="0" bIns="0" rtlCol="0" anchor="ctr"/>
          <a:lstStyle/>
          <a:p>
            <a:pPr indent="0" marL="0">
              <a:buNone/>
            </a:pPr>
            <a:r>
              <a:rPr lang="en-US" sz="1300" dirty="0">
                <a:solidFill>
                  <a:srgbClr val="1F2E35"/>
                </a:solidFill>
                <a:latin typeface="Yu Gothic" pitchFamily="34" charset="0"/>
                <a:ea typeface="Yu Gothic" pitchFamily="34" charset="-122"/>
                <a:cs typeface="Yu Gothic" pitchFamily="34" charset="-120"/>
              </a:rPr>
              <a:t>米国（FDA／CDER、PHS法351条(a)に基づくBLA、21 CFR）</a:t>
            </a:r>
            <a:endParaRPr lang="en-US" sz="1300" dirty="0"/>
          </a:p>
        </p:txBody>
      </p:sp>
      <p:sp>
        <p:nvSpPr>
          <p:cNvPr id="17" name="Text 15"/>
          <p:cNvSpPr txBox="1"/>
          <p:nvPr/>
        </p:nvSpPr>
        <p:spPr>
          <a:xfrm>
            <a:off x="6949440" y="1600200"/>
            <a:ext cx="4846320" cy="320040"/>
          </a:xfrm>
          <a:prstGeom prst="rect">
            <a:avLst/>
          </a:prstGeom>
          <a:noFill/>
          <a:ln/>
        </p:spPr>
        <p:txBody>
          <a:bodyPr wrap="square" lIns="0" tIns="0" rIns="0" bIns="0" rtlCol="0" anchor="ctr"/>
          <a:lstStyle/>
          <a:p>
            <a:pPr indent="0" marL="0">
              <a:buNone/>
            </a:pPr>
            <a:r>
              <a:rPr lang="en-US" sz="1600" b="1" dirty="0">
                <a:solidFill>
                  <a:srgbClr val="2F4F5A"/>
                </a:solidFill>
                <a:latin typeface="Yu Gothic" pitchFamily="34" charset="0"/>
                <a:ea typeface="Yu Gothic" pitchFamily="34" charset="-122"/>
                <a:cs typeface="Yu Gothic" pitchFamily="34" charset="-120"/>
              </a:rPr>
              <a:t>データソース（2026年9月時点）</a:t>
            </a:r>
            <a:endParaRPr lang="en-US" sz="1600" dirty="0"/>
          </a:p>
        </p:txBody>
      </p:sp>
      <p:sp>
        <p:nvSpPr>
          <p:cNvPr id="18" name="Text 16"/>
          <p:cNvSpPr txBox="1"/>
          <p:nvPr/>
        </p:nvSpPr>
        <p:spPr>
          <a:xfrm>
            <a:off x="6949440" y="2011680"/>
            <a:ext cx="4782312" cy="2377440"/>
          </a:xfrm>
          <a:prstGeom prst="rect">
            <a:avLst/>
          </a:prstGeom>
          <a:noFill/>
          <a:ln/>
        </p:spPr>
        <p:txBody>
          <a:bodyPr wrap="square" lIns="0" tIns="0" rIns="0" bIns="0" rtlCol="0" anchor="t"/>
          <a:lstStyle/>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1" invalidUrl="" action="" tgtFrame="" tooltip="" history="1" highlightClick="0" endSnd="0">
                  <a:extLst>
                    <a:ext uri="{A12FA001-AC4F-418D-AE19-62706E023703}">
                      <ahyp:hlinkClr xmlns:ahyp="http://schemas.microsoft.com/office/drawing/2018/hyperlinkcolor" val="tx"/>
                    </a:ext>
                  </a:extLst>
                </a:hlinkClick>
              </a:rPr>
              <a:t>FDA – Rare Pediatric Disease Designation and Priority Review Voucher Programs</a:t>
            </a:r>
            <a:endParaRPr lang="en-US" sz="1100" dirty="0"/>
          </a:p>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2" invalidUrl="" action="" tgtFrame="" tooltip="" history="1" highlightClick="0" endSnd="0">
                  <a:extLst>
                    <a:ext uri="{A12FA001-AC4F-418D-AE19-62706E023703}">
                      <ahyp:hlinkClr xmlns:ahyp="http://schemas.microsoft.com/office/drawing/2018/hyperlinkcolor" val="tx"/>
                    </a:ext>
                  </a:extLst>
                </a:hlinkClick>
              </a:rPr>
              <a:t>Spencer Fane – Congress Extends RPD PRV Program Through 2029</a:t>
            </a:r>
            <a:endParaRPr lang="en-US" sz="1100" dirty="0"/>
          </a:p>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3" invalidUrl="" action="" tgtFrame="" tooltip="" history="1" highlightClick="0" endSnd="0">
                  <a:extLst>
                    <a:ext uri="{A12FA001-AC4F-418D-AE19-62706E023703}">
                      <ahyp:hlinkClr xmlns:ahyp="http://schemas.microsoft.com/office/drawing/2018/hyperlinkcolor" val="tx"/>
                    </a:ext>
                  </a:extLst>
                </a:hlinkClick>
              </a:rPr>
              <a:t>Wilson Sonsini – Congress Reauthorizes the RPD PRV Program and Clarifies Orphan Drug Exclusivity</a:t>
            </a:r>
            <a:endParaRPr lang="en-US" sz="1100" dirty="0"/>
          </a:p>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Jones Day – Congress Expands Orphan Drug Exemptions From Medicare Price Negotiations</a:t>
            </a:r>
            <a:endParaRPr lang="en-US" sz="1100" dirty="0"/>
          </a:p>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5" invalidUrl="" action="" tgtFrame="" tooltip="" history="1" highlightClick="0" endSnd="0">
                  <a:extLst>
                    <a:ext uri="{A12FA001-AC4F-418D-AE19-62706E023703}">
                      <ahyp:hlinkClr xmlns:ahyp="http://schemas.microsoft.com/office/drawing/2018/hyperlinkcolor" val="tx"/>
                    </a:ext>
                  </a:extLst>
                </a:hlinkClick>
              </a:rPr>
              <a:t>FDA – CDER/CBER Rare Disease Evidence Principles (RDEP)</a:t>
            </a:r>
            <a:endParaRPr lang="en-US" sz="1100" dirty="0"/>
          </a:p>
          <a:p>
            <a:pPr marL="152400" indent="-152400">
              <a:spcAft>
                <a:spcPts val="600"/>
              </a:spcAft>
              <a:buSzPct val="100000"/>
              <a:buChar char="•"/>
            </a:pPr>
            <a:r>
              <a:rPr lang="en-US" sz="1100" u="sng" dirty="0">
                <a:solidFill>
                  <a:srgbClr val="2F4F5A"/>
                </a:solidFill>
                <a:latin typeface="Yu Gothic" pitchFamily="34" charset="0"/>
                <a:ea typeface="Yu Gothic" pitchFamily="34" charset="-122"/>
                <a:cs typeface="Yu Gothic" pitchFamily="34" charset="-120"/>
                <a:hlinkClick r:id="rId6" invalidUrl="" action="" tgtFrame="" tooltip="" history="1" highlightClick="0" endSnd="0">
                  <a:extLst>
                    <a:ext uri="{A12FA001-AC4F-418D-AE19-62706E023703}">
                      <ahyp:hlinkClr xmlns:ahyp="http://schemas.microsoft.com/office/drawing/2018/hyperlinkcolor" val="tx"/>
                    </a:ext>
                  </a:extLst>
                </a:hlinkClick>
              </a:rPr>
              <a:t>Cooley – FDA's RDEP Process</a:t>
            </a:r>
            <a:endParaRPr lang="en-US" sz="1100" dirty="0"/>
          </a:p>
        </p:txBody>
      </p:sp>
      <p:sp>
        <p:nvSpPr>
          <p:cNvPr id="19" name="Text 17"/>
          <p:cNvSpPr txBox="1"/>
          <p:nvPr/>
        </p:nvSpPr>
        <p:spPr>
          <a:xfrm>
            <a:off x="6949440" y="4572000"/>
            <a:ext cx="4572000" cy="320040"/>
          </a:xfrm>
          <a:prstGeom prst="rect">
            <a:avLst/>
          </a:prstGeom>
          <a:noFill/>
          <a:ln/>
        </p:spPr>
        <p:txBody>
          <a:bodyPr wrap="square" lIns="0" tIns="0" rIns="0" bIns="0" rtlCol="0" anchor="ctr"/>
          <a:lstStyle/>
          <a:p>
            <a:pPr indent="0" marL="0">
              <a:buNone/>
            </a:pPr>
            <a:r>
              <a:rPr lang="en-US" sz="1600" b="1" dirty="0">
                <a:solidFill>
                  <a:srgbClr val="2F4F5A"/>
                </a:solidFill>
                <a:latin typeface="Yu Gothic" pitchFamily="34" charset="0"/>
                <a:ea typeface="Yu Gothic" pitchFamily="34" charset="-122"/>
                <a:cs typeface="Yu Gothic" pitchFamily="34" charset="-120"/>
              </a:rPr>
              <a:t>読み方</a:t>
            </a:r>
            <a:endParaRPr lang="en-US" sz="1600" dirty="0"/>
          </a:p>
        </p:txBody>
      </p:sp>
      <p:sp>
        <p:nvSpPr>
          <p:cNvPr id="20" name="Text 18"/>
          <p:cNvSpPr txBox="1"/>
          <p:nvPr/>
        </p:nvSpPr>
        <p:spPr>
          <a:xfrm>
            <a:off x="6949440" y="4983480"/>
            <a:ext cx="4782312" cy="14630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F2E35"/>
                </a:solidFill>
                <a:latin typeface="Yu Gothic" pitchFamily="34" charset="0"/>
                <a:ea typeface="Yu Gothic" pitchFamily="34" charset="-122"/>
                <a:cs typeface="Yu Gothic" pitchFamily="34" charset="-120"/>
              </a:rPr>
              <a:t>バリューストリームは段階（L2）とその内訳（L3）、ケイパビリティは領域（L1）と能力（L2）まで、すべての項目を載せています。</a:t>
            </a:r>
            <a:endParaRPr lang="en-US" sz="1200" dirty="0"/>
          </a:p>
          <a:p>
            <a:pPr marL="152400" indent="-152400">
              <a:spcAft>
                <a:spcPts val="600"/>
              </a:spcAft>
              <a:buSzPct val="100000"/>
              <a:buChar char="•"/>
            </a:pPr>
            <a:r>
              <a:rPr lang="en-US" sz="1200" dirty="0">
                <a:solidFill>
                  <a:srgbClr val="1F2E35"/>
                </a:solidFill>
                <a:latin typeface="Yu Gothic" pitchFamily="34" charset="0"/>
                <a:ea typeface="Yu Gothic" pitchFamily="34" charset="-122"/>
                <a:cs typeface="Yu Gothic" pitchFamily="34" charset="-120"/>
              </a:rPr>
              <a:t>出口（ゲート）は、次の段階へ進む判断の節目です。</a:t>
            </a:r>
            <a:endParaRPr lang="en-US" sz="1200" dirty="0"/>
          </a:p>
          <a:p>
            <a:pPr marL="152400" indent="-152400">
              <a:spcAft>
                <a:spcPts val="600"/>
              </a:spcAft>
              <a:buSzPct val="100000"/>
              <a:buChar char="•"/>
            </a:pPr>
            <a:r>
              <a:rPr lang="en-US" sz="1200" dirty="0">
                <a:solidFill>
                  <a:srgbClr val="1F2E35"/>
                </a:solidFill>
                <a:latin typeface="Yu Gothic" pitchFamily="34" charset="0"/>
                <a:ea typeface="Yu Gothic" pitchFamily="34" charset="-122"/>
                <a:cs typeface="Yu Gothic" pitchFamily="34" charset="-120"/>
              </a:rPr>
              <a:t>より細かい内容（VSのL4、ケイパビリティのL3、各関係の正本）は vs_capability_map.xlsx にあります。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E35"/>
                </a:solidFill>
                <a:latin typeface="Yu Gothic" pitchFamily="34" charset="0"/>
                <a:ea typeface="Yu Gothic" pitchFamily="34" charset="-122"/>
                <a:cs typeface="Yu Gothic" pitchFamily="34" charset="-120"/>
              </a:rPr>
              <a:t>バリューチェーン全体像</a:t>
            </a:r>
            <a:endParaRPr lang="en-US" sz="3000" dirty="0"/>
          </a:p>
        </p:txBody>
      </p:sp>
      <p:sp>
        <p:nvSpPr>
          <p:cNvPr id="3" name="Text 1"/>
          <p:cNvSpPr txBox="1"/>
          <p:nvPr/>
        </p:nvSpPr>
        <p:spPr>
          <a:xfrm>
            <a:off x="457200" y="960120"/>
            <a:ext cx="11247120" cy="365760"/>
          </a:xfrm>
          <a:prstGeom prst="rect">
            <a:avLst/>
          </a:prstGeom>
          <a:noFill/>
          <a:ln/>
        </p:spPr>
        <p:txBody>
          <a:bodyPr wrap="square" lIns="0" tIns="0" rIns="0" bIns="0" rtlCol="0" anchor="ctr"/>
          <a:lstStyle/>
          <a:p>
            <a:pPr indent="0" marL="0">
              <a:buNone/>
            </a:pPr>
            <a:r>
              <a:rPr lang="en-US" sz="1400" dirty="0">
                <a:solidFill>
                  <a:srgbClr val="5B6B70"/>
                </a:solidFill>
                <a:latin typeface="Yu Gothic" pitchFamily="34" charset="0"/>
                <a:ea typeface="Yu Gothic" pitchFamily="34" charset="-122"/>
                <a:cs typeface="Yu Gothic" pitchFamily="34" charset="-120"/>
              </a:rPr>
              <a:t>段階（L2）と、その内訳（L3）・出口（◆）。★は希少疾患に限定したことで変更・追加した項目</a:t>
            </a:r>
            <a:endParaRPr lang="en-US" sz="1400" dirty="0"/>
          </a:p>
        </p:txBody>
      </p:sp>
      <p:sp>
        <p:nvSpPr>
          <p:cNvPr id="57" name="Text 55"/>
          <p:cNvSpPr txBox="1"/>
          <p:nvPr/>
        </p:nvSpPr>
        <p:spPr>
          <a:xfrm>
            <a:off x="457200" y="6492240"/>
            <a:ext cx="11247120" cy="228600"/>
          </a:xfrm>
          <a:prstGeom prst="rect">
            <a:avLst/>
          </a:prstGeom>
          <a:noFill/>
          <a:ln/>
        </p:spPr>
        <p:txBody>
          <a:bodyPr wrap="square" lIns="0" tIns="0" rIns="0" bIns="0" rtlCol="0" anchor="ctr"/>
          <a:lstStyle/>
          <a:p>
            <a:pPr indent="0" marL="0">
              <a:buNone/>
            </a:pPr>
            <a:r>
              <a:rPr lang="en-US" sz="900" dirty="0">
                <a:solidFill>
                  <a:srgbClr val="5B6B70"/>
                </a:solidFill>
                <a:latin typeface="Yu Gothic" pitchFamily="34" charset="0"/>
                <a:ea typeface="Yu Gothic" pitchFamily="34" charset="-122"/>
                <a:cs typeface="Yu Gothic" pitchFamily="34" charset="-120"/>
              </a:rPr>
              <a:t>◆は次の段階へ進む判断の節目（出口）。CMC開発は非臨床開発・臨床開発と並行し、プロセスバリデーション（PPQ）は承認前に完了する。L4はxlsxの「バリューストリーム」シート。</a:t>
            </a:r>
            <a:endParaRPr lang="en-US" sz="900" dirty="0"/>
          </a:p>
        </p:txBody>
      </p:sp>
      <p:sp>
        <p:nvSpPr>
          <p:cNvPr id="58" name="Rectangle 57"/>
          <p:cNvSpPr/>
          <p:nvPr/>
        </p:nvSpPr>
        <p:spPr>
          <a:xfrm>
            <a:off x="457200" y="1417320"/>
            <a:ext cx="11274552" cy="4983480"/>
          </a:xfrm>
          <a:prstGeom prst="rect">
            <a:avLst/>
          </a:prstGeom>
          <a:pattFill prst="smGrid">
            <a:fgClr>
              <a:srgbClr val="E3E9EA"/>
            </a:fgClr>
            <a:bgClr>
              <a:srgbClr val="FFFFFF"/>
            </a:bgClr>
          </a:pattFill>
          <a:ln w="9525">
            <a:solidFill>
              <a:srgbClr val="C3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1417320"/>
            <a:ext cx="502920" cy="2807208"/>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rot="16200000">
            <a:off x="-694944" y="2569464"/>
            <a:ext cx="2807208" cy="502920"/>
          </a:xfrm>
          <a:prstGeom prst="rect">
            <a:avLst/>
          </a:prstGeom>
          <a:noFill/>
        </p:spPr>
        <p:txBody>
          <a:bodyPr wrap="square" lIns="0" rIns="0" tIns="0" bIns="0" anchor="ctr" rtlCol="0"/>
          <a:lstStyle/>
          <a:p>
            <a:pPr marL="0" indent="0" algn="ctr">
              <a:buNone/>
            </a:pPr>
            <a:r>
              <a:rPr sz="1200" b="1" lang="en-US" dirty="0">
                <a:solidFill>
                  <a:srgbClr val="FFFFFF"/>
                </a:solidFill>
                <a:latin typeface="Yu Gothic" pitchFamily="34" charset="0"/>
                <a:ea typeface="Yu Gothic" pitchFamily="34" charset="-122"/>
                <a:cs typeface="Yu Gothic" pitchFamily="34" charset="-120"/>
              </a:rPr>
              <a:t>Phase 1：開発</a:t>
            </a:r>
          </a:p>
          <a:p>
            <a:pPr marL="0" indent="0" algn="ctr">
              <a:buNone/>
            </a:pPr>
            <a:r>
              <a:rPr sz="900" b="0" lang="en-US" dirty="0">
                <a:solidFill>
                  <a:srgbClr val="DDE6E8"/>
                </a:solidFill>
                <a:latin typeface="Yu Gothic" pitchFamily="34" charset="0"/>
                <a:ea typeface="Yu Gothic" pitchFamily="34" charset="-122"/>
                <a:cs typeface="Yu Gothic" pitchFamily="34" charset="-120"/>
              </a:rPr>
              <a:t>(Development)</a:t>
            </a:r>
          </a:p>
        </p:txBody>
      </p:sp>
      <p:sp>
        <p:nvSpPr>
          <p:cNvPr id="61" name="Rectangle 60"/>
          <p:cNvSpPr/>
          <p:nvPr/>
        </p:nvSpPr>
        <p:spPr>
          <a:xfrm>
            <a:off x="457200" y="4224528"/>
            <a:ext cx="502920" cy="2176272"/>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rot="16200000">
            <a:off x="-379475" y="5061204"/>
            <a:ext cx="2176272" cy="502920"/>
          </a:xfrm>
          <a:prstGeom prst="rect">
            <a:avLst/>
          </a:prstGeom>
          <a:noFill/>
        </p:spPr>
        <p:txBody>
          <a:bodyPr wrap="square" lIns="0" rIns="0" tIns="0" bIns="0" anchor="ctr" rtlCol="0"/>
          <a:lstStyle/>
          <a:p>
            <a:pPr marL="0" indent="0" algn="ctr">
              <a:buNone/>
            </a:pPr>
            <a:r>
              <a:rPr sz="1200" b="1" lang="en-US" dirty="0">
                <a:solidFill>
                  <a:srgbClr val="FFFFFF"/>
                </a:solidFill>
                <a:latin typeface="Yu Gothic" pitchFamily="34" charset="0"/>
                <a:ea typeface="Yu Gothic" pitchFamily="34" charset="-122"/>
                <a:cs typeface="Yu Gothic" pitchFamily="34" charset="-120"/>
              </a:rPr>
              <a:t>Phase 2：商業化・供給</a:t>
            </a:r>
          </a:p>
          <a:p>
            <a:pPr marL="0" indent="0" algn="ctr">
              <a:buNone/>
            </a:pPr>
            <a:r>
              <a:rPr sz="900" b="0" lang="en-US" dirty="0">
                <a:solidFill>
                  <a:srgbClr val="DDE6E8"/>
                </a:solidFill>
                <a:latin typeface="Yu Gothic" pitchFamily="34" charset="0"/>
                <a:ea typeface="Yu Gothic" pitchFamily="34" charset="-122"/>
                <a:cs typeface="Yu Gothic" pitchFamily="34" charset="-120"/>
              </a:rPr>
              <a:t>(Commercialization &amp; Supply)</a:t>
            </a:r>
          </a:p>
        </p:txBody>
      </p:sp>
      <p:cxnSp>
        <p:nvCxnSpPr>
          <p:cNvPr id="63" name="Connector 62"/>
          <p:cNvCxnSpPr/>
          <p:nvPr/>
        </p:nvCxnSpPr>
        <p:spPr>
          <a:xfrm>
            <a:off x="960120" y="4224528"/>
            <a:ext cx="10771632" cy="0"/>
          </a:xfrm>
          <a:prstGeom prst="line">
            <a:avLst/>
          </a:prstGeom>
          <a:ln w="19050">
            <a:solidFill>
              <a:srgbClr val="1F2E35"/>
            </a:solidFill>
            <a:prstDash val="lgDash"/>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1024128" y="2016251"/>
            <a:ext cx="274320" cy="365760"/>
          </a:xfrm>
          <a:prstGeom prst="rect">
            <a:avLst/>
          </a:prstGeom>
          <a:noFill/>
        </p:spPr>
        <p:txBody>
          <a:bodyPr wrap="square" lIns="0" rIns="0" tIns="0" bIns="0" anchor="ctr" rtlCol="0"/>
          <a:lstStyle/>
          <a:p>
            <a:pPr marL="0" indent="0">
              <a:buNone/>
            </a:pPr>
            <a:r>
              <a:rPr sz="1800" b="1" lang="en-US" dirty="0">
                <a:solidFill>
                  <a:srgbClr val="1F2E35"/>
                </a:solidFill>
                <a:latin typeface="Yu Gothic" pitchFamily="34" charset="0"/>
                <a:ea typeface="Yu Gothic" pitchFamily="34" charset="-122"/>
                <a:cs typeface="Yu Gothic" pitchFamily="34" charset="-120"/>
              </a:rPr>
              <a:t>A</a:t>
            </a:r>
          </a:p>
        </p:txBody>
      </p:sp>
      <p:sp>
        <p:nvSpPr>
          <p:cNvPr id="65" name="Right Arrow 64"/>
          <p:cNvSpPr/>
          <p:nvPr/>
        </p:nvSpPr>
        <p:spPr>
          <a:xfrm>
            <a:off x="1371600" y="1490472"/>
            <a:ext cx="2487168" cy="1417320"/>
          </a:xfrm>
          <a:prstGeom prst="rightArrow">
            <a:avLst>
              <a:gd name="adj1" fmla="val 80000"/>
              <a:gd name="adj2" fmla="val 3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08760" y="1696211"/>
            <a:ext cx="1833372" cy="274320"/>
          </a:xfrm>
          <a:prstGeom prst="rect">
            <a:avLst/>
          </a:prstGeom>
          <a:noFill/>
        </p:spPr>
        <p:txBody>
          <a:bodyPr wrap="square" lIns="0" rIns="0" tIns="0" bIns="0" anchor="t" rtlCol="0"/>
          <a:lstStyle/>
          <a:p>
            <a:pPr marL="0" indent="0">
              <a:buNone/>
            </a:pPr>
            <a:r>
              <a:rPr sz="1300" b="1" lang="en-US" dirty="0">
                <a:solidFill>
                  <a:srgbClr val="FFFFFF"/>
                </a:solidFill>
                <a:latin typeface="Yu Gothic" pitchFamily="34" charset="0"/>
                <a:ea typeface="Yu Gothic" pitchFamily="34" charset="-122"/>
                <a:cs typeface="Yu Gothic" pitchFamily="34" charset="-120"/>
              </a:rPr>
              <a:t>創薬研究</a:t>
            </a:r>
          </a:p>
        </p:txBody>
      </p:sp>
      <p:sp>
        <p:nvSpPr>
          <p:cNvPr id="67" name="TextBox 66"/>
          <p:cNvSpPr txBox="1"/>
          <p:nvPr/>
        </p:nvSpPr>
        <p:spPr>
          <a:xfrm>
            <a:off x="1508760" y="1997963"/>
            <a:ext cx="1833372" cy="722376"/>
          </a:xfrm>
          <a:prstGeom prst="rect">
            <a:avLst/>
          </a:prstGeom>
          <a:noFill/>
        </p:spPr>
        <p:txBody>
          <a:bodyPr wrap="square" lIns="0" rIns="0" tIns="0" bIns="0" anchor="t" rtlCol="0"/>
          <a:lstStyle/>
          <a:p>
            <a:pPr marL="118872" indent="-118872">
              <a:buFont typeface="Yu Gothic"/>
              <a:buChar char="・"/>
            </a:pPr>
            <a:r>
              <a:rPr sz="900" b="0" lang="en-US" dirty="0">
                <a:solidFill>
                  <a:srgbClr val="FFFFFF"/>
                </a:solidFill>
                <a:latin typeface="Yu Gothic" pitchFamily="34" charset="0"/>
                <a:ea typeface="Yu Gothic" pitchFamily="34" charset="-122"/>
                <a:cs typeface="Yu Gothic" pitchFamily="34" charset="-120"/>
              </a:rPr>
              <a:t>標的探索・検証</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ヒット・リード創出</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リード最適化</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開発候補品選定</a:t>
            </a:r>
          </a:p>
        </p:txBody>
      </p:sp>
      <p:sp>
        <p:nvSpPr>
          <p:cNvPr id="68" name="Diamond 67"/>
          <p:cNvSpPr/>
          <p:nvPr/>
        </p:nvSpPr>
        <p:spPr>
          <a:xfrm>
            <a:off x="3703320" y="2061972"/>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127248" y="2944368"/>
            <a:ext cx="1463040" cy="27432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開発候補品（DC）決定</a:t>
            </a:r>
          </a:p>
        </p:txBody>
      </p:sp>
      <p:sp>
        <p:nvSpPr>
          <p:cNvPr id="70" name="Right Arrow 69"/>
          <p:cNvSpPr/>
          <p:nvPr/>
        </p:nvSpPr>
        <p:spPr>
          <a:xfrm>
            <a:off x="3968496" y="1490472"/>
            <a:ext cx="2487168" cy="1417320"/>
          </a:xfrm>
          <a:prstGeom prst="rightArrow">
            <a:avLst>
              <a:gd name="adj1" fmla="val 80000"/>
              <a:gd name="adj2" fmla="val 3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105656" y="1696211"/>
            <a:ext cx="1833372" cy="274320"/>
          </a:xfrm>
          <a:prstGeom prst="rect">
            <a:avLst/>
          </a:prstGeom>
          <a:noFill/>
        </p:spPr>
        <p:txBody>
          <a:bodyPr wrap="square" lIns="0" rIns="0" tIns="0" bIns="0" anchor="t" rtlCol="0"/>
          <a:lstStyle/>
          <a:p>
            <a:pPr marL="0" indent="0">
              <a:buNone/>
            </a:pPr>
            <a:r>
              <a:rPr sz="1300" b="1" lang="en-US" dirty="0">
                <a:solidFill>
                  <a:srgbClr val="FFFFFF"/>
                </a:solidFill>
                <a:latin typeface="Yu Gothic" pitchFamily="34" charset="0"/>
                <a:ea typeface="Yu Gothic" pitchFamily="34" charset="-122"/>
                <a:cs typeface="Yu Gothic" pitchFamily="34" charset="-120"/>
              </a:rPr>
              <a:t>非臨床開発</a:t>
            </a:r>
          </a:p>
        </p:txBody>
      </p:sp>
      <p:sp>
        <p:nvSpPr>
          <p:cNvPr id="72" name="TextBox 71"/>
          <p:cNvSpPr txBox="1"/>
          <p:nvPr/>
        </p:nvSpPr>
        <p:spPr>
          <a:xfrm>
            <a:off x="4105656" y="1997963"/>
            <a:ext cx="1833372" cy="722376"/>
          </a:xfrm>
          <a:prstGeom prst="rect">
            <a:avLst/>
          </a:prstGeom>
          <a:noFill/>
        </p:spPr>
        <p:txBody>
          <a:bodyPr wrap="square" lIns="0" rIns="0" tIns="0" bIns="0" anchor="t" rtlCol="0"/>
          <a:lstStyle/>
          <a:p>
            <a:pPr marL="118872" indent="-118872">
              <a:buFont typeface="Yu Gothic"/>
              <a:buChar char="・"/>
            </a:pPr>
            <a:r>
              <a:rPr sz="900" b="0" lang="en-US" dirty="0">
                <a:solidFill>
                  <a:srgbClr val="FFFFFF"/>
                </a:solidFill>
                <a:latin typeface="Yu Gothic" pitchFamily="34" charset="0"/>
                <a:ea typeface="Yu Gothic" pitchFamily="34" charset="-122"/>
                <a:cs typeface="Yu Gothic" pitchFamily="34" charset="-120"/>
              </a:rPr>
              <a:t>非臨床薬理</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薬物動態・免疫原性評価</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安全性評価</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初回ヒト投与量の設定・IND申請</a:t>
            </a:r>
          </a:p>
        </p:txBody>
      </p:sp>
      <p:sp>
        <p:nvSpPr>
          <p:cNvPr id="73" name="Diamond 72"/>
          <p:cNvSpPr/>
          <p:nvPr/>
        </p:nvSpPr>
        <p:spPr>
          <a:xfrm>
            <a:off x="6300216" y="2061972"/>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24144" y="2944368"/>
            <a:ext cx="1463040" cy="27432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IND発効（臨床試験の開始が可能）</a:t>
            </a:r>
          </a:p>
        </p:txBody>
      </p:sp>
      <p:sp>
        <p:nvSpPr>
          <p:cNvPr id="75" name="Right Arrow 74"/>
          <p:cNvSpPr/>
          <p:nvPr/>
        </p:nvSpPr>
        <p:spPr>
          <a:xfrm>
            <a:off x="6565392" y="1490472"/>
            <a:ext cx="2487168" cy="1417320"/>
          </a:xfrm>
          <a:prstGeom prst="rightArrow">
            <a:avLst>
              <a:gd name="adj1" fmla="val 80000"/>
              <a:gd name="adj2" fmla="val 3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702552" y="1696211"/>
            <a:ext cx="1833372" cy="274320"/>
          </a:xfrm>
          <a:prstGeom prst="rect">
            <a:avLst/>
          </a:prstGeom>
          <a:noFill/>
        </p:spPr>
        <p:txBody>
          <a:bodyPr wrap="square" lIns="0" rIns="0" tIns="0" bIns="0" anchor="t" rtlCol="0"/>
          <a:lstStyle/>
          <a:p>
            <a:pPr marL="0" indent="0">
              <a:buNone/>
            </a:pPr>
            <a:r>
              <a:rPr sz="1300" b="1" lang="en-US" dirty="0">
                <a:solidFill>
                  <a:srgbClr val="FFFFFF"/>
                </a:solidFill>
                <a:latin typeface="Yu Gothic" pitchFamily="34" charset="0"/>
                <a:ea typeface="Yu Gothic" pitchFamily="34" charset="-122"/>
                <a:cs typeface="Yu Gothic" pitchFamily="34" charset="-120"/>
              </a:rPr>
              <a:t>臨床開発</a:t>
            </a:r>
          </a:p>
        </p:txBody>
      </p:sp>
      <p:sp>
        <p:nvSpPr>
          <p:cNvPr id="77" name="TextBox 76"/>
          <p:cNvSpPr txBox="1"/>
          <p:nvPr/>
        </p:nvSpPr>
        <p:spPr>
          <a:xfrm>
            <a:off x="6702552" y="1997963"/>
            <a:ext cx="1833372" cy="722376"/>
          </a:xfrm>
          <a:prstGeom prst="rect">
            <a:avLst/>
          </a:prstGeom>
          <a:noFill/>
        </p:spPr>
        <p:txBody>
          <a:bodyPr wrap="square" lIns="0" rIns="0" tIns="0" bIns="0" anchor="t" rtlCol="0"/>
          <a:lstStyle/>
          <a:p>
            <a:pPr marL="118872" indent="-118872">
              <a:buFont typeface="Yu Gothic"/>
              <a:buChar char="・"/>
            </a:pPr>
            <a:r>
              <a:rPr sz="900" b="0" lang="en-US" dirty="0">
                <a:solidFill>
                  <a:srgbClr val="FFFFFF"/>
                </a:solidFill>
                <a:latin typeface="Yu Gothic" pitchFamily="34" charset="0"/>
                <a:ea typeface="Yu Gothic" pitchFamily="34" charset="-122"/>
                <a:cs typeface="Yu Gothic" pitchFamily="34" charset="-120"/>
              </a:rPr>
              <a:t>★自然歴研究・患者特定</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★第I/II相（患者での安全性・PK・PoC）</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★ピボタル試験（検証的試験）</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臨床データの統合・評価</a:t>
            </a:r>
          </a:p>
        </p:txBody>
      </p:sp>
      <p:sp>
        <p:nvSpPr>
          <p:cNvPr id="78" name="Diamond 77"/>
          <p:cNvSpPr/>
          <p:nvPr/>
        </p:nvSpPr>
        <p:spPr>
          <a:xfrm>
            <a:off x="8897112" y="2061972"/>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21040" y="2944368"/>
            <a:ext cx="1463040" cy="27432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申請に足る臨床データ</a:t>
            </a:r>
          </a:p>
        </p:txBody>
      </p:sp>
      <p:sp>
        <p:nvSpPr>
          <p:cNvPr id="80" name="Right Arrow 79"/>
          <p:cNvSpPr/>
          <p:nvPr/>
        </p:nvSpPr>
        <p:spPr>
          <a:xfrm>
            <a:off x="9162288" y="1490472"/>
            <a:ext cx="2487168" cy="1417320"/>
          </a:xfrm>
          <a:prstGeom prst="rightArrow">
            <a:avLst>
              <a:gd name="adj1" fmla="val 80000"/>
              <a:gd name="adj2" fmla="val 3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99448" y="1696211"/>
            <a:ext cx="1833372" cy="274320"/>
          </a:xfrm>
          <a:prstGeom prst="rect">
            <a:avLst/>
          </a:prstGeom>
          <a:noFill/>
        </p:spPr>
        <p:txBody>
          <a:bodyPr wrap="square" lIns="0" rIns="0" tIns="0" bIns="0" anchor="t" rtlCol="0"/>
          <a:lstStyle/>
          <a:p>
            <a:pPr marL="0" indent="0">
              <a:buNone/>
            </a:pPr>
            <a:r>
              <a:rPr sz="1300" b="1" lang="en-US" dirty="0">
                <a:solidFill>
                  <a:srgbClr val="FFFFFF"/>
                </a:solidFill>
                <a:latin typeface="Yu Gothic" pitchFamily="34" charset="0"/>
                <a:ea typeface="Yu Gothic" pitchFamily="34" charset="-122"/>
                <a:cs typeface="Yu Gothic" pitchFamily="34" charset="-120"/>
              </a:rPr>
              <a:t>BLA申請・審査</a:t>
            </a:r>
          </a:p>
        </p:txBody>
      </p:sp>
      <p:sp>
        <p:nvSpPr>
          <p:cNvPr id="82" name="TextBox 81"/>
          <p:cNvSpPr txBox="1"/>
          <p:nvPr/>
        </p:nvSpPr>
        <p:spPr>
          <a:xfrm>
            <a:off x="9299448" y="1997963"/>
            <a:ext cx="1833372" cy="722376"/>
          </a:xfrm>
          <a:prstGeom prst="rect">
            <a:avLst/>
          </a:prstGeom>
          <a:noFill/>
        </p:spPr>
        <p:txBody>
          <a:bodyPr wrap="square" lIns="0" rIns="0" tIns="0" bIns="0" anchor="t" rtlCol="0"/>
          <a:lstStyle/>
          <a:p>
            <a:pPr marL="118872" indent="-118872">
              <a:buFont typeface="Yu Gothic"/>
              <a:buChar char="・"/>
            </a:pPr>
            <a:r>
              <a:rPr sz="900" b="0" lang="en-US" dirty="0">
                <a:solidFill>
                  <a:srgbClr val="FFFFFF"/>
                </a:solidFill>
                <a:latin typeface="Yu Gothic" pitchFamily="34" charset="0"/>
                <a:ea typeface="Yu Gothic" pitchFamily="34" charset="-122"/>
                <a:cs typeface="Yu Gothic" pitchFamily="34" charset="-120"/>
              </a:rPr>
              <a:t>申請資料（CTD）の作成</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審査対応</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承認取得</a:t>
            </a:r>
          </a:p>
        </p:txBody>
      </p:sp>
      <p:sp>
        <p:nvSpPr>
          <p:cNvPr id="83" name="Diamond 82"/>
          <p:cNvSpPr/>
          <p:nvPr/>
        </p:nvSpPr>
        <p:spPr>
          <a:xfrm>
            <a:off x="11494008" y="2061972"/>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222992" y="2944368"/>
            <a:ext cx="1417320" cy="274320"/>
          </a:xfrm>
          <a:prstGeom prst="rect">
            <a:avLst/>
          </a:prstGeom>
          <a:noFill/>
        </p:spPr>
        <p:txBody>
          <a:bodyPr wrap="square" lIns="0" rIns="0" tIns="0" bIns="0" anchor="t" rtlCol="0"/>
          <a:lstStyle/>
          <a:p>
            <a:pPr marL="0" indent="0" algn="r">
              <a:buNone/>
            </a:pPr>
            <a:r>
              <a:rPr sz="850" b="1" lang="en-US" dirty="0">
                <a:solidFill>
                  <a:srgbClr val="1F2E35"/>
                </a:solidFill>
                <a:latin typeface="Yu Gothic" pitchFamily="34" charset="0"/>
                <a:ea typeface="Yu Gothic" pitchFamily="34" charset="-122"/>
                <a:cs typeface="Yu Gothic" pitchFamily="34" charset="-120"/>
              </a:rPr>
              <a:t>BLA承認（米国での販売許可）</a:t>
            </a:r>
          </a:p>
        </p:txBody>
      </p:sp>
      <p:sp>
        <p:nvSpPr>
          <p:cNvPr id="85" name="Rounded Rectangle 84"/>
          <p:cNvSpPr/>
          <p:nvPr/>
        </p:nvSpPr>
        <p:spPr>
          <a:xfrm>
            <a:off x="3922776" y="3255264"/>
            <a:ext cx="4764024" cy="914400"/>
          </a:xfrm>
          <a:prstGeom prst="roundRect">
            <a:avLst>
              <a:gd name="adj" fmla="val 50000"/>
            </a:avLst>
          </a:prstGeom>
          <a:solidFill>
            <a:srgbClr val="FFFFFF"/>
          </a:solidFill>
          <a:ln w="15875">
            <a:solidFill>
              <a:srgbClr val="2F4F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3922776" y="3255264"/>
            <a:ext cx="4764024" cy="274320"/>
          </a:xfrm>
          <a:prstGeom prst="roundRect">
            <a:avLst>
              <a:gd name="adj" fmla="val 5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22776" y="3255264"/>
            <a:ext cx="4764024" cy="274320"/>
          </a:xfrm>
          <a:prstGeom prst="rect">
            <a:avLst/>
          </a:prstGeom>
          <a:noFill/>
        </p:spPr>
        <p:txBody>
          <a:bodyPr wrap="square" lIns="0" rIns="0" tIns="0" bIns="0" anchor="ctr" rtlCol="0"/>
          <a:lstStyle/>
          <a:p>
            <a:pPr marL="0" indent="0" algn="ctr">
              <a:buNone/>
            </a:pPr>
            <a:r>
              <a:rPr sz="1200" b="1" lang="en-US" dirty="0">
                <a:solidFill>
                  <a:srgbClr val="FFFFFF"/>
                </a:solidFill>
                <a:latin typeface="Yu Gothic" pitchFamily="34" charset="0"/>
                <a:ea typeface="Yu Gothic" pitchFamily="34" charset="-122"/>
                <a:cs typeface="Yu Gothic" pitchFamily="34" charset="-120"/>
              </a:rPr>
              <a:t>CMC開発</a:t>
            </a:r>
          </a:p>
        </p:txBody>
      </p:sp>
      <p:sp>
        <p:nvSpPr>
          <p:cNvPr id="88" name="TextBox 87"/>
          <p:cNvSpPr txBox="1"/>
          <p:nvPr/>
        </p:nvSpPr>
        <p:spPr>
          <a:xfrm>
            <a:off x="7315200" y="3300984"/>
            <a:ext cx="1143000" cy="201168"/>
          </a:xfrm>
          <a:prstGeom prst="rect">
            <a:avLst/>
          </a:prstGeom>
          <a:noFill/>
        </p:spPr>
        <p:txBody>
          <a:bodyPr wrap="square" lIns="0" rIns="0" tIns="0" bIns="0" anchor="t" rtlCol="0"/>
          <a:lstStyle/>
          <a:p>
            <a:pPr marL="0" indent="0" algn="r">
              <a:buNone/>
            </a:pPr>
            <a:r>
              <a:rPr sz="850" b="1" lang="en-US" dirty="0">
                <a:solidFill>
                  <a:srgbClr val="DDE6E8"/>
                </a:solidFill>
                <a:latin typeface="Yu Gothic" pitchFamily="34" charset="0"/>
                <a:ea typeface="Yu Gothic" pitchFamily="34" charset="-122"/>
                <a:cs typeface="Yu Gothic" pitchFamily="34" charset="-120"/>
              </a:rPr>
              <a:t>臨床と並行</a:t>
            </a:r>
          </a:p>
        </p:txBody>
      </p:sp>
      <p:sp>
        <p:nvSpPr>
          <p:cNvPr id="89" name="TextBox 88"/>
          <p:cNvSpPr txBox="1"/>
          <p:nvPr/>
        </p:nvSpPr>
        <p:spPr>
          <a:xfrm>
            <a:off x="4242816" y="3575304"/>
            <a:ext cx="2061972" cy="566928"/>
          </a:xfrm>
          <a:prstGeom prst="rect">
            <a:avLst/>
          </a:prstGeom>
          <a:noFill/>
        </p:spPr>
        <p:txBody>
          <a:bodyPr wrap="square" lIns="0" rIns="0" tIns="0" bIns="0" anchor="t" rtlCol="0"/>
          <a:lstStyle/>
          <a:p>
            <a:pPr marL="118872" indent="-118872">
              <a:buFont typeface="Yu Gothic"/>
              <a:buChar char="・"/>
            </a:pPr>
            <a:r>
              <a:rPr sz="850" b="0" lang="en-US" dirty="0">
                <a:solidFill>
                  <a:srgbClr val="1F2E35"/>
                </a:solidFill>
                <a:latin typeface="Yu Gothic" pitchFamily="34" charset="0"/>
                <a:ea typeface="Yu Gothic" pitchFamily="34" charset="-122"/>
                <a:cs typeface="Yu Gothic" pitchFamily="34" charset="-120"/>
              </a:rPr>
              <a:t>細胞株構築・セルバンク</a:t>
            </a:r>
          </a:p>
          <a:p>
            <a:pPr marL="118872" indent="-118872">
              <a:spcBef>
                <a:spcPts val="100"/>
              </a:spcBef>
              <a:buFont typeface="Yu Gothic"/>
              <a:buChar char="・"/>
            </a:pPr>
            <a:r>
              <a:rPr sz="850" b="0" lang="en-US" dirty="0">
                <a:solidFill>
                  <a:srgbClr val="1F2E35"/>
                </a:solidFill>
                <a:latin typeface="Yu Gothic" pitchFamily="34" charset="0"/>
                <a:ea typeface="Yu Gothic" pitchFamily="34" charset="-122"/>
                <a:cs typeface="Yu Gothic" pitchFamily="34" charset="-120"/>
              </a:rPr>
              <a:t>原薬プロセス開発</a:t>
            </a:r>
          </a:p>
          <a:p>
            <a:pPr marL="118872" indent="-118872">
              <a:spcBef>
                <a:spcPts val="100"/>
              </a:spcBef>
              <a:buFont typeface="Yu Gothic"/>
              <a:buChar char="・"/>
            </a:pPr>
            <a:r>
              <a:rPr sz="850" b="0" lang="en-US" dirty="0">
                <a:solidFill>
                  <a:srgbClr val="1F2E35"/>
                </a:solidFill>
                <a:latin typeface="Yu Gothic" pitchFamily="34" charset="0"/>
                <a:ea typeface="Yu Gothic" pitchFamily="34" charset="-122"/>
                <a:cs typeface="Yu Gothic" pitchFamily="34" charset="-120"/>
              </a:rPr>
              <a:t>製剤開発</a:t>
            </a:r>
          </a:p>
          <a:p>
            <a:pPr marL="118872" indent="-118872">
              <a:spcBef>
                <a:spcPts val="100"/>
              </a:spcBef>
              <a:buFont typeface="Yu Gothic"/>
              <a:buChar char="・"/>
            </a:pPr>
            <a:r>
              <a:rPr sz="850" b="0" lang="en-US" dirty="0">
                <a:solidFill>
                  <a:srgbClr val="1F2E35"/>
                </a:solidFill>
                <a:latin typeface="Yu Gothic" pitchFamily="34" charset="0"/>
                <a:ea typeface="Yu Gothic" pitchFamily="34" charset="-122"/>
                <a:cs typeface="Yu Gothic" pitchFamily="34" charset="-120"/>
              </a:rPr>
              <a:t>分析法開発・特性解析</a:t>
            </a:r>
          </a:p>
        </p:txBody>
      </p:sp>
      <p:sp>
        <p:nvSpPr>
          <p:cNvPr id="90" name="TextBox 89"/>
          <p:cNvSpPr txBox="1"/>
          <p:nvPr/>
        </p:nvSpPr>
        <p:spPr>
          <a:xfrm>
            <a:off x="6396228" y="3575304"/>
            <a:ext cx="2061972" cy="566928"/>
          </a:xfrm>
          <a:prstGeom prst="rect">
            <a:avLst/>
          </a:prstGeom>
          <a:noFill/>
        </p:spPr>
        <p:txBody>
          <a:bodyPr wrap="square" lIns="0" rIns="0" tIns="0" bIns="0" anchor="t" rtlCol="0"/>
          <a:lstStyle/>
          <a:p>
            <a:pPr marL="118872" indent="-118872">
              <a:buFont typeface="Yu Gothic"/>
              <a:buChar char="・"/>
            </a:pPr>
            <a:r>
              <a:rPr sz="850" b="0" lang="en-US" dirty="0">
                <a:solidFill>
                  <a:srgbClr val="1F2E35"/>
                </a:solidFill>
                <a:latin typeface="Yu Gothic" pitchFamily="34" charset="0"/>
                <a:ea typeface="Yu Gothic" pitchFamily="34" charset="-122"/>
                <a:cs typeface="Yu Gothic" pitchFamily="34" charset="-120"/>
              </a:rPr>
              <a:t>治験薬GMP製造・供給</a:t>
            </a:r>
          </a:p>
          <a:p>
            <a:pPr marL="118872" indent="-118872">
              <a:spcBef>
                <a:spcPts val="100"/>
              </a:spcBef>
              <a:buFont typeface="Yu Gothic"/>
              <a:buChar char="・"/>
            </a:pPr>
            <a:r>
              <a:rPr sz="850" b="0" lang="en-US" dirty="0">
                <a:solidFill>
                  <a:srgbClr val="1F2E35"/>
                </a:solidFill>
                <a:latin typeface="Yu Gothic" pitchFamily="34" charset="0"/>
                <a:ea typeface="Yu Gothic" pitchFamily="34" charset="-122"/>
                <a:cs typeface="Yu Gothic" pitchFamily="34" charset="-120"/>
              </a:rPr>
              <a:t>後期プロセス開発・スケールアップ・技術移転</a:t>
            </a:r>
          </a:p>
          <a:p>
            <a:pPr marL="118872" indent="-118872">
              <a:spcBef>
                <a:spcPts val="100"/>
              </a:spcBef>
              <a:buFont typeface="Yu Gothic"/>
              <a:buChar char="・"/>
            </a:pPr>
            <a:r>
              <a:rPr sz="850" b="0" lang="en-US" dirty="0">
                <a:solidFill>
                  <a:srgbClr val="1F2E35"/>
                </a:solidFill>
                <a:latin typeface="Yu Gothic" pitchFamily="34" charset="0"/>
                <a:ea typeface="Yu Gothic" pitchFamily="34" charset="-122"/>
                <a:cs typeface="Yu Gothic" pitchFamily="34" charset="-120"/>
              </a:rPr>
              <a:t>プロセスバリデーション（PPQ）</a:t>
            </a:r>
          </a:p>
        </p:txBody>
      </p:sp>
      <p:sp>
        <p:nvSpPr>
          <p:cNvPr id="91" name="Diamond 90"/>
          <p:cNvSpPr/>
          <p:nvPr/>
        </p:nvSpPr>
        <p:spPr>
          <a:xfrm>
            <a:off x="8549640" y="3575304"/>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887968" y="3593592"/>
            <a:ext cx="1280160" cy="274320"/>
          </a:xfrm>
          <a:prstGeom prst="rect">
            <a:avLst/>
          </a:prstGeom>
          <a:noFill/>
        </p:spPr>
        <p:txBody>
          <a:bodyPr wrap="square" lIns="0" rIns="0" tIns="0" bIns="0" anchor="t" rtlCol="0"/>
          <a:lstStyle/>
          <a:p>
            <a:pPr marL="0" indent="0" algn="l">
              <a:buNone/>
            </a:pPr>
            <a:r>
              <a:rPr sz="850" b="1" lang="en-US" dirty="0">
                <a:solidFill>
                  <a:srgbClr val="1F2E35"/>
                </a:solidFill>
                <a:latin typeface="Yu Gothic" pitchFamily="34" charset="0"/>
                <a:ea typeface="Yu Gothic" pitchFamily="34" charset="-122"/>
                <a:cs typeface="Yu Gothic" pitchFamily="34" charset="-120"/>
              </a:rPr>
              <a:t>プロセスバリデーション完了</a:t>
            </a:r>
          </a:p>
        </p:txBody>
      </p:sp>
      <p:sp>
        <p:nvSpPr>
          <p:cNvPr id="93" name="TextBox 92"/>
          <p:cNvSpPr txBox="1"/>
          <p:nvPr/>
        </p:nvSpPr>
        <p:spPr>
          <a:xfrm>
            <a:off x="1024128" y="4937760"/>
            <a:ext cx="274320" cy="365760"/>
          </a:xfrm>
          <a:prstGeom prst="rect">
            <a:avLst/>
          </a:prstGeom>
          <a:noFill/>
        </p:spPr>
        <p:txBody>
          <a:bodyPr wrap="square" lIns="0" rIns="0" tIns="0" bIns="0" anchor="ctr" rtlCol="0"/>
          <a:lstStyle/>
          <a:p>
            <a:pPr marL="0" indent="0">
              <a:buNone/>
            </a:pPr>
            <a:r>
              <a:rPr sz="1800" b="1" lang="en-US" dirty="0">
                <a:solidFill>
                  <a:srgbClr val="1F2E35"/>
                </a:solidFill>
                <a:latin typeface="Yu Gothic" pitchFamily="34" charset="0"/>
                <a:ea typeface="Yu Gothic" pitchFamily="34" charset="-122"/>
                <a:cs typeface="Yu Gothic" pitchFamily="34" charset="-120"/>
              </a:rPr>
              <a:t>A</a:t>
            </a:r>
          </a:p>
        </p:txBody>
      </p:sp>
      <p:sp>
        <p:nvSpPr>
          <p:cNvPr id="94" name="Right Arrow 93"/>
          <p:cNvSpPr/>
          <p:nvPr/>
        </p:nvSpPr>
        <p:spPr>
          <a:xfrm>
            <a:off x="1371600" y="4389120"/>
            <a:ext cx="2487168" cy="1371600"/>
          </a:xfrm>
          <a:prstGeom prst="rightArrow">
            <a:avLst>
              <a:gd name="adj1" fmla="val 80000"/>
              <a:gd name="adj2" fmla="val 3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508760" y="4590288"/>
            <a:ext cx="1847088" cy="274320"/>
          </a:xfrm>
          <a:prstGeom prst="rect">
            <a:avLst/>
          </a:prstGeom>
          <a:noFill/>
        </p:spPr>
        <p:txBody>
          <a:bodyPr wrap="square" lIns="0" rIns="0" tIns="0" bIns="0" anchor="t" rtlCol="0"/>
          <a:lstStyle/>
          <a:p>
            <a:pPr marL="0" indent="0">
              <a:buNone/>
            </a:pPr>
            <a:r>
              <a:rPr sz="1300" b="1" lang="en-US" dirty="0">
                <a:solidFill>
                  <a:srgbClr val="FFFFFF"/>
                </a:solidFill>
                <a:latin typeface="Yu Gothic" pitchFamily="34" charset="0"/>
                <a:ea typeface="Yu Gothic" pitchFamily="34" charset="-122"/>
                <a:cs typeface="Yu Gothic" pitchFamily="34" charset="-120"/>
              </a:rPr>
              <a:t>上市</a:t>
            </a:r>
          </a:p>
        </p:txBody>
      </p:sp>
      <p:sp>
        <p:nvSpPr>
          <p:cNvPr id="96" name="TextBox 95"/>
          <p:cNvSpPr txBox="1"/>
          <p:nvPr/>
        </p:nvSpPr>
        <p:spPr>
          <a:xfrm>
            <a:off x="2487168" y="4626864"/>
            <a:ext cx="868680" cy="201168"/>
          </a:xfrm>
          <a:prstGeom prst="rect">
            <a:avLst/>
          </a:prstGeom>
          <a:noFill/>
        </p:spPr>
        <p:txBody>
          <a:bodyPr wrap="square" lIns="0" rIns="0" tIns="0" bIns="0" anchor="t" rtlCol="0"/>
          <a:lstStyle/>
          <a:p>
            <a:pPr marL="0" indent="0" algn="r">
              <a:buNone/>
            </a:pPr>
            <a:r>
              <a:rPr sz="850" b="1" lang="en-US" dirty="0">
                <a:solidFill>
                  <a:srgbClr val="DDE6E8"/>
                </a:solidFill>
                <a:latin typeface="Yu Gothic" pitchFamily="34" charset="0"/>
                <a:ea typeface="Yu Gothic" pitchFamily="34" charset="-122"/>
                <a:cs typeface="Yu Gothic" pitchFamily="34" charset="-120"/>
              </a:rPr>
              <a:t>1回きり</a:t>
            </a:r>
          </a:p>
        </p:txBody>
      </p:sp>
      <p:sp>
        <p:nvSpPr>
          <p:cNvPr id="97" name="TextBox 96"/>
          <p:cNvSpPr txBox="1"/>
          <p:nvPr/>
        </p:nvSpPr>
        <p:spPr>
          <a:xfrm>
            <a:off x="1508760" y="4892040"/>
            <a:ext cx="1847088" cy="685800"/>
          </a:xfrm>
          <a:prstGeom prst="rect">
            <a:avLst/>
          </a:prstGeom>
          <a:noFill/>
        </p:spPr>
        <p:txBody>
          <a:bodyPr wrap="square" lIns="0" rIns="0" tIns="0" bIns="0" anchor="t" rtlCol="0"/>
          <a:lstStyle/>
          <a:p>
            <a:pPr marL="118872" indent="-118872">
              <a:buFont typeface="Yu Gothic"/>
              <a:buChar char="・"/>
            </a:pPr>
            <a:r>
              <a:rPr sz="900" b="0" lang="en-US" dirty="0">
                <a:solidFill>
                  <a:srgbClr val="FFFFFF"/>
                </a:solidFill>
                <a:latin typeface="Yu Gothic" pitchFamily="34" charset="0"/>
                <a:ea typeface="Yu Gothic" pitchFamily="34" charset="-122"/>
                <a:cs typeface="Yu Gothic" pitchFamily="34" charset="-120"/>
              </a:rPr>
              <a:t>価格設定・市場アクセス</a:t>
            </a:r>
          </a:p>
          <a:p>
            <a:pPr marL="118872" indent="-118872">
              <a:spcBef>
                <a:spcPts val="200"/>
              </a:spcBef>
              <a:buFont typeface="Yu Gothic"/>
              <a:buChar char="・"/>
            </a:pPr>
            <a:r>
              <a:rPr sz="900" b="0" lang="en-US" dirty="0">
                <a:solidFill>
                  <a:srgbClr val="FFFFFF"/>
                </a:solidFill>
                <a:latin typeface="Yu Gothic" pitchFamily="34" charset="0"/>
                <a:ea typeface="Yu Gothic" pitchFamily="34" charset="-122"/>
                <a:cs typeface="Yu Gothic" pitchFamily="34" charset="-120"/>
              </a:rPr>
              <a:t>上市準備</a:t>
            </a:r>
          </a:p>
        </p:txBody>
      </p:sp>
      <p:sp>
        <p:nvSpPr>
          <p:cNvPr id="98" name="Diamond 97"/>
          <p:cNvSpPr/>
          <p:nvPr/>
        </p:nvSpPr>
        <p:spPr>
          <a:xfrm>
            <a:off x="3703320" y="4937759"/>
            <a:ext cx="274320" cy="274320"/>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3035808" y="5797296"/>
            <a:ext cx="1645920" cy="27432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保険償還・患者アクセスの確立</a:t>
            </a:r>
          </a:p>
        </p:txBody>
      </p:sp>
      <p:sp>
        <p:nvSpPr>
          <p:cNvPr id="100" name="TextBox 99"/>
          <p:cNvSpPr txBox="1"/>
          <p:nvPr/>
        </p:nvSpPr>
        <p:spPr>
          <a:xfrm>
            <a:off x="4224528" y="4846320"/>
            <a:ext cx="274320" cy="365760"/>
          </a:xfrm>
          <a:prstGeom prst="rect">
            <a:avLst/>
          </a:prstGeom>
          <a:noFill/>
        </p:spPr>
        <p:txBody>
          <a:bodyPr wrap="square" lIns="0" rIns="0" tIns="0" bIns="0" anchor="ctr" rtlCol="0"/>
          <a:lstStyle/>
          <a:p>
            <a:pPr marL="0" indent="0">
              <a:buNone/>
            </a:pPr>
            <a:r>
              <a:rPr sz="1800" b="1" lang="en-US" dirty="0">
                <a:solidFill>
                  <a:srgbClr val="1F2E35"/>
                </a:solidFill>
                <a:latin typeface="Yu Gothic" pitchFamily="34" charset="0"/>
                <a:ea typeface="Yu Gothic" pitchFamily="34" charset="-122"/>
                <a:cs typeface="Yu Gothic" pitchFamily="34" charset="-120"/>
              </a:rPr>
              <a:t>B</a:t>
            </a:r>
          </a:p>
        </p:txBody>
      </p:sp>
      <p:sp>
        <p:nvSpPr>
          <p:cNvPr id="101" name="TextBox 100"/>
          <p:cNvSpPr txBox="1"/>
          <p:nvPr/>
        </p:nvSpPr>
        <p:spPr>
          <a:xfrm>
            <a:off x="4023360" y="5230368"/>
            <a:ext cx="685800" cy="365760"/>
          </a:xfrm>
          <a:prstGeom prst="rect">
            <a:avLst/>
          </a:prstGeom>
          <a:noFill/>
        </p:spPr>
        <p:txBody>
          <a:bodyPr wrap="square" lIns="0" rIns="0" tIns="0" bIns="0" anchor="t" rtlCol="0"/>
          <a:lstStyle/>
          <a:p>
            <a:pPr marL="0" indent="0" algn="ctr">
              <a:buNone/>
            </a:pPr>
            <a:r>
              <a:rPr sz="850" b="1" lang="en-US" dirty="0">
                <a:solidFill>
                  <a:srgbClr val="9C7C45"/>
                </a:solidFill>
                <a:latin typeface="Yu Gothic" pitchFamily="34" charset="0"/>
                <a:ea typeface="Yu Gothic" pitchFamily="34" charset="-122"/>
                <a:cs typeface="Yu Gothic" pitchFamily="34" charset="-120"/>
              </a:rPr>
              <a:t>継続</a:t>
            </a:r>
          </a:p>
          <a:p>
            <a:pPr marL="0" indent="0" algn="ctr">
              <a:buNone/>
            </a:pPr>
            <a:r>
              <a:rPr sz="700" b="0" lang="en-US" dirty="0">
                <a:solidFill>
                  <a:srgbClr val="9C7C45"/>
                </a:solidFill>
                <a:latin typeface="Yu Gothic" pitchFamily="34" charset="0"/>
                <a:ea typeface="Yu Gothic" pitchFamily="34" charset="-122"/>
                <a:cs typeface="Yu Gothic" pitchFamily="34" charset="-120"/>
              </a:rPr>
              <a:t>(Continuous)</a:t>
            </a:r>
          </a:p>
        </p:txBody>
      </p:sp>
      <p:sp>
        <p:nvSpPr>
          <p:cNvPr id="102" name="Block Arc 101"/>
          <p:cNvSpPr/>
          <p:nvPr/>
        </p:nvSpPr>
        <p:spPr>
          <a:xfrm>
            <a:off x="4937760" y="4370832"/>
            <a:ext cx="1737360" cy="1737360"/>
          </a:xfrm>
          <a:prstGeom prst="blockArc">
            <a:avLst>
              <a:gd name="adj1" fmla="val 17280000"/>
              <a:gd name="adj2" fmla="val 15479999"/>
              <a:gd name="adj3" fmla="val 7894"/>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Isosceles Triangle 102"/>
          <p:cNvSpPr/>
          <p:nvPr/>
        </p:nvSpPr>
        <p:spPr>
          <a:xfrm rot="5400000">
            <a:off x="5672227" y="4323754"/>
            <a:ext cx="292608" cy="246888"/>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184648" y="4709160"/>
            <a:ext cx="1243584" cy="1097280"/>
          </a:xfrm>
          <a:prstGeom prst="rect">
            <a:avLst/>
          </a:prstGeom>
          <a:noFill/>
        </p:spPr>
        <p:txBody>
          <a:bodyPr wrap="square" lIns="0" rIns="0" tIns="0" bIns="0" anchor="ctr" rtlCol="0"/>
          <a:lstStyle/>
          <a:p>
            <a:pPr marL="0" indent="0" algn="ctr">
              <a:buNone/>
            </a:pPr>
            <a:r>
              <a:rPr sz="1100" b="1" lang="en-US" dirty="0">
                <a:solidFill>
                  <a:srgbClr val="1F2E35"/>
                </a:solidFill>
                <a:latin typeface="Yu Gothic" pitchFamily="34" charset="0"/>
                <a:ea typeface="Yu Gothic" pitchFamily="34" charset="-122"/>
                <a:cs typeface="Yu Gothic" pitchFamily="34" charset="-120"/>
              </a:rPr>
              <a:t>商用製造</a:t>
            </a:r>
          </a:p>
          <a:p>
            <a:pPr marL="118872" indent="-118872">
              <a:spcBef>
                <a:spcPts val="300"/>
              </a:spcBef>
              <a:buFont typeface="Yu Gothic"/>
              <a:buChar char="・"/>
            </a:pPr>
            <a:r>
              <a:rPr sz="800" b="0" lang="en-US" dirty="0">
                <a:solidFill>
                  <a:srgbClr val="1F2E35"/>
                </a:solidFill>
                <a:latin typeface="Yu Gothic" pitchFamily="34" charset="0"/>
                <a:ea typeface="Yu Gothic" pitchFamily="34" charset="-122"/>
                <a:cs typeface="Yu Gothic" pitchFamily="34" charset="-120"/>
              </a:rPr>
              <a:t>原薬製造（培養・精製）</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製剤化・充填・包装</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品質試験・出荷判定</a:t>
            </a:r>
          </a:p>
        </p:txBody>
      </p:sp>
      <p:sp>
        <p:nvSpPr>
          <p:cNvPr id="105" name="Diamond 104"/>
          <p:cNvSpPr/>
          <p:nvPr/>
        </p:nvSpPr>
        <p:spPr>
          <a:xfrm>
            <a:off x="5687568" y="5989320"/>
            <a:ext cx="237744" cy="237744"/>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663440" y="6236207"/>
            <a:ext cx="2286000" cy="18288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出荷判定の合格</a:t>
            </a:r>
          </a:p>
        </p:txBody>
      </p:sp>
      <p:sp>
        <p:nvSpPr>
          <p:cNvPr id="107" name="Block Arc 106"/>
          <p:cNvSpPr/>
          <p:nvPr/>
        </p:nvSpPr>
        <p:spPr>
          <a:xfrm>
            <a:off x="7351775" y="4370832"/>
            <a:ext cx="1737360" cy="1737360"/>
          </a:xfrm>
          <a:prstGeom prst="blockArc">
            <a:avLst>
              <a:gd name="adj1" fmla="val 17280000"/>
              <a:gd name="adj2" fmla="val 15479999"/>
              <a:gd name="adj3" fmla="val 7894"/>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rot="5400000">
            <a:off x="8086243" y="4323754"/>
            <a:ext cx="292608" cy="246888"/>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598663" y="4709160"/>
            <a:ext cx="1243584" cy="1097280"/>
          </a:xfrm>
          <a:prstGeom prst="rect">
            <a:avLst/>
          </a:prstGeom>
          <a:noFill/>
        </p:spPr>
        <p:txBody>
          <a:bodyPr wrap="square" lIns="0" rIns="0" tIns="0" bIns="0" anchor="ctr" rtlCol="0"/>
          <a:lstStyle/>
          <a:p>
            <a:pPr marL="0" indent="0" algn="ctr">
              <a:buNone/>
            </a:pPr>
            <a:r>
              <a:rPr sz="1100" b="1" lang="en-US" dirty="0">
                <a:solidFill>
                  <a:srgbClr val="1F2E35"/>
                </a:solidFill>
                <a:latin typeface="Yu Gothic" pitchFamily="34" charset="0"/>
                <a:ea typeface="Yu Gothic" pitchFamily="34" charset="-122"/>
                <a:cs typeface="Yu Gothic" pitchFamily="34" charset="-120"/>
              </a:rPr>
              <a:t>供給・流通</a:t>
            </a:r>
          </a:p>
          <a:p>
            <a:pPr marL="118872" indent="-118872">
              <a:spcBef>
                <a:spcPts val="300"/>
              </a:spcBef>
              <a:buFont typeface="Yu Gothic"/>
              <a:buChar char="・"/>
            </a:pPr>
            <a:r>
              <a:rPr sz="800" b="0" lang="en-US" dirty="0">
                <a:solidFill>
                  <a:srgbClr val="1F2E35"/>
                </a:solidFill>
                <a:latin typeface="Yu Gothic" pitchFamily="34" charset="0"/>
                <a:ea typeface="Yu Gothic" pitchFamily="34" charset="-122"/>
                <a:cs typeface="Yu Gothic" pitchFamily="34" charset="-120"/>
              </a:rPr>
              <a:t>受注・需給調整</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コールドチェーン流通</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医療機関・薬局への納入</a:t>
            </a:r>
          </a:p>
        </p:txBody>
      </p:sp>
      <p:sp>
        <p:nvSpPr>
          <p:cNvPr id="110" name="Diamond 109"/>
          <p:cNvSpPr/>
          <p:nvPr/>
        </p:nvSpPr>
        <p:spPr>
          <a:xfrm>
            <a:off x="8101583" y="5989320"/>
            <a:ext cx="237744" cy="237744"/>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077455" y="6236207"/>
            <a:ext cx="2286000" cy="18288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品質を保った製品の到達</a:t>
            </a:r>
          </a:p>
        </p:txBody>
      </p:sp>
      <p:sp>
        <p:nvSpPr>
          <p:cNvPr id="112" name="Block Arc 111"/>
          <p:cNvSpPr/>
          <p:nvPr/>
        </p:nvSpPr>
        <p:spPr>
          <a:xfrm>
            <a:off x="9765792" y="4370832"/>
            <a:ext cx="1737360" cy="1737360"/>
          </a:xfrm>
          <a:prstGeom prst="blockArc">
            <a:avLst>
              <a:gd name="adj1" fmla="val 17280000"/>
              <a:gd name="adj2" fmla="val 15479999"/>
              <a:gd name="adj3" fmla="val 7894"/>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sosceles Triangle 112"/>
          <p:cNvSpPr/>
          <p:nvPr/>
        </p:nvSpPr>
        <p:spPr>
          <a:xfrm rot="5400000">
            <a:off x="10500259" y="4323754"/>
            <a:ext cx="292608" cy="246888"/>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12680" y="4709160"/>
            <a:ext cx="1243584" cy="1097280"/>
          </a:xfrm>
          <a:prstGeom prst="rect">
            <a:avLst/>
          </a:prstGeom>
          <a:noFill/>
        </p:spPr>
        <p:txBody>
          <a:bodyPr wrap="square" lIns="0" rIns="0" tIns="0" bIns="0" anchor="ctr" rtlCol="0"/>
          <a:lstStyle/>
          <a:p>
            <a:pPr marL="0" indent="0" algn="ctr">
              <a:buNone/>
            </a:pPr>
            <a:r>
              <a:rPr sz="1100" b="1" lang="en-US" dirty="0">
                <a:solidFill>
                  <a:srgbClr val="1F2E35"/>
                </a:solidFill>
                <a:latin typeface="Yu Gothic" pitchFamily="34" charset="0"/>
                <a:ea typeface="Yu Gothic" pitchFamily="34" charset="-122"/>
                <a:cs typeface="Yu Gothic" pitchFamily="34" charset="-120"/>
              </a:rPr>
              <a:t>市販後</a:t>
            </a:r>
          </a:p>
          <a:p>
            <a:pPr marL="118872" indent="-118872">
              <a:spcBef>
                <a:spcPts val="300"/>
              </a:spcBef>
              <a:buFont typeface="Yu Gothic"/>
              <a:buChar char="・"/>
            </a:pPr>
            <a:r>
              <a:rPr sz="800" b="0" lang="en-US" dirty="0">
                <a:solidFill>
                  <a:srgbClr val="1F2E35"/>
                </a:solidFill>
                <a:latin typeface="Yu Gothic" pitchFamily="34" charset="0"/>
                <a:ea typeface="Yu Gothic" pitchFamily="34" charset="-122"/>
                <a:cs typeface="Yu Gothic" pitchFamily="34" charset="-120"/>
              </a:rPr>
              <a:t>安全性監視（ファーマコビジランス）</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市販後要求・コミットメント（PMR／PMC）</a:t>
            </a:r>
          </a:p>
          <a:p>
            <a:pPr marL="118872" indent="-118872">
              <a:spcBef>
                <a:spcPts val="100"/>
              </a:spcBef>
              <a:buFont typeface="Yu Gothic"/>
              <a:buChar char="・"/>
            </a:pPr>
            <a:r>
              <a:rPr sz="800" b="0" lang="en-US" dirty="0">
                <a:solidFill>
                  <a:srgbClr val="1F2E35"/>
                </a:solidFill>
                <a:latin typeface="Yu Gothic" pitchFamily="34" charset="0"/>
                <a:ea typeface="Yu Gothic" pitchFamily="34" charset="-122"/>
                <a:cs typeface="Yu Gothic" pitchFamily="34" charset="-120"/>
              </a:rPr>
              <a:t>ライフサイクル管理</a:t>
            </a:r>
          </a:p>
        </p:txBody>
      </p:sp>
      <p:sp>
        <p:nvSpPr>
          <p:cNvPr id="115" name="Diamond 114"/>
          <p:cNvSpPr/>
          <p:nvPr/>
        </p:nvSpPr>
        <p:spPr>
          <a:xfrm>
            <a:off x="10515599" y="5989320"/>
            <a:ext cx="237744" cy="237744"/>
          </a:xfrm>
          <a:prstGeom prst="diamond">
            <a:avLst/>
          </a:prstGeom>
          <a:solidFill>
            <a:srgbClr val="9C7C45"/>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491472" y="6236207"/>
            <a:ext cx="2286000" cy="182880"/>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市販後要求の履行・製品価値の最大化</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E35"/>
                </a:solidFill>
                <a:latin typeface="Yu Gothic" pitchFamily="34" charset="0"/>
                <a:ea typeface="Yu Gothic" pitchFamily="34" charset="-122"/>
                <a:cs typeface="Yu Gothic" pitchFamily="34" charset="-120"/>
              </a:rPr>
              <a:t>ケイパビリティマップ全体像</a:t>
            </a:r>
            <a:endParaRPr lang="en-US" sz="2800" dirty="0"/>
          </a:p>
        </p:txBody>
      </p:sp>
      <p:sp>
        <p:nvSpPr>
          <p:cNvPr id="3" name="Text 1"/>
          <p:cNvSpPr txBox="1"/>
          <p:nvPr/>
        </p:nvSpPr>
        <p:spPr>
          <a:xfrm>
            <a:off x="457200" y="841248"/>
            <a:ext cx="11247120" cy="320040"/>
          </a:xfrm>
          <a:prstGeom prst="rect">
            <a:avLst/>
          </a:prstGeom>
          <a:noFill/>
          <a:ln/>
        </p:spPr>
        <p:txBody>
          <a:bodyPr wrap="square" lIns="0" tIns="0" rIns="0" bIns="0" rtlCol="0" anchor="ctr"/>
          <a:lstStyle/>
          <a:p>
            <a:pPr indent="0" marL="0">
              <a:buNone/>
            </a:pPr>
            <a:r>
              <a:rPr lang="en-US" sz="1300" dirty="0">
                <a:solidFill>
                  <a:srgbClr val="5B6B70"/>
                </a:solidFill>
                <a:latin typeface="Yu Gothic" pitchFamily="34" charset="0"/>
                <a:ea typeface="Yu Gothic" pitchFamily="34" charset="-122"/>
                <a:cs typeface="Yu Gothic" pitchFamily="34" charset="-120"/>
              </a:rPr>
              <a:t>領域（L1）と能力（L2）。上段＝戦略、中段・右列＝コア、下段＝支援。★は希少疾患に限定したことで追加・強調した能力</a:t>
            </a:r>
            <a:endParaRPr lang="en-US" sz="1300" dirty="0"/>
          </a:p>
        </p:txBody>
      </p:sp>
      <p:sp>
        <p:nvSpPr>
          <p:cNvPr id="4" name="Rounded Rectangle 3"/>
          <p:cNvSpPr/>
          <p:nvPr/>
        </p:nvSpPr>
        <p:spPr>
          <a:xfrm>
            <a:off x="457200" y="1325880"/>
            <a:ext cx="7406640" cy="530352"/>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62456"/>
            <a:ext cx="7406640"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戦略・ガバナンス（Strategy &amp; Governance）</a:t>
            </a:r>
          </a:p>
        </p:txBody>
      </p:sp>
      <p:sp>
        <p:nvSpPr>
          <p:cNvPr id="6" name="Rounded Rectangle 5"/>
          <p:cNvSpPr/>
          <p:nvPr/>
        </p:nvSpPr>
        <p:spPr>
          <a:xfrm>
            <a:off x="868680" y="1609344"/>
            <a:ext cx="210312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9344"/>
            <a:ext cx="210312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研究開発ポートフォリオ管理</a:t>
            </a:r>
          </a:p>
        </p:txBody>
      </p:sp>
      <p:sp>
        <p:nvSpPr>
          <p:cNvPr id="8" name="Rounded Rectangle 7"/>
          <p:cNvSpPr/>
          <p:nvPr/>
        </p:nvSpPr>
        <p:spPr>
          <a:xfrm>
            <a:off x="3108960" y="1609344"/>
            <a:ext cx="210312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0" y="1609344"/>
            <a:ext cx="210312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知財・独占期間管理</a:t>
            </a:r>
          </a:p>
        </p:txBody>
      </p:sp>
      <p:sp>
        <p:nvSpPr>
          <p:cNvPr id="10" name="Rounded Rectangle 9"/>
          <p:cNvSpPr/>
          <p:nvPr/>
        </p:nvSpPr>
        <p:spPr>
          <a:xfrm>
            <a:off x="5349240" y="1609344"/>
            <a:ext cx="210312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1609344"/>
            <a:ext cx="210312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外部パートナー管理</a:t>
            </a:r>
          </a:p>
        </p:txBody>
      </p:sp>
      <p:sp>
        <p:nvSpPr>
          <p:cNvPr id="12" name="Rounded Rectangle 11"/>
          <p:cNvSpPr/>
          <p:nvPr/>
        </p:nvSpPr>
        <p:spPr>
          <a:xfrm>
            <a:off x="457200" y="1984248"/>
            <a:ext cx="2407920" cy="3867912"/>
          </a:xfrm>
          <a:prstGeom prst="roundRect">
            <a:avLst>
              <a:gd name="adj" fmla="val 3000"/>
            </a:avLst>
          </a:prstGeom>
          <a:solidFill>
            <a:srgbClr val="FDEEE7"/>
          </a:solidFill>
          <a:ln w="1905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39112"/>
            <a:ext cx="2407920" cy="274320"/>
          </a:xfrm>
          <a:prstGeom prst="rect">
            <a:avLst/>
          </a:prstGeom>
          <a:noFill/>
        </p:spPr>
        <p:txBody>
          <a:bodyPr wrap="square" lIns="0" rIns="0" tIns="0" bIns="0" anchor="ctr" rtlCol="0"/>
          <a:lstStyle/>
          <a:p>
            <a:pPr marL="0" indent="0" algn="ctr">
              <a:buNone/>
            </a:pPr>
            <a:r>
              <a:rPr sz="1250" b="1" lang="en-US" dirty="0">
                <a:solidFill>
                  <a:srgbClr val="C24E1C"/>
                </a:solidFill>
                <a:latin typeface="Yu Gothic" pitchFamily="34" charset="0"/>
                <a:ea typeface="Yu Gothic" pitchFamily="34" charset="-122"/>
                <a:cs typeface="Yu Gothic" pitchFamily="34" charset="-120"/>
              </a:rPr>
              <a:t>Commercial &amp; Patient</a:t>
            </a:r>
          </a:p>
        </p:txBody>
      </p:sp>
      <p:sp>
        <p:nvSpPr>
          <p:cNvPr id="14" name="Rounded Rectangle 13"/>
          <p:cNvSpPr/>
          <p:nvPr/>
        </p:nvSpPr>
        <p:spPr>
          <a:xfrm>
            <a:off x="530352" y="2368296"/>
            <a:ext cx="2261616" cy="1668780"/>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642615"/>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メディカル・患者エンゲージメント</a:t>
            </a:r>
          </a:p>
        </p:txBody>
      </p:sp>
      <p:sp>
        <p:nvSpPr>
          <p:cNvPr id="16" name="Rounded Rectangle 15"/>
          <p:cNvSpPr/>
          <p:nvPr/>
        </p:nvSpPr>
        <p:spPr>
          <a:xfrm>
            <a:off x="621792" y="2935223"/>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2935223"/>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患者団体・専門医連携★</a:t>
            </a:r>
          </a:p>
        </p:txBody>
      </p:sp>
      <p:sp>
        <p:nvSpPr>
          <p:cNvPr id="18" name="Rounded Rectangle 17"/>
          <p:cNvSpPr/>
          <p:nvPr/>
        </p:nvSpPr>
        <p:spPr>
          <a:xfrm>
            <a:off x="621792" y="3150107"/>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3150107"/>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メディカルアフェアーズ</a:t>
            </a:r>
          </a:p>
        </p:txBody>
      </p:sp>
      <p:sp>
        <p:nvSpPr>
          <p:cNvPr id="20" name="Rounded Rectangle 19"/>
          <p:cNvSpPr/>
          <p:nvPr/>
        </p:nvSpPr>
        <p:spPr>
          <a:xfrm>
            <a:off x="621792" y="3364991"/>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3364991"/>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疾患啓発・診断支援★</a:t>
            </a:r>
          </a:p>
        </p:txBody>
      </p:sp>
      <p:sp>
        <p:nvSpPr>
          <p:cNvPr id="22" name="Rounded Rectangle 21"/>
          <p:cNvSpPr/>
          <p:nvPr/>
        </p:nvSpPr>
        <p:spPr>
          <a:xfrm>
            <a:off x="621792" y="3579875"/>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579875"/>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患者支援サービス★</a:t>
            </a:r>
          </a:p>
        </p:txBody>
      </p:sp>
      <p:sp>
        <p:nvSpPr>
          <p:cNvPr id="24" name="Rounded Rectangle 23"/>
          <p:cNvSpPr/>
          <p:nvPr/>
        </p:nvSpPr>
        <p:spPr>
          <a:xfrm>
            <a:off x="530352" y="4110228"/>
            <a:ext cx="2261616" cy="1668780"/>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384548"/>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市場アクセス・商業</a:t>
            </a:r>
          </a:p>
        </p:txBody>
      </p:sp>
      <p:sp>
        <p:nvSpPr>
          <p:cNvPr id="26" name="Rounded Rectangle 25"/>
          <p:cNvSpPr/>
          <p:nvPr/>
        </p:nvSpPr>
        <p:spPr>
          <a:xfrm>
            <a:off x="621792" y="4677156"/>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467715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価格・保険者契約管理</a:t>
            </a:r>
          </a:p>
        </p:txBody>
      </p:sp>
      <p:sp>
        <p:nvSpPr>
          <p:cNvPr id="28" name="Rounded Rectangle 27"/>
          <p:cNvSpPr/>
          <p:nvPr/>
        </p:nvSpPr>
        <p:spPr>
          <a:xfrm>
            <a:off x="621792" y="4892040"/>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892040"/>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政府価格報告・政策対応</a:t>
            </a:r>
          </a:p>
        </p:txBody>
      </p:sp>
      <p:sp>
        <p:nvSpPr>
          <p:cNvPr id="30" name="Rounded Rectangle 29"/>
          <p:cNvSpPr/>
          <p:nvPr/>
        </p:nvSpPr>
        <p:spPr>
          <a:xfrm>
            <a:off x="621792" y="5106924"/>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 y="5106924"/>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販促・商業コンプライアンス</a:t>
            </a:r>
          </a:p>
        </p:txBody>
      </p:sp>
      <p:sp>
        <p:nvSpPr>
          <p:cNvPr id="32" name="Rounded Rectangle 31"/>
          <p:cNvSpPr/>
          <p:nvPr/>
        </p:nvSpPr>
        <p:spPr>
          <a:xfrm>
            <a:off x="621792" y="5321808"/>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5321808"/>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営業・顧客管理</a:t>
            </a:r>
          </a:p>
        </p:txBody>
      </p:sp>
      <p:sp>
        <p:nvSpPr>
          <p:cNvPr id="34" name="Chevron 33"/>
          <p:cNvSpPr/>
          <p:nvPr/>
        </p:nvSpPr>
        <p:spPr>
          <a:xfrm rot="5400000">
            <a:off x="1601724" y="1764791"/>
            <a:ext cx="118872" cy="310896"/>
          </a:xfrm>
          <a:prstGeom prst="chevron">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rot="5400000">
            <a:off x="1601724" y="5765292"/>
            <a:ext cx="118872" cy="310896"/>
          </a:xfrm>
          <a:prstGeom prst="chevron">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956560" y="1984248"/>
            <a:ext cx="2407920" cy="3867912"/>
          </a:xfrm>
          <a:prstGeom prst="roundRect">
            <a:avLst>
              <a:gd name="adj" fmla="val 3000"/>
            </a:avLst>
          </a:prstGeom>
          <a:solidFill>
            <a:srgbClr val="EEECF7"/>
          </a:solidFill>
          <a:ln w="1905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56560" y="2039112"/>
            <a:ext cx="2407920" cy="274320"/>
          </a:xfrm>
          <a:prstGeom prst="rect">
            <a:avLst/>
          </a:prstGeom>
          <a:noFill/>
        </p:spPr>
        <p:txBody>
          <a:bodyPr wrap="square" lIns="0" rIns="0" tIns="0" bIns="0" anchor="ctr" rtlCol="0"/>
          <a:lstStyle/>
          <a:p>
            <a:pPr marL="0" indent="0" algn="ctr">
              <a:buNone/>
            </a:pPr>
            <a:r>
              <a:rPr sz="1250" b="1" lang="en-US" dirty="0">
                <a:solidFill>
                  <a:srgbClr val="4A3AA7"/>
                </a:solidFill>
                <a:latin typeface="Yu Gothic" pitchFamily="34" charset="0"/>
                <a:ea typeface="Yu Gothic" pitchFamily="34" charset="-122"/>
                <a:cs typeface="Yu Gothic" pitchFamily="34" charset="-120"/>
              </a:rPr>
              <a:t>Regulatory &amp; Quality</a:t>
            </a:r>
          </a:p>
        </p:txBody>
      </p:sp>
      <p:sp>
        <p:nvSpPr>
          <p:cNvPr id="38" name="Rounded Rectangle 37"/>
          <p:cNvSpPr/>
          <p:nvPr/>
        </p:nvSpPr>
        <p:spPr>
          <a:xfrm>
            <a:off x="3029712" y="2368296"/>
            <a:ext cx="2261616" cy="1231392"/>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9712" y="2423921"/>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薬事</a:t>
            </a:r>
          </a:p>
        </p:txBody>
      </p:sp>
      <p:sp>
        <p:nvSpPr>
          <p:cNvPr id="40" name="Rounded Rectangle 39"/>
          <p:cNvSpPr/>
          <p:nvPr/>
        </p:nvSpPr>
        <p:spPr>
          <a:xfrm>
            <a:off x="3121152" y="2716529"/>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121152" y="2716529"/>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薬事戦略・当局対応</a:t>
            </a:r>
          </a:p>
        </p:txBody>
      </p:sp>
      <p:sp>
        <p:nvSpPr>
          <p:cNvPr id="42" name="Rounded Rectangle 41"/>
          <p:cNvSpPr/>
          <p:nvPr/>
        </p:nvSpPr>
        <p:spPr>
          <a:xfrm>
            <a:off x="3121152" y="2931413"/>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21152" y="2931413"/>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申請資料作成・管理</a:t>
            </a:r>
          </a:p>
        </p:txBody>
      </p:sp>
      <p:sp>
        <p:nvSpPr>
          <p:cNvPr id="44" name="Rounded Rectangle 43"/>
          <p:cNvSpPr/>
          <p:nvPr/>
        </p:nvSpPr>
        <p:spPr>
          <a:xfrm>
            <a:off x="3121152" y="3146297"/>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121152" y="3146297"/>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ラベリング管理</a:t>
            </a:r>
          </a:p>
        </p:txBody>
      </p:sp>
      <p:sp>
        <p:nvSpPr>
          <p:cNvPr id="46" name="Rounded Rectangle 45"/>
          <p:cNvSpPr/>
          <p:nvPr/>
        </p:nvSpPr>
        <p:spPr>
          <a:xfrm>
            <a:off x="3121152" y="3361181"/>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121152" y="3361181"/>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市販後薬事コンプライアンス</a:t>
            </a:r>
          </a:p>
        </p:txBody>
      </p:sp>
      <p:sp>
        <p:nvSpPr>
          <p:cNvPr id="48" name="Rounded Rectangle 47"/>
          <p:cNvSpPr/>
          <p:nvPr/>
        </p:nvSpPr>
        <p:spPr>
          <a:xfrm>
            <a:off x="3029712" y="3672840"/>
            <a:ext cx="2261616" cy="1231392"/>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029712" y="3728465"/>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品質</a:t>
            </a:r>
          </a:p>
        </p:txBody>
      </p:sp>
      <p:sp>
        <p:nvSpPr>
          <p:cNvPr id="50" name="Rounded Rectangle 49"/>
          <p:cNvSpPr/>
          <p:nvPr/>
        </p:nvSpPr>
        <p:spPr>
          <a:xfrm>
            <a:off x="3121152" y="4021074"/>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21152" y="4021074"/>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品質管理（試験・安定性）</a:t>
            </a:r>
          </a:p>
        </p:txBody>
      </p:sp>
      <p:sp>
        <p:nvSpPr>
          <p:cNvPr id="52" name="Rounded Rectangle 51"/>
          <p:cNvSpPr/>
          <p:nvPr/>
        </p:nvSpPr>
        <p:spPr>
          <a:xfrm>
            <a:off x="3121152" y="4235958"/>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21152" y="4235958"/>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品質保証（出荷判定・逸脱・変更）</a:t>
            </a:r>
          </a:p>
        </p:txBody>
      </p:sp>
      <p:sp>
        <p:nvSpPr>
          <p:cNvPr id="54" name="Rounded Rectangle 53"/>
          <p:cNvSpPr/>
          <p:nvPr/>
        </p:nvSpPr>
        <p:spPr>
          <a:xfrm>
            <a:off x="3121152" y="4450842"/>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121152" y="445084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バリデーション管理</a:t>
            </a:r>
          </a:p>
        </p:txBody>
      </p:sp>
      <p:sp>
        <p:nvSpPr>
          <p:cNvPr id="56" name="Rounded Rectangle 55"/>
          <p:cNvSpPr/>
          <p:nvPr/>
        </p:nvSpPr>
        <p:spPr>
          <a:xfrm>
            <a:off x="3121152" y="4665726"/>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121152" y="466572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品質システム・監査管理</a:t>
            </a:r>
          </a:p>
        </p:txBody>
      </p:sp>
      <p:sp>
        <p:nvSpPr>
          <p:cNvPr id="58" name="Rounded Rectangle 57"/>
          <p:cNvSpPr/>
          <p:nvPr/>
        </p:nvSpPr>
        <p:spPr>
          <a:xfrm>
            <a:off x="3029712" y="4977384"/>
            <a:ext cx="2261616" cy="801624"/>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29712" y="5033010"/>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ファーマコビジランス（安全性）</a:t>
            </a:r>
          </a:p>
        </p:txBody>
      </p:sp>
      <p:sp>
        <p:nvSpPr>
          <p:cNvPr id="60" name="Rounded Rectangle 59"/>
          <p:cNvSpPr/>
          <p:nvPr/>
        </p:nvSpPr>
        <p:spPr>
          <a:xfrm>
            <a:off x="3121152" y="5325618"/>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121152" y="5325618"/>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有害事象管理</a:t>
            </a:r>
          </a:p>
        </p:txBody>
      </p:sp>
      <p:sp>
        <p:nvSpPr>
          <p:cNvPr id="62" name="Rounded Rectangle 61"/>
          <p:cNvSpPr/>
          <p:nvPr/>
        </p:nvSpPr>
        <p:spPr>
          <a:xfrm>
            <a:off x="3121152" y="5540502"/>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121152" y="554050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安全性シグナル・リスク管理</a:t>
            </a:r>
          </a:p>
        </p:txBody>
      </p:sp>
      <p:sp>
        <p:nvSpPr>
          <p:cNvPr id="64" name="Chevron 63"/>
          <p:cNvSpPr/>
          <p:nvPr/>
        </p:nvSpPr>
        <p:spPr>
          <a:xfrm rot="5400000">
            <a:off x="4101083" y="1764791"/>
            <a:ext cx="118872" cy="310896"/>
          </a:xfrm>
          <a:prstGeom prst="chevron">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rot="5400000">
            <a:off x="4101083" y="5765292"/>
            <a:ext cx="118872" cy="310896"/>
          </a:xfrm>
          <a:prstGeom prst="chevron">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5455920" y="1984248"/>
            <a:ext cx="2407920" cy="3867912"/>
          </a:xfrm>
          <a:prstGeom prst="roundRect">
            <a:avLst>
              <a:gd name="adj" fmla="val 3000"/>
            </a:avLst>
          </a:prstGeom>
          <a:solidFill>
            <a:srgbClr val="E6F6F0"/>
          </a:solidFill>
          <a:ln w="19050">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5920" y="2039112"/>
            <a:ext cx="2407920" cy="274320"/>
          </a:xfrm>
          <a:prstGeom prst="rect">
            <a:avLst/>
          </a:prstGeom>
          <a:noFill/>
        </p:spPr>
        <p:txBody>
          <a:bodyPr wrap="square" lIns="0" rIns="0" tIns="0" bIns="0" anchor="ctr" rtlCol="0"/>
          <a:lstStyle/>
          <a:p>
            <a:pPr marL="0" indent="0" algn="ctr">
              <a:buNone/>
            </a:pPr>
            <a:r>
              <a:rPr sz="1250" b="1" lang="en-US" dirty="0">
                <a:solidFill>
                  <a:srgbClr val="0E7A52"/>
                </a:solidFill>
                <a:latin typeface="Yu Gothic" pitchFamily="34" charset="0"/>
                <a:ea typeface="Yu Gothic" pitchFamily="34" charset="-122"/>
                <a:cs typeface="Yu Gothic" pitchFamily="34" charset="-120"/>
              </a:rPr>
              <a:t>Supply Chain &amp; Mfg</a:t>
            </a:r>
          </a:p>
        </p:txBody>
      </p:sp>
      <p:sp>
        <p:nvSpPr>
          <p:cNvPr id="68" name="Rounded Rectangle 67"/>
          <p:cNvSpPr/>
          <p:nvPr/>
        </p:nvSpPr>
        <p:spPr>
          <a:xfrm>
            <a:off x="5529072" y="2368296"/>
            <a:ext cx="2261616" cy="1561338"/>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529072" y="2588895"/>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製造</a:t>
            </a:r>
          </a:p>
        </p:txBody>
      </p:sp>
      <p:sp>
        <p:nvSpPr>
          <p:cNvPr id="70" name="Rounded Rectangle 69"/>
          <p:cNvSpPr/>
          <p:nvPr/>
        </p:nvSpPr>
        <p:spPr>
          <a:xfrm>
            <a:off x="5620512" y="2881502"/>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620512" y="288150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生産計画・製造実行管理</a:t>
            </a:r>
          </a:p>
        </p:txBody>
      </p:sp>
      <p:sp>
        <p:nvSpPr>
          <p:cNvPr id="72" name="Rounded Rectangle 71"/>
          <p:cNvSpPr/>
          <p:nvPr/>
        </p:nvSpPr>
        <p:spPr>
          <a:xfrm>
            <a:off x="5620512" y="3096386"/>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620512" y="309638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原薬製造</a:t>
            </a:r>
          </a:p>
        </p:txBody>
      </p:sp>
      <p:sp>
        <p:nvSpPr>
          <p:cNvPr id="74" name="Rounded Rectangle 73"/>
          <p:cNvSpPr/>
          <p:nvPr/>
        </p:nvSpPr>
        <p:spPr>
          <a:xfrm>
            <a:off x="5620512" y="3311271"/>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620512" y="3311271"/>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製剤化・無菌充填・包装</a:t>
            </a:r>
          </a:p>
        </p:txBody>
      </p:sp>
      <p:sp>
        <p:nvSpPr>
          <p:cNvPr id="76" name="Rounded Rectangle 75"/>
          <p:cNvSpPr/>
          <p:nvPr/>
        </p:nvSpPr>
        <p:spPr>
          <a:xfrm>
            <a:off x="5620512" y="3526154"/>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20512" y="3526154"/>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設備・環境管理</a:t>
            </a:r>
          </a:p>
        </p:txBody>
      </p:sp>
      <p:sp>
        <p:nvSpPr>
          <p:cNvPr id="78" name="Rounded Rectangle 77"/>
          <p:cNvSpPr/>
          <p:nvPr/>
        </p:nvSpPr>
        <p:spPr>
          <a:xfrm>
            <a:off x="5529072" y="4002786"/>
            <a:ext cx="2261616" cy="1776222"/>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529072" y="4223385"/>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サプライチェーン</a:t>
            </a:r>
          </a:p>
        </p:txBody>
      </p:sp>
      <p:sp>
        <p:nvSpPr>
          <p:cNvPr id="80" name="Rounded Rectangle 79"/>
          <p:cNvSpPr/>
          <p:nvPr/>
        </p:nvSpPr>
        <p:spPr>
          <a:xfrm>
            <a:off x="5620512" y="4515993"/>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620512" y="4515993"/>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需給計画</a:t>
            </a:r>
          </a:p>
        </p:txBody>
      </p:sp>
      <p:sp>
        <p:nvSpPr>
          <p:cNvPr id="82" name="Rounded Rectangle 81"/>
          <p:cNvSpPr/>
          <p:nvPr/>
        </p:nvSpPr>
        <p:spPr>
          <a:xfrm>
            <a:off x="5620512" y="4730877"/>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20512" y="4730877"/>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流通ネットワーク管理★</a:t>
            </a:r>
          </a:p>
        </p:txBody>
      </p:sp>
      <p:sp>
        <p:nvSpPr>
          <p:cNvPr id="84" name="Rounded Rectangle 83"/>
          <p:cNvSpPr/>
          <p:nvPr/>
        </p:nvSpPr>
        <p:spPr>
          <a:xfrm>
            <a:off x="5620512" y="4945761"/>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20512" y="4945761"/>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コールドチェーン物流</a:t>
            </a:r>
          </a:p>
        </p:txBody>
      </p:sp>
      <p:sp>
        <p:nvSpPr>
          <p:cNvPr id="86" name="Rounded Rectangle 85"/>
          <p:cNvSpPr/>
          <p:nvPr/>
        </p:nvSpPr>
        <p:spPr>
          <a:xfrm>
            <a:off x="5620512" y="5160645"/>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620512" y="5160645"/>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トレーサビリティ</a:t>
            </a:r>
          </a:p>
        </p:txBody>
      </p:sp>
      <p:sp>
        <p:nvSpPr>
          <p:cNvPr id="88" name="Rounded Rectangle 87"/>
          <p:cNvSpPr/>
          <p:nvPr/>
        </p:nvSpPr>
        <p:spPr>
          <a:xfrm>
            <a:off x="5620512" y="5375529"/>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20512" y="5375529"/>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供給継続・回収管理</a:t>
            </a:r>
          </a:p>
        </p:txBody>
      </p:sp>
      <p:sp>
        <p:nvSpPr>
          <p:cNvPr id="90" name="Chevron 89"/>
          <p:cNvSpPr/>
          <p:nvPr/>
        </p:nvSpPr>
        <p:spPr>
          <a:xfrm rot="5400000">
            <a:off x="6600444" y="1764791"/>
            <a:ext cx="118872" cy="310896"/>
          </a:xfrm>
          <a:prstGeom prst="chevron">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Chevron 90"/>
          <p:cNvSpPr/>
          <p:nvPr/>
        </p:nvSpPr>
        <p:spPr>
          <a:xfrm rot="5400000">
            <a:off x="6600444" y="5765292"/>
            <a:ext cx="118872" cy="310896"/>
          </a:xfrm>
          <a:prstGeom prst="chevron">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8001000" y="1325880"/>
            <a:ext cx="3730752" cy="4526280"/>
          </a:xfrm>
          <a:prstGeom prst="roundRect">
            <a:avLst>
              <a:gd name="adj" fmla="val 3000"/>
            </a:avLst>
          </a:prstGeom>
          <a:solidFill>
            <a:srgbClr val="E8F1FB"/>
          </a:solidFill>
          <a:ln w="190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001000" y="1380744"/>
            <a:ext cx="3730752" cy="274320"/>
          </a:xfrm>
          <a:prstGeom prst="rect">
            <a:avLst/>
          </a:prstGeom>
          <a:noFill/>
        </p:spPr>
        <p:txBody>
          <a:bodyPr wrap="square" lIns="0" rIns="0" tIns="0" bIns="0" anchor="ctr" rtlCol="0"/>
          <a:lstStyle/>
          <a:p>
            <a:pPr marL="0" indent="0" algn="ctr">
              <a:buNone/>
            </a:pPr>
            <a:r>
              <a:rPr sz="1250" b="1" lang="en-US" dirty="0">
                <a:solidFill>
                  <a:srgbClr val="2A78D6"/>
                </a:solidFill>
                <a:latin typeface="Yu Gothic" pitchFamily="34" charset="0"/>
                <a:ea typeface="Yu Gothic" pitchFamily="34" charset="-122"/>
                <a:cs typeface="Yu Gothic" pitchFamily="34" charset="-120"/>
              </a:rPr>
              <a:t>R&amp;D Engine</a:t>
            </a:r>
          </a:p>
        </p:txBody>
      </p:sp>
      <p:sp>
        <p:nvSpPr>
          <p:cNvPr id="94" name="Rounded Rectangle 93"/>
          <p:cNvSpPr/>
          <p:nvPr/>
        </p:nvSpPr>
        <p:spPr>
          <a:xfrm>
            <a:off x="8074152" y="1709928"/>
            <a:ext cx="3584448" cy="101612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074152" y="1765363"/>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研究（創薬）</a:t>
            </a:r>
          </a:p>
        </p:txBody>
      </p:sp>
      <p:sp>
        <p:nvSpPr>
          <p:cNvPr id="96" name="Rounded Rectangle 95"/>
          <p:cNvSpPr/>
          <p:nvPr/>
        </p:nvSpPr>
        <p:spPr>
          <a:xfrm>
            <a:off x="8165592" y="2057971"/>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165592" y="2057971"/>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疾患・標的研究★</a:t>
            </a:r>
          </a:p>
        </p:txBody>
      </p:sp>
      <p:sp>
        <p:nvSpPr>
          <p:cNvPr id="98" name="Rounded Rectangle 97"/>
          <p:cNvSpPr/>
          <p:nvPr/>
        </p:nvSpPr>
        <p:spPr>
          <a:xfrm>
            <a:off x="9893808" y="2057971"/>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893808" y="2057971"/>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抗体創出</a:t>
            </a:r>
          </a:p>
        </p:txBody>
      </p:sp>
      <p:sp>
        <p:nvSpPr>
          <p:cNvPr id="100" name="Rounded Rectangle 99"/>
          <p:cNvSpPr/>
          <p:nvPr/>
        </p:nvSpPr>
        <p:spPr>
          <a:xfrm>
            <a:off x="8165592" y="2272855"/>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65592" y="2272855"/>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抗体エンジニアリング</a:t>
            </a:r>
          </a:p>
        </p:txBody>
      </p:sp>
      <p:sp>
        <p:nvSpPr>
          <p:cNvPr id="102" name="Rounded Rectangle 101"/>
          <p:cNvSpPr/>
          <p:nvPr/>
        </p:nvSpPr>
        <p:spPr>
          <a:xfrm>
            <a:off x="9893808" y="2272855"/>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893808" y="2272855"/>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疾患モデル・薬効評価</a:t>
            </a:r>
          </a:p>
        </p:txBody>
      </p:sp>
      <p:sp>
        <p:nvSpPr>
          <p:cNvPr id="104" name="Rounded Rectangle 103"/>
          <p:cNvSpPr/>
          <p:nvPr/>
        </p:nvSpPr>
        <p:spPr>
          <a:xfrm>
            <a:off x="8165592" y="2487739"/>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165592" y="2487739"/>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開発適性・免疫原性リスク評価</a:t>
            </a:r>
          </a:p>
        </p:txBody>
      </p:sp>
      <p:sp>
        <p:nvSpPr>
          <p:cNvPr id="106" name="Rounded Rectangle 105"/>
          <p:cNvSpPr/>
          <p:nvPr/>
        </p:nvSpPr>
        <p:spPr>
          <a:xfrm>
            <a:off x="8074152" y="2799207"/>
            <a:ext cx="3584448" cy="801243"/>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074152" y="2854642"/>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非臨床・臨床薬理</a:t>
            </a:r>
          </a:p>
        </p:txBody>
      </p:sp>
      <p:sp>
        <p:nvSpPr>
          <p:cNvPr id="108" name="Rounded Rectangle 107"/>
          <p:cNvSpPr/>
          <p:nvPr/>
        </p:nvSpPr>
        <p:spPr>
          <a:xfrm>
            <a:off x="8165592" y="3147250"/>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165592" y="3147250"/>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非臨床薬理評価</a:t>
            </a:r>
          </a:p>
        </p:txBody>
      </p:sp>
      <p:sp>
        <p:nvSpPr>
          <p:cNvPr id="110" name="Rounded Rectangle 109"/>
          <p:cNvSpPr/>
          <p:nvPr/>
        </p:nvSpPr>
        <p:spPr>
          <a:xfrm>
            <a:off x="9893808" y="3147250"/>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93808" y="3147250"/>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非臨床安全性評価</a:t>
            </a:r>
          </a:p>
        </p:txBody>
      </p:sp>
      <p:sp>
        <p:nvSpPr>
          <p:cNvPr id="112" name="Rounded Rectangle 111"/>
          <p:cNvSpPr/>
          <p:nvPr/>
        </p:nvSpPr>
        <p:spPr>
          <a:xfrm>
            <a:off x="8165592" y="3362134"/>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165592" y="3362134"/>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バイオアナリシス</a:t>
            </a:r>
          </a:p>
        </p:txBody>
      </p:sp>
      <p:sp>
        <p:nvSpPr>
          <p:cNvPr id="114" name="Rounded Rectangle 113"/>
          <p:cNvSpPr/>
          <p:nvPr/>
        </p:nvSpPr>
        <p:spPr>
          <a:xfrm>
            <a:off x="9893808" y="3362134"/>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893808" y="3362134"/>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臨床薬理・ファーマコメトリクス</a:t>
            </a:r>
          </a:p>
        </p:txBody>
      </p:sp>
      <p:sp>
        <p:nvSpPr>
          <p:cNvPr id="116" name="Rounded Rectangle 115"/>
          <p:cNvSpPr/>
          <p:nvPr/>
        </p:nvSpPr>
        <p:spPr>
          <a:xfrm>
            <a:off x="8074152" y="3673602"/>
            <a:ext cx="3584448" cy="101612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074152" y="3729037"/>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CMC開発</a:t>
            </a:r>
          </a:p>
        </p:txBody>
      </p:sp>
      <p:sp>
        <p:nvSpPr>
          <p:cNvPr id="118" name="Rounded Rectangle 117"/>
          <p:cNvSpPr/>
          <p:nvPr/>
        </p:nvSpPr>
        <p:spPr>
          <a:xfrm>
            <a:off x="8165592" y="4021645"/>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165592" y="4021645"/>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細胞株開発・セルバンク管理</a:t>
            </a:r>
          </a:p>
        </p:txBody>
      </p:sp>
      <p:sp>
        <p:nvSpPr>
          <p:cNvPr id="120" name="Rounded Rectangle 119"/>
          <p:cNvSpPr/>
          <p:nvPr/>
        </p:nvSpPr>
        <p:spPr>
          <a:xfrm>
            <a:off x="9893808" y="4021645"/>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893808" y="4021645"/>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原薬プロセス開発</a:t>
            </a:r>
          </a:p>
        </p:txBody>
      </p:sp>
      <p:sp>
        <p:nvSpPr>
          <p:cNvPr id="122" name="Rounded Rectangle 121"/>
          <p:cNvSpPr/>
          <p:nvPr/>
        </p:nvSpPr>
        <p:spPr>
          <a:xfrm>
            <a:off x="8165592" y="4236529"/>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8165592" y="4236529"/>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製剤・デバイス開発</a:t>
            </a:r>
          </a:p>
        </p:txBody>
      </p:sp>
      <p:sp>
        <p:nvSpPr>
          <p:cNvPr id="124" name="Rounded Rectangle 123"/>
          <p:cNvSpPr/>
          <p:nvPr/>
        </p:nvSpPr>
        <p:spPr>
          <a:xfrm>
            <a:off x="9893808" y="4236529"/>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893808" y="4236529"/>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分析法開発・品質特性評価</a:t>
            </a:r>
          </a:p>
        </p:txBody>
      </p:sp>
      <p:sp>
        <p:nvSpPr>
          <p:cNvPr id="126" name="Rounded Rectangle 125"/>
          <p:cNvSpPr/>
          <p:nvPr/>
        </p:nvSpPr>
        <p:spPr>
          <a:xfrm>
            <a:off x="8165592" y="4451413"/>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165592" y="4451413"/>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技術移転・製造規模管理</a:t>
            </a:r>
          </a:p>
        </p:txBody>
      </p:sp>
      <p:sp>
        <p:nvSpPr>
          <p:cNvPr id="128" name="Rounded Rectangle 127"/>
          <p:cNvSpPr/>
          <p:nvPr/>
        </p:nvSpPr>
        <p:spPr>
          <a:xfrm>
            <a:off x="8074152" y="4762881"/>
            <a:ext cx="3584448" cy="101612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8074152" y="4818316"/>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臨床開発</a:t>
            </a:r>
          </a:p>
        </p:txBody>
      </p:sp>
      <p:sp>
        <p:nvSpPr>
          <p:cNvPr id="130" name="Rounded Rectangle 129"/>
          <p:cNvSpPr/>
          <p:nvPr/>
        </p:nvSpPr>
        <p:spPr>
          <a:xfrm>
            <a:off x="8165592" y="5110924"/>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165592" y="5110924"/>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臨床開発戦略・試験デザイン</a:t>
            </a:r>
          </a:p>
        </p:txBody>
      </p:sp>
      <p:sp>
        <p:nvSpPr>
          <p:cNvPr id="132" name="Rounded Rectangle 131"/>
          <p:cNvSpPr/>
          <p:nvPr/>
        </p:nvSpPr>
        <p:spPr>
          <a:xfrm>
            <a:off x="9893808" y="5110924"/>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893808" y="5110924"/>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患者エビデンス管理★</a:t>
            </a:r>
          </a:p>
        </p:txBody>
      </p:sp>
      <p:sp>
        <p:nvSpPr>
          <p:cNvPr id="134" name="Rounded Rectangle 133"/>
          <p:cNvSpPr/>
          <p:nvPr/>
        </p:nvSpPr>
        <p:spPr>
          <a:xfrm>
            <a:off x="8165592" y="5325808"/>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8165592" y="5325808"/>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患者特定・組入れ★</a:t>
            </a:r>
          </a:p>
        </p:txBody>
      </p:sp>
      <p:sp>
        <p:nvSpPr>
          <p:cNvPr id="136" name="Rounded Rectangle 135"/>
          <p:cNvSpPr/>
          <p:nvPr/>
        </p:nvSpPr>
        <p:spPr>
          <a:xfrm>
            <a:off x="9893808" y="5325808"/>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9893808" y="5325808"/>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臨床試験運営</a:t>
            </a:r>
          </a:p>
        </p:txBody>
      </p:sp>
      <p:sp>
        <p:nvSpPr>
          <p:cNvPr id="138" name="Rounded Rectangle 137"/>
          <p:cNvSpPr/>
          <p:nvPr/>
        </p:nvSpPr>
        <p:spPr>
          <a:xfrm>
            <a:off x="8165592" y="5540692"/>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165592" y="5540692"/>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臨床データマネジメント・統計解析</a:t>
            </a:r>
          </a:p>
        </p:txBody>
      </p:sp>
      <p:sp>
        <p:nvSpPr>
          <p:cNvPr id="140" name="Rounded Rectangle 139"/>
          <p:cNvSpPr/>
          <p:nvPr/>
        </p:nvSpPr>
        <p:spPr>
          <a:xfrm>
            <a:off x="9893808" y="5540692"/>
            <a:ext cx="1673352"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9893808" y="5540692"/>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治験薬供給管理</a:t>
            </a:r>
          </a:p>
        </p:txBody>
      </p:sp>
      <p:sp>
        <p:nvSpPr>
          <p:cNvPr id="142" name="Chevron 141"/>
          <p:cNvSpPr/>
          <p:nvPr/>
        </p:nvSpPr>
        <p:spPr>
          <a:xfrm rot="5400000">
            <a:off x="9806940" y="5765292"/>
            <a:ext cx="118872" cy="310896"/>
          </a:xfrm>
          <a:prstGeom prst="chevron">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Chevron 142"/>
          <p:cNvSpPr/>
          <p:nvPr/>
        </p:nvSpPr>
        <p:spPr>
          <a:xfrm>
            <a:off x="7886699" y="1472184"/>
            <a:ext cx="91440" cy="237744"/>
          </a:xfrm>
          <a:prstGeom prst="chevron">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ounded Rectangle 143"/>
          <p:cNvSpPr/>
          <p:nvPr/>
        </p:nvSpPr>
        <p:spPr>
          <a:xfrm>
            <a:off x="457200" y="5989320"/>
            <a:ext cx="11274552" cy="566928"/>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457200" y="6025896"/>
            <a:ext cx="11274552"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共通基盤（Support / Foundation）</a:t>
            </a:r>
          </a:p>
        </p:txBody>
      </p:sp>
      <p:sp>
        <p:nvSpPr>
          <p:cNvPr id="146" name="Rounded Rectangle 145"/>
          <p:cNvSpPr/>
          <p:nvPr/>
        </p:nvSpPr>
        <p:spPr>
          <a:xfrm>
            <a:off x="928115" y="6291072"/>
            <a:ext cx="32918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28115" y="6291072"/>
            <a:ext cx="32918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情報・データ管理</a:t>
            </a:r>
          </a:p>
        </p:txBody>
      </p:sp>
      <p:sp>
        <p:nvSpPr>
          <p:cNvPr id="148" name="Rounded Rectangle 147"/>
          <p:cNvSpPr/>
          <p:nvPr/>
        </p:nvSpPr>
        <p:spPr>
          <a:xfrm>
            <a:off x="4448556" y="6291072"/>
            <a:ext cx="32918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448556" y="6291072"/>
            <a:ext cx="32918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GxP文書・記録管理</a:t>
            </a:r>
          </a:p>
        </p:txBody>
      </p:sp>
      <p:sp>
        <p:nvSpPr>
          <p:cNvPr id="150" name="Rounded Rectangle 149"/>
          <p:cNvSpPr/>
          <p:nvPr/>
        </p:nvSpPr>
        <p:spPr>
          <a:xfrm>
            <a:off x="7968996" y="6291072"/>
            <a:ext cx="32918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7968996" y="6291072"/>
            <a:ext cx="32918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GxP教育・資格管理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nchor="t" lIns="0" rIns="0" tIns="0" bIns="0">
            <a:spAutoFit/>
          </a:bodyPr>
          <a:lstStyle/>
          <a:p>
            <a:pPr algn="l"/>
            <a:r>
              <a:rPr sz="2800" b="1">
                <a:solidFill>
                  <a:srgbClr val="1F2E35"/>
                </a:solidFill>
                <a:latin typeface="Yu Gothic"/>
                <a:ea typeface="Yu Gothic"/>
              </a:rPr>
              <a:t>VS×ケイパビリティマップ全体像</a:t>
            </a:r>
          </a:p>
        </p:txBody>
      </p:sp>
      <p:sp>
        <p:nvSpPr>
          <p:cNvPr id="3" name="TextBox 2"/>
          <p:cNvSpPr txBox="1"/>
          <p:nvPr/>
        </p:nvSpPr>
        <p:spPr>
          <a:xfrm>
            <a:off x="457200" y="841248"/>
            <a:ext cx="10058400" cy="320040"/>
          </a:xfrm>
          <a:prstGeom prst="rect">
            <a:avLst/>
          </a:prstGeom>
          <a:noFill/>
        </p:spPr>
        <p:txBody>
          <a:bodyPr wrap="square" anchor="t" lIns="0" rIns="0" tIns="0" bIns="0">
            <a:spAutoFit/>
          </a:bodyPr>
          <a:lstStyle/>
          <a:p>
            <a:pPr algn="l"/>
            <a:r>
              <a:rPr sz="1300" b="0">
                <a:solidFill>
                  <a:srgbClr val="5B6B70"/>
                </a:solidFill>
                <a:latin typeface="Yu Gothic"/>
                <a:ea typeface="Yu Gothic"/>
              </a:rPr>
              <a:t>各段階（VS L2）が、どの領域の能力（ケイパビリティL1）を中核として使うか。円の大きさ＝「主」の関係の件数</a:t>
            </a:r>
          </a:p>
        </p:txBody>
      </p:sp>
      <p:sp>
        <p:nvSpPr>
          <p:cNvPr id="4" name="Rectangle 3"/>
          <p:cNvSpPr/>
          <p:nvPr/>
        </p:nvSpPr>
        <p:spPr>
          <a:xfrm>
            <a:off x="4379976" y="1261872"/>
            <a:ext cx="4031488" cy="237744"/>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79976" y="1261872"/>
            <a:ext cx="4031488" cy="237744"/>
          </a:xfrm>
          <a:prstGeom prst="rect">
            <a:avLst/>
          </a:prstGeom>
          <a:noFill/>
        </p:spPr>
        <p:txBody>
          <a:bodyPr wrap="square" lIns="0" rIns="0" tIns="0" bIns="0" anchor="ctr" rtlCol="0"/>
          <a:lstStyle/>
          <a:p>
            <a:pPr marL="0" indent="0" algn="ctr">
              <a:buNone/>
            </a:pPr>
            <a:r>
              <a:rPr sz="950" b="1" lang="en-US" dirty="0">
                <a:solidFill>
                  <a:srgbClr val="FFFFFF"/>
                </a:solidFill>
                <a:latin typeface="Yu Gothic" pitchFamily="34" charset="0"/>
                <a:ea typeface="Yu Gothic" pitchFamily="34" charset="-122"/>
                <a:cs typeface="Yu Gothic" pitchFamily="34" charset="-120"/>
              </a:rPr>
              <a:t>Phase 1：開発</a:t>
            </a:r>
          </a:p>
        </p:txBody>
      </p:sp>
      <p:sp>
        <p:nvSpPr>
          <p:cNvPr id="6" name="Rectangle 5"/>
          <p:cNvSpPr/>
          <p:nvPr/>
        </p:nvSpPr>
        <p:spPr>
          <a:xfrm>
            <a:off x="8484616" y="1261872"/>
            <a:ext cx="3210560" cy="237744"/>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84616" y="1261872"/>
            <a:ext cx="3210560" cy="237744"/>
          </a:xfrm>
          <a:prstGeom prst="rect">
            <a:avLst/>
          </a:prstGeom>
          <a:noFill/>
        </p:spPr>
        <p:txBody>
          <a:bodyPr wrap="square" lIns="0" rIns="0" tIns="0" bIns="0" anchor="ctr" rtlCol="0"/>
          <a:lstStyle/>
          <a:p>
            <a:pPr marL="0" indent="0" algn="ctr">
              <a:buNone/>
            </a:pPr>
            <a:r>
              <a:rPr sz="950" b="1" lang="en-US" dirty="0">
                <a:solidFill>
                  <a:srgbClr val="FFFFFF"/>
                </a:solidFill>
                <a:latin typeface="Yu Gothic" pitchFamily="34" charset="0"/>
                <a:ea typeface="Yu Gothic" pitchFamily="34" charset="-122"/>
                <a:cs typeface="Yu Gothic" pitchFamily="34" charset="-120"/>
              </a:rPr>
              <a:t>Phase 2：商業化・供給</a:t>
            </a:r>
          </a:p>
        </p:txBody>
      </p:sp>
      <p:sp>
        <p:nvSpPr>
          <p:cNvPr id="8" name="Right Arrow 7"/>
          <p:cNvSpPr/>
          <p:nvPr/>
        </p:nvSpPr>
        <p:spPr>
          <a:xfrm>
            <a:off x="4479544"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創薬研究</a:t>
            </a:r>
          </a:p>
        </p:txBody>
      </p:sp>
      <p:sp>
        <p:nvSpPr>
          <p:cNvPr id="10" name="Right Arrow 9"/>
          <p:cNvSpPr/>
          <p:nvPr/>
        </p:nvSpPr>
        <p:spPr>
          <a:xfrm>
            <a:off x="5300472"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64328"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非臨床開発</a:t>
            </a:r>
          </a:p>
        </p:txBody>
      </p:sp>
      <p:sp>
        <p:nvSpPr>
          <p:cNvPr id="12" name="Rounded Rectangle 11"/>
          <p:cNvSpPr/>
          <p:nvPr/>
        </p:nvSpPr>
        <p:spPr>
          <a:xfrm>
            <a:off x="6103112" y="1664208"/>
            <a:ext cx="585216" cy="201168"/>
          </a:xfrm>
          <a:prstGeom prst="roundRect">
            <a:avLst>
              <a:gd name="adj" fmla="val 5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5256"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CMC開発</a:t>
            </a:r>
          </a:p>
        </p:txBody>
      </p:sp>
      <p:sp>
        <p:nvSpPr>
          <p:cNvPr id="14" name="Right Arrow 13"/>
          <p:cNvSpPr/>
          <p:nvPr/>
        </p:nvSpPr>
        <p:spPr>
          <a:xfrm>
            <a:off x="6942328"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6184"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臨床開発</a:t>
            </a:r>
          </a:p>
        </p:txBody>
      </p:sp>
      <p:sp>
        <p:nvSpPr>
          <p:cNvPr id="16" name="Right Arrow 15"/>
          <p:cNvSpPr/>
          <p:nvPr/>
        </p:nvSpPr>
        <p:spPr>
          <a:xfrm>
            <a:off x="7763255"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7112"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BLA申請・審査</a:t>
            </a:r>
          </a:p>
        </p:txBody>
      </p:sp>
      <p:sp>
        <p:nvSpPr>
          <p:cNvPr id="18" name="Block Arc 17"/>
          <p:cNvSpPr/>
          <p:nvPr/>
        </p:nvSpPr>
        <p:spPr>
          <a:xfrm>
            <a:off x="8703056"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osceles Triangle 18"/>
          <p:cNvSpPr/>
          <p:nvPr/>
        </p:nvSpPr>
        <p:spPr>
          <a:xfrm rot="5400000">
            <a:off x="8818171"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48040"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商用製造</a:t>
            </a:r>
          </a:p>
        </p:txBody>
      </p:sp>
      <p:sp>
        <p:nvSpPr>
          <p:cNvPr id="21" name="Right Arrow 20"/>
          <p:cNvSpPr/>
          <p:nvPr/>
        </p:nvSpPr>
        <p:spPr>
          <a:xfrm>
            <a:off x="9405111"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68968"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上市</a:t>
            </a:r>
          </a:p>
        </p:txBody>
      </p:sp>
      <p:sp>
        <p:nvSpPr>
          <p:cNvPr id="23" name="Block Arc 22"/>
          <p:cNvSpPr/>
          <p:nvPr/>
        </p:nvSpPr>
        <p:spPr>
          <a:xfrm>
            <a:off x="10344912"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osceles Triangle 23"/>
          <p:cNvSpPr/>
          <p:nvPr/>
        </p:nvSpPr>
        <p:spPr>
          <a:xfrm rot="5400000">
            <a:off x="10460027"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89896"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供給・流通</a:t>
            </a:r>
          </a:p>
        </p:txBody>
      </p:sp>
      <p:sp>
        <p:nvSpPr>
          <p:cNvPr id="26" name="Block Arc 25"/>
          <p:cNvSpPr/>
          <p:nvPr/>
        </p:nvSpPr>
        <p:spPr>
          <a:xfrm>
            <a:off x="11165840"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osceles Triangle 26"/>
          <p:cNvSpPr/>
          <p:nvPr/>
        </p:nvSpPr>
        <p:spPr>
          <a:xfrm rot="5400000">
            <a:off x="11280955"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10824" y="1975104"/>
            <a:ext cx="82092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市販後</a:t>
            </a:r>
          </a:p>
        </p:txBody>
      </p:sp>
      <p:sp>
        <p:nvSpPr>
          <p:cNvPr id="29" name="Rectangle 28"/>
          <p:cNvSpPr/>
          <p:nvPr/>
        </p:nvSpPr>
        <p:spPr>
          <a:xfrm>
            <a:off x="2103120" y="2304288"/>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94560" y="2286000"/>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戦略・ガバナンス</a:t>
            </a:r>
          </a:p>
        </p:txBody>
      </p:sp>
      <p:sp>
        <p:nvSpPr>
          <p:cNvPr id="31" name="Oval 30"/>
          <p:cNvSpPr/>
          <p:nvPr/>
        </p:nvSpPr>
        <p:spPr>
          <a:xfrm>
            <a:off x="4678040" y="2351908"/>
            <a:ext cx="151646" cy="151646"/>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29072" y="2382012"/>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0000" y="2382012"/>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170928" y="2382012"/>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991855" y="2382012"/>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251827" y="2358271"/>
            <a:ext cx="138920" cy="1389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011679" y="2322576"/>
            <a:ext cx="54864" cy="210311"/>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2286000"/>
            <a:ext cx="1463039" cy="283464"/>
          </a:xfrm>
          <a:prstGeom prst="rect">
            <a:avLst/>
          </a:prstGeom>
          <a:noFill/>
        </p:spPr>
        <p:txBody>
          <a:bodyPr wrap="square" lIns="0" rIns="0" tIns="0" bIns="0" anchor="ctr" rtlCol="0"/>
          <a:lstStyle/>
          <a:p>
            <a:pPr marL="0" indent="0" algn="r">
              <a:buNone/>
            </a:pPr>
            <a:r>
              <a:rPr sz="900" b="1" lang="en-US" dirty="0">
                <a:solidFill>
                  <a:srgbClr val="1F2E35"/>
                </a:solidFill>
                <a:latin typeface="Yu Gothic" pitchFamily="34" charset="0"/>
                <a:ea typeface="Yu Gothic" pitchFamily="34" charset="-122"/>
                <a:cs typeface="Yu Gothic" pitchFamily="34" charset="-120"/>
              </a:rPr>
              <a:t>Strategy</a:t>
            </a:r>
          </a:p>
        </p:txBody>
      </p:sp>
      <p:cxnSp>
        <p:nvCxnSpPr>
          <p:cNvPr id="39" name="Connector 38"/>
          <p:cNvCxnSpPr/>
          <p:nvPr/>
        </p:nvCxnSpPr>
        <p:spPr>
          <a:xfrm>
            <a:off x="2103120" y="2569464"/>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103120" y="2587752"/>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94560" y="2569464"/>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研究（創薬）</a:t>
            </a:r>
          </a:p>
        </p:txBody>
      </p:sp>
      <p:sp>
        <p:nvSpPr>
          <p:cNvPr id="42" name="Oval 41"/>
          <p:cNvSpPr/>
          <p:nvPr/>
        </p:nvSpPr>
        <p:spPr>
          <a:xfrm>
            <a:off x="4630171" y="2587503"/>
            <a:ext cx="247384" cy="247384"/>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529072" y="2665476"/>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103120" y="2871216"/>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194560" y="2852928"/>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非臨床・臨床薬理</a:t>
            </a:r>
          </a:p>
        </p:txBody>
      </p:sp>
      <p:sp>
        <p:nvSpPr>
          <p:cNvPr id="46" name="Oval 45"/>
          <p:cNvSpPr/>
          <p:nvPr/>
        </p:nvSpPr>
        <p:spPr>
          <a:xfrm>
            <a:off x="5458736" y="2878604"/>
            <a:ext cx="232111" cy="232111"/>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147187" y="2925199"/>
            <a:ext cx="138920" cy="13892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03120" y="3154680"/>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94560" y="3136392"/>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CMC開発</a:t>
            </a:r>
          </a:p>
        </p:txBody>
      </p:sp>
      <p:sp>
        <p:nvSpPr>
          <p:cNvPr id="50" name="Oval 49"/>
          <p:cNvSpPr/>
          <p:nvPr/>
        </p:nvSpPr>
        <p:spPr>
          <a:xfrm>
            <a:off x="4708144" y="3232404"/>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258560" y="3140964"/>
            <a:ext cx="274320" cy="27432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991855" y="3232404"/>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812784" y="3232404"/>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1275567" y="3232404"/>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103120" y="3438144"/>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194560" y="3419856"/>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臨床開発</a:t>
            </a:r>
          </a:p>
        </p:txBody>
      </p:sp>
      <p:sp>
        <p:nvSpPr>
          <p:cNvPr id="57" name="Oval 56"/>
          <p:cNvSpPr/>
          <p:nvPr/>
        </p:nvSpPr>
        <p:spPr>
          <a:xfrm>
            <a:off x="4692696" y="3500420"/>
            <a:ext cx="122335" cy="122335"/>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513624" y="3500420"/>
            <a:ext cx="122335" cy="122335"/>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26259" y="3492127"/>
            <a:ext cx="138920" cy="13892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090562" y="3435502"/>
            <a:ext cx="252170" cy="25217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991855" y="3515868"/>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33711" y="3515868"/>
            <a:ext cx="91440" cy="91440"/>
          </a:xfrm>
          <a:prstGeom prst="ellipse">
            <a:avLst/>
          </a:prstGeom>
          <a:solidFill>
            <a:srgbClr val="FFFFFF"/>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1245464" y="3485764"/>
            <a:ext cx="151646" cy="151646"/>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11679" y="2606040"/>
            <a:ext cx="54864" cy="106070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7200" y="2569464"/>
            <a:ext cx="1463039" cy="1133856"/>
          </a:xfrm>
          <a:prstGeom prst="rect">
            <a:avLst/>
          </a:prstGeom>
          <a:noFill/>
        </p:spPr>
        <p:txBody>
          <a:bodyPr wrap="square" lIns="0" rIns="0" tIns="0" bIns="0" anchor="ctr" rtlCol="0"/>
          <a:lstStyle/>
          <a:p>
            <a:pPr marL="0" indent="0" algn="r">
              <a:buNone/>
            </a:pPr>
            <a:r>
              <a:rPr sz="900" b="1" lang="en-US" dirty="0">
                <a:solidFill>
                  <a:srgbClr val="2A78D6"/>
                </a:solidFill>
                <a:latin typeface="Yu Gothic" pitchFamily="34" charset="0"/>
                <a:ea typeface="Yu Gothic" pitchFamily="34" charset="-122"/>
                <a:cs typeface="Yu Gothic" pitchFamily="34" charset="-120"/>
              </a:rPr>
              <a:t>R&amp;D Engine</a:t>
            </a:r>
          </a:p>
        </p:txBody>
      </p:sp>
      <p:cxnSp>
        <p:nvCxnSpPr>
          <p:cNvPr id="66" name="Connector 65"/>
          <p:cNvCxnSpPr/>
          <p:nvPr/>
        </p:nvCxnSpPr>
        <p:spPr>
          <a:xfrm>
            <a:off x="2103120" y="3703320"/>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2103120" y="3721607"/>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194560" y="3703320"/>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薬事</a:t>
            </a:r>
          </a:p>
        </p:txBody>
      </p:sp>
      <p:sp>
        <p:nvSpPr>
          <p:cNvPr id="69" name="Oval 68"/>
          <p:cNvSpPr/>
          <p:nvPr/>
        </p:nvSpPr>
        <p:spPr>
          <a:xfrm>
            <a:off x="4708144" y="3799332"/>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5488878" y="3759138"/>
            <a:ext cx="171827" cy="171827"/>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147187" y="3775591"/>
            <a:ext cx="138920" cy="13892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21520" y="3728996"/>
            <a:ext cx="232111" cy="232111"/>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812784" y="3799332"/>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1240100" y="3763864"/>
            <a:ext cx="162375" cy="162375"/>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103120" y="4005071"/>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94560" y="3986783"/>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品質</a:t>
            </a:r>
          </a:p>
        </p:txBody>
      </p:sp>
      <p:sp>
        <p:nvSpPr>
          <p:cNvPr id="77" name="Oval 76"/>
          <p:cNvSpPr/>
          <p:nvPr/>
        </p:nvSpPr>
        <p:spPr>
          <a:xfrm>
            <a:off x="5529072" y="4082796"/>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301604" y="4034400"/>
            <a:ext cx="188231" cy="188231"/>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968115" y="4059055"/>
            <a:ext cx="138920" cy="13892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768317" y="4038329"/>
            <a:ext cx="180373" cy="180373"/>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9633711" y="4082796"/>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454640" y="4082796"/>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1275567" y="4082796"/>
            <a:ext cx="91440" cy="91440"/>
          </a:xfrm>
          <a:prstGeom prst="ellipse">
            <a:avLst/>
          </a:prstGeom>
          <a:solidFill>
            <a:srgbClr val="FFFFFF"/>
          </a:solidFill>
          <a:ln w="1270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103120" y="4288536"/>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194560" y="4270248"/>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ファーマコビジランス（安全性）</a:t>
            </a:r>
          </a:p>
        </p:txBody>
      </p:sp>
      <p:sp>
        <p:nvSpPr>
          <p:cNvPr id="86" name="Oval 85"/>
          <p:cNvSpPr/>
          <p:nvPr/>
        </p:nvSpPr>
        <p:spPr>
          <a:xfrm>
            <a:off x="7155480" y="4350812"/>
            <a:ext cx="122335" cy="122335"/>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976408" y="4350812"/>
            <a:ext cx="122335" cy="122335"/>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235374" y="4326066"/>
            <a:ext cx="171827" cy="171827"/>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2011679" y="3739896"/>
            <a:ext cx="54864" cy="777240"/>
          </a:xfrm>
          <a:prstGeom prst="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57200" y="3703320"/>
            <a:ext cx="1463039" cy="850392"/>
          </a:xfrm>
          <a:prstGeom prst="rect">
            <a:avLst/>
          </a:prstGeom>
          <a:noFill/>
        </p:spPr>
        <p:txBody>
          <a:bodyPr wrap="square" lIns="0" rIns="0" tIns="0" bIns="0" anchor="ctr" rtlCol="0"/>
          <a:lstStyle/>
          <a:p>
            <a:pPr marL="0" indent="0" algn="r">
              <a:buNone/>
            </a:pPr>
            <a:r>
              <a:rPr sz="900" b="1" lang="en-US" dirty="0">
                <a:solidFill>
                  <a:srgbClr val="4A3AA7"/>
                </a:solidFill>
                <a:latin typeface="Yu Gothic" pitchFamily="34" charset="0"/>
                <a:ea typeface="Yu Gothic" pitchFamily="34" charset="-122"/>
                <a:cs typeface="Yu Gothic" pitchFamily="34" charset="-120"/>
              </a:rPr>
              <a:t>Regulatory &amp; Quality</a:t>
            </a:r>
          </a:p>
        </p:txBody>
      </p:sp>
      <p:cxnSp>
        <p:nvCxnSpPr>
          <p:cNvPr id="91" name="Connector 90"/>
          <p:cNvCxnSpPr/>
          <p:nvPr/>
        </p:nvCxnSpPr>
        <p:spPr>
          <a:xfrm>
            <a:off x="2103120" y="4553712"/>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2103120" y="4571999"/>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194560" y="4553712"/>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製造</a:t>
            </a:r>
          </a:p>
        </p:txBody>
      </p:sp>
      <p:sp>
        <p:nvSpPr>
          <p:cNvPr id="94" name="Oval 93"/>
          <p:cNvSpPr/>
          <p:nvPr/>
        </p:nvSpPr>
        <p:spPr>
          <a:xfrm>
            <a:off x="6319896" y="4619620"/>
            <a:ext cx="151646" cy="151646"/>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54047" y="4590987"/>
            <a:ext cx="208912" cy="208912"/>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103120" y="4855463"/>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194560" y="4837175"/>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サプライチェーン</a:t>
            </a:r>
          </a:p>
        </p:txBody>
      </p:sp>
      <p:sp>
        <p:nvSpPr>
          <p:cNvPr id="98" name="Oval 97"/>
          <p:cNvSpPr/>
          <p:nvPr/>
        </p:nvSpPr>
        <p:spPr>
          <a:xfrm>
            <a:off x="6350000" y="4933188"/>
            <a:ext cx="91440" cy="91440"/>
          </a:xfrm>
          <a:prstGeom prst="ellipse">
            <a:avLst/>
          </a:prstGeom>
          <a:solidFill>
            <a:srgbClr val="FFFFFF"/>
          </a:solidFill>
          <a:ln w="12700">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8812784" y="4933188"/>
            <a:ext cx="91440" cy="91440"/>
          </a:xfrm>
          <a:prstGeom prst="ellipse">
            <a:avLst/>
          </a:prstGeom>
          <a:solidFill>
            <a:srgbClr val="FFFFFF"/>
          </a:solidFill>
          <a:ln w="12700">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609971" y="4909447"/>
            <a:ext cx="138920" cy="13892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10395903" y="4874451"/>
            <a:ext cx="208912" cy="208912"/>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2011679" y="4590288"/>
            <a:ext cx="54864" cy="493776"/>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57200" y="4553712"/>
            <a:ext cx="1463039" cy="566928"/>
          </a:xfrm>
          <a:prstGeom prst="rect">
            <a:avLst/>
          </a:prstGeom>
          <a:noFill/>
        </p:spPr>
        <p:txBody>
          <a:bodyPr wrap="square" lIns="0" rIns="0" tIns="0" bIns="0" anchor="ctr" rtlCol="0"/>
          <a:lstStyle/>
          <a:p>
            <a:pPr marL="0" indent="0" algn="r">
              <a:buNone/>
            </a:pPr>
            <a:r>
              <a:rPr sz="900" b="1" lang="en-US" dirty="0">
                <a:solidFill>
                  <a:srgbClr val="0E7A52"/>
                </a:solidFill>
                <a:latin typeface="Yu Gothic" pitchFamily="34" charset="0"/>
                <a:ea typeface="Yu Gothic" pitchFamily="34" charset="-122"/>
                <a:cs typeface="Yu Gothic" pitchFamily="34" charset="-120"/>
              </a:rPr>
              <a:t>Supply Chain &amp; Mfg</a:t>
            </a:r>
          </a:p>
        </p:txBody>
      </p:sp>
      <p:cxnSp>
        <p:nvCxnSpPr>
          <p:cNvPr id="104" name="Connector 103"/>
          <p:cNvCxnSpPr/>
          <p:nvPr/>
        </p:nvCxnSpPr>
        <p:spPr>
          <a:xfrm>
            <a:off x="2103120" y="5120640"/>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05" name="Rectangle 104"/>
          <p:cNvSpPr/>
          <p:nvPr/>
        </p:nvSpPr>
        <p:spPr>
          <a:xfrm>
            <a:off x="2103120" y="5138927"/>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194560" y="5120640"/>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メディカル・患者エンゲージメント</a:t>
            </a:r>
          </a:p>
        </p:txBody>
      </p:sp>
      <p:sp>
        <p:nvSpPr>
          <p:cNvPr id="107" name="Oval 106"/>
          <p:cNvSpPr/>
          <p:nvPr/>
        </p:nvSpPr>
        <p:spPr>
          <a:xfrm>
            <a:off x="4692696" y="5201204"/>
            <a:ext cx="122335" cy="122335"/>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7170928" y="5216652"/>
            <a:ext cx="91440" cy="91440"/>
          </a:xfrm>
          <a:prstGeom prst="ellipse">
            <a:avLst/>
          </a:prstGeom>
          <a:solidFill>
            <a:srgbClr val="FFFFFF"/>
          </a:solidFill>
          <a:ln w="1270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603608" y="5186548"/>
            <a:ext cx="151646" cy="151646"/>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0454640" y="5216652"/>
            <a:ext cx="91440" cy="91440"/>
          </a:xfrm>
          <a:prstGeom prst="ellipse">
            <a:avLst/>
          </a:prstGeom>
          <a:solidFill>
            <a:srgbClr val="FFFFFF"/>
          </a:solidFill>
          <a:ln w="1270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1275567" y="5216652"/>
            <a:ext cx="91440" cy="91440"/>
          </a:xfrm>
          <a:prstGeom prst="ellipse">
            <a:avLst/>
          </a:prstGeom>
          <a:solidFill>
            <a:srgbClr val="FFFFFF"/>
          </a:solidFill>
          <a:ln w="1270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2103120" y="5422391"/>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194560" y="5404103"/>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市場アクセス・商業</a:t>
            </a:r>
          </a:p>
        </p:txBody>
      </p:sp>
      <p:sp>
        <p:nvSpPr>
          <p:cNvPr id="114" name="Oval 113"/>
          <p:cNvSpPr/>
          <p:nvPr/>
        </p:nvSpPr>
        <p:spPr>
          <a:xfrm>
            <a:off x="9585316" y="5451720"/>
            <a:ext cx="188231" cy="188231"/>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1260120" y="5484668"/>
            <a:ext cx="122335" cy="122335"/>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2011679" y="5157216"/>
            <a:ext cx="54864" cy="49377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57200" y="5120640"/>
            <a:ext cx="1463039" cy="566928"/>
          </a:xfrm>
          <a:prstGeom prst="rect">
            <a:avLst/>
          </a:prstGeom>
          <a:noFill/>
        </p:spPr>
        <p:txBody>
          <a:bodyPr wrap="square" lIns="0" rIns="0" tIns="0" bIns="0" anchor="ctr" rtlCol="0"/>
          <a:lstStyle/>
          <a:p>
            <a:pPr marL="0" indent="0" algn="r">
              <a:buNone/>
            </a:pPr>
            <a:r>
              <a:rPr sz="900" b="1" lang="en-US" dirty="0">
                <a:solidFill>
                  <a:srgbClr val="C24E1C"/>
                </a:solidFill>
                <a:latin typeface="Yu Gothic" pitchFamily="34" charset="0"/>
                <a:ea typeface="Yu Gothic" pitchFamily="34" charset="-122"/>
                <a:cs typeface="Yu Gothic" pitchFamily="34" charset="-120"/>
              </a:rPr>
              <a:t>Commercial &amp; Patient</a:t>
            </a:r>
          </a:p>
        </p:txBody>
      </p:sp>
      <p:cxnSp>
        <p:nvCxnSpPr>
          <p:cNvPr id="118" name="Connector 117"/>
          <p:cNvCxnSpPr/>
          <p:nvPr/>
        </p:nvCxnSpPr>
        <p:spPr>
          <a:xfrm>
            <a:off x="2103120" y="5687568"/>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19" name="Rectangle 118"/>
          <p:cNvSpPr/>
          <p:nvPr/>
        </p:nvSpPr>
        <p:spPr>
          <a:xfrm>
            <a:off x="2103120" y="5705855"/>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2194560" y="5687568"/>
            <a:ext cx="210312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共通基盤</a:t>
            </a:r>
          </a:p>
        </p:txBody>
      </p:sp>
      <p:sp>
        <p:nvSpPr>
          <p:cNvPr id="121" name="Oval 120"/>
          <p:cNvSpPr/>
          <p:nvPr/>
        </p:nvSpPr>
        <p:spPr>
          <a:xfrm>
            <a:off x="4708144" y="5783580"/>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7170928" y="5783580"/>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633711" y="5783580"/>
            <a:ext cx="91440" cy="91440"/>
          </a:xfrm>
          <a:prstGeom prst="ellipse">
            <a:avLst/>
          </a:prstGeom>
          <a:solidFill>
            <a:srgbClr val="FFFFFF"/>
          </a:solidFill>
          <a:ln w="1270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2011679" y="5724144"/>
            <a:ext cx="54864" cy="210311"/>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57200" y="5687568"/>
            <a:ext cx="1463039" cy="283464"/>
          </a:xfrm>
          <a:prstGeom prst="rect">
            <a:avLst/>
          </a:prstGeom>
          <a:noFill/>
        </p:spPr>
        <p:txBody>
          <a:bodyPr wrap="square" lIns="0" rIns="0" tIns="0" bIns="0" anchor="ctr" rtlCol="0"/>
          <a:lstStyle/>
          <a:p>
            <a:pPr marL="0" indent="0" algn="r">
              <a:buNone/>
            </a:pPr>
            <a:r>
              <a:rPr sz="900" b="1" lang="en-US" dirty="0">
                <a:solidFill>
                  <a:srgbClr val="1F2E35"/>
                </a:solidFill>
                <a:latin typeface="Yu Gothic" pitchFamily="34" charset="0"/>
                <a:ea typeface="Yu Gothic" pitchFamily="34" charset="-122"/>
                <a:cs typeface="Yu Gothic" pitchFamily="34" charset="-120"/>
              </a:rPr>
              <a:t>Foundation</a:t>
            </a:r>
          </a:p>
        </p:txBody>
      </p:sp>
      <p:cxnSp>
        <p:nvCxnSpPr>
          <p:cNvPr id="126" name="Connector 125"/>
          <p:cNvCxnSpPr/>
          <p:nvPr/>
        </p:nvCxnSpPr>
        <p:spPr>
          <a:xfrm>
            <a:off x="5164328"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5985256"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6806184"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627112"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8448040" y="2286000"/>
            <a:ext cx="0" cy="3685031"/>
          </a:xfrm>
          <a:prstGeom prst="line">
            <a:avLst/>
          </a:prstGeom>
          <a:ln w="12700">
            <a:solidFill>
              <a:srgbClr val="1F2E35"/>
            </a:solidFill>
            <a:prstDash val="lgDash"/>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9268968"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089896"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10910824"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457200" y="6025895"/>
            <a:ext cx="2194560" cy="274320"/>
          </a:xfrm>
          <a:prstGeom prst="rect">
            <a:avLst/>
          </a:prstGeom>
          <a:noFill/>
        </p:spPr>
        <p:txBody>
          <a:bodyPr wrap="square" lIns="0" rIns="0" tIns="0" bIns="0" anchor="ctr" rtlCol="0"/>
          <a:lstStyle/>
          <a:p>
            <a:pPr marL="0" indent="0">
              <a:buNone/>
            </a:pPr>
            <a:r>
              <a:rPr sz="850" b="1" lang="en-US" dirty="0">
                <a:solidFill>
                  <a:srgbClr val="5B6B70"/>
                </a:solidFill>
                <a:latin typeface="Yu Gothic" pitchFamily="34" charset="0"/>
                <a:ea typeface="Yu Gothic" pitchFamily="34" charset="-122"/>
                <a:cs typeface="Yu Gothic" pitchFamily="34" charset="-120"/>
              </a:rPr>
              <a:t>円の大きさ＝「主」の関係の件数</a:t>
            </a:r>
          </a:p>
        </p:txBody>
      </p:sp>
      <p:sp>
        <p:nvSpPr>
          <p:cNvPr id="135" name="Oval 134"/>
          <p:cNvSpPr/>
          <p:nvPr/>
        </p:nvSpPr>
        <p:spPr>
          <a:xfrm>
            <a:off x="2651760" y="6101888"/>
            <a:ext cx="122335" cy="122335"/>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819815"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1</a:t>
            </a:r>
          </a:p>
        </p:txBody>
      </p:sp>
      <p:sp>
        <p:nvSpPr>
          <p:cNvPr id="137" name="Oval 136"/>
          <p:cNvSpPr/>
          <p:nvPr/>
        </p:nvSpPr>
        <p:spPr>
          <a:xfrm>
            <a:off x="3231295" y="6077142"/>
            <a:ext cx="171827" cy="171827"/>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448843"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5</a:t>
            </a:r>
          </a:p>
        </p:txBody>
      </p:sp>
      <p:sp>
        <p:nvSpPr>
          <p:cNvPr id="139" name="Oval 138"/>
          <p:cNvSpPr/>
          <p:nvPr/>
        </p:nvSpPr>
        <p:spPr>
          <a:xfrm>
            <a:off x="3860323" y="6058599"/>
            <a:ext cx="208912" cy="208912"/>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114956"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10</a:t>
            </a:r>
          </a:p>
        </p:txBody>
      </p:sp>
      <p:sp>
        <p:nvSpPr>
          <p:cNvPr id="141" name="Oval 140"/>
          <p:cNvSpPr/>
          <p:nvPr/>
        </p:nvSpPr>
        <p:spPr>
          <a:xfrm>
            <a:off x="4526436" y="6032376"/>
            <a:ext cx="261359" cy="261359"/>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4833515"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20</a:t>
            </a:r>
          </a:p>
        </p:txBody>
      </p:sp>
      <p:sp>
        <p:nvSpPr>
          <p:cNvPr id="143" name="Oval 142"/>
          <p:cNvSpPr/>
          <p:nvPr/>
        </p:nvSpPr>
        <p:spPr>
          <a:xfrm>
            <a:off x="5336435" y="6117335"/>
            <a:ext cx="91440" cy="91440"/>
          </a:xfrm>
          <a:prstGeom prst="ellipse">
            <a:avLst/>
          </a:prstGeom>
          <a:solidFill>
            <a:srgbClr val="FFFFFF"/>
          </a:solidFill>
          <a:ln w="12700">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5482739" y="6025895"/>
            <a:ext cx="118872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支援の関係のみ</a:t>
            </a:r>
          </a:p>
        </p:txBody>
      </p:sp>
      <p:sp>
        <p:nvSpPr>
          <p:cNvPr id="145" name="TextBox 144"/>
          <p:cNvSpPr txBox="1"/>
          <p:nvPr/>
        </p:nvSpPr>
        <p:spPr>
          <a:xfrm>
            <a:off x="457200" y="6336791"/>
            <a:ext cx="11274552" cy="365760"/>
          </a:xfrm>
          <a:prstGeom prst="rect">
            <a:avLst/>
          </a:prstGeom>
          <a:noFill/>
        </p:spPr>
        <p:txBody>
          <a:bodyPr wrap="square" lIns="0" rIns="0" tIns="0" bIns="0" anchor="t" rtlCol="0"/>
          <a:lstStyle/>
          <a:p>
            <a:pPr marL="0" indent="0">
              <a:buNone/>
            </a:pPr>
            <a:r>
              <a:rPr sz="800" b="0" lang="en-US" dirty="0">
                <a:solidFill>
                  <a:srgbClr val="5B6B70"/>
                </a:solidFill>
                <a:latin typeface="Yu Gothic" pitchFamily="34" charset="0"/>
                <a:ea typeface="Yu Gothic" pitchFamily="34" charset="-122"/>
                <a:cs typeface="Yu Gothic" pitchFamily="34" charset="-120"/>
              </a:rPr>
              <a:t>件数は、配下の仕事（VS L4）と能力（ケイパビリティL3）の間の「主」の関係の数。各段階の中核となる能力は対角線上に並び、戦略・ガバナンス、薬事、品質は複数の段階にまたがる。共通基盤は全業務の土台のため、その業務に特有の場合だけ関係を付けている（空欄でも不要な能力ではない）。詳細（VS L3×ケイパビリティL2）はxlsxの「VS×ケイパビリティ」シート。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144000" cy="548640"/>
          </a:xfrm>
          <a:prstGeom prst="rect">
            <a:avLst/>
          </a:prstGeom>
          <a:noFill/>
        </p:spPr>
        <p:txBody>
          <a:bodyPr wrap="square" anchor="t" lIns="0" rIns="0" tIns="0" bIns="0">
            <a:spAutoFit/>
          </a:bodyPr>
          <a:lstStyle/>
          <a:p>
            <a:pPr algn="l"/>
            <a:r>
              <a:rPr sz="2800" b="1">
                <a:solidFill>
                  <a:srgbClr val="1F2E35"/>
                </a:solidFill>
                <a:latin typeface="Yu Gothic"/>
                <a:ea typeface="Yu Gothic"/>
              </a:rPr>
              <a:t>アプリケーションマップ全体像</a:t>
            </a:r>
          </a:p>
        </p:txBody>
      </p:sp>
      <p:sp>
        <p:nvSpPr>
          <p:cNvPr id="3" name="TextBox 2"/>
          <p:cNvSpPr txBox="1"/>
          <p:nvPr/>
        </p:nvSpPr>
        <p:spPr>
          <a:xfrm>
            <a:off x="457200" y="841248"/>
            <a:ext cx="8412480" cy="320040"/>
          </a:xfrm>
          <a:prstGeom prst="rect">
            <a:avLst/>
          </a:prstGeom>
          <a:noFill/>
        </p:spPr>
        <p:txBody>
          <a:bodyPr wrap="square" anchor="t" lIns="0" rIns="0" tIns="0" bIns="0">
            <a:spAutoFit/>
          </a:bodyPr>
          <a:lstStyle/>
          <a:p>
            <a:pPr algn="l"/>
            <a:r>
              <a:rPr sz="1300" b="0">
                <a:solidFill>
                  <a:srgbClr val="5B6B70"/>
                </a:solidFill>
                <a:latin typeface="Yu Gothic"/>
                <a:ea typeface="Yu Gothic"/>
              </a:rPr>
              <a:t>各領域（ケイパビリティL1）の能力を主に支えるアプリケーション（種類の単位、●のみ。括弧内は略称）</a:t>
            </a:r>
          </a:p>
        </p:txBody>
      </p:sp>
      <p:sp>
        <p:nvSpPr>
          <p:cNvPr id="4" name="Rounded Rectangle 3"/>
          <p:cNvSpPr/>
          <p:nvPr/>
        </p:nvSpPr>
        <p:spPr>
          <a:xfrm>
            <a:off x="457200" y="1325880"/>
            <a:ext cx="7406640" cy="530352"/>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62456"/>
            <a:ext cx="7406640"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戦略・ガバナンス（Strategy &amp; Governance）</a:t>
            </a:r>
          </a:p>
        </p:txBody>
      </p:sp>
      <p:sp>
        <p:nvSpPr>
          <p:cNvPr id="6" name="Rounded Rectangle 5"/>
          <p:cNvSpPr/>
          <p:nvPr/>
        </p:nvSpPr>
        <p:spPr>
          <a:xfrm>
            <a:off x="731520" y="1600199"/>
            <a:ext cx="219456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199"/>
            <a:ext cx="2194560" cy="18288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ポートフォリオ・プロジェクト管理（PPM）</a:t>
            </a:r>
          </a:p>
        </p:txBody>
      </p:sp>
      <p:sp>
        <p:nvSpPr>
          <p:cNvPr id="8" name="Rounded Rectangle 7"/>
          <p:cNvSpPr/>
          <p:nvPr/>
        </p:nvSpPr>
        <p:spPr>
          <a:xfrm>
            <a:off x="3063240" y="1600199"/>
            <a:ext cx="219456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63240" y="1600199"/>
            <a:ext cx="21945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契約管理（CLM）</a:t>
            </a:r>
          </a:p>
        </p:txBody>
      </p:sp>
      <p:sp>
        <p:nvSpPr>
          <p:cNvPr id="10" name="Rounded Rectangle 9"/>
          <p:cNvSpPr/>
          <p:nvPr/>
        </p:nvSpPr>
        <p:spPr>
          <a:xfrm>
            <a:off x="5394959" y="1600199"/>
            <a:ext cx="219456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59" y="1600199"/>
            <a:ext cx="21945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知財管理（IPMS）</a:t>
            </a:r>
          </a:p>
        </p:txBody>
      </p:sp>
      <p:sp>
        <p:nvSpPr>
          <p:cNvPr id="12" name="Rounded Rectangle 11"/>
          <p:cNvSpPr/>
          <p:nvPr/>
        </p:nvSpPr>
        <p:spPr>
          <a:xfrm>
            <a:off x="457200" y="1984248"/>
            <a:ext cx="2407920" cy="3867912"/>
          </a:xfrm>
          <a:prstGeom prst="roundRect">
            <a:avLst>
              <a:gd name="adj" fmla="val 3000"/>
            </a:avLst>
          </a:prstGeom>
          <a:solidFill>
            <a:srgbClr val="FDEEE7"/>
          </a:solidFill>
          <a:ln w="1905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39112"/>
            <a:ext cx="2407920" cy="274320"/>
          </a:xfrm>
          <a:prstGeom prst="rect">
            <a:avLst/>
          </a:prstGeom>
          <a:noFill/>
        </p:spPr>
        <p:txBody>
          <a:bodyPr wrap="square" lIns="0" rIns="0" tIns="0" bIns="0" anchor="ctr" rtlCol="0"/>
          <a:lstStyle/>
          <a:p>
            <a:pPr marL="0" indent="0" algn="ctr">
              <a:buNone/>
            </a:pPr>
            <a:r>
              <a:rPr sz="1250" b="1" lang="en-US" dirty="0">
                <a:solidFill>
                  <a:srgbClr val="C24E1C"/>
                </a:solidFill>
                <a:latin typeface="Yu Gothic" pitchFamily="34" charset="0"/>
                <a:ea typeface="Yu Gothic" pitchFamily="34" charset="-122"/>
                <a:cs typeface="Yu Gothic" pitchFamily="34" charset="-120"/>
              </a:rPr>
              <a:t>Commercial &amp; Patient</a:t>
            </a:r>
          </a:p>
        </p:txBody>
      </p:sp>
      <p:sp>
        <p:nvSpPr>
          <p:cNvPr id="14" name="Rounded Rectangle 13"/>
          <p:cNvSpPr/>
          <p:nvPr/>
        </p:nvSpPr>
        <p:spPr>
          <a:xfrm>
            <a:off x="530352" y="2368296"/>
            <a:ext cx="2261616" cy="1517904"/>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784348"/>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メディカル・患者エンゲージメント</a:t>
            </a:r>
          </a:p>
        </p:txBody>
      </p:sp>
      <p:sp>
        <p:nvSpPr>
          <p:cNvPr id="16" name="Rounded Rectangle 15"/>
          <p:cNvSpPr/>
          <p:nvPr/>
        </p:nvSpPr>
        <p:spPr>
          <a:xfrm>
            <a:off x="621792" y="3076956"/>
            <a:ext cx="2078736" cy="182880"/>
          </a:xfrm>
          <a:prstGeom prst="roundRect">
            <a:avLst>
              <a:gd name="adj" fmla="val 50000"/>
            </a:avLst>
          </a:prstGeom>
          <a:solidFill>
            <a:srgbClr val="E4EAEC"/>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07695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顧客関係管理（CRM）</a:t>
            </a:r>
          </a:p>
        </p:txBody>
      </p:sp>
      <p:sp>
        <p:nvSpPr>
          <p:cNvPr id="18" name="Rounded Rectangle 17"/>
          <p:cNvSpPr/>
          <p:nvPr/>
        </p:nvSpPr>
        <p:spPr>
          <a:xfrm>
            <a:off x="621792" y="3287268"/>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3287268"/>
            <a:ext cx="2078736" cy="182880"/>
          </a:xfrm>
          <a:prstGeom prst="rect">
            <a:avLst/>
          </a:prstGeom>
          <a:noFill/>
        </p:spPr>
        <p:txBody>
          <a:bodyPr wrap="square" lIns="0" rIns="0" tIns="0" bIns="0" anchor="ctr" rtlCol="0"/>
          <a:lstStyle/>
          <a:p>
            <a:pPr marL="0" indent="0" algn="ctr">
              <a:buNone/>
            </a:pPr>
            <a:r>
              <a:rPr sz="650" b="0" lang="en-US" dirty="0">
                <a:solidFill>
                  <a:srgbClr val="1F2E35"/>
                </a:solidFill>
                <a:latin typeface="Yu Gothic" pitchFamily="34" charset="0"/>
                <a:ea typeface="Yu Gothic" pitchFamily="34" charset="-122"/>
                <a:cs typeface="Yu Gothic" pitchFamily="34" charset="-120"/>
              </a:rPr>
              <a:t>患者支援（ハブ）（ハブサービスシステム）</a:t>
            </a:r>
          </a:p>
        </p:txBody>
      </p:sp>
      <p:sp>
        <p:nvSpPr>
          <p:cNvPr id="20" name="Rounded Rectangle 19"/>
          <p:cNvSpPr/>
          <p:nvPr/>
        </p:nvSpPr>
        <p:spPr>
          <a:xfrm>
            <a:off x="530352" y="3959352"/>
            <a:ext cx="2261616" cy="181965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4375404"/>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市場アクセス・商業</a:t>
            </a:r>
          </a:p>
        </p:txBody>
      </p:sp>
      <p:sp>
        <p:nvSpPr>
          <p:cNvPr id="22" name="Rounded Rectangle 21"/>
          <p:cNvSpPr/>
          <p:nvPr/>
        </p:nvSpPr>
        <p:spPr>
          <a:xfrm>
            <a:off x="621792" y="4668012"/>
            <a:ext cx="2078736" cy="182880"/>
          </a:xfrm>
          <a:prstGeom prst="roundRect">
            <a:avLst>
              <a:gd name="adj" fmla="val 50000"/>
            </a:avLst>
          </a:prstGeom>
          <a:solidFill>
            <a:srgbClr val="E4EAEC"/>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466801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顧客関係管理（CRM）</a:t>
            </a:r>
          </a:p>
        </p:txBody>
      </p:sp>
      <p:sp>
        <p:nvSpPr>
          <p:cNvPr id="24" name="Rounded Rectangle 23"/>
          <p:cNvSpPr/>
          <p:nvPr/>
        </p:nvSpPr>
        <p:spPr>
          <a:xfrm>
            <a:off x="621792" y="4878324"/>
            <a:ext cx="2078736" cy="274320"/>
          </a:xfrm>
          <a:prstGeom prst="roundRect">
            <a:avLst>
              <a:gd name="adj" fmla="val 35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878324"/>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価格・契約・政府価格報告</a:t>
            </a:r>
          </a:p>
          <a:p>
            <a:pPr marL="0" indent="0" algn="ctr">
              <a:buNone/>
            </a:pPr>
            <a:r>
              <a:rPr sz="650" b="0" lang="en-US" dirty="0">
                <a:solidFill>
                  <a:srgbClr val="5B6B70"/>
                </a:solidFill>
                <a:latin typeface="Yu Gothic" pitchFamily="34" charset="0"/>
                <a:ea typeface="Yu Gothic" pitchFamily="34" charset="-122"/>
                <a:cs typeface="Yu Gothic" pitchFamily="34" charset="-120"/>
              </a:rPr>
              <a:t>（GTN／リベート管理）</a:t>
            </a:r>
          </a:p>
        </p:txBody>
      </p:sp>
      <p:sp>
        <p:nvSpPr>
          <p:cNvPr id="26" name="Rounded Rectangle 25"/>
          <p:cNvSpPr/>
          <p:nvPr/>
        </p:nvSpPr>
        <p:spPr>
          <a:xfrm>
            <a:off x="621792" y="5180076"/>
            <a:ext cx="2078736"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18007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販促資材審査（MLRレビュー）</a:t>
            </a:r>
          </a:p>
        </p:txBody>
      </p:sp>
      <p:sp>
        <p:nvSpPr>
          <p:cNvPr id="28" name="Chevron 27"/>
          <p:cNvSpPr/>
          <p:nvPr/>
        </p:nvSpPr>
        <p:spPr>
          <a:xfrm rot="5400000">
            <a:off x="1601724" y="1764791"/>
            <a:ext cx="118872" cy="310896"/>
          </a:xfrm>
          <a:prstGeom prst="chevron">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rot="5400000">
            <a:off x="1601724" y="5765292"/>
            <a:ext cx="118872" cy="310896"/>
          </a:xfrm>
          <a:prstGeom prst="chevron">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956560" y="1984248"/>
            <a:ext cx="2407920" cy="3867912"/>
          </a:xfrm>
          <a:prstGeom prst="roundRect">
            <a:avLst>
              <a:gd name="adj" fmla="val 3000"/>
            </a:avLst>
          </a:prstGeom>
          <a:solidFill>
            <a:srgbClr val="EEECF7"/>
          </a:solidFill>
          <a:ln w="1905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56560" y="2039112"/>
            <a:ext cx="2407920" cy="274320"/>
          </a:xfrm>
          <a:prstGeom prst="rect">
            <a:avLst/>
          </a:prstGeom>
          <a:noFill/>
        </p:spPr>
        <p:txBody>
          <a:bodyPr wrap="square" lIns="0" rIns="0" tIns="0" bIns="0" anchor="ctr" rtlCol="0"/>
          <a:lstStyle/>
          <a:p>
            <a:pPr marL="0" indent="0" algn="ctr">
              <a:buNone/>
            </a:pPr>
            <a:r>
              <a:rPr sz="1250" b="1" lang="en-US" dirty="0">
                <a:solidFill>
                  <a:srgbClr val="4A3AA7"/>
                </a:solidFill>
                <a:latin typeface="Yu Gothic" pitchFamily="34" charset="0"/>
                <a:ea typeface="Yu Gothic" pitchFamily="34" charset="-122"/>
                <a:cs typeface="Yu Gothic" pitchFamily="34" charset="-120"/>
              </a:rPr>
              <a:t>Regulatory &amp; Quality</a:t>
            </a:r>
          </a:p>
        </p:txBody>
      </p:sp>
      <p:sp>
        <p:nvSpPr>
          <p:cNvPr id="32" name="Rounded Rectangle 31"/>
          <p:cNvSpPr/>
          <p:nvPr/>
        </p:nvSpPr>
        <p:spPr>
          <a:xfrm>
            <a:off x="3029712" y="2368296"/>
            <a:ext cx="2261616" cy="1328928"/>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29712" y="2433828"/>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薬事</a:t>
            </a:r>
          </a:p>
        </p:txBody>
      </p:sp>
      <p:sp>
        <p:nvSpPr>
          <p:cNvPr id="34" name="Rounded Rectangle 33"/>
          <p:cNvSpPr/>
          <p:nvPr/>
        </p:nvSpPr>
        <p:spPr>
          <a:xfrm>
            <a:off x="3121152" y="2726436"/>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121152" y="272643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薬事情報管理（RIM）</a:t>
            </a:r>
          </a:p>
        </p:txBody>
      </p:sp>
      <p:sp>
        <p:nvSpPr>
          <p:cNvPr id="36" name="Rounded Rectangle 35"/>
          <p:cNvSpPr/>
          <p:nvPr/>
        </p:nvSpPr>
        <p:spPr>
          <a:xfrm>
            <a:off x="3121152" y="2936748"/>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21152" y="2936748"/>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申請出版（eCTD出版）</a:t>
            </a:r>
          </a:p>
        </p:txBody>
      </p:sp>
      <p:sp>
        <p:nvSpPr>
          <p:cNvPr id="38" name="Rounded Rectangle 37"/>
          <p:cNvSpPr/>
          <p:nvPr/>
        </p:nvSpPr>
        <p:spPr>
          <a:xfrm>
            <a:off x="3121152" y="3147060"/>
            <a:ext cx="2078736" cy="274320"/>
          </a:xfrm>
          <a:prstGeom prst="roundRect">
            <a:avLst>
              <a:gd name="adj" fmla="val 35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66872" y="3147060"/>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ラベル・アートワーク管理</a:t>
            </a:r>
          </a:p>
          <a:p>
            <a:pPr marL="0" indent="0" algn="ctr">
              <a:buNone/>
            </a:pPr>
            <a:r>
              <a:rPr sz="650" b="0" lang="en-US" dirty="0">
                <a:solidFill>
                  <a:srgbClr val="5B6B70"/>
                </a:solidFill>
                <a:latin typeface="Yu Gothic" pitchFamily="34" charset="0"/>
                <a:ea typeface="Yu Gothic" pitchFamily="34" charset="-122"/>
                <a:cs typeface="Yu Gothic" pitchFamily="34" charset="-120"/>
              </a:rPr>
              <a:t>（アートワーク管理）</a:t>
            </a:r>
          </a:p>
        </p:txBody>
      </p:sp>
      <p:sp>
        <p:nvSpPr>
          <p:cNvPr id="40" name="Rounded Rectangle 39"/>
          <p:cNvSpPr/>
          <p:nvPr/>
        </p:nvSpPr>
        <p:spPr>
          <a:xfrm>
            <a:off x="3121152" y="3448812"/>
            <a:ext cx="2078736"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121152" y="344881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GxP文書管理（eDMS）</a:t>
            </a:r>
          </a:p>
        </p:txBody>
      </p:sp>
      <p:sp>
        <p:nvSpPr>
          <p:cNvPr id="42" name="Rounded Rectangle 41"/>
          <p:cNvSpPr/>
          <p:nvPr/>
        </p:nvSpPr>
        <p:spPr>
          <a:xfrm>
            <a:off x="3029712" y="3770375"/>
            <a:ext cx="2261616" cy="111861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029712" y="3835908"/>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品質</a:t>
            </a:r>
          </a:p>
        </p:txBody>
      </p:sp>
      <p:sp>
        <p:nvSpPr>
          <p:cNvPr id="44" name="Rounded Rectangle 43"/>
          <p:cNvSpPr/>
          <p:nvPr/>
        </p:nvSpPr>
        <p:spPr>
          <a:xfrm>
            <a:off x="3121152" y="4128516"/>
            <a:ext cx="2078736"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121152" y="412851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品質マネジメントシステム（eQMS）</a:t>
            </a:r>
          </a:p>
        </p:txBody>
      </p:sp>
      <p:sp>
        <p:nvSpPr>
          <p:cNvPr id="46" name="Rounded Rectangle 45"/>
          <p:cNvSpPr/>
          <p:nvPr/>
        </p:nvSpPr>
        <p:spPr>
          <a:xfrm>
            <a:off x="3121152" y="4338828"/>
            <a:ext cx="2078736" cy="274320"/>
          </a:xfrm>
          <a:prstGeom prst="roundRect">
            <a:avLst>
              <a:gd name="adj" fmla="val 35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166872" y="4338828"/>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バリデーション管理</a:t>
            </a:r>
          </a:p>
          <a:p>
            <a:pPr marL="0" indent="0" algn="ctr">
              <a:buNone/>
            </a:pPr>
            <a:r>
              <a:rPr sz="650" b="0" lang="en-US" dirty="0">
                <a:solidFill>
                  <a:srgbClr val="5B6B70"/>
                </a:solidFill>
                <a:latin typeface="Yu Gothic" pitchFamily="34" charset="0"/>
                <a:ea typeface="Yu Gothic" pitchFamily="34" charset="-122"/>
                <a:cs typeface="Yu Gothic" pitchFamily="34" charset="-120"/>
              </a:rPr>
              <a:t>（バリデーションライフサイクル管理）</a:t>
            </a:r>
          </a:p>
        </p:txBody>
      </p:sp>
      <p:sp>
        <p:nvSpPr>
          <p:cNvPr id="48" name="Rounded Rectangle 47"/>
          <p:cNvSpPr/>
          <p:nvPr/>
        </p:nvSpPr>
        <p:spPr>
          <a:xfrm>
            <a:off x="3121152" y="4640580"/>
            <a:ext cx="2078736"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121152" y="4640580"/>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試験室情報管理（LIMS）</a:t>
            </a:r>
          </a:p>
        </p:txBody>
      </p:sp>
      <p:sp>
        <p:nvSpPr>
          <p:cNvPr id="50" name="Rounded Rectangle 49"/>
          <p:cNvSpPr/>
          <p:nvPr/>
        </p:nvSpPr>
        <p:spPr>
          <a:xfrm>
            <a:off x="3029712" y="4962144"/>
            <a:ext cx="2261616" cy="816864"/>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029712" y="5027676"/>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ファーマコビジランス（安全性）</a:t>
            </a:r>
          </a:p>
        </p:txBody>
      </p:sp>
      <p:sp>
        <p:nvSpPr>
          <p:cNvPr id="52" name="Rounded Rectangle 51"/>
          <p:cNvSpPr/>
          <p:nvPr/>
        </p:nvSpPr>
        <p:spPr>
          <a:xfrm>
            <a:off x="3121152" y="5320284"/>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21152" y="5320284"/>
            <a:ext cx="2078736" cy="182880"/>
          </a:xfrm>
          <a:prstGeom prst="rect">
            <a:avLst/>
          </a:prstGeom>
          <a:noFill/>
        </p:spPr>
        <p:txBody>
          <a:bodyPr wrap="square" lIns="0" rIns="0" tIns="0" bIns="0" anchor="ctr" rtlCol="0"/>
          <a:lstStyle/>
          <a:p>
            <a:pPr marL="0" indent="0" algn="ctr">
              <a:buNone/>
            </a:pPr>
            <a:r>
              <a:rPr sz="650" b="0" lang="en-US" dirty="0">
                <a:solidFill>
                  <a:srgbClr val="1F2E35"/>
                </a:solidFill>
                <a:latin typeface="Yu Gothic" pitchFamily="34" charset="0"/>
                <a:ea typeface="Yu Gothic" pitchFamily="34" charset="-122"/>
                <a:cs typeface="Yu Gothic" pitchFamily="34" charset="-120"/>
              </a:rPr>
              <a:t>安全性データベース（安全性DB（ICSR））</a:t>
            </a:r>
          </a:p>
        </p:txBody>
      </p:sp>
      <p:sp>
        <p:nvSpPr>
          <p:cNvPr id="54" name="Rounded Rectangle 53"/>
          <p:cNvSpPr/>
          <p:nvPr/>
        </p:nvSpPr>
        <p:spPr>
          <a:xfrm>
            <a:off x="3121152" y="5530596"/>
            <a:ext cx="2078736"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121152" y="5530596"/>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シグナル検出（シグナル管理）</a:t>
            </a:r>
          </a:p>
        </p:txBody>
      </p:sp>
      <p:sp>
        <p:nvSpPr>
          <p:cNvPr id="56" name="Chevron 55"/>
          <p:cNvSpPr/>
          <p:nvPr/>
        </p:nvSpPr>
        <p:spPr>
          <a:xfrm rot="5400000">
            <a:off x="4101083" y="1764791"/>
            <a:ext cx="118872" cy="310896"/>
          </a:xfrm>
          <a:prstGeom prst="chevron">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rot="5400000">
            <a:off x="4101083" y="5765292"/>
            <a:ext cx="118872" cy="310896"/>
          </a:xfrm>
          <a:prstGeom prst="chevron">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455920" y="1984248"/>
            <a:ext cx="2407920" cy="3867912"/>
          </a:xfrm>
          <a:prstGeom prst="roundRect">
            <a:avLst>
              <a:gd name="adj" fmla="val 3000"/>
            </a:avLst>
          </a:prstGeom>
          <a:solidFill>
            <a:srgbClr val="E6F6F0"/>
          </a:solidFill>
          <a:ln w="19050">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55920" y="2039112"/>
            <a:ext cx="2407920" cy="274320"/>
          </a:xfrm>
          <a:prstGeom prst="rect">
            <a:avLst/>
          </a:prstGeom>
          <a:noFill/>
        </p:spPr>
        <p:txBody>
          <a:bodyPr wrap="square" lIns="0" rIns="0" tIns="0" bIns="0" anchor="ctr" rtlCol="0"/>
          <a:lstStyle/>
          <a:p>
            <a:pPr marL="0" indent="0" algn="ctr">
              <a:buNone/>
            </a:pPr>
            <a:r>
              <a:rPr sz="1250" b="1" lang="en-US" dirty="0">
                <a:solidFill>
                  <a:srgbClr val="0E7A52"/>
                </a:solidFill>
                <a:latin typeface="Yu Gothic" pitchFamily="34" charset="0"/>
                <a:ea typeface="Yu Gothic" pitchFamily="34" charset="-122"/>
                <a:cs typeface="Yu Gothic" pitchFamily="34" charset="-120"/>
              </a:rPr>
              <a:t>Supply Chain &amp; Mfg</a:t>
            </a:r>
          </a:p>
        </p:txBody>
      </p:sp>
      <p:sp>
        <p:nvSpPr>
          <p:cNvPr id="60" name="Rounded Rectangle 59"/>
          <p:cNvSpPr/>
          <p:nvPr/>
        </p:nvSpPr>
        <p:spPr>
          <a:xfrm>
            <a:off x="5529072" y="2368296"/>
            <a:ext cx="2261616" cy="1517904"/>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29072" y="2528316"/>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製造</a:t>
            </a:r>
          </a:p>
        </p:txBody>
      </p:sp>
      <p:sp>
        <p:nvSpPr>
          <p:cNvPr id="62" name="Rounded Rectangle 61"/>
          <p:cNvSpPr/>
          <p:nvPr/>
        </p:nvSpPr>
        <p:spPr>
          <a:xfrm>
            <a:off x="5620512" y="2820924"/>
            <a:ext cx="2078736" cy="274320"/>
          </a:xfrm>
          <a:prstGeom prst="roundRect">
            <a:avLst>
              <a:gd name="adj" fmla="val 35000"/>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66232" y="2820924"/>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製造実行システム</a:t>
            </a:r>
          </a:p>
          <a:p>
            <a:pPr marL="0" indent="0" algn="ctr">
              <a:buNone/>
            </a:pPr>
            <a:r>
              <a:rPr sz="650" b="0" lang="en-US" dirty="0">
                <a:solidFill>
                  <a:srgbClr val="5B6B70"/>
                </a:solidFill>
                <a:latin typeface="Yu Gothic" pitchFamily="34" charset="0"/>
                <a:ea typeface="Yu Gothic" pitchFamily="34" charset="-122"/>
                <a:cs typeface="Yu Gothic" pitchFamily="34" charset="-120"/>
              </a:rPr>
              <a:t>（MES（電子バッチ記録））</a:t>
            </a:r>
          </a:p>
        </p:txBody>
      </p:sp>
      <p:sp>
        <p:nvSpPr>
          <p:cNvPr id="64" name="Rounded Rectangle 63"/>
          <p:cNvSpPr/>
          <p:nvPr/>
        </p:nvSpPr>
        <p:spPr>
          <a:xfrm>
            <a:off x="5620512" y="3122676"/>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20512" y="3122676"/>
            <a:ext cx="2078736" cy="18288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工程データ管理（プロセスヒストリアン）</a:t>
            </a:r>
          </a:p>
        </p:txBody>
      </p:sp>
      <p:sp>
        <p:nvSpPr>
          <p:cNvPr id="66" name="Rounded Rectangle 65"/>
          <p:cNvSpPr/>
          <p:nvPr/>
        </p:nvSpPr>
        <p:spPr>
          <a:xfrm>
            <a:off x="5620512" y="3332988"/>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20512" y="3332988"/>
            <a:ext cx="2078736" cy="182880"/>
          </a:xfrm>
          <a:prstGeom prst="rect">
            <a:avLst/>
          </a:prstGeom>
          <a:noFill/>
        </p:spPr>
        <p:txBody>
          <a:bodyPr wrap="square" lIns="0" rIns="0" tIns="0" bIns="0" anchor="ctr" rtlCol="0"/>
          <a:lstStyle/>
          <a:p>
            <a:pPr marL="0" indent="0" algn="ctr">
              <a:buNone/>
            </a:pPr>
            <a:r>
              <a:rPr sz="650" b="0" lang="en-US" dirty="0">
                <a:solidFill>
                  <a:srgbClr val="1F2E35"/>
                </a:solidFill>
                <a:latin typeface="Yu Gothic" pitchFamily="34" charset="0"/>
                <a:ea typeface="Yu Gothic" pitchFamily="34" charset="-122"/>
                <a:cs typeface="Yu Gothic" pitchFamily="34" charset="-120"/>
              </a:rPr>
              <a:t>設備・環境管理（CMMS／環境モニタリング）</a:t>
            </a:r>
          </a:p>
        </p:txBody>
      </p:sp>
      <p:sp>
        <p:nvSpPr>
          <p:cNvPr id="68" name="Rounded Rectangle 67"/>
          <p:cNvSpPr/>
          <p:nvPr/>
        </p:nvSpPr>
        <p:spPr>
          <a:xfrm>
            <a:off x="5620512" y="3543300"/>
            <a:ext cx="2078736" cy="182880"/>
          </a:xfrm>
          <a:prstGeom prst="roundRect">
            <a:avLst>
              <a:gd name="adj" fmla="val 50000"/>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20512" y="3543300"/>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ERP</a:t>
            </a:r>
          </a:p>
        </p:txBody>
      </p:sp>
      <p:sp>
        <p:nvSpPr>
          <p:cNvPr id="70" name="Rounded Rectangle 69"/>
          <p:cNvSpPr/>
          <p:nvPr/>
        </p:nvSpPr>
        <p:spPr>
          <a:xfrm>
            <a:off x="5529072" y="3959352"/>
            <a:ext cx="2261616" cy="1819656"/>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529072" y="4119372"/>
            <a:ext cx="2261616"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サプライチェーン</a:t>
            </a:r>
          </a:p>
        </p:txBody>
      </p:sp>
      <p:sp>
        <p:nvSpPr>
          <p:cNvPr id="72" name="Rounded Rectangle 71"/>
          <p:cNvSpPr/>
          <p:nvPr/>
        </p:nvSpPr>
        <p:spPr>
          <a:xfrm>
            <a:off x="5620512" y="4411980"/>
            <a:ext cx="2078736" cy="182880"/>
          </a:xfrm>
          <a:prstGeom prst="roundRect">
            <a:avLst>
              <a:gd name="adj" fmla="val 50000"/>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620512" y="4411980"/>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品質マネジメントシステム（eQMS）</a:t>
            </a:r>
          </a:p>
        </p:txBody>
      </p:sp>
      <p:sp>
        <p:nvSpPr>
          <p:cNvPr id="74" name="Rounded Rectangle 73"/>
          <p:cNvSpPr/>
          <p:nvPr/>
        </p:nvSpPr>
        <p:spPr>
          <a:xfrm>
            <a:off x="5620512" y="4622292"/>
            <a:ext cx="2078736"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620512" y="4622292"/>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需給計画（APS／S&amp;OP）</a:t>
            </a:r>
          </a:p>
        </p:txBody>
      </p:sp>
      <p:sp>
        <p:nvSpPr>
          <p:cNvPr id="76" name="Rounded Rectangle 75"/>
          <p:cNvSpPr/>
          <p:nvPr/>
        </p:nvSpPr>
        <p:spPr>
          <a:xfrm>
            <a:off x="5620512" y="4832604"/>
            <a:ext cx="2078736" cy="274320"/>
          </a:xfrm>
          <a:prstGeom prst="roundRect">
            <a:avLst>
              <a:gd name="adj" fmla="val 35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6232" y="4832604"/>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倉庫・物流管理</a:t>
            </a:r>
          </a:p>
          <a:p>
            <a:pPr marL="0" indent="0" algn="ctr">
              <a:buNone/>
            </a:pPr>
            <a:r>
              <a:rPr sz="650" b="0" lang="en-US" dirty="0">
                <a:solidFill>
                  <a:srgbClr val="5B6B70"/>
                </a:solidFill>
                <a:latin typeface="Yu Gothic" pitchFamily="34" charset="0"/>
                <a:ea typeface="Yu Gothic" pitchFamily="34" charset="-122"/>
                <a:cs typeface="Yu Gothic" pitchFamily="34" charset="-120"/>
              </a:rPr>
              <a:t>（WMS／TMS（温度監視含む））</a:t>
            </a:r>
          </a:p>
        </p:txBody>
      </p:sp>
      <p:sp>
        <p:nvSpPr>
          <p:cNvPr id="78" name="Rounded Rectangle 77"/>
          <p:cNvSpPr/>
          <p:nvPr/>
        </p:nvSpPr>
        <p:spPr>
          <a:xfrm>
            <a:off x="5620512" y="5134356"/>
            <a:ext cx="2078736" cy="274320"/>
          </a:xfrm>
          <a:prstGeom prst="roundRect">
            <a:avLst>
              <a:gd name="adj" fmla="val 35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666232" y="5134356"/>
            <a:ext cx="1987296"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シリアライゼーション</a:t>
            </a:r>
          </a:p>
          <a:p>
            <a:pPr marL="0" indent="0" algn="ctr">
              <a:buNone/>
            </a:pPr>
            <a:r>
              <a:rPr sz="650" b="0" lang="en-US" dirty="0">
                <a:solidFill>
                  <a:srgbClr val="5B6B70"/>
                </a:solidFill>
                <a:latin typeface="Yu Gothic" pitchFamily="34" charset="0"/>
                <a:ea typeface="Yu Gothic" pitchFamily="34" charset="-122"/>
                <a:cs typeface="Yu Gothic" pitchFamily="34" charset="-120"/>
              </a:rPr>
              <a:t>（DSCSA対応システム）</a:t>
            </a:r>
          </a:p>
        </p:txBody>
      </p:sp>
      <p:sp>
        <p:nvSpPr>
          <p:cNvPr id="80" name="Rounded Rectangle 79"/>
          <p:cNvSpPr/>
          <p:nvPr/>
        </p:nvSpPr>
        <p:spPr>
          <a:xfrm>
            <a:off x="5620512" y="5436108"/>
            <a:ext cx="2078736" cy="182880"/>
          </a:xfrm>
          <a:prstGeom prst="roundRect">
            <a:avLst>
              <a:gd name="adj" fmla="val 50000"/>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620512" y="5436108"/>
            <a:ext cx="207873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ERP</a:t>
            </a:r>
          </a:p>
        </p:txBody>
      </p:sp>
      <p:sp>
        <p:nvSpPr>
          <p:cNvPr id="82" name="Chevron 81"/>
          <p:cNvSpPr/>
          <p:nvPr/>
        </p:nvSpPr>
        <p:spPr>
          <a:xfrm rot="5400000">
            <a:off x="6600444" y="1764791"/>
            <a:ext cx="118872" cy="310896"/>
          </a:xfrm>
          <a:prstGeom prst="chevron">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Chevron 82"/>
          <p:cNvSpPr/>
          <p:nvPr/>
        </p:nvSpPr>
        <p:spPr>
          <a:xfrm rot="5400000">
            <a:off x="6600444" y="5765292"/>
            <a:ext cx="118872" cy="310896"/>
          </a:xfrm>
          <a:prstGeom prst="chevron">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01000" y="1325880"/>
            <a:ext cx="3730752" cy="4526280"/>
          </a:xfrm>
          <a:prstGeom prst="roundRect">
            <a:avLst>
              <a:gd name="adj" fmla="val 3000"/>
            </a:avLst>
          </a:prstGeom>
          <a:solidFill>
            <a:srgbClr val="E8F1FB"/>
          </a:solidFill>
          <a:ln w="190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01000" y="1380744"/>
            <a:ext cx="3730752" cy="274320"/>
          </a:xfrm>
          <a:prstGeom prst="rect">
            <a:avLst/>
          </a:prstGeom>
          <a:noFill/>
        </p:spPr>
        <p:txBody>
          <a:bodyPr wrap="square" lIns="0" rIns="0" tIns="0" bIns="0" anchor="ctr" rtlCol="0"/>
          <a:lstStyle/>
          <a:p>
            <a:pPr marL="0" indent="0" algn="ctr">
              <a:buNone/>
            </a:pPr>
            <a:r>
              <a:rPr sz="1250" b="1" lang="en-US" dirty="0">
                <a:solidFill>
                  <a:srgbClr val="2A78D6"/>
                </a:solidFill>
                <a:latin typeface="Yu Gothic" pitchFamily="34" charset="0"/>
                <a:ea typeface="Yu Gothic" pitchFamily="34" charset="-122"/>
                <a:cs typeface="Yu Gothic" pitchFamily="34" charset="-120"/>
              </a:rPr>
              <a:t>R&amp;D Engine</a:t>
            </a:r>
          </a:p>
        </p:txBody>
      </p:sp>
      <p:sp>
        <p:nvSpPr>
          <p:cNvPr id="86" name="Rounded Rectangle 85"/>
          <p:cNvSpPr/>
          <p:nvPr/>
        </p:nvSpPr>
        <p:spPr>
          <a:xfrm>
            <a:off x="8074152" y="1709928"/>
            <a:ext cx="3584448" cy="880109"/>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074152" y="1715642"/>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研究（創薬）</a:t>
            </a:r>
          </a:p>
        </p:txBody>
      </p:sp>
      <p:sp>
        <p:nvSpPr>
          <p:cNvPr id="88" name="Rounded Rectangle 87"/>
          <p:cNvSpPr/>
          <p:nvPr/>
        </p:nvSpPr>
        <p:spPr>
          <a:xfrm>
            <a:off x="8165592" y="2008250"/>
            <a:ext cx="1673352" cy="274320"/>
          </a:xfrm>
          <a:prstGeom prst="roundRect">
            <a:avLst>
              <a:gd name="adj" fmla="val 35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165592" y="2008250"/>
            <a:ext cx="1673352"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電子実験ノート（ELN）</a:t>
            </a:r>
          </a:p>
        </p:txBody>
      </p:sp>
      <p:sp>
        <p:nvSpPr>
          <p:cNvPr id="90" name="Rounded Rectangle 89"/>
          <p:cNvSpPr/>
          <p:nvPr/>
        </p:nvSpPr>
        <p:spPr>
          <a:xfrm>
            <a:off x="9893808" y="2008250"/>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939528" y="2008250"/>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生物学的物質登録</a:t>
            </a:r>
          </a:p>
          <a:p>
            <a:pPr marL="0" indent="0" algn="ctr">
              <a:buNone/>
            </a:pPr>
            <a:r>
              <a:rPr sz="650" b="0" lang="en-US" dirty="0">
                <a:solidFill>
                  <a:srgbClr val="5B6B70"/>
                </a:solidFill>
                <a:latin typeface="Yu Gothic" pitchFamily="34" charset="0"/>
                <a:ea typeface="Yu Gothic" pitchFamily="34" charset="-122"/>
                <a:cs typeface="Yu Gothic" pitchFamily="34" charset="-120"/>
              </a:rPr>
              <a:t>（バイオレジストリ）</a:t>
            </a:r>
          </a:p>
        </p:txBody>
      </p:sp>
      <p:sp>
        <p:nvSpPr>
          <p:cNvPr id="92" name="Rounded Rectangle 91"/>
          <p:cNvSpPr/>
          <p:nvPr/>
        </p:nvSpPr>
        <p:spPr>
          <a:xfrm>
            <a:off x="8165592" y="2310002"/>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211312" y="2310002"/>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科学データ解析基盤</a:t>
            </a:r>
          </a:p>
          <a:p>
            <a:pPr marL="0" indent="0" algn="ctr">
              <a:buNone/>
            </a:pPr>
            <a:r>
              <a:rPr sz="650" b="0" lang="en-US" dirty="0">
                <a:solidFill>
                  <a:srgbClr val="5B6B70"/>
                </a:solidFill>
                <a:latin typeface="Yu Gothic" pitchFamily="34" charset="0"/>
                <a:ea typeface="Yu Gothic" pitchFamily="34" charset="-122"/>
                <a:cs typeface="Yu Gothic" pitchFamily="34" charset="-120"/>
              </a:rPr>
              <a:t>（バイオインフォマティクス基盤）</a:t>
            </a:r>
          </a:p>
        </p:txBody>
      </p:sp>
      <p:sp>
        <p:nvSpPr>
          <p:cNvPr id="94" name="Rounded Rectangle 93"/>
          <p:cNvSpPr/>
          <p:nvPr/>
        </p:nvSpPr>
        <p:spPr>
          <a:xfrm>
            <a:off x="8074152" y="2663189"/>
            <a:ext cx="3584448" cy="788670"/>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074152" y="2668904"/>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非臨床・臨床薬理</a:t>
            </a:r>
          </a:p>
        </p:txBody>
      </p:sp>
      <p:sp>
        <p:nvSpPr>
          <p:cNvPr id="96" name="Rounded Rectangle 95"/>
          <p:cNvSpPr/>
          <p:nvPr/>
        </p:nvSpPr>
        <p:spPr>
          <a:xfrm>
            <a:off x="8165592" y="2961512"/>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211312" y="2961512"/>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非臨床試験管理</a:t>
            </a:r>
          </a:p>
          <a:p>
            <a:pPr marL="0" indent="0" algn="ctr">
              <a:buNone/>
            </a:pPr>
            <a:r>
              <a:rPr sz="650" b="0" lang="en-US" dirty="0">
                <a:solidFill>
                  <a:srgbClr val="5B6B70"/>
                </a:solidFill>
                <a:latin typeface="Yu Gothic" pitchFamily="34" charset="0"/>
                <a:ea typeface="Yu Gothic" pitchFamily="34" charset="-122"/>
                <a:cs typeface="Yu Gothic" pitchFamily="34" charset="-120"/>
              </a:rPr>
              <a:t>（毒性試験管理（SEND対応））</a:t>
            </a:r>
          </a:p>
        </p:txBody>
      </p:sp>
      <p:sp>
        <p:nvSpPr>
          <p:cNvPr id="98" name="Rounded Rectangle 97"/>
          <p:cNvSpPr/>
          <p:nvPr/>
        </p:nvSpPr>
        <p:spPr>
          <a:xfrm>
            <a:off x="9893808" y="2961512"/>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939528" y="2961512"/>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PK/PD解析・モデリング</a:t>
            </a:r>
          </a:p>
          <a:p>
            <a:pPr marL="0" indent="0" algn="ctr">
              <a:buNone/>
            </a:pPr>
            <a:r>
              <a:rPr sz="650" b="0" lang="en-US" dirty="0">
                <a:solidFill>
                  <a:srgbClr val="5B6B70"/>
                </a:solidFill>
                <a:latin typeface="Yu Gothic" pitchFamily="34" charset="0"/>
                <a:ea typeface="Yu Gothic" pitchFamily="34" charset="-122"/>
                <a:cs typeface="Yu Gothic" pitchFamily="34" charset="-120"/>
              </a:rPr>
              <a:t>（ファーマコメトリクス環境）</a:t>
            </a:r>
          </a:p>
        </p:txBody>
      </p:sp>
      <p:sp>
        <p:nvSpPr>
          <p:cNvPr id="100" name="Rounded Rectangle 99"/>
          <p:cNvSpPr/>
          <p:nvPr/>
        </p:nvSpPr>
        <p:spPr>
          <a:xfrm>
            <a:off x="8165592" y="3263264"/>
            <a:ext cx="1673352"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65592" y="3263264"/>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試験室情報管理（LIMS）</a:t>
            </a:r>
          </a:p>
        </p:txBody>
      </p:sp>
      <p:sp>
        <p:nvSpPr>
          <p:cNvPr id="102" name="Rounded Rectangle 101"/>
          <p:cNvSpPr/>
          <p:nvPr/>
        </p:nvSpPr>
        <p:spPr>
          <a:xfrm>
            <a:off x="8074152" y="3525011"/>
            <a:ext cx="3584448" cy="788670"/>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074152" y="3530726"/>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CMC開発</a:t>
            </a:r>
          </a:p>
        </p:txBody>
      </p:sp>
      <p:sp>
        <p:nvSpPr>
          <p:cNvPr id="104" name="Rounded Rectangle 103"/>
          <p:cNvSpPr/>
          <p:nvPr/>
        </p:nvSpPr>
        <p:spPr>
          <a:xfrm>
            <a:off x="8165592" y="3823334"/>
            <a:ext cx="1673352" cy="274320"/>
          </a:xfrm>
          <a:prstGeom prst="roundRect">
            <a:avLst>
              <a:gd name="adj" fmla="val 35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165592" y="3823334"/>
            <a:ext cx="1673352"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電子実験ノート（ELN）</a:t>
            </a:r>
          </a:p>
        </p:txBody>
      </p:sp>
      <p:sp>
        <p:nvSpPr>
          <p:cNvPr id="106" name="Rounded Rectangle 105"/>
          <p:cNvSpPr/>
          <p:nvPr/>
        </p:nvSpPr>
        <p:spPr>
          <a:xfrm>
            <a:off x="9893808" y="3823334"/>
            <a:ext cx="1673352" cy="274320"/>
          </a:xfrm>
          <a:prstGeom prst="roundRect">
            <a:avLst>
              <a:gd name="adj" fmla="val 35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939528" y="3823334"/>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製造実行システム</a:t>
            </a:r>
          </a:p>
          <a:p>
            <a:pPr marL="0" indent="0" algn="ctr">
              <a:buNone/>
            </a:pPr>
            <a:r>
              <a:rPr sz="650" b="0" lang="en-US" dirty="0">
                <a:solidFill>
                  <a:srgbClr val="5B6B70"/>
                </a:solidFill>
                <a:latin typeface="Yu Gothic" pitchFamily="34" charset="0"/>
                <a:ea typeface="Yu Gothic" pitchFamily="34" charset="-122"/>
                <a:cs typeface="Yu Gothic" pitchFamily="34" charset="-120"/>
              </a:rPr>
              <a:t>（MES（電子バッチ記録））</a:t>
            </a:r>
          </a:p>
        </p:txBody>
      </p:sp>
      <p:sp>
        <p:nvSpPr>
          <p:cNvPr id="108" name="Rounded Rectangle 107"/>
          <p:cNvSpPr/>
          <p:nvPr/>
        </p:nvSpPr>
        <p:spPr>
          <a:xfrm>
            <a:off x="8165592" y="4125086"/>
            <a:ext cx="1673352"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165592" y="4125086"/>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試験室情報管理（LIMS）</a:t>
            </a:r>
          </a:p>
        </p:txBody>
      </p:sp>
      <p:sp>
        <p:nvSpPr>
          <p:cNvPr id="110" name="Rounded Rectangle 109"/>
          <p:cNvSpPr/>
          <p:nvPr/>
        </p:nvSpPr>
        <p:spPr>
          <a:xfrm>
            <a:off x="8074152" y="4386833"/>
            <a:ext cx="3584448" cy="1392174"/>
          </a:xfrm>
          <a:prstGeom prst="roundRect">
            <a:avLst>
              <a:gd name="adj" fmla="val 5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074152" y="4392548"/>
            <a:ext cx="3584448"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臨床開発</a:t>
            </a:r>
          </a:p>
        </p:txBody>
      </p:sp>
      <p:sp>
        <p:nvSpPr>
          <p:cNvPr id="112" name="Rounded Rectangle 111"/>
          <p:cNvSpPr/>
          <p:nvPr/>
        </p:nvSpPr>
        <p:spPr>
          <a:xfrm>
            <a:off x="8165592" y="4685156"/>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165592" y="4685156"/>
            <a:ext cx="1673352"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臨床試験管理（CTMS）</a:t>
            </a:r>
          </a:p>
        </p:txBody>
      </p:sp>
      <p:sp>
        <p:nvSpPr>
          <p:cNvPr id="114" name="Rounded Rectangle 113"/>
          <p:cNvSpPr/>
          <p:nvPr/>
        </p:nvSpPr>
        <p:spPr>
          <a:xfrm>
            <a:off x="9893808" y="4685156"/>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939528" y="4685156"/>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臨床データ収集</a:t>
            </a:r>
          </a:p>
          <a:p>
            <a:pPr marL="0" indent="0" algn="ctr">
              <a:buNone/>
            </a:pPr>
            <a:r>
              <a:rPr sz="650" b="0" lang="en-US" dirty="0">
                <a:solidFill>
                  <a:srgbClr val="5B6B70"/>
                </a:solidFill>
                <a:latin typeface="Yu Gothic" pitchFamily="34" charset="0"/>
                <a:ea typeface="Yu Gothic" pitchFamily="34" charset="-122"/>
                <a:cs typeface="Yu Gothic" pitchFamily="34" charset="-120"/>
              </a:rPr>
              <a:t>（EDC（eCOA／ePRO含む））</a:t>
            </a:r>
          </a:p>
        </p:txBody>
      </p:sp>
      <p:sp>
        <p:nvSpPr>
          <p:cNvPr id="116" name="Rounded Rectangle 115"/>
          <p:cNvSpPr/>
          <p:nvPr/>
        </p:nvSpPr>
        <p:spPr>
          <a:xfrm>
            <a:off x="8165592" y="4986908"/>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165592" y="4986908"/>
            <a:ext cx="1673352"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無作為化・治験薬供給（IRT）</a:t>
            </a:r>
          </a:p>
        </p:txBody>
      </p:sp>
      <p:sp>
        <p:nvSpPr>
          <p:cNvPr id="118" name="Rounded Rectangle 117"/>
          <p:cNvSpPr/>
          <p:nvPr/>
        </p:nvSpPr>
        <p:spPr>
          <a:xfrm>
            <a:off x="9893808" y="4986908"/>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939528" y="4986908"/>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電子治験マスターファイル</a:t>
            </a:r>
          </a:p>
          <a:p>
            <a:pPr marL="0" indent="0" algn="ctr">
              <a:buNone/>
            </a:pPr>
            <a:r>
              <a:rPr sz="650" b="0" lang="en-US" dirty="0">
                <a:solidFill>
                  <a:srgbClr val="5B6B70"/>
                </a:solidFill>
                <a:latin typeface="Yu Gothic" pitchFamily="34" charset="0"/>
                <a:ea typeface="Yu Gothic" pitchFamily="34" charset="-122"/>
                <a:cs typeface="Yu Gothic" pitchFamily="34" charset="-120"/>
              </a:rPr>
              <a:t>（eTMF）</a:t>
            </a:r>
          </a:p>
        </p:txBody>
      </p:sp>
      <p:sp>
        <p:nvSpPr>
          <p:cNvPr id="120" name="Rounded Rectangle 119"/>
          <p:cNvSpPr/>
          <p:nvPr/>
        </p:nvSpPr>
        <p:spPr>
          <a:xfrm>
            <a:off x="8165592" y="5288661"/>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5592" y="5288661"/>
            <a:ext cx="1673352"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統計解析環境（SCE）</a:t>
            </a:r>
          </a:p>
        </p:txBody>
      </p:sp>
      <p:sp>
        <p:nvSpPr>
          <p:cNvPr id="122" name="Rounded Rectangle 121"/>
          <p:cNvSpPr/>
          <p:nvPr/>
        </p:nvSpPr>
        <p:spPr>
          <a:xfrm>
            <a:off x="9893808" y="5288661"/>
            <a:ext cx="1673352" cy="274320"/>
          </a:xfrm>
          <a:prstGeom prst="roundRect">
            <a:avLst>
              <a:gd name="adj" fmla="val 35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939528" y="5288661"/>
            <a:ext cx="1581912"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患者レジストリ・RWD基盤</a:t>
            </a:r>
          </a:p>
          <a:p>
            <a:pPr marL="0" indent="0" algn="ctr">
              <a:buNone/>
            </a:pPr>
            <a:r>
              <a:rPr sz="650" b="0" lang="en-US" dirty="0">
                <a:solidFill>
                  <a:srgbClr val="5B6B70"/>
                </a:solidFill>
                <a:latin typeface="Yu Gothic" pitchFamily="34" charset="0"/>
                <a:ea typeface="Yu Gothic" pitchFamily="34" charset="-122"/>
                <a:cs typeface="Yu Gothic" pitchFamily="34" charset="-120"/>
              </a:rPr>
              <a:t>（レジストリ／RWDプラットフォーム）</a:t>
            </a:r>
          </a:p>
        </p:txBody>
      </p:sp>
      <p:sp>
        <p:nvSpPr>
          <p:cNvPr id="124" name="Rounded Rectangle 123"/>
          <p:cNvSpPr/>
          <p:nvPr/>
        </p:nvSpPr>
        <p:spPr>
          <a:xfrm>
            <a:off x="8165592" y="5590413"/>
            <a:ext cx="1673352"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8165592" y="5590413"/>
            <a:ext cx="1673352"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GxP文書管理（eDMS）</a:t>
            </a:r>
          </a:p>
        </p:txBody>
      </p:sp>
      <p:sp>
        <p:nvSpPr>
          <p:cNvPr id="126" name="Chevron 125"/>
          <p:cNvSpPr/>
          <p:nvPr/>
        </p:nvSpPr>
        <p:spPr>
          <a:xfrm rot="5400000">
            <a:off x="9806940" y="5765292"/>
            <a:ext cx="118872" cy="310896"/>
          </a:xfrm>
          <a:prstGeom prst="chevron">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Chevron 126"/>
          <p:cNvSpPr/>
          <p:nvPr/>
        </p:nvSpPr>
        <p:spPr>
          <a:xfrm>
            <a:off x="7886699" y="1472184"/>
            <a:ext cx="91440" cy="237744"/>
          </a:xfrm>
          <a:prstGeom prst="chevron">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457200" y="5989320"/>
            <a:ext cx="11274552" cy="566928"/>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457200" y="6025896"/>
            <a:ext cx="11274552"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共通基盤（Support / Foundation）</a:t>
            </a:r>
          </a:p>
        </p:txBody>
      </p:sp>
      <p:sp>
        <p:nvSpPr>
          <p:cNvPr id="130" name="Rounded Rectangle 129"/>
          <p:cNvSpPr/>
          <p:nvPr/>
        </p:nvSpPr>
        <p:spPr>
          <a:xfrm>
            <a:off x="1133855" y="6300216"/>
            <a:ext cx="23774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133855" y="6300216"/>
            <a:ext cx="23774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マスタデータ管理（MDM）</a:t>
            </a:r>
          </a:p>
        </p:txBody>
      </p:sp>
      <p:sp>
        <p:nvSpPr>
          <p:cNvPr id="132" name="Rounded Rectangle 131"/>
          <p:cNvSpPr/>
          <p:nvPr/>
        </p:nvSpPr>
        <p:spPr>
          <a:xfrm>
            <a:off x="3648456" y="6300216"/>
            <a:ext cx="2377440" cy="182880"/>
          </a:xfrm>
          <a:prstGeom prst="roundRect">
            <a:avLst>
              <a:gd name="adj" fmla="val 50000"/>
            </a:avLst>
          </a:prstGeom>
          <a:solidFill>
            <a:srgbClr val="E4EAEC"/>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648456" y="6300216"/>
            <a:ext cx="23774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GxP文書管理（eDMS）</a:t>
            </a:r>
          </a:p>
        </p:txBody>
      </p:sp>
      <p:sp>
        <p:nvSpPr>
          <p:cNvPr id="134" name="Rounded Rectangle 133"/>
          <p:cNvSpPr/>
          <p:nvPr/>
        </p:nvSpPr>
        <p:spPr>
          <a:xfrm>
            <a:off x="6163056" y="6300216"/>
            <a:ext cx="23774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163056" y="6300216"/>
            <a:ext cx="237744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教育管理（LMS）</a:t>
            </a:r>
          </a:p>
        </p:txBody>
      </p:sp>
      <p:sp>
        <p:nvSpPr>
          <p:cNvPr id="136" name="Rounded Rectangle 135"/>
          <p:cNvSpPr/>
          <p:nvPr/>
        </p:nvSpPr>
        <p:spPr>
          <a:xfrm>
            <a:off x="8677656" y="6300216"/>
            <a:ext cx="2377440" cy="182880"/>
          </a:xfrm>
          <a:prstGeom prst="roundRect">
            <a:avLst>
              <a:gd name="adj" fmla="val 50000"/>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8677656" y="6300216"/>
            <a:ext cx="2377440" cy="18288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データ・分析基盤（データレイク／DWH／BI）</a:t>
            </a:r>
          </a:p>
        </p:txBody>
      </p:sp>
      <p:sp>
        <p:nvSpPr>
          <p:cNvPr id="138" name="Rounded Rectangle 137"/>
          <p:cNvSpPr/>
          <p:nvPr/>
        </p:nvSpPr>
        <p:spPr>
          <a:xfrm>
            <a:off x="9098280" y="896112"/>
            <a:ext cx="411480" cy="164592"/>
          </a:xfrm>
          <a:prstGeom prst="roundRect">
            <a:avLst>
              <a:gd name="adj" fmla="val 50000"/>
            </a:avLst>
          </a:prstGeom>
          <a:solidFill>
            <a:srgbClr val="E4EAEC"/>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9582912" y="868680"/>
            <a:ext cx="2148840" cy="219456"/>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複数の領域で使うアプリケーション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nchor="t" lIns="0" rIns="0" tIns="0" bIns="0">
            <a:spAutoFit/>
          </a:bodyPr>
          <a:lstStyle/>
          <a:p>
            <a:pPr algn="l"/>
            <a:r>
              <a:rPr sz="2800" b="1">
                <a:solidFill>
                  <a:srgbClr val="1F2E35"/>
                </a:solidFill>
                <a:latin typeface="Yu Gothic"/>
                <a:ea typeface="Yu Gothic"/>
              </a:rPr>
              <a:t>複数の領域で使うアプリケーション</a:t>
            </a:r>
          </a:p>
        </p:txBody>
      </p:sp>
      <p:sp>
        <p:nvSpPr>
          <p:cNvPr id="3" name="TextBox 2"/>
          <p:cNvSpPr txBox="1"/>
          <p:nvPr/>
        </p:nvSpPr>
        <p:spPr>
          <a:xfrm>
            <a:off x="457200" y="841248"/>
            <a:ext cx="10058400" cy="320040"/>
          </a:xfrm>
          <a:prstGeom prst="rect">
            <a:avLst/>
          </a:prstGeom>
          <a:noFill/>
        </p:spPr>
        <p:txBody>
          <a:bodyPr wrap="square" anchor="t" lIns="0" rIns="0" tIns="0" bIns="0">
            <a:spAutoFit/>
          </a:bodyPr>
          <a:lstStyle/>
          <a:p>
            <a:pPr algn="l"/>
            <a:r>
              <a:rPr sz="1300" b="0">
                <a:solidFill>
                  <a:srgbClr val="5B6B70"/>
                </a:solidFill>
                <a:latin typeface="Yu Gothic"/>
                <a:ea typeface="Yu Gothic"/>
              </a:rPr>
              <a:t>7種類のアプリケーションが、複数の領域（ケイパビリティL1）の能力を支え、複数の段階（VS L2）にまたがって使われる</a:t>
            </a:r>
          </a:p>
        </p:txBody>
      </p:sp>
      <p:sp>
        <p:nvSpPr>
          <p:cNvPr id="4" name="Rectangle 3"/>
          <p:cNvSpPr/>
          <p:nvPr/>
        </p:nvSpPr>
        <p:spPr>
          <a:xfrm>
            <a:off x="5660136" y="1261872"/>
            <a:ext cx="3320288" cy="237744"/>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0136" y="1261872"/>
            <a:ext cx="3320288" cy="237744"/>
          </a:xfrm>
          <a:prstGeom prst="rect">
            <a:avLst/>
          </a:prstGeom>
          <a:noFill/>
        </p:spPr>
        <p:txBody>
          <a:bodyPr wrap="square" lIns="0" rIns="0" tIns="0" bIns="0" anchor="ctr" rtlCol="0"/>
          <a:lstStyle/>
          <a:p>
            <a:pPr marL="0" indent="0" algn="ctr">
              <a:buNone/>
            </a:pPr>
            <a:r>
              <a:rPr sz="950" b="1" lang="en-US" dirty="0">
                <a:solidFill>
                  <a:srgbClr val="FFFFFF"/>
                </a:solidFill>
                <a:latin typeface="Yu Gothic" pitchFamily="34" charset="0"/>
                <a:ea typeface="Yu Gothic" pitchFamily="34" charset="-122"/>
                <a:cs typeface="Yu Gothic" pitchFamily="34" charset="-120"/>
              </a:rPr>
              <a:t>Phase 1：開発</a:t>
            </a:r>
          </a:p>
        </p:txBody>
      </p:sp>
      <p:sp>
        <p:nvSpPr>
          <p:cNvPr id="6" name="Rectangle 5"/>
          <p:cNvSpPr/>
          <p:nvPr/>
        </p:nvSpPr>
        <p:spPr>
          <a:xfrm>
            <a:off x="9053575" y="1261872"/>
            <a:ext cx="2641600" cy="237744"/>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3575" y="1261872"/>
            <a:ext cx="2641600" cy="237744"/>
          </a:xfrm>
          <a:prstGeom prst="rect">
            <a:avLst/>
          </a:prstGeom>
          <a:noFill/>
        </p:spPr>
        <p:txBody>
          <a:bodyPr wrap="square" lIns="0" rIns="0" tIns="0" bIns="0" anchor="ctr" rtlCol="0"/>
          <a:lstStyle/>
          <a:p>
            <a:pPr marL="0" indent="0" algn="ctr">
              <a:buNone/>
            </a:pPr>
            <a:r>
              <a:rPr sz="950" b="1" lang="en-US" dirty="0">
                <a:solidFill>
                  <a:srgbClr val="FFFFFF"/>
                </a:solidFill>
                <a:latin typeface="Yu Gothic" pitchFamily="34" charset="0"/>
                <a:ea typeface="Yu Gothic" pitchFamily="34" charset="-122"/>
                <a:cs typeface="Yu Gothic" pitchFamily="34" charset="-120"/>
              </a:rPr>
              <a:t>Phase 2：商業化・供給</a:t>
            </a:r>
          </a:p>
        </p:txBody>
      </p:sp>
      <p:sp>
        <p:nvSpPr>
          <p:cNvPr id="8" name="Right Arrow 7"/>
          <p:cNvSpPr/>
          <p:nvPr/>
        </p:nvSpPr>
        <p:spPr>
          <a:xfrm>
            <a:off x="5688584"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0"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創薬研究</a:t>
            </a:r>
          </a:p>
        </p:txBody>
      </p:sp>
      <p:sp>
        <p:nvSpPr>
          <p:cNvPr id="10" name="Right Arrow 9"/>
          <p:cNvSpPr/>
          <p:nvPr/>
        </p:nvSpPr>
        <p:spPr>
          <a:xfrm>
            <a:off x="6367272"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2248"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非臨床開発</a:t>
            </a:r>
          </a:p>
        </p:txBody>
      </p:sp>
      <p:sp>
        <p:nvSpPr>
          <p:cNvPr id="12" name="Rounded Rectangle 11"/>
          <p:cNvSpPr/>
          <p:nvPr/>
        </p:nvSpPr>
        <p:spPr>
          <a:xfrm>
            <a:off x="7027672" y="1664208"/>
            <a:ext cx="585216" cy="201168"/>
          </a:xfrm>
          <a:prstGeom prst="roundRect">
            <a:avLst>
              <a:gd name="adj" fmla="val 50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80936"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CMC開発</a:t>
            </a:r>
          </a:p>
        </p:txBody>
      </p:sp>
      <p:sp>
        <p:nvSpPr>
          <p:cNvPr id="14" name="Right Arrow 13"/>
          <p:cNvSpPr/>
          <p:nvPr/>
        </p:nvSpPr>
        <p:spPr>
          <a:xfrm>
            <a:off x="7724647"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59624"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臨床開発</a:t>
            </a:r>
          </a:p>
        </p:txBody>
      </p:sp>
      <p:sp>
        <p:nvSpPr>
          <p:cNvPr id="16" name="Right Arrow 15"/>
          <p:cNvSpPr/>
          <p:nvPr/>
        </p:nvSpPr>
        <p:spPr>
          <a:xfrm>
            <a:off x="8403336"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8312"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BLA申請・審査</a:t>
            </a:r>
          </a:p>
        </p:txBody>
      </p:sp>
      <p:sp>
        <p:nvSpPr>
          <p:cNvPr id="18" name="Block Arc 17"/>
          <p:cNvSpPr/>
          <p:nvPr/>
        </p:nvSpPr>
        <p:spPr>
          <a:xfrm>
            <a:off x="9200896"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osceles Triangle 18"/>
          <p:cNvSpPr/>
          <p:nvPr/>
        </p:nvSpPr>
        <p:spPr>
          <a:xfrm rot="5400000">
            <a:off x="9316011"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17000"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商用製造</a:t>
            </a:r>
          </a:p>
        </p:txBody>
      </p:sp>
      <p:sp>
        <p:nvSpPr>
          <p:cNvPr id="21" name="Right Arrow 20"/>
          <p:cNvSpPr/>
          <p:nvPr/>
        </p:nvSpPr>
        <p:spPr>
          <a:xfrm>
            <a:off x="9760711" y="1609344"/>
            <a:ext cx="548640" cy="310896"/>
          </a:xfrm>
          <a:prstGeom prst="rightArrow">
            <a:avLst>
              <a:gd name="adj1" fmla="val 62000"/>
              <a:gd name="adj2" fmla="val 55000"/>
            </a:avLst>
          </a:prstGeom>
          <a:gradFill rotWithShape="1">
            <a:gsLst>
              <a:gs pos="0">
                <a:srgbClr val="557580"/>
              </a:gs>
              <a:gs pos="100000">
                <a:srgbClr val="2F4F5A"/>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5688"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上市</a:t>
            </a:r>
          </a:p>
        </p:txBody>
      </p:sp>
      <p:sp>
        <p:nvSpPr>
          <p:cNvPr id="23" name="Block Arc 22"/>
          <p:cNvSpPr/>
          <p:nvPr/>
        </p:nvSpPr>
        <p:spPr>
          <a:xfrm>
            <a:off x="10558272"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osceles Triangle 23"/>
          <p:cNvSpPr/>
          <p:nvPr/>
        </p:nvSpPr>
        <p:spPr>
          <a:xfrm rot="5400000">
            <a:off x="10673387"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74376"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供給・流通</a:t>
            </a:r>
          </a:p>
        </p:txBody>
      </p:sp>
      <p:sp>
        <p:nvSpPr>
          <p:cNvPr id="26" name="Block Arc 25"/>
          <p:cNvSpPr/>
          <p:nvPr/>
        </p:nvSpPr>
        <p:spPr>
          <a:xfrm>
            <a:off x="11236959" y="1609344"/>
            <a:ext cx="310896" cy="310896"/>
          </a:xfrm>
          <a:prstGeom prst="blockArc">
            <a:avLst>
              <a:gd name="adj1" fmla="val 17280000"/>
              <a:gd name="adj2" fmla="val 15000000"/>
              <a:gd name="adj3" fmla="val 17647"/>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osceles Triangle 26"/>
          <p:cNvSpPr/>
          <p:nvPr/>
        </p:nvSpPr>
        <p:spPr>
          <a:xfrm rot="5400000">
            <a:off x="11352075" y="1593853"/>
            <a:ext cx="118872" cy="91440"/>
          </a:xfrm>
          <a:prstGeom prst="triangl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053064" y="1975104"/>
            <a:ext cx="678688"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市販後</a:t>
            </a:r>
          </a:p>
        </p:txBody>
      </p:sp>
      <p:sp>
        <p:nvSpPr>
          <p:cNvPr id="29" name="Rectangle 28"/>
          <p:cNvSpPr/>
          <p:nvPr/>
        </p:nvSpPr>
        <p:spPr>
          <a:xfrm>
            <a:off x="2103120" y="2304288"/>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94560" y="2286000"/>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戦略・ガバナンス</a:t>
            </a:r>
          </a:p>
        </p:txBody>
      </p:sp>
      <p:sp>
        <p:nvSpPr>
          <p:cNvPr id="31" name="Oval 30"/>
          <p:cNvSpPr/>
          <p:nvPr/>
        </p:nvSpPr>
        <p:spPr>
          <a:xfrm>
            <a:off x="5887080" y="2351908"/>
            <a:ext cx="151646" cy="151646"/>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95872" y="238201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74560" y="238201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953247" y="238201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631936" y="238201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322947" y="2358271"/>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011679" y="2322576"/>
            <a:ext cx="54864" cy="210311"/>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2286000"/>
            <a:ext cx="1463039" cy="283464"/>
          </a:xfrm>
          <a:prstGeom prst="rect">
            <a:avLst/>
          </a:prstGeom>
          <a:noFill/>
        </p:spPr>
        <p:txBody>
          <a:bodyPr wrap="square" lIns="0" rIns="0" tIns="0" bIns="0" anchor="ctr" rtlCol="0"/>
          <a:lstStyle/>
          <a:p>
            <a:pPr marL="0" indent="0" algn="r">
              <a:buNone/>
            </a:pPr>
            <a:r>
              <a:rPr sz="900" b="1" lang="en-US" dirty="0">
                <a:solidFill>
                  <a:srgbClr val="1F2E35"/>
                </a:solidFill>
                <a:latin typeface="Yu Gothic" pitchFamily="34" charset="0"/>
                <a:ea typeface="Yu Gothic" pitchFamily="34" charset="-122"/>
                <a:cs typeface="Yu Gothic" pitchFamily="34" charset="-120"/>
              </a:rPr>
              <a:t>Strategy</a:t>
            </a:r>
          </a:p>
        </p:txBody>
      </p:sp>
      <p:cxnSp>
        <p:nvCxnSpPr>
          <p:cNvPr id="39" name="Connector 38"/>
          <p:cNvCxnSpPr/>
          <p:nvPr/>
        </p:nvCxnSpPr>
        <p:spPr>
          <a:xfrm>
            <a:off x="2103120" y="2569464"/>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103120" y="2587752"/>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94560" y="2569464"/>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研究（創薬）</a:t>
            </a:r>
          </a:p>
        </p:txBody>
      </p:sp>
      <p:sp>
        <p:nvSpPr>
          <p:cNvPr id="42" name="Oval 41"/>
          <p:cNvSpPr/>
          <p:nvPr/>
        </p:nvSpPr>
        <p:spPr>
          <a:xfrm>
            <a:off x="5839211" y="2587503"/>
            <a:ext cx="247384" cy="247384"/>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595872" y="2665476"/>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103120" y="2871216"/>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194560" y="2852928"/>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非臨床・臨床薬理</a:t>
            </a:r>
          </a:p>
        </p:txBody>
      </p:sp>
      <p:sp>
        <p:nvSpPr>
          <p:cNvPr id="46" name="Oval 45"/>
          <p:cNvSpPr/>
          <p:nvPr/>
        </p:nvSpPr>
        <p:spPr>
          <a:xfrm>
            <a:off x="6525536" y="2878604"/>
            <a:ext cx="232111" cy="232111"/>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29507" y="2925199"/>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03120" y="3154680"/>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94560" y="3136392"/>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CMC開発</a:t>
            </a:r>
          </a:p>
        </p:txBody>
      </p:sp>
      <p:sp>
        <p:nvSpPr>
          <p:cNvPr id="50" name="Oval 49"/>
          <p:cNvSpPr/>
          <p:nvPr/>
        </p:nvSpPr>
        <p:spPr>
          <a:xfrm>
            <a:off x="5917184" y="3232404"/>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183120" y="3140964"/>
            <a:ext cx="274320" cy="2743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631936" y="3232404"/>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310623" y="3232404"/>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1346687" y="3232404"/>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103120" y="3438144"/>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194560" y="3419856"/>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臨床開発</a:t>
            </a:r>
          </a:p>
        </p:txBody>
      </p:sp>
      <p:sp>
        <p:nvSpPr>
          <p:cNvPr id="57" name="Oval 56"/>
          <p:cNvSpPr/>
          <p:nvPr/>
        </p:nvSpPr>
        <p:spPr>
          <a:xfrm>
            <a:off x="5901736" y="3500420"/>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80424" y="3500420"/>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250819" y="3492127"/>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872882" y="3435502"/>
            <a:ext cx="252170" cy="25217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631936" y="3515868"/>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989311" y="3515868"/>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1316584" y="3485764"/>
            <a:ext cx="151646" cy="151646"/>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11679" y="2606040"/>
            <a:ext cx="54864" cy="106070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7200" y="2569464"/>
            <a:ext cx="1463039" cy="1133856"/>
          </a:xfrm>
          <a:prstGeom prst="rect">
            <a:avLst/>
          </a:prstGeom>
          <a:noFill/>
        </p:spPr>
        <p:txBody>
          <a:bodyPr wrap="square" lIns="0" rIns="0" tIns="0" bIns="0" anchor="ctr" rtlCol="0"/>
          <a:lstStyle/>
          <a:p>
            <a:pPr marL="0" indent="0" algn="r">
              <a:buNone/>
            </a:pPr>
            <a:r>
              <a:rPr sz="900" b="1" lang="en-US" dirty="0">
                <a:solidFill>
                  <a:srgbClr val="2A78D6"/>
                </a:solidFill>
                <a:latin typeface="Yu Gothic" pitchFamily="34" charset="0"/>
                <a:ea typeface="Yu Gothic" pitchFamily="34" charset="-122"/>
                <a:cs typeface="Yu Gothic" pitchFamily="34" charset="-120"/>
              </a:rPr>
              <a:t>R&amp;D Engine</a:t>
            </a:r>
          </a:p>
        </p:txBody>
      </p:sp>
      <p:cxnSp>
        <p:nvCxnSpPr>
          <p:cNvPr id="66" name="Connector 65"/>
          <p:cNvCxnSpPr/>
          <p:nvPr/>
        </p:nvCxnSpPr>
        <p:spPr>
          <a:xfrm>
            <a:off x="2103120" y="3703320"/>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2103120" y="3721607"/>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194560" y="3703320"/>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薬事</a:t>
            </a:r>
          </a:p>
        </p:txBody>
      </p:sp>
      <p:sp>
        <p:nvSpPr>
          <p:cNvPr id="69" name="Oval 68"/>
          <p:cNvSpPr/>
          <p:nvPr/>
        </p:nvSpPr>
        <p:spPr>
          <a:xfrm>
            <a:off x="5917184" y="379933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555678" y="3759138"/>
            <a:ext cx="171827" cy="171827"/>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929507" y="3775591"/>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561600" y="3728996"/>
            <a:ext cx="232111" cy="232111"/>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310623" y="379933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1311220" y="3763864"/>
            <a:ext cx="162375" cy="16237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103120" y="4005071"/>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94560" y="3986783"/>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品質</a:t>
            </a:r>
          </a:p>
        </p:txBody>
      </p:sp>
      <p:sp>
        <p:nvSpPr>
          <p:cNvPr id="77" name="Oval 76"/>
          <p:cNvSpPr/>
          <p:nvPr/>
        </p:nvSpPr>
        <p:spPr>
          <a:xfrm>
            <a:off x="6595872" y="4082796"/>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226164" y="4034400"/>
            <a:ext cx="188231" cy="188231"/>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608195" y="4059055"/>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9266157" y="4038329"/>
            <a:ext cx="180373" cy="180373"/>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9989311" y="4082796"/>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668000" y="4082796"/>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1346687" y="4082796"/>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103120" y="4288536"/>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194560" y="4270248"/>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ファーマコビジランス（安全性）</a:t>
            </a:r>
          </a:p>
        </p:txBody>
      </p:sp>
      <p:sp>
        <p:nvSpPr>
          <p:cNvPr id="86" name="Oval 85"/>
          <p:cNvSpPr/>
          <p:nvPr/>
        </p:nvSpPr>
        <p:spPr>
          <a:xfrm>
            <a:off x="7937800" y="4350812"/>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16488" y="4350812"/>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06494" y="4326066"/>
            <a:ext cx="171827" cy="171827"/>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2011679" y="3739896"/>
            <a:ext cx="54864" cy="777240"/>
          </a:xfrm>
          <a:prstGeom prst="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57200" y="3703320"/>
            <a:ext cx="1463039" cy="850392"/>
          </a:xfrm>
          <a:prstGeom prst="rect">
            <a:avLst/>
          </a:prstGeom>
          <a:noFill/>
        </p:spPr>
        <p:txBody>
          <a:bodyPr wrap="square" lIns="0" rIns="0" tIns="0" bIns="0" anchor="ctr" rtlCol="0"/>
          <a:lstStyle/>
          <a:p>
            <a:pPr marL="0" indent="0" algn="r">
              <a:buNone/>
            </a:pPr>
            <a:r>
              <a:rPr sz="900" b="1" lang="en-US" dirty="0">
                <a:solidFill>
                  <a:srgbClr val="4A3AA7"/>
                </a:solidFill>
                <a:latin typeface="Yu Gothic" pitchFamily="34" charset="0"/>
                <a:ea typeface="Yu Gothic" pitchFamily="34" charset="-122"/>
                <a:cs typeface="Yu Gothic" pitchFamily="34" charset="-120"/>
              </a:rPr>
              <a:t>Regulatory &amp; Quality</a:t>
            </a:r>
          </a:p>
        </p:txBody>
      </p:sp>
      <p:cxnSp>
        <p:nvCxnSpPr>
          <p:cNvPr id="91" name="Connector 90"/>
          <p:cNvCxnSpPr/>
          <p:nvPr/>
        </p:nvCxnSpPr>
        <p:spPr>
          <a:xfrm>
            <a:off x="2103120" y="4553712"/>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2103120" y="4571999"/>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194560" y="4553712"/>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製造</a:t>
            </a:r>
          </a:p>
        </p:txBody>
      </p:sp>
      <p:sp>
        <p:nvSpPr>
          <p:cNvPr id="94" name="Oval 93"/>
          <p:cNvSpPr/>
          <p:nvPr/>
        </p:nvSpPr>
        <p:spPr>
          <a:xfrm>
            <a:off x="7244456" y="4619620"/>
            <a:ext cx="151646" cy="151646"/>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251887" y="4590987"/>
            <a:ext cx="208912" cy="208912"/>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103120" y="4855463"/>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194560" y="4837175"/>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サプライチェーン</a:t>
            </a:r>
          </a:p>
        </p:txBody>
      </p:sp>
      <p:sp>
        <p:nvSpPr>
          <p:cNvPr id="98" name="Oval 97"/>
          <p:cNvSpPr/>
          <p:nvPr/>
        </p:nvSpPr>
        <p:spPr>
          <a:xfrm>
            <a:off x="7274560" y="4933188"/>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310623" y="4933188"/>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965571" y="4909447"/>
            <a:ext cx="138920" cy="138920"/>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10609263" y="4874451"/>
            <a:ext cx="208912" cy="208912"/>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2011679" y="4590288"/>
            <a:ext cx="54864" cy="493776"/>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57200" y="4553712"/>
            <a:ext cx="1463039" cy="566928"/>
          </a:xfrm>
          <a:prstGeom prst="rect">
            <a:avLst/>
          </a:prstGeom>
          <a:noFill/>
        </p:spPr>
        <p:txBody>
          <a:bodyPr wrap="square" lIns="0" rIns="0" tIns="0" bIns="0" anchor="ctr" rtlCol="0"/>
          <a:lstStyle/>
          <a:p>
            <a:pPr marL="0" indent="0" algn="r">
              <a:buNone/>
            </a:pPr>
            <a:r>
              <a:rPr sz="900" b="1" lang="en-US" dirty="0">
                <a:solidFill>
                  <a:srgbClr val="0E7A52"/>
                </a:solidFill>
                <a:latin typeface="Yu Gothic" pitchFamily="34" charset="0"/>
                <a:ea typeface="Yu Gothic" pitchFamily="34" charset="-122"/>
                <a:cs typeface="Yu Gothic" pitchFamily="34" charset="-120"/>
              </a:rPr>
              <a:t>Supply Chain &amp; Mfg</a:t>
            </a:r>
          </a:p>
        </p:txBody>
      </p:sp>
      <p:cxnSp>
        <p:nvCxnSpPr>
          <p:cNvPr id="104" name="Connector 103"/>
          <p:cNvCxnSpPr/>
          <p:nvPr/>
        </p:nvCxnSpPr>
        <p:spPr>
          <a:xfrm>
            <a:off x="2103120" y="5120640"/>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05" name="Rectangle 104"/>
          <p:cNvSpPr/>
          <p:nvPr/>
        </p:nvSpPr>
        <p:spPr>
          <a:xfrm>
            <a:off x="2103120" y="5138927"/>
            <a:ext cx="9628632" cy="246888"/>
          </a:xfrm>
          <a:prstGeom prst="rect">
            <a:avLst/>
          </a:prstGeom>
          <a:solidFill>
            <a:srgbClr val="F3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194560" y="5120640"/>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メディカル・患者エンゲージメント</a:t>
            </a:r>
          </a:p>
        </p:txBody>
      </p:sp>
      <p:sp>
        <p:nvSpPr>
          <p:cNvPr id="107" name="Oval 106"/>
          <p:cNvSpPr/>
          <p:nvPr/>
        </p:nvSpPr>
        <p:spPr>
          <a:xfrm>
            <a:off x="5901736" y="5201204"/>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7953247" y="521665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959208" y="5186548"/>
            <a:ext cx="151646" cy="151646"/>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0668000" y="521665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1346687" y="5216652"/>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2103120" y="5422391"/>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194560" y="5404103"/>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市場アクセス・商業</a:t>
            </a:r>
          </a:p>
        </p:txBody>
      </p:sp>
      <p:sp>
        <p:nvSpPr>
          <p:cNvPr id="114" name="Oval 113"/>
          <p:cNvSpPr/>
          <p:nvPr/>
        </p:nvSpPr>
        <p:spPr>
          <a:xfrm>
            <a:off x="9940916" y="5451720"/>
            <a:ext cx="188231" cy="188231"/>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1331240" y="5484668"/>
            <a:ext cx="122335" cy="122335"/>
          </a:xfrm>
          <a:prstGeom prst="ellipse">
            <a:avLst/>
          </a:prstGeom>
          <a:solidFill>
            <a:srgbClr val="8A9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2011679" y="5157216"/>
            <a:ext cx="54864" cy="49377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57200" y="5120640"/>
            <a:ext cx="1463039" cy="566928"/>
          </a:xfrm>
          <a:prstGeom prst="rect">
            <a:avLst/>
          </a:prstGeom>
          <a:noFill/>
        </p:spPr>
        <p:txBody>
          <a:bodyPr wrap="square" lIns="0" rIns="0" tIns="0" bIns="0" anchor="ctr" rtlCol="0"/>
          <a:lstStyle/>
          <a:p>
            <a:pPr marL="0" indent="0" algn="r">
              <a:buNone/>
            </a:pPr>
            <a:r>
              <a:rPr sz="900" b="1" lang="en-US" dirty="0">
                <a:solidFill>
                  <a:srgbClr val="C24E1C"/>
                </a:solidFill>
                <a:latin typeface="Yu Gothic" pitchFamily="34" charset="0"/>
                <a:ea typeface="Yu Gothic" pitchFamily="34" charset="-122"/>
                <a:cs typeface="Yu Gothic" pitchFamily="34" charset="-120"/>
              </a:rPr>
              <a:t>Commercial &amp; Patient</a:t>
            </a:r>
          </a:p>
        </p:txBody>
      </p:sp>
      <p:cxnSp>
        <p:nvCxnSpPr>
          <p:cNvPr id="118" name="Connector 117"/>
          <p:cNvCxnSpPr/>
          <p:nvPr/>
        </p:nvCxnSpPr>
        <p:spPr>
          <a:xfrm>
            <a:off x="2103120" y="5687568"/>
            <a:ext cx="962863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19" name="Rectangle 118"/>
          <p:cNvSpPr/>
          <p:nvPr/>
        </p:nvSpPr>
        <p:spPr>
          <a:xfrm>
            <a:off x="2103120" y="5705855"/>
            <a:ext cx="9628632"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ounded Rectangle 170"/>
          <p:cNvSpPr/>
          <p:nvPr/>
        </p:nvSpPr>
        <p:spPr>
          <a:xfrm>
            <a:off x="9750552" y="5449823"/>
            <a:ext cx="568960" cy="192024"/>
          </a:xfrm>
          <a:prstGeom prst="roundRect">
            <a:avLst>
              <a:gd name="adj" fmla="val 50000"/>
            </a:avLst>
          </a:prstGeom>
          <a:solidFill>
            <a:srgbClr val="E87BA4">
              <a:alpha val="22000"/>
            </a:srgbClr>
          </a:solidFill>
          <a:ln w="15875">
            <a:solidFill>
              <a:srgbClr val="E87B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5678424" y="5166359"/>
            <a:ext cx="4641088" cy="192024"/>
          </a:xfrm>
          <a:prstGeom prst="roundRect">
            <a:avLst>
              <a:gd name="adj" fmla="val 50000"/>
            </a:avLst>
          </a:prstGeom>
          <a:solidFill>
            <a:srgbClr val="E87BA4">
              <a:alpha val="22000"/>
            </a:srgbClr>
          </a:solidFill>
          <a:ln w="15875">
            <a:solidFill>
              <a:srgbClr val="E87B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9686544" y="4850891"/>
            <a:ext cx="1375664" cy="256032"/>
          </a:xfrm>
          <a:prstGeom prst="roundRect">
            <a:avLst>
              <a:gd name="adj" fmla="val 50000"/>
            </a:avLst>
          </a:prstGeom>
          <a:solidFill>
            <a:srgbClr val="008300">
              <a:alpha val="22000"/>
            </a:srgbClr>
          </a:solidFill>
          <a:ln w="15875">
            <a:solidFill>
              <a:srgbClr val="00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ounded Rectangle 163"/>
          <p:cNvSpPr/>
          <p:nvPr/>
        </p:nvSpPr>
        <p:spPr>
          <a:xfrm>
            <a:off x="10429240" y="4882895"/>
            <a:ext cx="568960" cy="192024"/>
          </a:xfrm>
          <a:prstGeom prst="roundRect">
            <a:avLst>
              <a:gd name="adj" fmla="val 50000"/>
            </a:avLst>
          </a:prstGeom>
          <a:solidFill>
            <a:srgbClr val="1BAF7A">
              <a:alpha val="22000"/>
            </a:srgbClr>
          </a:solidFill>
          <a:ln w="1587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9007856" y="4567427"/>
            <a:ext cx="696976" cy="256032"/>
          </a:xfrm>
          <a:prstGeom prst="roundRect">
            <a:avLst>
              <a:gd name="adj" fmla="val 50000"/>
            </a:avLst>
          </a:prstGeom>
          <a:solidFill>
            <a:srgbClr val="008300">
              <a:alpha val="22000"/>
            </a:srgbClr>
          </a:solidFill>
          <a:ln w="15875">
            <a:solidFill>
              <a:srgbClr val="00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7035800" y="4599431"/>
            <a:ext cx="2605024" cy="192024"/>
          </a:xfrm>
          <a:prstGeom prst="roundRect">
            <a:avLst>
              <a:gd name="adj" fmla="val 50000"/>
            </a:avLst>
          </a:prstGeom>
          <a:solidFill>
            <a:srgbClr val="EB6834">
              <a:alpha val="22000"/>
            </a:srgbClr>
          </a:solidFill>
          <a:ln w="1587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6971792" y="4000500"/>
            <a:ext cx="2733040" cy="256032"/>
          </a:xfrm>
          <a:prstGeom prst="roundRect">
            <a:avLst>
              <a:gd name="adj" fmla="val 50000"/>
            </a:avLst>
          </a:prstGeom>
          <a:solidFill>
            <a:srgbClr val="EDA100">
              <a:alpha val="22000"/>
            </a:srgbClr>
          </a:solidFill>
          <a:ln w="15875">
            <a:solidFill>
              <a:srgbClr val="EDA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ounded Rectangle 151"/>
          <p:cNvSpPr/>
          <p:nvPr/>
        </p:nvSpPr>
        <p:spPr>
          <a:xfrm>
            <a:off x="7035800" y="4032503"/>
            <a:ext cx="2605024" cy="192024"/>
          </a:xfrm>
          <a:prstGeom prst="roundRect">
            <a:avLst>
              <a:gd name="adj" fmla="val 50000"/>
            </a:avLst>
          </a:prstGeom>
          <a:solidFill>
            <a:srgbClr val="1BAF7A">
              <a:alpha val="22000"/>
            </a:srgbClr>
          </a:solidFill>
          <a:ln w="1587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ounded Rectangle 146"/>
          <p:cNvSpPr/>
          <p:nvPr/>
        </p:nvSpPr>
        <p:spPr>
          <a:xfrm>
            <a:off x="6357112" y="3749039"/>
            <a:ext cx="5319776" cy="192024"/>
          </a:xfrm>
          <a:prstGeom prst="roundRect">
            <a:avLst>
              <a:gd name="adj" fmla="val 50000"/>
            </a:avLst>
          </a:prstGeom>
          <a:solidFill>
            <a:srgbClr val="4A3AA7">
              <a:alpha val="22000"/>
            </a:srgbClr>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ounded Rectangle 143"/>
          <p:cNvSpPr/>
          <p:nvPr/>
        </p:nvSpPr>
        <p:spPr>
          <a:xfrm>
            <a:off x="7714488" y="3465576"/>
            <a:ext cx="568960" cy="192024"/>
          </a:xfrm>
          <a:prstGeom prst="roundRect">
            <a:avLst>
              <a:gd name="adj" fmla="val 50000"/>
            </a:avLst>
          </a:prstGeom>
          <a:solidFill>
            <a:srgbClr val="4A3AA7">
              <a:alpha val="22000"/>
            </a:srgbClr>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6907784" y="3118104"/>
            <a:ext cx="824992" cy="320040"/>
          </a:xfrm>
          <a:prstGeom prst="roundRect">
            <a:avLst>
              <a:gd name="adj" fmla="val 50000"/>
            </a:avLst>
          </a:prstGeom>
          <a:solidFill>
            <a:srgbClr val="EDA100">
              <a:alpha val="22000"/>
            </a:srgbClr>
          </a:solidFill>
          <a:ln w="15875">
            <a:solidFill>
              <a:srgbClr val="EDA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6971792" y="3150108"/>
            <a:ext cx="696976" cy="256032"/>
          </a:xfrm>
          <a:prstGeom prst="roundRect">
            <a:avLst>
              <a:gd name="adj" fmla="val 50000"/>
            </a:avLst>
          </a:prstGeom>
          <a:solidFill>
            <a:srgbClr val="EB6834">
              <a:alpha val="22000"/>
            </a:srgbClr>
          </a:solidFill>
          <a:ln w="1587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7035800" y="3182112"/>
            <a:ext cx="568960" cy="192024"/>
          </a:xfrm>
          <a:prstGeom prst="roundRect">
            <a:avLst>
              <a:gd name="adj" fmla="val 50000"/>
            </a:avLst>
          </a:prstGeom>
          <a:solidFill>
            <a:srgbClr val="2A78D6">
              <a:alpha val="22000"/>
            </a:srgbClr>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6357112" y="2898648"/>
            <a:ext cx="1926335" cy="192024"/>
          </a:xfrm>
          <a:prstGeom prst="roundRect">
            <a:avLst>
              <a:gd name="adj" fmla="val 50000"/>
            </a:avLst>
          </a:prstGeom>
          <a:solidFill>
            <a:srgbClr val="EDA100">
              <a:alpha val="22000"/>
            </a:srgbClr>
          </a:solidFill>
          <a:ln w="15875">
            <a:solidFill>
              <a:srgbClr val="EDA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5678424" y="2615184"/>
            <a:ext cx="568960" cy="192024"/>
          </a:xfrm>
          <a:prstGeom prst="roundRect">
            <a:avLst>
              <a:gd name="adj" fmla="val 50000"/>
            </a:avLst>
          </a:prstGeom>
          <a:solidFill>
            <a:srgbClr val="2A78D6">
              <a:alpha val="22000"/>
            </a:srgbClr>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2194560" y="5687568"/>
            <a:ext cx="3383280" cy="283464"/>
          </a:xfrm>
          <a:prstGeom prst="rect">
            <a:avLst/>
          </a:prstGeom>
          <a:noFill/>
        </p:spPr>
        <p:txBody>
          <a:bodyPr wrap="square" lIns="0" rIns="0" tIns="0" bIns="0" anchor="ctr" rtlCol="0"/>
          <a:lstStyle/>
          <a:p>
            <a:pPr marL="0" indent="0">
              <a:buNone/>
            </a:pPr>
            <a:r>
              <a:rPr sz="900" b="1" lang="en-US" dirty="0">
                <a:solidFill>
                  <a:srgbClr val="1F2E35"/>
                </a:solidFill>
                <a:latin typeface="Yu Gothic" pitchFamily="34" charset="0"/>
                <a:ea typeface="Yu Gothic" pitchFamily="34" charset="-122"/>
                <a:cs typeface="Yu Gothic" pitchFamily="34" charset="-120"/>
              </a:rPr>
              <a:t>共通基盤</a:t>
            </a:r>
          </a:p>
        </p:txBody>
      </p:sp>
      <p:sp>
        <p:nvSpPr>
          <p:cNvPr id="121" name="Oval 120"/>
          <p:cNvSpPr/>
          <p:nvPr/>
        </p:nvSpPr>
        <p:spPr>
          <a:xfrm>
            <a:off x="5917184" y="5783580"/>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7953247" y="5783580"/>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989311" y="5783580"/>
            <a:ext cx="91440" cy="91440"/>
          </a:xfrm>
          <a:prstGeom prst="ellipse">
            <a:avLst/>
          </a:prstGeom>
          <a:solidFill>
            <a:srgbClr val="FFFFFF"/>
          </a:solidFill>
          <a:ln w="12700">
            <a:solidFill>
              <a:srgbClr val="8A9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2011679" y="5724144"/>
            <a:ext cx="54864" cy="210311"/>
          </a:xfrm>
          <a:prstGeom prst="rect">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57200" y="5687568"/>
            <a:ext cx="1463039" cy="283464"/>
          </a:xfrm>
          <a:prstGeom prst="rect">
            <a:avLst/>
          </a:prstGeom>
          <a:noFill/>
        </p:spPr>
        <p:txBody>
          <a:bodyPr wrap="square" lIns="0" rIns="0" tIns="0" bIns="0" anchor="ctr" rtlCol="0"/>
          <a:lstStyle/>
          <a:p>
            <a:pPr marL="0" indent="0" algn="r">
              <a:buNone/>
            </a:pPr>
            <a:r>
              <a:rPr sz="900" b="1" lang="en-US" dirty="0">
                <a:solidFill>
                  <a:srgbClr val="1F2E35"/>
                </a:solidFill>
                <a:latin typeface="Yu Gothic" pitchFamily="34" charset="0"/>
                <a:ea typeface="Yu Gothic" pitchFamily="34" charset="-122"/>
                <a:cs typeface="Yu Gothic" pitchFamily="34" charset="-120"/>
              </a:rPr>
              <a:t>Foundation</a:t>
            </a:r>
          </a:p>
        </p:txBody>
      </p:sp>
      <p:sp>
        <p:nvSpPr>
          <p:cNvPr id="126" name="TextBox 125"/>
          <p:cNvSpPr txBox="1"/>
          <p:nvPr/>
        </p:nvSpPr>
        <p:spPr>
          <a:xfrm>
            <a:off x="4160520" y="2084831"/>
            <a:ext cx="1371600" cy="310896"/>
          </a:xfrm>
          <a:prstGeom prst="rect">
            <a:avLst/>
          </a:prstGeom>
          <a:noFill/>
        </p:spPr>
        <p:txBody>
          <a:bodyPr wrap="square" lIns="0" rIns="0" tIns="0" bIns="0" anchor="t" rtlCol="0"/>
          <a:lstStyle/>
          <a:p>
            <a:pPr marL="0" indent="0" algn="ctr">
              <a:buNone/>
            </a:pPr>
            <a:r>
              <a:rPr sz="850" b="1" lang="en-US" dirty="0">
                <a:solidFill>
                  <a:srgbClr val="1F2E35"/>
                </a:solidFill>
                <a:latin typeface="Yu Gothic" pitchFamily="34" charset="0"/>
                <a:ea typeface="Yu Gothic" pitchFamily="34" charset="-122"/>
                <a:cs typeface="Yu Gothic" pitchFamily="34" charset="-120"/>
              </a:rPr>
              <a:t>複数の領域で使う</a:t>
            </a:r>
          </a:p>
          <a:p>
            <a:pPr marL="0" indent="0" algn="ctr">
              <a:buNone/>
            </a:pPr>
            <a:r>
              <a:rPr sz="850" b="1" lang="en-US" dirty="0">
                <a:solidFill>
                  <a:srgbClr val="1F2E35"/>
                </a:solidFill>
                <a:latin typeface="Yu Gothic" pitchFamily="34" charset="0"/>
                <a:ea typeface="Yu Gothic" pitchFamily="34" charset="-122"/>
                <a:cs typeface="Yu Gothic" pitchFamily="34" charset="-120"/>
              </a:rPr>
              <a:t>アプリケーション</a:t>
            </a:r>
          </a:p>
        </p:txBody>
      </p:sp>
      <p:sp>
        <p:nvSpPr>
          <p:cNvPr id="127" name="Rounded Rectangle 126"/>
          <p:cNvSpPr/>
          <p:nvPr/>
        </p:nvSpPr>
        <p:spPr>
          <a:xfrm>
            <a:off x="4645152" y="2624328"/>
            <a:ext cx="402336" cy="173736"/>
          </a:xfrm>
          <a:prstGeom prst="roundRect">
            <a:avLst>
              <a:gd name="adj" fmla="val 50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4645152" y="2624328"/>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ELN</a:t>
            </a:r>
          </a:p>
        </p:txBody>
      </p:sp>
      <p:sp>
        <p:nvSpPr>
          <p:cNvPr id="130" name="Rounded Rectangle 129"/>
          <p:cNvSpPr/>
          <p:nvPr/>
        </p:nvSpPr>
        <p:spPr>
          <a:xfrm>
            <a:off x="4645152" y="2907792"/>
            <a:ext cx="402336" cy="173736"/>
          </a:xfrm>
          <a:prstGeom prst="roundRect">
            <a:avLst>
              <a:gd name="adj" fmla="val 50000"/>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4645152" y="2907792"/>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LIMS</a:t>
            </a:r>
          </a:p>
        </p:txBody>
      </p:sp>
      <p:sp>
        <p:nvSpPr>
          <p:cNvPr id="133" name="Rounded Rectangle 132"/>
          <p:cNvSpPr/>
          <p:nvPr/>
        </p:nvSpPr>
        <p:spPr>
          <a:xfrm>
            <a:off x="4206240" y="3191256"/>
            <a:ext cx="402336" cy="173736"/>
          </a:xfrm>
          <a:prstGeom prst="roundRect">
            <a:avLst>
              <a:gd name="adj" fmla="val 50000"/>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206240" y="3191256"/>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ELN</a:t>
            </a:r>
          </a:p>
        </p:txBody>
      </p:sp>
      <p:sp>
        <p:nvSpPr>
          <p:cNvPr id="135" name="Rounded Rectangle 134"/>
          <p:cNvSpPr/>
          <p:nvPr/>
        </p:nvSpPr>
        <p:spPr>
          <a:xfrm>
            <a:off x="4645152" y="3191256"/>
            <a:ext cx="402336" cy="173736"/>
          </a:xfrm>
          <a:prstGeom prst="roundRect">
            <a:avLst>
              <a:gd name="adj" fmla="val 50000"/>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645152" y="3191256"/>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MES</a:t>
            </a:r>
          </a:p>
        </p:txBody>
      </p:sp>
      <p:sp>
        <p:nvSpPr>
          <p:cNvPr id="137" name="Rounded Rectangle 136"/>
          <p:cNvSpPr/>
          <p:nvPr/>
        </p:nvSpPr>
        <p:spPr>
          <a:xfrm>
            <a:off x="5084064" y="3191256"/>
            <a:ext cx="402336" cy="173736"/>
          </a:xfrm>
          <a:prstGeom prst="roundRect">
            <a:avLst>
              <a:gd name="adj" fmla="val 50000"/>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084064" y="3191256"/>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LIMS</a:t>
            </a:r>
          </a:p>
        </p:txBody>
      </p:sp>
      <p:sp>
        <p:nvSpPr>
          <p:cNvPr id="142" name="Rounded Rectangle 141"/>
          <p:cNvSpPr/>
          <p:nvPr/>
        </p:nvSpPr>
        <p:spPr>
          <a:xfrm>
            <a:off x="4645152" y="3474720"/>
            <a:ext cx="402336" cy="173736"/>
          </a:xfrm>
          <a:prstGeom prst="roundRect">
            <a:avLst>
              <a:gd name="adj" fmla="val 50000"/>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4645152" y="3474720"/>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eDMS</a:t>
            </a:r>
          </a:p>
        </p:txBody>
      </p:sp>
      <p:sp>
        <p:nvSpPr>
          <p:cNvPr id="145" name="Rounded Rectangle 144"/>
          <p:cNvSpPr/>
          <p:nvPr/>
        </p:nvSpPr>
        <p:spPr>
          <a:xfrm>
            <a:off x="4645152" y="3758183"/>
            <a:ext cx="402336" cy="173736"/>
          </a:xfrm>
          <a:prstGeom prst="roundRect">
            <a:avLst>
              <a:gd name="adj" fmla="val 50000"/>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4645152" y="3758183"/>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eDMS</a:t>
            </a:r>
          </a:p>
        </p:txBody>
      </p:sp>
      <p:sp>
        <p:nvSpPr>
          <p:cNvPr id="148" name="Rounded Rectangle 147"/>
          <p:cNvSpPr/>
          <p:nvPr/>
        </p:nvSpPr>
        <p:spPr>
          <a:xfrm>
            <a:off x="4425696" y="4041647"/>
            <a:ext cx="402336" cy="173736"/>
          </a:xfrm>
          <a:prstGeom prst="roundRect">
            <a:avLst>
              <a:gd name="adj" fmla="val 50000"/>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425696" y="4041647"/>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eQMS</a:t>
            </a:r>
          </a:p>
        </p:txBody>
      </p:sp>
      <p:sp>
        <p:nvSpPr>
          <p:cNvPr id="150" name="Rounded Rectangle 149"/>
          <p:cNvSpPr/>
          <p:nvPr/>
        </p:nvSpPr>
        <p:spPr>
          <a:xfrm>
            <a:off x="4864608" y="4041647"/>
            <a:ext cx="402336" cy="173736"/>
          </a:xfrm>
          <a:prstGeom prst="roundRect">
            <a:avLst>
              <a:gd name="adj" fmla="val 50000"/>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864608" y="4041647"/>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LIMS</a:t>
            </a:r>
          </a:p>
        </p:txBody>
      </p:sp>
      <p:sp>
        <p:nvSpPr>
          <p:cNvPr id="154" name="Rounded Rectangle 153"/>
          <p:cNvSpPr/>
          <p:nvPr/>
        </p:nvSpPr>
        <p:spPr>
          <a:xfrm>
            <a:off x="4425696" y="4608575"/>
            <a:ext cx="402336" cy="173736"/>
          </a:xfrm>
          <a:prstGeom prst="roundRect">
            <a:avLst>
              <a:gd name="adj" fmla="val 50000"/>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425696" y="4608575"/>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MES</a:t>
            </a:r>
          </a:p>
        </p:txBody>
      </p:sp>
      <p:sp>
        <p:nvSpPr>
          <p:cNvPr id="156" name="Rounded Rectangle 155"/>
          <p:cNvSpPr/>
          <p:nvPr/>
        </p:nvSpPr>
        <p:spPr>
          <a:xfrm>
            <a:off x="4864608" y="4608575"/>
            <a:ext cx="402336" cy="173736"/>
          </a:xfrm>
          <a:prstGeom prst="roundRect">
            <a:avLst>
              <a:gd name="adj" fmla="val 50000"/>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4864608" y="4608575"/>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ERP</a:t>
            </a:r>
          </a:p>
        </p:txBody>
      </p:sp>
      <p:sp>
        <p:nvSpPr>
          <p:cNvPr id="160" name="Rounded Rectangle 159"/>
          <p:cNvSpPr/>
          <p:nvPr/>
        </p:nvSpPr>
        <p:spPr>
          <a:xfrm>
            <a:off x="4425696" y="4892039"/>
            <a:ext cx="402336" cy="173736"/>
          </a:xfrm>
          <a:prstGeom prst="roundRect">
            <a:avLst>
              <a:gd name="adj" fmla="val 50000"/>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425696" y="4892039"/>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eQMS</a:t>
            </a:r>
          </a:p>
        </p:txBody>
      </p:sp>
      <p:sp>
        <p:nvSpPr>
          <p:cNvPr id="162" name="Rounded Rectangle 161"/>
          <p:cNvSpPr/>
          <p:nvPr/>
        </p:nvSpPr>
        <p:spPr>
          <a:xfrm>
            <a:off x="4864608" y="4892039"/>
            <a:ext cx="402336" cy="173736"/>
          </a:xfrm>
          <a:prstGeom prst="roundRect">
            <a:avLst>
              <a:gd name="adj" fmla="val 50000"/>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864608" y="4892039"/>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ERP</a:t>
            </a:r>
          </a:p>
        </p:txBody>
      </p:sp>
      <p:sp>
        <p:nvSpPr>
          <p:cNvPr id="166" name="Rounded Rectangle 165"/>
          <p:cNvSpPr/>
          <p:nvPr/>
        </p:nvSpPr>
        <p:spPr>
          <a:xfrm>
            <a:off x="4645152" y="5175503"/>
            <a:ext cx="402336" cy="173736"/>
          </a:xfrm>
          <a:prstGeom prst="roundRect">
            <a:avLst>
              <a:gd name="adj" fmla="val 50000"/>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4645152" y="5175503"/>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CRM</a:t>
            </a:r>
          </a:p>
        </p:txBody>
      </p:sp>
      <p:sp>
        <p:nvSpPr>
          <p:cNvPr id="169" name="Rounded Rectangle 168"/>
          <p:cNvSpPr/>
          <p:nvPr/>
        </p:nvSpPr>
        <p:spPr>
          <a:xfrm>
            <a:off x="4645152" y="5458967"/>
            <a:ext cx="402336" cy="173736"/>
          </a:xfrm>
          <a:prstGeom prst="roundRect">
            <a:avLst>
              <a:gd name="adj" fmla="val 50000"/>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645152" y="5458967"/>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CRM</a:t>
            </a:r>
          </a:p>
        </p:txBody>
      </p:sp>
      <p:sp>
        <p:nvSpPr>
          <p:cNvPr id="172" name="Rounded Rectangle 171"/>
          <p:cNvSpPr/>
          <p:nvPr/>
        </p:nvSpPr>
        <p:spPr>
          <a:xfrm>
            <a:off x="4645152" y="5742431"/>
            <a:ext cx="402336" cy="173736"/>
          </a:xfrm>
          <a:prstGeom prst="roundRect">
            <a:avLst>
              <a:gd name="adj" fmla="val 50000"/>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645152" y="5742431"/>
            <a:ext cx="402336" cy="173736"/>
          </a:xfrm>
          <a:prstGeom prst="rect">
            <a:avLst/>
          </a:prstGeom>
          <a:noFill/>
        </p:spPr>
        <p:txBody>
          <a:bodyPr wrap="square" lIns="0" rIns="0" tIns="0" bIns="0" anchor="ctr" rtlCol="0"/>
          <a:lstStyle/>
          <a:p>
            <a:pPr marL="0" indent="0" algn="ctr">
              <a:buNone/>
            </a:pPr>
            <a:r>
              <a:rPr sz="700" b="1" lang="en-US" dirty="0">
                <a:solidFill>
                  <a:srgbClr val="FFFFFF"/>
                </a:solidFill>
                <a:latin typeface="Yu Gothic" pitchFamily="34" charset="0"/>
                <a:ea typeface="Yu Gothic" pitchFamily="34" charset="-122"/>
                <a:cs typeface="Yu Gothic" pitchFamily="34" charset="-120"/>
              </a:rPr>
              <a:t>eDMS</a:t>
            </a:r>
          </a:p>
        </p:txBody>
      </p:sp>
      <p:cxnSp>
        <p:nvCxnSpPr>
          <p:cNvPr id="174" name="Connector 173"/>
          <p:cNvCxnSpPr/>
          <p:nvPr/>
        </p:nvCxnSpPr>
        <p:spPr>
          <a:xfrm>
            <a:off x="6302248"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6980936"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7659624"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8338312"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9017000" y="2286000"/>
            <a:ext cx="0" cy="3685031"/>
          </a:xfrm>
          <a:prstGeom prst="line">
            <a:avLst/>
          </a:prstGeom>
          <a:ln w="12700">
            <a:solidFill>
              <a:srgbClr val="1F2E35"/>
            </a:solidFill>
            <a:prstDash val="lgDash"/>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9695688"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10374376"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11053064" y="2286000"/>
            <a:ext cx="0" cy="3685031"/>
          </a:xfrm>
          <a:prstGeom prst="line">
            <a:avLst/>
          </a:prstGeom>
          <a:ln w="6350">
            <a:solidFill>
              <a:srgbClr val="DDE3E4"/>
            </a:solidFill>
          </a:ln>
        </p:spPr>
        <p:style>
          <a:lnRef idx="2">
            <a:schemeClr val="accent1"/>
          </a:lnRef>
          <a:fillRef idx="0">
            <a:schemeClr val="accent1"/>
          </a:fillRef>
          <a:effectRef idx="1">
            <a:schemeClr val="accent1"/>
          </a:effectRef>
          <a:fontRef idx="minor">
            <a:schemeClr val="tx1"/>
          </a:fontRef>
        </p:style>
      </p:cxnSp>
      <p:sp>
        <p:nvSpPr>
          <p:cNvPr id="182" name="TextBox 181"/>
          <p:cNvSpPr txBox="1"/>
          <p:nvPr/>
        </p:nvSpPr>
        <p:spPr>
          <a:xfrm>
            <a:off x="457200" y="6025895"/>
            <a:ext cx="2194560" cy="274320"/>
          </a:xfrm>
          <a:prstGeom prst="rect">
            <a:avLst/>
          </a:prstGeom>
          <a:noFill/>
        </p:spPr>
        <p:txBody>
          <a:bodyPr wrap="square" lIns="0" rIns="0" tIns="0" bIns="0" anchor="ctr" rtlCol="0"/>
          <a:lstStyle/>
          <a:p>
            <a:pPr marL="0" indent="0">
              <a:buNone/>
            </a:pPr>
            <a:r>
              <a:rPr sz="850" b="1" lang="en-US" dirty="0">
                <a:solidFill>
                  <a:srgbClr val="5B6B70"/>
                </a:solidFill>
                <a:latin typeface="Yu Gothic" pitchFamily="34" charset="0"/>
                <a:ea typeface="Yu Gothic" pitchFamily="34" charset="-122"/>
                <a:cs typeface="Yu Gothic" pitchFamily="34" charset="-120"/>
              </a:rPr>
              <a:t>円の大きさ＝「主」の関係の件数</a:t>
            </a:r>
          </a:p>
        </p:txBody>
      </p:sp>
      <p:sp>
        <p:nvSpPr>
          <p:cNvPr id="183" name="Oval 182"/>
          <p:cNvSpPr/>
          <p:nvPr/>
        </p:nvSpPr>
        <p:spPr>
          <a:xfrm>
            <a:off x="2651760" y="6101888"/>
            <a:ext cx="122335" cy="122335"/>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2819815"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1</a:t>
            </a:r>
          </a:p>
        </p:txBody>
      </p:sp>
      <p:sp>
        <p:nvSpPr>
          <p:cNvPr id="185" name="Oval 184"/>
          <p:cNvSpPr/>
          <p:nvPr/>
        </p:nvSpPr>
        <p:spPr>
          <a:xfrm>
            <a:off x="3231295" y="6077142"/>
            <a:ext cx="171827" cy="171827"/>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3448843"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5</a:t>
            </a:r>
          </a:p>
        </p:txBody>
      </p:sp>
      <p:sp>
        <p:nvSpPr>
          <p:cNvPr id="187" name="Oval 186"/>
          <p:cNvSpPr/>
          <p:nvPr/>
        </p:nvSpPr>
        <p:spPr>
          <a:xfrm>
            <a:off x="3860323" y="6058599"/>
            <a:ext cx="208912" cy="208912"/>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4114956"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10</a:t>
            </a:r>
          </a:p>
        </p:txBody>
      </p:sp>
      <p:sp>
        <p:nvSpPr>
          <p:cNvPr id="189" name="Oval 188"/>
          <p:cNvSpPr/>
          <p:nvPr/>
        </p:nvSpPr>
        <p:spPr>
          <a:xfrm>
            <a:off x="4526436" y="6032376"/>
            <a:ext cx="261359" cy="261359"/>
          </a:xfrm>
          <a:prstGeom prst="ellipse">
            <a:avLst/>
          </a:prstGeom>
          <a:solidFill>
            <a:srgbClr val="5B6B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4833515" y="6025895"/>
            <a:ext cx="36576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20</a:t>
            </a:r>
          </a:p>
        </p:txBody>
      </p:sp>
      <p:sp>
        <p:nvSpPr>
          <p:cNvPr id="191" name="Rounded Rectangle 190"/>
          <p:cNvSpPr/>
          <p:nvPr/>
        </p:nvSpPr>
        <p:spPr>
          <a:xfrm>
            <a:off x="5336435" y="6089903"/>
            <a:ext cx="457200" cy="146304"/>
          </a:xfrm>
          <a:prstGeom prst="roundRect">
            <a:avLst>
              <a:gd name="adj" fmla="val 50000"/>
            </a:avLst>
          </a:prstGeom>
          <a:solidFill>
            <a:srgbClr val="5B6B70">
              <a:alpha val="22000"/>
            </a:srgbClr>
          </a:solidFill>
          <a:ln w="12700">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5866787" y="6025895"/>
            <a:ext cx="5029200" cy="274320"/>
          </a:xfrm>
          <a:prstGeom prst="rect">
            <a:avLst/>
          </a:prstGeom>
          <a:noFill/>
        </p:spPr>
        <p:txBody>
          <a:bodyPr wrap="square" lIns="0" rIns="0" tIns="0" bIns="0" anchor="ctr" rtlCol="0"/>
          <a:lstStyle/>
          <a:p>
            <a:pPr marL="0" indent="0">
              <a:buNone/>
            </a:pPr>
            <a:r>
              <a:rPr sz="850" b="0" lang="en-US" dirty="0">
                <a:solidFill>
                  <a:srgbClr val="5B6B70"/>
                </a:solidFill>
                <a:latin typeface="Yu Gothic" pitchFamily="34" charset="0"/>
                <a:ea typeface="Yu Gothic" pitchFamily="34" charset="-122"/>
                <a:cs typeface="Yu Gothic" pitchFamily="34" charset="-120"/>
              </a:rPr>
              <a:t>色の枠＝その領域で、そのアプリケーションが支える能力が「主」として使われる段階の範囲</a:t>
            </a:r>
          </a:p>
        </p:txBody>
      </p:sp>
      <p:sp>
        <p:nvSpPr>
          <p:cNvPr id="193" name="TextBox 192"/>
          <p:cNvSpPr txBox="1"/>
          <p:nvPr/>
        </p:nvSpPr>
        <p:spPr>
          <a:xfrm>
            <a:off x="457200" y="6336791"/>
            <a:ext cx="11274552" cy="365760"/>
          </a:xfrm>
          <a:prstGeom prst="rect">
            <a:avLst/>
          </a:prstGeom>
          <a:noFill/>
        </p:spPr>
        <p:txBody>
          <a:bodyPr wrap="square" lIns="0" rIns="0" tIns="0" bIns="0" anchor="t" rtlCol="0"/>
          <a:lstStyle/>
          <a:p>
            <a:pPr marL="0" indent="0">
              <a:buNone/>
            </a:pPr>
            <a:r>
              <a:rPr sz="800" b="0" lang="en-US" dirty="0">
                <a:solidFill>
                  <a:srgbClr val="5B6B70"/>
                </a:solidFill>
                <a:latin typeface="Yu Gothic" pitchFamily="34" charset="0"/>
                <a:ea typeface="Yu Gothic" pitchFamily="34" charset="-122"/>
                <a:cs typeface="Yu Gothic" pitchFamily="34" charset="-120"/>
              </a:rPr>
              <a:t>アプリケーションは「ケイパビリティ×アプリケーション」シートの●（主に支える）、段階は「VS×ケイパビリティ関係」シートの「主」の関係から求めた。範囲は最初と最後の段階を結んだもので、間の段階で使わない場合も含む。共通基盤のeDMSは、特定の段階に「主」の関係を付けていないため枠が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144000" cy="548640"/>
          </a:xfrm>
          <a:prstGeom prst="rect">
            <a:avLst/>
          </a:prstGeom>
          <a:noFill/>
        </p:spPr>
        <p:txBody>
          <a:bodyPr wrap="square" anchor="t" lIns="0" rIns="0" tIns="0" bIns="0">
            <a:spAutoFit/>
          </a:bodyPr>
          <a:lstStyle/>
          <a:p>
            <a:pPr algn="l"/>
            <a:r>
              <a:rPr sz="2800" b="1">
                <a:solidFill>
                  <a:srgbClr val="1F2E35"/>
                </a:solidFill>
                <a:latin typeface="Yu Gothic"/>
                <a:ea typeface="Yu Gothic"/>
              </a:rPr>
              <a:t>データマップ全体像（1/2）</a:t>
            </a:r>
          </a:p>
        </p:txBody>
      </p:sp>
      <p:sp>
        <p:nvSpPr>
          <p:cNvPr id="3" name="TextBox 2"/>
          <p:cNvSpPr txBox="1"/>
          <p:nvPr/>
        </p:nvSpPr>
        <p:spPr>
          <a:xfrm>
            <a:off x="457200" y="841248"/>
            <a:ext cx="7040880" cy="320040"/>
          </a:xfrm>
          <a:prstGeom prst="rect">
            <a:avLst/>
          </a:prstGeom>
          <a:noFill/>
        </p:spPr>
        <p:txBody>
          <a:bodyPr wrap="square" anchor="t" lIns="0" rIns="0" tIns="0" bIns="0">
            <a:spAutoFit/>
          </a:bodyPr>
          <a:lstStyle/>
          <a:p>
            <a:pPr algn="l"/>
            <a:r>
              <a:rPr sz="1300" b="0">
                <a:solidFill>
                  <a:srgbClr val="5B6B70"/>
                </a:solidFill>
                <a:latin typeface="Yu Gothic"/>
                <a:ea typeface="Yu Gothic"/>
              </a:rPr>
              <a:t>オーナーの領域（ケイパビリティL1）ごとの情報オブジェクト（96件中49件）</a:t>
            </a:r>
          </a:p>
        </p:txBody>
      </p:sp>
      <p:sp>
        <p:nvSpPr>
          <p:cNvPr id="4" name="Rectangle 3"/>
          <p:cNvSpPr/>
          <p:nvPr/>
        </p:nvSpPr>
        <p:spPr>
          <a:xfrm>
            <a:off x="10561320" y="384048"/>
            <a:ext cx="754380" cy="85587"/>
          </a:xfrm>
          <a:prstGeom prst="rect">
            <a:avLst/>
          </a:prstGeom>
          <a:solidFill>
            <a:srgbClr val="1F2E3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38560" y="384048"/>
            <a:ext cx="365760" cy="613379"/>
          </a:xfrm>
          <a:prstGeom prst="rect">
            <a:avLst/>
          </a:prstGeom>
          <a:solidFill>
            <a:srgbClr val="2A78D6"/>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61320" y="491032"/>
            <a:ext cx="228600" cy="506394"/>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812780" y="491032"/>
            <a:ext cx="228600" cy="506394"/>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064240" y="491032"/>
            <a:ext cx="228600" cy="506394"/>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61320" y="1011692"/>
            <a:ext cx="1143000" cy="85587"/>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61320" y="1115568"/>
            <a:ext cx="1143000" cy="201168"/>
          </a:xfrm>
          <a:prstGeom prst="rect">
            <a:avLst/>
          </a:prstGeom>
          <a:noFill/>
        </p:spPr>
        <p:txBody>
          <a:bodyPr wrap="square" lIns="0" rIns="0" tIns="0" bIns="0" anchor="ctr" rtlCol="0"/>
          <a:lstStyle/>
          <a:p>
            <a:pPr marL="0" indent="0" algn="ctr">
              <a:buNone/>
            </a:pPr>
            <a:r>
              <a:rPr sz="900" b="1" lang="en-US" dirty="0">
                <a:solidFill>
                  <a:srgbClr val="5B6B70"/>
                </a:solidFill>
                <a:latin typeface="Yu Gothic" pitchFamily="34" charset="0"/>
                <a:ea typeface="Yu Gothic" pitchFamily="34" charset="-122"/>
                <a:cs typeface="Yu Gothic" pitchFamily="34" charset="-120"/>
              </a:rPr>
              <a:t>1 / 2</a:t>
            </a:r>
          </a:p>
        </p:txBody>
      </p:sp>
      <p:sp>
        <p:nvSpPr>
          <p:cNvPr id="11" name="Rectangle 10"/>
          <p:cNvSpPr/>
          <p:nvPr/>
        </p:nvSpPr>
        <p:spPr>
          <a:xfrm>
            <a:off x="7269480" y="384048"/>
            <a:ext cx="384048" cy="155448"/>
          </a:xfrm>
          <a:prstGeom prst="rect">
            <a:avLst/>
          </a:prstGeom>
          <a:solidFill>
            <a:srgbClr val="FF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347472"/>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データ（マスタ・トランザクション・測定データ）</a:t>
            </a:r>
          </a:p>
        </p:txBody>
      </p:sp>
      <p:sp>
        <p:nvSpPr>
          <p:cNvPr id="13" name="Rounded Rectangle 12"/>
          <p:cNvSpPr/>
          <p:nvPr/>
        </p:nvSpPr>
        <p:spPr>
          <a:xfrm>
            <a:off x="7269480" y="585216"/>
            <a:ext cx="384048" cy="155448"/>
          </a:xfrm>
          <a:prstGeom prst="roundRect">
            <a:avLst>
              <a:gd name="adj" fmla="val 50000"/>
            </a:avLst>
          </a:prstGeom>
          <a:solidFill>
            <a:srgbClr val="FF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548640"/>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文書・記録（定義・仕様、分析・評価、文書）</a:t>
            </a:r>
          </a:p>
        </p:txBody>
      </p:sp>
      <p:sp>
        <p:nvSpPr>
          <p:cNvPr id="15" name="Rounded Rectangle 14"/>
          <p:cNvSpPr/>
          <p:nvPr/>
        </p:nvSpPr>
        <p:spPr>
          <a:xfrm>
            <a:off x="7269480" y="786384"/>
            <a:ext cx="384048" cy="155448"/>
          </a:xfrm>
          <a:prstGeom prst="roundRect">
            <a:avLst>
              <a:gd name="adj" fmla="val 50000"/>
            </a:avLst>
          </a:prstGeom>
          <a:solidFill>
            <a:srgbClr val="E4EAEC"/>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749808"/>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2つのアプリで作成・更新（C）</a:t>
            </a:r>
          </a:p>
        </p:txBody>
      </p:sp>
      <p:sp>
        <p:nvSpPr>
          <p:cNvPr id="17" name="Rounded Rectangle 16"/>
          <p:cNvSpPr/>
          <p:nvPr/>
        </p:nvSpPr>
        <p:spPr>
          <a:xfrm>
            <a:off x="7269480" y="987552"/>
            <a:ext cx="384048" cy="155448"/>
          </a:xfrm>
          <a:prstGeom prst="roundRect">
            <a:avLst>
              <a:gd name="adj" fmla="val 50000"/>
            </a:avLst>
          </a:prstGeom>
          <a:solidFill>
            <a:srgbClr val="00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950976"/>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3つ以上のアプリで作成・更新（C）。数字＝アプリ数</a:t>
            </a:r>
          </a:p>
        </p:txBody>
      </p:sp>
      <p:sp>
        <p:nvSpPr>
          <p:cNvPr id="19" name="Rounded Rectangle 18"/>
          <p:cNvSpPr/>
          <p:nvPr/>
        </p:nvSpPr>
        <p:spPr>
          <a:xfrm>
            <a:off x="457200" y="1325880"/>
            <a:ext cx="11274552" cy="530352"/>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362456"/>
            <a:ext cx="11274552"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戦略・ガバナンス（Strategy &amp; Governance）</a:t>
            </a:r>
          </a:p>
        </p:txBody>
      </p:sp>
      <p:sp>
        <p:nvSpPr>
          <p:cNvPr id="21" name="Rectangle 20"/>
          <p:cNvSpPr/>
          <p:nvPr/>
        </p:nvSpPr>
        <p:spPr>
          <a:xfrm>
            <a:off x="640080" y="1600199"/>
            <a:ext cx="1726692" cy="182880"/>
          </a:xfrm>
          <a:prstGeom prst="rect">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 y="1600199"/>
            <a:ext cx="1616964"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開発判定記録（5）</a:t>
            </a:r>
          </a:p>
        </p:txBody>
      </p:sp>
      <p:sp>
        <p:nvSpPr>
          <p:cNvPr id="23" name="Rectangle 22"/>
          <p:cNvSpPr/>
          <p:nvPr/>
        </p:nvSpPr>
        <p:spPr>
          <a:xfrm>
            <a:off x="2476499" y="1600199"/>
            <a:ext cx="1726692" cy="182880"/>
          </a:xfrm>
          <a:prstGeom prst="rect">
            <a:avLst/>
          </a:prstGeom>
          <a:solidFill>
            <a:srgbClr val="FF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31364" y="1600199"/>
            <a:ext cx="1616964"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特許・独占期間</a:t>
            </a:r>
          </a:p>
        </p:txBody>
      </p:sp>
      <p:sp>
        <p:nvSpPr>
          <p:cNvPr id="25" name="Rectangle 24"/>
          <p:cNvSpPr/>
          <p:nvPr/>
        </p:nvSpPr>
        <p:spPr>
          <a:xfrm>
            <a:off x="4312920" y="1600199"/>
            <a:ext cx="1726692" cy="182880"/>
          </a:xfrm>
          <a:prstGeom prst="rect">
            <a:avLst/>
          </a:prstGeom>
          <a:solidFill>
            <a:srgbClr val="E4EAEC"/>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7784" y="1600199"/>
            <a:ext cx="1616964"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取引先・施設マスタ（2）</a:t>
            </a:r>
          </a:p>
        </p:txBody>
      </p:sp>
      <p:sp>
        <p:nvSpPr>
          <p:cNvPr id="27" name="Rectangle 26"/>
          <p:cNvSpPr/>
          <p:nvPr/>
        </p:nvSpPr>
        <p:spPr>
          <a:xfrm>
            <a:off x="6149340" y="1600199"/>
            <a:ext cx="1726692" cy="182880"/>
          </a:xfrm>
          <a:prstGeom prst="rect">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04204" y="1600199"/>
            <a:ext cx="1616964"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契約（5）</a:t>
            </a:r>
          </a:p>
        </p:txBody>
      </p:sp>
      <p:sp>
        <p:nvSpPr>
          <p:cNvPr id="29" name="Rectangle 28"/>
          <p:cNvSpPr/>
          <p:nvPr/>
        </p:nvSpPr>
        <p:spPr>
          <a:xfrm>
            <a:off x="7985759" y="1600199"/>
            <a:ext cx="1726692" cy="182880"/>
          </a:xfrm>
          <a:prstGeom prst="rect">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0624" y="1600199"/>
            <a:ext cx="1616964"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適応症（5）</a:t>
            </a:r>
          </a:p>
        </p:txBody>
      </p:sp>
      <p:sp>
        <p:nvSpPr>
          <p:cNvPr id="31" name="Rounded Rectangle 30"/>
          <p:cNvSpPr/>
          <p:nvPr/>
        </p:nvSpPr>
        <p:spPr>
          <a:xfrm>
            <a:off x="9822179" y="1600199"/>
            <a:ext cx="1726692" cy="182880"/>
          </a:xfrm>
          <a:prstGeom prst="roundRect">
            <a:avLst>
              <a:gd name="adj" fmla="val 50000"/>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77044" y="1600199"/>
            <a:ext cx="1616964" cy="182880"/>
          </a:xfrm>
          <a:prstGeom prst="rect">
            <a:avLst/>
          </a:prstGeom>
          <a:noFill/>
        </p:spPr>
        <p:txBody>
          <a:bodyPr wrap="square" lIns="0" rIns="0" tIns="0" bIns="0" anchor="ctr" rtlCol="0"/>
          <a:lstStyle/>
          <a:p>
            <a:pPr marL="0" indent="0" algn="ctr">
              <a:buNone/>
            </a:pPr>
            <a:r>
              <a:rPr sz="650" b="1" lang="en-US" dirty="0">
                <a:solidFill>
                  <a:srgbClr val="000000"/>
                </a:solidFill>
                <a:latin typeface="Yu Gothic" pitchFamily="34" charset="0"/>
                <a:ea typeface="Yu Gothic" pitchFamily="34" charset="-122"/>
                <a:cs typeface="Yu Gothic" pitchFamily="34" charset="-120"/>
              </a:rPr>
              <a:t>目標製品プロファイル（TPP）（3）</a:t>
            </a:r>
          </a:p>
        </p:txBody>
      </p:sp>
      <p:sp>
        <p:nvSpPr>
          <p:cNvPr id="33" name="Rounded Rectangle 32"/>
          <p:cNvSpPr/>
          <p:nvPr/>
        </p:nvSpPr>
        <p:spPr>
          <a:xfrm>
            <a:off x="457200" y="1984248"/>
            <a:ext cx="11274552" cy="4526280"/>
          </a:xfrm>
          <a:prstGeom prst="roundRect">
            <a:avLst>
              <a:gd name="adj" fmla="val 2000"/>
            </a:avLst>
          </a:prstGeom>
          <a:solidFill>
            <a:srgbClr val="E8F1FB"/>
          </a:solidFill>
          <a:ln w="190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2039112"/>
            <a:ext cx="11274552" cy="274320"/>
          </a:xfrm>
          <a:prstGeom prst="rect">
            <a:avLst/>
          </a:prstGeom>
          <a:noFill/>
        </p:spPr>
        <p:txBody>
          <a:bodyPr wrap="square" lIns="0" rIns="0" tIns="0" bIns="0" anchor="ctr" rtlCol="0"/>
          <a:lstStyle/>
          <a:p>
            <a:pPr marL="0" indent="0" algn="ctr">
              <a:buNone/>
            </a:pPr>
            <a:r>
              <a:rPr sz="1250" b="1" lang="en-US" dirty="0">
                <a:solidFill>
                  <a:srgbClr val="2A78D6"/>
                </a:solidFill>
                <a:latin typeface="Yu Gothic" pitchFamily="34" charset="0"/>
                <a:ea typeface="Yu Gothic" pitchFamily="34" charset="-122"/>
                <a:cs typeface="Yu Gothic" pitchFamily="34" charset="-120"/>
              </a:rPr>
              <a:t>R&amp;D Engine</a:t>
            </a:r>
          </a:p>
        </p:txBody>
      </p:sp>
      <p:sp>
        <p:nvSpPr>
          <p:cNvPr id="35" name="Rounded Rectangle 34"/>
          <p:cNvSpPr/>
          <p:nvPr/>
        </p:nvSpPr>
        <p:spPr>
          <a:xfrm>
            <a:off x="530352" y="2368296"/>
            <a:ext cx="2331720" cy="4069080"/>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0352" y="2478024"/>
            <a:ext cx="23317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研究（創薬）</a:t>
            </a:r>
          </a:p>
        </p:txBody>
      </p:sp>
      <p:sp>
        <p:nvSpPr>
          <p:cNvPr id="37" name="Rectangle 36"/>
          <p:cNvSpPr/>
          <p:nvPr/>
        </p:nvSpPr>
        <p:spPr>
          <a:xfrm>
            <a:off x="621792" y="2770632"/>
            <a:ext cx="2148839"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6656" y="2770632"/>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遺伝子・オミクスデータ（2）</a:t>
            </a:r>
          </a:p>
        </p:txBody>
      </p:sp>
      <p:sp>
        <p:nvSpPr>
          <p:cNvPr id="39" name="Rectangle 38"/>
          <p:cNvSpPr/>
          <p:nvPr/>
        </p:nvSpPr>
        <p:spPr>
          <a:xfrm>
            <a:off x="621792" y="2985515"/>
            <a:ext cx="2148839"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6656" y="2985515"/>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標的（2）</a:t>
            </a:r>
          </a:p>
        </p:txBody>
      </p:sp>
      <p:sp>
        <p:nvSpPr>
          <p:cNvPr id="41" name="Rectangle 40"/>
          <p:cNvSpPr/>
          <p:nvPr/>
        </p:nvSpPr>
        <p:spPr>
          <a:xfrm>
            <a:off x="621792" y="3200399"/>
            <a:ext cx="2148839"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200399"/>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抗原・試薬（2）</a:t>
            </a:r>
          </a:p>
        </p:txBody>
      </p:sp>
      <p:sp>
        <p:nvSpPr>
          <p:cNvPr id="43" name="Rounded Rectangle 42"/>
          <p:cNvSpPr/>
          <p:nvPr/>
        </p:nvSpPr>
        <p:spPr>
          <a:xfrm>
            <a:off x="621792" y="3415283"/>
            <a:ext cx="2148839"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415283"/>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アッセイ（評価系）（2）</a:t>
            </a:r>
          </a:p>
        </p:txBody>
      </p:sp>
      <p:sp>
        <p:nvSpPr>
          <p:cNvPr id="45" name="Rectangle 44"/>
          <p:cNvSpPr/>
          <p:nvPr/>
        </p:nvSpPr>
        <p:spPr>
          <a:xfrm>
            <a:off x="621792" y="3630167"/>
            <a:ext cx="2148839"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6656" y="3630167"/>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抗体分子（2）</a:t>
            </a:r>
          </a:p>
        </p:txBody>
      </p:sp>
      <p:sp>
        <p:nvSpPr>
          <p:cNvPr id="47" name="Rectangle 46"/>
          <p:cNvSpPr/>
          <p:nvPr/>
        </p:nvSpPr>
        <p:spPr>
          <a:xfrm>
            <a:off x="621792" y="3845051"/>
            <a:ext cx="2148839" cy="182880"/>
          </a:xfrm>
          <a:prstGeom prst="rect">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76656" y="3845051"/>
            <a:ext cx="2039111"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研究実験データ（3）</a:t>
            </a:r>
          </a:p>
        </p:txBody>
      </p:sp>
      <p:sp>
        <p:nvSpPr>
          <p:cNvPr id="49" name="Rectangle 48"/>
          <p:cNvSpPr/>
          <p:nvPr/>
        </p:nvSpPr>
        <p:spPr>
          <a:xfrm>
            <a:off x="621792" y="4059935"/>
            <a:ext cx="2148839"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6656" y="4059935"/>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疾患モデル</a:t>
            </a:r>
          </a:p>
        </p:txBody>
      </p:sp>
      <p:sp>
        <p:nvSpPr>
          <p:cNvPr id="51" name="Rectangle 50"/>
          <p:cNvSpPr/>
          <p:nvPr/>
        </p:nvSpPr>
        <p:spPr>
          <a:xfrm>
            <a:off x="621792" y="4274820"/>
            <a:ext cx="2148839"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6656" y="4274820"/>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in vivo薬効データ</a:t>
            </a:r>
          </a:p>
        </p:txBody>
      </p:sp>
      <p:sp>
        <p:nvSpPr>
          <p:cNvPr id="53" name="Rounded Rectangle 52"/>
          <p:cNvSpPr/>
          <p:nvPr/>
        </p:nvSpPr>
        <p:spPr>
          <a:xfrm>
            <a:off x="621792" y="4489704"/>
            <a:ext cx="2148839"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4489704"/>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免疫原性リスク評価（2）</a:t>
            </a:r>
          </a:p>
        </p:txBody>
      </p:sp>
      <p:sp>
        <p:nvSpPr>
          <p:cNvPr id="55" name="Rounded Rectangle 54"/>
          <p:cNvSpPr/>
          <p:nvPr/>
        </p:nvSpPr>
        <p:spPr>
          <a:xfrm>
            <a:off x="2935224" y="2368296"/>
            <a:ext cx="2331720" cy="4069080"/>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35224" y="2478024"/>
            <a:ext cx="23317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非臨床・臨床薬理</a:t>
            </a:r>
          </a:p>
        </p:txBody>
      </p:sp>
      <p:sp>
        <p:nvSpPr>
          <p:cNvPr id="57" name="Rounded Rectangle 56"/>
          <p:cNvSpPr/>
          <p:nvPr/>
        </p:nvSpPr>
        <p:spPr>
          <a:xfrm>
            <a:off x="3026664" y="2770632"/>
            <a:ext cx="2148839"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81528" y="2770632"/>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非臨床試験計画</a:t>
            </a:r>
          </a:p>
        </p:txBody>
      </p:sp>
      <p:sp>
        <p:nvSpPr>
          <p:cNvPr id="59" name="Rectangle 58"/>
          <p:cNvSpPr/>
          <p:nvPr/>
        </p:nvSpPr>
        <p:spPr>
          <a:xfrm>
            <a:off x="3026664" y="2985515"/>
            <a:ext cx="2148839"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081528" y="2985515"/>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非臨床試験データ（2）</a:t>
            </a:r>
          </a:p>
        </p:txBody>
      </p:sp>
      <p:sp>
        <p:nvSpPr>
          <p:cNvPr id="61" name="Rounded Rectangle 60"/>
          <p:cNvSpPr/>
          <p:nvPr/>
        </p:nvSpPr>
        <p:spPr>
          <a:xfrm>
            <a:off x="3026664" y="3200399"/>
            <a:ext cx="2148839"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081528" y="3200399"/>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非臨床試験報告書</a:t>
            </a:r>
          </a:p>
        </p:txBody>
      </p:sp>
      <p:sp>
        <p:nvSpPr>
          <p:cNvPr id="63" name="Rounded Rectangle 62"/>
          <p:cNvSpPr/>
          <p:nvPr/>
        </p:nvSpPr>
        <p:spPr>
          <a:xfrm>
            <a:off x="3026664" y="3415283"/>
            <a:ext cx="2148839"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81528" y="3415283"/>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生体試料分析法</a:t>
            </a:r>
          </a:p>
        </p:txBody>
      </p:sp>
      <p:sp>
        <p:nvSpPr>
          <p:cNvPr id="65" name="Rectangle 64"/>
          <p:cNvSpPr/>
          <p:nvPr/>
        </p:nvSpPr>
        <p:spPr>
          <a:xfrm>
            <a:off x="3026664" y="3630167"/>
            <a:ext cx="2148839" cy="182880"/>
          </a:xfrm>
          <a:prstGeom prst="rect">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081528" y="3630167"/>
            <a:ext cx="2039111"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臨床検体分析データ（3）</a:t>
            </a:r>
          </a:p>
        </p:txBody>
      </p:sp>
      <p:sp>
        <p:nvSpPr>
          <p:cNvPr id="67" name="Rounded Rectangle 66"/>
          <p:cNvSpPr/>
          <p:nvPr/>
        </p:nvSpPr>
        <p:spPr>
          <a:xfrm>
            <a:off x="3026664" y="3845051"/>
            <a:ext cx="2148839"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81528" y="3845051"/>
            <a:ext cx="203911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PK/PDモデル・解析結果</a:t>
            </a:r>
          </a:p>
        </p:txBody>
      </p:sp>
      <p:sp>
        <p:nvSpPr>
          <p:cNvPr id="69" name="Rounded Rectangle 68"/>
          <p:cNvSpPr/>
          <p:nvPr/>
        </p:nvSpPr>
        <p:spPr>
          <a:xfrm>
            <a:off x="5340096" y="2368296"/>
            <a:ext cx="2514600" cy="4069080"/>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340096" y="2478024"/>
            <a:ext cx="251460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CMC開発</a:t>
            </a:r>
          </a:p>
        </p:txBody>
      </p:sp>
      <p:sp>
        <p:nvSpPr>
          <p:cNvPr id="71" name="Rectangle 70"/>
          <p:cNvSpPr/>
          <p:nvPr/>
        </p:nvSpPr>
        <p:spPr>
          <a:xfrm>
            <a:off x="5431536" y="2770632"/>
            <a:ext cx="2331720"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486399" y="2770632"/>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発現ベクター・細胞株</a:t>
            </a:r>
          </a:p>
        </p:txBody>
      </p:sp>
      <p:sp>
        <p:nvSpPr>
          <p:cNvPr id="73" name="Rectangle 72"/>
          <p:cNvSpPr/>
          <p:nvPr/>
        </p:nvSpPr>
        <p:spPr>
          <a:xfrm>
            <a:off x="5431536" y="2985515"/>
            <a:ext cx="2331720"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486399" y="2985515"/>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セルバンク</a:t>
            </a:r>
          </a:p>
        </p:txBody>
      </p:sp>
      <p:sp>
        <p:nvSpPr>
          <p:cNvPr id="75" name="Rounded Rectangle 74"/>
          <p:cNvSpPr/>
          <p:nvPr/>
        </p:nvSpPr>
        <p:spPr>
          <a:xfrm>
            <a:off x="5431536" y="3200399"/>
            <a:ext cx="2331720"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86399" y="3200399"/>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プロセス定義（2）</a:t>
            </a:r>
          </a:p>
        </p:txBody>
      </p:sp>
      <p:sp>
        <p:nvSpPr>
          <p:cNvPr id="77" name="Rectangle 76"/>
          <p:cNvSpPr/>
          <p:nvPr/>
        </p:nvSpPr>
        <p:spPr>
          <a:xfrm>
            <a:off x="5431536" y="3415283"/>
            <a:ext cx="2331720"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86399" y="3415283"/>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プロセス開発データ</a:t>
            </a:r>
          </a:p>
        </p:txBody>
      </p:sp>
      <p:sp>
        <p:nvSpPr>
          <p:cNvPr id="79" name="Rounded Rectangle 78"/>
          <p:cNvSpPr/>
          <p:nvPr/>
        </p:nvSpPr>
        <p:spPr>
          <a:xfrm>
            <a:off x="5431536" y="3630167"/>
            <a:ext cx="2331720"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486399" y="3630167"/>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処方・製剤仕様</a:t>
            </a:r>
          </a:p>
        </p:txBody>
      </p:sp>
      <p:sp>
        <p:nvSpPr>
          <p:cNvPr id="81" name="Rounded Rectangle 80"/>
          <p:cNvSpPr/>
          <p:nvPr/>
        </p:nvSpPr>
        <p:spPr>
          <a:xfrm>
            <a:off x="5431536" y="3845051"/>
            <a:ext cx="2331720"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86399" y="3845051"/>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重要品質特性（CQA）（2）</a:t>
            </a:r>
          </a:p>
        </p:txBody>
      </p:sp>
      <p:sp>
        <p:nvSpPr>
          <p:cNvPr id="83" name="Rounded Rectangle 82"/>
          <p:cNvSpPr/>
          <p:nvPr/>
        </p:nvSpPr>
        <p:spPr>
          <a:xfrm>
            <a:off x="5431536" y="4059935"/>
            <a:ext cx="2331720"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486399" y="4059935"/>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分析法（2）</a:t>
            </a:r>
          </a:p>
        </p:txBody>
      </p:sp>
      <p:sp>
        <p:nvSpPr>
          <p:cNvPr id="85" name="Rectangle 84"/>
          <p:cNvSpPr/>
          <p:nvPr/>
        </p:nvSpPr>
        <p:spPr>
          <a:xfrm>
            <a:off x="5431536" y="4274820"/>
            <a:ext cx="2331720"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486399" y="4274820"/>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標準物質（2）</a:t>
            </a:r>
          </a:p>
        </p:txBody>
      </p:sp>
      <p:sp>
        <p:nvSpPr>
          <p:cNvPr id="87" name="Rounded Rectangle 86"/>
          <p:cNvSpPr/>
          <p:nvPr/>
        </p:nvSpPr>
        <p:spPr>
          <a:xfrm>
            <a:off x="5431536" y="4489704"/>
            <a:ext cx="2331720"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486399" y="4489704"/>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規格（2）</a:t>
            </a:r>
          </a:p>
        </p:txBody>
      </p:sp>
      <p:sp>
        <p:nvSpPr>
          <p:cNvPr id="89" name="Rounded Rectangle 88"/>
          <p:cNvSpPr/>
          <p:nvPr/>
        </p:nvSpPr>
        <p:spPr>
          <a:xfrm>
            <a:off x="5431536" y="4704588"/>
            <a:ext cx="2331720"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486399" y="4704588"/>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管理戦略</a:t>
            </a:r>
          </a:p>
        </p:txBody>
      </p:sp>
      <p:sp>
        <p:nvSpPr>
          <p:cNvPr id="91" name="Rounded Rectangle 90"/>
          <p:cNvSpPr/>
          <p:nvPr/>
        </p:nvSpPr>
        <p:spPr>
          <a:xfrm>
            <a:off x="5431536" y="4919472"/>
            <a:ext cx="2331720" cy="182880"/>
          </a:xfrm>
          <a:prstGeom prst="roundRect">
            <a:avLst>
              <a:gd name="adj" fmla="val 50000"/>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486399" y="4919472"/>
            <a:ext cx="2221991"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CMC技術報告書（3）</a:t>
            </a:r>
          </a:p>
        </p:txBody>
      </p:sp>
      <p:sp>
        <p:nvSpPr>
          <p:cNvPr id="93" name="Rounded Rectangle 92"/>
          <p:cNvSpPr/>
          <p:nvPr/>
        </p:nvSpPr>
        <p:spPr>
          <a:xfrm>
            <a:off x="5431536" y="5134356"/>
            <a:ext cx="2331720"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486399" y="5134356"/>
            <a:ext cx="2221991"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マスターバッチレコード</a:t>
            </a:r>
          </a:p>
        </p:txBody>
      </p:sp>
      <p:sp>
        <p:nvSpPr>
          <p:cNvPr id="95" name="Rounded Rectangle 94"/>
          <p:cNvSpPr/>
          <p:nvPr/>
        </p:nvSpPr>
        <p:spPr>
          <a:xfrm>
            <a:off x="7927848" y="2368296"/>
            <a:ext cx="3730752" cy="4069080"/>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927848" y="2478024"/>
            <a:ext cx="3730752"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臨床開発</a:t>
            </a:r>
          </a:p>
        </p:txBody>
      </p:sp>
      <p:sp>
        <p:nvSpPr>
          <p:cNvPr id="97" name="Rounded Rectangle 96"/>
          <p:cNvSpPr/>
          <p:nvPr/>
        </p:nvSpPr>
        <p:spPr>
          <a:xfrm>
            <a:off x="8019288" y="2770632"/>
            <a:ext cx="1746504"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074152" y="2770632"/>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疫学データ</a:t>
            </a:r>
          </a:p>
        </p:txBody>
      </p:sp>
      <p:sp>
        <p:nvSpPr>
          <p:cNvPr id="99" name="Rectangle 98"/>
          <p:cNvSpPr/>
          <p:nvPr/>
        </p:nvSpPr>
        <p:spPr>
          <a:xfrm>
            <a:off x="9820656" y="2770632"/>
            <a:ext cx="1746504"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75520" y="2770632"/>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自然歴データ</a:t>
            </a:r>
          </a:p>
        </p:txBody>
      </p:sp>
      <p:sp>
        <p:nvSpPr>
          <p:cNvPr id="101" name="Rectangle 100"/>
          <p:cNvSpPr/>
          <p:nvPr/>
        </p:nvSpPr>
        <p:spPr>
          <a:xfrm>
            <a:off x="8019288" y="2985515"/>
            <a:ext cx="1746504"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074152" y="2985515"/>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患者レジストリデータ</a:t>
            </a:r>
          </a:p>
        </p:txBody>
      </p:sp>
      <p:sp>
        <p:nvSpPr>
          <p:cNvPr id="103" name="Rectangle 102"/>
          <p:cNvSpPr/>
          <p:nvPr/>
        </p:nvSpPr>
        <p:spPr>
          <a:xfrm>
            <a:off x="9820656" y="2985515"/>
            <a:ext cx="1746504"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875520" y="2985515"/>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候補患者情報</a:t>
            </a:r>
          </a:p>
        </p:txBody>
      </p:sp>
      <p:sp>
        <p:nvSpPr>
          <p:cNvPr id="105" name="Rounded Rectangle 104"/>
          <p:cNvSpPr/>
          <p:nvPr/>
        </p:nvSpPr>
        <p:spPr>
          <a:xfrm>
            <a:off x="8019288" y="3200399"/>
            <a:ext cx="1746504" cy="182880"/>
          </a:xfrm>
          <a:prstGeom prst="roundRect">
            <a:avLst>
              <a:gd name="adj" fmla="val 50000"/>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8074152" y="3200399"/>
            <a:ext cx="1636776" cy="182880"/>
          </a:xfrm>
          <a:prstGeom prst="rect">
            <a:avLst/>
          </a:prstGeom>
          <a:noFill/>
        </p:spPr>
        <p:txBody>
          <a:bodyPr wrap="square" lIns="0" rIns="0" tIns="0" bIns="0" anchor="ctr" rtlCol="0"/>
          <a:lstStyle/>
          <a:p>
            <a:pPr marL="0" indent="0" algn="ctr">
              <a:buNone/>
            </a:pPr>
            <a:r>
              <a:rPr sz="650" b="0" lang="en-US" dirty="0">
                <a:solidFill>
                  <a:srgbClr val="1F2E35"/>
                </a:solidFill>
                <a:latin typeface="Yu Gothic" pitchFamily="34" charset="0"/>
                <a:ea typeface="Yu Gothic" pitchFamily="34" charset="-122"/>
                <a:cs typeface="Yu Gothic" pitchFamily="34" charset="-120"/>
              </a:rPr>
              <a:t>臨床評価指標・バイオマーカー定義</a:t>
            </a:r>
          </a:p>
        </p:txBody>
      </p:sp>
      <p:sp>
        <p:nvSpPr>
          <p:cNvPr id="107" name="Rounded Rectangle 106"/>
          <p:cNvSpPr/>
          <p:nvPr/>
        </p:nvSpPr>
        <p:spPr>
          <a:xfrm>
            <a:off x="9820656" y="3200399"/>
            <a:ext cx="1746504" cy="182880"/>
          </a:xfrm>
          <a:prstGeom prst="roundRect">
            <a:avLst>
              <a:gd name="adj" fmla="val 50000"/>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875520" y="3200399"/>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治験実施計画書（3）</a:t>
            </a:r>
          </a:p>
        </p:txBody>
      </p:sp>
      <p:sp>
        <p:nvSpPr>
          <p:cNvPr id="109" name="Rounded Rectangle 108"/>
          <p:cNvSpPr/>
          <p:nvPr/>
        </p:nvSpPr>
        <p:spPr>
          <a:xfrm>
            <a:off x="8019288" y="3415283"/>
            <a:ext cx="1746504" cy="182880"/>
          </a:xfrm>
          <a:prstGeom prst="roundRect">
            <a:avLst>
              <a:gd name="adj" fmla="val 50000"/>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074152" y="3415283"/>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治験薬概要書（IB）（3）</a:t>
            </a:r>
          </a:p>
        </p:txBody>
      </p:sp>
      <p:sp>
        <p:nvSpPr>
          <p:cNvPr id="111" name="Rectangle 110"/>
          <p:cNvSpPr/>
          <p:nvPr/>
        </p:nvSpPr>
        <p:spPr>
          <a:xfrm>
            <a:off x="9820656" y="3415283"/>
            <a:ext cx="1746504"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875520" y="3415283"/>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試験実施体制（2）</a:t>
            </a:r>
          </a:p>
        </p:txBody>
      </p:sp>
      <p:sp>
        <p:nvSpPr>
          <p:cNvPr id="113" name="Rectangle 112"/>
          <p:cNvSpPr/>
          <p:nvPr/>
        </p:nvSpPr>
        <p:spPr>
          <a:xfrm>
            <a:off x="8019288" y="3630167"/>
            <a:ext cx="1746504"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074152" y="3630167"/>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試験登録情報（2）</a:t>
            </a:r>
          </a:p>
        </p:txBody>
      </p:sp>
      <p:sp>
        <p:nvSpPr>
          <p:cNvPr id="115" name="Rectangle 114"/>
          <p:cNvSpPr/>
          <p:nvPr/>
        </p:nvSpPr>
        <p:spPr>
          <a:xfrm>
            <a:off x="9820656" y="3630167"/>
            <a:ext cx="1746504" cy="182880"/>
          </a:xfrm>
          <a:prstGeom prst="rect">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875520" y="3630167"/>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症例データ（4）</a:t>
            </a:r>
          </a:p>
        </p:txBody>
      </p:sp>
      <p:sp>
        <p:nvSpPr>
          <p:cNvPr id="117" name="Rectangle 116"/>
          <p:cNvSpPr/>
          <p:nvPr/>
        </p:nvSpPr>
        <p:spPr>
          <a:xfrm>
            <a:off x="8019288" y="3845051"/>
            <a:ext cx="1746504" cy="182880"/>
          </a:xfrm>
          <a:prstGeom prst="rect">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074152" y="3845051"/>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臨床データセット（2）</a:t>
            </a:r>
          </a:p>
        </p:txBody>
      </p:sp>
      <p:sp>
        <p:nvSpPr>
          <p:cNvPr id="119" name="Rounded Rectangle 118"/>
          <p:cNvSpPr/>
          <p:nvPr/>
        </p:nvSpPr>
        <p:spPr>
          <a:xfrm>
            <a:off x="9820656" y="3845051"/>
            <a:ext cx="1746504" cy="182880"/>
          </a:xfrm>
          <a:prstGeom prst="roundRect">
            <a:avLst>
              <a:gd name="adj" fmla="val 50000"/>
            </a:avLst>
          </a:prstGeom>
          <a:solidFill>
            <a:srgbClr val="E4EAEC"/>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875520" y="3845051"/>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統計解析結果（2）</a:t>
            </a:r>
          </a:p>
        </p:txBody>
      </p:sp>
      <p:sp>
        <p:nvSpPr>
          <p:cNvPr id="121" name="Rounded Rectangle 120"/>
          <p:cNvSpPr/>
          <p:nvPr/>
        </p:nvSpPr>
        <p:spPr>
          <a:xfrm>
            <a:off x="8019288" y="4059935"/>
            <a:ext cx="1746504" cy="182880"/>
          </a:xfrm>
          <a:prstGeom prst="roundRect">
            <a:avLst>
              <a:gd name="adj" fmla="val 50000"/>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8074152" y="4059935"/>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総括報告書（CSR）（4）</a:t>
            </a:r>
          </a:p>
        </p:txBody>
      </p:sp>
      <p:sp>
        <p:nvSpPr>
          <p:cNvPr id="123" name="Rounded Rectangle 122"/>
          <p:cNvSpPr/>
          <p:nvPr/>
        </p:nvSpPr>
        <p:spPr>
          <a:xfrm>
            <a:off x="9820656" y="4059935"/>
            <a:ext cx="1746504" cy="182880"/>
          </a:xfrm>
          <a:prstGeom prst="roundRect">
            <a:avLst>
              <a:gd name="adj" fmla="val 50000"/>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9875520" y="4059935"/>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統合解析（3）</a:t>
            </a:r>
          </a:p>
        </p:txBody>
      </p:sp>
      <p:sp>
        <p:nvSpPr>
          <p:cNvPr id="125" name="Rectangle 124"/>
          <p:cNvSpPr/>
          <p:nvPr/>
        </p:nvSpPr>
        <p:spPr>
          <a:xfrm>
            <a:off x="8019288" y="4274820"/>
            <a:ext cx="1746504" cy="182880"/>
          </a:xfrm>
          <a:prstGeom prst="rect">
            <a:avLst/>
          </a:prstGeom>
          <a:solidFill>
            <a:srgbClr val="FF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8074152" y="4274820"/>
            <a:ext cx="1636776"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治験薬供給記録</a:t>
            </a:r>
          </a:p>
        </p:txBody>
      </p:sp>
      <p:sp>
        <p:nvSpPr>
          <p:cNvPr id="127" name="Rectangle 126"/>
          <p:cNvSpPr/>
          <p:nvPr/>
        </p:nvSpPr>
        <p:spPr>
          <a:xfrm>
            <a:off x="9820656" y="4274820"/>
            <a:ext cx="1746504" cy="182880"/>
          </a:xfrm>
          <a:prstGeom prst="rect">
            <a:avLst/>
          </a:prstGeom>
          <a:solidFill>
            <a:srgbClr val="00FFFF"/>
          </a:solidFill>
          <a:ln w="952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9875520" y="4274820"/>
            <a:ext cx="1636776"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臨床試験（4）</a:t>
            </a:r>
          </a:p>
        </p:txBody>
      </p:sp>
      <p:sp>
        <p:nvSpPr>
          <p:cNvPr id="129" name="Chevron 128"/>
          <p:cNvSpPr/>
          <p:nvPr/>
        </p:nvSpPr>
        <p:spPr>
          <a:xfrm rot="5400000">
            <a:off x="6035040" y="1764791"/>
            <a:ext cx="118872" cy="310896"/>
          </a:xfrm>
          <a:prstGeom prst="chevron">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144000" cy="548640"/>
          </a:xfrm>
          <a:prstGeom prst="rect">
            <a:avLst/>
          </a:prstGeom>
          <a:noFill/>
        </p:spPr>
        <p:txBody>
          <a:bodyPr wrap="square" anchor="t" lIns="0" rIns="0" tIns="0" bIns="0">
            <a:spAutoFit/>
          </a:bodyPr>
          <a:lstStyle/>
          <a:p>
            <a:pPr algn="l"/>
            <a:r>
              <a:rPr sz="2800" b="1">
                <a:solidFill>
                  <a:srgbClr val="1F2E35"/>
                </a:solidFill>
                <a:latin typeface="Yu Gothic"/>
                <a:ea typeface="Yu Gothic"/>
              </a:rPr>
              <a:t>データマップ全体像（2/2）</a:t>
            </a:r>
          </a:p>
        </p:txBody>
      </p:sp>
      <p:sp>
        <p:nvSpPr>
          <p:cNvPr id="3" name="TextBox 2"/>
          <p:cNvSpPr txBox="1"/>
          <p:nvPr/>
        </p:nvSpPr>
        <p:spPr>
          <a:xfrm>
            <a:off x="457200" y="841248"/>
            <a:ext cx="7040880" cy="320040"/>
          </a:xfrm>
          <a:prstGeom prst="rect">
            <a:avLst/>
          </a:prstGeom>
          <a:noFill/>
        </p:spPr>
        <p:txBody>
          <a:bodyPr wrap="square" anchor="t" lIns="0" rIns="0" tIns="0" bIns="0">
            <a:spAutoFit/>
          </a:bodyPr>
          <a:lstStyle/>
          <a:p>
            <a:pPr algn="l"/>
            <a:r>
              <a:rPr sz="1300" b="0">
                <a:solidFill>
                  <a:srgbClr val="5B6B70"/>
                </a:solidFill>
                <a:latin typeface="Yu Gothic"/>
                <a:ea typeface="Yu Gothic"/>
              </a:rPr>
              <a:t>オーナーの領域（ケイパビリティL1）ごとの情報オブジェクト（96件中47件）</a:t>
            </a:r>
          </a:p>
        </p:txBody>
      </p:sp>
      <p:sp>
        <p:nvSpPr>
          <p:cNvPr id="4" name="Rectangle 3"/>
          <p:cNvSpPr/>
          <p:nvPr/>
        </p:nvSpPr>
        <p:spPr>
          <a:xfrm>
            <a:off x="10561320" y="384048"/>
            <a:ext cx="754380" cy="85587"/>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38560" y="384048"/>
            <a:ext cx="365760" cy="613379"/>
          </a:xfrm>
          <a:prstGeom prst="rect">
            <a:avLst/>
          </a:prstGeom>
          <a:solidFill>
            <a:srgbClr val="E3E8E9"/>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61320" y="491032"/>
            <a:ext cx="228600" cy="506394"/>
          </a:xfrm>
          <a:prstGeom prst="rect">
            <a:avLst/>
          </a:prstGeom>
          <a:solidFill>
            <a:srgbClr val="EB683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812780" y="491032"/>
            <a:ext cx="228600" cy="506394"/>
          </a:xfrm>
          <a:prstGeom prst="rect">
            <a:avLst/>
          </a:prstGeom>
          <a:solidFill>
            <a:srgbClr val="4A3AA7"/>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064240" y="491032"/>
            <a:ext cx="228600" cy="506394"/>
          </a:xfrm>
          <a:prstGeom prst="rect">
            <a:avLst/>
          </a:prstGeom>
          <a:solidFill>
            <a:srgbClr val="1BAF7A"/>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61320" y="1011692"/>
            <a:ext cx="1143000" cy="85587"/>
          </a:xfrm>
          <a:prstGeom prst="rect">
            <a:avLst/>
          </a:prstGeom>
          <a:solidFill>
            <a:srgbClr val="1F2E35"/>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61320" y="1115568"/>
            <a:ext cx="1143000" cy="201168"/>
          </a:xfrm>
          <a:prstGeom prst="rect">
            <a:avLst/>
          </a:prstGeom>
          <a:noFill/>
        </p:spPr>
        <p:txBody>
          <a:bodyPr wrap="square" lIns="0" rIns="0" tIns="0" bIns="0" anchor="ctr" rtlCol="0"/>
          <a:lstStyle/>
          <a:p>
            <a:pPr marL="0" indent="0" algn="ctr">
              <a:buNone/>
            </a:pPr>
            <a:r>
              <a:rPr sz="900" b="1" lang="en-US" dirty="0">
                <a:solidFill>
                  <a:srgbClr val="5B6B70"/>
                </a:solidFill>
                <a:latin typeface="Yu Gothic" pitchFamily="34" charset="0"/>
                <a:ea typeface="Yu Gothic" pitchFamily="34" charset="-122"/>
                <a:cs typeface="Yu Gothic" pitchFamily="34" charset="-120"/>
              </a:rPr>
              <a:t>2 / 2</a:t>
            </a:r>
          </a:p>
        </p:txBody>
      </p:sp>
      <p:sp>
        <p:nvSpPr>
          <p:cNvPr id="11" name="Rectangle 10"/>
          <p:cNvSpPr/>
          <p:nvPr/>
        </p:nvSpPr>
        <p:spPr>
          <a:xfrm>
            <a:off x="7269480" y="384048"/>
            <a:ext cx="384048" cy="155448"/>
          </a:xfrm>
          <a:prstGeom prst="rect">
            <a:avLst/>
          </a:prstGeom>
          <a:solidFill>
            <a:srgbClr val="FF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347472"/>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データ（マスタ・トランザクション・測定データ）</a:t>
            </a:r>
          </a:p>
        </p:txBody>
      </p:sp>
      <p:sp>
        <p:nvSpPr>
          <p:cNvPr id="13" name="Rounded Rectangle 12"/>
          <p:cNvSpPr/>
          <p:nvPr/>
        </p:nvSpPr>
        <p:spPr>
          <a:xfrm>
            <a:off x="7269480" y="585216"/>
            <a:ext cx="384048" cy="155448"/>
          </a:xfrm>
          <a:prstGeom prst="roundRect">
            <a:avLst>
              <a:gd name="adj" fmla="val 50000"/>
            </a:avLst>
          </a:prstGeom>
          <a:solidFill>
            <a:srgbClr val="FF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548640"/>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文書・記録（定義・仕様、分析・評価、文書）</a:t>
            </a:r>
          </a:p>
        </p:txBody>
      </p:sp>
      <p:sp>
        <p:nvSpPr>
          <p:cNvPr id="15" name="Rounded Rectangle 14"/>
          <p:cNvSpPr/>
          <p:nvPr/>
        </p:nvSpPr>
        <p:spPr>
          <a:xfrm>
            <a:off x="7269480" y="786384"/>
            <a:ext cx="384048" cy="155448"/>
          </a:xfrm>
          <a:prstGeom prst="roundRect">
            <a:avLst>
              <a:gd name="adj" fmla="val 50000"/>
            </a:avLst>
          </a:prstGeom>
          <a:solidFill>
            <a:srgbClr val="E4EAEC"/>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749808"/>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2つのアプリで作成・更新（C）</a:t>
            </a:r>
          </a:p>
        </p:txBody>
      </p:sp>
      <p:sp>
        <p:nvSpPr>
          <p:cNvPr id="17" name="Rounded Rectangle 16"/>
          <p:cNvSpPr/>
          <p:nvPr/>
        </p:nvSpPr>
        <p:spPr>
          <a:xfrm>
            <a:off x="7269480" y="987552"/>
            <a:ext cx="384048" cy="155448"/>
          </a:xfrm>
          <a:prstGeom prst="roundRect">
            <a:avLst>
              <a:gd name="adj" fmla="val 50000"/>
            </a:avLst>
          </a:prstGeom>
          <a:solidFill>
            <a:srgbClr val="00FFFF"/>
          </a:solidFill>
          <a:ln w="9525">
            <a:solidFill>
              <a:srgbClr val="5B6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950976"/>
            <a:ext cx="2743200" cy="22860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3つ以上のアプリで作成・更新（C）。数字＝アプリ数</a:t>
            </a:r>
          </a:p>
        </p:txBody>
      </p:sp>
      <p:sp>
        <p:nvSpPr>
          <p:cNvPr id="19" name="Rounded Rectangle 18"/>
          <p:cNvSpPr/>
          <p:nvPr/>
        </p:nvSpPr>
        <p:spPr>
          <a:xfrm>
            <a:off x="457200" y="1325880"/>
            <a:ext cx="3697224" cy="4526280"/>
          </a:xfrm>
          <a:prstGeom prst="roundRect">
            <a:avLst>
              <a:gd name="adj" fmla="val 2000"/>
            </a:avLst>
          </a:prstGeom>
          <a:solidFill>
            <a:srgbClr val="FDEEE7"/>
          </a:solidFill>
          <a:ln w="19050">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380744"/>
            <a:ext cx="3697224" cy="274320"/>
          </a:xfrm>
          <a:prstGeom prst="rect">
            <a:avLst/>
          </a:prstGeom>
          <a:noFill/>
        </p:spPr>
        <p:txBody>
          <a:bodyPr wrap="square" lIns="0" rIns="0" tIns="0" bIns="0" anchor="ctr" rtlCol="0"/>
          <a:lstStyle/>
          <a:p>
            <a:pPr marL="0" indent="0" algn="ctr">
              <a:buNone/>
            </a:pPr>
            <a:r>
              <a:rPr sz="1250" b="1" lang="en-US" dirty="0">
                <a:solidFill>
                  <a:srgbClr val="C24E1C"/>
                </a:solidFill>
                <a:latin typeface="Yu Gothic" pitchFamily="34" charset="0"/>
                <a:ea typeface="Yu Gothic" pitchFamily="34" charset="-122"/>
                <a:cs typeface="Yu Gothic" pitchFamily="34" charset="-120"/>
              </a:rPr>
              <a:t>Commercial &amp; Patient</a:t>
            </a:r>
          </a:p>
        </p:txBody>
      </p:sp>
      <p:sp>
        <p:nvSpPr>
          <p:cNvPr id="21" name="Rounded Rectangle 20"/>
          <p:cNvSpPr/>
          <p:nvPr/>
        </p:nvSpPr>
        <p:spPr>
          <a:xfrm>
            <a:off x="530352" y="1709928"/>
            <a:ext cx="3550920" cy="1783080"/>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1819655"/>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メディカル・患者エンゲージメント</a:t>
            </a:r>
          </a:p>
        </p:txBody>
      </p:sp>
      <p:sp>
        <p:nvSpPr>
          <p:cNvPr id="23" name="Rounded Rectangle 22"/>
          <p:cNvSpPr/>
          <p:nvPr/>
        </p:nvSpPr>
        <p:spPr>
          <a:xfrm>
            <a:off x="621792" y="2112263"/>
            <a:ext cx="1656588"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2112263"/>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疾患知見</a:t>
            </a:r>
          </a:p>
        </p:txBody>
      </p:sp>
      <p:sp>
        <p:nvSpPr>
          <p:cNvPr id="25" name="Rectangle 24"/>
          <p:cNvSpPr/>
          <p:nvPr/>
        </p:nvSpPr>
        <p:spPr>
          <a:xfrm>
            <a:off x="2333244" y="2112263"/>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88108" y="2112263"/>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患者支援ケース</a:t>
            </a:r>
          </a:p>
        </p:txBody>
      </p:sp>
      <p:sp>
        <p:nvSpPr>
          <p:cNvPr id="27" name="Rectangle 26"/>
          <p:cNvSpPr/>
          <p:nvPr/>
        </p:nvSpPr>
        <p:spPr>
          <a:xfrm>
            <a:off x="621792" y="2327147"/>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 y="2327147"/>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医療機関・医療従事者マスタ</a:t>
            </a:r>
          </a:p>
        </p:txBody>
      </p:sp>
      <p:sp>
        <p:nvSpPr>
          <p:cNvPr id="29" name="Rounded Rectangle 28"/>
          <p:cNvSpPr/>
          <p:nvPr/>
        </p:nvSpPr>
        <p:spPr>
          <a:xfrm>
            <a:off x="530352" y="3566160"/>
            <a:ext cx="3550920" cy="2212848"/>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0352" y="3675888"/>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市場アクセス・商業</a:t>
            </a:r>
          </a:p>
        </p:txBody>
      </p:sp>
      <p:sp>
        <p:nvSpPr>
          <p:cNvPr id="31" name="Rectangle 30"/>
          <p:cNvSpPr/>
          <p:nvPr/>
        </p:nvSpPr>
        <p:spPr>
          <a:xfrm>
            <a:off x="621792" y="3968496"/>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968496"/>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価格</a:t>
            </a:r>
          </a:p>
        </p:txBody>
      </p:sp>
      <p:sp>
        <p:nvSpPr>
          <p:cNvPr id="33" name="Rectangle 32"/>
          <p:cNvSpPr/>
          <p:nvPr/>
        </p:nvSpPr>
        <p:spPr>
          <a:xfrm>
            <a:off x="2333244" y="3968496"/>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88108" y="3968496"/>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保険者契約</a:t>
            </a:r>
          </a:p>
        </p:txBody>
      </p:sp>
      <p:sp>
        <p:nvSpPr>
          <p:cNvPr id="35" name="Rectangle 34"/>
          <p:cNvSpPr/>
          <p:nvPr/>
        </p:nvSpPr>
        <p:spPr>
          <a:xfrm>
            <a:off x="621792" y="4183380"/>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 y="4183380"/>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償還コード</a:t>
            </a:r>
          </a:p>
        </p:txBody>
      </p:sp>
      <p:sp>
        <p:nvSpPr>
          <p:cNvPr id="37" name="Rounded Rectangle 36"/>
          <p:cNvSpPr/>
          <p:nvPr/>
        </p:nvSpPr>
        <p:spPr>
          <a:xfrm>
            <a:off x="2333244" y="4183380"/>
            <a:ext cx="1656588" cy="182880"/>
          </a:xfrm>
          <a:prstGeom prst="roundRect">
            <a:avLst>
              <a:gd name="adj" fmla="val 50000"/>
            </a:avLst>
          </a:prstGeom>
          <a:solidFill>
            <a:srgbClr val="E4EAEC"/>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88108" y="4183380"/>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販促・医療情報資材（2）</a:t>
            </a:r>
          </a:p>
        </p:txBody>
      </p:sp>
      <p:sp>
        <p:nvSpPr>
          <p:cNvPr id="39" name="Rectangle 38"/>
          <p:cNvSpPr/>
          <p:nvPr/>
        </p:nvSpPr>
        <p:spPr>
          <a:xfrm>
            <a:off x="621792" y="4398264"/>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6656" y="439826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教育記録</a:t>
            </a:r>
          </a:p>
        </p:txBody>
      </p:sp>
      <p:sp>
        <p:nvSpPr>
          <p:cNvPr id="41" name="Rectangle 40"/>
          <p:cNvSpPr/>
          <p:nvPr/>
        </p:nvSpPr>
        <p:spPr>
          <a:xfrm>
            <a:off x="2333244" y="4398264"/>
            <a:ext cx="1656588" cy="182880"/>
          </a:xfrm>
          <a:prstGeom prst="rect">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88108" y="439826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政府価格報告</a:t>
            </a:r>
          </a:p>
        </p:txBody>
      </p:sp>
      <p:sp>
        <p:nvSpPr>
          <p:cNvPr id="43" name="Rounded Rectangle 42"/>
          <p:cNvSpPr/>
          <p:nvPr/>
        </p:nvSpPr>
        <p:spPr>
          <a:xfrm>
            <a:off x="621792" y="4613148"/>
            <a:ext cx="1656588" cy="182880"/>
          </a:xfrm>
          <a:prstGeom prst="roundRect">
            <a:avLst>
              <a:gd name="adj" fmla="val 50000"/>
            </a:avLst>
          </a:prstGeom>
          <a:solidFill>
            <a:srgbClr val="FFFFFF"/>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4613148"/>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Medicare価格交渉対象判定</a:t>
            </a:r>
          </a:p>
        </p:txBody>
      </p:sp>
      <p:sp>
        <p:nvSpPr>
          <p:cNvPr id="45" name="Chevron 44"/>
          <p:cNvSpPr/>
          <p:nvPr/>
        </p:nvSpPr>
        <p:spPr>
          <a:xfrm rot="5400000">
            <a:off x="2246376" y="5765292"/>
            <a:ext cx="118872" cy="310896"/>
          </a:xfrm>
          <a:prstGeom prst="chevron">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245864" y="1325880"/>
            <a:ext cx="3697224" cy="4526280"/>
          </a:xfrm>
          <a:prstGeom prst="roundRect">
            <a:avLst>
              <a:gd name="adj" fmla="val 2000"/>
            </a:avLst>
          </a:prstGeom>
          <a:solidFill>
            <a:srgbClr val="EEECF7"/>
          </a:solidFill>
          <a:ln w="19050">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45864" y="1380744"/>
            <a:ext cx="3697224" cy="274320"/>
          </a:xfrm>
          <a:prstGeom prst="rect">
            <a:avLst/>
          </a:prstGeom>
          <a:noFill/>
        </p:spPr>
        <p:txBody>
          <a:bodyPr wrap="square" lIns="0" rIns="0" tIns="0" bIns="0" anchor="ctr" rtlCol="0"/>
          <a:lstStyle/>
          <a:p>
            <a:pPr marL="0" indent="0" algn="ctr">
              <a:buNone/>
            </a:pPr>
            <a:r>
              <a:rPr sz="1250" b="1" lang="en-US" dirty="0">
                <a:solidFill>
                  <a:srgbClr val="4A3AA7"/>
                </a:solidFill>
                <a:latin typeface="Yu Gothic" pitchFamily="34" charset="0"/>
                <a:ea typeface="Yu Gothic" pitchFamily="34" charset="-122"/>
                <a:cs typeface="Yu Gothic" pitchFamily="34" charset="-120"/>
              </a:rPr>
              <a:t>Regulatory &amp; Quality</a:t>
            </a:r>
          </a:p>
        </p:txBody>
      </p:sp>
      <p:sp>
        <p:nvSpPr>
          <p:cNvPr id="48" name="Rounded Rectangle 47"/>
          <p:cNvSpPr/>
          <p:nvPr/>
        </p:nvSpPr>
        <p:spPr>
          <a:xfrm>
            <a:off x="4319016" y="1709928"/>
            <a:ext cx="3550920" cy="1583436"/>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19016" y="1788413"/>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薬事</a:t>
            </a:r>
          </a:p>
        </p:txBody>
      </p:sp>
      <p:sp>
        <p:nvSpPr>
          <p:cNvPr id="50" name="Rounded Rectangle 49"/>
          <p:cNvSpPr/>
          <p:nvPr/>
        </p:nvSpPr>
        <p:spPr>
          <a:xfrm>
            <a:off x="4410456" y="2081021"/>
            <a:ext cx="1656588" cy="182880"/>
          </a:xfrm>
          <a:prstGeom prst="roundRect">
            <a:avLst>
              <a:gd name="adj" fmla="val 50000"/>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65320" y="2081021"/>
            <a:ext cx="1546860" cy="182880"/>
          </a:xfrm>
          <a:prstGeom prst="rect">
            <a:avLst/>
          </a:prstGeom>
          <a:noFill/>
        </p:spPr>
        <p:txBody>
          <a:bodyPr wrap="square" lIns="0" rIns="0" tIns="0" bIns="0" anchor="ctr" rtlCol="0"/>
          <a:lstStyle/>
          <a:p>
            <a:pPr marL="0" indent="0" algn="ctr">
              <a:buNone/>
            </a:pPr>
            <a:r>
              <a:rPr sz="700" b="1" lang="en-US" dirty="0">
                <a:solidFill>
                  <a:srgbClr val="000000"/>
                </a:solidFill>
                <a:latin typeface="Yu Gothic" pitchFamily="34" charset="0"/>
                <a:ea typeface="Yu Gothic" pitchFamily="34" charset="-122"/>
                <a:cs typeface="Yu Gothic" pitchFamily="34" charset="-120"/>
              </a:rPr>
              <a:t>包装表示（アートワーク）（3）</a:t>
            </a:r>
          </a:p>
        </p:txBody>
      </p:sp>
      <p:sp>
        <p:nvSpPr>
          <p:cNvPr id="52" name="Rectangle 51"/>
          <p:cNvSpPr/>
          <p:nvPr/>
        </p:nvSpPr>
        <p:spPr>
          <a:xfrm>
            <a:off x="6121908" y="2081021"/>
            <a:ext cx="1656588" cy="182880"/>
          </a:xfrm>
          <a:prstGeom prst="rect">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76772" y="2081021"/>
            <a:ext cx="1546860" cy="182880"/>
          </a:xfrm>
          <a:prstGeom prst="rect">
            <a:avLst/>
          </a:prstGeom>
          <a:noFill/>
        </p:spPr>
        <p:txBody>
          <a:bodyPr wrap="square" lIns="0" rIns="0" tIns="0" bIns="0" anchor="ctr" rtlCol="0"/>
          <a:lstStyle/>
          <a:p>
            <a:pPr marL="0" indent="0" algn="ctr">
              <a:buNone/>
            </a:pPr>
            <a:r>
              <a:rPr sz="650" b="0" lang="en-US" dirty="0">
                <a:solidFill>
                  <a:srgbClr val="1F2E35"/>
                </a:solidFill>
                <a:latin typeface="Yu Gothic" pitchFamily="34" charset="0"/>
                <a:ea typeface="Yu Gothic" pitchFamily="34" charset="-122"/>
                <a:cs typeface="Yu Gothic" pitchFamily="34" charset="-120"/>
              </a:rPr>
              <a:t>当局コミュニケーション記録（2）</a:t>
            </a:r>
          </a:p>
        </p:txBody>
      </p:sp>
      <p:sp>
        <p:nvSpPr>
          <p:cNvPr id="54" name="Rectangle 53"/>
          <p:cNvSpPr/>
          <p:nvPr/>
        </p:nvSpPr>
        <p:spPr>
          <a:xfrm>
            <a:off x="4410456" y="2295905"/>
            <a:ext cx="1656588" cy="182880"/>
          </a:xfrm>
          <a:prstGeom prst="rect">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65320" y="2295905"/>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指定・インセンティブ</a:t>
            </a:r>
          </a:p>
        </p:txBody>
      </p:sp>
      <p:sp>
        <p:nvSpPr>
          <p:cNvPr id="56" name="Rounded Rectangle 55"/>
          <p:cNvSpPr/>
          <p:nvPr/>
        </p:nvSpPr>
        <p:spPr>
          <a:xfrm>
            <a:off x="6121908" y="2295905"/>
            <a:ext cx="1656588"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76772" y="2295905"/>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IND（2）</a:t>
            </a:r>
          </a:p>
        </p:txBody>
      </p:sp>
      <p:sp>
        <p:nvSpPr>
          <p:cNvPr id="58" name="Rounded Rectangle 57"/>
          <p:cNvSpPr/>
          <p:nvPr/>
        </p:nvSpPr>
        <p:spPr>
          <a:xfrm>
            <a:off x="4410456" y="2510789"/>
            <a:ext cx="1656588" cy="182880"/>
          </a:xfrm>
          <a:prstGeom prst="roundRect">
            <a:avLst>
              <a:gd name="adj" fmla="val 50000"/>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65320" y="2510789"/>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申請資料（6）</a:t>
            </a:r>
          </a:p>
        </p:txBody>
      </p:sp>
      <p:sp>
        <p:nvSpPr>
          <p:cNvPr id="60" name="Rectangle 59"/>
          <p:cNvSpPr/>
          <p:nvPr/>
        </p:nvSpPr>
        <p:spPr>
          <a:xfrm>
            <a:off x="6121908" y="2510789"/>
            <a:ext cx="1656588" cy="182880"/>
          </a:xfrm>
          <a:prstGeom prst="rect">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76772" y="2510789"/>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承認・許可（3）</a:t>
            </a:r>
          </a:p>
        </p:txBody>
      </p:sp>
      <p:sp>
        <p:nvSpPr>
          <p:cNvPr id="62" name="Rounded Rectangle 61"/>
          <p:cNvSpPr/>
          <p:nvPr/>
        </p:nvSpPr>
        <p:spPr>
          <a:xfrm>
            <a:off x="4410456" y="2725673"/>
            <a:ext cx="1656588" cy="274320"/>
          </a:xfrm>
          <a:prstGeom prst="roundRect">
            <a:avLst>
              <a:gd name="adj" fmla="val 35000"/>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465320" y="2725673"/>
            <a:ext cx="1546860" cy="27432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表示（USPI）（4）</a:t>
            </a:r>
          </a:p>
        </p:txBody>
      </p:sp>
      <p:sp>
        <p:nvSpPr>
          <p:cNvPr id="64" name="Rectangle 63"/>
          <p:cNvSpPr/>
          <p:nvPr/>
        </p:nvSpPr>
        <p:spPr>
          <a:xfrm>
            <a:off x="6121908" y="2725673"/>
            <a:ext cx="1656588" cy="274320"/>
          </a:xfrm>
          <a:prstGeom prst="rect">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76772" y="2725673"/>
            <a:ext cx="1546860"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市販後要求・コミットメント（PMR／PMC）（2）</a:t>
            </a:r>
          </a:p>
        </p:txBody>
      </p:sp>
      <p:sp>
        <p:nvSpPr>
          <p:cNvPr id="66" name="Rounded Rectangle 65"/>
          <p:cNvSpPr/>
          <p:nvPr/>
        </p:nvSpPr>
        <p:spPr>
          <a:xfrm>
            <a:off x="4410456" y="3031997"/>
            <a:ext cx="1656588"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65320" y="3031997"/>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当局年次報告</a:t>
            </a:r>
          </a:p>
        </p:txBody>
      </p:sp>
      <p:sp>
        <p:nvSpPr>
          <p:cNvPr id="68" name="Rounded Rectangle 67"/>
          <p:cNvSpPr/>
          <p:nvPr/>
        </p:nvSpPr>
        <p:spPr>
          <a:xfrm>
            <a:off x="4319016" y="3366516"/>
            <a:ext cx="3550920" cy="1277112"/>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319016" y="3445002"/>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品質</a:t>
            </a:r>
          </a:p>
        </p:txBody>
      </p:sp>
      <p:sp>
        <p:nvSpPr>
          <p:cNvPr id="70" name="Rectangle 69"/>
          <p:cNvSpPr/>
          <p:nvPr/>
        </p:nvSpPr>
        <p:spPr>
          <a:xfrm>
            <a:off x="4410456" y="3737610"/>
            <a:ext cx="1656588" cy="182880"/>
          </a:xfrm>
          <a:prstGeom prst="rect">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5320" y="3737610"/>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安定性データ（3）</a:t>
            </a:r>
          </a:p>
        </p:txBody>
      </p:sp>
      <p:sp>
        <p:nvSpPr>
          <p:cNvPr id="72" name="Rectangle 71"/>
          <p:cNvSpPr/>
          <p:nvPr/>
        </p:nvSpPr>
        <p:spPr>
          <a:xfrm>
            <a:off x="6121908" y="3737610"/>
            <a:ext cx="1656588" cy="182880"/>
          </a:xfrm>
          <a:prstGeom prst="rect">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76772" y="3737610"/>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試験成績（3）</a:t>
            </a:r>
          </a:p>
        </p:txBody>
      </p:sp>
      <p:sp>
        <p:nvSpPr>
          <p:cNvPr id="74" name="Rectangle 73"/>
          <p:cNvSpPr/>
          <p:nvPr/>
        </p:nvSpPr>
        <p:spPr>
          <a:xfrm>
            <a:off x="4410456" y="3952494"/>
            <a:ext cx="1656588" cy="182880"/>
          </a:xfrm>
          <a:prstGeom prst="rect">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65320" y="395249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逸脱・CAPA（2）</a:t>
            </a:r>
          </a:p>
        </p:txBody>
      </p:sp>
      <p:sp>
        <p:nvSpPr>
          <p:cNvPr id="76" name="Rectangle 75"/>
          <p:cNvSpPr/>
          <p:nvPr/>
        </p:nvSpPr>
        <p:spPr>
          <a:xfrm>
            <a:off x="6121908" y="3952494"/>
            <a:ext cx="1656588" cy="182880"/>
          </a:xfrm>
          <a:prstGeom prst="rect">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176772" y="395249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変更管理記録</a:t>
            </a:r>
          </a:p>
        </p:txBody>
      </p:sp>
      <p:sp>
        <p:nvSpPr>
          <p:cNvPr id="78" name="Rectangle 77"/>
          <p:cNvSpPr/>
          <p:nvPr/>
        </p:nvSpPr>
        <p:spPr>
          <a:xfrm>
            <a:off x="4410456" y="4167378"/>
            <a:ext cx="1656588" cy="182880"/>
          </a:xfrm>
          <a:prstGeom prst="rect">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65320" y="4167378"/>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出荷判定記録（2）</a:t>
            </a:r>
          </a:p>
        </p:txBody>
      </p:sp>
      <p:sp>
        <p:nvSpPr>
          <p:cNvPr id="80" name="Rounded Rectangle 79"/>
          <p:cNvSpPr/>
          <p:nvPr/>
        </p:nvSpPr>
        <p:spPr>
          <a:xfrm>
            <a:off x="6121908" y="4167378"/>
            <a:ext cx="1656588"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76772" y="4167378"/>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バリデーション計画・報告</a:t>
            </a:r>
          </a:p>
        </p:txBody>
      </p:sp>
      <p:sp>
        <p:nvSpPr>
          <p:cNvPr id="82" name="Rounded Rectangle 81"/>
          <p:cNvSpPr/>
          <p:nvPr/>
        </p:nvSpPr>
        <p:spPr>
          <a:xfrm>
            <a:off x="4410456" y="4382262"/>
            <a:ext cx="1656588"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465320" y="4382262"/>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年次製品照査（APR）（2）</a:t>
            </a:r>
          </a:p>
        </p:txBody>
      </p:sp>
      <p:sp>
        <p:nvSpPr>
          <p:cNvPr id="84" name="Rectangle 83"/>
          <p:cNvSpPr/>
          <p:nvPr/>
        </p:nvSpPr>
        <p:spPr>
          <a:xfrm>
            <a:off x="6121908" y="4382262"/>
            <a:ext cx="1656588" cy="182880"/>
          </a:xfrm>
          <a:prstGeom prst="rect">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76772" y="4382262"/>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査察記録</a:t>
            </a:r>
          </a:p>
        </p:txBody>
      </p:sp>
      <p:sp>
        <p:nvSpPr>
          <p:cNvPr id="86" name="Rounded Rectangle 85"/>
          <p:cNvSpPr/>
          <p:nvPr/>
        </p:nvSpPr>
        <p:spPr>
          <a:xfrm>
            <a:off x="4319016" y="4716780"/>
            <a:ext cx="3550920" cy="1062228"/>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319016" y="4795266"/>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ファーマコビジランス（安全性）</a:t>
            </a:r>
          </a:p>
        </p:txBody>
      </p:sp>
      <p:sp>
        <p:nvSpPr>
          <p:cNvPr id="88" name="Rounded Rectangle 87"/>
          <p:cNvSpPr/>
          <p:nvPr/>
        </p:nvSpPr>
        <p:spPr>
          <a:xfrm>
            <a:off x="4410456" y="5087874"/>
            <a:ext cx="1656588"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465320" y="508787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ベネフィット・リスク評価</a:t>
            </a:r>
          </a:p>
        </p:txBody>
      </p:sp>
      <p:sp>
        <p:nvSpPr>
          <p:cNvPr id="90" name="Rounded Rectangle 89"/>
          <p:cNvSpPr/>
          <p:nvPr/>
        </p:nvSpPr>
        <p:spPr>
          <a:xfrm>
            <a:off x="6121908" y="5087874"/>
            <a:ext cx="1656588" cy="182880"/>
          </a:xfrm>
          <a:prstGeom prst="roundRect">
            <a:avLst>
              <a:gd name="adj" fmla="val 50000"/>
            </a:avLst>
          </a:prstGeom>
          <a:solidFill>
            <a:srgbClr val="E4EAEC"/>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176772" y="5087874"/>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REMS（2）</a:t>
            </a:r>
          </a:p>
        </p:txBody>
      </p:sp>
      <p:sp>
        <p:nvSpPr>
          <p:cNvPr id="92" name="Rectangle 91"/>
          <p:cNvSpPr/>
          <p:nvPr/>
        </p:nvSpPr>
        <p:spPr>
          <a:xfrm>
            <a:off x="4410456" y="5302758"/>
            <a:ext cx="1656588" cy="182880"/>
          </a:xfrm>
          <a:prstGeom prst="rect">
            <a:avLst/>
          </a:prstGeom>
          <a:solidFill>
            <a:srgbClr val="00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465320" y="5302758"/>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有害事象症例（3）</a:t>
            </a:r>
          </a:p>
        </p:txBody>
      </p:sp>
      <p:sp>
        <p:nvSpPr>
          <p:cNvPr id="94" name="Rounded Rectangle 93"/>
          <p:cNvSpPr/>
          <p:nvPr/>
        </p:nvSpPr>
        <p:spPr>
          <a:xfrm>
            <a:off x="6121908" y="5302758"/>
            <a:ext cx="1656588"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76772" y="5302758"/>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安全性シグナル評価</a:t>
            </a:r>
          </a:p>
        </p:txBody>
      </p:sp>
      <p:sp>
        <p:nvSpPr>
          <p:cNvPr id="96" name="Rounded Rectangle 95"/>
          <p:cNvSpPr/>
          <p:nvPr/>
        </p:nvSpPr>
        <p:spPr>
          <a:xfrm>
            <a:off x="4410456" y="5517642"/>
            <a:ext cx="1656588" cy="182880"/>
          </a:xfrm>
          <a:prstGeom prst="roundRect">
            <a:avLst>
              <a:gd name="adj" fmla="val 50000"/>
            </a:avLst>
          </a:prstGeom>
          <a:solidFill>
            <a:srgbClr val="FFFFFF"/>
          </a:solidFill>
          <a:ln w="952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465320" y="5517642"/>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安全性報告</a:t>
            </a:r>
          </a:p>
        </p:txBody>
      </p:sp>
      <p:sp>
        <p:nvSpPr>
          <p:cNvPr id="98" name="Chevron 97"/>
          <p:cNvSpPr/>
          <p:nvPr/>
        </p:nvSpPr>
        <p:spPr>
          <a:xfrm rot="5400000">
            <a:off x="6035040" y="5765292"/>
            <a:ext cx="118872" cy="310896"/>
          </a:xfrm>
          <a:prstGeom prst="chevron">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8034528" y="1325880"/>
            <a:ext cx="3697224" cy="4526280"/>
          </a:xfrm>
          <a:prstGeom prst="roundRect">
            <a:avLst>
              <a:gd name="adj" fmla="val 2000"/>
            </a:avLst>
          </a:prstGeom>
          <a:solidFill>
            <a:srgbClr val="E6F6F0"/>
          </a:solidFill>
          <a:ln w="19050">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034528" y="1380744"/>
            <a:ext cx="3697224" cy="274320"/>
          </a:xfrm>
          <a:prstGeom prst="rect">
            <a:avLst/>
          </a:prstGeom>
          <a:noFill/>
        </p:spPr>
        <p:txBody>
          <a:bodyPr wrap="square" lIns="0" rIns="0" tIns="0" bIns="0" anchor="ctr" rtlCol="0"/>
          <a:lstStyle/>
          <a:p>
            <a:pPr marL="0" indent="0" algn="ctr">
              <a:buNone/>
            </a:pPr>
            <a:r>
              <a:rPr sz="1250" b="1" lang="en-US" dirty="0">
                <a:solidFill>
                  <a:srgbClr val="0E7A52"/>
                </a:solidFill>
                <a:latin typeface="Yu Gothic" pitchFamily="34" charset="0"/>
                <a:ea typeface="Yu Gothic" pitchFamily="34" charset="-122"/>
                <a:cs typeface="Yu Gothic" pitchFamily="34" charset="-120"/>
              </a:rPr>
              <a:t>Supply Chain &amp; Mfg</a:t>
            </a:r>
          </a:p>
        </p:txBody>
      </p:sp>
      <p:sp>
        <p:nvSpPr>
          <p:cNvPr id="101" name="Rounded Rectangle 100"/>
          <p:cNvSpPr/>
          <p:nvPr/>
        </p:nvSpPr>
        <p:spPr>
          <a:xfrm>
            <a:off x="8107680" y="1709928"/>
            <a:ext cx="3550920" cy="1890522"/>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07680" y="1819655"/>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製造</a:t>
            </a:r>
          </a:p>
        </p:txBody>
      </p:sp>
      <p:sp>
        <p:nvSpPr>
          <p:cNvPr id="103" name="Rectangle 102"/>
          <p:cNvSpPr/>
          <p:nvPr/>
        </p:nvSpPr>
        <p:spPr>
          <a:xfrm>
            <a:off x="8199120" y="2112263"/>
            <a:ext cx="1656588" cy="182880"/>
          </a:xfrm>
          <a:prstGeom prst="rect">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253984" y="2112263"/>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生産計画（2）</a:t>
            </a:r>
          </a:p>
        </p:txBody>
      </p:sp>
      <p:sp>
        <p:nvSpPr>
          <p:cNvPr id="105" name="Rectangle 104"/>
          <p:cNvSpPr/>
          <p:nvPr/>
        </p:nvSpPr>
        <p:spPr>
          <a:xfrm>
            <a:off x="9910572" y="2112263"/>
            <a:ext cx="1656588" cy="182880"/>
          </a:xfrm>
          <a:prstGeom prst="rect">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965436" y="2112263"/>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原材料・資材（2）</a:t>
            </a:r>
          </a:p>
        </p:txBody>
      </p:sp>
      <p:sp>
        <p:nvSpPr>
          <p:cNvPr id="107" name="Rectangle 106"/>
          <p:cNvSpPr/>
          <p:nvPr/>
        </p:nvSpPr>
        <p:spPr>
          <a:xfrm>
            <a:off x="8199120" y="2327147"/>
            <a:ext cx="1656588" cy="182880"/>
          </a:xfrm>
          <a:prstGeom prst="rect">
            <a:avLst/>
          </a:prstGeom>
          <a:solidFill>
            <a:srgbClr val="00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253984" y="2327147"/>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バッチ記録（5）</a:t>
            </a:r>
          </a:p>
        </p:txBody>
      </p:sp>
      <p:sp>
        <p:nvSpPr>
          <p:cNvPr id="109" name="Rectangle 108"/>
          <p:cNvSpPr/>
          <p:nvPr/>
        </p:nvSpPr>
        <p:spPr>
          <a:xfrm>
            <a:off x="9910572" y="2327147"/>
            <a:ext cx="1656588" cy="182880"/>
          </a:xfrm>
          <a:prstGeom prst="rect">
            <a:avLst/>
          </a:prstGeom>
          <a:solidFill>
            <a:srgbClr val="00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9965436" y="2327147"/>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ロット（4）</a:t>
            </a:r>
          </a:p>
        </p:txBody>
      </p:sp>
      <p:sp>
        <p:nvSpPr>
          <p:cNvPr id="111" name="Rectangle 110"/>
          <p:cNvSpPr/>
          <p:nvPr/>
        </p:nvSpPr>
        <p:spPr>
          <a:xfrm>
            <a:off x="8199120" y="2542031"/>
            <a:ext cx="1656588" cy="274320"/>
          </a:xfrm>
          <a:prstGeom prst="rect">
            <a:avLst/>
          </a:prstGeom>
          <a:solidFill>
            <a:srgbClr val="00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253984" y="2542031"/>
            <a:ext cx="1546860" cy="27432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工程データ（3）</a:t>
            </a:r>
          </a:p>
        </p:txBody>
      </p:sp>
      <p:sp>
        <p:nvSpPr>
          <p:cNvPr id="113" name="Rectangle 112"/>
          <p:cNvSpPr/>
          <p:nvPr/>
        </p:nvSpPr>
        <p:spPr>
          <a:xfrm>
            <a:off x="9910572" y="2542031"/>
            <a:ext cx="1656588" cy="274320"/>
          </a:xfrm>
          <a:prstGeom prst="rect">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9965436" y="2542031"/>
            <a:ext cx="1546860"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設備・環境モニタリングデータ（2）</a:t>
            </a:r>
          </a:p>
        </p:txBody>
      </p:sp>
      <p:sp>
        <p:nvSpPr>
          <p:cNvPr id="115" name="Rounded Rectangle 114"/>
          <p:cNvSpPr/>
          <p:nvPr/>
        </p:nvSpPr>
        <p:spPr>
          <a:xfrm>
            <a:off x="8107680" y="3673602"/>
            <a:ext cx="3550920" cy="2105406"/>
          </a:xfrm>
          <a:prstGeom prst="roundRect">
            <a:avLst>
              <a:gd name="adj" fmla="val 4000"/>
            </a:avLst>
          </a:prstGeom>
          <a:solidFill>
            <a:srgbClr val="FFFFFF"/>
          </a:solidFill>
          <a:ln w="9525">
            <a:solidFill>
              <a:srgbClr val="D5DD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07680" y="3783330"/>
            <a:ext cx="3550920" cy="237744"/>
          </a:xfrm>
          <a:prstGeom prst="rect">
            <a:avLst/>
          </a:prstGeom>
          <a:noFill/>
        </p:spPr>
        <p:txBody>
          <a:bodyPr wrap="square" lIns="0" rIns="0" tIns="0" bIns="0" anchor="ctr" rtlCol="0"/>
          <a:lstStyle/>
          <a:p>
            <a:pPr marL="0" indent="0" algn="ctr">
              <a:buNone/>
            </a:pPr>
            <a:r>
              <a:rPr sz="1050" b="1" lang="en-US" dirty="0">
                <a:solidFill>
                  <a:srgbClr val="1F2E35"/>
                </a:solidFill>
                <a:latin typeface="Yu Gothic" pitchFamily="34" charset="0"/>
                <a:ea typeface="Yu Gothic" pitchFamily="34" charset="-122"/>
                <a:cs typeface="Yu Gothic" pitchFamily="34" charset="-120"/>
              </a:rPr>
              <a:t>サプライチェーン</a:t>
            </a:r>
          </a:p>
        </p:txBody>
      </p:sp>
      <p:sp>
        <p:nvSpPr>
          <p:cNvPr id="117" name="Rectangle 116"/>
          <p:cNvSpPr/>
          <p:nvPr/>
        </p:nvSpPr>
        <p:spPr>
          <a:xfrm>
            <a:off x="8199120" y="4075938"/>
            <a:ext cx="1656588" cy="182880"/>
          </a:xfrm>
          <a:prstGeom prst="rect">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253984" y="4075938"/>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需給計画（2）</a:t>
            </a:r>
          </a:p>
        </p:txBody>
      </p:sp>
      <p:sp>
        <p:nvSpPr>
          <p:cNvPr id="119" name="Rectangle 118"/>
          <p:cNvSpPr/>
          <p:nvPr/>
        </p:nvSpPr>
        <p:spPr>
          <a:xfrm>
            <a:off x="9910572" y="4075938"/>
            <a:ext cx="1656588" cy="182880"/>
          </a:xfrm>
          <a:prstGeom prst="rect">
            <a:avLst/>
          </a:prstGeom>
          <a:solidFill>
            <a:srgbClr val="00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965436" y="4075938"/>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在庫（5）</a:t>
            </a:r>
          </a:p>
        </p:txBody>
      </p:sp>
      <p:sp>
        <p:nvSpPr>
          <p:cNvPr id="121" name="Rectangle 120"/>
          <p:cNvSpPr/>
          <p:nvPr/>
        </p:nvSpPr>
        <p:spPr>
          <a:xfrm>
            <a:off x="8199120" y="4290822"/>
            <a:ext cx="1656588" cy="182880"/>
          </a:xfrm>
          <a:prstGeom prst="rect">
            <a:avLst/>
          </a:prstGeom>
          <a:solidFill>
            <a:srgbClr val="00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8253984" y="4290822"/>
            <a:ext cx="1546860"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受注・出荷（3）</a:t>
            </a:r>
          </a:p>
        </p:txBody>
      </p:sp>
      <p:sp>
        <p:nvSpPr>
          <p:cNvPr id="123" name="Rectangle 122"/>
          <p:cNvSpPr/>
          <p:nvPr/>
        </p:nvSpPr>
        <p:spPr>
          <a:xfrm>
            <a:off x="9910572" y="4290822"/>
            <a:ext cx="1656588" cy="182880"/>
          </a:xfrm>
          <a:prstGeom prst="rect">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9965436" y="4290822"/>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温度記録</a:t>
            </a:r>
          </a:p>
        </p:txBody>
      </p:sp>
      <p:sp>
        <p:nvSpPr>
          <p:cNvPr id="125" name="Rectangle 124"/>
          <p:cNvSpPr/>
          <p:nvPr/>
        </p:nvSpPr>
        <p:spPr>
          <a:xfrm>
            <a:off x="8199120" y="4505706"/>
            <a:ext cx="1656588" cy="274320"/>
          </a:xfrm>
          <a:prstGeom prst="rect">
            <a:avLst/>
          </a:prstGeom>
          <a:solidFill>
            <a:srgbClr val="E4EAEC"/>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8253984" y="4505706"/>
            <a:ext cx="1546860" cy="274320"/>
          </a:xfrm>
          <a:prstGeom prst="rect">
            <a:avLst/>
          </a:prstGeom>
          <a:noFill/>
        </p:spPr>
        <p:txBody>
          <a:bodyPr wrap="square" lIns="0" rIns="0" tIns="0" bIns="0" anchor="ctr" rtlCol="0"/>
          <a:lstStyle/>
          <a:p>
            <a:pPr marL="0" indent="0" algn="ctr">
              <a:buNone/>
            </a:pPr>
            <a:r>
              <a:rPr sz="700" b="0" lang="en-US" dirty="0">
                <a:solidFill>
                  <a:srgbClr val="1F2E35"/>
                </a:solidFill>
                <a:latin typeface="Yu Gothic" pitchFamily="34" charset="0"/>
                <a:ea typeface="Yu Gothic" pitchFamily="34" charset="-122"/>
                <a:cs typeface="Yu Gothic" pitchFamily="34" charset="-120"/>
              </a:rPr>
              <a:t>製品識別子・取引情報（DSCSA）（2）</a:t>
            </a:r>
          </a:p>
        </p:txBody>
      </p:sp>
      <p:sp>
        <p:nvSpPr>
          <p:cNvPr id="127" name="Rectangle 126"/>
          <p:cNvSpPr/>
          <p:nvPr/>
        </p:nvSpPr>
        <p:spPr>
          <a:xfrm>
            <a:off x="9910572" y="4505706"/>
            <a:ext cx="1656588" cy="274320"/>
          </a:xfrm>
          <a:prstGeom prst="rect">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9965436" y="4505706"/>
            <a:ext cx="1546860" cy="27432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回収記録</a:t>
            </a:r>
          </a:p>
        </p:txBody>
      </p:sp>
      <p:sp>
        <p:nvSpPr>
          <p:cNvPr id="129" name="Rounded Rectangle 128"/>
          <p:cNvSpPr/>
          <p:nvPr/>
        </p:nvSpPr>
        <p:spPr>
          <a:xfrm>
            <a:off x="8199120" y="4812030"/>
            <a:ext cx="1656588" cy="182880"/>
          </a:xfrm>
          <a:prstGeom prst="roundRect">
            <a:avLst>
              <a:gd name="adj" fmla="val 50000"/>
            </a:avLst>
          </a:prstGeom>
          <a:solidFill>
            <a:srgbClr val="FFFFFF"/>
          </a:solidFill>
          <a:ln w="952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8253984" y="4812030"/>
            <a:ext cx="1546860" cy="182880"/>
          </a:xfrm>
          <a:prstGeom prst="rect">
            <a:avLst/>
          </a:prstGeom>
          <a:noFill/>
        </p:spPr>
        <p:txBody>
          <a:bodyPr wrap="square" lIns="0" rIns="0" tIns="0" bIns="0" anchor="ctr" rtlCol="0"/>
          <a:lstStyle/>
          <a:p>
            <a:pPr marL="0" indent="0" algn="ctr">
              <a:buNone/>
            </a:pPr>
            <a:r>
              <a:rPr sz="750" b="0" lang="en-US" dirty="0">
                <a:solidFill>
                  <a:srgbClr val="1F2E35"/>
                </a:solidFill>
                <a:latin typeface="Yu Gothic" pitchFamily="34" charset="0"/>
                <a:ea typeface="Yu Gothic" pitchFamily="34" charset="-122"/>
                <a:cs typeface="Yu Gothic" pitchFamily="34" charset="-120"/>
              </a:rPr>
              <a:t>供給継続計画</a:t>
            </a:r>
          </a:p>
        </p:txBody>
      </p:sp>
      <p:sp>
        <p:nvSpPr>
          <p:cNvPr id="131" name="Chevron 130"/>
          <p:cNvSpPr/>
          <p:nvPr/>
        </p:nvSpPr>
        <p:spPr>
          <a:xfrm rot="5400000">
            <a:off x="9823704" y="5765292"/>
            <a:ext cx="118872" cy="310896"/>
          </a:xfrm>
          <a:prstGeom prst="chevron">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457200" y="5989320"/>
            <a:ext cx="11274552" cy="566928"/>
          </a:xfrm>
          <a:prstGeom prst="roundRect">
            <a:avLst>
              <a:gd name="adj" fmla="val 8000"/>
            </a:avLst>
          </a:prstGeom>
          <a:solidFill>
            <a:srgbClr val="FFFFFF"/>
          </a:solidFill>
          <a:ln w="19050">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57200" y="6025896"/>
            <a:ext cx="11274552" cy="219456"/>
          </a:xfrm>
          <a:prstGeom prst="rect">
            <a:avLst/>
          </a:prstGeom>
          <a:noFill/>
        </p:spPr>
        <p:txBody>
          <a:bodyPr wrap="square" lIns="0" rIns="0" tIns="0" bIns="0" anchor="ctr" rtlCol="0"/>
          <a:lstStyle/>
          <a:p>
            <a:pPr marL="0" indent="0" algn="ctr">
              <a:buNone/>
            </a:pPr>
            <a:r>
              <a:rPr sz="1150" b="1" lang="en-US" dirty="0">
                <a:solidFill>
                  <a:srgbClr val="1F2E35"/>
                </a:solidFill>
                <a:latin typeface="Yu Gothic" pitchFamily="34" charset="0"/>
                <a:ea typeface="Yu Gothic" pitchFamily="34" charset="-122"/>
                <a:cs typeface="Yu Gothic" pitchFamily="34" charset="-120"/>
              </a:rPr>
              <a:t>共通基盤（Support / Foundation）</a:t>
            </a:r>
          </a:p>
        </p:txBody>
      </p:sp>
      <p:sp>
        <p:nvSpPr>
          <p:cNvPr id="134" name="Rectangle 133"/>
          <p:cNvSpPr/>
          <p:nvPr/>
        </p:nvSpPr>
        <p:spPr>
          <a:xfrm>
            <a:off x="3845052" y="6300216"/>
            <a:ext cx="2194560" cy="182880"/>
          </a:xfrm>
          <a:prstGeom prst="rect">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899915" y="6300216"/>
            <a:ext cx="2084831"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製品マスタ（4）</a:t>
            </a:r>
          </a:p>
        </p:txBody>
      </p:sp>
      <p:sp>
        <p:nvSpPr>
          <p:cNvPr id="136" name="Rectangle 135"/>
          <p:cNvSpPr/>
          <p:nvPr/>
        </p:nvSpPr>
        <p:spPr>
          <a:xfrm>
            <a:off x="6149340" y="6300216"/>
            <a:ext cx="2194560" cy="182880"/>
          </a:xfrm>
          <a:prstGeom prst="rect">
            <a:avLst/>
          </a:prstGeom>
          <a:solidFill>
            <a:srgbClr val="00FFFF"/>
          </a:solidFill>
          <a:ln w="9525">
            <a:solidFill>
              <a:srgbClr val="1F2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04203" y="6300216"/>
            <a:ext cx="2084831" cy="182880"/>
          </a:xfrm>
          <a:prstGeom prst="rect">
            <a:avLst/>
          </a:prstGeom>
          <a:noFill/>
        </p:spPr>
        <p:txBody>
          <a:bodyPr wrap="square" lIns="0" rIns="0" tIns="0" bIns="0" anchor="ctr" rtlCol="0"/>
          <a:lstStyle/>
          <a:p>
            <a:pPr marL="0" indent="0" algn="ctr">
              <a:buNone/>
            </a:pPr>
            <a:r>
              <a:rPr sz="750" b="1" lang="en-US" dirty="0">
                <a:solidFill>
                  <a:srgbClr val="000000"/>
                </a:solidFill>
                <a:latin typeface="Yu Gothic" pitchFamily="34" charset="0"/>
                <a:ea typeface="Yu Gothic" pitchFamily="34" charset="-122"/>
                <a:cs typeface="Yu Gothic" pitchFamily="34" charset="-120"/>
              </a:rPr>
              <a:t>患者・被験者（5）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9144000" cy="640080"/>
          </a:xfrm>
          <a:prstGeom prst="rect">
            <a:avLst/>
          </a:prstGeom>
          <a:noFill/>
          <a:ln/>
        </p:spPr>
        <p:txBody>
          <a:bodyPr wrap="square" lIns="0" tIns="0" rIns="0" bIns="0" rtlCol="0" anchor="ctr"/>
          <a:lstStyle/>
          <a:p>
            <a:pPr indent="0" marL="0">
              <a:buNone/>
            </a:pPr>
            <a:r>
              <a:rPr lang="en-US" sz="3000" b="1" dirty="0">
                <a:solidFill>
                  <a:srgbClr val="1F2E35"/>
                </a:solidFill>
                <a:latin typeface="Yu Gothic" pitchFamily="34" charset="0"/>
                <a:ea typeface="Yu Gothic" pitchFamily="34" charset="-122"/>
                <a:cs typeface="Yu Gothic" pitchFamily="34" charset="-120"/>
              </a:rPr>
              <a:t>示唆</a:t>
            </a:r>
            <a:endParaRPr lang="en-US" sz="3000" dirty="0"/>
          </a:p>
        </p:txBody>
      </p:sp>
      <p:sp>
        <p:nvSpPr>
          <p:cNvPr id="3" name="Text 1"/>
          <p:cNvSpPr txBox="1"/>
          <p:nvPr/>
        </p:nvSpPr>
        <p:spPr>
          <a:xfrm>
            <a:off x="457200" y="960120"/>
            <a:ext cx="11247120" cy="365760"/>
          </a:xfrm>
          <a:prstGeom prst="rect">
            <a:avLst/>
          </a:prstGeom>
          <a:noFill/>
          <a:ln/>
        </p:spPr>
        <p:txBody>
          <a:bodyPr wrap="square" lIns="0" tIns="0" rIns="0" bIns="0" rtlCol="0" anchor="ctr"/>
          <a:lstStyle/>
          <a:p>
            <a:pPr indent="0" marL="0">
              <a:buNone/>
            </a:pPr>
            <a:r>
              <a:rPr lang="en-US" sz="1400" dirty="0">
                <a:solidFill>
                  <a:srgbClr val="5B6B70"/>
                </a:solidFill>
                <a:latin typeface="Yu Gothic" pitchFamily="34" charset="0"/>
                <a:ea typeface="Yu Gothic" pitchFamily="34" charset="-122"/>
                <a:cs typeface="Yu Gothic" pitchFamily="34" charset="-120"/>
              </a:rPr>
              <a:t>ビジネス・アプリケーション・データの3つの視点から読み取れること</a:t>
            </a:r>
            <a:endParaRPr lang="en-US" sz="1400" dirty="0"/>
          </a:p>
        </p:txBody>
      </p:sp>
      <p:sp>
        <p:nvSpPr>
          <p:cNvPr id="4" name="Rounded Rectangle 3"/>
          <p:cNvSpPr/>
          <p:nvPr/>
        </p:nvSpPr>
        <p:spPr>
          <a:xfrm>
            <a:off x="457200" y="1371600"/>
            <a:ext cx="3636264" cy="4800600"/>
          </a:xfrm>
          <a:prstGeom prst="roundRect">
            <a:avLst>
              <a:gd name="adj" fmla="val 3000"/>
            </a:avLst>
          </a:prstGeom>
          <a:solidFill>
            <a:srgbClr val="FFFFFF"/>
          </a:solidFill>
          <a:ln w="19050">
            <a:solidFill>
              <a:srgbClr val="2E7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371600"/>
            <a:ext cx="3636264" cy="566928"/>
          </a:xfrm>
          <a:prstGeom prst="roundRect">
            <a:avLst>
              <a:gd name="adj" fmla="val 12000"/>
            </a:avLst>
          </a:prstGeom>
          <a:solidFill>
            <a:srgbClr val="2E7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37360"/>
            <a:ext cx="3636264" cy="201168"/>
          </a:xfrm>
          <a:prstGeom prst="rect">
            <a:avLst/>
          </a:prstGeom>
          <a:solidFill>
            <a:srgbClr val="2E7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26464"/>
            <a:ext cx="3270504" cy="274320"/>
          </a:xfrm>
          <a:prstGeom prst="rect">
            <a:avLst/>
          </a:prstGeom>
          <a:noFill/>
        </p:spPr>
        <p:txBody>
          <a:bodyPr wrap="square" lIns="0" rIns="0" tIns="0" bIns="0" anchor="ctr" rtlCol="0"/>
          <a:lstStyle/>
          <a:p>
            <a:pPr marL="0" indent="0">
              <a:buNone/>
            </a:pPr>
            <a:r>
              <a:rPr sz="1500" b="1" lang="en-US" dirty="0">
                <a:solidFill>
                  <a:srgbClr val="FFFFFF"/>
                </a:solidFill>
                <a:latin typeface="Yu Gothic" pitchFamily="34" charset="0"/>
                <a:ea typeface="Yu Gothic" pitchFamily="34" charset="-122"/>
                <a:cs typeface="Yu Gothic" pitchFamily="34" charset="-120"/>
              </a:rPr>
              <a:t>ビジネス</a:t>
            </a:r>
          </a:p>
        </p:txBody>
      </p:sp>
      <p:sp>
        <p:nvSpPr>
          <p:cNvPr id="8" name="TextBox 7"/>
          <p:cNvSpPr txBox="1"/>
          <p:nvPr/>
        </p:nvSpPr>
        <p:spPr>
          <a:xfrm>
            <a:off x="640080" y="1700784"/>
            <a:ext cx="3270504" cy="182880"/>
          </a:xfrm>
          <a:prstGeom prst="rect">
            <a:avLst/>
          </a:prstGeom>
          <a:noFill/>
        </p:spPr>
        <p:txBody>
          <a:bodyPr wrap="square" lIns="0" rIns="0" tIns="0" bIns="0" anchor="ctr" rtlCol="0"/>
          <a:lstStyle/>
          <a:p>
            <a:pPr marL="0" indent="0">
              <a:buNone/>
            </a:pPr>
            <a:r>
              <a:rPr sz="850" b="0" lang="en-US" dirty="0">
                <a:solidFill>
                  <a:srgbClr val="DDE6E8"/>
                </a:solidFill>
                <a:latin typeface="Yu Gothic" pitchFamily="34" charset="0"/>
                <a:ea typeface="Yu Gothic" pitchFamily="34" charset="-122"/>
                <a:cs typeface="Yu Gothic" pitchFamily="34" charset="-120"/>
              </a:rPr>
              <a:t>Value Stream × Capability</a:t>
            </a:r>
          </a:p>
        </p:txBody>
      </p:sp>
      <p:sp>
        <p:nvSpPr>
          <p:cNvPr id="9" name="Oval 8"/>
          <p:cNvSpPr/>
          <p:nvPr/>
        </p:nvSpPr>
        <p:spPr>
          <a:xfrm>
            <a:off x="640080" y="2139696"/>
            <a:ext cx="274320" cy="274320"/>
          </a:xfrm>
          <a:prstGeom prst="ellipse">
            <a:avLst/>
          </a:prstGeom>
          <a:solidFill>
            <a:srgbClr val="2E7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139696"/>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1</a:t>
            </a:r>
          </a:p>
        </p:txBody>
      </p:sp>
      <p:sp>
        <p:nvSpPr>
          <p:cNvPr id="11" name="TextBox 10"/>
          <p:cNvSpPr txBox="1"/>
          <p:nvPr/>
        </p:nvSpPr>
        <p:spPr>
          <a:xfrm>
            <a:off x="1024128" y="2121408"/>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開発はリレー、商業化はチーム戦</a:t>
            </a:r>
          </a:p>
        </p:txBody>
      </p:sp>
      <p:sp>
        <p:nvSpPr>
          <p:cNvPr id="12" name="TextBox 11"/>
          <p:cNvSpPr txBox="1"/>
          <p:nvPr/>
        </p:nvSpPr>
        <p:spPr>
          <a:xfrm>
            <a:off x="1024128" y="2487168"/>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開発の各段階は中核の領域がほぼ1つ（創薬研究→研究17件、CMC開発→CMC 23件）。上市は市場アクセス7・メディカル3・サプライチェーン2と複数領域が同時に主役</a:t>
            </a:r>
          </a:p>
        </p:txBody>
      </p:sp>
      <p:cxnSp>
        <p:nvCxnSpPr>
          <p:cNvPr id="13" name="Connector 12"/>
          <p:cNvCxnSpPr/>
          <p:nvPr/>
        </p:nvCxnSpPr>
        <p:spPr>
          <a:xfrm>
            <a:off x="640080" y="3352799"/>
            <a:ext cx="3270503"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444239"/>
            <a:ext cx="274320" cy="274320"/>
          </a:xfrm>
          <a:prstGeom prst="ellipse">
            <a:avLst/>
          </a:prstGeom>
          <a:solidFill>
            <a:srgbClr val="2E7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444239"/>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2</a:t>
            </a:r>
          </a:p>
        </p:txBody>
      </p:sp>
      <p:sp>
        <p:nvSpPr>
          <p:cNvPr id="16" name="TextBox 15"/>
          <p:cNvSpPr txBox="1"/>
          <p:nvPr/>
        </p:nvSpPr>
        <p:spPr>
          <a:xfrm>
            <a:off x="1024128" y="3425951"/>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段階をまたぐ機能がある</a:t>
            </a:r>
          </a:p>
        </p:txBody>
      </p:sp>
      <p:sp>
        <p:nvSpPr>
          <p:cNvPr id="17" name="TextBox 16"/>
          <p:cNvSpPr txBox="1"/>
          <p:nvPr/>
        </p:nvSpPr>
        <p:spPr>
          <a:xfrm>
            <a:off x="1024128" y="3791712"/>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臨床開発・品質は7段階、薬事は6段階に関与（主＋支援）。段階別の組織とは別に、横断の機能として置く</a:t>
            </a:r>
          </a:p>
        </p:txBody>
      </p:sp>
      <p:cxnSp>
        <p:nvCxnSpPr>
          <p:cNvPr id="18" name="Connector 17"/>
          <p:cNvCxnSpPr/>
          <p:nvPr/>
        </p:nvCxnSpPr>
        <p:spPr>
          <a:xfrm>
            <a:off x="640080" y="4657344"/>
            <a:ext cx="3270503"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40080" y="4748783"/>
            <a:ext cx="274320" cy="274320"/>
          </a:xfrm>
          <a:prstGeom prst="ellipse">
            <a:avLst/>
          </a:prstGeom>
          <a:solidFill>
            <a:srgbClr val="2E7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748783"/>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3</a:t>
            </a:r>
          </a:p>
        </p:txBody>
      </p:sp>
      <p:sp>
        <p:nvSpPr>
          <p:cNvPr id="21" name="TextBox 20"/>
          <p:cNvSpPr txBox="1"/>
          <p:nvPr/>
        </p:nvSpPr>
        <p:spPr>
          <a:xfrm>
            <a:off x="1024128" y="4730496"/>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市販後は開発の延長</a:t>
            </a:r>
          </a:p>
        </p:txBody>
      </p:sp>
      <p:sp>
        <p:nvSpPr>
          <p:cNvPr id="22" name="TextBox 21"/>
          <p:cNvSpPr txBox="1"/>
          <p:nvPr/>
        </p:nvSpPr>
        <p:spPr>
          <a:xfrm>
            <a:off x="1024128" y="5096256"/>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市販後の「主」はPV・薬事・臨床開発が中心で、商業は1件。患者レジストリ・PMRを担う開発組織の関与が前提</a:t>
            </a:r>
          </a:p>
        </p:txBody>
      </p:sp>
      <p:sp>
        <p:nvSpPr>
          <p:cNvPr id="23" name="Rounded Rectangle 22"/>
          <p:cNvSpPr/>
          <p:nvPr/>
        </p:nvSpPr>
        <p:spPr>
          <a:xfrm>
            <a:off x="4276344" y="1371600"/>
            <a:ext cx="3636264" cy="4800600"/>
          </a:xfrm>
          <a:prstGeom prst="roundRect">
            <a:avLst>
              <a:gd name="adj" fmla="val 3000"/>
            </a:avLst>
          </a:prstGeom>
          <a:solidFill>
            <a:srgbClr val="FFFFFF"/>
          </a:solidFill>
          <a:ln w="19050">
            <a:solidFill>
              <a:srgbClr val="2F4F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76344" y="1371600"/>
            <a:ext cx="3636264" cy="566928"/>
          </a:xfrm>
          <a:prstGeom prst="roundRect">
            <a:avLst>
              <a:gd name="adj" fmla="val 12000"/>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76344" y="1737360"/>
            <a:ext cx="3636264" cy="201168"/>
          </a:xfrm>
          <a:prstGeom prst="rect">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9224" y="1426464"/>
            <a:ext cx="3270504" cy="274320"/>
          </a:xfrm>
          <a:prstGeom prst="rect">
            <a:avLst/>
          </a:prstGeom>
          <a:noFill/>
        </p:spPr>
        <p:txBody>
          <a:bodyPr wrap="square" lIns="0" rIns="0" tIns="0" bIns="0" anchor="ctr" rtlCol="0"/>
          <a:lstStyle/>
          <a:p>
            <a:pPr marL="0" indent="0">
              <a:buNone/>
            </a:pPr>
            <a:r>
              <a:rPr sz="1500" b="1" lang="en-US" dirty="0">
                <a:solidFill>
                  <a:srgbClr val="FFFFFF"/>
                </a:solidFill>
                <a:latin typeface="Yu Gothic" pitchFamily="34" charset="0"/>
                <a:ea typeface="Yu Gothic" pitchFamily="34" charset="-122"/>
                <a:cs typeface="Yu Gothic" pitchFamily="34" charset="-120"/>
              </a:rPr>
              <a:t>アプリケーション</a:t>
            </a:r>
          </a:p>
        </p:txBody>
      </p:sp>
      <p:sp>
        <p:nvSpPr>
          <p:cNvPr id="27" name="TextBox 26"/>
          <p:cNvSpPr txBox="1"/>
          <p:nvPr/>
        </p:nvSpPr>
        <p:spPr>
          <a:xfrm>
            <a:off x="4459224" y="1700784"/>
            <a:ext cx="3270504" cy="182880"/>
          </a:xfrm>
          <a:prstGeom prst="rect">
            <a:avLst/>
          </a:prstGeom>
          <a:noFill/>
        </p:spPr>
        <p:txBody>
          <a:bodyPr wrap="square" lIns="0" rIns="0" tIns="0" bIns="0" anchor="ctr" rtlCol="0"/>
          <a:lstStyle/>
          <a:p>
            <a:pPr marL="0" indent="0">
              <a:buNone/>
            </a:pPr>
            <a:r>
              <a:rPr sz="850" b="0" lang="en-US" dirty="0">
                <a:solidFill>
                  <a:srgbClr val="DDE6E8"/>
                </a:solidFill>
                <a:latin typeface="Yu Gothic" pitchFamily="34" charset="0"/>
                <a:ea typeface="Yu Gothic" pitchFamily="34" charset="-122"/>
                <a:cs typeface="Yu Gothic" pitchFamily="34" charset="-120"/>
              </a:rPr>
              <a:t>Capability × Application</a:t>
            </a:r>
          </a:p>
        </p:txBody>
      </p:sp>
      <p:sp>
        <p:nvSpPr>
          <p:cNvPr id="28" name="Oval 27"/>
          <p:cNvSpPr/>
          <p:nvPr/>
        </p:nvSpPr>
        <p:spPr>
          <a:xfrm>
            <a:off x="4459224" y="2139696"/>
            <a:ext cx="274320" cy="274320"/>
          </a:xfrm>
          <a:prstGeom prst="ellips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9224" y="2139696"/>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1</a:t>
            </a:r>
          </a:p>
        </p:txBody>
      </p:sp>
      <p:sp>
        <p:nvSpPr>
          <p:cNvPr id="30" name="TextBox 29"/>
          <p:cNvSpPr txBox="1"/>
          <p:nvPr/>
        </p:nvSpPr>
        <p:spPr>
          <a:xfrm>
            <a:off x="4843272" y="2121408"/>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ELNが研究開発の基盤</a:t>
            </a:r>
          </a:p>
        </p:txBody>
      </p:sp>
      <p:sp>
        <p:nvSpPr>
          <p:cNvPr id="31" name="TextBox 30"/>
          <p:cNvSpPr txBox="1"/>
          <p:nvPr/>
        </p:nvSpPr>
        <p:spPr>
          <a:xfrm>
            <a:off x="4843272" y="2487168"/>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ELNは25件の情報オブジェクトを作成・更新し、2位のLIMS（12件）の2倍。選定・標準化が研究とCMCの両方に効く</a:t>
            </a:r>
          </a:p>
        </p:txBody>
      </p:sp>
      <p:cxnSp>
        <p:nvCxnSpPr>
          <p:cNvPr id="32" name="Connector 31"/>
          <p:cNvCxnSpPr/>
          <p:nvPr/>
        </p:nvCxnSpPr>
        <p:spPr>
          <a:xfrm>
            <a:off x="4459224" y="3352799"/>
            <a:ext cx="3270504"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4459224" y="3444239"/>
            <a:ext cx="274320" cy="274320"/>
          </a:xfrm>
          <a:prstGeom prst="ellips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59224" y="3444239"/>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2</a:t>
            </a:r>
          </a:p>
        </p:txBody>
      </p:sp>
      <p:sp>
        <p:nvSpPr>
          <p:cNvPr id="35" name="TextBox 34"/>
          <p:cNvSpPr txBox="1"/>
          <p:nvPr/>
        </p:nvSpPr>
        <p:spPr>
          <a:xfrm>
            <a:off x="4843272" y="3425951"/>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製造と供給の境界＝システムの境界</a:t>
            </a:r>
          </a:p>
        </p:txBody>
      </p:sp>
      <p:sp>
        <p:nvSpPr>
          <p:cNvPr id="36" name="TextBox 35"/>
          <p:cNvSpPr txBox="1"/>
          <p:nvPr/>
        </p:nvSpPr>
        <p:spPr>
          <a:xfrm>
            <a:off x="4843272" y="3791712"/>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ERPは製造（商用製造）とサプライチェーン（上市〜供給・流通）にまたがる。ロット・在庫は4〜5のアプリで作成・更新される</a:t>
            </a:r>
          </a:p>
        </p:txBody>
      </p:sp>
      <p:cxnSp>
        <p:nvCxnSpPr>
          <p:cNvPr id="37" name="Connector 36"/>
          <p:cNvCxnSpPr/>
          <p:nvPr/>
        </p:nvCxnSpPr>
        <p:spPr>
          <a:xfrm>
            <a:off x="4459224" y="4657344"/>
            <a:ext cx="3270504"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459224" y="4748783"/>
            <a:ext cx="274320" cy="274320"/>
          </a:xfrm>
          <a:prstGeom prst="ellipse">
            <a:avLst/>
          </a:prstGeom>
          <a:solidFill>
            <a:srgbClr val="2F4F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59224" y="4748783"/>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3</a:t>
            </a:r>
          </a:p>
        </p:txBody>
      </p:sp>
      <p:sp>
        <p:nvSpPr>
          <p:cNvPr id="40" name="TextBox 39"/>
          <p:cNvSpPr txBox="1"/>
          <p:nvPr/>
        </p:nvSpPr>
        <p:spPr>
          <a:xfrm>
            <a:off x="4843272" y="4730496"/>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役割が未定義のアプリ</a:t>
            </a:r>
          </a:p>
        </p:txBody>
      </p:sp>
      <p:sp>
        <p:nvSpPr>
          <p:cNvPr id="41" name="TextBox 40"/>
          <p:cNvSpPr txBox="1"/>
          <p:nvPr/>
        </p:nvSpPr>
        <p:spPr>
          <a:xfrm>
            <a:off x="4843272" y="5096256"/>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LMSは作成・更新する情報オブジェクトが0件。教育記録の正本の置き場を確認する</a:t>
            </a:r>
          </a:p>
        </p:txBody>
      </p:sp>
      <p:sp>
        <p:nvSpPr>
          <p:cNvPr id="42" name="Rounded Rectangle 41"/>
          <p:cNvSpPr/>
          <p:nvPr/>
        </p:nvSpPr>
        <p:spPr>
          <a:xfrm>
            <a:off x="8095488" y="1371600"/>
            <a:ext cx="3636264" cy="4800600"/>
          </a:xfrm>
          <a:prstGeom prst="roundRect">
            <a:avLst>
              <a:gd name="adj" fmla="val 3000"/>
            </a:avLst>
          </a:prstGeom>
          <a:solidFill>
            <a:srgbClr val="FFFFFF"/>
          </a:solidFill>
          <a:ln w="19050">
            <a:solidFill>
              <a:srgbClr val="9C7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95488" y="1371600"/>
            <a:ext cx="3636264" cy="566928"/>
          </a:xfrm>
          <a:prstGeom prst="roundRect">
            <a:avLst>
              <a:gd name="adj" fmla="val 12000"/>
            </a:avLst>
          </a:prstGeom>
          <a:solidFill>
            <a:srgbClr val="9C7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5488" y="1737360"/>
            <a:ext cx="3636264" cy="201168"/>
          </a:xfrm>
          <a:prstGeom prst="rect">
            <a:avLst/>
          </a:prstGeom>
          <a:solidFill>
            <a:srgbClr val="9C7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8367" y="1426464"/>
            <a:ext cx="3270504" cy="274320"/>
          </a:xfrm>
          <a:prstGeom prst="rect">
            <a:avLst/>
          </a:prstGeom>
          <a:noFill/>
        </p:spPr>
        <p:txBody>
          <a:bodyPr wrap="square" lIns="0" rIns="0" tIns="0" bIns="0" anchor="ctr" rtlCol="0"/>
          <a:lstStyle/>
          <a:p>
            <a:pPr marL="0" indent="0">
              <a:buNone/>
            </a:pPr>
            <a:r>
              <a:rPr sz="1500" b="1" lang="en-US" dirty="0">
                <a:solidFill>
                  <a:srgbClr val="FFFFFF"/>
                </a:solidFill>
                <a:latin typeface="Yu Gothic" pitchFamily="34" charset="0"/>
                <a:ea typeface="Yu Gothic" pitchFamily="34" charset="-122"/>
                <a:cs typeface="Yu Gothic" pitchFamily="34" charset="-120"/>
              </a:rPr>
              <a:t>データ</a:t>
            </a:r>
          </a:p>
        </p:txBody>
      </p:sp>
      <p:sp>
        <p:nvSpPr>
          <p:cNvPr id="46" name="TextBox 45"/>
          <p:cNvSpPr txBox="1"/>
          <p:nvPr/>
        </p:nvSpPr>
        <p:spPr>
          <a:xfrm>
            <a:off x="8278367" y="1700784"/>
            <a:ext cx="3270504" cy="182880"/>
          </a:xfrm>
          <a:prstGeom prst="rect">
            <a:avLst/>
          </a:prstGeom>
          <a:noFill/>
        </p:spPr>
        <p:txBody>
          <a:bodyPr wrap="square" lIns="0" rIns="0" tIns="0" bIns="0" anchor="ctr" rtlCol="0"/>
          <a:lstStyle/>
          <a:p>
            <a:pPr marL="0" indent="0">
              <a:buNone/>
            </a:pPr>
            <a:r>
              <a:rPr sz="850" b="0" lang="en-US" dirty="0">
                <a:solidFill>
                  <a:srgbClr val="DDE6E8"/>
                </a:solidFill>
                <a:latin typeface="Yu Gothic" pitchFamily="34" charset="0"/>
                <a:ea typeface="Yu Gothic" pitchFamily="34" charset="-122"/>
                <a:cs typeface="Yu Gothic" pitchFamily="34" charset="-120"/>
              </a:rPr>
              <a:t>Information Object × Application</a:t>
            </a:r>
          </a:p>
        </p:txBody>
      </p:sp>
      <p:sp>
        <p:nvSpPr>
          <p:cNvPr id="47" name="Oval 46"/>
          <p:cNvSpPr/>
          <p:nvPr/>
        </p:nvSpPr>
        <p:spPr>
          <a:xfrm>
            <a:off x="8278367" y="2139696"/>
            <a:ext cx="274320" cy="274320"/>
          </a:xfrm>
          <a:prstGeom prst="ellipse">
            <a:avLst/>
          </a:prstGeom>
          <a:solidFill>
            <a:srgbClr val="9C7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8367" y="2139696"/>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1</a:t>
            </a:r>
          </a:p>
        </p:txBody>
      </p:sp>
      <p:sp>
        <p:nvSpPr>
          <p:cNvPr id="49" name="TextBox 48"/>
          <p:cNvSpPr txBox="1"/>
          <p:nvPr/>
        </p:nvSpPr>
        <p:spPr>
          <a:xfrm>
            <a:off x="8662416" y="2121408"/>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正本が1つに定まらないデータ</a:t>
            </a:r>
          </a:p>
        </p:txBody>
      </p:sp>
      <p:sp>
        <p:nvSpPr>
          <p:cNvPr id="50" name="TextBox 49"/>
          <p:cNvSpPr txBox="1"/>
          <p:nvPr/>
        </p:nvSpPr>
        <p:spPr>
          <a:xfrm>
            <a:off x="8662416" y="2487168"/>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3つ以上のアプリで作成・更新されるものが27件（データ18件・文書9件）。マスタ（製品・患者・適応症）はMDMで識別子を統一する</a:t>
            </a:r>
          </a:p>
        </p:txBody>
      </p:sp>
      <p:cxnSp>
        <p:nvCxnSpPr>
          <p:cNvPr id="51" name="Connector 50"/>
          <p:cNvCxnSpPr/>
          <p:nvPr/>
        </p:nvCxnSpPr>
        <p:spPr>
          <a:xfrm>
            <a:off x="8278367" y="3352799"/>
            <a:ext cx="3270505"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8278367" y="3444239"/>
            <a:ext cx="274320" cy="274320"/>
          </a:xfrm>
          <a:prstGeom prst="ellipse">
            <a:avLst/>
          </a:prstGeom>
          <a:solidFill>
            <a:srgbClr val="9C7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78367" y="3444239"/>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2</a:t>
            </a:r>
          </a:p>
        </p:txBody>
      </p:sp>
      <p:sp>
        <p:nvSpPr>
          <p:cNvPr id="54" name="TextBox 53"/>
          <p:cNvSpPr txBox="1"/>
          <p:nvPr/>
        </p:nvSpPr>
        <p:spPr>
          <a:xfrm>
            <a:off x="8662416" y="3425951"/>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文書は「最終版の置き場」が論点</a:t>
            </a:r>
          </a:p>
        </p:txBody>
      </p:sp>
      <p:sp>
        <p:nvSpPr>
          <p:cNvPr id="55" name="TextBox 54"/>
          <p:cNvSpPr txBox="1"/>
          <p:nvPr/>
        </p:nvSpPr>
        <p:spPr>
          <a:xfrm>
            <a:off x="8662416" y="3791712"/>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申請資料（6アプリ）・CSR・表示（USPI）などは、eDMS・RIM・eTMFのどれを最終版の置き場とするかを決める</a:t>
            </a:r>
          </a:p>
        </p:txBody>
      </p:sp>
      <p:cxnSp>
        <p:nvCxnSpPr>
          <p:cNvPr id="56" name="Connector 55"/>
          <p:cNvCxnSpPr/>
          <p:nvPr/>
        </p:nvCxnSpPr>
        <p:spPr>
          <a:xfrm>
            <a:off x="8278367" y="4657344"/>
            <a:ext cx="3270505"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8278367" y="4748783"/>
            <a:ext cx="274320" cy="274320"/>
          </a:xfrm>
          <a:prstGeom prst="ellipse">
            <a:avLst/>
          </a:prstGeom>
          <a:solidFill>
            <a:srgbClr val="9C7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78367" y="4748783"/>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3</a:t>
            </a:r>
          </a:p>
        </p:txBody>
      </p:sp>
      <p:sp>
        <p:nvSpPr>
          <p:cNvPr id="59" name="TextBox 58"/>
          <p:cNvSpPr txBox="1"/>
          <p:nvPr/>
        </p:nvSpPr>
        <p:spPr>
          <a:xfrm>
            <a:off x="8662416" y="4730496"/>
            <a:ext cx="2904744" cy="310896"/>
          </a:xfrm>
          <a:prstGeom prst="rect">
            <a:avLst/>
          </a:prstGeom>
          <a:noFill/>
        </p:spPr>
        <p:txBody>
          <a:bodyPr wrap="square" lIns="0" rIns="0" tIns="0" bIns="0" anchor="ctr" rtlCol="0"/>
          <a:lstStyle/>
          <a:p>
            <a:pPr marL="0" indent="0">
              <a:buNone/>
            </a:pPr>
            <a:r>
              <a:rPr sz="1150" b="1" lang="en-US" dirty="0">
                <a:solidFill>
                  <a:srgbClr val="1F2E35"/>
                </a:solidFill>
                <a:latin typeface="Yu Gothic" pitchFamily="34" charset="0"/>
                <a:ea typeface="Yu Gothic" pitchFamily="34" charset="-122"/>
                <a:cs typeface="Yu Gothic" pitchFamily="34" charset="-120"/>
              </a:rPr>
              <a:t>患者情報の分散</a:t>
            </a:r>
          </a:p>
        </p:txBody>
      </p:sp>
      <p:sp>
        <p:nvSpPr>
          <p:cNvPr id="60" name="TextBox 59"/>
          <p:cNvSpPr txBox="1"/>
          <p:nvPr/>
        </p:nvSpPr>
        <p:spPr>
          <a:xfrm>
            <a:off x="8662416" y="5096256"/>
            <a:ext cx="2904744" cy="847343"/>
          </a:xfrm>
          <a:prstGeom prst="rect">
            <a:avLst/>
          </a:prstGeom>
          <a:noFill/>
        </p:spPr>
        <p:txBody>
          <a:bodyPr wrap="square" lIns="0" rIns="0" tIns="0" bIns="0" anchor="t" rtlCol="0"/>
          <a:lstStyle/>
          <a:p>
            <a:pPr marL="0" indent="0">
              <a:buNone/>
            </a:pPr>
            <a:r>
              <a:rPr sz="950" b="0" lang="en-US" dirty="0">
                <a:solidFill>
                  <a:srgbClr val="1F2E35"/>
                </a:solidFill>
                <a:latin typeface="Yu Gothic" pitchFamily="34" charset="0"/>
                <a:ea typeface="Yu Gothic" pitchFamily="34" charset="-122"/>
                <a:cs typeface="Yu Gothic" pitchFamily="34" charset="-120"/>
              </a:rPr>
              <a:t>患者に関する個人情報を含むオブジェクトが10件。仮名化と実名が混在し、同一人物としてつなぐ範囲がガバナンス上の最大の論点</a:t>
            </a:r>
          </a:p>
        </p:txBody>
      </p:sp>
      <p:sp>
        <p:nvSpPr>
          <p:cNvPr id="61" name="TextBox 60"/>
          <p:cNvSpPr txBox="1"/>
          <p:nvPr/>
        </p:nvSpPr>
        <p:spPr>
          <a:xfrm>
            <a:off x="457200" y="6291072"/>
            <a:ext cx="11274552" cy="365760"/>
          </a:xfrm>
          <a:prstGeom prst="rect">
            <a:avLst/>
          </a:prstGeom>
          <a:noFill/>
        </p:spPr>
        <p:txBody>
          <a:bodyPr wrap="square" lIns="0" rIns="0" tIns="0" bIns="0" anchor="t" rtlCol="0"/>
          <a:lstStyle/>
          <a:p>
            <a:pPr marL="0" indent="0">
              <a:buNone/>
            </a:pPr>
            <a:r>
              <a:rPr sz="800" b="0" lang="en-US" dirty="0">
                <a:solidFill>
                  <a:srgbClr val="5B6B70"/>
                </a:solidFill>
                <a:latin typeface="Yu Gothic" pitchFamily="34" charset="0"/>
                <a:ea typeface="Yu Gothic" pitchFamily="34" charset="-122"/>
                <a:cs typeface="Yu Gothic" pitchFamily="34" charset="-120"/>
              </a:rPr>
              <a:t>出典：vs_capability_map.xlsx（VS×ケイパビリティ関係、アプリケーション×情報オブジェクト、情報オブジェクト）。アプリケーション×情報オブジェクトはケイパビリティ経由で機械的に割り当てたもので、実際の作成・更新より多めに出る。アプリの現状とのマッピングで絞り込む前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9144000" cy="640080"/>
          </a:xfrm>
          <a:prstGeom prst="rect">
            <a:avLst/>
          </a:prstGeom>
          <a:noFill/>
          <a:ln/>
        </p:spPr>
        <p:txBody>
          <a:bodyPr wrap="square" lIns="0" tIns="0" rIns="0" bIns="0" rtlCol="0" anchor="ctr"/>
          <a:lstStyle/>
          <a:p>
            <a:pPr indent="0" marL="0">
              <a:buNone/>
            </a:pPr>
            <a:r>
              <a:rPr lang="en-US" sz="3000" b="1" dirty="0">
                <a:solidFill>
                  <a:srgbClr val="1F2E35"/>
                </a:solidFill>
                <a:latin typeface="Yu Gothic" pitchFamily="34" charset="0"/>
                <a:ea typeface="Yu Gothic" pitchFamily="34" charset="-122"/>
                <a:cs typeface="Yu Gothic" pitchFamily="34" charset="-120"/>
              </a:rPr>
              <a:t>考察：重要なケイパビリティ領域</a:t>
            </a:r>
            <a:endParaRPr lang="en-US" sz="3000" dirty="0"/>
          </a:p>
        </p:txBody>
      </p:sp>
      <p:sp>
        <p:nvSpPr>
          <p:cNvPr id="3" name="Text 1"/>
          <p:cNvSpPr txBox="1"/>
          <p:nvPr/>
        </p:nvSpPr>
        <p:spPr>
          <a:xfrm>
            <a:off x="457200" y="960120"/>
            <a:ext cx="11247120" cy="365760"/>
          </a:xfrm>
          <a:prstGeom prst="rect">
            <a:avLst/>
          </a:prstGeom>
          <a:noFill/>
          <a:ln/>
        </p:spPr>
        <p:txBody>
          <a:bodyPr wrap="square" lIns="0" tIns="0" rIns="0" bIns="0" rtlCol="0" anchor="ctr"/>
          <a:lstStyle/>
          <a:p>
            <a:pPr indent="0" marL="0">
              <a:buNone/>
            </a:pPr>
            <a:r>
              <a:rPr lang="en-US" sz="1400" dirty="0">
                <a:solidFill>
                  <a:srgbClr val="5B6B70"/>
                </a:solidFill>
                <a:latin typeface="Yu Gothic" pitchFamily="34" charset="0"/>
                <a:ea typeface="Yu Gothic" pitchFamily="34" charset="-122"/>
                <a:cs typeface="Yu Gothic" pitchFamily="34" charset="-120"/>
              </a:rPr>
              <a:t>研究→CMC→製造の技術データの連鎖が「統合の要」。臨床・品質・薬事は、専用アプリで生まれ広く使われる「データの源泉」</a:t>
            </a:r>
            <a:endParaRPr lang="en-US" sz="1400" dirty="0"/>
          </a:p>
        </p:txBody>
      </p:sp>
      <p:sp>
        <p:nvSpPr>
          <p:cNvPr id="4" name="Rectangle 3"/>
          <p:cNvSpPr/>
          <p:nvPr/>
        </p:nvSpPr>
        <p:spPr>
          <a:xfrm>
            <a:off x="6345936" y="1371600"/>
            <a:ext cx="5385816" cy="2606040"/>
          </a:xfrm>
          <a:prstGeom prst="rect">
            <a:avLst/>
          </a:prstGeom>
          <a:solidFill>
            <a:srgbClr val="CCFFFF"/>
          </a:solidFill>
          <a:ln w="12700">
            <a:solidFill>
              <a:srgbClr val="C3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83096" y="1463040"/>
            <a:ext cx="5111496" cy="274320"/>
          </a:xfrm>
          <a:prstGeom prst="rect">
            <a:avLst/>
          </a:prstGeom>
          <a:noFill/>
        </p:spPr>
        <p:txBody>
          <a:bodyPr wrap="square" lIns="0" rIns="0" tIns="0" bIns="0" anchor="t" rtlCol="0"/>
          <a:lstStyle/>
          <a:p>
            <a:pPr marL="0" indent="0">
              <a:buNone/>
            </a:pPr>
            <a:r>
              <a:rPr sz="1300" b="1" lang="en-US" dirty="0">
                <a:solidFill>
                  <a:srgbClr val="000000"/>
                </a:solidFill>
                <a:latin typeface="Yu Gothic" pitchFamily="34" charset="0"/>
                <a:ea typeface="Yu Gothic" pitchFamily="34" charset="-122"/>
                <a:cs typeface="Yu Gothic" pitchFamily="34" charset="-120"/>
              </a:rPr>
              <a:t>統合の要（11）</a:t>
            </a:r>
          </a:p>
        </p:txBody>
      </p:sp>
      <p:sp>
        <p:nvSpPr>
          <p:cNvPr id="6" name="TextBox 5"/>
          <p:cNvSpPr txBox="1"/>
          <p:nvPr/>
        </p:nvSpPr>
        <p:spPr>
          <a:xfrm>
            <a:off x="6483096" y="1755648"/>
            <a:ext cx="5111496" cy="201168"/>
          </a:xfrm>
          <a:prstGeom prst="rect">
            <a:avLst/>
          </a:prstGeom>
          <a:noFill/>
        </p:spPr>
        <p:txBody>
          <a:bodyPr wrap="square" lIns="0" rIns="0" tIns="0" bIns="0" anchor="t" rtlCol="0"/>
          <a:lstStyle/>
          <a:p>
            <a:pPr marL="0" indent="0">
              <a:buNone/>
            </a:pPr>
            <a:r>
              <a:rPr sz="900" b="0" lang="en-US" dirty="0">
                <a:solidFill>
                  <a:srgbClr val="5B6B70"/>
                </a:solidFill>
                <a:latin typeface="Yu Gothic" pitchFamily="34" charset="0"/>
                <a:ea typeface="Yu Gothic" pitchFamily="34" charset="-122"/>
                <a:cs typeface="Yu Gothic" pitchFamily="34" charset="-120"/>
              </a:rPr>
              <a:t>共通アプリとデータ標準を最優先で整備</a:t>
            </a:r>
          </a:p>
        </p:txBody>
      </p:sp>
      <p:sp>
        <p:nvSpPr>
          <p:cNvPr id="7" name="Rounded Rectangle 6"/>
          <p:cNvSpPr/>
          <p:nvPr/>
        </p:nvSpPr>
        <p:spPr>
          <a:xfrm>
            <a:off x="6483096" y="2057400"/>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74536" y="2135124"/>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2057400"/>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分析法開発・品質特性評価</a:t>
            </a:r>
          </a:p>
        </p:txBody>
      </p:sp>
      <p:sp>
        <p:nvSpPr>
          <p:cNvPr id="10" name="Rounded Rectangle 9"/>
          <p:cNvSpPr/>
          <p:nvPr/>
        </p:nvSpPr>
        <p:spPr>
          <a:xfrm>
            <a:off x="9084564" y="2057400"/>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176004" y="2135124"/>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2308" y="2057400"/>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抗体創出</a:t>
            </a:r>
          </a:p>
        </p:txBody>
      </p:sp>
      <p:sp>
        <p:nvSpPr>
          <p:cNvPr id="13" name="Rounded Rectangle 12"/>
          <p:cNvSpPr/>
          <p:nvPr/>
        </p:nvSpPr>
        <p:spPr>
          <a:xfrm>
            <a:off x="6483096" y="2359152"/>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74536" y="2436876"/>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359152"/>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疾患・標的研究★</a:t>
            </a:r>
          </a:p>
        </p:txBody>
      </p:sp>
      <p:sp>
        <p:nvSpPr>
          <p:cNvPr id="16" name="Rounded Rectangle 15"/>
          <p:cNvSpPr/>
          <p:nvPr/>
        </p:nvSpPr>
        <p:spPr>
          <a:xfrm>
            <a:off x="9084564" y="2359152"/>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76004" y="2436876"/>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2308" y="2359152"/>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細胞株開発・セルバンク管理</a:t>
            </a:r>
          </a:p>
        </p:txBody>
      </p:sp>
      <p:sp>
        <p:nvSpPr>
          <p:cNvPr id="19" name="Rounded Rectangle 18"/>
          <p:cNvSpPr/>
          <p:nvPr/>
        </p:nvSpPr>
        <p:spPr>
          <a:xfrm>
            <a:off x="6483096" y="2660904"/>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74536" y="2738628"/>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2660904"/>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抗体エンジニアリング</a:t>
            </a:r>
          </a:p>
        </p:txBody>
      </p:sp>
      <p:sp>
        <p:nvSpPr>
          <p:cNvPr id="22" name="Rounded Rectangle 21"/>
          <p:cNvSpPr/>
          <p:nvPr/>
        </p:nvSpPr>
        <p:spPr>
          <a:xfrm>
            <a:off x="9084564" y="2660904"/>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76004" y="2738628"/>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2308" y="2660904"/>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原薬プロセス開発</a:t>
            </a:r>
          </a:p>
        </p:txBody>
      </p:sp>
      <p:sp>
        <p:nvSpPr>
          <p:cNvPr id="25" name="Rounded Rectangle 24"/>
          <p:cNvSpPr/>
          <p:nvPr/>
        </p:nvSpPr>
        <p:spPr>
          <a:xfrm>
            <a:off x="6483096" y="2962656"/>
            <a:ext cx="2510028" cy="246888"/>
          </a:xfrm>
          <a:prstGeom prst="roundRect">
            <a:avLst>
              <a:gd name="adj" fmla="val 50000"/>
            </a:avLst>
          </a:prstGeom>
          <a:solidFill>
            <a:srgbClr val="FFFFFF"/>
          </a:solidFill>
          <a:ln w="1587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74536" y="3040380"/>
            <a:ext cx="91440" cy="914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962656"/>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生産計画・製造実行管理</a:t>
            </a:r>
          </a:p>
        </p:txBody>
      </p:sp>
      <p:sp>
        <p:nvSpPr>
          <p:cNvPr id="28" name="Rounded Rectangle 27"/>
          <p:cNvSpPr/>
          <p:nvPr/>
        </p:nvSpPr>
        <p:spPr>
          <a:xfrm>
            <a:off x="9084564" y="2962656"/>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176004" y="3040380"/>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2308" y="2962656"/>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申請資料作成・管理</a:t>
            </a:r>
          </a:p>
        </p:txBody>
      </p:sp>
      <p:sp>
        <p:nvSpPr>
          <p:cNvPr id="31" name="Rounded Rectangle 30"/>
          <p:cNvSpPr/>
          <p:nvPr/>
        </p:nvSpPr>
        <p:spPr>
          <a:xfrm>
            <a:off x="6483096" y="3264408"/>
            <a:ext cx="2510028" cy="246888"/>
          </a:xfrm>
          <a:prstGeom prst="roundRect">
            <a:avLst>
              <a:gd name="adj" fmla="val 50000"/>
            </a:avLst>
          </a:prstGeom>
          <a:solidFill>
            <a:srgbClr val="FFFFFF"/>
          </a:solidFill>
          <a:ln w="1587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74536" y="3342132"/>
            <a:ext cx="91440" cy="914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3264408"/>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原薬製造</a:t>
            </a:r>
          </a:p>
        </p:txBody>
      </p:sp>
      <p:sp>
        <p:nvSpPr>
          <p:cNvPr id="34" name="Rounded Rectangle 33"/>
          <p:cNvSpPr/>
          <p:nvPr/>
        </p:nvSpPr>
        <p:spPr>
          <a:xfrm>
            <a:off x="9084564" y="3264408"/>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176004" y="3342132"/>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2308" y="3264408"/>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技術移転・製造規模管理</a:t>
            </a:r>
          </a:p>
        </p:txBody>
      </p:sp>
      <p:sp>
        <p:nvSpPr>
          <p:cNvPr id="37" name="Rounded Rectangle 36"/>
          <p:cNvSpPr/>
          <p:nvPr/>
        </p:nvSpPr>
        <p:spPr>
          <a:xfrm>
            <a:off x="6483096" y="3566160"/>
            <a:ext cx="2510028" cy="246888"/>
          </a:xfrm>
          <a:prstGeom prst="roundRect">
            <a:avLst>
              <a:gd name="adj" fmla="val 50000"/>
            </a:avLst>
          </a:prstGeom>
          <a:solidFill>
            <a:srgbClr val="FFFFFF"/>
          </a:solidFill>
          <a:ln w="15875">
            <a:solidFill>
              <a:srgbClr val="1BA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74536" y="3643884"/>
            <a:ext cx="91440" cy="914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566160"/>
            <a:ext cx="2217420" cy="246888"/>
          </a:xfrm>
          <a:prstGeom prst="rect">
            <a:avLst/>
          </a:prstGeom>
          <a:noFill/>
        </p:spPr>
        <p:txBody>
          <a:bodyPr wrap="square" lIns="0" rIns="0" tIns="0" bIns="0" anchor="ctr" rtlCol="0"/>
          <a:lstStyle/>
          <a:p>
            <a:pPr marL="0" indent="0">
              <a:buNone/>
            </a:pPr>
            <a:r>
              <a:rPr sz="900" b="1" lang="en-US" dirty="0">
                <a:solidFill>
                  <a:srgbClr val="000000"/>
                </a:solidFill>
                <a:latin typeface="Yu Gothic" pitchFamily="34" charset="0"/>
                <a:ea typeface="Yu Gothic" pitchFamily="34" charset="-122"/>
                <a:cs typeface="Yu Gothic" pitchFamily="34" charset="-120"/>
              </a:rPr>
              <a:t>製剤化・無菌充填・包装</a:t>
            </a:r>
          </a:p>
        </p:txBody>
      </p:sp>
      <p:sp>
        <p:nvSpPr>
          <p:cNvPr id="40" name="Rectangle 39"/>
          <p:cNvSpPr/>
          <p:nvPr/>
        </p:nvSpPr>
        <p:spPr>
          <a:xfrm>
            <a:off x="960120" y="1371600"/>
            <a:ext cx="5385816" cy="2606040"/>
          </a:xfrm>
          <a:prstGeom prst="rect">
            <a:avLst/>
          </a:prstGeom>
          <a:solidFill>
            <a:srgbClr val="E8F1FB"/>
          </a:solidFill>
          <a:ln w="12700">
            <a:solidFill>
              <a:srgbClr val="C3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1463040"/>
            <a:ext cx="5111496" cy="274320"/>
          </a:xfrm>
          <a:prstGeom prst="rect">
            <a:avLst/>
          </a:prstGeom>
          <a:noFill/>
        </p:spPr>
        <p:txBody>
          <a:bodyPr wrap="square" lIns="0" rIns="0" tIns="0" bIns="0" anchor="t" rtlCol="0"/>
          <a:lstStyle/>
          <a:p>
            <a:pPr marL="0" indent="0">
              <a:buNone/>
            </a:pPr>
            <a:r>
              <a:rPr sz="1300" b="1" lang="en-US" dirty="0">
                <a:solidFill>
                  <a:srgbClr val="1F2E35"/>
                </a:solidFill>
                <a:latin typeface="Yu Gothic" pitchFamily="34" charset="0"/>
                <a:ea typeface="Yu Gothic" pitchFamily="34" charset="-122"/>
                <a:cs typeface="Yu Gothic" pitchFamily="34" charset="-120"/>
              </a:rPr>
              <a:t>データの源泉（10）</a:t>
            </a:r>
          </a:p>
        </p:txBody>
      </p:sp>
      <p:sp>
        <p:nvSpPr>
          <p:cNvPr id="42" name="TextBox 41"/>
          <p:cNvSpPr txBox="1"/>
          <p:nvPr/>
        </p:nvSpPr>
        <p:spPr>
          <a:xfrm>
            <a:off x="1097280" y="1755648"/>
            <a:ext cx="5111496" cy="201168"/>
          </a:xfrm>
          <a:prstGeom prst="rect">
            <a:avLst/>
          </a:prstGeom>
          <a:noFill/>
        </p:spPr>
        <p:txBody>
          <a:bodyPr wrap="square" lIns="0" rIns="0" tIns="0" bIns="0" anchor="t" rtlCol="0"/>
          <a:lstStyle/>
          <a:p>
            <a:pPr marL="0" indent="0">
              <a:buNone/>
            </a:pPr>
            <a:r>
              <a:rPr sz="900" b="0" lang="en-US" dirty="0">
                <a:solidFill>
                  <a:srgbClr val="5B6B70"/>
                </a:solidFill>
                <a:latin typeface="Yu Gothic" pitchFamily="34" charset="0"/>
                <a:ea typeface="Yu Gothic" pitchFamily="34" charset="-122"/>
                <a:cs typeface="Yu Gothic" pitchFamily="34" charset="-120"/>
              </a:rPr>
              <a:t>専用アプリの正本を定め、連携を設計</a:t>
            </a:r>
          </a:p>
        </p:txBody>
      </p:sp>
      <p:sp>
        <p:nvSpPr>
          <p:cNvPr id="43" name="Rounded Rectangle 42"/>
          <p:cNvSpPr/>
          <p:nvPr/>
        </p:nvSpPr>
        <p:spPr>
          <a:xfrm>
            <a:off x="1097280" y="2057400"/>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88720" y="2135124"/>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335024" y="2057400"/>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臨床試験運営</a:t>
            </a:r>
          </a:p>
        </p:txBody>
      </p:sp>
      <p:sp>
        <p:nvSpPr>
          <p:cNvPr id="46" name="Rounded Rectangle 45"/>
          <p:cNvSpPr/>
          <p:nvPr/>
        </p:nvSpPr>
        <p:spPr>
          <a:xfrm>
            <a:off x="3698748" y="2057400"/>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790187" y="2135124"/>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936491" y="2057400"/>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患者エビデンス管理★</a:t>
            </a:r>
          </a:p>
        </p:txBody>
      </p:sp>
      <p:sp>
        <p:nvSpPr>
          <p:cNvPr id="49" name="Rounded Rectangle 48"/>
          <p:cNvSpPr/>
          <p:nvPr/>
        </p:nvSpPr>
        <p:spPr>
          <a:xfrm>
            <a:off x="1097280" y="2359152"/>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88720" y="2436876"/>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 y="2359152"/>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臨床データマネジメント・統計解析</a:t>
            </a:r>
          </a:p>
        </p:txBody>
      </p:sp>
      <p:sp>
        <p:nvSpPr>
          <p:cNvPr id="52" name="Rounded Rectangle 51"/>
          <p:cNvSpPr/>
          <p:nvPr/>
        </p:nvSpPr>
        <p:spPr>
          <a:xfrm>
            <a:off x="3698748" y="2359152"/>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90187" y="2436876"/>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6491" y="2359152"/>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品質保証（出荷判定・逸脱・変更）</a:t>
            </a:r>
          </a:p>
        </p:txBody>
      </p:sp>
      <p:sp>
        <p:nvSpPr>
          <p:cNvPr id="55" name="Rounded Rectangle 54"/>
          <p:cNvSpPr/>
          <p:nvPr/>
        </p:nvSpPr>
        <p:spPr>
          <a:xfrm>
            <a:off x="1097280" y="2660904"/>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88720" y="2738628"/>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335024" y="2660904"/>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薬事戦略・当局対応</a:t>
            </a:r>
          </a:p>
        </p:txBody>
      </p:sp>
      <p:sp>
        <p:nvSpPr>
          <p:cNvPr id="58" name="Rounded Rectangle 57"/>
          <p:cNvSpPr/>
          <p:nvPr/>
        </p:nvSpPr>
        <p:spPr>
          <a:xfrm>
            <a:off x="3698748" y="2660904"/>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3790187" y="2738628"/>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936491" y="2660904"/>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バリデーション管理</a:t>
            </a:r>
          </a:p>
        </p:txBody>
      </p:sp>
      <p:sp>
        <p:nvSpPr>
          <p:cNvPr id="61" name="Rounded Rectangle 60"/>
          <p:cNvSpPr/>
          <p:nvPr/>
        </p:nvSpPr>
        <p:spPr>
          <a:xfrm>
            <a:off x="1097280" y="2962656"/>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88720" y="3040380"/>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335024" y="2962656"/>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臨床開発戦略・試験デザイン</a:t>
            </a:r>
          </a:p>
        </p:txBody>
      </p:sp>
      <p:sp>
        <p:nvSpPr>
          <p:cNvPr id="64" name="Rounded Rectangle 63"/>
          <p:cNvSpPr/>
          <p:nvPr/>
        </p:nvSpPr>
        <p:spPr>
          <a:xfrm>
            <a:off x="3698748" y="2962656"/>
            <a:ext cx="2510028" cy="246888"/>
          </a:xfrm>
          <a:prstGeom prst="roundRect">
            <a:avLst>
              <a:gd name="adj" fmla="val 50000"/>
            </a:avLst>
          </a:prstGeom>
          <a:solidFill>
            <a:srgbClr val="FFFFFF"/>
          </a:solidFill>
          <a:ln w="15875">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790187" y="3040380"/>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936491" y="2962656"/>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非臨床安全性評価</a:t>
            </a:r>
          </a:p>
        </p:txBody>
      </p:sp>
      <p:sp>
        <p:nvSpPr>
          <p:cNvPr id="67" name="Rounded Rectangle 66"/>
          <p:cNvSpPr/>
          <p:nvPr/>
        </p:nvSpPr>
        <p:spPr>
          <a:xfrm>
            <a:off x="1097280" y="3264408"/>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188720" y="3342132"/>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35024" y="3264408"/>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品質管理（試験・安定性）</a:t>
            </a:r>
          </a:p>
        </p:txBody>
      </p:sp>
      <p:sp>
        <p:nvSpPr>
          <p:cNvPr id="70" name="Rounded Rectangle 69"/>
          <p:cNvSpPr/>
          <p:nvPr/>
        </p:nvSpPr>
        <p:spPr>
          <a:xfrm>
            <a:off x="3698748" y="3264408"/>
            <a:ext cx="2510028" cy="246888"/>
          </a:xfrm>
          <a:prstGeom prst="roundRect">
            <a:avLst>
              <a:gd name="adj" fmla="val 50000"/>
            </a:avLst>
          </a:prstGeom>
          <a:solidFill>
            <a:srgbClr val="FFFFFF"/>
          </a:solidFill>
          <a:ln w="15875">
            <a:solidFill>
              <a:srgbClr val="4A3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790187" y="3342132"/>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36491" y="3264408"/>
            <a:ext cx="2217420" cy="246888"/>
          </a:xfrm>
          <a:prstGeom prst="rect">
            <a:avLst/>
          </a:prstGeom>
          <a:noFill/>
        </p:spPr>
        <p:txBody>
          <a:bodyPr wrap="square" lIns="0" rIns="0" tIns="0" bIns="0" anchor="ctr" rtlCol="0"/>
          <a:lstStyle/>
          <a:p>
            <a:pPr marL="0" indent="0">
              <a:buNone/>
            </a:pPr>
            <a:r>
              <a:rPr sz="900" b="0" lang="en-US" dirty="0">
                <a:solidFill>
                  <a:srgbClr val="000000"/>
                </a:solidFill>
                <a:latin typeface="Yu Gothic" pitchFamily="34" charset="0"/>
                <a:ea typeface="Yu Gothic" pitchFamily="34" charset="-122"/>
                <a:cs typeface="Yu Gothic" pitchFamily="34" charset="-120"/>
              </a:rPr>
              <a:t>安全性シグナル・リスク管理</a:t>
            </a:r>
          </a:p>
        </p:txBody>
      </p:sp>
      <p:sp>
        <p:nvSpPr>
          <p:cNvPr id="73" name="Rectangle 72"/>
          <p:cNvSpPr/>
          <p:nvPr/>
        </p:nvSpPr>
        <p:spPr>
          <a:xfrm>
            <a:off x="6345936" y="3977639"/>
            <a:ext cx="5385816" cy="1691640"/>
          </a:xfrm>
          <a:prstGeom prst="rect">
            <a:avLst/>
          </a:prstGeom>
          <a:solidFill>
            <a:srgbClr val="F3F6F6"/>
          </a:solidFill>
          <a:ln w="12700">
            <a:solidFill>
              <a:srgbClr val="C3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83096" y="4069079"/>
            <a:ext cx="5111496" cy="274320"/>
          </a:xfrm>
          <a:prstGeom prst="rect">
            <a:avLst/>
          </a:prstGeom>
          <a:noFill/>
        </p:spPr>
        <p:txBody>
          <a:bodyPr wrap="square" lIns="0" rIns="0" tIns="0" bIns="0" anchor="t" rtlCol="0"/>
          <a:lstStyle/>
          <a:p>
            <a:pPr marL="0" indent="0">
              <a:buNone/>
            </a:pPr>
            <a:r>
              <a:rPr sz="1100" b="1" lang="en-US" dirty="0">
                <a:solidFill>
                  <a:srgbClr val="1F2E35"/>
                </a:solidFill>
                <a:latin typeface="Yu Gothic" pitchFamily="34" charset="0"/>
                <a:ea typeface="Yu Gothic" pitchFamily="34" charset="-122"/>
                <a:cs typeface="Yu Gothic" pitchFamily="34" charset="-120"/>
              </a:rPr>
              <a:t>共通アプリの利用者（9）</a:t>
            </a:r>
          </a:p>
        </p:txBody>
      </p:sp>
      <p:sp>
        <p:nvSpPr>
          <p:cNvPr id="75" name="TextBox 74"/>
          <p:cNvSpPr txBox="1"/>
          <p:nvPr/>
        </p:nvSpPr>
        <p:spPr>
          <a:xfrm>
            <a:off x="6483096" y="4361688"/>
            <a:ext cx="5111496" cy="201168"/>
          </a:xfrm>
          <a:prstGeom prst="rect">
            <a:avLst/>
          </a:prstGeom>
          <a:noFill/>
        </p:spPr>
        <p:txBody>
          <a:bodyPr wrap="square" lIns="0" rIns="0" tIns="0" bIns="0" anchor="t" rtlCol="0"/>
          <a:lstStyle/>
          <a:p>
            <a:pPr marL="0" indent="0">
              <a:buNone/>
            </a:pPr>
            <a:r>
              <a:rPr sz="900" b="0" lang="en-US" dirty="0">
                <a:solidFill>
                  <a:srgbClr val="5B6B70"/>
                </a:solidFill>
                <a:latin typeface="Yu Gothic" pitchFamily="34" charset="0"/>
                <a:ea typeface="Yu Gothic" pitchFamily="34" charset="-122"/>
                <a:cs typeface="Yu Gothic" pitchFamily="34" charset="-120"/>
              </a:rPr>
              <a:t>共通アプリの標準に合わせる</a:t>
            </a:r>
          </a:p>
        </p:txBody>
      </p:sp>
      <p:sp>
        <p:nvSpPr>
          <p:cNvPr id="76" name="TextBox 75"/>
          <p:cNvSpPr txBox="1"/>
          <p:nvPr/>
        </p:nvSpPr>
        <p:spPr>
          <a:xfrm>
            <a:off x="6483096" y="4636007"/>
            <a:ext cx="5111496" cy="960120"/>
          </a:xfrm>
          <a:prstGeom prst="rect">
            <a:avLst/>
          </a:prstGeom>
          <a:noFill/>
        </p:spPr>
        <p:txBody>
          <a:bodyPr wrap="square" lIns="0" rIns="0" tIns="0" bIns="0" anchor="t" rtlCol="0"/>
          <a:lstStyle/>
          <a:p>
            <a:pPr marL="0" indent="0">
              <a:buNone/>
            </a:pPr>
            <a:r>
              <a:rPr sz="750" b="0" lang="en-US" dirty="0">
                <a:solidFill>
                  <a:srgbClr val="5B6B70"/>
                </a:solidFill>
                <a:latin typeface="Yu Gothic" pitchFamily="34" charset="0"/>
                <a:ea typeface="Yu Gothic" pitchFamily="34" charset="-122"/>
                <a:cs typeface="Yu Gothic" pitchFamily="34" charset="-120"/>
              </a:rPr>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開発適性・免疫原性リスク評価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製剤・デバイス開発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疾患モデル・薬効評価　</a:t>
            </a:r>
            <a:r>
              <a:rPr sz="750" b="0" lang="en-US" dirty="0">
                <a:solidFill>
                  <a:srgbClr val="4A3AA7"/>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ラベリング管理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需給計画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患者団体・専門医連携★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疾患啓発・診断支援★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メディカルアフェアーズ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営業・顧客管理</a:t>
            </a:r>
          </a:p>
        </p:txBody>
      </p:sp>
      <p:sp>
        <p:nvSpPr>
          <p:cNvPr id="77" name="Rectangle 76"/>
          <p:cNvSpPr/>
          <p:nvPr/>
        </p:nvSpPr>
        <p:spPr>
          <a:xfrm>
            <a:off x="960120" y="3977639"/>
            <a:ext cx="5385816" cy="1691640"/>
          </a:xfrm>
          <a:prstGeom prst="rect">
            <a:avLst/>
          </a:prstGeom>
          <a:solidFill>
            <a:srgbClr val="FFFFFF"/>
          </a:solidFill>
          <a:ln w="12700">
            <a:solidFill>
              <a:srgbClr val="C3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97280" y="4069079"/>
            <a:ext cx="5111496" cy="274320"/>
          </a:xfrm>
          <a:prstGeom prst="rect">
            <a:avLst/>
          </a:prstGeom>
          <a:noFill/>
        </p:spPr>
        <p:txBody>
          <a:bodyPr wrap="square" lIns="0" rIns="0" tIns="0" bIns="0" anchor="t" rtlCol="0"/>
          <a:lstStyle/>
          <a:p>
            <a:pPr marL="0" indent="0">
              <a:buNone/>
            </a:pPr>
            <a:r>
              <a:rPr sz="1100" b="1" lang="en-US" dirty="0">
                <a:solidFill>
                  <a:srgbClr val="1F2E35"/>
                </a:solidFill>
                <a:latin typeface="Yu Gothic" pitchFamily="34" charset="0"/>
                <a:ea typeface="Yu Gothic" pitchFamily="34" charset="-122"/>
                <a:cs typeface="Yu Gothic" pitchFamily="34" charset="-120"/>
              </a:rPr>
              <a:t>個別最適（23）</a:t>
            </a:r>
          </a:p>
        </p:txBody>
      </p:sp>
      <p:sp>
        <p:nvSpPr>
          <p:cNvPr id="79" name="TextBox 78"/>
          <p:cNvSpPr txBox="1"/>
          <p:nvPr/>
        </p:nvSpPr>
        <p:spPr>
          <a:xfrm>
            <a:off x="1097280" y="4361688"/>
            <a:ext cx="5111496" cy="201168"/>
          </a:xfrm>
          <a:prstGeom prst="rect">
            <a:avLst/>
          </a:prstGeom>
          <a:noFill/>
        </p:spPr>
        <p:txBody>
          <a:bodyPr wrap="square" lIns="0" rIns="0" tIns="0" bIns="0" anchor="t" rtlCol="0"/>
          <a:lstStyle/>
          <a:p>
            <a:pPr marL="0" indent="0">
              <a:buNone/>
            </a:pPr>
            <a:r>
              <a:rPr sz="900" b="0" lang="en-US" dirty="0">
                <a:solidFill>
                  <a:srgbClr val="5B6B70"/>
                </a:solidFill>
                <a:latin typeface="Yu Gothic" pitchFamily="34" charset="0"/>
                <a:ea typeface="Yu Gothic" pitchFamily="34" charset="-122"/>
                <a:cs typeface="Yu Gothic" pitchFamily="34" charset="-120"/>
              </a:rPr>
              <a:t>個別に最適化してよい</a:t>
            </a:r>
          </a:p>
        </p:txBody>
      </p:sp>
      <p:sp>
        <p:nvSpPr>
          <p:cNvPr id="80" name="TextBox 79"/>
          <p:cNvSpPr txBox="1"/>
          <p:nvPr/>
        </p:nvSpPr>
        <p:spPr>
          <a:xfrm>
            <a:off x="1097280" y="4636007"/>
            <a:ext cx="5111496" cy="960120"/>
          </a:xfrm>
          <a:prstGeom prst="rect">
            <a:avLst/>
          </a:prstGeom>
          <a:noFill/>
        </p:spPr>
        <p:txBody>
          <a:bodyPr wrap="square" lIns="0" rIns="0" tIns="0" bIns="0" anchor="t" rtlCol="0"/>
          <a:lstStyle/>
          <a:p>
            <a:pPr marL="0" indent="0">
              <a:buNone/>
            </a:pPr>
            <a:r>
              <a:rPr sz="750" b="0" lang="en-US" dirty="0">
                <a:solidFill>
                  <a:srgbClr val="5B6B70"/>
                </a:solidFill>
                <a:latin typeface="Yu Gothic" pitchFamily="34" charset="0"/>
                <a:ea typeface="Yu Gothic" pitchFamily="34" charset="-122"/>
                <a:cs typeface="Yu Gothic" pitchFamily="34" charset="-120"/>
              </a:rPr>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非臨床薬理評価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バイオアナリシス　</a:t>
            </a:r>
            <a:r>
              <a:rPr sz="750" b="0" lang="en-US" dirty="0">
                <a:solidFill>
                  <a:srgbClr val="4A3AA7"/>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市販後薬事コンプライアンス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研究開発ポートフォリオ管理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臨床薬理・ファーマコメトリクス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患者特定・組入れ★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流通ネットワーク管理★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コールドチェーン物流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情報・データ管理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患者支援サービス★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価格・保険者契約管理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政府価格報告・政策対応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供給継続・回収管理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知財・独占期間管理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外部パートナー管理　</a:t>
            </a:r>
            <a:r>
              <a:rPr sz="750" b="0" lang="en-US" dirty="0">
                <a:solidFill>
                  <a:srgbClr val="2A78D6"/>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治験薬供給管理　</a:t>
            </a:r>
            <a:r>
              <a:rPr sz="750" b="0" lang="en-US" dirty="0">
                <a:solidFill>
                  <a:srgbClr val="4A3AA7"/>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品質システム・監査管理　</a:t>
            </a:r>
            <a:r>
              <a:rPr sz="750" b="0" lang="en-US" dirty="0">
                <a:solidFill>
                  <a:srgbClr val="4A3AA7"/>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有害事象管理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GxP文書・記録管理　</a:t>
            </a:r>
            <a:r>
              <a:rPr sz="750" b="0" lang="en-US" dirty="0">
                <a:solidFill>
                  <a:srgbClr val="EB6834"/>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販促・商業コンプライアンス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トレーサビリティ　</a:t>
            </a:r>
            <a:r>
              <a:rPr sz="750" b="0" lang="en-US" dirty="0">
                <a:solidFill>
                  <a:srgbClr val="1BAF7A"/>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設備・環境管理　</a:t>
            </a:r>
            <a:r>
              <a:rPr sz="750" b="0" lang="en-US" dirty="0">
                <a:solidFill>
                  <a:srgbClr val="1F2E35"/>
                </a:solidFill>
                <a:latin typeface="Yu Gothic" pitchFamily="34" charset="0"/>
                <a:ea typeface="Yu Gothic" pitchFamily="34" charset="-122"/>
                <a:cs typeface="Yu Gothic" pitchFamily="34" charset="-120"/>
              </a:rPr>
              <a:t>■</a:t>
            </a:r>
            <a:r>
              <a:rPr sz="750" b="0" lang="en-US" dirty="0">
                <a:solidFill>
                  <a:srgbClr val="5B6B70"/>
                </a:solidFill>
                <a:latin typeface="Yu Gothic" pitchFamily="34" charset="0"/>
                <a:ea typeface="Yu Gothic" pitchFamily="34" charset="-122"/>
                <a:cs typeface="Yu Gothic" pitchFamily="34" charset="-120"/>
              </a:rPr>
              <a:t>GxP教育・資格管理</a:t>
            </a:r>
          </a:p>
        </p:txBody>
      </p:sp>
      <p:cxnSp>
        <p:nvCxnSpPr>
          <p:cNvPr id="81" name="Connector 80"/>
          <p:cNvCxnSpPr/>
          <p:nvPr/>
        </p:nvCxnSpPr>
        <p:spPr>
          <a:xfrm>
            <a:off x="960120" y="5779008"/>
            <a:ext cx="10771632" cy="0"/>
          </a:xfrm>
          <a:prstGeom prst="line">
            <a:avLst/>
          </a:prstGeom>
          <a:ln w="19050">
            <a:solidFill>
              <a:srgbClr val="1F2E35"/>
            </a:solidFill>
            <a:tailEnd type="triangle"/>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850392" y="1371600"/>
            <a:ext cx="0" cy="4297680"/>
          </a:xfrm>
          <a:prstGeom prst="line">
            <a:avLst/>
          </a:prstGeom>
          <a:ln w="19050">
            <a:solidFill>
              <a:srgbClr val="1F2E35"/>
            </a:solidFill>
            <a:tailEnd type="triangle"/>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960120" y="5833872"/>
            <a:ext cx="10771632" cy="228600"/>
          </a:xfrm>
          <a:prstGeom prst="rect">
            <a:avLst/>
          </a:prstGeom>
          <a:noFill/>
        </p:spPr>
        <p:txBody>
          <a:bodyPr wrap="square" lIns="0" rIns="0" tIns="0" bIns="0" anchor="t" rtlCol="0"/>
          <a:lstStyle/>
          <a:p>
            <a:pPr marL="0" indent="0" algn="ctr">
              <a:buNone/>
            </a:pPr>
            <a:r>
              <a:rPr sz="1000" b="1" lang="en-US" dirty="0">
                <a:solidFill>
                  <a:srgbClr val="1F2E35"/>
                </a:solidFill>
                <a:latin typeface="Yu Gothic" pitchFamily="34" charset="0"/>
                <a:ea typeface="Yu Gothic" pitchFamily="34" charset="-122"/>
                <a:cs typeface="Yu Gothic" pitchFamily="34" charset="-120"/>
              </a:rPr>
              <a:t>アプリ軸：共通アプリへの依存度　低 → 高</a:t>
            </a:r>
          </a:p>
        </p:txBody>
      </p:sp>
      <p:sp>
        <p:nvSpPr>
          <p:cNvPr id="84" name="TextBox 83"/>
          <p:cNvSpPr txBox="1"/>
          <p:nvPr/>
        </p:nvSpPr>
        <p:spPr>
          <a:xfrm rot="16200000">
            <a:off x="-1600200" y="3383280"/>
            <a:ext cx="4297680" cy="274320"/>
          </a:xfrm>
          <a:prstGeom prst="rect">
            <a:avLst/>
          </a:prstGeom>
          <a:noFill/>
        </p:spPr>
        <p:txBody>
          <a:bodyPr wrap="square" lIns="0" rIns="0" tIns="0" bIns="0" anchor="ctr" rtlCol="0"/>
          <a:lstStyle/>
          <a:p>
            <a:pPr marL="0" indent="0" algn="ctr">
              <a:buNone/>
            </a:pPr>
            <a:r>
              <a:rPr sz="1000" b="1" lang="en-US" dirty="0">
                <a:solidFill>
                  <a:srgbClr val="1F2E35"/>
                </a:solidFill>
                <a:latin typeface="Yu Gothic" pitchFamily="34" charset="0"/>
                <a:ea typeface="Yu Gothic" pitchFamily="34" charset="-122"/>
                <a:cs typeface="Yu Gothic" pitchFamily="34" charset="-120"/>
              </a:rPr>
              <a:t>データ軸：データの波及度　低 → 高</a:t>
            </a:r>
          </a:p>
        </p:txBody>
      </p:sp>
      <p:sp>
        <p:nvSpPr>
          <p:cNvPr id="85" name="Oval 84"/>
          <p:cNvSpPr/>
          <p:nvPr/>
        </p:nvSpPr>
        <p:spPr>
          <a:xfrm>
            <a:off x="457200" y="6172200"/>
            <a:ext cx="91440" cy="9144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5216" y="6126480"/>
            <a:ext cx="1645920" cy="18288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Strategy / Foundation</a:t>
            </a:r>
          </a:p>
        </p:txBody>
      </p:sp>
      <p:sp>
        <p:nvSpPr>
          <p:cNvPr id="87" name="Oval 86"/>
          <p:cNvSpPr/>
          <p:nvPr/>
        </p:nvSpPr>
        <p:spPr>
          <a:xfrm>
            <a:off x="2029968" y="6172200"/>
            <a:ext cx="91440" cy="914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57984" y="6126480"/>
            <a:ext cx="1645920" cy="18288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R&amp;D Engine</a:t>
            </a:r>
          </a:p>
        </p:txBody>
      </p:sp>
      <p:sp>
        <p:nvSpPr>
          <p:cNvPr id="89" name="Oval 88"/>
          <p:cNvSpPr/>
          <p:nvPr/>
        </p:nvSpPr>
        <p:spPr>
          <a:xfrm>
            <a:off x="2898648" y="6172200"/>
            <a:ext cx="91440" cy="914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26664" y="6126480"/>
            <a:ext cx="1645920" cy="18288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Regulatory &amp; Quality</a:t>
            </a:r>
          </a:p>
        </p:txBody>
      </p:sp>
      <p:sp>
        <p:nvSpPr>
          <p:cNvPr id="91" name="Oval 90"/>
          <p:cNvSpPr/>
          <p:nvPr/>
        </p:nvSpPr>
        <p:spPr>
          <a:xfrm>
            <a:off x="4407408" y="6172200"/>
            <a:ext cx="91440" cy="914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535424" y="6126480"/>
            <a:ext cx="1645920" cy="18288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Supply Chain &amp; Mfg</a:t>
            </a:r>
          </a:p>
        </p:txBody>
      </p:sp>
      <p:sp>
        <p:nvSpPr>
          <p:cNvPr id="93" name="Oval 92"/>
          <p:cNvSpPr/>
          <p:nvPr/>
        </p:nvSpPr>
        <p:spPr>
          <a:xfrm>
            <a:off x="5788152" y="6172200"/>
            <a:ext cx="91440" cy="91440"/>
          </a:xfrm>
          <a:prstGeom prst="ellipse">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916168" y="6126480"/>
            <a:ext cx="1645920" cy="182880"/>
          </a:xfrm>
          <a:prstGeom prst="rect">
            <a:avLst/>
          </a:prstGeom>
          <a:noFill/>
        </p:spPr>
        <p:txBody>
          <a:bodyPr wrap="square" lIns="0" rIns="0" tIns="0" bIns="0" anchor="ctr" rtlCol="0"/>
          <a:lstStyle/>
          <a:p>
            <a:pPr marL="0" indent="0">
              <a:buNone/>
            </a:pPr>
            <a:r>
              <a:rPr sz="800" b="0" lang="en-US" dirty="0">
                <a:solidFill>
                  <a:srgbClr val="5B6B70"/>
                </a:solidFill>
                <a:latin typeface="Yu Gothic" pitchFamily="34" charset="0"/>
                <a:ea typeface="Yu Gothic" pitchFamily="34" charset="-122"/>
                <a:cs typeface="Yu Gothic" pitchFamily="34" charset="-120"/>
              </a:rPr>
              <a:t>Commercial &amp; Patient</a:t>
            </a:r>
          </a:p>
        </p:txBody>
      </p:sp>
      <p:sp>
        <p:nvSpPr>
          <p:cNvPr id="95" name="TextBox 94"/>
          <p:cNvSpPr txBox="1"/>
          <p:nvPr/>
        </p:nvSpPr>
        <p:spPr>
          <a:xfrm>
            <a:off x="457200" y="6364224"/>
            <a:ext cx="11274552" cy="411480"/>
          </a:xfrm>
          <a:prstGeom prst="rect">
            <a:avLst/>
          </a:prstGeom>
          <a:noFill/>
        </p:spPr>
        <p:txBody>
          <a:bodyPr wrap="square" lIns="0" rIns="0" tIns="0" bIns="0" anchor="t" rtlCol="0"/>
          <a:lstStyle/>
          <a:p>
            <a:pPr marL="0" indent="0">
              <a:buNone/>
            </a:pPr>
            <a:r>
              <a:rPr sz="750" b="0" lang="en-US" dirty="0">
                <a:solidFill>
                  <a:srgbClr val="5B6B70"/>
                </a:solidFill>
                <a:latin typeface="Yu Gothic" pitchFamily="34" charset="0"/>
                <a:ea typeface="Yu Gothic" pitchFamily="34" charset="-122"/>
                <a:cs typeface="Yu Gothic" pitchFamily="34" charset="-120"/>
              </a:rPr>
              <a:t>対象はケイパビリティL2（53件）。アプリ軸＝そのL2を主に支える（●）アプリが、それぞれ何件のL2を支えているかの合計（高いほど、多くの能力と同じアプリを共有）。データ軸＝そのL2が作成・更新（C）する情報を、利用（R）するL2の数の合計（高いほど、生んだデータが広く使われる）。境界はそれぞれの中央値（アプリ3、データ5）で、中央値より大きいものを「高」とした。</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9144000" cy="640080"/>
          </a:xfrm>
          <a:prstGeom prst="rect">
            <a:avLst/>
          </a:prstGeom>
          <a:noFill/>
          <a:ln/>
        </p:spPr>
        <p:txBody>
          <a:bodyPr wrap="square" lIns="0" tIns="0" rIns="0" bIns="0" rtlCol="0" anchor="ctr"/>
          <a:lstStyle/>
          <a:p>
            <a:pPr indent="0" marL="0">
              <a:buNone/>
            </a:pPr>
            <a:r>
              <a:rPr lang="en-US" sz="3000" b="1" dirty="0">
                <a:solidFill>
                  <a:srgbClr val="1F2E35"/>
                </a:solidFill>
                <a:latin typeface="Yu Gothic" pitchFamily="34" charset="0"/>
                <a:ea typeface="Yu Gothic" pitchFamily="34" charset="-122"/>
                <a:cs typeface="Yu Gothic" pitchFamily="34" charset="-120"/>
              </a:rPr>
              <a:t>免責事項</a:t>
            </a:r>
            <a:endParaRPr lang="en-US" sz="3000" dirty="0"/>
          </a:p>
        </p:txBody>
      </p:sp>
      <p:sp>
        <p:nvSpPr>
          <p:cNvPr id="3" name="Text 1"/>
          <p:cNvSpPr txBox="1"/>
          <p:nvPr/>
        </p:nvSpPr>
        <p:spPr>
          <a:xfrm>
            <a:off x="457200" y="960120"/>
            <a:ext cx="11247120" cy="365760"/>
          </a:xfrm>
          <a:prstGeom prst="rect">
            <a:avLst/>
          </a:prstGeom>
          <a:noFill/>
          <a:ln/>
        </p:spPr>
        <p:txBody>
          <a:bodyPr wrap="square" lIns="0" tIns="0" rIns="0" bIns="0" rtlCol="0" anchor="ctr"/>
          <a:lstStyle/>
          <a:p>
            <a:pPr indent="0" marL="0">
              <a:buNone/>
            </a:pPr>
            <a:r>
              <a:rPr lang="en-US" sz="1400" dirty="0">
                <a:solidFill>
                  <a:srgbClr val="5B6B70"/>
                </a:solidFill>
                <a:latin typeface="Yu Gothic" pitchFamily="34" charset="0"/>
                <a:ea typeface="Yu Gothic" pitchFamily="34" charset="-122"/>
                <a:cs typeface="Yu Gothic" pitchFamily="34" charset="-120"/>
              </a:rPr>
              <a:t>本資料は、一般に公開され入手可能な情報をもとに、生成AIを用いて作成したものです。ご利用にあたっては、次の点にご留意ください。</a:t>
            </a:r>
            <a:endParaRPr lang="en-US" sz="1400" dirty="0"/>
          </a:p>
        </p:txBody>
      </p:sp>
      <p:sp>
        <p:nvSpPr>
          <p:cNvPr id="4" name="Oval 3"/>
          <p:cNvSpPr/>
          <p:nvPr/>
        </p:nvSpPr>
        <p:spPr>
          <a:xfrm>
            <a:off x="457200" y="1609344"/>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9344"/>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1</a:t>
            </a:r>
          </a:p>
        </p:txBody>
      </p:sp>
      <p:sp>
        <p:nvSpPr>
          <p:cNvPr id="6" name="TextBox 5"/>
          <p:cNvSpPr txBox="1"/>
          <p:nvPr/>
        </p:nvSpPr>
        <p:spPr>
          <a:xfrm>
            <a:off x="868680" y="1591056"/>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情報源</a:t>
            </a:r>
          </a:p>
        </p:txBody>
      </p:sp>
      <p:sp>
        <p:nvSpPr>
          <p:cNvPr id="7" name="TextBox 6"/>
          <p:cNvSpPr txBox="1"/>
          <p:nvPr/>
        </p:nvSpPr>
        <p:spPr>
          <a:xfrm>
            <a:off x="3108960" y="1481328"/>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本資料は、一般に公開されている情報（規制当局の公表資料、法律事務所等の解説記事など）のみに基づいて作成しています。特定の企業・組織の非公開情報、内部資料は含みません。</a:t>
            </a:r>
          </a:p>
        </p:txBody>
      </p:sp>
      <p:cxnSp>
        <p:nvCxnSpPr>
          <p:cNvPr id="8" name="Connector 7"/>
          <p:cNvCxnSpPr/>
          <p:nvPr/>
        </p:nvCxnSpPr>
        <p:spPr>
          <a:xfrm>
            <a:off x="457200" y="2176272"/>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7200" y="2286000"/>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86000"/>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2</a:t>
            </a:r>
          </a:p>
        </p:txBody>
      </p:sp>
      <p:sp>
        <p:nvSpPr>
          <p:cNvPr id="11" name="TextBox 10"/>
          <p:cNvSpPr txBox="1"/>
          <p:nvPr/>
        </p:nvSpPr>
        <p:spPr>
          <a:xfrm>
            <a:off x="868680" y="2267712"/>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生成AIの利用</a:t>
            </a:r>
          </a:p>
        </p:txBody>
      </p:sp>
      <p:sp>
        <p:nvSpPr>
          <p:cNvPr id="12" name="TextBox 11"/>
          <p:cNvSpPr txBox="1"/>
          <p:nvPr/>
        </p:nvSpPr>
        <p:spPr>
          <a:xfrm>
            <a:off x="3108960" y="2157984"/>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構成・分析・図表の作成に生成AIを使用しています。生成AIの出力には、事実誤認、不正確な記述、情報の欠落が含まれる可能性があります。</a:t>
            </a:r>
          </a:p>
        </p:txBody>
      </p:sp>
      <p:cxnSp>
        <p:nvCxnSpPr>
          <p:cNvPr id="13" name="Connector 12"/>
          <p:cNvCxnSpPr/>
          <p:nvPr/>
        </p:nvCxnSpPr>
        <p:spPr>
          <a:xfrm>
            <a:off x="457200" y="2852927"/>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962656"/>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62656"/>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3</a:t>
            </a:r>
          </a:p>
        </p:txBody>
      </p:sp>
      <p:sp>
        <p:nvSpPr>
          <p:cNvPr id="16" name="TextBox 15"/>
          <p:cNvSpPr txBox="1"/>
          <p:nvPr/>
        </p:nvSpPr>
        <p:spPr>
          <a:xfrm>
            <a:off x="868680" y="2944368"/>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正確性・完全性</a:t>
            </a:r>
          </a:p>
        </p:txBody>
      </p:sp>
      <p:sp>
        <p:nvSpPr>
          <p:cNvPr id="17" name="TextBox 16"/>
          <p:cNvSpPr txBox="1"/>
          <p:nvPr/>
        </p:nvSpPr>
        <p:spPr>
          <a:xfrm>
            <a:off x="3108960" y="2834639"/>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記載内容の正確性、完全性、最新性、特定目的への適合性について、いかなる保証もいたしません。制度や規制の状況は作成時点（2026年9月）のものであり、その後変更される可能性があります。</a:t>
            </a:r>
          </a:p>
        </p:txBody>
      </p:sp>
      <p:cxnSp>
        <p:nvCxnSpPr>
          <p:cNvPr id="18" name="Connector 17"/>
          <p:cNvCxnSpPr/>
          <p:nvPr/>
        </p:nvCxnSpPr>
        <p:spPr>
          <a:xfrm>
            <a:off x="457200" y="3529584"/>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57200" y="3639312"/>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39312"/>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4</a:t>
            </a:r>
          </a:p>
        </p:txBody>
      </p:sp>
      <p:sp>
        <p:nvSpPr>
          <p:cNvPr id="21" name="TextBox 20"/>
          <p:cNvSpPr txBox="1"/>
          <p:nvPr/>
        </p:nvSpPr>
        <p:spPr>
          <a:xfrm>
            <a:off x="868680" y="3621024"/>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仮定に基づくモデル</a:t>
            </a:r>
          </a:p>
        </p:txBody>
      </p:sp>
      <p:sp>
        <p:nvSpPr>
          <p:cNvPr id="22" name="TextBox 21"/>
          <p:cNvSpPr txBox="1"/>
          <p:nvPr/>
        </p:nvSpPr>
        <p:spPr>
          <a:xfrm>
            <a:off x="3108960" y="3511296"/>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バリューストリーム、ケイパビリティ、アプリケーション、データの各マップと考察は、「希少疾患向けの新規バイオ医薬品を米国で開発・上市する」という仮定に基づく参照モデルです。特定の企業の実態を表すものではありません。</a:t>
            </a:r>
          </a:p>
        </p:txBody>
      </p:sp>
      <p:cxnSp>
        <p:nvCxnSpPr>
          <p:cNvPr id="23" name="Connector 22"/>
          <p:cNvCxnSpPr/>
          <p:nvPr/>
        </p:nvCxnSpPr>
        <p:spPr>
          <a:xfrm>
            <a:off x="457200" y="4206240"/>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57200" y="4315968"/>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15968"/>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5</a:t>
            </a:r>
          </a:p>
        </p:txBody>
      </p:sp>
      <p:sp>
        <p:nvSpPr>
          <p:cNvPr id="26" name="TextBox 25"/>
          <p:cNvSpPr txBox="1"/>
          <p:nvPr/>
        </p:nvSpPr>
        <p:spPr>
          <a:xfrm>
            <a:off x="868680" y="4297680"/>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専門的助言ではない</a:t>
            </a:r>
          </a:p>
        </p:txBody>
      </p:sp>
      <p:sp>
        <p:nvSpPr>
          <p:cNvPr id="27" name="TextBox 26"/>
          <p:cNvSpPr txBox="1"/>
          <p:nvPr/>
        </p:nvSpPr>
        <p:spPr>
          <a:xfrm>
            <a:off x="3108960" y="4187952"/>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本資料は、法務、薬事、規制、投資、その他の専門的助言を提供するものではありません。意思決定にあたっては、一次情報の確認と、必要に応じた専門家への相談を行ってください。</a:t>
            </a:r>
          </a:p>
        </p:txBody>
      </p:sp>
      <p:cxnSp>
        <p:nvCxnSpPr>
          <p:cNvPr id="28" name="Connector 27"/>
          <p:cNvCxnSpPr/>
          <p:nvPr/>
        </p:nvCxnSpPr>
        <p:spPr>
          <a:xfrm>
            <a:off x="457200" y="4882896"/>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57200" y="4992624"/>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992624"/>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6</a:t>
            </a:r>
          </a:p>
        </p:txBody>
      </p:sp>
      <p:sp>
        <p:nvSpPr>
          <p:cNvPr id="31" name="TextBox 30"/>
          <p:cNvSpPr txBox="1"/>
          <p:nvPr/>
        </p:nvSpPr>
        <p:spPr>
          <a:xfrm>
            <a:off x="868680" y="4974336"/>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責任の限定</a:t>
            </a:r>
          </a:p>
        </p:txBody>
      </p:sp>
      <p:sp>
        <p:nvSpPr>
          <p:cNvPr id="32" name="TextBox 31"/>
          <p:cNvSpPr txBox="1"/>
          <p:nvPr/>
        </p:nvSpPr>
        <p:spPr>
          <a:xfrm>
            <a:off x="3108960" y="4864608"/>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本資料の利用、または利用できなかったことにより生じたいかなる損害についても、作成者は責任を負いません。</a:t>
            </a:r>
          </a:p>
        </p:txBody>
      </p:sp>
      <p:cxnSp>
        <p:nvCxnSpPr>
          <p:cNvPr id="33" name="Connector 32"/>
          <p:cNvCxnSpPr/>
          <p:nvPr/>
        </p:nvCxnSpPr>
        <p:spPr>
          <a:xfrm>
            <a:off x="457200" y="5559552"/>
            <a:ext cx="11274552" cy="0"/>
          </a:xfrm>
          <a:prstGeom prst="line">
            <a:avLst/>
          </a:prstGeom>
          <a:ln w="9525">
            <a:solidFill>
              <a:srgbClr val="C3CFD1"/>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57200" y="5669280"/>
            <a:ext cx="274320" cy="274320"/>
          </a:xfrm>
          <a:prstGeom prst="ellipse">
            <a:avLst/>
          </a:prstGeom>
          <a:solidFill>
            <a:srgbClr val="1F2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5669280"/>
            <a:ext cx="274320" cy="274320"/>
          </a:xfrm>
          <a:prstGeom prst="rect">
            <a:avLst/>
          </a:prstGeom>
          <a:noFill/>
        </p:spPr>
        <p:txBody>
          <a:bodyPr wrap="square" lIns="0" rIns="0" tIns="0" bIns="0" anchor="ctr" rtlCol="0"/>
          <a:lstStyle/>
          <a:p>
            <a:pPr marL="0" indent="0" algn="ctr">
              <a:buNone/>
            </a:pPr>
            <a:r>
              <a:rPr sz="1000" b="1" lang="en-US" dirty="0">
                <a:solidFill>
                  <a:srgbClr val="FFFFFF"/>
                </a:solidFill>
                <a:latin typeface="Yu Gothic" pitchFamily="34" charset="0"/>
                <a:ea typeface="Yu Gothic" pitchFamily="34" charset="-122"/>
                <a:cs typeface="Yu Gothic" pitchFamily="34" charset="-120"/>
              </a:rPr>
              <a:t>7</a:t>
            </a:r>
          </a:p>
        </p:txBody>
      </p:sp>
      <p:sp>
        <p:nvSpPr>
          <p:cNvPr id="36" name="TextBox 35"/>
          <p:cNvSpPr txBox="1"/>
          <p:nvPr/>
        </p:nvSpPr>
        <p:spPr>
          <a:xfrm>
            <a:off x="868680" y="5650992"/>
            <a:ext cx="2194560" cy="310896"/>
          </a:xfrm>
          <a:prstGeom prst="rect">
            <a:avLst/>
          </a:prstGeom>
          <a:noFill/>
        </p:spPr>
        <p:txBody>
          <a:bodyPr wrap="square" lIns="0" rIns="0" tIns="0" bIns="0" anchor="ctr" rtlCol="0"/>
          <a:lstStyle/>
          <a:p>
            <a:pPr marL="0" indent="0">
              <a:buNone/>
            </a:pPr>
            <a:r>
              <a:rPr sz="1200" b="1" lang="en-US" dirty="0">
                <a:solidFill>
                  <a:srgbClr val="1F2E35"/>
                </a:solidFill>
                <a:latin typeface="Yu Gothic" pitchFamily="34" charset="0"/>
                <a:ea typeface="Yu Gothic" pitchFamily="34" charset="-122"/>
                <a:cs typeface="Yu Gothic" pitchFamily="34" charset="-120"/>
              </a:rPr>
              <a:t>名称の扱い</a:t>
            </a:r>
          </a:p>
        </p:txBody>
      </p:sp>
      <p:sp>
        <p:nvSpPr>
          <p:cNvPr id="37" name="TextBox 36"/>
          <p:cNvSpPr txBox="1"/>
          <p:nvPr/>
        </p:nvSpPr>
        <p:spPr>
          <a:xfrm>
            <a:off x="3108960" y="5541264"/>
            <a:ext cx="8622792" cy="512064"/>
          </a:xfrm>
          <a:prstGeom prst="rect">
            <a:avLst/>
          </a:prstGeom>
          <a:noFill/>
        </p:spPr>
        <p:txBody>
          <a:bodyPr wrap="square" lIns="0" rIns="0" tIns="0" bIns="0" anchor="ctr" rtlCol="0"/>
          <a:lstStyle/>
          <a:p>
            <a:pPr marL="0" indent="0">
              <a:buNone/>
            </a:pPr>
            <a:r>
              <a:rPr sz="1050" b="0" lang="en-US" dirty="0">
                <a:solidFill>
                  <a:srgbClr val="1F2E35"/>
                </a:solidFill>
                <a:latin typeface="Yu Gothic" pitchFamily="34" charset="0"/>
                <a:ea typeface="Yu Gothic" pitchFamily="34" charset="-122"/>
                <a:cs typeface="Yu Gothic" pitchFamily="34" charset="-120"/>
              </a:rPr>
              <a:t>本資料に記載した製品・システムの種類の名称や略称（ELN、LIMS、ERPなど）は一般名称として使用しており、特定の製品やベンダーを推奨・評価するものではありません。</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Target-to-Patient バリューチェーン</dc:title>
  <dc:subject>PptxGenJS Presentation</dc:subject>
  <dc:creator>PptxGenJS</dc:creator>
  <cp:lastModifiedBy>PptxGenJS</cp:lastModifiedBy>
  <cp:revision>1</cp:revision>
  <dcterms:created xsi:type="dcterms:W3CDTF">2026-09-19T08:44:48Z</dcterms:created>
  <dcterms:modified xsi:type="dcterms:W3CDTF">2026-09-19T08:44:48Z</dcterms:modified>
</cp:coreProperties>
</file>