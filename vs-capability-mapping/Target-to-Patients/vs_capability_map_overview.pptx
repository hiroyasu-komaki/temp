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70" r:id="rId16"/>
    <p:sldId id="284" r:id="rId35"/>
    <p:sldId id="309" r:id="rId60"/>
    <p:sldId id="312" r:id="rId63"/>
    <p:sldId id="318" r:id="rId19"/>
    <p:sldId id="319" r:id="rId20"/>
    <p:sldId id="313" r:id="rId64"/>
    <p:sldId id="314" r:id="rId65"/>
    <p:sldId id="317" r:id="rId68"/>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16" Type="http://schemas.openxmlformats.org/officeDocument/2006/relationships/slide" Target="slides/slide4.xml"/><Relationship Id="rId19" Type="http://schemas.openxmlformats.org/officeDocument/2006/relationships/slide" Target="slides/slide13.xml"/><Relationship Id="rId20" Type="http://schemas.openxmlformats.org/officeDocument/2006/relationships/slide" Target="slides/slide14.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5.xml"/><Relationship Id="rId60" Type="http://schemas.openxmlformats.org/officeDocument/2006/relationships/slide" Target="slides/slide6.xml"/><Relationship Id="rId63" Type="http://schemas.openxmlformats.org/officeDocument/2006/relationships/slide" Target="slides/slide7.xml"/><Relationship Id="rId64" Type="http://schemas.openxmlformats.org/officeDocument/2006/relationships/slide" Target="slides/slide8.xml"/><Relationship Id="rId65" Type="http://schemas.openxmlformats.org/officeDocument/2006/relationships/slide" Target="slides/slide9.xml"/><Relationship Id="rId6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前提とデータソースを確認したうえで、第1部でバリューストリーム、第2部でケイパビリティマップを示す。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前提が変わる場合（低分子、一般疾患、日本基準など）は、希少疾患・米国基準に固有の項目と制度名を見直す必要がある。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創薬研究：疾患の原因を理解して標的を定め、抗体を創出・最適化し、開発候補品を1つに絞り込む段階
非臨床開発：開発候補品をヒトに初めて投与できるよう、薬理・体内動態・安全性を非臨床で評価し、INDを発効させる段階
CMC開発（臨床と並行）：候補品を安定して生産し品質を保証できる細胞株・製造プロセス・製剤・分析法を確立し、治験薬を供給し、商用プロセスをバリデーションする段階
臨床開発：自然歴研究で疾患を把握し、患者での臨床試験を通じて、安全性・有効性のエビデンスを確立する段階
BLA申請・審査：開発で得たエビデンスをBLAにまとめてFDAに提出し、審査・査察に対応して承認を得る段階
商用製造（継続）：承認されたプロセスで、原薬・製剤をGMPに従って製造し、品質を保証して出荷できる状態にする継続的な活動
上市（1回きり）：承認後、価格・償還と、診断支援・流通・情報提供の体制を整え、患者が治療を受けられる状態をつくる段階
供給・流通（継続）：需要に応じて、品質を保った製品を患者・医療機関へ継続的に届ける活動
市販後：市販後の安全性を監視し、FDAとの約束（PMR／PMC）を果たし、適応追加などで製品価値を最大化する継続的な活動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戦略・ガバナンス（戦略）：研究開発の方向性・資源配分と、知財・外部パートナーを通じた事業基盤を統制する能力
研究（創薬）（コア）：疾患を理解し、標的に対する抗体を創出・最適化して開発候補品を生み出す能力
非臨床・臨床薬理（コア）：ヒトへの投与を可能にし、用法用量を裏づける薬理・安全性・体内動態の知見を生み出す能力
CMC開発（コア）：生細胞で抗体を安定して生産し、品質を保証できる製造プロセス・製剤・分析法を開発する能力
臨床開発（コア）：少ない患者で、ヒトでの安全性・有効性の確かなエビデンスを生み出す能力
薬事（コア）：FDAとの対話を通じて、開発を承認に導き、承認後も製品を適法に維持する能力
製造（コア）：生細胞を用いて、GMPに従い、原薬・製剤を安定して製造する能力
品質（コア）：製品がGMPなどの要件に適合していることを、製造から独立した立場で試験・保証する能力
ファーマコビジランス（安全性）（コア）：治験中から市販後まで、有害事象を把握し、リスクを評価・最小化する能力
メディカル・患者エンゲージメント（コア）：患者・患者団体・専門医との関係を築き、科学的情報と支援を通じて患者に届ける能力（希少疾患で差別化の源泉）
市場アクセス・商業（コア）：製品の価値を価格と償還に結びつけ、適正に販売する能力
サプライチェーン（コア）：患者単位の需要に応え、品質を保った製品を確実に届ける能力
共通基盤（支援）：全領域が使う情報・文書・教育の基盤を提供する能力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fda.gov/industry/medical-products-rare-diseases-and-conditions/rare-pediatric-disease-designation-and-priority-review-voucher-programs" TargetMode="External"/><Relationship Id="rId2" Type="http://schemas.openxmlformats.org/officeDocument/2006/relationships/hyperlink" Target="https://www.spencerfane.com/insight/congress-extends-rare-pediatric-disease-priority-review-voucher-program-through-2029/" TargetMode="External"/><Relationship Id="rId3" Type="http://schemas.openxmlformats.org/officeDocument/2006/relationships/hyperlink" Target="https://www.wsgr.com/en/insights/congress-reauthorizes-the-rare-pediatric-disease-priority-review-voucher-program-and-clarifies-orphan-drug-exclusivity.html" TargetMode="External"/><Relationship Id="rId4" Type="http://schemas.openxmlformats.org/officeDocument/2006/relationships/hyperlink" Target="https://www.jonesday.com/en/insights/2025/07/congress-expands-orphan-drug-exemptions-from-medicare-price-negotiations" TargetMode="External"/><Relationship Id="rId5" Type="http://schemas.openxmlformats.org/officeDocument/2006/relationships/hyperlink" Target="https://www.fda.gov/industry/fda-rare-disease-innovation-hub/cdercber-rare-disease-evidence-principles-rdep" TargetMode="External"/><Relationship Id="rId6" Type="http://schemas.openxmlformats.org/officeDocument/2006/relationships/hyperlink" Target="https://www.cooley.com/news/insight/2025/2025-09-19-the-correct-clinical-study-for-ultra-rare-diseases-involving-genetic-defects-fdas-rare-disease-evidence-principles-process-provides-guidance-for-applications-supported-by-a-single-pivotal-trial" TargetMode="External"/><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hyperlink" Target="https://www.fda.gov/industry/medical-products-rare-diseases-and-conditions/rare-pediatric-disease-designation-and-priority-review-voucher-programs" TargetMode="External"/><Relationship Id="rId2" Type="http://schemas.openxmlformats.org/officeDocument/2006/relationships/hyperlink" Target="https://www.spencerfane.com/insight/congress-extends-rare-pediatric-disease-priority-review-voucher-program-through-2029/" TargetMode="External"/><Relationship Id="rId3" Type="http://schemas.openxmlformats.org/officeDocument/2006/relationships/hyperlink" Target="https://www.wsgr.com/en/insights/congress-reauthorizes-the-rare-pediatric-disease-priority-review-voucher-program-and-clarifies-orphan-drug-exclusivity.html" TargetMode="External"/><Relationship Id="rId4" Type="http://schemas.openxmlformats.org/officeDocument/2006/relationships/hyperlink" Target="https://www.jonesday.com/en/insights/2025/07/congress-expands-orphan-drug-exemptions-from-medicare-price-negotiations" TargetMode="External"/><Relationship Id="rId5" Type="http://schemas.openxmlformats.org/officeDocument/2006/relationships/hyperlink" Target="https://www.fda.gov/industry/fda-rare-disease-innovation-hub/cdercber-rare-disease-evidence-principles-rdep" TargetMode="External"/><Relationship Id="rId6" Type="http://schemas.openxmlformats.org/officeDocument/2006/relationships/hyperlink" Target="https://www.cooley.com/news/insight/2025/2025-09-19-the-correct-clinical-study-for-ultra-rare-diseases-involving-genetic-defects-fdas-rare-disease-evidence-principles-process-provides-guidance-for-applications-supported-by-a-single-pivotal-trial" TargetMode="External"/><Relationship Id="rId7"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E35"/>
        </a:solidFill>
      </p:bgPr>
    </p:bg>
    <p:spTree>
      <p:nvGrpSpPr>
        <p:cNvPr id="1" name=""/>
        <p:cNvGrpSpPr/>
        <p:nvPr/>
      </p:nvGrpSpPr>
      <p:grpSpPr>
        <a:xfrm>
          <a:off x="0" y="0"/>
          <a:ext cx="0" cy="0"/>
          <a:chOff x="0" y="0"/>
          <a:chExt cx="0" cy="0"/>
        </a:xfrm>
      </p:grpSpPr>
      <p:sp>
        <p:nvSpPr>
          <p:cNvPr id="2" name="Text 0"/>
          <p:cNvSpPr txBox="1"/>
          <p:nvPr/>
        </p:nvSpPr>
        <p:spPr>
          <a:xfrm>
            <a:off x="731520" y="1783080"/>
            <a:ext cx="10515600" cy="1005840"/>
          </a:xfrm>
          <a:prstGeom prst="rect">
            <a:avLst/>
          </a:prstGeom>
          <a:noFill/>
          <a:ln/>
        </p:spPr>
        <p:txBody>
          <a:bodyPr wrap="square" lIns="0" tIns="0" rIns="0" bIns="0" rtlCol="0" anchor="ctr"/>
          <a:lstStyle/>
          <a:p>
            <a:pPr indent="0" marL="0">
              <a:buNone/>
            </a:pPr>
            <a:r>
              <a:rPr lang="en-US" sz="4800" b="1" dirty="0">
                <a:solidFill>
                  <a:srgbClr val="FFFFFF"/>
                </a:solidFill>
                <a:latin typeface="Yu Gothic" pitchFamily="34" charset="0"/>
                <a:ea typeface="Yu Gothic" pitchFamily="34" charset="-122"/>
                <a:cs typeface="Yu Gothic" pitchFamily="34" charset="-120"/>
              </a:rPr>
              <a:t>Target-to-Patient</a:t>
            </a:r>
            <a:endParaRPr lang="en-US" sz="4800" dirty="0"/>
          </a:p>
        </p:txBody>
      </p:sp>
      <p:sp>
        <p:nvSpPr>
          <p:cNvPr id="3" name="Text 1"/>
          <p:cNvSpPr txBox="1"/>
          <p:nvPr/>
        </p:nvSpPr>
        <p:spPr>
          <a:xfrm>
            <a:off x="731520" y="2880360"/>
            <a:ext cx="9601200" cy="822960"/>
          </a:xfrm>
          <a:prstGeom prst="rect">
            <a:avLst/>
          </a:prstGeom>
          <a:noFill/>
          <a:ln/>
        </p:spPr>
        <p:txBody>
          <a:bodyPr wrap="square" lIns="0" tIns="0" rIns="0" bIns="0" rtlCol="0" anchor="t"/>
          <a:lstStyle/>
          <a:p>
            <a:pPr indent="0" marL="0">
              <a:buNone/>
            </a:pPr>
            <a:r>
              <a:rPr lang="en-US" sz="1800" dirty="0">
                <a:solidFill>
                  <a:srgbClr val="D5DEE0"/>
                </a:solidFill>
                <a:latin typeface="Yu Gothic" pitchFamily="34" charset="0"/>
                <a:ea typeface="Yu Gothic" pitchFamily="34" charset="-122"/>
                <a:cs typeface="Yu Gothic" pitchFamily="34" charset="-120"/>
              </a:rPr>
              <a:t>希少疾患の標的探索から、FDA承認・上市を経て、少数の患者へ確実に届け、市販後に価値を最大化するまで</a:t>
            </a:r>
            <a:endParaRPr lang="en-US" sz="1800" dirty="0"/>
          </a:p>
        </p:txBody>
      </p:sp>
      <p:sp>
        <p:nvSpPr>
          <p:cNvPr id="4" name="Text 2"/>
          <p:cNvSpPr txBox="1"/>
          <p:nvPr/>
        </p:nvSpPr>
        <p:spPr>
          <a:xfrm>
            <a:off x="731520" y="3840480"/>
            <a:ext cx="9601200" cy="365760"/>
          </a:xfrm>
          <a:prstGeom prst="rect">
            <a:avLst/>
          </a:prstGeom>
          <a:noFill/>
          <a:ln/>
        </p:spPr>
        <p:txBody>
          <a:bodyPr wrap="square" lIns="0" tIns="0" rIns="0" bIns="0" rtlCol="0" anchor="ctr"/>
          <a:lstStyle/>
          <a:p>
            <a:pPr indent="0" marL="0">
              <a:buNone/>
            </a:pPr>
            <a:r>
              <a:rPr lang="en-US" sz="1300" dirty="0">
                <a:solidFill>
                  <a:srgbClr val="A9BCC1"/>
                </a:solidFill>
                <a:latin typeface="Yu Gothic" pitchFamily="34" charset="0"/>
                <a:ea typeface="Yu Gothic" pitchFamily="34" charset="-122"/>
                <a:cs typeface="Yu Gothic" pitchFamily="34" charset="-120"/>
              </a:rPr>
              <a:t>希少疾患向け新規バイオ医薬品（抗体医薬）／米国基準（FDA・BLA）</a:t>
            </a:r>
            <a:endParaRPr lang="en-US" sz="1300" dirty="0"/>
          </a:p>
        </p:txBody>
      </p:sp>
      <p:sp>
        <p:nvSpPr>
          <p:cNvPr id="5" name="Shape 3"/>
          <p:cNvSpPr/>
          <p:nvPr/>
        </p:nvSpPr>
        <p:spPr>
          <a:xfrm>
            <a:off x="731520" y="5120640"/>
            <a:ext cx="530352" cy="237744"/>
          </a:xfrm>
          <a:prstGeom prst="homePlate">
            <a:avLst/>
          </a:prstGeom>
          <a:solidFill>
            <a:srgbClr val="4B6A74"/>
          </a:solidFill>
          <a:ln w="9525">
            <a:solidFill>
              <a:srgbClr val="1F2E35"/>
            </a:solidFill>
            <a:prstDash val="solid"/>
          </a:ln>
        </p:spPr>
      </p:sp>
      <p:sp>
        <p:nvSpPr>
          <p:cNvPr id="6" name="Shape 4"/>
          <p:cNvSpPr/>
          <p:nvPr/>
        </p:nvSpPr>
        <p:spPr>
          <a:xfrm>
            <a:off x="1298448" y="5120640"/>
            <a:ext cx="530352" cy="237744"/>
          </a:xfrm>
          <a:prstGeom prst="homePlate">
            <a:avLst/>
          </a:prstGeom>
          <a:solidFill>
            <a:srgbClr val="4B6A74"/>
          </a:solidFill>
          <a:ln w="9525">
            <a:solidFill>
              <a:srgbClr val="1F2E35"/>
            </a:solidFill>
            <a:prstDash val="solid"/>
          </a:ln>
        </p:spPr>
      </p:sp>
      <p:sp>
        <p:nvSpPr>
          <p:cNvPr id="7" name="Shape 5"/>
          <p:cNvSpPr/>
          <p:nvPr/>
        </p:nvSpPr>
        <p:spPr>
          <a:xfrm>
            <a:off x="1865376" y="5120640"/>
            <a:ext cx="530352" cy="237744"/>
          </a:xfrm>
          <a:prstGeom prst="homePlate">
            <a:avLst/>
          </a:prstGeom>
          <a:solidFill>
            <a:srgbClr val="4B6A74"/>
          </a:solidFill>
          <a:ln w="9525">
            <a:solidFill>
              <a:srgbClr val="1F2E35"/>
            </a:solidFill>
            <a:prstDash val="solid"/>
          </a:ln>
        </p:spPr>
      </p:sp>
      <p:sp>
        <p:nvSpPr>
          <p:cNvPr id="8" name="Shape 6"/>
          <p:cNvSpPr/>
          <p:nvPr/>
        </p:nvSpPr>
        <p:spPr>
          <a:xfrm>
            <a:off x="2432304" y="5120640"/>
            <a:ext cx="530352" cy="237744"/>
          </a:xfrm>
          <a:prstGeom prst="homePlate">
            <a:avLst/>
          </a:prstGeom>
          <a:solidFill>
            <a:srgbClr val="4B6A74"/>
          </a:solidFill>
          <a:ln w="9525">
            <a:solidFill>
              <a:srgbClr val="1F2E35"/>
            </a:solidFill>
            <a:prstDash val="solid"/>
          </a:ln>
        </p:spPr>
      </p:sp>
      <p:sp>
        <p:nvSpPr>
          <p:cNvPr id="9" name="Shape 7"/>
          <p:cNvSpPr/>
          <p:nvPr/>
        </p:nvSpPr>
        <p:spPr>
          <a:xfrm>
            <a:off x="2999232" y="5120640"/>
            <a:ext cx="530352" cy="237744"/>
          </a:xfrm>
          <a:prstGeom prst="homePlate">
            <a:avLst/>
          </a:prstGeom>
          <a:solidFill>
            <a:srgbClr val="4B6A74"/>
          </a:solidFill>
          <a:ln w="9525">
            <a:solidFill>
              <a:srgbClr val="1F2E35"/>
            </a:solidFill>
            <a:prstDash val="solid"/>
          </a:ln>
        </p:spPr>
      </p:sp>
      <p:sp>
        <p:nvSpPr>
          <p:cNvPr id="10" name="Shape 8"/>
          <p:cNvSpPr/>
          <p:nvPr/>
        </p:nvSpPr>
        <p:spPr>
          <a:xfrm>
            <a:off x="3566160" y="5120640"/>
            <a:ext cx="530352" cy="237744"/>
          </a:xfrm>
          <a:prstGeom prst="homePlate">
            <a:avLst/>
          </a:prstGeom>
          <a:solidFill>
            <a:srgbClr val="6E8B93"/>
          </a:solidFill>
          <a:ln w="9525">
            <a:solidFill>
              <a:srgbClr val="1F2E35"/>
            </a:solidFill>
            <a:prstDash val="solid"/>
          </a:ln>
        </p:spPr>
      </p:sp>
      <p:sp>
        <p:nvSpPr>
          <p:cNvPr id="11" name="Shape 9"/>
          <p:cNvSpPr/>
          <p:nvPr/>
        </p:nvSpPr>
        <p:spPr>
          <a:xfrm>
            <a:off x="4133088" y="5120640"/>
            <a:ext cx="530352" cy="237744"/>
          </a:xfrm>
          <a:prstGeom prst="homePlate">
            <a:avLst/>
          </a:prstGeom>
          <a:solidFill>
            <a:srgbClr val="6E8B93"/>
          </a:solidFill>
          <a:ln w="9525">
            <a:solidFill>
              <a:srgbClr val="1F2E35"/>
            </a:solidFill>
            <a:prstDash val="solid"/>
          </a:ln>
        </p:spPr>
      </p:sp>
      <p:sp>
        <p:nvSpPr>
          <p:cNvPr id="12" name="Shape 10"/>
          <p:cNvSpPr/>
          <p:nvPr/>
        </p:nvSpPr>
        <p:spPr>
          <a:xfrm>
            <a:off x="4700016" y="5120640"/>
            <a:ext cx="530352" cy="237744"/>
          </a:xfrm>
          <a:prstGeom prst="homePlate">
            <a:avLst/>
          </a:prstGeom>
          <a:solidFill>
            <a:srgbClr val="6E8B93"/>
          </a:solidFill>
          <a:ln w="9525">
            <a:solidFill>
              <a:srgbClr val="1F2E35"/>
            </a:solidFill>
            <a:prstDash val="solid"/>
          </a:ln>
        </p:spPr>
      </p:sp>
      <p:sp>
        <p:nvSpPr>
          <p:cNvPr id="13" name="Shape 11"/>
          <p:cNvSpPr/>
          <p:nvPr/>
        </p:nvSpPr>
        <p:spPr>
          <a:xfrm>
            <a:off x="5266944" y="5120640"/>
            <a:ext cx="530352" cy="237744"/>
          </a:xfrm>
          <a:prstGeom prst="homePlate">
            <a:avLst/>
          </a:prstGeom>
          <a:solidFill>
            <a:srgbClr val="6E8B93"/>
          </a:solidFill>
          <a:ln w="9525">
            <a:solidFill>
              <a:srgbClr val="1F2E3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9144000" cy="640080"/>
          </a:xfrm>
          <a:prstGeom prst="rect">
            <a:avLst/>
          </a:prstGeom>
          <a:noFill/>
          <a:ln/>
        </p:spPr>
        <p:txBody>
          <a:bodyPr wrap="square" lIns="0" tIns="0" rIns="0" bIns="0" rtlCol="0" anchor="ctr"/>
          <a:lstStyle/>
          <a:p>
            <a:pPr indent="0" marL="0">
              <a:buNone/>
            </a:pPr>
            <a:r>
              <a:rPr lang="en-US" sz="3000" b="1" dirty="0">
                <a:solidFill>
                  <a:srgbClr val="1F2E35"/>
                </a:solidFill>
                <a:latin typeface="Yu Gothic" pitchFamily="34" charset="0"/>
                <a:ea typeface="Yu Gothic" pitchFamily="34" charset="-122"/>
                <a:cs typeface="Yu Gothic" pitchFamily="34" charset="-120"/>
              </a:rPr>
              <a:t>前提条件とデータソース</a:t>
            </a:r>
            <a:endParaRPr lang="en-US" sz="3000" dirty="0"/>
          </a:p>
        </p:txBody>
      </p:sp>
      <p:sp>
        <p:nvSpPr>
          <p:cNvPr id="3" name="Text 1"/>
          <p:cNvSpPr txBox="1"/>
          <p:nvPr/>
        </p:nvSpPr>
        <p:spPr>
          <a:xfrm>
            <a:off x="457200" y="960120"/>
            <a:ext cx="9144000" cy="365760"/>
          </a:xfrm>
          <a:prstGeom prst="rect">
            <a:avLst/>
          </a:prstGeom>
          <a:noFill/>
          <a:ln/>
        </p:spPr>
        <p:txBody>
          <a:bodyPr wrap="square" lIns="0" tIns="0" rIns="0" bIns="0" rtlCol="0" anchor="ctr"/>
          <a:lstStyle/>
          <a:p>
            <a:pPr indent="0" marL="0">
              <a:buNone/>
            </a:pPr>
            <a:r>
              <a:rPr lang="en-US" sz="1400" dirty="0">
                <a:solidFill>
                  <a:srgbClr val="5B6B70"/>
                </a:solidFill>
                <a:latin typeface="Yu Gothic" pitchFamily="34" charset="0"/>
                <a:ea typeface="Yu Gothic" pitchFamily="34" charset="-122"/>
                <a:cs typeface="Yu Gothic" pitchFamily="34" charset="-120"/>
              </a:rPr>
              <a:t>本資料は、次の前提で定義したマップ一式の全体像を図示したものです。</a:t>
            </a:r>
            <a:endParaRPr lang="en-US" sz="1400" dirty="0"/>
          </a:p>
        </p:txBody>
      </p:sp>
      <p:sp>
        <p:nvSpPr>
          <p:cNvPr id="4" name="Text 2"/>
          <p:cNvSpPr txBox="1"/>
          <p:nvPr/>
        </p:nvSpPr>
        <p:spPr>
          <a:xfrm>
            <a:off x="457200" y="1600200"/>
            <a:ext cx="5486400" cy="320040"/>
          </a:xfrm>
          <a:prstGeom prst="rect">
            <a:avLst/>
          </a:prstGeom>
          <a:noFill/>
          <a:ln/>
        </p:spPr>
        <p:txBody>
          <a:bodyPr wrap="square" lIns="0" tIns="0" rIns="0" bIns="0" rtlCol="0" anchor="ctr"/>
          <a:lstStyle/>
          <a:p>
            <a:pPr indent="0" marL="0">
              <a:buNone/>
            </a:pPr>
            <a:r>
              <a:rPr lang="en-US" sz="1600" b="1" dirty="0">
                <a:solidFill>
                  <a:srgbClr val="2F4F5A"/>
                </a:solidFill>
                <a:latin typeface="Yu Gothic" pitchFamily="34" charset="0"/>
                <a:ea typeface="Yu Gothic" pitchFamily="34" charset="-122"/>
                <a:cs typeface="Yu Gothic" pitchFamily="34" charset="-120"/>
              </a:rPr>
              <a:t>前提条件</a:t>
            </a:r>
            <a:endParaRPr lang="en-US" sz="1600" dirty="0"/>
          </a:p>
        </p:txBody>
      </p:sp>
      <p:sp>
        <p:nvSpPr>
          <p:cNvPr id="5" name="Shape 3"/>
          <p:cNvSpPr/>
          <p:nvPr/>
        </p:nvSpPr>
        <p:spPr>
          <a:xfrm>
            <a:off x="457200" y="2011680"/>
            <a:ext cx="6035040" cy="822960"/>
          </a:xfrm>
          <a:prstGeom prst="rect">
            <a:avLst/>
          </a:prstGeom>
          <a:solidFill>
            <a:srgbClr val="EEF2F2"/>
          </a:solidFill>
          <a:ln w="12700">
            <a:solidFill>
              <a:srgbClr val="EEF2F2"/>
            </a:solidFill>
            <a:prstDash val="solid"/>
          </a:ln>
        </p:spPr>
      </p:sp>
      <p:sp>
        <p:nvSpPr>
          <p:cNvPr id="6" name="Text 4"/>
          <p:cNvSpPr txBox="1"/>
          <p:nvPr/>
        </p:nvSpPr>
        <p:spPr>
          <a:xfrm>
            <a:off x="640080" y="2011680"/>
            <a:ext cx="1463040" cy="822960"/>
          </a:xfrm>
          <a:prstGeom prst="rect">
            <a:avLst/>
          </a:prstGeom>
          <a:noFill/>
          <a:ln/>
        </p:spPr>
        <p:txBody>
          <a:bodyPr wrap="square" lIns="0" tIns="0" rIns="0" bIns="0" rtlCol="0" anchor="ctr"/>
          <a:lstStyle/>
          <a:p>
            <a:pPr indent="0" marL="0">
              <a:buNone/>
            </a:pPr>
            <a:r>
              <a:rPr lang="en-US" sz="1300" b="1" dirty="0">
                <a:solidFill>
                  <a:srgbClr val="2F4F5A"/>
                </a:solidFill>
                <a:latin typeface="Yu Gothic" pitchFamily="34" charset="0"/>
                <a:ea typeface="Yu Gothic" pitchFamily="34" charset="-122"/>
                <a:cs typeface="Yu Gothic" pitchFamily="34" charset="-120"/>
              </a:rPr>
              <a:t>モダリティ</a:t>
            </a:r>
            <a:endParaRPr lang="en-US" sz="1300" dirty="0"/>
          </a:p>
        </p:txBody>
      </p:sp>
      <p:sp>
        <p:nvSpPr>
          <p:cNvPr id="7" name="Text 5"/>
          <p:cNvSpPr txBox="1"/>
          <p:nvPr/>
        </p:nvSpPr>
        <p:spPr>
          <a:xfrm>
            <a:off x="2148840" y="2011680"/>
            <a:ext cx="4206240" cy="822960"/>
          </a:xfrm>
          <a:prstGeom prst="rect">
            <a:avLst/>
          </a:prstGeom>
          <a:noFill/>
          <a:ln/>
        </p:spPr>
        <p:txBody>
          <a:bodyPr wrap="square" lIns="0" tIns="0" rIns="0" bIns="0" rtlCol="0" anchor="ctr"/>
          <a:lstStyle/>
          <a:p>
            <a:pPr indent="0" marL="0">
              <a:buNone/>
            </a:pPr>
            <a:r>
              <a:rPr lang="en-US" sz="1300" dirty="0">
                <a:solidFill>
                  <a:srgbClr val="1F2E35"/>
                </a:solidFill>
                <a:latin typeface="Yu Gothic" pitchFamily="34" charset="0"/>
                <a:ea typeface="Yu Gothic" pitchFamily="34" charset="-122"/>
                <a:cs typeface="Yu Gothic" pitchFamily="34" charset="-120"/>
              </a:rPr>
              <a:t>高分子（バイオ医薬品）。代表例として抗体医薬を想定</a:t>
            </a:r>
            <a:endParaRPr lang="en-US" sz="1300" dirty="0"/>
          </a:p>
        </p:txBody>
      </p:sp>
      <p:sp>
        <p:nvSpPr>
          <p:cNvPr id="8" name="Shape 6"/>
          <p:cNvSpPr/>
          <p:nvPr/>
        </p:nvSpPr>
        <p:spPr>
          <a:xfrm>
            <a:off x="457200" y="2971800"/>
            <a:ext cx="6035040" cy="822960"/>
          </a:xfrm>
          <a:prstGeom prst="rect">
            <a:avLst/>
          </a:prstGeom>
          <a:solidFill>
            <a:srgbClr val="EEF2F2"/>
          </a:solidFill>
          <a:ln w="12700">
            <a:solidFill>
              <a:srgbClr val="EEF2F2"/>
            </a:solidFill>
            <a:prstDash val="solid"/>
          </a:ln>
        </p:spPr>
      </p:sp>
      <p:sp>
        <p:nvSpPr>
          <p:cNvPr id="9" name="Text 7"/>
          <p:cNvSpPr txBox="1"/>
          <p:nvPr/>
        </p:nvSpPr>
        <p:spPr>
          <a:xfrm>
            <a:off x="640080" y="2971800"/>
            <a:ext cx="1463040" cy="822960"/>
          </a:xfrm>
          <a:prstGeom prst="rect">
            <a:avLst/>
          </a:prstGeom>
          <a:noFill/>
          <a:ln/>
        </p:spPr>
        <p:txBody>
          <a:bodyPr wrap="square" lIns="0" tIns="0" rIns="0" bIns="0" rtlCol="0" anchor="ctr"/>
          <a:lstStyle/>
          <a:p>
            <a:pPr indent="0" marL="0">
              <a:buNone/>
            </a:pPr>
            <a:r>
              <a:rPr lang="en-US" sz="1300" b="1" dirty="0">
                <a:solidFill>
                  <a:srgbClr val="2F4F5A"/>
                </a:solidFill>
                <a:latin typeface="Yu Gothic" pitchFamily="34" charset="0"/>
                <a:ea typeface="Yu Gothic" pitchFamily="34" charset="-122"/>
                <a:cs typeface="Yu Gothic" pitchFamily="34" charset="-120"/>
              </a:rPr>
              <a:t>対象疾患</a:t>
            </a:r>
            <a:endParaRPr lang="en-US" sz="1300" dirty="0"/>
          </a:p>
        </p:txBody>
      </p:sp>
      <p:sp>
        <p:nvSpPr>
          <p:cNvPr id="10" name="Text 8"/>
          <p:cNvSpPr txBox="1"/>
          <p:nvPr/>
        </p:nvSpPr>
        <p:spPr>
          <a:xfrm>
            <a:off x="2148840" y="2971800"/>
            <a:ext cx="4206240" cy="822960"/>
          </a:xfrm>
          <a:prstGeom prst="rect">
            <a:avLst/>
          </a:prstGeom>
          <a:noFill/>
          <a:ln/>
        </p:spPr>
        <p:txBody>
          <a:bodyPr wrap="square" lIns="0" tIns="0" rIns="0" bIns="0" rtlCol="0" anchor="ctr"/>
          <a:lstStyle/>
          <a:p>
            <a:pPr indent="0" marL="0">
              <a:buNone/>
            </a:pPr>
            <a:r>
              <a:rPr lang="en-US" sz="1300" dirty="0">
                <a:solidFill>
                  <a:srgbClr val="1F2E35"/>
                </a:solidFill>
                <a:latin typeface="Yu Gothic" pitchFamily="34" charset="0"/>
                <a:ea typeface="Yu Gothic" pitchFamily="34" charset="-122"/>
                <a:cs typeface="Yu Gothic" pitchFamily="34" charset="-120"/>
              </a:rPr>
              <a:t>希少疾患（米国の患者数が20万人未満）</a:t>
            </a:r>
            <a:endParaRPr lang="en-US" sz="1300" dirty="0"/>
          </a:p>
        </p:txBody>
      </p:sp>
      <p:sp>
        <p:nvSpPr>
          <p:cNvPr id="11" name="Shape 9"/>
          <p:cNvSpPr/>
          <p:nvPr/>
        </p:nvSpPr>
        <p:spPr>
          <a:xfrm>
            <a:off x="457200" y="3931920"/>
            <a:ext cx="6035040" cy="822960"/>
          </a:xfrm>
          <a:prstGeom prst="rect">
            <a:avLst/>
          </a:prstGeom>
          <a:solidFill>
            <a:srgbClr val="EEF2F2"/>
          </a:solidFill>
          <a:ln w="12700">
            <a:solidFill>
              <a:srgbClr val="EEF2F2"/>
            </a:solidFill>
            <a:prstDash val="solid"/>
          </a:ln>
        </p:spPr>
      </p:sp>
      <p:sp>
        <p:nvSpPr>
          <p:cNvPr id="12" name="Text 10"/>
          <p:cNvSpPr txBox="1"/>
          <p:nvPr/>
        </p:nvSpPr>
        <p:spPr>
          <a:xfrm>
            <a:off x="640080" y="3931920"/>
            <a:ext cx="1463040" cy="822960"/>
          </a:xfrm>
          <a:prstGeom prst="rect">
            <a:avLst/>
          </a:prstGeom>
          <a:noFill/>
          <a:ln/>
        </p:spPr>
        <p:txBody>
          <a:bodyPr wrap="square" lIns="0" tIns="0" rIns="0" bIns="0" rtlCol="0" anchor="ctr"/>
          <a:lstStyle/>
          <a:p>
            <a:pPr indent="0" marL="0">
              <a:buNone/>
            </a:pPr>
            <a:r>
              <a:rPr lang="en-US" sz="1300" b="1" dirty="0">
                <a:solidFill>
                  <a:srgbClr val="2F4F5A"/>
                </a:solidFill>
                <a:latin typeface="Yu Gothic" pitchFamily="34" charset="0"/>
                <a:ea typeface="Yu Gothic" pitchFamily="34" charset="-122"/>
                <a:cs typeface="Yu Gothic" pitchFamily="34" charset="-120"/>
              </a:rPr>
              <a:t>対象製品</a:t>
            </a:r>
            <a:endParaRPr lang="en-US" sz="1300" dirty="0"/>
          </a:p>
        </p:txBody>
      </p:sp>
      <p:sp>
        <p:nvSpPr>
          <p:cNvPr id="13" name="Text 11"/>
          <p:cNvSpPr txBox="1"/>
          <p:nvPr/>
        </p:nvSpPr>
        <p:spPr>
          <a:xfrm>
            <a:off x="2148840" y="3931920"/>
            <a:ext cx="4206240" cy="822960"/>
          </a:xfrm>
          <a:prstGeom prst="rect">
            <a:avLst/>
          </a:prstGeom>
          <a:noFill/>
          <a:ln/>
        </p:spPr>
        <p:txBody>
          <a:bodyPr wrap="square" lIns="0" tIns="0" rIns="0" bIns="0" rtlCol="0" anchor="ctr"/>
          <a:lstStyle/>
          <a:p>
            <a:pPr indent="0" marL="0">
              <a:buNone/>
            </a:pPr>
            <a:r>
              <a:rPr lang="en-US" sz="1300" dirty="0">
                <a:solidFill>
                  <a:srgbClr val="1F2E35"/>
                </a:solidFill>
                <a:latin typeface="Yu Gothic" pitchFamily="34" charset="0"/>
                <a:ea typeface="Yu Gothic" pitchFamily="34" charset="-122"/>
                <a:cs typeface="Yu Gothic" pitchFamily="34" charset="-120"/>
              </a:rPr>
              <a:t>新薬（先発品）のみ。バイオシミラーは対象外</a:t>
            </a:r>
            <a:endParaRPr lang="en-US" sz="1300" dirty="0"/>
          </a:p>
        </p:txBody>
      </p:sp>
      <p:sp>
        <p:nvSpPr>
          <p:cNvPr id="14" name="Shape 12"/>
          <p:cNvSpPr/>
          <p:nvPr/>
        </p:nvSpPr>
        <p:spPr>
          <a:xfrm>
            <a:off x="457200" y="4892040"/>
            <a:ext cx="6035040" cy="822960"/>
          </a:xfrm>
          <a:prstGeom prst="rect">
            <a:avLst/>
          </a:prstGeom>
          <a:solidFill>
            <a:srgbClr val="EEF2F2"/>
          </a:solidFill>
          <a:ln w="12700">
            <a:solidFill>
              <a:srgbClr val="EEF2F2"/>
            </a:solidFill>
            <a:prstDash val="solid"/>
          </a:ln>
        </p:spPr>
      </p:sp>
      <p:sp>
        <p:nvSpPr>
          <p:cNvPr id="15" name="Text 13"/>
          <p:cNvSpPr txBox="1"/>
          <p:nvPr/>
        </p:nvSpPr>
        <p:spPr>
          <a:xfrm>
            <a:off x="640080" y="4892040"/>
            <a:ext cx="1463040" cy="822960"/>
          </a:xfrm>
          <a:prstGeom prst="rect">
            <a:avLst/>
          </a:prstGeom>
          <a:noFill/>
          <a:ln/>
        </p:spPr>
        <p:txBody>
          <a:bodyPr wrap="square" lIns="0" tIns="0" rIns="0" bIns="0" rtlCol="0" anchor="ctr"/>
          <a:lstStyle/>
          <a:p>
            <a:pPr indent="0" marL="0">
              <a:buNone/>
            </a:pPr>
            <a:r>
              <a:rPr lang="en-US" sz="1300" b="1" dirty="0">
                <a:solidFill>
                  <a:srgbClr val="2F4F5A"/>
                </a:solidFill>
                <a:latin typeface="Yu Gothic" pitchFamily="34" charset="0"/>
                <a:ea typeface="Yu Gothic" pitchFamily="34" charset="-122"/>
                <a:cs typeface="Yu Gothic" pitchFamily="34" charset="-120"/>
              </a:rPr>
              <a:t>制度の基準</a:t>
            </a:r>
            <a:endParaRPr lang="en-US" sz="1300" dirty="0"/>
          </a:p>
        </p:txBody>
      </p:sp>
      <p:sp>
        <p:nvSpPr>
          <p:cNvPr id="16" name="Text 14"/>
          <p:cNvSpPr txBox="1"/>
          <p:nvPr/>
        </p:nvSpPr>
        <p:spPr>
          <a:xfrm>
            <a:off x="2148840" y="4892040"/>
            <a:ext cx="4206240" cy="822960"/>
          </a:xfrm>
          <a:prstGeom prst="rect">
            <a:avLst/>
          </a:prstGeom>
          <a:noFill/>
          <a:ln/>
        </p:spPr>
        <p:txBody>
          <a:bodyPr wrap="square" lIns="0" tIns="0" rIns="0" bIns="0" rtlCol="0" anchor="ctr"/>
          <a:lstStyle/>
          <a:p>
            <a:pPr indent="0" marL="0">
              <a:buNone/>
            </a:pPr>
            <a:r>
              <a:rPr lang="en-US" sz="1300" dirty="0">
                <a:solidFill>
                  <a:srgbClr val="1F2E35"/>
                </a:solidFill>
                <a:latin typeface="Yu Gothic" pitchFamily="34" charset="0"/>
                <a:ea typeface="Yu Gothic" pitchFamily="34" charset="-122"/>
                <a:cs typeface="Yu Gothic" pitchFamily="34" charset="-120"/>
              </a:rPr>
              <a:t>米国（FDA／CDER、PHS法351条(a)に基づくBLA、21 CFR）</a:t>
            </a:r>
            <a:endParaRPr lang="en-US" sz="1300" dirty="0"/>
          </a:p>
        </p:txBody>
      </p:sp>
      <p:sp>
        <p:nvSpPr>
          <p:cNvPr id="17" name="Text 15"/>
          <p:cNvSpPr txBox="1"/>
          <p:nvPr/>
        </p:nvSpPr>
        <p:spPr>
          <a:xfrm>
            <a:off x="6949440" y="1600200"/>
            <a:ext cx="4846320" cy="320040"/>
          </a:xfrm>
          <a:prstGeom prst="rect">
            <a:avLst/>
          </a:prstGeom>
          <a:noFill/>
          <a:ln/>
        </p:spPr>
        <p:txBody>
          <a:bodyPr wrap="square" lIns="0" tIns="0" rIns="0" bIns="0" rtlCol="0" anchor="ctr"/>
          <a:lstStyle/>
          <a:p>
            <a:pPr indent="0" marL="0">
              <a:buNone/>
            </a:pPr>
            <a:r>
              <a:rPr lang="en-US" sz="1600" b="1" dirty="0">
                <a:solidFill>
                  <a:srgbClr val="2F4F5A"/>
                </a:solidFill>
                <a:latin typeface="Yu Gothic" pitchFamily="34" charset="0"/>
                <a:ea typeface="Yu Gothic" pitchFamily="34" charset="-122"/>
                <a:cs typeface="Yu Gothic" pitchFamily="34" charset="-120"/>
              </a:rPr>
              <a:t>データソース（2026年9月時点）</a:t>
            </a:r>
            <a:endParaRPr lang="en-US" sz="1600" dirty="0"/>
          </a:p>
        </p:txBody>
      </p:sp>
      <p:sp>
        <p:nvSpPr>
          <p:cNvPr id="18" name="Text 16"/>
          <p:cNvSpPr txBox="1"/>
          <p:nvPr/>
        </p:nvSpPr>
        <p:spPr>
          <a:xfrm>
            <a:off x="6949440" y="2011680"/>
            <a:ext cx="4782312" cy="2377440"/>
          </a:xfrm>
          <a:prstGeom prst="rect">
            <a:avLst/>
          </a:prstGeom>
          <a:noFill/>
          <a:ln/>
        </p:spPr>
        <p:txBody>
          <a:bodyPr wrap="square" lIns="0" tIns="0" rIns="0" bIns="0" rtlCol="0" anchor="t"/>
          <a:lstStyle/>
          <a:p>
            <a:pPr marL="152400" indent="-152400">
              <a:spcAft>
                <a:spcPts val="600"/>
              </a:spcAft>
              <a:buSzPct val="100000"/>
              <a:buChar char="•"/>
            </a:pPr>
            <a:r>
              <a:rPr lang="en-US" sz="1100" u="sng" dirty="0">
                <a:solidFill>
                  <a:srgbClr val="2F4F5A"/>
                </a:solidFill>
                <a:latin typeface="Yu Gothic" pitchFamily="34" charset="0"/>
                <a:ea typeface="Yu Gothic" pitchFamily="34" charset="-122"/>
                <a:cs typeface="Yu Gothic" pitchFamily="34" charset="-120"/>
                <a:hlinkClick r:id="rId1" invalidUrl="" action="" tgtFrame="" tooltip="" history="1" highlightClick="0" endSnd="0">
                  <a:extLst>
                    <a:ext uri="{A12FA001-AC4F-418D-AE19-62706E023703}">
                      <ahyp:hlinkClr xmlns:ahyp="http://schemas.microsoft.com/office/drawing/2018/hyperlinkcolor" val="tx"/>
                    </a:ext>
                  </a:extLst>
                </a:hlinkClick>
              </a:rPr>
              <a:t>FDA – Rare Pediatric Disease Designation and Priority Review Voucher Programs</a:t>
            </a:r>
            <a:endParaRPr lang="en-US" sz="1100" dirty="0"/>
          </a:p>
          <a:p>
            <a:pPr marL="152400" indent="-152400">
              <a:spcAft>
                <a:spcPts val="600"/>
              </a:spcAft>
              <a:buSzPct val="100000"/>
              <a:buChar char="•"/>
            </a:pPr>
            <a:r>
              <a:rPr lang="en-US" sz="1100" u="sng" dirty="0">
                <a:solidFill>
                  <a:srgbClr val="2F4F5A"/>
                </a:solidFill>
                <a:latin typeface="Yu Gothic" pitchFamily="34" charset="0"/>
                <a:ea typeface="Yu Gothic" pitchFamily="34" charset="-122"/>
                <a:cs typeface="Yu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Spencer Fane – Congress Extends RPD PRV Program Through 2029</a:t>
            </a:r>
            <a:endParaRPr lang="en-US" sz="1100" dirty="0"/>
          </a:p>
          <a:p>
            <a:pPr marL="152400" indent="-152400">
              <a:spcAft>
                <a:spcPts val="600"/>
              </a:spcAft>
              <a:buSzPct val="100000"/>
              <a:buChar char="•"/>
            </a:pPr>
            <a:r>
              <a:rPr lang="en-US" sz="1100" u="sng" dirty="0">
                <a:solidFill>
                  <a:srgbClr val="2F4F5A"/>
                </a:solidFill>
                <a:latin typeface="Yu Gothic" pitchFamily="34" charset="0"/>
                <a:ea typeface="Yu Gothic" pitchFamily="34" charset="-122"/>
                <a:cs typeface="Yu Gothic" pitchFamily="34" charset="-120"/>
                <a:hlinkClick r:id="rId3" invalidUrl="" action="" tgtFrame="" tooltip="" history="1" highlightClick="0" endSnd="0">
                  <a:extLst>
                    <a:ext uri="{A12FA001-AC4F-418D-AE19-62706E023703}">
                      <ahyp:hlinkClr xmlns:ahyp="http://schemas.microsoft.com/office/drawing/2018/hyperlinkcolor" val="tx"/>
                    </a:ext>
                  </a:extLst>
                </a:hlinkClick>
              </a:rPr>
              <a:t>Wilson Sonsini – Congress Reauthorizes the RPD PRV Program and Clarifies Orphan Drug Exclusivity</a:t>
            </a:r>
            <a:endParaRPr lang="en-US" sz="1100" dirty="0"/>
          </a:p>
          <a:p>
            <a:pPr marL="152400" indent="-152400">
              <a:spcAft>
                <a:spcPts val="600"/>
              </a:spcAft>
              <a:buSzPct val="100000"/>
              <a:buChar char="•"/>
            </a:pPr>
            <a:r>
              <a:rPr lang="en-US" sz="1100" u="sng" dirty="0">
                <a:solidFill>
                  <a:srgbClr val="2F4F5A"/>
                </a:solidFill>
                <a:latin typeface="Yu Gothic" pitchFamily="34" charset="0"/>
                <a:ea typeface="Yu Gothic" pitchFamily="34" charset="-122"/>
                <a:cs typeface="Yu Gothic" pitchFamily="34" charset="-120"/>
                <a:hlinkClick r:id="rId4" invalidUrl="" action="" tgtFrame="" tooltip="" history="1" highlightClick="0" endSnd="0">
                  <a:extLst>
                    <a:ext uri="{A12FA001-AC4F-418D-AE19-62706E023703}">
                      <ahyp:hlinkClr xmlns:ahyp="http://schemas.microsoft.com/office/drawing/2018/hyperlinkcolor" val="tx"/>
                    </a:ext>
                  </a:extLst>
                </a:hlinkClick>
              </a:rPr>
              <a:t>Jones Day – Congress Expands Orphan Drug Exemptions From Medicare Price Negotiations</a:t>
            </a:r>
            <a:endParaRPr lang="en-US" sz="1100" dirty="0"/>
          </a:p>
          <a:p>
            <a:pPr marL="152400" indent="-152400">
              <a:spcAft>
                <a:spcPts val="600"/>
              </a:spcAft>
              <a:buSzPct val="100000"/>
              <a:buChar char="•"/>
            </a:pPr>
            <a:r>
              <a:rPr lang="en-US" sz="1100" u="sng" dirty="0">
                <a:solidFill>
                  <a:srgbClr val="2F4F5A"/>
                </a:solidFill>
                <a:latin typeface="Yu Gothic" pitchFamily="34" charset="0"/>
                <a:ea typeface="Yu Gothic" pitchFamily="34" charset="-122"/>
                <a:cs typeface="Yu Gothic" pitchFamily="34" charset="-120"/>
                <a:hlinkClick r:id="rId5" invalidUrl="" action="" tgtFrame="" tooltip="" history="1" highlightClick="0" endSnd="0">
                  <a:extLst>
                    <a:ext uri="{A12FA001-AC4F-418D-AE19-62706E023703}">
                      <ahyp:hlinkClr xmlns:ahyp="http://schemas.microsoft.com/office/drawing/2018/hyperlinkcolor" val="tx"/>
                    </a:ext>
                  </a:extLst>
                </a:hlinkClick>
              </a:rPr>
              <a:t>FDA – CDER/CBER Rare Disease Evidence Principles (RDEP)</a:t>
            </a:r>
            <a:endParaRPr lang="en-US" sz="1100" dirty="0"/>
          </a:p>
          <a:p>
            <a:pPr marL="152400" indent="-152400">
              <a:spcAft>
                <a:spcPts val="600"/>
              </a:spcAft>
              <a:buSzPct val="100000"/>
              <a:buChar char="•"/>
            </a:pPr>
            <a:r>
              <a:rPr lang="en-US" sz="1100" u="sng" dirty="0">
                <a:solidFill>
                  <a:srgbClr val="2F4F5A"/>
                </a:solidFill>
                <a:latin typeface="Yu Gothic" pitchFamily="34" charset="0"/>
                <a:ea typeface="Yu Gothic" pitchFamily="34" charset="-122"/>
                <a:cs typeface="Yu Gothic" pitchFamily="34" charset="-120"/>
                <a:hlinkClick r:id="rId6" invalidUrl="" action="" tgtFrame="" tooltip="" history="1" highlightClick="0" endSnd="0">
                  <a:extLst>
                    <a:ext uri="{A12FA001-AC4F-418D-AE19-62706E023703}">
                      <ahyp:hlinkClr xmlns:ahyp="http://schemas.microsoft.com/office/drawing/2018/hyperlinkcolor" val="tx"/>
                    </a:ext>
                  </a:extLst>
                </a:hlinkClick>
              </a:rPr>
              <a:t>Cooley – FDA's RDEP Process</a:t>
            </a:r>
            <a:endParaRPr lang="en-US" sz="1100" dirty="0"/>
          </a:p>
        </p:txBody>
      </p:sp>
      <p:sp>
        <p:nvSpPr>
          <p:cNvPr id="19" name="Text 17"/>
          <p:cNvSpPr txBox="1"/>
          <p:nvPr/>
        </p:nvSpPr>
        <p:spPr>
          <a:xfrm>
            <a:off x="6949440" y="4572000"/>
            <a:ext cx="4572000" cy="320040"/>
          </a:xfrm>
          <a:prstGeom prst="rect">
            <a:avLst/>
          </a:prstGeom>
          <a:noFill/>
          <a:ln/>
        </p:spPr>
        <p:txBody>
          <a:bodyPr wrap="square" lIns="0" tIns="0" rIns="0" bIns="0" rtlCol="0" anchor="ctr"/>
          <a:lstStyle/>
          <a:p>
            <a:pPr indent="0" marL="0">
              <a:buNone/>
            </a:pPr>
            <a:r>
              <a:rPr lang="en-US" sz="1600" b="1" dirty="0">
                <a:solidFill>
                  <a:srgbClr val="2F4F5A"/>
                </a:solidFill>
                <a:latin typeface="Yu Gothic" pitchFamily="34" charset="0"/>
                <a:ea typeface="Yu Gothic" pitchFamily="34" charset="-122"/>
                <a:cs typeface="Yu Gothic" pitchFamily="34" charset="-120"/>
              </a:rPr>
              <a:t>読み方</a:t>
            </a:r>
            <a:endParaRPr lang="en-US" sz="1600" dirty="0"/>
          </a:p>
        </p:txBody>
      </p:sp>
      <p:sp>
        <p:nvSpPr>
          <p:cNvPr id="20" name="Text 18"/>
          <p:cNvSpPr txBox="1"/>
          <p:nvPr/>
        </p:nvSpPr>
        <p:spPr>
          <a:xfrm>
            <a:off x="6949440" y="4983480"/>
            <a:ext cx="4782312" cy="146304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1F2E35"/>
                </a:solidFill>
                <a:latin typeface="Yu Gothic" pitchFamily="34" charset="0"/>
                <a:ea typeface="Yu Gothic" pitchFamily="34" charset="-122"/>
                <a:cs typeface="Yu Gothic" pitchFamily="34" charset="-120"/>
              </a:rPr>
              <a:t>バリューストリームは段階（L2）とその内訳（L3）、ケイパビリティは領域（L1）と能力（L2）まで、すべての項目を載せています。</a:t>
            </a:r>
            <a:endParaRPr lang="en-US" sz="1200" dirty="0"/>
          </a:p>
          <a:p>
            <a:pPr marL="152400" indent="-152400">
              <a:spcAft>
                <a:spcPts val="600"/>
              </a:spcAft>
              <a:buSzPct val="100000"/>
              <a:buChar char="•"/>
            </a:pPr>
            <a:r>
              <a:rPr lang="en-US" sz="1200" dirty="0">
                <a:solidFill>
                  <a:srgbClr val="1F2E35"/>
                </a:solidFill>
                <a:latin typeface="Yu Gothic" pitchFamily="34" charset="0"/>
                <a:ea typeface="Yu Gothic" pitchFamily="34" charset="-122"/>
                <a:cs typeface="Yu Gothic" pitchFamily="34" charset="-120"/>
              </a:rPr>
              <a:t>出口（ゲート）は、次の段階へ進む判断の節目です。</a:t>
            </a:r>
            <a:endParaRPr lang="en-US" sz="1200" dirty="0"/>
          </a:p>
          <a:p>
            <a:pPr marL="152400" indent="-152400">
              <a:spcAft>
                <a:spcPts val="600"/>
              </a:spcAft>
              <a:buSzPct val="100000"/>
              <a:buChar char="•"/>
            </a:pPr>
            <a:r>
              <a:rPr lang="en-US" sz="1200" dirty="0">
                <a:solidFill>
                  <a:srgbClr val="1F2E35"/>
                </a:solidFill>
                <a:latin typeface="Yu Gothic" pitchFamily="34" charset="0"/>
                <a:ea typeface="Yu Gothic" pitchFamily="34" charset="-122"/>
                <a:cs typeface="Yu Gothic" pitchFamily="34" charset="-120"/>
              </a:rPr>
              <a:t>より細かい内容（VSのL4、ケイパビリティのL3、各関係の正本）は vs_capability_map.xlsx にあります。</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1F2E35"/>
                </a:solidFill>
                <a:latin typeface="Yu Gothic" pitchFamily="34" charset="0"/>
                <a:ea typeface="Yu Gothic" pitchFamily="34" charset="-122"/>
                <a:cs typeface="Yu Gothic" pitchFamily="34" charset="-120"/>
              </a:rPr>
              <a:t>バリューチェーン全体像</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indent="0" marL="0">
              <a:buNone/>
            </a:pPr>
            <a:r>
              <a:rPr lang="en-US" sz="1400" dirty="0">
                <a:solidFill>
                  <a:srgbClr val="5B6B70"/>
                </a:solidFill>
                <a:latin typeface="Yu Gothic" pitchFamily="34" charset="0"/>
                <a:ea typeface="Yu Gothic" pitchFamily="34" charset="-122"/>
                <a:cs typeface="Yu Gothic" pitchFamily="34" charset="-120"/>
              </a:rPr>
              <a:t>段階（L2）と、その内訳（L3）・出口（◆）。★は希少疾患に限定したことで変更・追加した項目</a:t>
            </a:r>
            <a:endParaRPr lang="en-US" sz="1400" dirty="0"/>
          </a:p>
        </p:txBody>
      </p:sp>
      <p:sp>
        <p:nvSpPr>
          <p:cNvPr id="57" name="Text 55"/>
          <p:cNvSpPr txBox="1"/>
          <p:nvPr/>
        </p:nvSpPr>
        <p:spPr>
          <a:xfrm>
            <a:off x="457200" y="6492240"/>
            <a:ext cx="11247120" cy="228600"/>
          </a:xfrm>
          <a:prstGeom prst="rect">
            <a:avLst/>
          </a:prstGeom>
          <a:noFill/>
          <a:ln/>
        </p:spPr>
        <p:txBody>
          <a:bodyPr wrap="square" lIns="0" tIns="0" rIns="0" bIns="0" rtlCol="0" anchor="ctr"/>
          <a:lstStyle/>
          <a:p>
            <a:pPr indent="0" marL="0">
              <a:buNone/>
            </a:pPr>
            <a:r>
              <a:rPr lang="en-US" sz="900" dirty="0">
                <a:solidFill>
                  <a:srgbClr val="5B6B70"/>
                </a:solidFill>
                <a:latin typeface="Yu Gothic" pitchFamily="34" charset="0"/>
                <a:ea typeface="Yu Gothic" pitchFamily="34" charset="-122"/>
                <a:cs typeface="Yu Gothic" pitchFamily="34" charset="-120"/>
              </a:rPr>
              <a:t>◆は次の段階へ進む判断の節目（出口）。CMC開発は非臨床開発・臨床開発と並行し、プロセスバリデーション（PPQ）は承認前に完了する。L4はxlsxの「バリューストリーム」シート。</a:t>
            </a:r>
            <a:endParaRPr lang="en-US" sz="900" dirty="0"/>
          </a:p>
        </p:txBody>
      </p:sp>
      <p:sp>
        <p:nvSpPr>
          <p:cNvPr id="58" name="Rectangle 57"/>
          <p:cNvSpPr/>
          <p:nvPr/>
        </p:nvSpPr>
        <p:spPr>
          <a:xfrm>
            <a:off x="457200" y="1417320"/>
            <a:ext cx="11274552" cy="4983480"/>
          </a:xfrm>
          <a:prstGeom prst="rect">
            <a:avLst/>
          </a:prstGeom>
          <a:pattFill prst="smGrid">
            <a:fgClr>
              <a:srgbClr val="E3E9EA"/>
            </a:fgClr>
            <a:bgClr>
              <a:srgbClr val="FFFFFF"/>
            </a:bgClr>
          </a:pattFill>
          <a:ln w="9525">
            <a:solidFill>
              <a:srgbClr val="C3CF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57200" y="1417320"/>
            <a:ext cx="502920" cy="2807208"/>
          </a:xfrm>
          <a:prstGeom prst="rect">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rot="16200000">
            <a:off x="-694944" y="2569464"/>
            <a:ext cx="2807208" cy="502920"/>
          </a:xfrm>
          <a:prstGeom prst="rect">
            <a:avLst/>
          </a:prstGeom>
          <a:noFill/>
        </p:spPr>
        <p:txBody>
          <a:bodyPr wrap="square" lIns="0" rIns="0" tIns="0" bIns="0" anchor="ctr" rtlCol="0"/>
          <a:lstStyle/>
          <a:p>
            <a:pPr marL="0" indent="0" algn="ctr">
              <a:buNone/>
            </a:pPr>
            <a:r>
              <a:rPr sz="1200" b="1" lang="en-US" dirty="0">
                <a:solidFill>
                  <a:srgbClr val="FFFFFF"/>
                </a:solidFill>
                <a:latin typeface="Yu Gothic" pitchFamily="34" charset="0"/>
                <a:ea typeface="Yu Gothic" pitchFamily="34" charset="-122"/>
                <a:cs typeface="Yu Gothic" pitchFamily="34" charset="-120"/>
              </a:rPr>
              <a:t>Phase 1：開発</a:t>
            </a:r>
          </a:p>
          <a:p>
            <a:pPr marL="0" indent="0" algn="ctr">
              <a:buNone/>
            </a:pPr>
            <a:r>
              <a:rPr sz="900" b="0" lang="en-US" dirty="0">
                <a:solidFill>
                  <a:srgbClr val="DDE6E8"/>
                </a:solidFill>
                <a:latin typeface="Yu Gothic" pitchFamily="34" charset="0"/>
                <a:ea typeface="Yu Gothic" pitchFamily="34" charset="-122"/>
                <a:cs typeface="Yu Gothic" pitchFamily="34" charset="-120"/>
              </a:rPr>
              <a:t>(Development)</a:t>
            </a:r>
          </a:p>
        </p:txBody>
      </p:sp>
      <p:sp>
        <p:nvSpPr>
          <p:cNvPr id="61" name="Rectangle 60"/>
          <p:cNvSpPr/>
          <p:nvPr/>
        </p:nvSpPr>
        <p:spPr>
          <a:xfrm>
            <a:off x="457200" y="4224528"/>
            <a:ext cx="502920" cy="2176272"/>
          </a:xfrm>
          <a:prstGeom prst="rect">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rot="16200000">
            <a:off x="-379475" y="5061204"/>
            <a:ext cx="2176272" cy="502920"/>
          </a:xfrm>
          <a:prstGeom prst="rect">
            <a:avLst/>
          </a:prstGeom>
          <a:noFill/>
        </p:spPr>
        <p:txBody>
          <a:bodyPr wrap="square" lIns="0" rIns="0" tIns="0" bIns="0" anchor="ctr" rtlCol="0"/>
          <a:lstStyle/>
          <a:p>
            <a:pPr marL="0" indent="0" algn="ctr">
              <a:buNone/>
            </a:pPr>
            <a:r>
              <a:rPr sz="1200" b="1" lang="en-US" dirty="0">
                <a:solidFill>
                  <a:srgbClr val="FFFFFF"/>
                </a:solidFill>
                <a:latin typeface="Yu Gothic" pitchFamily="34" charset="0"/>
                <a:ea typeface="Yu Gothic" pitchFamily="34" charset="-122"/>
                <a:cs typeface="Yu Gothic" pitchFamily="34" charset="-120"/>
              </a:rPr>
              <a:t>Phase 2：商業化・供給</a:t>
            </a:r>
          </a:p>
          <a:p>
            <a:pPr marL="0" indent="0" algn="ctr">
              <a:buNone/>
            </a:pPr>
            <a:r>
              <a:rPr sz="900" b="0" lang="en-US" dirty="0">
                <a:solidFill>
                  <a:srgbClr val="DDE6E8"/>
                </a:solidFill>
                <a:latin typeface="Yu Gothic" pitchFamily="34" charset="0"/>
                <a:ea typeface="Yu Gothic" pitchFamily="34" charset="-122"/>
                <a:cs typeface="Yu Gothic" pitchFamily="34" charset="-120"/>
              </a:rPr>
              <a:t>(Commercialization &amp; Supply)</a:t>
            </a:r>
          </a:p>
        </p:txBody>
      </p:sp>
      <p:cxnSp>
        <p:nvCxnSpPr>
          <p:cNvPr id="63" name="Connector 62"/>
          <p:cNvCxnSpPr/>
          <p:nvPr/>
        </p:nvCxnSpPr>
        <p:spPr>
          <a:xfrm>
            <a:off x="960120" y="4224528"/>
            <a:ext cx="10771632" cy="0"/>
          </a:xfrm>
          <a:prstGeom prst="line">
            <a:avLst/>
          </a:prstGeom>
          <a:ln w="19050">
            <a:solidFill>
              <a:srgbClr val="1F2E35"/>
            </a:solidFill>
            <a:prstDash val="lgDash"/>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1024128" y="2016251"/>
            <a:ext cx="274320" cy="365760"/>
          </a:xfrm>
          <a:prstGeom prst="rect">
            <a:avLst/>
          </a:prstGeom>
          <a:noFill/>
        </p:spPr>
        <p:txBody>
          <a:bodyPr wrap="square" lIns="0" rIns="0" tIns="0" bIns="0" anchor="ctr" rtlCol="0"/>
          <a:lstStyle/>
          <a:p>
            <a:pPr marL="0" indent="0">
              <a:buNone/>
            </a:pPr>
            <a:r>
              <a:rPr sz="1800" b="1" lang="en-US" dirty="0">
                <a:solidFill>
                  <a:srgbClr val="1F2E35"/>
                </a:solidFill>
                <a:latin typeface="Yu Gothic" pitchFamily="34" charset="0"/>
                <a:ea typeface="Yu Gothic" pitchFamily="34" charset="-122"/>
                <a:cs typeface="Yu Gothic" pitchFamily="34" charset="-120"/>
              </a:rPr>
              <a:t>A</a:t>
            </a:r>
          </a:p>
        </p:txBody>
      </p:sp>
      <p:sp>
        <p:nvSpPr>
          <p:cNvPr id="65" name="Right Arrow 64"/>
          <p:cNvSpPr/>
          <p:nvPr/>
        </p:nvSpPr>
        <p:spPr>
          <a:xfrm>
            <a:off x="1371600" y="1490472"/>
            <a:ext cx="2487168" cy="1417320"/>
          </a:xfrm>
          <a:prstGeom prst="rightArrow">
            <a:avLst>
              <a:gd name="adj1" fmla="val 80000"/>
              <a:gd name="adj2" fmla="val 3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08760" y="1696211"/>
            <a:ext cx="1833372" cy="274320"/>
          </a:xfrm>
          <a:prstGeom prst="rect">
            <a:avLst/>
          </a:prstGeom>
          <a:noFill/>
        </p:spPr>
        <p:txBody>
          <a:bodyPr wrap="square" lIns="0" rIns="0" tIns="0" bIns="0" anchor="t" rtlCol="0"/>
          <a:lstStyle/>
          <a:p>
            <a:pPr marL="0" indent="0">
              <a:buNone/>
            </a:pPr>
            <a:r>
              <a:rPr sz="1300" b="1" lang="en-US" dirty="0">
                <a:solidFill>
                  <a:srgbClr val="FFFFFF"/>
                </a:solidFill>
                <a:latin typeface="Yu Gothic" pitchFamily="34" charset="0"/>
                <a:ea typeface="Yu Gothic" pitchFamily="34" charset="-122"/>
                <a:cs typeface="Yu Gothic" pitchFamily="34" charset="-120"/>
              </a:rPr>
              <a:t>創薬研究</a:t>
            </a:r>
          </a:p>
        </p:txBody>
      </p:sp>
      <p:sp>
        <p:nvSpPr>
          <p:cNvPr id="67" name="TextBox 66"/>
          <p:cNvSpPr txBox="1"/>
          <p:nvPr/>
        </p:nvSpPr>
        <p:spPr>
          <a:xfrm>
            <a:off x="1508760" y="1997963"/>
            <a:ext cx="1833372" cy="722376"/>
          </a:xfrm>
          <a:prstGeom prst="rect">
            <a:avLst/>
          </a:prstGeom>
          <a:noFill/>
        </p:spPr>
        <p:txBody>
          <a:bodyPr wrap="square" lIns="0" rIns="0" tIns="0" bIns="0" anchor="t" rtlCol="0"/>
          <a:lstStyle/>
          <a:p>
            <a:pPr marL="118872" indent="-118872">
              <a:buFont typeface="Yu Gothic"/>
              <a:buChar char="・"/>
            </a:pPr>
            <a:r>
              <a:rPr sz="900" b="0" lang="en-US" dirty="0">
                <a:solidFill>
                  <a:srgbClr val="FFFFFF"/>
                </a:solidFill>
                <a:latin typeface="Yu Gothic" pitchFamily="34" charset="0"/>
                <a:ea typeface="Yu Gothic" pitchFamily="34" charset="-122"/>
                <a:cs typeface="Yu Gothic" pitchFamily="34" charset="-120"/>
              </a:rPr>
              <a:t>標的探索・検証</a:t>
            </a:r>
          </a:p>
          <a:p>
            <a:pPr marL="118872" indent="-118872">
              <a:spcBef>
                <a:spcPts val="200"/>
              </a:spcBef>
              <a:buFont typeface="Yu Gothic"/>
              <a:buChar char="・"/>
            </a:pPr>
            <a:r>
              <a:rPr sz="900" b="0" lang="en-US" dirty="0">
                <a:solidFill>
                  <a:srgbClr val="FFFFFF"/>
                </a:solidFill>
                <a:latin typeface="Yu Gothic" pitchFamily="34" charset="0"/>
                <a:ea typeface="Yu Gothic" pitchFamily="34" charset="-122"/>
                <a:cs typeface="Yu Gothic" pitchFamily="34" charset="-120"/>
              </a:rPr>
              <a:t>ヒット・リード創出</a:t>
            </a:r>
          </a:p>
          <a:p>
            <a:pPr marL="118872" indent="-118872">
              <a:spcBef>
                <a:spcPts val="200"/>
              </a:spcBef>
              <a:buFont typeface="Yu Gothic"/>
              <a:buChar char="・"/>
            </a:pPr>
            <a:r>
              <a:rPr sz="900" b="0" lang="en-US" dirty="0">
                <a:solidFill>
                  <a:srgbClr val="FFFFFF"/>
                </a:solidFill>
                <a:latin typeface="Yu Gothic" pitchFamily="34" charset="0"/>
                <a:ea typeface="Yu Gothic" pitchFamily="34" charset="-122"/>
                <a:cs typeface="Yu Gothic" pitchFamily="34" charset="-120"/>
              </a:rPr>
              <a:t>リード最適化</a:t>
            </a:r>
          </a:p>
          <a:p>
            <a:pPr marL="118872" indent="-118872">
              <a:spcBef>
                <a:spcPts val="200"/>
              </a:spcBef>
              <a:buFont typeface="Yu Gothic"/>
              <a:buChar char="・"/>
            </a:pPr>
            <a:r>
              <a:rPr sz="900" b="0" lang="en-US" dirty="0">
                <a:solidFill>
                  <a:srgbClr val="FFFFFF"/>
                </a:solidFill>
                <a:latin typeface="Yu Gothic" pitchFamily="34" charset="0"/>
                <a:ea typeface="Yu Gothic" pitchFamily="34" charset="-122"/>
                <a:cs typeface="Yu Gothic" pitchFamily="34" charset="-120"/>
              </a:rPr>
              <a:t>開発候補品選定</a:t>
            </a:r>
          </a:p>
        </p:txBody>
      </p:sp>
      <p:sp>
        <p:nvSpPr>
          <p:cNvPr id="68" name="Diamond 67"/>
          <p:cNvSpPr/>
          <p:nvPr/>
        </p:nvSpPr>
        <p:spPr>
          <a:xfrm>
            <a:off x="3703320" y="2061972"/>
            <a:ext cx="274320" cy="274320"/>
          </a:xfrm>
          <a:prstGeom prst="diamond">
            <a:avLst/>
          </a:prstGeom>
          <a:solidFill>
            <a:srgbClr val="9C7C45"/>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127248" y="2944368"/>
            <a:ext cx="1463040" cy="274320"/>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開発候補品（DC）決定</a:t>
            </a:r>
          </a:p>
        </p:txBody>
      </p:sp>
      <p:sp>
        <p:nvSpPr>
          <p:cNvPr id="70" name="Right Arrow 69"/>
          <p:cNvSpPr/>
          <p:nvPr/>
        </p:nvSpPr>
        <p:spPr>
          <a:xfrm>
            <a:off x="3968496" y="1490472"/>
            <a:ext cx="2487168" cy="1417320"/>
          </a:xfrm>
          <a:prstGeom prst="rightArrow">
            <a:avLst>
              <a:gd name="adj1" fmla="val 80000"/>
              <a:gd name="adj2" fmla="val 3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105656" y="1696211"/>
            <a:ext cx="1833372" cy="274320"/>
          </a:xfrm>
          <a:prstGeom prst="rect">
            <a:avLst/>
          </a:prstGeom>
          <a:noFill/>
        </p:spPr>
        <p:txBody>
          <a:bodyPr wrap="square" lIns="0" rIns="0" tIns="0" bIns="0" anchor="t" rtlCol="0"/>
          <a:lstStyle/>
          <a:p>
            <a:pPr marL="0" indent="0">
              <a:buNone/>
            </a:pPr>
            <a:r>
              <a:rPr sz="1300" b="1" lang="en-US" dirty="0">
                <a:solidFill>
                  <a:srgbClr val="FFFFFF"/>
                </a:solidFill>
                <a:latin typeface="Yu Gothic" pitchFamily="34" charset="0"/>
                <a:ea typeface="Yu Gothic" pitchFamily="34" charset="-122"/>
                <a:cs typeface="Yu Gothic" pitchFamily="34" charset="-120"/>
              </a:rPr>
              <a:t>非臨床開発</a:t>
            </a:r>
          </a:p>
        </p:txBody>
      </p:sp>
      <p:sp>
        <p:nvSpPr>
          <p:cNvPr id="72" name="TextBox 71"/>
          <p:cNvSpPr txBox="1"/>
          <p:nvPr/>
        </p:nvSpPr>
        <p:spPr>
          <a:xfrm>
            <a:off x="4105656" y="1997963"/>
            <a:ext cx="1833372" cy="722376"/>
          </a:xfrm>
          <a:prstGeom prst="rect">
            <a:avLst/>
          </a:prstGeom>
          <a:noFill/>
        </p:spPr>
        <p:txBody>
          <a:bodyPr wrap="square" lIns="0" rIns="0" tIns="0" bIns="0" anchor="t" rtlCol="0"/>
          <a:lstStyle/>
          <a:p>
            <a:pPr marL="118872" indent="-118872">
              <a:buFont typeface="Yu Gothic"/>
              <a:buChar char="・"/>
            </a:pPr>
            <a:r>
              <a:rPr sz="900" b="0" lang="en-US" dirty="0">
                <a:solidFill>
                  <a:srgbClr val="FFFFFF"/>
                </a:solidFill>
                <a:latin typeface="Yu Gothic" pitchFamily="34" charset="0"/>
                <a:ea typeface="Yu Gothic" pitchFamily="34" charset="-122"/>
                <a:cs typeface="Yu Gothic" pitchFamily="34" charset="-120"/>
              </a:rPr>
              <a:t>非臨床薬理</a:t>
            </a:r>
          </a:p>
          <a:p>
            <a:pPr marL="118872" indent="-118872">
              <a:spcBef>
                <a:spcPts val="200"/>
              </a:spcBef>
              <a:buFont typeface="Yu Gothic"/>
              <a:buChar char="・"/>
            </a:pPr>
            <a:r>
              <a:rPr sz="900" b="0" lang="en-US" dirty="0">
                <a:solidFill>
                  <a:srgbClr val="FFFFFF"/>
                </a:solidFill>
                <a:latin typeface="Yu Gothic" pitchFamily="34" charset="0"/>
                <a:ea typeface="Yu Gothic" pitchFamily="34" charset="-122"/>
                <a:cs typeface="Yu Gothic" pitchFamily="34" charset="-120"/>
              </a:rPr>
              <a:t>薬物動態・免疫原性評価</a:t>
            </a:r>
          </a:p>
          <a:p>
            <a:pPr marL="118872" indent="-118872">
              <a:spcBef>
                <a:spcPts val="200"/>
              </a:spcBef>
              <a:buFont typeface="Yu Gothic"/>
              <a:buChar char="・"/>
            </a:pPr>
            <a:r>
              <a:rPr sz="900" b="0" lang="en-US" dirty="0">
                <a:solidFill>
                  <a:srgbClr val="FFFFFF"/>
                </a:solidFill>
                <a:latin typeface="Yu Gothic" pitchFamily="34" charset="0"/>
                <a:ea typeface="Yu Gothic" pitchFamily="34" charset="-122"/>
                <a:cs typeface="Yu Gothic" pitchFamily="34" charset="-120"/>
              </a:rPr>
              <a:t>安全性評価</a:t>
            </a:r>
          </a:p>
          <a:p>
            <a:pPr marL="118872" indent="-118872">
              <a:spcBef>
                <a:spcPts val="200"/>
              </a:spcBef>
              <a:buFont typeface="Yu Gothic"/>
              <a:buChar char="・"/>
            </a:pPr>
            <a:r>
              <a:rPr sz="900" b="0" lang="en-US" dirty="0">
                <a:solidFill>
                  <a:srgbClr val="FFFFFF"/>
                </a:solidFill>
                <a:latin typeface="Yu Gothic" pitchFamily="34" charset="0"/>
                <a:ea typeface="Yu Gothic" pitchFamily="34" charset="-122"/>
                <a:cs typeface="Yu Gothic" pitchFamily="34" charset="-120"/>
              </a:rPr>
              <a:t>初回ヒト投与量の設定・IND申請</a:t>
            </a:r>
          </a:p>
        </p:txBody>
      </p:sp>
      <p:sp>
        <p:nvSpPr>
          <p:cNvPr id="73" name="Diamond 72"/>
          <p:cNvSpPr/>
          <p:nvPr/>
        </p:nvSpPr>
        <p:spPr>
          <a:xfrm>
            <a:off x="6300216" y="2061972"/>
            <a:ext cx="274320" cy="274320"/>
          </a:xfrm>
          <a:prstGeom prst="diamond">
            <a:avLst/>
          </a:prstGeom>
          <a:solidFill>
            <a:srgbClr val="9C7C45"/>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724144" y="2944368"/>
            <a:ext cx="1463040" cy="274320"/>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IND発効（臨床試験の開始が可能）</a:t>
            </a:r>
          </a:p>
        </p:txBody>
      </p:sp>
      <p:sp>
        <p:nvSpPr>
          <p:cNvPr id="75" name="Right Arrow 74"/>
          <p:cNvSpPr/>
          <p:nvPr/>
        </p:nvSpPr>
        <p:spPr>
          <a:xfrm>
            <a:off x="6565392" y="1490472"/>
            <a:ext cx="2487168" cy="1417320"/>
          </a:xfrm>
          <a:prstGeom prst="rightArrow">
            <a:avLst>
              <a:gd name="adj1" fmla="val 80000"/>
              <a:gd name="adj2" fmla="val 3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702552" y="1696211"/>
            <a:ext cx="1833372" cy="274320"/>
          </a:xfrm>
          <a:prstGeom prst="rect">
            <a:avLst/>
          </a:prstGeom>
          <a:noFill/>
        </p:spPr>
        <p:txBody>
          <a:bodyPr wrap="square" lIns="0" rIns="0" tIns="0" bIns="0" anchor="t" rtlCol="0"/>
          <a:lstStyle/>
          <a:p>
            <a:pPr marL="0" indent="0">
              <a:buNone/>
            </a:pPr>
            <a:r>
              <a:rPr sz="1300" b="1" lang="en-US" dirty="0">
                <a:solidFill>
                  <a:srgbClr val="FFFFFF"/>
                </a:solidFill>
                <a:latin typeface="Yu Gothic" pitchFamily="34" charset="0"/>
                <a:ea typeface="Yu Gothic" pitchFamily="34" charset="-122"/>
                <a:cs typeface="Yu Gothic" pitchFamily="34" charset="-120"/>
              </a:rPr>
              <a:t>臨床開発</a:t>
            </a:r>
          </a:p>
        </p:txBody>
      </p:sp>
      <p:sp>
        <p:nvSpPr>
          <p:cNvPr id="77" name="TextBox 76"/>
          <p:cNvSpPr txBox="1"/>
          <p:nvPr/>
        </p:nvSpPr>
        <p:spPr>
          <a:xfrm>
            <a:off x="6702552" y="1997963"/>
            <a:ext cx="1833372" cy="722376"/>
          </a:xfrm>
          <a:prstGeom prst="rect">
            <a:avLst/>
          </a:prstGeom>
          <a:noFill/>
        </p:spPr>
        <p:txBody>
          <a:bodyPr wrap="square" lIns="0" rIns="0" tIns="0" bIns="0" anchor="t" rtlCol="0"/>
          <a:lstStyle/>
          <a:p>
            <a:pPr marL="118872" indent="-118872">
              <a:buFont typeface="Yu Gothic"/>
              <a:buChar char="・"/>
            </a:pPr>
            <a:r>
              <a:rPr sz="900" b="0" lang="en-US" dirty="0">
                <a:solidFill>
                  <a:srgbClr val="FFFFFF"/>
                </a:solidFill>
                <a:latin typeface="Yu Gothic" pitchFamily="34" charset="0"/>
                <a:ea typeface="Yu Gothic" pitchFamily="34" charset="-122"/>
                <a:cs typeface="Yu Gothic" pitchFamily="34" charset="-120"/>
              </a:rPr>
              <a:t>★自然歴研究・患者特定</a:t>
            </a:r>
          </a:p>
          <a:p>
            <a:pPr marL="118872" indent="-118872">
              <a:spcBef>
                <a:spcPts val="200"/>
              </a:spcBef>
              <a:buFont typeface="Yu Gothic"/>
              <a:buChar char="・"/>
            </a:pPr>
            <a:r>
              <a:rPr sz="900" b="0" lang="en-US" dirty="0">
                <a:solidFill>
                  <a:srgbClr val="FFFFFF"/>
                </a:solidFill>
                <a:latin typeface="Yu Gothic" pitchFamily="34" charset="0"/>
                <a:ea typeface="Yu Gothic" pitchFamily="34" charset="-122"/>
                <a:cs typeface="Yu Gothic" pitchFamily="34" charset="-120"/>
              </a:rPr>
              <a:t>★第I/II相（患者での安全性・PK・PoC）</a:t>
            </a:r>
          </a:p>
          <a:p>
            <a:pPr marL="118872" indent="-118872">
              <a:spcBef>
                <a:spcPts val="200"/>
              </a:spcBef>
              <a:buFont typeface="Yu Gothic"/>
              <a:buChar char="・"/>
            </a:pPr>
            <a:r>
              <a:rPr sz="900" b="0" lang="en-US" dirty="0">
                <a:solidFill>
                  <a:srgbClr val="FFFFFF"/>
                </a:solidFill>
                <a:latin typeface="Yu Gothic" pitchFamily="34" charset="0"/>
                <a:ea typeface="Yu Gothic" pitchFamily="34" charset="-122"/>
                <a:cs typeface="Yu Gothic" pitchFamily="34" charset="-120"/>
              </a:rPr>
              <a:t>★ピボタル試験（検証的試験）</a:t>
            </a:r>
          </a:p>
          <a:p>
            <a:pPr marL="118872" indent="-118872">
              <a:spcBef>
                <a:spcPts val="200"/>
              </a:spcBef>
              <a:buFont typeface="Yu Gothic"/>
              <a:buChar char="・"/>
            </a:pPr>
            <a:r>
              <a:rPr sz="900" b="0" lang="en-US" dirty="0">
                <a:solidFill>
                  <a:srgbClr val="FFFFFF"/>
                </a:solidFill>
                <a:latin typeface="Yu Gothic" pitchFamily="34" charset="0"/>
                <a:ea typeface="Yu Gothic" pitchFamily="34" charset="-122"/>
                <a:cs typeface="Yu Gothic" pitchFamily="34" charset="-120"/>
              </a:rPr>
              <a:t>臨床データの統合・評価</a:t>
            </a:r>
          </a:p>
        </p:txBody>
      </p:sp>
      <p:sp>
        <p:nvSpPr>
          <p:cNvPr id="78" name="Diamond 77"/>
          <p:cNvSpPr/>
          <p:nvPr/>
        </p:nvSpPr>
        <p:spPr>
          <a:xfrm>
            <a:off x="8897112" y="2061972"/>
            <a:ext cx="274320" cy="274320"/>
          </a:xfrm>
          <a:prstGeom prst="diamond">
            <a:avLst/>
          </a:prstGeom>
          <a:solidFill>
            <a:srgbClr val="9C7C45"/>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321040" y="2944368"/>
            <a:ext cx="1463040" cy="274320"/>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申請に足る臨床データ</a:t>
            </a:r>
          </a:p>
        </p:txBody>
      </p:sp>
      <p:sp>
        <p:nvSpPr>
          <p:cNvPr id="80" name="Right Arrow 79"/>
          <p:cNvSpPr/>
          <p:nvPr/>
        </p:nvSpPr>
        <p:spPr>
          <a:xfrm>
            <a:off x="9162288" y="1490472"/>
            <a:ext cx="2487168" cy="1417320"/>
          </a:xfrm>
          <a:prstGeom prst="rightArrow">
            <a:avLst>
              <a:gd name="adj1" fmla="val 80000"/>
              <a:gd name="adj2" fmla="val 3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299448" y="1696211"/>
            <a:ext cx="1833372" cy="274320"/>
          </a:xfrm>
          <a:prstGeom prst="rect">
            <a:avLst/>
          </a:prstGeom>
          <a:noFill/>
        </p:spPr>
        <p:txBody>
          <a:bodyPr wrap="square" lIns="0" rIns="0" tIns="0" bIns="0" anchor="t" rtlCol="0"/>
          <a:lstStyle/>
          <a:p>
            <a:pPr marL="0" indent="0">
              <a:buNone/>
            </a:pPr>
            <a:r>
              <a:rPr sz="1300" b="1" lang="en-US" dirty="0">
                <a:solidFill>
                  <a:srgbClr val="FFFFFF"/>
                </a:solidFill>
                <a:latin typeface="Yu Gothic" pitchFamily="34" charset="0"/>
                <a:ea typeface="Yu Gothic" pitchFamily="34" charset="-122"/>
                <a:cs typeface="Yu Gothic" pitchFamily="34" charset="-120"/>
              </a:rPr>
              <a:t>BLA申請・審査</a:t>
            </a:r>
          </a:p>
        </p:txBody>
      </p:sp>
      <p:sp>
        <p:nvSpPr>
          <p:cNvPr id="82" name="TextBox 81"/>
          <p:cNvSpPr txBox="1"/>
          <p:nvPr/>
        </p:nvSpPr>
        <p:spPr>
          <a:xfrm>
            <a:off x="9299448" y="1997963"/>
            <a:ext cx="1833372" cy="722376"/>
          </a:xfrm>
          <a:prstGeom prst="rect">
            <a:avLst/>
          </a:prstGeom>
          <a:noFill/>
        </p:spPr>
        <p:txBody>
          <a:bodyPr wrap="square" lIns="0" rIns="0" tIns="0" bIns="0" anchor="t" rtlCol="0"/>
          <a:lstStyle/>
          <a:p>
            <a:pPr marL="118872" indent="-118872">
              <a:buFont typeface="Yu Gothic"/>
              <a:buChar char="・"/>
            </a:pPr>
            <a:r>
              <a:rPr sz="900" b="0" lang="en-US" dirty="0">
                <a:solidFill>
                  <a:srgbClr val="FFFFFF"/>
                </a:solidFill>
                <a:latin typeface="Yu Gothic" pitchFamily="34" charset="0"/>
                <a:ea typeface="Yu Gothic" pitchFamily="34" charset="-122"/>
                <a:cs typeface="Yu Gothic" pitchFamily="34" charset="-120"/>
              </a:rPr>
              <a:t>申請資料（CTD）の作成</a:t>
            </a:r>
          </a:p>
          <a:p>
            <a:pPr marL="118872" indent="-118872">
              <a:spcBef>
                <a:spcPts val="200"/>
              </a:spcBef>
              <a:buFont typeface="Yu Gothic"/>
              <a:buChar char="・"/>
            </a:pPr>
            <a:r>
              <a:rPr sz="900" b="0" lang="en-US" dirty="0">
                <a:solidFill>
                  <a:srgbClr val="FFFFFF"/>
                </a:solidFill>
                <a:latin typeface="Yu Gothic" pitchFamily="34" charset="0"/>
                <a:ea typeface="Yu Gothic" pitchFamily="34" charset="-122"/>
                <a:cs typeface="Yu Gothic" pitchFamily="34" charset="-120"/>
              </a:rPr>
              <a:t>審査対応</a:t>
            </a:r>
          </a:p>
          <a:p>
            <a:pPr marL="118872" indent="-118872">
              <a:spcBef>
                <a:spcPts val="200"/>
              </a:spcBef>
              <a:buFont typeface="Yu Gothic"/>
              <a:buChar char="・"/>
            </a:pPr>
            <a:r>
              <a:rPr sz="900" b="0" lang="en-US" dirty="0">
                <a:solidFill>
                  <a:srgbClr val="FFFFFF"/>
                </a:solidFill>
                <a:latin typeface="Yu Gothic" pitchFamily="34" charset="0"/>
                <a:ea typeface="Yu Gothic" pitchFamily="34" charset="-122"/>
                <a:cs typeface="Yu Gothic" pitchFamily="34" charset="-120"/>
              </a:rPr>
              <a:t>承認取得</a:t>
            </a:r>
          </a:p>
        </p:txBody>
      </p:sp>
      <p:sp>
        <p:nvSpPr>
          <p:cNvPr id="83" name="Diamond 82"/>
          <p:cNvSpPr/>
          <p:nvPr/>
        </p:nvSpPr>
        <p:spPr>
          <a:xfrm>
            <a:off x="11494008" y="2061972"/>
            <a:ext cx="274320" cy="274320"/>
          </a:xfrm>
          <a:prstGeom prst="diamond">
            <a:avLst/>
          </a:prstGeom>
          <a:solidFill>
            <a:srgbClr val="9C7C45"/>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0222992" y="2944368"/>
            <a:ext cx="1417320" cy="274320"/>
          </a:xfrm>
          <a:prstGeom prst="rect">
            <a:avLst/>
          </a:prstGeom>
          <a:noFill/>
        </p:spPr>
        <p:txBody>
          <a:bodyPr wrap="square" lIns="0" rIns="0" tIns="0" bIns="0" anchor="t" rtlCol="0"/>
          <a:lstStyle/>
          <a:p>
            <a:pPr marL="0" indent="0" algn="r">
              <a:buNone/>
            </a:pPr>
            <a:r>
              <a:rPr sz="850" b="1" lang="en-US" dirty="0">
                <a:solidFill>
                  <a:srgbClr val="1F2E35"/>
                </a:solidFill>
                <a:latin typeface="Yu Gothic" pitchFamily="34" charset="0"/>
                <a:ea typeface="Yu Gothic" pitchFamily="34" charset="-122"/>
                <a:cs typeface="Yu Gothic" pitchFamily="34" charset="-120"/>
              </a:rPr>
              <a:t>BLA承認（米国での販売許可）</a:t>
            </a:r>
          </a:p>
        </p:txBody>
      </p:sp>
      <p:sp>
        <p:nvSpPr>
          <p:cNvPr id="85" name="Rounded Rectangle 84"/>
          <p:cNvSpPr/>
          <p:nvPr/>
        </p:nvSpPr>
        <p:spPr>
          <a:xfrm>
            <a:off x="3922776" y="3255264"/>
            <a:ext cx="4764024" cy="914400"/>
          </a:xfrm>
          <a:prstGeom prst="roundRect">
            <a:avLst>
              <a:gd name="adj" fmla="val 50000"/>
            </a:avLst>
          </a:prstGeom>
          <a:solidFill>
            <a:srgbClr val="FFFFFF"/>
          </a:solidFill>
          <a:ln w="15875">
            <a:solidFill>
              <a:srgbClr val="2F4F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3922776" y="3255264"/>
            <a:ext cx="4764024" cy="274320"/>
          </a:xfrm>
          <a:prstGeom prst="roundRect">
            <a:avLst>
              <a:gd name="adj"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922776" y="3255264"/>
            <a:ext cx="4764024" cy="274320"/>
          </a:xfrm>
          <a:prstGeom prst="rect">
            <a:avLst/>
          </a:prstGeom>
          <a:noFill/>
        </p:spPr>
        <p:txBody>
          <a:bodyPr wrap="square" lIns="0" rIns="0" tIns="0" bIns="0" anchor="ctr" rtlCol="0"/>
          <a:lstStyle/>
          <a:p>
            <a:pPr marL="0" indent="0" algn="ctr">
              <a:buNone/>
            </a:pPr>
            <a:r>
              <a:rPr sz="1200" b="1" lang="en-US" dirty="0">
                <a:solidFill>
                  <a:srgbClr val="FFFFFF"/>
                </a:solidFill>
                <a:latin typeface="Yu Gothic" pitchFamily="34" charset="0"/>
                <a:ea typeface="Yu Gothic" pitchFamily="34" charset="-122"/>
                <a:cs typeface="Yu Gothic" pitchFamily="34" charset="-120"/>
              </a:rPr>
              <a:t>CMC開発</a:t>
            </a:r>
          </a:p>
        </p:txBody>
      </p:sp>
      <p:sp>
        <p:nvSpPr>
          <p:cNvPr id="88" name="TextBox 87"/>
          <p:cNvSpPr txBox="1"/>
          <p:nvPr/>
        </p:nvSpPr>
        <p:spPr>
          <a:xfrm>
            <a:off x="7315200" y="3300984"/>
            <a:ext cx="1143000" cy="201168"/>
          </a:xfrm>
          <a:prstGeom prst="rect">
            <a:avLst/>
          </a:prstGeom>
          <a:noFill/>
        </p:spPr>
        <p:txBody>
          <a:bodyPr wrap="square" lIns="0" rIns="0" tIns="0" bIns="0" anchor="t" rtlCol="0"/>
          <a:lstStyle/>
          <a:p>
            <a:pPr marL="0" indent="0" algn="r">
              <a:buNone/>
            </a:pPr>
            <a:r>
              <a:rPr sz="850" b="1" lang="en-US" dirty="0">
                <a:solidFill>
                  <a:srgbClr val="DDE6E8"/>
                </a:solidFill>
                <a:latin typeface="Yu Gothic" pitchFamily="34" charset="0"/>
                <a:ea typeface="Yu Gothic" pitchFamily="34" charset="-122"/>
                <a:cs typeface="Yu Gothic" pitchFamily="34" charset="-120"/>
              </a:rPr>
              <a:t>臨床と並行</a:t>
            </a:r>
          </a:p>
        </p:txBody>
      </p:sp>
      <p:sp>
        <p:nvSpPr>
          <p:cNvPr id="89" name="TextBox 88"/>
          <p:cNvSpPr txBox="1"/>
          <p:nvPr/>
        </p:nvSpPr>
        <p:spPr>
          <a:xfrm>
            <a:off x="4242816" y="3575304"/>
            <a:ext cx="2061972" cy="566928"/>
          </a:xfrm>
          <a:prstGeom prst="rect">
            <a:avLst/>
          </a:prstGeom>
          <a:noFill/>
        </p:spPr>
        <p:txBody>
          <a:bodyPr wrap="square" lIns="0" rIns="0" tIns="0" bIns="0" anchor="t" rtlCol="0"/>
          <a:lstStyle/>
          <a:p>
            <a:pPr marL="118872" indent="-118872">
              <a:buFont typeface="Yu Gothic"/>
              <a:buChar char="・"/>
            </a:pPr>
            <a:r>
              <a:rPr sz="850" b="0" lang="en-US" dirty="0">
                <a:solidFill>
                  <a:srgbClr val="1F2E35"/>
                </a:solidFill>
                <a:latin typeface="Yu Gothic" pitchFamily="34" charset="0"/>
                <a:ea typeface="Yu Gothic" pitchFamily="34" charset="-122"/>
                <a:cs typeface="Yu Gothic" pitchFamily="34" charset="-120"/>
              </a:rPr>
              <a:t>細胞株構築・セルバンク</a:t>
            </a:r>
          </a:p>
          <a:p>
            <a:pPr marL="118872" indent="-118872">
              <a:spcBef>
                <a:spcPts val="100"/>
              </a:spcBef>
              <a:buFont typeface="Yu Gothic"/>
              <a:buChar char="・"/>
            </a:pPr>
            <a:r>
              <a:rPr sz="850" b="0" lang="en-US" dirty="0">
                <a:solidFill>
                  <a:srgbClr val="1F2E35"/>
                </a:solidFill>
                <a:latin typeface="Yu Gothic" pitchFamily="34" charset="0"/>
                <a:ea typeface="Yu Gothic" pitchFamily="34" charset="-122"/>
                <a:cs typeface="Yu Gothic" pitchFamily="34" charset="-120"/>
              </a:rPr>
              <a:t>原薬プロセス開発</a:t>
            </a:r>
          </a:p>
          <a:p>
            <a:pPr marL="118872" indent="-118872">
              <a:spcBef>
                <a:spcPts val="100"/>
              </a:spcBef>
              <a:buFont typeface="Yu Gothic"/>
              <a:buChar char="・"/>
            </a:pPr>
            <a:r>
              <a:rPr sz="850" b="0" lang="en-US" dirty="0">
                <a:solidFill>
                  <a:srgbClr val="1F2E35"/>
                </a:solidFill>
                <a:latin typeface="Yu Gothic" pitchFamily="34" charset="0"/>
                <a:ea typeface="Yu Gothic" pitchFamily="34" charset="-122"/>
                <a:cs typeface="Yu Gothic" pitchFamily="34" charset="-120"/>
              </a:rPr>
              <a:t>製剤開発</a:t>
            </a:r>
          </a:p>
          <a:p>
            <a:pPr marL="118872" indent="-118872">
              <a:spcBef>
                <a:spcPts val="100"/>
              </a:spcBef>
              <a:buFont typeface="Yu Gothic"/>
              <a:buChar char="・"/>
            </a:pPr>
            <a:r>
              <a:rPr sz="850" b="0" lang="en-US" dirty="0">
                <a:solidFill>
                  <a:srgbClr val="1F2E35"/>
                </a:solidFill>
                <a:latin typeface="Yu Gothic" pitchFamily="34" charset="0"/>
                <a:ea typeface="Yu Gothic" pitchFamily="34" charset="-122"/>
                <a:cs typeface="Yu Gothic" pitchFamily="34" charset="-120"/>
              </a:rPr>
              <a:t>分析法開発・特性解析</a:t>
            </a:r>
          </a:p>
        </p:txBody>
      </p:sp>
      <p:sp>
        <p:nvSpPr>
          <p:cNvPr id="90" name="TextBox 89"/>
          <p:cNvSpPr txBox="1"/>
          <p:nvPr/>
        </p:nvSpPr>
        <p:spPr>
          <a:xfrm>
            <a:off x="6396228" y="3575304"/>
            <a:ext cx="2061972" cy="566928"/>
          </a:xfrm>
          <a:prstGeom prst="rect">
            <a:avLst/>
          </a:prstGeom>
          <a:noFill/>
        </p:spPr>
        <p:txBody>
          <a:bodyPr wrap="square" lIns="0" rIns="0" tIns="0" bIns="0" anchor="t" rtlCol="0"/>
          <a:lstStyle/>
          <a:p>
            <a:pPr marL="118872" indent="-118872">
              <a:buFont typeface="Yu Gothic"/>
              <a:buChar char="・"/>
            </a:pPr>
            <a:r>
              <a:rPr sz="850" b="0" lang="en-US" dirty="0">
                <a:solidFill>
                  <a:srgbClr val="1F2E35"/>
                </a:solidFill>
                <a:latin typeface="Yu Gothic" pitchFamily="34" charset="0"/>
                <a:ea typeface="Yu Gothic" pitchFamily="34" charset="-122"/>
                <a:cs typeface="Yu Gothic" pitchFamily="34" charset="-120"/>
              </a:rPr>
              <a:t>治験薬GMP製造・供給</a:t>
            </a:r>
          </a:p>
          <a:p>
            <a:pPr marL="118872" indent="-118872">
              <a:spcBef>
                <a:spcPts val="100"/>
              </a:spcBef>
              <a:buFont typeface="Yu Gothic"/>
              <a:buChar char="・"/>
            </a:pPr>
            <a:r>
              <a:rPr sz="850" b="0" lang="en-US" dirty="0">
                <a:solidFill>
                  <a:srgbClr val="1F2E35"/>
                </a:solidFill>
                <a:latin typeface="Yu Gothic" pitchFamily="34" charset="0"/>
                <a:ea typeface="Yu Gothic" pitchFamily="34" charset="-122"/>
                <a:cs typeface="Yu Gothic" pitchFamily="34" charset="-120"/>
              </a:rPr>
              <a:t>後期プロセス開発・スケールアップ・技術移転</a:t>
            </a:r>
          </a:p>
          <a:p>
            <a:pPr marL="118872" indent="-118872">
              <a:spcBef>
                <a:spcPts val="100"/>
              </a:spcBef>
              <a:buFont typeface="Yu Gothic"/>
              <a:buChar char="・"/>
            </a:pPr>
            <a:r>
              <a:rPr sz="850" b="0" lang="en-US" dirty="0">
                <a:solidFill>
                  <a:srgbClr val="1F2E35"/>
                </a:solidFill>
                <a:latin typeface="Yu Gothic" pitchFamily="34" charset="0"/>
                <a:ea typeface="Yu Gothic" pitchFamily="34" charset="-122"/>
                <a:cs typeface="Yu Gothic" pitchFamily="34" charset="-120"/>
              </a:rPr>
              <a:t>プロセスバリデーション（PPQ）</a:t>
            </a:r>
          </a:p>
        </p:txBody>
      </p:sp>
      <p:sp>
        <p:nvSpPr>
          <p:cNvPr id="91" name="Diamond 90"/>
          <p:cNvSpPr/>
          <p:nvPr/>
        </p:nvSpPr>
        <p:spPr>
          <a:xfrm>
            <a:off x="8549640" y="3575304"/>
            <a:ext cx="274320" cy="274320"/>
          </a:xfrm>
          <a:prstGeom prst="diamond">
            <a:avLst/>
          </a:prstGeom>
          <a:solidFill>
            <a:srgbClr val="9C7C45"/>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887968" y="3593592"/>
            <a:ext cx="1280160" cy="274320"/>
          </a:xfrm>
          <a:prstGeom prst="rect">
            <a:avLst/>
          </a:prstGeom>
          <a:noFill/>
        </p:spPr>
        <p:txBody>
          <a:bodyPr wrap="square" lIns="0" rIns="0" tIns="0" bIns="0" anchor="t" rtlCol="0"/>
          <a:lstStyle/>
          <a:p>
            <a:pPr marL="0" indent="0" algn="l">
              <a:buNone/>
            </a:pPr>
            <a:r>
              <a:rPr sz="850" b="1" lang="en-US" dirty="0">
                <a:solidFill>
                  <a:srgbClr val="1F2E35"/>
                </a:solidFill>
                <a:latin typeface="Yu Gothic" pitchFamily="34" charset="0"/>
                <a:ea typeface="Yu Gothic" pitchFamily="34" charset="-122"/>
                <a:cs typeface="Yu Gothic" pitchFamily="34" charset="-120"/>
              </a:rPr>
              <a:t>プロセスバリデーション完了</a:t>
            </a:r>
          </a:p>
        </p:txBody>
      </p:sp>
      <p:sp>
        <p:nvSpPr>
          <p:cNvPr id="93" name="TextBox 92"/>
          <p:cNvSpPr txBox="1"/>
          <p:nvPr/>
        </p:nvSpPr>
        <p:spPr>
          <a:xfrm>
            <a:off x="1024128" y="4937760"/>
            <a:ext cx="274320" cy="365760"/>
          </a:xfrm>
          <a:prstGeom prst="rect">
            <a:avLst/>
          </a:prstGeom>
          <a:noFill/>
        </p:spPr>
        <p:txBody>
          <a:bodyPr wrap="square" lIns="0" rIns="0" tIns="0" bIns="0" anchor="ctr" rtlCol="0"/>
          <a:lstStyle/>
          <a:p>
            <a:pPr marL="0" indent="0">
              <a:buNone/>
            </a:pPr>
            <a:r>
              <a:rPr sz="1800" b="1" lang="en-US" dirty="0">
                <a:solidFill>
                  <a:srgbClr val="1F2E35"/>
                </a:solidFill>
                <a:latin typeface="Yu Gothic" pitchFamily="34" charset="0"/>
                <a:ea typeface="Yu Gothic" pitchFamily="34" charset="-122"/>
                <a:cs typeface="Yu Gothic" pitchFamily="34" charset="-120"/>
              </a:rPr>
              <a:t>A</a:t>
            </a:r>
          </a:p>
        </p:txBody>
      </p:sp>
      <p:sp>
        <p:nvSpPr>
          <p:cNvPr id="94" name="Right Arrow 93"/>
          <p:cNvSpPr/>
          <p:nvPr/>
        </p:nvSpPr>
        <p:spPr>
          <a:xfrm>
            <a:off x="1371600" y="4389120"/>
            <a:ext cx="2487168" cy="1371600"/>
          </a:xfrm>
          <a:prstGeom prst="rightArrow">
            <a:avLst>
              <a:gd name="adj1" fmla="val 80000"/>
              <a:gd name="adj2" fmla="val 3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508760" y="4590288"/>
            <a:ext cx="1847088" cy="274320"/>
          </a:xfrm>
          <a:prstGeom prst="rect">
            <a:avLst/>
          </a:prstGeom>
          <a:noFill/>
        </p:spPr>
        <p:txBody>
          <a:bodyPr wrap="square" lIns="0" rIns="0" tIns="0" bIns="0" anchor="t" rtlCol="0"/>
          <a:lstStyle/>
          <a:p>
            <a:pPr marL="0" indent="0">
              <a:buNone/>
            </a:pPr>
            <a:r>
              <a:rPr sz="1300" b="1" lang="en-US" dirty="0">
                <a:solidFill>
                  <a:srgbClr val="FFFFFF"/>
                </a:solidFill>
                <a:latin typeface="Yu Gothic" pitchFamily="34" charset="0"/>
                <a:ea typeface="Yu Gothic" pitchFamily="34" charset="-122"/>
                <a:cs typeface="Yu Gothic" pitchFamily="34" charset="-120"/>
              </a:rPr>
              <a:t>上市</a:t>
            </a:r>
          </a:p>
        </p:txBody>
      </p:sp>
      <p:sp>
        <p:nvSpPr>
          <p:cNvPr id="96" name="TextBox 95"/>
          <p:cNvSpPr txBox="1"/>
          <p:nvPr/>
        </p:nvSpPr>
        <p:spPr>
          <a:xfrm>
            <a:off x="2487168" y="4626864"/>
            <a:ext cx="868680" cy="201168"/>
          </a:xfrm>
          <a:prstGeom prst="rect">
            <a:avLst/>
          </a:prstGeom>
          <a:noFill/>
        </p:spPr>
        <p:txBody>
          <a:bodyPr wrap="square" lIns="0" rIns="0" tIns="0" bIns="0" anchor="t" rtlCol="0"/>
          <a:lstStyle/>
          <a:p>
            <a:pPr marL="0" indent="0" algn="r">
              <a:buNone/>
            </a:pPr>
            <a:r>
              <a:rPr sz="850" b="1" lang="en-US" dirty="0">
                <a:solidFill>
                  <a:srgbClr val="DDE6E8"/>
                </a:solidFill>
                <a:latin typeface="Yu Gothic" pitchFamily="34" charset="0"/>
                <a:ea typeface="Yu Gothic" pitchFamily="34" charset="-122"/>
                <a:cs typeface="Yu Gothic" pitchFamily="34" charset="-120"/>
              </a:rPr>
              <a:t>1回きり</a:t>
            </a:r>
          </a:p>
        </p:txBody>
      </p:sp>
      <p:sp>
        <p:nvSpPr>
          <p:cNvPr id="97" name="TextBox 96"/>
          <p:cNvSpPr txBox="1"/>
          <p:nvPr/>
        </p:nvSpPr>
        <p:spPr>
          <a:xfrm>
            <a:off x="1508760" y="4892040"/>
            <a:ext cx="1847088" cy="685800"/>
          </a:xfrm>
          <a:prstGeom prst="rect">
            <a:avLst/>
          </a:prstGeom>
          <a:noFill/>
        </p:spPr>
        <p:txBody>
          <a:bodyPr wrap="square" lIns="0" rIns="0" tIns="0" bIns="0" anchor="t" rtlCol="0"/>
          <a:lstStyle/>
          <a:p>
            <a:pPr marL="118872" indent="-118872">
              <a:buFont typeface="Yu Gothic"/>
              <a:buChar char="・"/>
            </a:pPr>
            <a:r>
              <a:rPr sz="900" b="0" lang="en-US" dirty="0">
                <a:solidFill>
                  <a:srgbClr val="FFFFFF"/>
                </a:solidFill>
                <a:latin typeface="Yu Gothic" pitchFamily="34" charset="0"/>
                <a:ea typeface="Yu Gothic" pitchFamily="34" charset="-122"/>
                <a:cs typeface="Yu Gothic" pitchFamily="34" charset="-120"/>
              </a:rPr>
              <a:t>価格設定・市場アクセス</a:t>
            </a:r>
          </a:p>
          <a:p>
            <a:pPr marL="118872" indent="-118872">
              <a:spcBef>
                <a:spcPts val="200"/>
              </a:spcBef>
              <a:buFont typeface="Yu Gothic"/>
              <a:buChar char="・"/>
            </a:pPr>
            <a:r>
              <a:rPr sz="900" b="0" lang="en-US" dirty="0">
                <a:solidFill>
                  <a:srgbClr val="FFFFFF"/>
                </a:solidFill>
                <a:latin typeface="Yu Gothic" pitchFamily="34" charset="0"/>
                <a:ea typeface="Yu Gothic" pitchFamily="34" charset="-122"/>
                <a:cs typeface="Yu Gothic" pitchFamily="34" charset="-120"/>
              </a:rPr>
              <a:t>上市準備</a:t>
            </a:r>
          </a:p>
        </p:txBody>
      </p:sp>
      <p:sp>
        <p:nvSpPr>
          <p:cNvPr id="98" name="Diamond 97"/>
          <p:cNvSpPr/>
          <p:nvPr/>
        </p:nvSpPr>
        <p:spPr>
          <a:xfrm>
            <a:off x="3703320" y="4937759"/>
            <a:ext cx="274320" cy="274320"/>
          </a:xfrm>
          <a:prstGeom prst="diamond">
            <a:avLst/>
          </a:prstGeom>
          <a:solidFill>
            <a:srgbClr val="9C7C45"/>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035808" y="5797296"/>
            <a:ext cx="1645920" cy="274320"/>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保険償還・患者アクセスの確立</a:t>
            </a:r>
          </a:p>
        </p:txBody>
      </p:sp>
      <p:sp>
        <p:nvSpPr>
          <p:cNvPr id="100" name="TextBox 99"/>
          <p:cNvSpPr txBox="1"/>
          <p:nvPr/>
        </p:nvSpPr>
        <p:spPr>
          <a:xfrm>
            <a:off x="4224528" y="4846320"/>
            <a:ext cx="274320" cy="365760"/>
          </a:xfrm>
          <a:prstGeom prst="rect">
            <a:avLst/>
          </a:prstGeom>
          <a:noFill/>
        </p:spPr>
        <p:txBody>
          <a:bodyPr wrap="square" lIns="0" rIns="0" tIns="0" bIns="0" anchor="ctr" rtlCol="0"/>
          <a:lstStyle/>
          <a:p>
            <a:pPr marL="0" indent="0">
              <a:buNone/>
            </a:pPr>
            <a:r>
              <a:rPr sz="1800" b="1" lang="en-US" dirty="0">
                <a:solidFill>
                  <a:srgbClr val="1F2E35"/>
                </a:solidFill>
                <a:latin typeface="Yu Gothic" pitchFamily="34" charset="0"/>
                <a:ea typeface="Yu Gothic" pitchFamily="34" charset="-122"/>
                <a:cs typeface="Yu Gothic" pitchFamily="34" charset="-120"/>
              </a:rPr>
              <a:t>B</a:t>
            </a:r>
          </a:p>
        </p:txBody>
      </p:sp>
      <p:sp>
        <p:nvSpPr>
          <p:cNvPr id="101" name="TextBox 100"/>
          <p:cNvSpPr txBox="1"/>
          <p:nvPr/>
        </p:nvSpPr>
        <p:spPr>
          <a:xfrm>
            <a:off x="4023360" y="5230368"/>
            <a:ext cx="685800" cy="365760"/>
          </a:xfrm>
          <a:prstGeom prst="rect">
            <a:avLst/>
          </a:prstGeom>
          <a:noFill/>
        </p:spPr>
        <p:txBody>
          <a:bodyPr wrap="square" lIns="0" rIns="0" tIns="0" bIns="0" anchor="t" rtlCol="0"/>
          <a:lstStyle/>
          <a:p>
            <a:pPr marL="0" indent="0" algn="ctr">
              <a:buNone/>
            </a:pPr>
            <a:r>
              <a:rPr sz="850" b="1" lang="en-US" dirty="0">
                <a:solidFill>
                  <a:srgbClr val="9C7C45"/>
                </a:solidFill>
                <a:latin typeface="Yu Gothic" pitchFamily="34" charset="0"/>
                <a:ea typeface="Yu Gothic" pitchFamily="34" charset="-122"/>
                <a:cs typeface="Yu Gothic" pitchFamily="34" charset="-120"/>
              </a:rPr>
              <a:t>継続</a:t>
            </a:r>
          </a:p>
          <a:p>
            <a:pPr marL="0" indent="0" algn="ctr">
              <a:buNone/>
            </a:pPr>
            <a:r>
              <a:rPr sz="700" b="0" lang="en-US" dirty="0">
                <a:solidFill>
                  <a:srgbClr val="9C7C45"/>
                </a:solidFill>
                <a:latin typeface="Yu Gothic" pitchFamily="34" charset="0"/>
                <a:ea typeface="Yu Gothic" pitchFamily="34" charset="-122"/>
                <a:cs typeface="Yu Gothic" pitchFamily="34" charset="-120"/>
              </a:rPr>
              <a:t>(Continuous)</a:t>
            </a:r>
          </a:p>
        </p:txBody>
      </p:sp>
      <p:sp>
        <p:nvSpPr>
          <p:cNvPr id="102" name="Block Arc 101"/>
          <p:cNvSpPr/>
          <p:nvPr/>
        </p:nvSpPr>
        <p:spPr>
          <a:xfrm>
            <a:off x="4937760" y="4370832"/>
            <a:ext cx="1737360" cy="1737360"/>
          </a:xfrm>
          <a:prstGeom prst="blockArc">
            <a:avLst>
              <a:gd name="adj1" fmla="val 17280000"/>
              <a:gd name="adj2" fmla="val 15479999"/>
              <a:gd name="adj3" fmla="val 7894"/>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Isosceles Triangle 102"/>
          <p:cNvSpPr/>
          <p:nvPr/>
        </p:nvSpPr>
        <p:spPr>
          <a:xfrm rot="5400000">
            <a:off x="5672227" y="4323754"/>
            <a:ext cx="292608" cy="246888"/>
          </a:xfrm>
          <a:prstGeom prst="triangle">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184648" y="4709160"/>
            <a:ext cx="1243584" cy="1097280"/>
          </a:xfrm>
          <a:prstGeom prst="rect">
            <a:avLst/>
          </a:prstGeom>
          <a:noFill/>
        </p:spPr>
        <p:txBody>
          <a:bodyPr wrap="square" lIns="0" rIns="0" tIns="0" bIns="0" anchor="ctr" rtlCol="0"/>
          <a:lstStyle/>
          <a:p>
            <a:pPr marL="0" indent="0" algn="ctr">
              <a:buNone/>
            </a:pPr>
            <a:r>
              <a:rPr sz="1100" b="1" lang="en-US" dirty="0">
                <a:solidFill>
                  <a:srgbClr val="1F2E35"/>
                </a:solidFill>
                <a:latin typeface="Yu Gothic" pitchFamily="34" charset="0"/>
                <a:ea typeface="Yu Gothic" pitchFamily="34" charset="-122"/>
                <a:cs typeface="Yu Gothic" pitchFamily="34" charset="-120"/>
              </a:rPr>
              <a:t>商用製造</a:t>
            </a:r>
          </a:p>
          <a:p>
            <a:pPr marL="118872" indent="-118872">
              <a:spcBef>
                <a:spcPts val="300"/>
              </a:spcBef>
              <a:buFont typeface="Yu Gothic"/>
              <a:buChar char="・"/>
            </a:pPr>
            <a:r>
              <a:rPr sz="800" b="0" lang="en-US" dirty="0">
                <a:solidFill>
                  <a:srgbClr val="1F2E35"/>
                </a:solidFill>
                <a:latin typeface="Yu Gothic" pitchFamily="34" charset="0"/>
                <a:ea typeface="Yu Gothic" pitchFamily="34" charset="-122"/>
                <a:cs typeface="Yu Gothic" pitchFamily="34" charset="-120"/>
              </a:rPr>
              <a:t>原薬製造（培養・精製）</a:t>
            </a:r>
          </a:p>
          <a:p>
            <a:pPr marL="118872" indent="-118872">
              <a:spcBef>
                <a:spcPts val="100"/>
              </a:spcBef>
              <a:buFont typeface="Yu Gothic"/>
              <a:buChar char="・"/>
            </a:pPr>
            <a:r>
              <a:rPr sz="800" b="0" lang="en-US" dirty="0">
                <a:solidFill>
                  <a:srgbClr val="1F2E35"/>
                </a:solidFill>
                <a:latin typeface="Yu Gothic" pitchFamily="34" charset="0"/>
                <a:ea typeface="Yu Gothic" pitchFamily="34" charset="-122"/>
                <a:cs typeface="Yu Gothic" pitchFamily="34" charset="-120"/>
              </a:rPr>
              <a:t>製剤化・充填・包装</a:t>
            </a:r>
          </a:p>
          <a:p>
            <a:pPr marL="118872" indent="-118872">
              <a:spcBef>
                <a:spcPts val="100"/>
              </a:spcBef>
              <a:buFont typeface="Yu Gothic"/>
              <a:buChar char="・"/>
            </a:pPr>
            <a:r>
              <a:rPr sz="800" b="0" lang="en-US" dirty="0">
                <a:solidFill>
                  <a:srgbClr val="1F2E35"/>
                </a:solidFill>
                <a:latin typeface="Yu Gothic" pitchFamily="34" charset="0"/>
                <a:ea typeface="Yu Gothic" pitchFamily="34" charset="-122"/>
                <a:cs typeface="Yu Gothic" pitchFamily="34" charset="-120"/>
              </a:rPr>
              <a:t>品質試験・出荷判定</a:t>
            </a:r>
          </a:p>
        </p:txBody>
      </p:sp>
      <p:sp>
        <p:nvSpPr>
          <p:cNvPr id="105" name="Diamond 104"/>
          <p:cNvSpPr/>
          <p:nvPr/>
        </p:nvSpPr>
        <p:spPr>
          <a:xfrm>
            <a:off x="5687568" y="5989320"/>
            <a:ext cx="237744" cy="237744"/>
          </a:xfrm>
          <a:prstGeom prst="diamond">
            <a:avLst/>
          </a:prstGeom>
          <a:solidFill>
            <a:srgbClr val="9C7C45"/>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4663440" y="6236207"/>
            <a:ext cx="2286000" cy="182880"/>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出荷判定の合格</a:t>
            </a:r>
          </a:p>
        </p:txBody>
      </p:sp>
      <p:sp>
        <p:nvSpPr>
          <p:cNvPr id="107" name="Block Arc 106"/>
          <p:cNvSpPr/>
          <p:nvPr/>
        </p:nvSpPr>
        <p:spPr>
          <a:xfrm>
            <a:off x="7351775" y="4370832"/>
            <a:ext cx="1737360" cy="1737360"/>
          </a:xfrm>
          <a:prstGeom prst="blockArc">
            <a:avLst>
              <a:gd name="adj1" fmla="val 17280000"/>
              <a:gd name="adj2" fmla="val 15479999"/>
              <a:gd name="adj3" fmla="val 7894"/>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Isosceles Triangle 107"/>
          <p:cNvSpPr/>
          <p:nvPr/>
        </p:nvSpPr>
        <p:spPr>
          <a:xfrm rot="5400000">
            <a:off x="8086243" y="4323754"/>
            <a:ext cx="292608" cy="246888"/>
          </a:xfrm>
          <a:prstGeom prst="triangle">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598663" y="4709160"/>
            <a:ext cx="1243584" cy="1097280"/>
          </a:xfrm>
          <a:prstGeom prst="rect">
            <a:avLst/>
          </a:prstGeom>
          <a:noFill/>
        </p:spPr>
        <p:txBody>
          <a:bodyPr wrap="square" lIns="0" rIns="0" tIns="0" bIns="0" anchor="ctr" rtlCol="0"/>
          <a:lstStyle/>
          <a:p>
            <a:pPr marL="0" indent="0" algn="ctr">
              <a:buNone/>
            </a:pPr>
            <a:r>
              <a:rPr sz="1100" b="1" lang="en-US" dirty="0">
                <a:solidFill>
                  <a:srgbClr val="1F2E35"/>
                </a:solidFill>
                <a:latin typeface="Yu Gothic" pitchFamily="34" charset="0"/>
                <a:ea typeface="Yu Gothic" pitchFamily="34" charset="-122"/>
                <a:cs typeface="Yu Gothic" pitchFamily="34" charset="-120"/>
              </a:rPr>
              <a:t>供給・流通</a:t>
            </a:r>
          </a:p>
          <a:p>
            <a:pPr marL="118872" indent="-118872">
              <a:spcBef>
                <a:spcPts val="300"/>
              </a:spcBef>
              <a:buFont typeface="Yu Gothic"/>
              <a:buChar char="・"/>
            </a:pPr>
            <a:r>
              <a:rPr sz="800" b="0" lang="en-US" dirty="0">
                <a:solidFill>
                  <a:srgbClr val="1F2E35"/>
                </a:solidFill>
                <a:latin typeface="Yu Gothic" pitchFamily="34" charset="0"/>
                <a:ea typeface="Yu Gothic" pitchFamily="34" charset="-122"/>
                <a:cs typeface="Yu Gothic" pitchFamily="34" charset="-120"/>
              </a:rPr>
              <a:t>受注・需給調整</a:t>
            </a:r>
          </a:p>
          <a:p>
            <a:pPr marL="118872" indent="-118872">
              <a:spcBef>
                <a:spcPts val="100"/>
              </a:spcBef>
              <a:buFont typeface="Yu Gothic"/>
              <a:buChar char="・"/>
            </a:pPr>
            <a:r>
              <a:rPr sz="800" b="0" lang="en-US" dirty="0">
                <a:solidFill>
                  <a:srgbClr val="1F2E35"/>
                </a:solidFill>
                <a:latin typeface="Yu Gothic" pitchFamily="34" charset="0"/>
                <a:ea typeface="Yu Gothic" pitchFamily="34" charset="-122"/>
                <a:cs typeface="Yu Gothic" pitchFamily="34" charset="-120"/>
              </a:rPr>
              <a:t>コールドチェーン流通</a:t>
            </a:r>
          </a:p>
          <a:p>
            <a:pPr marL="118872" indent="-118872">
              <a:spcBef>
                <a:spcPts val="100"/>
              </a:spcBef>
              <a:buFont typeface="Yu Gothic"/>
              <a:buChar char="・"/>
            </a:pPr>
            <a:r>
              <a:rPr sz="800" b="0" lang="en-US" dirty="0">
                <a:solidFill>
                  <a:srgbClr val="1F2E35"/>
                </a:solidFill>
                <a:latin typeface="Yu Gothic" pitchFamily="34" charset="0"/>
                <a:ea typeface="Yu Gothic" pitchFamily="34" charset="-122"/>
                <a:cs typeface="Yu Gothic" pitchFamily="34" charset="-120"/>
              </a:rPr>
              <a:t>医療機関・薬局への納入</a:t>
            </a:r>
          </a:p>
        </p:txBody>
      </p:sp>
      <p:sp>
        <p:nvSpPr>
          <p:cNvPr id="110" name="Diamond 109"/>
          <p:cNvSpPr/>
          <p:nvPr/>
        </p:nvSpPr>
        <p:spPr>
          <a:xfrm>
            <a:off x="8101583" y="5989320"/>
            <a:ext cx="237744" cy="237744"/>
          </a:xfrm>
          <a:prstGeom prst="diamond">
            <a:avLst/>
          </a:prstGeom>
          <a:solidFill>
            <a:srgbClr val="9C7C45"/>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7077455" y="6236207"/>
            <a:ext cx="2286000" cy="182880"/>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品質を保った製品の到達</a:t>
            </a:r>
          </a:p>
        </p:txBody>
      </p:sp>
      <p:sp>
        <p:nvSpPr>
          <p:cNvPr id="112" name="Block Arc 111"/>
          <p:cNvSpPr/>
          <p:nvPr/>
        </p:nvSpPr>
        <p:spPr>
          <a:xfrm>
            <a:off x="9765792" y="4370832"/>
            <a:ext cx="1737360" cy="1737360"/>
          </a:xfrm>
          <a:prstGeom prst="blockArc">
            <a:avLst>
              <a:gd name="adj1" fmla="val 17280000"/>
              <a:gd name="adj2" fmla="val 15479999"/>
              <a:gd name="adj3" fmla="val 7894"/>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Isosceles Triangle 112"/>
          <p:cNvSpPr/>
          <p:nvPr/>
        </p:nvSpPr>
        <p:spPr>
          <a:xfrm rot="5400000">
            <a:off x="10500259" y="4323754"/>
            <a:ext cx="292608" cy="246888"/>
          </a:xfrm>
          <a:prstGeom prst="triangle">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0012680" y="4709160"/>
            <a:ext cx="1243584" cy="1097280"/>
          </a:xfrm>
          <a:prstGeom prst="rect">
            <a:avLst/>
          </a:prstGeom>
          <a:noFill/>
        </p:spPr>
        <p:txBody>
          <a:bodyPr wrap="square" lIns="0" rIns="0" tIns="0" bIns="0" anchor="ctr" rtlCol="0"/>
          <a:lstStyle/>
          <a:p>
            <a:pPr marL="0" indent="0" algn="ctr">
              <a:buNone/>
            </a:pPr>
            <a:r>
              <a:rPr sz="1100" b="1" lang="en-US" dirty="0">
                <a:solidFill>
                  <a:srgbClr val="1F2E35"/>
                </a:solidFill>
                <a:latin typeface="Yu Gothic" pitchFamily="34" charset="0"/>
                <a:ea typeface="Yu Gothic" pitchFamily="34" charset="-122"/>
                <a:cs typeface="Yu Gothic" pitchFamily="34" charset="-120"/>
              </a:rPr>
              <a:t>市販後</a:t>
            </a:r>
          </a:p>
          <a:p>
            <a:pPr marL="118872" indent="-118872">
              <a:spcBef>
                <a:spcPts val="300"/>
              </a:spcBef>
              <a:buFont typeface="Yu Gothic"/>
              <a:buChar char="・"/>
            </a:pPr>
            <a:r>
              <a:rPr sz="800" b="0" lang="en-US" dirty="0">
                <a:solidFill>
                  <a:srgbClr val="1F2E35"/>
                </a:solidFill>
                <a:latin typeface="Yu Gothic" pitchFamily="34" charset="0"/>
                <a:ea typeface="Yu Gothic" pitchFamily="34" charset="-122"/>
                <a:cs typeface="Yu Gothic" pitchFamily="34" charset="-120"/>
              </a:rPr>
              <a:t>安全性監視（ファーマコビジランス）</a:t>
            </a:r>
          </a:p>
          <a:p>
            <a:pPr marL="118872" indent="-118872">
              <a:spcBef>
                <a:spcPts val="100"/>
              </a:spcBef>
              <a:buFont typeface="Yu Gothic"/>
              <a:buChar char="・"/>
            </a:pPr>
            <a:r>
              <a:rPr sz="800" b="0" lang="en-US" dirty="0">
                <a:solidFill>
                  <a:srgbClr val="1F2E35"/>
                </a:solidFill>
                <a:latin typeface="Yu Gothic" pitchFamily="34" charset="0"/>
                <a:ea typeface="Yu Gothic" pitchFamily="34" charset="-122"/>
                <a:cs typeface="Yu Gothic" pitchFamily="34" charset="-120"/>
              </a:rPr>
              <a:t>市販後要求・コミットメント（PMR／PMC）</a:t>
            </a:r>
          </a:p>
          <a:p>
            <a:pPr marL="118872" indent="-118872">
              <a:spcBef>
                <a:spcPts val="100"/>
              </a:spcBef>
              <a:buFont typeface="Yu Gothic"/>
              <a:buChar char="・"/>
            </a:pPr>
            <a:r>
              <a:rPr sz="800" b="0" lang="en-US" dirty="0">
                <a:solidFill>
                  <a:srgbClr val="1F2E35"/>
                </a:solidFill>
                <a:latin typeface="Yu Gothic" pitchFamily="34" charset="0"/>
                <a:ea typeface="Yu Gothic" pitchFamily="34" charset="-122"/>
                <a:cs typeface="Yu Gothic" pitchFamily="34" charset="-120"/>
              </a:rPr>
              <a:t>ライフサイクル管理</a:t>
            </a:r>
          </a:p>
        </p:txBody>
      </p:sp>
      <p:sp>
        <p:nvSpPr>
          <p:cNvPr id="115" name="Diamond 114"/>
          <p:cNvSpPr/>
          <p:nvPr/>
        </p:nvSpPr>
        <p:spPr>
          <a:xfrm>
            <a:off x="10515599" y="5989320"/>
            <a:ext cx="237744" cy="237744"/>
          </a:xfrm>
          <a:prstGeom prst="diamond">
            <a:avLst/>
          </a:prstGeom>
          <a:solidFill>
            <a:srgbClr val="9C7C45"/>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9491472" y="6236207"/>
            <a:ext cx="2286000" cy="182880"/>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市販後要求の履行・製品価値の最大化</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1F2E35"/>
                </a:solidFill>
                <a:latin typeface="Yu Gothic" pitchFamily="34" charset="0"/>
                <a:ea typeface="Yu Gothic" pitchFamily="34" charset="-122"/>
                <a:cs typeface="Yu Gothic" pitchFamily="34" charset="-120"/>
              </a:rPr>
              <a:t>ケイパビリティマップ全体像</a:t>
            </a:r>
            <a:endParaRPr lang="en-US" sz="2800" dirty="0"/>
          </a:p>
        </p:txBody>
      </p:sp>
      <p:sp>
        <p:nvSpPr>
          <p:cNvPr id="3" name="Text 1"/>
          <p:cNvSpPr txBox="1"/>
          <p:nvPr/>
        </p:nvSpPr>
        <p:spPr>
          <a:xfrm>
            <a:off x="457200" y="841248"/>
            <a:ext cx="11247120" cy="320040"/>
          </a:xfrm>
          <a:prstGeom prst="rect">
            <a:avLst/>
          </a:prstGeom>
          <a:noFill/>
          <a:ln/>
        </p:spPr>
        <p:txBody>
          <a:bodyPr wrap="square" lIns="0" tIns="0" rIns="0" bIns="0" rtlCol="0" anchor="ctr"/>
          <a:lstStyle/>
          <a:p>
            <a:pPr indent="0" marL="0">
              <a:buNone/>
            </a:pPr>
            <a:r>
              <a:rPr lang="en-US" sz="1300" dirty="0">
                <a:solidFill>
                  <a:srgbClr val="5B6B70"/>
                </a:solidFill>
                <a:latin typeface="Yu Gothic" pitchFamily="34" charset="0"/>
                <a:ea typeface="Yu Gothic" pitchFamily="34" charset="-122"/>
                <a:cs typeface="Yu Gothic" pitchFamily="34" charset="-120"/>
              </a:rPr>
              <a:t>領域（L1）と能力（L2）。上段＝戦略、中段・右列＝コア、下段＝支援。★は希少疾患に限定したことで追加・強調した能力</a:t>
            </a:r>
            <a:endParaRPr lang="en-US" sz="1300" dirty="0"/>
          </a:p>
        </p:txBody>
      </p:sp>
      <p:sp>
        <p:nvSpPr>
          <p:cNvPr id="4" name="Rounded Rectangle 3"/>
          <p:cNvSpPr/>
          <p:nvPr/>
        </p:nvSpPr>
        <p:spPr>
          <a:xfrm>
            <a:off x="457200" y="1325880"/>
            <a:ext cx="7406640" cy="530352"/>
          </a:xfrm>
          <a:prstGeom prst="roundRect">
            <a:avLst>
              <a:gd name="adj" fmla="val 8000"/>
            </a:avLst>
          </a:prstGeom>
          <a:solidFill>
            <a:srgbClr val="FFFFFF"/>
          </a:solidFill>
          <a:ln w="19050">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62456"/>
            <a:ext cx="7406640" cy="219456"/>
          </a:xfrm>
          <a:prstGeom prst="rect">
            <a:avLst/>
          </a:prstGeom>
          <a:noFill/>
        </p:spPr>
        <p:txBody>
          <a:bodyPr wrap="square" lIns="0" rIns="0" tIns="0" bIns="0" anchor="ctr" rtlCol="0"/>
          <a:lstStyle/>
          <a:p>
            <a:pPr marL="0" indent="0" algn="ctr">
              <a:buNone/>
            </a:pPr>
            <a:r>
              <a:rPr sz="1150" b="1" lang="en-US" dirty="0">
                <a:solidFill>
                  <a:srgbClr val="1F2E35"/>
                </a:solidFill>
                <a:latin typeface="Yu Gothic" pitchFamily="34" charset="0"/>
                <a:ea typeface="Yu Gothic" pitchFamily="34" charset="-122"/>
                <a:cs typeface="Yu Gothic" pitchFamily="34" charset="-120"/>
              </a:rPr>
              <a:t>戦略・ガバナンス（Strategy &amp; Governance）</a:t>
            </a:r>
          </a:p>
        </p:txBody>
      </p:sp>
      <p:sp>
        <p:nvSpPr>
          <p:cNvPr id="6" name="Rounded Rectangle 5"/>
          <p:cNvSpPr/>
          <p:nvPr/>
        </p:nvSpPr>
        <p:spPr>
          <a:xfrm>
            <a:off x="868680" y="1609344"/>
            <a:ext cx="210312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09344"/>
            <a:ext cx="210312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研究開発ポートフォリオ管理</a:t>
            </a:r>
          </a:p>
        </p:txBody>
      </p:sp>
      <p:sp>
        <p:nvSpPr>
          <p:cNvPr id="8" name="Rounded Rectangle 7"/>
          <p:cNvSpPr/>
          <p:nvPr/>
        </p:nvSpPr>
        <p:spPr>
          <a:xfrm>
            <a:off x="3108960" y="1609344"/>
            <a:ext cx="210312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08960" y="1609344"/>
            <a:ext cx="210312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知財・独占期間管理</a:t>
            </a:r>
          </a:p>
        </p:txBody>
      </p:sp>
      <p:sp>
        <p:nvSpPr>
          <p:cNvPr id="10" name="Rounded Rectangle 9"/>
          <p:cNvSpPr/>
          <p:nvPr/>
        </p:nvSpPr>
        <p:spPr>
          <a:xfrm>
            <a:off x="5349240" y="1609344"/>
            <a:ext cx="210312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49240" y="1609344"/>
            <a:ext cx="210312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外部パートナー管理</a:t>
            </a:r>
          </a:p>
        </p:txBody>
      </p:sp>
      <p:sp>
        <p:nvSpPr>
          <p:cNvPr id="12" name="Rounded Rectangle 11"/>
          <p:cNvSpPr/>
          <p:nvPr/>
        </p:nvSpPr>
        <p:spPr>
          <a:xfrm>
            <a:off x="457200" y="1984248"/>
            <a:ext cx="2407920" cy="3867912"/>
          </a:xfrm>
          <a:prstGeom prst="roundRect">
            <a:avLst>
              <a:gd name="adj" fmla="val 3000"/>
            </a:avLst>
          </a:prstGeom>
          <a:solidFill>
            <a:srgbClr val="FDEEE7"/>
          </a:solidFill>
          <a:ln w="19050">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039112"/>
            <a:ext cx="2407920" cy="274320"/>
          </a:xfrm>
          <a:prstGeom prst="rect">
            <a:avLst/>
          </a:prstGeom>
          <a:noFill/>
        </p:spPr>
        <p:txBody>
          <a:bodyPr wrap="square" lIns="0" rIns="0" tIns="0" bIns="0" anchor="ctr" rtlCol="0"/>
          <a:lstStyle/>
          <a:p>
            <a:pPr marL="0" indent="0" algn="ctr">
              <a:buNone/>
            </a:pPr>
            <a:r>
              <a:rPr sz="1250" b="1" lang="en-US" dirty="0">
                <a:solidFill>
                  <a:srgbClr val="C24E1C"/>
                </a:solidFill>
                <a:latin typeface="Yu Gothic" pitchFamily="34" charset="0"/>
                <a:ea typeface="Yu Gothic" pitchFamily="34" charset="-122"/>
                <a:cs typeface="Yu Gothic" pitchFamily="34" charset="-120"/>
              </a:rPr>
              <a:t>Commercial &amp; Patient</a:t>
            </a:r>
          </a:p>
        </p:txBody>
      </p:sp>
      <p:sp>
        <p:nvSpPr>
          <p:cNvPr id="14" name="Rounded Rectangle 13"/>
          <p:cNvSpPr/>
          <p:nvPr/>
        </p:nvSpPr>
        <p:spPr>
          <a:xfrm>
            <a:off x="530352" y="2368296"/>
            <a:ext cx="2261616" cy="166878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2642615"/>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メディカル・患者エンゲージメント</a:t>
            </a:r>
          </a:p>
        </p:txBody>
      </p:sp>
      <p:sp>
        <p:nvSpPr>
          <p:cNvPr id="16" name="Rounded Rectangle 15"/>
          <p:cNvSpPr/>
          <p:nvPr/>
        </p:nvSpPr>
        <p:spPr>
          <a:xfrm>
            <a:off x="621792" y="2935223"/>
            <a:ext cx="2078736" cy="182880"/>
          </a:xfrm>
          <a:prstGeom prst="roundRect">
            <a:avLst>
              <a:gd name="adj" fmla="val 50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2935223"/>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患者団体・専門医連携★</a:t>
            </a:r>
          </a:p>
        </p:txBody>
      </p:sp>
      <p:sp>
        <p:nvSpPr>
          <p:cNvPr id="18" name="Rounded Rectangle 17"/>
          <p:cNvSpPr/>
          <p:nvPr/>
        </p:nvSpPr>
        <p:spPr>
          <a:xfrm>
            <a:off x="621792" y="3150107"/>
            <a:ext cx="2078736" cy="182880"/>
          </a:xfrm>
          <a:prstGeom prst="roundRect">
            <a:avLst>
              <a:gd name="adj" fmla="val 50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3150107"/>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メディカルアフェアーズ</a:t>
            </a:r>
          </a:p>
        </p:txBody>
      </p:sp>
      <p:sp>
        <p:nvSpPr>
          <p:cNvPr id="20" name="Rounded Rectangle 19"/>
          <p:cNvSpPr/>
          <p:nvPr/>
        </p:nvSpPr>
        <p:spPr>
          <a:xfrm>
            <a:off x="621792" y="3364991"/>
            <a:ext cx="2078736" cy="182880"/>
          </a:xfrm>
          <a:prstGeom prst="roundRect">
            <a:avLst>
              <a:gd name="adj" fmla="val 50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3364991"/>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疾患啓発・診断支援★</a:t>
            </a:r>
          </a:p>
        </p:txBody>
      </p:sp>
      <p:sp>
        <p:nvSpPr>
          <p:cNvPr id="22" name="Rounded Rectangle 21"/>
          <p:cNvSpPr/>
          <p:nvPr/>
        </p:nvSpPr>
        <p:spPr>
          <a:xfrm>
            <a:off x="621792" y="3579875"/>
            <a:ext cx="2078736" cy="182880"/>
          </a:xfrm>
          <a:prstGeom prst="roundRect">
            <a:avLst>
              <a:gd name="adj" fmla="val 50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579875"/>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患者支援サービス★</a:t>
            </a:r>
          </a:p>
        </p:txBody>
      </p:sp>
      <p:sp>
        <p:nvSpPr>
          <p:cNvPr id="24" name="Rounded Rectangle 23"/>
          <p:cNvSpPr/>
          <p:nvPr/>
        </p:nvSpPr>
        <p:spPr>
          <a:xfrm>
            <a:off x="530352" y="4110228"/>
            <a:ext cx="2261616" cy="166878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4384548"/>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市場アクセス・商業</a:t>
            </a:r>
          </a:p>
        </p:txBody>
      </p:sp>
      <p:sp>
        <p:nvSpPr>
          <p:cNvPr id="26" name="Rounded Rectangle 25"/>
          <p:cNvSpPr/>
          <p:nvPr/>
        </p:nvSpPr>
        <p:spPr>
          <a:xfrm>
            <a:off x="621792" y="4677156"/>
            <a:ext cx="2078736" cy="182880"/>
          </a:xfrm>
          <a:prstGeom prst="roundRect">
            <a:avLst>
              <a:gd name="adj" fmla="val 50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4677156"/>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価格・保険者契約管理</a:t>
            </a:r>
          </a:p>
        </p:txBody>
      </p:sp>
      <p:sp>
        <p:nvSpPr>
          <p:cNvPr id="28" name="Rounded Rectangle 27"/>
          <p:cNvSpPr/>
          <p:nvPr/>
        </p:nvSpPr>
        <p:spPr>
          <a:xfrm>
            <a:off x="621792" y="4892040"/>
            <a:ext cx="2078736" cy="182880"/>
          </a:xfrm>
          <a:prstGeom prst="roundRect">
            <a:avLst>
              <a:gd name="adj" fmla="val 50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4892040"/>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政府価格報告・政策対応</a:t>
            </a:r>
          </a:p>
        </p:txBody>
      </p:sp>
      <p:sp>
        <p:nvSpPr>
          <p:cNvPr id="30" name="Rounded Rectangle 29"/>
          <p:cNvSpPr/>
          <p:nvPr/>
        </p:nvSpPr>
        <p:spPr>
          <a:xfrm>
            <a:off x="621792" y="5106924"/>
            <a:ext cx="2078736" cy="182880"/>
          </a:xfrm>
          <a:prstGeom prst="roundRect">
            <a:avLst>
              <a:gd name="adj" fmla="val 50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5106924"/>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販促・商業コンプライアンス</a:t>
            </a:r>
          </a:p>
        </p:txBody>
      </p:sp>
      <p:sp>
        <p:nvSpPr>
          <p:cNvPr id="32" name="Rounded Rectangle 31"/>
          <p:cNvSpPr/>
          <p:nvPr/>
        </p:nvSpPr>
        <p:spPr>
          <a:xfrm>
            <a:off x="621792" y="5321808"/>
            <a:ext cx="2078736" cy="182880"/>
          </a:xfrm>
          <a:prstGeom prst="roundRect">
            <a:avLst>
              <a:gd name="adj" fmla="val 50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321808"/>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営業・顧客管理</a:t>
            </a:r>
          </a:p>
        </p:txBody>
      </p:sp>
      <p:sp>
        <p:nvSpPr>
          <p:cNvPr id="34" name="Chevron 33"/>
          <p:cNvSpPr/>
          <p:nvPr/>
        </p:nvSpPr>
        <p:spPr>
          <a:xfrm rot="5400000">
            <a:off x="1601724" y="1764791"/>
            <a:ext cx="118872" cy="310896"/>
          </a:xfrm>
          <a:prstGeom prst="chevron">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hevron 34"/>
          <p:cNvSpPr/>
          <p:nvPr/>
        </p:nvSpPr>
        <p:spPr>
          <a:xfrm rot="5400000">
            <a:off x="1601724" y="5765292"/>
            <a:ext cx="118872" cy="310896"/>
          </a:xfrm>
          <a:prstGeom prst="chevron">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2956560" y="1984248"/>
            <a:ext cx="2407920" cy="3867912"/>
          </a:xfrm>
          <a:prstGeom prst="roundRect">
            <a:avLst>
              <a:gd name="adj" fmla="val 3000"/>
            </a:avLst>
          </a:prstGeom>
          <a:solidFill>
            <a:srgbClr val="EEECF7"/>
          </a:solidFill>
          <a:ln w="19050">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956560" y="2039112"/>
            <a:ext cx="2407920" cy="274320"/>
          </a:xfrm>
          <a:prstGeom prst="rect">
            <a:avLst/>
          </a:prstGeom>
          <a:noFill/>
        </p:spPr>
        <p:txBody>
          <a:bodyPr wrap="square" lIns="0" rIns="0" tIns="0" bIns="0" anchor="ctr" rtlCol="0"/>
          <a:lstStyle/>
          <a:p>
            <a:pPr marL="0" indent="0" algn="ctr">
              <a:buNone/>
            </a:pPr>
            <a:r>
              <a:rPr sz="1250" b="1" lang="en-US" dirty="0">
                <a:solidFill>
                  <a:srgbClr val="4A3AA7"/>
                </a:solidFill>
                <a:latin typeface="Yu Gothic" pitchFamily="34" charset="0"/>
                <a:ea typeface="Yu Gothic" pitchFamily="34" charset="-122"/>
                <a:cs typeface="Yu Gothic" pitchFamily="34" charset="-120"/>
              </a:rPr>
              <a:t>Regulatory &amp; Quality</a:t>
            </a:r>
          </a:p>
        </p:txBody>
      </p:sp>
      <p:sp>
        <p:nvSpPr>
          <p:cNvPr id="38" name="Rounded Rectangle 37"/>
          <p:cNvSpPr/>
          <p:nvPr/>
        </p:nvSpPr>
        <p:spPr>
          <a:xfrm>
            <a:off x="3029712" y="2368296"/>
            <a:ext cx="2261616" cy="1231392"/>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29712" y="2423921"/>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薬事</a:t>
            </a:r>
          </a:p>
        </p:txBody>
      </p:sp>
      <p:sp>
        <p:nvSpPr>
          <p:cNvPr id="40" name="Rounded Rectangle 39"/>
          <p:cNvSpPr/>
          <p:nvPr/>
        </p:nvSpPr>
        <p:spPr>
          <a:xfrm>
            <a:off x="3121152" y="2716529"/>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121152" y="2716529"/>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薬事戦略・当局対応</a:t>
            </a:r>
          </a:p>
        </p:txBody>
      </p:sp>
      <p:sp>
        <p:nvSpPr>
          <p:cNvPr id="42" name="Rounded Rectangle 41"/>
          <p:cNvSpPr/>
          <p:nvPr/>
        </p:nvSpPr>
        <p:spPr>
          <a:xfrm>
            <a:off x="3121152" y="2931413"/>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121152" y="2931413"/>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申請資料作成・管理</a:t>
            </a:r>
          </a:p>
        </p:txBody>
      </p:sp>
      <p:sp>
        <p:nvSpPr>
          <p:cNvPr id="44" name="Rounded Rectangle 43"/>
          <p:cNvSpPr/>
          <p:nvPr/>
        </p:nvSpPr>
        <p:spPr>
          <a:xfrm>
            <a:off x="3121152" y="3146297"/>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121152" y="3146297"/>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ラベリング管理</a:t>
            </a:r>
          </a:p>
        </p:txBody>
      </p:sp>
      <p:sp>
        <p:nvSpPr>
          <p:cNvPr id="46" name="Rounded Rectangle 45"/>
          <p:cNvSpPr/>
          <p:nvPr/>
        </p:nvSpPr>
        <p:spPr>
          <a:xfrm>
            <a:off x="3121152" y="3361181"/>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121152" y="3361181"/>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市販後薬事コンプライアンス</a:t>
            </a:r>
          </a:p>
        </p:txBody>
      </p:sp>
      <p:sp>
        <p:nvSpPr>
          <p:cNvPr id="48" name="Rounded Rectangle 47"/>
          <p:cNvSpPr/>
          <p:nvPr/>
        </p:nvSpPr>
        <p:spPr>
          <a:xfrm>
            <a:off x="3029712" y="3672840"/>
            <a:ext cx="2261616" cy="1231392"/>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029712" y="3728465"/>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品質</a:t>
            </a:r>
          </a:p>
        </p:txBody>
      </p:sp>
      <p:sp>
        <p:nvSpPr>
          <p:cNvPr id="50" name="Rounded Rectangle 49"/>
          <p:cNvSpPr/>
          <p:nvPr/>
        </p:nvSpPr>
        <p:spPr>
          <a:xfrm>
            <a:off x="3121152" y="4021074"/>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121152" y="4021074"/>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品質管理（試験・安定性）</a:t>
            </a:r>
          </a:p>
        </p:txBody>
      </p:sp>
      <p:sp>
        <p:nvSpPr>
          <p:cNvPr id="52" name="Rounded Rectangle 51"/>
          <p:cNvSpPr/>
          <p:nvPr/>
        </p:nvSpPr>
        <p:spPr>
          <a:xfrm>
            <a:off x="3121152" y="4235958"/>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121152" y="4235958"/>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品質保証（出荷判定・逸脱・変更）</a:t>
            </a:r>
          </a:p>
        </p:txBody>
      </p:sp>
      <p:sp>
        <p:nvSpPr>
          <p:cNvPr id="54" name="Rounded Rectangle 53"/>
          <p:cNvSpPr/>
          <p:nvPr/>
        </p:nvSpPr>
        <p:spPr>
          <a:xfrm>
            <a:off x="3121152" y="4450842"/>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121152" y="4450842"/>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バリデーション管理</a:t>
            </a:r>
          </a:p>
        </p:txBody>
      </p:sp>
      <p:sp>
        <p:nvSpPr>
          <p:cNvPr id="56" name="Rounded Rectangle 55"/>
          <p:cNvSpPr/>
          <p:nvPr/>
        </p:nvSpPr>
        <p:spPr>
          <a:xfrm>
            <a:off x="3121152" y="4665726"/>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121152" y="4665726"/>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品質システム・監査管理</a:t>
            </a:r>
          </a:p>
        </p:txBody>
      </p:sp>
      <p:sp>
        <p:nvSpPr>
          <p:cNvPr id="58" name="Rounded Rectangle 57"/>
          <p:cNvSpPr/>
          <p:nvPr/>
        </p:nvSpPr>
        <p:spPr>
          <a:xfrm>
            <a:off x="3029712" y="4977384"/>
            <a:ext cx="2261616" cy="801624"/>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029712" y="5033010"/>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ファーマコビジランス（安全性）</a:t>
            </a:r>
          </a:p>
        </p:txBody>
      </p:sp>
      <p:sp>
        <p:nvSpPr>
          <p:cNvPr id="60" name="Rounded Rectangle 59"/>
          <p:cNvSpPr/>
          <p:nvPr/>
        </p:nvSpPr>
        <p:spPr>
          <a:xfrm>
            <a:off x="3121152" y="5325618"/>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121152" y="5325618"/>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有害事象管理</a:t>
            </a:r>
          </a:p>
        </p:txBody>
      </p:sp>
      <p:sp>
        <p:nvSpPr>
          <p:cNvPr id="62" name="Rounded Rectangle 61"/>
          <p:cNvSpPr/>
          <p:nvPr/>
        </p:nvSpPr>
        <p:spPr>
          <a:xfrm>
            <a:off x="3121152" y="5540502"/>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121152" y="5540502"/>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安全性シグナル・リスク管理</a:t>
            </a:r>
          </a:p>
        </p:txBody>
      </p:sp>
      <p:sp>
        <p:nvSpPr>
          <p:cNvPr id="64" name="Chevron 63"/>
          <p:cNvSpPr/>
          <p:nvPr/>
        </p:nvSpPr>
        <p:spPr>
          <a:xfrm rot="5400000">
            <a:off x="4101083" y="1764791"/>
            <a:ext cx="118872" cy="310896"/>
          </a:xfrm>
          <a:prstGeom prst="chevron">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hevron 64"/>
          <p:cNvSpPr/>
          <p:nvPr/>
        </p:nvSpPr>
        <p:spPr>
          <a:xfrm rot="5400000">
            <a:off x="4101083" y="5765292"/>
            <a:ext cx="118872" cy="310896"/>
          </a:xfrm>
          <a:prstGeom prst="chevron">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5455920" y="1984248"/>
            <a:ext cx="2407920" cy="3867912"/>
          </a:xfrm>
          <a:prstGeom prst="roundRect">
            <a:avLst>
              <a:gd name="adj" fmla="val 3000"/>
            </a:avLst>
          </a:prstGeom>
          <a:solidFill>
            <a:srgbClr val="E6F6F0"/>
          </a:solidFill>
          <a:ln w="19050">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455920" y="2039112"/>
            <a:ext cx="2407920" cy="274320"/>
          </a:xfrm>
          <a:prstGeom prst="rect">
            <a:avLst/>
          </a:prstGeom>
          <a:noFill/>
        </p:spPr>
        <p:txBody>
          <a:bodyPr wrap="square" lIns="0" rIns="0" tIns="0" bIns="0" anchor="ctr" rtlCol="0"/>
          <a:lstStyle/>
          <a:p>
            <a:pPr marL="0" indent="0" algn="ctr">
              <a:buNone/>
            </a:pPr>
            <a:r>
              <a:rPr sz="1250" b="1" lang="en-US" dirty="0">
                <a:solidFill>
                  <a:srgbClr val="0E7A52"/>
                </a:solidFill>
                <a:latin typeface="Yu Gothic" pitchFamily="34" charset="0"/>
                <a:ea typeface="Yu Gothic" pitchFamily="34" charset="-122"/>
                <a:cs typeface="Yu Gothic" pitchFamily="34" charset="-120"/>
              </a:rPr>
              <a:t>Supply Chain &amp; Mfg</a:t>
            </a:r>
          </a:p>
        </p:txBody>
      </p:sp>
      <p:sp>
        <p:nvSpPr>
          <p:cNvPr id="68" name="Rounded Rectangle 67"/>
          <p:cNvSpPr/>
          <p:nvPr/>
        </p:nvSpPr>
        <p:spPr>
          <a:xfrm>
            <a:off x="5529072" y="2368296"/>
            <a:ext cx="2261616" cy="1561338"/>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529072" y="2588895"/>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製造</a:t>
            </a:r>
          </a:p>
        </p:txBody>
      </p:sp>
      <p:sp>
        <p:nvSpPr>
          <p:cNvPr id="70" name="Rounded Rectangle 69"/>
          <p:cNvSpPr/>
          <p:nvPr/>
        </p:nvSpPr>
        <p:spPr>
          <a:xfrm>
            <a:off x="5620512" y="2881502"/>
            <a:ext cx="2078736"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620512" y="2881502"/>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生産計画・製造実行管理</a:t>
            </a:r>
          </a:p>
        </p:txBody>
      </p:sp>
      <p:sp>
        <p:nvSpPr>
          <p:cNvPr id="72" name="Rounded Rectangle 71"/>
          <p:cNvSpPr/>
          <p:nvPr/>
        </p:nvSpPr>
        <p:spPr>
          <a:xfrm>
            <a:off x="5620512" y="3096386"/>
            <a:ext cx="2078736"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620512" y="3096386"/>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原薬製造</a:t>
            </a:r>
          </a:p>
        </p:txBody>
      </p:sp>
      <p:sp>
        <p:nvSpPr>
          <p:cNvPr id="74" name="Rounded Rectangle 73"/>
          <p:cNvSpPr/>
          <p:nvPr/>
        </p:nvSpPr>
        <p:spPr>
          <a:xfrm>
            <a:off x="5620512" y="3311271"/>
            <a:ext cx="2078736"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620512" y="3311271"/>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製剤化・無菌充填・包装</a:t>
            </a:r>
          </a:p>
        </p:txBody>
      </p:sp>
      <p:sp>
        <p:nvSpPr>
          <p:cNvPr id="76" name="Rounded Rectangle 75"/>
          <p:cNvSpPr/>
          <p:nvPr/>
        </p:nvSpPr>
        <p:spPr>
          <a:xfrm>
            <a:off x="5620512" y="3526154"/>
            <a:ext cx="2078736"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620512" y="3526154"/>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設備・環境管理</a:t>
            </a:r>
          </a:p>
        </p:txBody>
      </p:sp>
      <p:sp>
        <p:nvSpPr>
          <p:cNvPr id="78" name="Rounded Rectangle 77"/>
          <p:cNvSpPr/>
          <p:nvPr/>
        </p:nvSpPr>
        <p:spPr>
          <a:xfrm>
            <a:off x="5529072" y="4002786"/>
            <a:ext cx="2261616" cy="1776222"/>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529072" y="4223385"/>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サプライチェーン</a:t>
            </a:r>
          </a:p>
        </p:txBody>
      </p:sp>
      <p:sp>
        <p:nvSpPr>
          <p:cNvPr id="80" name="Rounded Rectangle 79"/>
          <p:cNvSpPr/>
          <p:nvPr/>
        </p:nvSpPr>
        <p:spPr>
          <a:xfrm>
            <a:off x="5620512" y="4515993"/>
            <a:ext cx="2078736"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620512" y="4515993"/>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需給計画</a:t>
            </a:r>
          </a:p>
        </p:txBody>
      </p:sp>
      <p:sp>
        <p:nvSpPr>
          <p:cNvPr id="82" name="Rounded Rectangle 81"/>
          <p:cNvSpPr/>
          <p:nvPr/>
        </p:nvSpPr>
        <p:spPr>
          <a:xfrm>
            <a:off x="5620512" y="4730877"/>
            <a:ext cx="2078736"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620512" y="4730877"/>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流通ネットワーク管理★</a:t>
            </a:r>
          </a:p>
        </p:txBody>
      </p:sp>
      <p:sp>
        <p:nvSpPr>
          <p:cNvPr id="84" name="Rounded Rectangle 83"/>
          <p:cNvSpPr/>
          <p:nvPr/>
        </p:nvSpPr>
        <p:spPr>
          <a:xfrm>
            <a:off x="5620512" y="4945761"/>
            <a:ext cx="2078736"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620512" y="4945761"/>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コールドチェーン物流</a:t>
            </a:r>
          </a:p>
        </p:txBody>
      </p:sp>
      <p:sp>
        <p:nvSpPr>
          <p:cNvPr id="86" name="Rounded Rectangle 85"/>
          <p:cNvSpPr/>
          <p:nvPr/>
        </p:nvSpPr>
        <p:spPr>
          <a:xfrm>
            <a:off x="5620512" y="5160645"/>
            <a:ext cx="2078736"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620512" y="5160645"/>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トレーサビリティ</a:t>
            </a:r>
          </a:p>
        </p:txBody>
      </p:sp>
      <p:sp>
        <p:nvSpPr>
          <p:cNvPr id="88" name="Rounded Rectangle 87"/>
          <p:cNvSpPr/>
          <p:nvPr/>
        </p:nvSpPr>
        <p:spPr>
          <a:xfrm>
            <a:off x="5620512" y="5375529"/>
            <a:ext cx="2078736"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620512" y="5375529"/>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供給継続・回収管理</a:t>
            </a:r>
          </a:p>
        </p:txBody>
      </p:sp>
      <p:sp>
        <p:nvSpPr>
          <p:cNvPr id="90" name="Chevron 89"/>
          <p:cNvSpPr/>
          <p:nvPr/>
        </p:nvSpPr>
        <p:spPr>
          <a:xfrm rot="5400000">
            <a:off x="6600444" y="1764791"/>
            <a:ext cx="118872" cy="310896"/>
          </a:xfrm>
          <a:prstGeom prst="chevron">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Chevron 90"/>
          <p:cNvSpPr/>
          <p:nvPr/>
        </p:nvSpPr>
        <p:spPr>
          <a:xfrm rot="5400000">
            <a:off x="6600444" y="5765292"/>
            <a:ext cx="118872" cy="310896"/>
          </a:xfrm>
          <a:prstGeom prst="chevron">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8001000" y="1325880"/>
            <a:ext cx="3730752" cy="4526280"/>
          </a:xfrm>
          <a:prstGeom prst="roundRect">
            <a:avLst>
              <a:gd name="adj" fmla="val 3000"/>
            </a:avLst>
          </a:prstGeom>
          <a:solidFill>
            <a:srgbClr val="E8F1FB"/>
          </a:solidFill>
          <a:ln w="1905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001000" y="1380744"/>
            <a:ext cx="3730752" cy="274320"/>
          </a:xfrm>
          <a:prstGeom prst="rect">
            <a:avLst/>
          </a:prstGeom>
          <a:noFill/>
        </p:spPr>
        <p:txBody>
          <a:bodyPr wrap="square" lIns="0" rIns="0" tIns="0" bIns="0" anchor="ctr" rtlCol="0"/>
          <a:lstStyle/>
          <a:p>
            <a:pPr marL="0" indent="0" algn="ctr">
              <a:buNone/>
            </a:pPr>
            <a:r>
              <a:rPr sz="1250" b="1" lang="en-US" dirty="0">
                <a:solidFill>
                  <a:srgbClr val="2A78D6"/>
                </a:solidFill>
                <a:latin typeface="Yu Gothic" pitchFamily="34" charset="0"/>
                <a:ea typeface="Yu Gothic" pitchFamily="34" charset="-122"/>
                <a:cs typeface="Yu Gothic" pitchFamily="34" charset="-120"/>
              </a:rPr>
              <a:t>R&amp;D Engine</a:t>
            </a:r>
          </a:p>
        </p:txBody>
      </p:sp>
      <p:sp>
        <p:nvSpPr>
          <p:cNvPr id="94" name="Rounded Rectangle 93"/>
          <p:cNvSpPr/>
          <p:nvPr/>
        </p:nvSpPr>
        <p:spPr>
          <a:xfrm>
            <a:off x="8074152" y="1709928"/>
            <a:ext cx="3584448" cy="1016126"/>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074152" y="1765363"/>
            <a:ext cx="3584448"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研究（創薬）</a:t>
            </a:r>
          </a:p>
        </p:txBody>
      </p:sp>
      <p:sp>
        <p:nvSpPr>
          <p:cNvPr id="96" name="Rounded Rectangle 95"/>
          <p:cNvSpPr/>
          <p:nvPr/>
        </p:nvSpPr>
        <p:spPr>
          <a:xfrm>
            <a:off x="8165592" y="2057971"/>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165592" y="2057971"/>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疾患・標的研究★</a:t>
            </a:r>
          </a:p>
        </p:txBody>
      </p:sp>
      <p:sp>
        <p:nvSpPr>
          <p:cNvPr id="98" name="Rounded Rectangle 97"/>
          <p:cNvSpPr/>
          <p:nvPr/>
        </p:nvSpPr>
        <p:spPr>
          <a:xfrm>
            <a:off x="9893808" y="2057971"/>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9893808" y="2057971"/>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抗体創出</a:t>
            </a:r>
          </a:p>
        </p:txBody>
      </p:sp>
      <p:sp>
        <p:nvSpPr>
          <p:cNvPr id="100" name="Rounded Rectangle 99"/>
          <p:cNvSpPr/>
          <p:nvPr/>
        </p:nvSpPr>
        <p:spPr>
          <a:xfrm>
            <a:off x="8165592" y="2272855"/>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165592" y="2272855"/>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抗体エンジニアリング</a:t>
            </a:r>
          </a:p>
        </p:txBody>
      </p:sp>
      <p:sp>
        <p:nvSpPr>
          <p:cNvPr id="102" name="Rounded Rectangle 101"/>
          <p:cNvSpPr/>
          <p:nvPr/>
        </p:nvSpPr>
        <p:spPr>
          <a:xfrm>
            <a:off x="9893808" y="2272855"/>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893808" y="2272855"/>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疾患モデル・薬効評価</a:t>
            </a:r>
          </a:p>
        </p:txBody>
      </p:sp>
      <p:sp>
        <p:nvSpPr>
          <p:cNvPr id="104" name="Rounded Rectangle 103"/>
          <p:cNvSpPr/>
          <p:nvPr/>
        </p:nvSpPr>
        <p:spPr>
          <a:xfrm>
            <a:off x="8165592" y="2487739"/>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165592" y="2487739"/>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開発適性・免疫原性リスク評価</a:t>
            </a:r>
          </a:p>
        </p:txBody>
      </p:sp>
      <p:sp>
        <p:nvSpPr>
          <p:cNvPr id="106" name="Rounded Rectangle 105"/>
          <p:cNvSpPr/>
          <p:nvPr/>
        </p:nvSpPr>
        <p:spPr>
          <a:xfrm>
            <a:off x="8074152" y="2799207"/>
            <a:ext cx="3584448" cy="801243"/>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074152" y="2854642"/>
            <a:ext cx="3584448"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非臨床・臨床薬理</a:t>
            </a:r>
          </a:p>
        </p:txBody>
      </p:sp>
      <p:sp>
        <p:nvSpPr>
          <p:cNvPr id="108" name="Rounded Rectangle 107"/>
          <p:cNvSpPr/>
          <p:nvPr/>
        </p:nvSpPr>
        <p:spPr>
          <a:xfrm>
            <a:off x="8165592" y="3147250"/>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165592" y="3147250"/>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非臨床薬理評価</a:t>
            </a:r>
          </a:p>
        </p:txBody>
      </p:sp>
      <p:sp>
        <p:nvSpPr>
          <p:cNvPr id="110" name="Rounded Rectangle 109"/>
          <p:cNvSpPr/>
          <p:nvPr/>
        </p:nvSpPr>
        <p:spPr>
          <a:xfrm>
            <a:off x="9893808" y="3147250"/>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893808" y="3147250"/>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非臨床安全性評価</a:t>
            </a:r>
          </a:p>
        </p:txBody>
      </p:sp>
      <p:sp>
        <p:nvSpPr>
          <p:cNvPr id="112" name="Rounded Rectangle 111"/>
          <p:cNvSpPr/>
          <p:nvPr/>
        </p:nvSpPr>
        <p:spPr>
          <a:xfrm>
            <a:off x="8165592" y="3362134"/>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165592" y="3362134"/>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バイオアナリシス</a:t>
            </a:r>
          </a:p>
        </p:txBody>
      </p:sp>
      <p:sp>
        <p:nvSpPr>
          <p:cNvPr id="114" name="Rounded Rectangle 113"/>
          <p:cNvSpPr/>
          <p:nvPr/>
        </p:nvSpPr>
        <p:spPr>
          <a:xfrm>
            <a:off x="9893808" y="3362134"/>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893808" y="3362134"/>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臨床薬理・ファーマコメトリクス</a:t>
            </a:r>
          </a:p>
        </p:txBody>
      </p:sp>
      <p:sp>
        <p:nvSpPr>
          <p:cNvPr id="116" name="Rounded Rectangle 115"/>
          <p:cNvSpPr/>
          <p:nvPr/>
        </p:nvSpPr>
        <p:spPr>
          <a:xfrm>
            <a:off x="8074152" y="3673602"/>
            <a:ext cx="3584448" cy="1016126"/>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074152" y="3729037"/>
            <a:ext cx="3584448"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CMC開発</a:t>
            </a:r>
          </a:p>
        </p:txBody>
      </p:sp>
      <p:sp>
        <p:nvSpPr>
          <p:cNvPr id="118" name="Rounded Rectangle 117"/>
          <p:cNvSpPr/>
          <p:nvPr/>
        </p:nvSpPr>
        <p:spPr>
          <a:xfrm>
            <a:off x="8165592" y="4021645"/>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8165592" y="4021645"/>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細胞株開発・セルバンク管理</a:t>
            </a:r>
          </a:p>
        </p:txBody>
      </p:sp>
      <p:sp>
        <p:nvSpPr>
          <p:cNvPr id="120" name="Rounded Rectangle 119"/>
          <p:cNvSpPr/>
          <p:nvPr/>
        </p:nvSpPr>
        <p:spPr>
          <a:xfrm>
            <a:off x="9893808" y="4021645"/>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893808" y="4021645"/>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原薬プロセス開発</a:t>
            </a:r>
          </a:p>
        </p:txBody>
      </p:sp>
      <p:sp>
        <p:nvSpPr>
          <p:cNvPr id="122" name="Rounded Rectangle 121"/>
          <p:cNvSpPr/>
          <p:nvPr/>
        </p:nvSpPr>
        <p:spPr>
          <a:xfrm>
            <a:off x="8165592" y="4236529"/>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165592" y="4236529"/>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製剤・デバイス開発</a:t>
            </a:r>
          </a:p>
        </p:txBody>
      </p:sp>
      <p:sp>
        <p:nvSpPr>
          <p:cNvPr id="124" name="Rounded Rectangle 123"/>
          <p:cNvSpPr/>
          <p:nvPr/>
        </p:nvSpPr>
        <p:spPr>
          <a:xfrm>
            <a:off x="9893808" y="4236529"/>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9893808" y="4236529"/>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分析法開発・品質特性評価</a:t>
            </a:r>
          </a:p>
        </p:txBody>
      </p:sp>
      <p:sp>
        <p:nvSpPr>
          <p:cNvPr id="126" name="Rounded Rectangle 125"/>
          <p:cNvSpPr/>
          <p:nvPr/>
        </p:nvSpPr>
        <p:spPr>
          <a:xfrm>
            <a:off x="8165592" y="4451413"/>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8165592" y="4451413"/>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技術移転・製造規模管理</a:t>
            </a:r>
          </a:p>
        </p:txBody>
      </p:sp>
      <p:sp>
        <p:nvSpPr>
          <p:cNvPr id="128" name="Rounded Rectangle 127"/>
          <p:cNvSpPr/>
          <p:nvPr/>
        </p:nvSpPr>
        <p:spPr>
          <a:xfrm>
            <a:off x="8074152" y="4762881"/>
            <a:ext cx="3584448" cy="1016126"/>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8074152" y="4818316"/>
            <a:ext cx="3584448"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臨床開発</a:t>
            </a:r>
          </a:p>
        </p:txBody>
      </p:sp>
      <p:sp>
        <p:nvSpPr>
          <p:cNvPr id="130" name="Rounded Rectangle 129"/>
          <p:cNvSpPr/>
          <p:nvPr/>
        </p:nvSpPr>
        <p:spPr>
          <a:xfrm>
            <a:off x="8165592" y="5110924"/>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8165592" y="5110924"/>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臨床開発戦略・試験デザイン</a:t>
            </a:r>
          </a:p>
        </p:txBody>
      </p:sp>
      <p:sp>
        <p:nvSpPr>
          <p:cNvPr id="132" name="Rounded Rectangle 131"/>
          <p:cNvSpPr/>
          <p:nvPr/>
        </p:nvSpPr>
        <p:spPr>
          <a:xfrm>
            <a:off x="9893808" y="5110924"/>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9893808" y="5110924"/>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患者エビデンス管理★</a:t>
            </a:r>
          </a:p>
        </p:txBody>
      </p:sp>
      <p:sp>
        <p:nvSpPr>
          <p:cNvPr id="134" name="Rounded Rectangle 133"/>
          <p:cNvSpPr/>
          <p:nvPr/>
        </p:nvSpPr>
        <p:spPr>
          <a:xfrm>
            <a:off x="8165592" y="5325808"/>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8165592" y="5325808"/>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患者特定・組入れ★</a:t>
            </a:r>
          </a:p>
        </p:txBody>
      </p:sp>
      <p:sp>
        <p:nvSpPr>
          <p:cNvPr id="136" name="Rounded Rectangle 135"/>
          <p:cNvSpPr/>
          <p:nvPr/>
        </p:nvSpPr>
        <p:spPr>
          <a:xfrm>
            <a:off x="9893808" y="5325808"/>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9893808" y="5325808"/>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臨床試験運営</a:t>
            </a:r>
          </a:p>
        </p:txBody>
      </p:sp>
      <p:sp>
        <p:nvSpPr>
          <p:cNvPr id="138" name="Rounded Rectangle 137"/>
          <p:cNvSpPr/>
          <p:nvPr/>
        </p:nvSpPr>
        <p:spPr>
          <a:xfrm>
            <a:off x="8165592" y="5540692"/>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8165592" y="5540692"/>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臨床データマネジメント・統計解析</a:t>
            </a:r>
          </a:p>
        </p:txBody>
      </p:sp>
      <p:sp>
        <p:nvSpPr>
          <p:cNvPr id="140" name="Rounded Rectangle 139"/>
          <p:cNvSpPr/>
          <p:nvPr/>
        </p:nvSpPr>
        <p:spPr>
          <a:xfrm>
            <a:off x="9893808" y="5540692"/>
            <a:ext cx="1673352"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9893808" y="5540692"/>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治験薬供給管理</a:t>
            </a:r>
          </a:p>
        </p:txBody>
      </p:sp>
      <p:sp>
        <p:nvSpPr>
          <p:cNvPr id="142" name="Chevron 141"/>
          <p:cNvSpPr/>
          <p:nvPr/>
        </p:nvSpPr>
        <p:spPr>
          <a:xfrm rot="5400000">
            <a:off x="9806940" y="5765292"/>
            <a:ext cx="118872" cy="310896"/>
          </a:xfrm>
          <a:prstGeom prst="chevron">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Chevron 142"/>
          <p:cNvSpPr/>
          <p:nvPr/>
        </p:nvSpPr>
        <p:spPr>
          <a:xfrm>
            <a:off x="7886699" y="1472184"/>
            <a:ext cx="91440" cy="237744"/>
          </a:xfrm>
          <a:prstGeom prst="chevron">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ounded Rectangle 143"/>
          <p:cNvSpPr/>
          <p:nvPr/>
        </p:nvSpPr>
        <p:spPr>
          <a:xfrm>
            <a:off x="457200" y="5989320"/>
            <a:ext cx="11274552" cy="566928"/>
          </a:xfrm>
          <a:prstGeom prst="roundRect">
            <a:avLst>
              <a:gd name="adj" fmla="val 8000"/>
            </a:avLst>
          </a:prstGeom>
          <a:solidFill>
            <a:srgbClr val="FFFFFF"/>
          </a:solidFill>
          <a:ln w="19050">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457200" y="6025896"/>
            <a:ext cx="11274552" cy="219456"/>
          </a:xfrm>
          <a:prstGeom prst="rect">
            <a:avLst/>
          </a:prstGeom>
          <a:noFill/>
        </p:spPr>
        <p:txBody>
          <a:bodyPr wrap="square" lIns="0" rIns="0" tIns="0" bIns="0" anchor="ctr" rtlCol="0"/>
          <a:lstStyle/>
          <a:p>
            <a:pPr marL="0" indent="0" algn="ctr">
              <a:buNone/>
            </a:pPr>
            <a:r>
              <a:rPr sz="1150" b="1" lang="en-US" dirty="0">
                <a:solidFill>
                  <a:srgbClr val="1F2E35"/>
                </a:solidFill>
                <a:latin typeface="Yu Gothic" pitchFamily="34" charset="0"/>
                <a:ea typeface="Yu Gothic" pitchFamily="34" charset="-122"/>
                <a:cs typeface="Yu Gothic" pitchFamily="34" charset="-120"/>
              </a:rPr>
              <a:t>共通基盤（Support / Foundation）</a:t>
            </a:r>
          </a:p>
        </p:txBody>
      </p:sp>
      <p:sp>
        <p:nvSpPr>
          <p:cNvPr id="146" name="Rounded Rectangle 145"/>
          <p:cNvSpPr/>
          <p:nvPr/>
        </p:nvSpPr>
        <p:spPr>
          <a:xfrm>
            <a:off x="928115" y="6291072"/>
            <a:ext cx="329184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928115" y="6291072"/>
            <a:ext cx="329184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情報・データ管理</a:t>
            </a:r>
          </a:p>
        </p:txBody>
      </p:sp>
      <p:sp>
        <p:nvSpPr>
          <p:cNvPr id="148" name="Rounded Rectangle 147"/>
          <p:cNvSpPr/>
          <p:nvPr/>
        </p:nvSpPr>
        <p:spPr>
          <a:xfrm>
            <a:off x="4448556" y="6291072"/>
            <a:ext cx="329184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4448556" y="6291072"/>
            <a:ext cx="329184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GxP文書・記録管理</a:t>
            </a:r>
          </a:p>
        </p:txBody>
      </p:sp>
      <p:sp>
        <p:nvSpPr>
          <p:cNvPr id="150" name="Rounded Rectangle 149"/>
          <p:cNvSpPr/>
          <p:nvPr/>
        </p:nvSpPr>
        <p:spPr>
          <a:xfrm>
            <a:off x="7968996" y="6291072"/>
            <a:ext cx="329184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7968996" y="6291072"/>
            <a:ext cx="329184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GxP教育・資格管理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anchor="t" lIns="0" rIns="0" tIns="0" bIns="0">
            <a:spAutoFit/>
          </a:bodyPr>
          <a:lstStyle/>
          <a:p>
            <a:pPr algn="l"/>
            <a:r>
              <a:rPr sz="2800" b="1">
                <a:solidFill>
                  <a:srgbClr val="1F2E35"/>
                </a:solidFill>
                <a:latin typeface="Yu Gothic"/>
                <a:ea typeface="Yu Gothic"/>
              </a:rPr>
              <a:t>VS×ケイパビリティマップ全体像</a:t>
            </a:r>
          </a:p>
        </p:txBody>
      </p:sp>
      <p:sp>
        <p:nvSpPr>
          <p:cNvPr id="3" name="TextBox 2"/>
          <p:cNvSpPr txBox="1"/>
          <p:nvPr/>
        </p:nvSpPr>
        <p:spPr>
          <a:xfrm>
            <a:off x="457200" y="841248"/>
            <a:ext cx="10058400" cy="320040"/>
          </a:xfrm>
          <a:prstGeom prst="rect">
            <a:avLst/>
          </a:prstGeom>
          <a:noFill/>
        </p:spPr>
        <p:txBody>
          <a:bodyPr wrap="square" anchor="t" lIns="0" rIns="0" tIns="0" bIns="0">
            <a:spAutoFit/>
          </a:bodyPr>
          <a:lstStyle/>
          <a:p>
            <a:pPr algn="l"/>
            <a:r>
              <a:rPr sz="1300" b="0">
                <a:solidFill>
                  <a:srgbClr val="5B6B70"/>
                </a:solidFill>
                <a:latin typeface="Yu Gothic"/>
                <a:ea typeface="Yu Gothic"/>
              </a:rPr>
              <a:t>各段階（VS L2）が、どの領域の能力（ケイパビリティL1）を中核として使うか。円の大きさ＝「主」の関係の件数</a:t>
            </a:r>
          </a:p>
        </p:txBody>
      </p:sp>
      <p:sp>
        <p:nvSpPr>
          <p:cNvPr id="4" name="Rectangle 3"/>
          <p:cNvSpPr/>
          <p:nvPr/>
        </p:nvSpPr>
        <p:spPr>
          <a:xfrm>
            <a:off x="4379976" y="1261872"/>
            <a:ext cx="4031488" cy="237744"/>
          </a:xfrm>
          <a:prstGeom prst="rect">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79976" y="1261872"/>
            <a:ext cx="4031488" cy="237744"/>
          </a:xfrm>
          <a:prstGeom prst="rect">
            <a:avLst/>
          </a:prstGeom>
          <a:noFill/>
        </p:spPr>
        <p:txBody>
          <a:bodyPr wrap="square" lIns="0" rIns="0" tIns="0" bIns="0" anchor="ctr" rtlCol="0"/>
          <a:lstStyle/>
          <a:p>
            <a:pPr marL="0" indent="0" algn="ctr">
              <a:buNone/>
            </a:pPr>
            <a:r>
              <a:rPr sz="950" b="1" lang="en-US" dirty="0">
                <a:solidFill>
                  <a:srgbClr val="FFFFFF"/>
                </a:solidFill>
                <a:latin typeface="Yu Gothic" pitchFamily="34" charset="0"/>
                <a:ea typeface="Yu Gothic" pitchFamily="34" charset="-122"/>
                <a:cs typeface="Yu Gothic" pitchFamily="34" charset="-120"/>
              </a:rPr>
              <a:t>Phase 1：開発</a:t>
            </a:r>
          </a:p>
        </p:txBody>
      </p:sp>
      <p:sp>
        <p:nvSpPr>
          <p:cNvPr id="6" name="Rectangle 5"/>
          <p:cNvSpPr/>
          <p:nvPr/>
        </p:nvSpPr>
        <p:spPr>
          <a:xfrm>
            <a:off x="8484616" y="1261872"/>
            <a:ext cx="3210560" cy="237744"/>
          </a:xfrm>
          <a:prstGeom prst="rect">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84616" y="1261872"/>
            <a:ext cx="3210560" cy="237744"/>
          </a:xfrm>
          <a:prstGeom prst="rect">
            <a:avLst/>
          </a:prstGeom>
          <a:noFill/>
        </p:spPr>
        <p:txBody>
          <a:bodyPr wrap="square" lIns="0" rIns="0" tIns="0" bIns="0" anchor="ctr" rtlCol="0"/>
          <a:lstStyle/>
          <a:p>
            <a:pPr marL="0" indent="0" algn="ctr">
              <a:buNone/>
            </a:pPr>
            <a:r>
              <a:rPr sz="950" b="1" lang="en-US" dirty="0">
                <a:solidFill>
                  <a:srgbClr val="FFFFFF"/>
                </a:solidFill>
                <a:latin typeface="Yu Gothic" pitchFamily="34" charset="0"/>
                <a:ea typeface="Yu Gothic" pitchFamily="34" charset="-122"/>
                <a:cs typeface="Yu Gothic" pitchFamily="34" charset="-120"/>
              </a:rPr>
              <a:t>Phase 2：商業化・供給</a:t>
            </a:r>
          </a:p>
        </p:txBody>
      </p:sp>
      <p:sp>
        <p:nvSpPr>
          <p:cNvPr id="8" name="Right Arrow 7"/>
          <p:cNvSpPr/>
          <p:nvPr/>
        </p:nvSpPr>
        <p:spPr>
          <a:xfrm>
            <a:off x="4479544" y="1609344"/>
            <a:ext cx="548640" cy="310896"/>
          </a:xfrm>
          <a:prstGeom prst="rightArrow">
            <a:avLst>
              <a:gd name="adj1" fmla="val 62000"/>
              <a:gd name="adj2" fmla="val 55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43400" y="1975104"/>
            <a:ext cx="82092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創薬研究</a:t>
            </a:r>
          </a:p>
        </p:txBody>
      </p:sp>
      <p:sp>
        <p:nvSpPr>
          <p:cNvPr id="10" name="Right Arrow 9"/>
          <p:cNvSpPr/>
          <p:nvPr/>
        </p:nvSpPr>
        <p:spPr>
          <a:xfrm>
            <a:off x="5300472" y="1609344"/>
            <a:ext cx="548640" cy="310896"/>
          </a:xfrm>
          <a:prstGeom prst="rightArrow">
            <a:avLst>
              <a:gd name="adj1" fmla="val 62000"/>
              <a:gd name="adj2" fmla="val 55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4328" y="1975104"/>
            <a:ext cx="82092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非臨床開発</a:t>
            </a:r>
          </a:p>
        </p:txBody>
      </p:sp>
      <p:sp>
        <p:nvSpPr>
          <p:cNvPr id="12" name="Rounded Rectangle 11"/>
          <p:cNvSpPr/>
          <p:nvPr/>
        </p:nvSpPr>
        <p:spPr>
          <a:xfrm>
            <a:off x="6103112" y="1664208"/>
            <a:ext cx="585216" cy="201168"/>
          </a:xfrm>
          <a:prstGeom prst="roundRect">
            <a:avLst>
              <a:gd name="adj"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5256" y="1975104"/>
            <a:ext cx="82092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CMC開発</a:t>
            </a:r>
          </a:p>
        </p:txBody>
      </p:sp>
      <p:sp>
        <p:nvSpPr>
          <p:cNvPr id="14" name="Right Arrow 13"/>
          <p:cNvSpPr/>
          <p:nvPr/>
        </p:nvSpPr>
        <p:spPr>
          <a:xfrm>
            <a:off x="6942328" y="1609344"/>
            <a:ext cx="548640" cy="310896"/>
          </a:xfrm>
          <a:prstGeom prst="rightArrow">
            <a:avLst>
              <a:gd name="adj1" fmla="val 62000"/>
              <a:gd name="adj2" fmla="val 55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06184" y="1975104"/>
            <a:ext cx="82092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臨床開発</a:t>
            </a:r>
          </a:p>
        </p:txBody>
      </p:sp>
      <p:sp>
        <p:nvSpPr>
          <p:cNvPr id="16" name="Right Arrow 15"/>
          <p:cNvSpPr/>
          <p:nvPr/>
        </p:nvSpPr>
        <p:spPr>
          <a:xfrm>
            <a:off x="7763255" y="1609344"/>
            <a:ext cx="548640" cy="310896"/>
          </a:xfrm>
          <a:prstGeom prst="rightArrow">
            <a:avLst>
              <a:gd name="adj1" fmla="val 62000"/>
              <a:gd name="adj2" fmla="val 55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27112" y="1975104"/>
            <a:ext cx="82092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BLA申請・審査</a:t>
            </a:r>
          </a:p>
        </p:txBody>
      </p:sp>
      <p:sp>
        <p:nvSpPr>
          <p:cNvPr id="18" name="Block Arc 17"/>
          <p:cNvSpPr/>
          <p:nvPr/>
        </p:nvSpPr>
        <p:spPr>
          <a:xfrm>
            <a:off x="8703056" y="1609344"/>
            <a:ext cx="310896" cy="310896"/>
          </a:xfrm>
          <a:prstGeom prst="blockArc">
            <a:avLst>
              <a:gd name="adj1" fmla="val 17280000"/>
              <a:gd name="adj2" fmla="val 15000000"/>
              <a:gd name="adj3" fmla="val 17647"/>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5400000">
            <a:off x="8818171" y="1593853"/>
            <a:ext cx="118872" cy="91440"/>
          </a:xfrm>
          <a:prstGeom prst="triangle">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48040" y="1975104"/>
            <a:ext cx="82092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商用製造</a:t>
            </a:r>
          </a:p>
        </p:txBody>
      </p:sp>
      <p:sp>
        <p:nvSpPr>
          <p:cNvPr id="21" name="Right Arrow 20"/>
          <p:cNvSpPr/>
          <p:nvPr/>
        </p:nvSpPr>
        <p:spPr>
          <a:xfrm>
            <a:off x="9405111" y="1609344"/>
            <a:ext cx="548640" cy="310896"/>
          </a:xfrm>
          <a:prstGeom prst="rightArrow">
            <a:avLst>
              <a:gd name="adj1" fmla="val 62000"/>
              <a:gd name="adj2" fmla="val 55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68968" y="1975104"/>
            <a:ext cx="82092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上市</a:t>
            </a:r>
          </a:p>
        </p:txBody>
      </p:sp>
      <p:sp>
        <p:nvSpPr>
          <p:cNvPr id="23" name="Block Arc 22"/>
          <p:cNvSpPr/>
          <p:nvPr/>
        </p:nvSpPr>
        <p:spPr>
          <a:xfrm>
            <a:off x="10344912" y="1609344"/>
            <a:ext cx="310896" cy="310896"/>
          </a:xfrm>
          <a:prstGeom prst="blockArc">
            <a:avLst>
              <a:gd name="adj1" fmla="val 17280000"/>
              <a:gd name="adj2" fmla="val 15000000"/>
              <a:gd name="adj3" fmla="val 17647"/>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5400000">
            <a:off x="10460027" y="1593853"/>
            <a:ext cx="118872" cy="91440"/>
          </a:xfrm>
          <a:prstGeom prst="triangle">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89896" y="1975104"/>
            <a:ext cx="82092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供給・流通</a:t>
            </a:r>
          </a:p>
        </p:txBody>
      </p:sp>
      <p:sp>
        <p:nvSpPr>
          <p:cNvPr id="26" name="Block Arc 25"/>
          <p:cNvSpPr/>
          <p:nvPr/>
        </p:nvSpPr>
        <p:spPr>
          <a:xfrm>
            <a:off x="11165840" y="1609344"/>
            <a:ext cx="310896" cy="310896"/>
          </a:xfrm>
          <a:prstGeom prst="blockArc">
            <a:avLst>
              <a:gd name="adj1" fmla="val 17280000"/>
              <a:gd name="adj2" fmla="val 15000000"/>
              <a:gd name="adj3" fmla="val 17647"/>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5400000">
            <a:off x="11280955" y="1593853"/>
            <a:ext cx="118872" cy="91440"/>
          </a:xfrm>
          <a:prstGeom prst="triangle">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10824" y="1975104"/>
            <a:ext cx="82092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市販後</a:t>
            </a:r>
          </a:p>
        </p:txBody>
      </p:sp>
      <p:sp>
        <p:nvSpPr>
          <p:cNvPr id="29" name="Rectangle 28"/>
          <p:cNvSpPr/>
          <p:nvPr/>
        </p:nvSpPr>
        <p:spPr>
          <a:xfrm>
            <a:off x="2103120" y="2304288"/>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194560" y="2286000"/>
            <a:ext cx="210312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戦略・ガバナンス</a:t>
            </a:r>
          </a:p>
        </p:txBody>
      </p:sp>
      <p:sp>
        <p:nvSpPr>
          <p:cNvPr id="31" name="Oval 30"/>
          <p:cNvSpPr/>
          <p:nvPr/>
        </p:nvSpPr>
        <p:spPr>
          <a:xfrm>
            <a:off x="4678040" y="2351908"/>
            <a:ext cx="151646" cy="151646"/>
          </a:xfrm>
          <a:prstGeom prst="ellipse">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529072" y="2382012"/>
            <a:ext cx="91440" cy="91440"/>
          </a:xfrm>
          <a:prstGeom prst="ellipse">
            <a:avLst/>
          </a:prstGeom>
          <a:solidFill>
            <a:srgbClr val="FFFFFF"/>
          </a:solidFill>
          <a:ln w="12700">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50000" y="2382012"/>
            <a:ext cx="91440" cy="91440"/>
          </a:xfrm>
          <a:prstGeom prst="ellipse">
            <a:avLst/>
          </a:prstGeom>
          <a:solidFill>
            <a:srgbClr val="FFFFFF"/>
          </a:solidFill>
          <a:ln w="12700">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170928" y="2382012"/>
            <a:ext cx="91440" cy="91440"/>
          </a:xfrm>
          <a:prstGeom prst="ellipse">
            <a:avLst/>
          </a:prstGeom>
          <a:solidFill>
            <a:srgbClr val="FFFFFF"/>
          </a:solidFill>
          <a:ln w="12700">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991855" y="2382012"/>
            <a:ext cx="91440" cy="91440"/>
          </a:xfrm>
          <a:prstGeom prst="ellipse">
            <a:avLst/>
          </a:prstGeom>
          <a:solidFill>
            <a:srgbClr val="FFFFFF"/>
          </a:solidFill>
          <a:ln w="12700">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251827" y="2358271"/>
            <a:ext cx="138920" cy="138920"/>
          </a:xfrm>
          <a:prstGeom prst="ellipse">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011679" y="2322576"/>
            <a:ext cx="54864" cy="210311"/>
          </a:xfrm>
          <a:prstGeom prst="rect">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2286000"/>
            <a:ext cx="1463039" cy="283464"/>
          </a:xfrm>
          <a:prstGeom prst="rect">
            <a:avLst/>
          </a:prstGeom>
          <a:noFill/>
        </p:spPr>
        <p:txBody>
          <a:bodyPr wrap="square" lIns="0" rIns="0" tIns="0" bIns="0" anchor="ctr" rtlCol="0"/>
          <a:lstStyle/>
          <a:p>
            <a:pPr marL="0" indent="0" algn="r">
              <a:buNone/>
            </a:pPr>
            <a:r>
              <a:rPr sz="900" b="1" lang="en-US" dirty="0">
                <a:solidFill>
                  <a:srgbClr val="1F2E35"/>
                </a:solidFill>
                <a:latin typeface="Yu Gothic" pitchFamily="34" charset="0"/>
                <a:ea typeface="Yu Gothic" pitchFamily="34" charset="-122"/>
                <a:cs typeface="Yu Gothic" pitchFamily="34" charset="-120"/>
              </a:rPr>
              <a:t>Strategy</a:t>
            </a:r>
          </a:p>
        </p:txBody>
      </p:sp>
      <p:cxnSp>
        <p:nvCxnSpPr>
          <p:cNvPr id="39" name="Connector 38"/>
          <p:cNvCxnSpPr/>
          <p:nvPr/>
        </p:nvCxnSpPr>
        <p:spPr>
          <a:xfrm>
            <a:off x="2103120" y="2569464"/>
            <a:ext cx="962863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2103120" y="2587752"/>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2569464"/>
            <a:ext cx="210312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研究（創薬）</a:t>
            </a:r>
          </a:p>
        </p:txBody>
      </p:sp>
      <p:sp>
        <p:nvSpPr>
          <p:cNvPr id="42" name="Oval 41"/>
          <p:cNvSpPr/>
          <p:nvPr/>
        </p:nvSpPr>
        <p:spPr>
          <a:xfrm>
            <a:off x="4630171" y="2587503"/>
            <a:ext cx="247384" cy="247384"/>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529072" y="2665476"/>
            <a:ext cx="91440" cy="91440"/>
          </a:xfrm>
          <a:prstGeom prst="ellipse">
            <a:avLst/>
          </a:prstGeom>
          <a:solidFill>
            <a:srgbClr val="FFFFFF"/>
          </a:solidFill>
          <a:ln w="1270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103120" y="2871216"/>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194560" y="2852928"/>
            <a:ext cx="210312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非臨床・臨床薬理</a:t>
            </a:r>
          </a:p>
        </p:txBody>
      </p:sp>
      <p:sp>
        <p:nvSpPr>
          <p:cNvPr id="46" name="Oval 45"/>
          <p:cNvSpPr/>
          <p:nvPr/>
        </p:nvSpPr>
        <p:spPr>
          <a:xfrm>
            <a:off x="5458736" y="2878604"/>
            <a:ext cx="232111" cy="232111"/>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147187" y="2925199"/>
            <a:ext cx="138920" cy="13892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103120" y="3154680"/>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194560" y="3136392"/>
            <a:ext cx="210312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CMC開発</a:t>
            </a:r>
          </a:p>
        </p:txBody>
      </p:sp>
      <p:sp>
        <p:nvSpPr>
          <p:cNvPr id="50" name="Oval 49"/>
          <p:cNvSpPr/>
          <p:nvPr/>
        </p:nvSpPr>
        <p:spPr>
          <a:xfrm>
            <a:off x="4708144" y="3232404"/>
            <a:ext cx="91440" cy="91440"/>
          </a:xfrm>
          <a:prstGeom prst="ellipse">
            <a:avLst/>
          </a:prstGeom>
          <a:solidFill>
            <a:srgbClr val="FFFFFF"/>
          </a:solidFill>
          <a:ln w="1270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6258560" y="3140964"/>
            <a:ext cx="274320" cy="27432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991855" y="3232404"/>
            <a:ext cx="91440" cy="91440"/>
          </a:xfrm>
          <a:prstGeom prst="ellipse">
            <a:avLst/>
          </a:prstGeom>
          <a:solidFill>
            <a:srgbClr val="FFFFFF"/>
          </a:solidFill>
          <a:ln w="1270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812784" y="3232404"/>
            <a:ext cx="91440" cy="91440"/>
          </a:xfrm>
          <a:prstGeom prst="ellipse">
            <a:avLst/>
          </a:prstGeom>
          <a:solidFill>
            <a:srgbClr val="FFFFFF"/>
          </a:solidFill>
          <a:ln w="1270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1275567" y="3232404"/>
            <a:ext cx="91440" cy="91440"/>
          </a:xfrm>
          <a:prstGeom prst="ellipse">
            <a:avLst/>
          </a:prstGeom>
          <a:solidFill>
            <a:srgbClr val="FFFFFF"/>
          </a:solidFill>
          <a:ln w="1270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103120" y="3438144"/>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194560" y="3419856"/>
            <a:ext cx="210312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臨床開発</a:t>
            </a:r>
          </a:p>
        </p:txBody>
      </p:sp>
      <p:sp>
        <p:nvSpPr>
          <p:cNvPr id="57" name="Oval 56"/>
          <p:cNvSpPr/>
          <p:nvPr/>
        </p:nvSpPr>
        <p:spPr>
          <a:xfrm>
            <a:off x="4692696" y="3500420"/>
            <a:ext cx="122335" cy="122335"/>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5513624" y="3500420"/>
            <a:ext cx="122335" cy="122335"/>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326259" y="3492127"/>
            <a:ext cx="138920" cy="13892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090562" y="3435502"/>
            <a:ext cx="252170" cy="252170"/>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991855" y="3515868"/>
            <a:ext cx="91440" cy="91440"/>
          </a:xfrm>
          <a:prstGeom prst="ellipse">
            <a:avLst/>
          </a:prstGeom>
          <a:solidFill>
            <a:srgbClr val="FFFFFF"/>
          </a:solidFill>
          <a:ln w="1270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9633711" y="3515868"/>
            <a:ext cx="91440" cy="91440"/>
          </a:xfrm>
          <a:prstGeom prst="ellipse">
            <a:avLst/>
          </a:prstGeom>
          <a:solidFill>
            <a:srgbClr val="FFFFFF"/>
          </a:solidFill>
          <a:ln w="1270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1245464" y="3485764"/>
            <a:ext cx="151646" cy="151646"/>
          </a:xfrm>
          <a:prstGeom prst="ellipse">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011679" y="2606040"/>
            <a:ext cx="54864" cy="106070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2569464"/>
            <a:ext cx="1463039" cy="1133856"/>
          </a:xfrm>
          <a:prstGeom prst="rect">
            <a:avLst/>
          </a:prstGeom>
          <a:noFill/>
        </p:spPr>
        <p:txBody>
          <a:bodyPr wrap="square" lIns="0" rIns="0" tIns="0" bIns="0" anchor="ctr" rtlCol="0"/>
          <a:lstStyle/>
          <a:p>
            <a:pPr marL="0" indent="0" algn="r">
              <a:buNone/>
            </a:pPr>
            <a:r>
              <a:rPr sz="900" b="1" lang="en-US" dirty="0">
                <a:solidFill>
                  <a:srgbClr val="2A78D6"/>
                </a:solidFill>
                <a:latin typeface="Yu Gothic" pitchFamily="34" charset="0"/>
                <a:ea typeface="Yu Gothic" pitchFamily="34" charset="-122"/>
                <a:cs typeface="Yu Gothic" pitchFamily="34" charset="-120"/>
              </a:rPr>
              <a:t>R&amp;D Engine</a:t>
            </a:r>
          </a:p>
        </p:txBody>
      </p:sp>
      <p:cxnSp>
        <p:nvCxnSpPr>
          <p:cNvPr id="66" name="Connector 65"/>
          <p:cNvCxnSpPr/>
          <p:nvPr/>
        </p:nvCxnSpPr>
        <p:spPr>
          <a:xfrm>
            <a:off x="2103120" y="3703320"/>
            <a:ext cx="962863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2103120" y="3721607"/>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194560" y="3703320"/>
            <a:ext cx="210312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薬事</a:t>
            </a:r>
          </a:p>
        </p:txBody>
      </p:sp>
      <p:sp>
        <p:nvSpPr>
          <p:cNvPr id="69" name="Oval 68"/>
          <p:cNvSpPr/>
          <p:nvPr/>
        </p:nvSpPr>
        <p:spPr>
          <a:xfrm>
            <a:off x="4708144" y="3799332"/>
            <a:ext cx="91440" cy="91440"/>
          </a:xfrm>
          <a:prstGeom prst="ellipse">
            <a:avLst/>
          </a:prstGeom>
          <a:solidFill>
            <a:srgbClr val="FFFFFF"/>
          </a:solidFill>
          <a:ln w="12700">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5488878" y="3759138"/>
            <a:ext cx="171827" cy="171827"/>
          </a:xfrm>
          <a:prstGeom prst="ellipse">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7147187" y="3775591"/>
            <a:ext cx="138920" cy="138920"/>
          </a:xfrm>
          <a:prstGeom prst="ellipse">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7921520" y="3728996"/>
            <a:ext cx="232111" cy="232111"/>
          </a:xfrm>
          <a:prstGeom prst="ellipse">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8812784" y="3799332"/>
            <a:ext cx="91440" cy="91440"/>
          </a:xfrm>
          <a:prstGeom prst="ellipse">
            <a:avLst/>
          </a:prstGeom>
          <a:solidFill>
            <a:srgbClr val="FFFFFF"/>
          </a:solidFill>
          <a:ln w="12700">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1240100" y="3763864"/>
            <a:ext cx="162375" cy="162375"/>
          </a:xfrm>
          <a:prstGeom prst="ellipse">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103120" y="4005071"/>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94560" y="3986783"/>
            <a:ext cx="210312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品質</a:t>
            </a:r>
          </a:p>
        </p:txBody>
      </p:sp>
      <p:sp>
        <p:nvSpPr>
          <p:cNvPr id="77" name="Oval 76"/>
          <p:cNvSpPr/>
          <p:nvPr/>
        </p:nvSpPr>
        <p:spPr>
          <a:xfrm>
            <a:off x="5529072" y="4082796"/>
            <a:ext cx="91440" cy="91440"/>
          </a:xfrm>
          <a:prstGeom prst="ellipse">
            <a:avLst/>
          </a:prstGeom>
          <a:solidFill>
            <a:srgbClr val="FFFFFF"/>
          </a:solidFill>
          <a:ln w="12700">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301604" y="4034400"/>
            <a:ext cx="188231" cy="188231"/>
          </a:xfrm>
          <a:prstGeom prst="ellipse">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968115" y="4059055"/>
            <a:ext cx="138920" cy="138920"/>
          </a:xfrm>
          <a:prstGeom prst="ellipse">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8768317" y="4038329"/>
            <a:ext cx="180373" cy="180373"/>
          </a:xfrm>
          <a:prstGeom prst="ellipse">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9633711" y="4082796"/>
            <a:ext cx="91440" cy="91440"/>
          </a:xfrm>
          <a:prstGeom prst="ellipse">
            <a:avLst/>
          </a:prstGeom>
          <a:solidFill>
            <a:srgbClr val="FFFFFF"/>
          </a:solidFill>
          <a:ln w="12700">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0454640" y="4082796"/>
            <a:ext cx="91440" cy="91440"/>
          </a:xfrm>
          <a:prstGeom prst="ellipse">
            <a:avLst/>
          </a:prstGeom>
          <a:solidFill>
            <a:srgbClr val="FFFFFF"/>
          </a:solidFill>
          <a:ln w="12700">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1275567" y="4082796"/>
            <a:ext cx="91440" cy="91440"/>
          </a:xfrm>
          <a:prstGeom prst="ellipse">
            <a:avLst/>
          </a:prstGeom>
          <a:solidFill>
            <a:srgbClr val="FFFFFF"/>
          </a:solidFill>
          <a:ln w="12700">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2103120" y="4288536"/>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194560" y="4270248"/>
            <a:ext cx="210312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ファーマコビジランス（安全性）</a:t>
            </a:r>
          </a:p>
        </p:txBody>
      </p:sp>
      <p:sp>
        <p:nvSpPr>
          <p:cNvPr id="86" name="Oval 85"/>
          <p:cNvSpPr/>
          <p:nvPr/>
        </p:nvSpPr>
        <p:spPr>
          <a:xfrm>
            <a:off x="7155480" y="4350812"/>
            <a:ext cx="122335" cy="122335"/>
          </a:xfrm>
          <a:prstGeom prst="ellipse">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976408" y="4350812"/>
            <a:ext cx="122335" cy="122335"/>
          </a:xfrm>
          <a:prstGeom prst="ellipse">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1235374" y="4326066"/>
            <a:ext cx="171827" cy="171827"/>
          </a:xfrm>
          <a:prstGeom prst="ellipse">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2011679" y="3739896"/>
            <a:ext cx="54864" cy="777240"/>
          </a:xfrm>
          <a:prstGeom prst="rect">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7200" y="3703320"/>
            <a:ext cx="1463039" cy="850392"/>
          </a:xfrm>
          <a:prstGeom prst="rect">
            <a:avLst/>
          </a:prstGeom>
          <a:noFill/>
        </p:spPr>
        <p:txBody>
          <a:bodyPr wrap="square" lIns="0" rIns="0" tIns="0" bIns="0" anchor="ctr" rtlCol="0"/>
          <a:lstStyle/>
          <a:p>
            <a:pPr marL="0" indent="0" algn="r">
              <a:buNone/>
            </a:pPr>
            <a:r>
              <a:rPr sz="900" b="1" lang="en-US" dirty="0">
                <a:solidFill>
                  <a:srgbClr val="4A3AA7"/>
                </a:solidFill>
                <a:latin typeface="Yu Gothic" pitchFamily="34" charset="0"/>
                <a:ea typeface="Yu Gothic" pitchFamily="34" charset="-122"/>
                <a:cs typeface="Yu Gothic" pitchFamily="34" charset="-120"/>
              </a:rPr>
              <a:t>Regulatory &amp; Quality</a:t>
            </a:r>
          </a:p>
        </p:txBody>
      </p:sp>
      <p:cxnSp>
        <p:nvCxnSpPr>
          <p:cNvPr id="91" name="Connector 90"/>
          <p:cNvCxnSpPr/>
          <p:nvPr/>
        </p:nvCxnSpPr>
        <p:spPr>
          <a:xfrm>
            <a:off x="2103120" y="4553712"/>
            <a:ext cx="962863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2103120" y="4571999"/>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194560" y="4553712"/>
            <a:ext cx="210312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製造</a:t>
            </a:r>
          </a:p>
        </p:txBody>
      </p:sp>
      <p:sp>
        <p:nvSpPr>
          <p:cNvPr id="94" name="Oval 93"/>
          <p:cNvSpPr/>
          <p:nvPr/>
        </p:nvSpPr>
        <p:spPr>
          <a:xfrm>
            <a:off x="6319896" y="4619620"/>
            <a:ext cx="151646" cy="151646"/>
          </a:xfrm>
          <a:prstGeom prst="ellipse">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8754047" y="4590987"/>
            <a:ext cx="208912" cy="208912"/>
          </a:xfrm>
          <a:prstGeom prst="ellipse">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2103120" y="4855463"/>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194560" y="4837175"/>
            <a:ext cx="210312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サプライチェーン</a:t>
            </a:r>
          </a:p>
        </p:txBody>
      </p:sp>
      <p:sp>
        <p:nvSpPr>
          <p:cNvPr id="98" name="Oval 97"/>
          <p:cNvSpPr/>
          <p:nvPr/>
        </p:nvSpPr>
        <p:spPr>
          <a:xfrm>
            <a:off x="6350000" y="4933188"/>
            <a:ext cx="91440" cy="91440"/>
          </a:xfrm>
          <a:prstGeom prst="ellipse">
            <a:avLst/>
          </a:prstGeom>
          <a:solidFill>
            <a:srgbClr val="FFFFFF"/>
          </a:solidFill>
          <a:ln w="12700">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8812784" y="4933188"/>
            <a:ext cx="91440" cy="91440"/>
          </a:xfrm>
          <a:prstGeom prst="ellipse">
            <a:avLst/>
          </a:prstGeom>
          <a:solidFill>
            <a:srgbClr val="FFFFFF"/>
          </a:solidFill>
          <a:ln w="12700">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9609971" y="4909447"/>
            <a:ext cx="138920" cy="138920"/>
          </a:xfrm>
          <a:prstGeom prst="ellipse">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0395903" y="4874451"/>
            <a:ext cx="208912" cy="208912"/>
          </a:xfrm>
          <a:prstGeom prst="ellipse">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2011679" y="4590288"/>
            <a:ext cx="54864" cy="493776"/>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57200" y="4553712"/>
            <a:ext cx="1463039" cy="566928"/>
          </a:xfrm>
          <a:prstGeom prst="rect">
            <a:avLst/>
          </a:prstGeom>
          <a:noFill/>
        </p:spPr>
        <p:txBody>
          <a:bodyPr wrap="square" lIns="0" rIns="0" tIns="0" bIns="0" anchor="ctr" rtlCol="0"/>
          <a:lstStyle/>
          <a:p>
            <a:pPr marL="0" indent="0" algn="r">
              <a:buNone/>
            </a:pPr>
            <a:r>
              <a:rPr sz="900" b="1" lang="en-US" dirty="0">
                <a:solidFill>
                  <a:srgbClr val="0E7A52"/>
                </a:solidFill>
                <a:latin typeface="Yu Gothic" pitchFamily="34" charset="0"/>
                <a:ea typeface="Yu Gothic" pitchFamily="34" charset="-122"/>
                <a:cs typeface="Yu Gothic" pitchFamily="34" charset="-120"/>
              </a:rPr>
              <a:t>Supply Chain &amp; Mfg</a:t>
            </a:r>
          </a:p>
        </p:txBody>
      </p:sp>
      <p:cxnSp>
        <p:nvCxnSpPr>
          <p:cNvPr id="104" name="Connector 103"/>
          <p:cNvCxnSpPr/>
          <p:nvPr/>
        </p:nvCxnSpPr>
        <p:spPr>
          <a:xfrm>
            <a:off x="2103120" y="5120640"/>
            <a:ext cx="962863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2103120" y="5138927"/>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194560" y="5120640"/>
            <a:ext cx="210312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メディカル・患者エンゲージメント</a:t>
            </a:r>
          </a:p>
        </p:txBody>
      </p:sp>
      <p:sp>
        <p:nvSpPr>
          <p:cNvPr id="107" name="Oval 106"/>
          <p:cNvSpPr/>
          <p:nvPr/>
        </p:nvSpPr>
        <p:spPr>
          <a:xfrm>
            <a:off x="4692696" y="5201204"/>
            <a:ext cx="122335" cy="122335"/>
          </a:xfrm>
          <a:prstGeom prst="ellipse">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7170928" y="5216652"/>
            <a:ext cx="91440" cy="91440"/>
          </a:xfrm>
          <a:prstGeom prst="ellipse">
            <a:avLst/>
          </a:prstGeom>
          <a:solidFill>
            <a:srgbClr val="FFFFFF"/>
          </a:solidFill>
          <a:ln w="12700">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603608" y="5186548"/>
            <a:ext cx="151646" cy="151646"/>
          </a:xfrm>
          <a:prstGeom prst="ellipse">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10454640" y="5216652"/>
            <a:ext cx="91440" cy="91440"/>
          </a:xfrm>
          <a:prstGeom prst="ellipse">
            <a:avLst/>
          </a:prstGeom>
          <a:solidFill>
            <a:srgbClr val="FFFFFF"/>
          </a:solidFill>
          <a:ln w="12700">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1275567" y="5216652"/>
            <a:ext cx="91440" cy="91440"/>
          </a:xfrm>
          <a:prstGeom prst="ellipse">
            <a:avLst/>
          </a:prstGeom>
          <a:solidFill>
            <a:srgbClr val="FFFFFF"/>
          </a:solidFill>
          <a:ln w="12700">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2103120" y="5422391"/>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194560" y="5404103"/>
            <a:ext cx="210312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市場アクセス・商業</a:t>
            </a:r>
          </a:p>
        </p:txBody>
      </p:sp>
      <p:sp>
        <p:nvSpPr>
          <p:cNvPr id="114" name="Oval 113"/>
          <p:cNvSpPr/>
          <p:nvPr/>
        </p:nvSpPr>
        <p:spPr>
          <a:xfrm>
            <a:off x="9585316" y="5451720"/>
            <a:ext cx="188231" cy="188231"/>
          </a:xfrm>
          <a:prstGeom prst="ellipse">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1260120" y="5484668"/>
            <a:ext cx="122335" cy="122335"/>
          </a:xfrm>
          <a:prstGeom prst="ellipse">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2011679" y="5157216"/>
            <a:ext cx="54864" cy="493776"/>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57200" y="5120640"/>
            <a:ext cx="1463039" cy="566928"/>
          </a:xfrm>
          <a:prstGeom prst="rect">
            <a:avLst/>
          </a:prstGeom>
          <a:noFill/>
        </p:spPr>
        <p:txBody>
          <a:bodyPr wrap="square" lIns="0" rIns="0" tIns="0" bIns="0" anchor="ctr" rtlCol="0"/>
          <a:lstStyle/>
          <a:p>
            <a:pPr marL="0" indent="0" algn="r">
              <a:buNone/>
            </a:pPr>
            <a:r>
              <a:rPr sz="900" b="1" lang="en-US" dirty="0">
                <a:solidFill>
                  <a:srgbClr val="C24E1C"/>
                </a:solidFill>
                <a:latin typeface="Yu Gothic" pitchFamily="34" charset="0"/>
                <a:ea typeface="Yu Gothic" pitchFamily="34" charset="-122"/>
                <a:cs typeface="Yu Gothic" pitchFamily="34" charset="-120"/>
              </a:rPr>
              <a:t>Commercial &amp; Patient</a:t>
            </a:r>
          </a:p>
        </p:txBody>
      </p:sp>
      <p:cxnSp>
        <p:nvCxnSpPr>
          <p:cNvPr id="118" name="Connector 117"/>
          <p:cNvCxnSpPr/>
          <p:nvPr/>
        </p:nvCxnSpPr>
        <p:spPr>
          <a:xfrm>
            <a:off x="2103120" y="5687568"/>
            <a:ext cx="962863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119" name="Rectangle 118"/>
          <p:cNvSpPr/>
          <p:nvPr/>
        </p:nvSpPr>
        <p:spPr>
          <a:xfrm>
            <a:off x="2103120" y="5705855"/>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2194560" y="5687568"/>
            <a:ext cx="210312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共通基盤</a:t>
            </a:r>
          </a:p>
        </p:txBody>
      </p:sp>
      <p:sp>
        <p:nvSpPr>
          <p:cNvPr id="121" name="Oval 120"/>
          <p:cNvSpPr/>
          <p:nvPr/>
        </p:nvSpPr>
        <p:spPr>
          <a:xfrm>
            <a:off x="4708144" y="5783580"/>
            <a:ext cx="91440" cy="91440"/>
          </a:xfrm>
          <a:prstGeom prst="ellipse">
            <a:avLst/>
          </a:prstGeom>
          <a:solidFill>
            <a:srgbClr val="FFFFFF"/>
          </a:solidFill>
          <a:ln w="12700">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7170928" y="5783580"/>
            <a:ext cx="91440" cy="91440"/>
          </a:xfrm>
          <a:prstGeom prst="ellipse">
            <a:avLst/>
          </a:prstGeom>
          <a:solidFill>
            <a:srgbClr val="FFFFFF"/>
          </a:solidFill>
          <a:ln w="12700">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633711" y="5783580"/>
            <a:ext cx="91440" cy="91440"/>
          </a:xfrm>
          <a:prstGeom prst="ellipse">
            <a:avLst/>
          </a:prstGeom>
          <a:solidFill>
            <a:srgbClr val="FFFFFF"/>
          </a:solidFill>
          <a:ln w="12700">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2011679" y="5724144"/>
            <a:ext cx="54864" cy="210311"/>
          </a:xfrm>
          <a:prstGeom prst="rect">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57200" y="5687568"/>
            <a:ext cx="1463039" cy="283464"/>
          </a:xfrm>
          <a:prstGeom prst="rect">
            <a:avLst/>
          </a:prstGeom>
          <a:noFill/>
        </p:spPr>
        <p:txBody>
          <a:bodyPr wrap="square" lIns="0" rIns="0" tIns="0" bIns="0" anchor="ctr" rtlCol="0"/>
          <a:lstStyle/>
          <a:p>
            <a:pPr marL="0" indent="0" algn="r">
              <a:buNone/>
            </a:pPr>
            <a:r>
              <a:rPr sz="900" b="1" lang="en-US" dirty="0">
                <a:solidFill>
                  <a:srgbClr val="1F2E35"/>
                </a:solidFill>
                <a:latin typeface="Yu Gothic" pitchFamily="34" charset="0"/>
                <a:ea typeface="Yu Gothic" pitchFamily="34" charset="-122"/>
                <a:cs typeface="Yu Gothic" pitchFamily="34" charset="-120"/>
              </a:rPr>
              <a:t>Foundation</a:t>
            </a:r>
          </a:p>
        </p:txBody>
      </p:sp>
      <p:cxnSp>
        <p:nvCxnSpPr>
          <p:cNvPr id="126" name="Connector 125"/>
          <p:cNvCxnSpPr/>
          <p:nvPr/>
        </p:nvCxnSpPr>
        <p:spPr>
          <a:xfrm>
            <a:off x="5164328"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5985256"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6806184"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7627112"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8448040" y="2286000"/>
            <a:ext cx="0" cy="3685031"/>
          </a:xfrm>
          <a:prstGeom prst="line">
            <a:avLst/>
          </a:prstGeom>
          <a:ln w="12700">
            <a:solidFill>
              <a:srgbClr val="1F2E35"/>
            </a:solidFill>
            <a:prstDash val="lgDash"/>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9268968"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10089896"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10910824"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457200" y="6025895"/>
            <a:ext cx="2194560" cy="274320"/>
          </a:xfrm>
          <a:prstGeom prst="rect">
            <a:avLst/>
          </a:prstGeom>
          <a:noFill/>
        </p:spPr>
        <p:txBody>
          <a:bodyPr wrap="square" lIns="0" rIns="0" tIns="0" bIns="0" anchor="ctr" rtlCol="0"/>
          <a:lstStyle/>
          <a:p>
            <a:pPr marL="0" indent="0">
              <a:buNone/>
            </a:pPr>
            <a:r>
              <a:rPr sz="850" b="1" lang="en-US" dirty="0">
                <a:solidFill>
                  <a:srgbClr val="5B6B70"/>
                </a:solidFill>
                <a:latin typeface="Yu Gothic" pitchFamily="34" charset="0"/>
                <a:ea typeface="Yu Gothic" pitchFamily="34" charset="-122"/>
                <a:cs typeface="Yu Gothic" pitchFamily="34" charset="-120"/>
              </a:rPr>
              <a:t>円の大きさ＝「主」の関係の件数</a:t>
            </a:r>
          </a:p>
        </p:txBody>
      </p:sp>
      <p:sp>
        <p:nvSpPr>
          <p:cNvPr id="135" name="Oval 134"/>
          <p:cNvSpPr/>
          <p:nvPr/>
        </p:nvSpPr>
        <p:spPr>
          <a:xfrm>
            <a:off x="2651760" y="6101888"/>
            <a:ext cx="122335" cy="122335"/>
          </a:xfrm>
          <a:prstGeom prst="ellipse">
            <a:avLst/>
          </a:prstGeom>
          <a:solidFill>
            <a:srgbClr val="5B6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2819815" y="6025895"/>
            <a:ext cx="365760" cy="274320"/>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1</a:t>
            </a:r>
          </a:p>
        </p:txBody>
      </p:sp>
      <p:sp>
        <p:nvSpPr>
          <p:cNvPr id="137" name="Oval 136"/>
          <p:cNvSpPr/>
          <p:nvPr/>
        </p:nvSpPr>
        <p:spPr>
          <a:xfrm>
            <a:off x="3231295" y="6077142"/>
            <a:ext cx="171827" cy="171827"/>
          </a:xfrm>
          <a:prstGeom prst="ellipse">
            <a:avLst/>
          </a:prstGeom>
          <a:solidFill>
            <a:srgbClr val="5B6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3448843" y="6025895"/>
            <a:ext cx="365760" cy="274320"/>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5</a:t>
            </a:r>
          </a:p>
        </p:txBody>
      </p:sp>
      <p:sp>
        <p:nvSpPr>
          <p:cNvPr id="139" name="Oval 138"/>
          <p:cNvSpPr/>
          <p:nvPr/>
        </p:nvSpPr>
        <p:spPr>
          <a:xfrm>
            <a:off x="3860323" y="6058599"/>
            <a:ext cx="208912" cy="208912"/>
          </a:xfrm>
          <a:prstGeom prst="ellipse">
            <a:avLst/>
          </a:prstGeom>
          <a:solidFill>
            <a:srgbClr val="5B6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4114956" y="6025895"/>
            <a:ext cx="365760" cy="274320"/>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10</a:t>
            </a:r>
          </a:p>
        </p:txBody>
      </p:sp>
      <p:sp>
        <p:nvSpPr>
          <p:cNvPr id="141" name="Oval 140"/>
          <p:cNvSpPr/>
          <p:nvPr/>
        </p:nvSpPr>
        <p:spPr>
          <a:xfrm>
            <a:off x="4526436" y="6032376"/>
            <a:ext cx="261359" cy="261359"/>
          </a:xfrm>
          <a:prstGeom prst="ellipse">
            <a:avLst/>
          </a:prstGeom>
          <a:solidFill>
            <a:srgbClr val="5B6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4833515" y="6025895"/>
            <a:ext cx="365760" cy="274320"/>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20</a:t>
            </a:r>
          </a:p>
        </p:txBody>
      </p:sp>
      <p:sp>
        <p:nvSpPr>
          <p:cNvPr id="143" name="Oval 142"/>
          <p:cNvSpPr/>
          <p:nvPr/>
        </p:nvSpPr>
        <p:spPr>
          <a:xfrm>
            <a:off x="5336435" y="6117335"/>
            <a:ext cx="91440" cy="91440"/>
          </a:xfrm>
          <a:prstGeom prst="ellipse">
            <a:avLst/>
          </a:prstGeom>
          <a:solidFill>
            <a:srgbClr val="FFFFFF"/>
          </a:solidFill>
          <a:ln w="12700">
            <a:solidFill>
              <a:srgbClr val="5B6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5482739" y="6025895"/>
            <a:ext cx="1188720" cy="274320"/>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支援の関係のみ</a:t>
            </a:r>
          </a:p>
        </p:txBody>
      </p:sp>
      <p:sp>
        <p:nvSpPr>
          <p:cNvPr id="145" name="TextBox 144"/>
          <p:cNvSpPr txBox="1"/>
          <p:nvPr/>
        </p:nvSpPr>
        <p:spPr>
          <a:xfrm>
            <a:off x="457200" y="6336791"/>
            <a:ext cx="11274552" cy="365760"/>
          </a:xfrm>
          <a:prstGeom prst="rect">
            <a:avLst/>
          </a:prstGeom>
          <a:noFill/>
        </p:spPr>
        <p:txBody>
          <a:bodyPr wrap="square" lIns="0" rIns="0" tIns="0" bIns="0" anchor="t" rtlCol="0"/>
          <a:lstStyle/>
          <a:p>
            <a:pPr marL="0" indent="0">
              <a:buNone/>
            </a:pPr>
            <a:r>
              <a:rPr sz="800" b="0" lang="en-US" dirty="0">
                <a:solidFill>
                  <a:srgbClr val="5B6B70"/>
                </a:solidFill>
                <a:latin typeface="Yu Gothic" pitchFamily="34" charset="0"/>
                <a:ea typeface="Yu Gothic" pitchFamily="34" charset="-122"/>
                <a:cs typeface="Yu Gothic" pitchFamily="34" charset="-120"/>
              </a:rPr>
              <a:t>件数は、配下の仕事（VS L4）と能力（ケイパビリティL3）の間の「主」の関係の数。各段階の中核となる能力は対角線上に並び、戦略・ガバナンス、薬事、品質は複数の段階にまたがる。共通基盤は全業務の土台のため、その業務に特有の場合だけ関係を付けている（空欄でも不要な能力ではない）。詳細（VS L3×ケイパビリティL2）はxlsxの「VS×ケイパビリティ」シート。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anchor="t" lIns="0" rIns="0" tIns="0" bIns="0">
            <a:spAutoFit/>
          </a:bodyPr>
          <a:lstStyle/>
          <a:p>
            <a:pPr algn="l"/>
            <a:r>
              <a:rPr sz="2800" b="1">
                <a:solidFill>
                  <a:srgbClr val="1F2E35"/>
                </a:solidFill>
                <a:latin typeface="Yu Gothic"/>
                <a:ea typeface="Yu Gothic"/>
              </a:rPr>
              <a:t>アプリケーションマップ全体像</a:t>
            </a:r>
          </a:p>
        </p:txBody>
      </p:sp>
      <p:sp>
        <p:nvSpPr>
          <p:cNvPr id="3" name="TextBox 2"/>
          <p:cNvSpPr txBox="1"/>
          <p:nvPr/>
        </p:nvSpPr>
        <p:spPr>
          <a:xfrm>
            <a:off x="457200" y="841248"/>
            <a:ext cx="8412480" cy="320040"/>
          </a:xfrm>
          <a:prstGeom prst="rect">
            <a:avLst/>
          </a:prstGeom>
          <a:noFill/>
        </p:spPr>
        <p:txBody>
          <a:bodyPr wrap="square" anchor="t" lIns="0" rIns="0" tIns="0" bIns="0">
            <a:spAutoFit/>
          </a:bodyPr>
          <a:lstStyle/>
          <a:p>
            <a:pPr algn="l"/>
            <a:r>
              <a:rPr sz="1300" b="0">
                <a:solidFill>
                  <a:srgbClr val="5B6B70"/>
                </a:solidFill>
                <a:latin typeface="Yu Gothic"/>
                <a:ea typeface="Yu Gothic"/>
              </a:rPr>
              <a:t>各領域（ケイパビリティL1）の能力を主に支えるアプリケーション（種類の単位、●のみ。括弧内は略称）</a:t>
            </a:r>
          </a:p>
        </p:txBody>
      </p:sp>
      <p:sp>
        <p:nvSpPr>
          <p:cNvPr id="4" name="Rounded Rectangle 3"/>
          <p:cNvSpPr/>
          <p:nvPr/>
        </p:nvSpPr>
        <p:spPr>
          <a:xfrm>
            <a:off x="457200" y="1325880"/>
            <a:ext cx="7406640" cy="530352"/>
          </a:xfrm>
          <a:prstGeom prst="roundRect">
            <a:avLst>
              <a:gd name="adj" fmla="val 8000"/>
            </a:avLst>
          </a:prstGeom>
          <a:solidFill>
            <a:srgbClr val="FFFFFF"/>
          </a:solidFill>
          <a:ln w="19050">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62456"/>
            <a:ext cx="7406640" cy="219456"/>
          </a:xfrm>
          <a:prstGeom prst="rect">
            <a:avLst/>
          </a:prstGeom>
          <a:noFill/>
        </p:spPr>
        <p:txBody>
          <a:bodyPr wrap="square" lIns="0" rIns="0" tIns="0" bIns="0" anchor="ctr" rtlCol="0"/>
          <a:lstStyle/>
          <a:p>
            <a:pPr marL="0" indent="0" algn="ctr">
              <a:buNone/>
            </a:pPr>
            <a:r>
              <a:rPr sz="1150" b="1" lang="en-US" dirty="0">
                <a:solidFill>
                  <a:srgbClr val="1F2E35"/>
                </a:solidFill>
                <a:latin typeface="Yu Gothic" pitchFamily="34" charset="0"/>
                <a:ea typeface="Yu Gothic" pitchFamily="34" charset="-122"/>
                <a:cs typeface="Yu Gothic" pitchFamily="34" charset="-120"/>
              </a:rPr>
              <a:t>戦略・ガバナンス（Strategy &amp; Governance）</a:t>
            </a:r>
          </a:p>
        </p:txBody>
      </p:sp>
      <p:sp>
        <p:nvSpPr>
          <p:cNvPr id="6" name="Rounded Rectangle 5"/>
          <p:cNvSpPr/>
          <p:nvPr/>
        </p:nvSpPr>
        <p:spPr>
          <a:xfrm>
            <a:off x="731520" y="1600199"/>
            <a:ext cx="219456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00199"/>
            <a:ext cx="2194560" cy="18288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ポートフォリオ・プロジェクト管理（PPM）</a:t>
            </a:r>
          </a:p>
        </p:txBody>
      </p:sp>
      <p:sp>
        <p:nvSpPr>
          <p:cNvPr id="8" name="Rounded Rectangle 7"/>
          <p:cNvSpPr/>
          <p:nvPr/>
        </p:nvSpPr>
        <p:spPr>
          <a:xfrm>
            <a:off x="3063240" y="1600199"/>
            <a:ext cx="219456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1600199"/>
            <a:ext cx="21945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契約管理（CLM）</a:t>
            </a:r>
          </a:p>
        </p:txBody>
      </p:sp>
      <p:sp>
        <p:nvSpPr>
          <p:cNvPr id="10" name="Rounded Rectangle 9"/>
          <p:cNvSpPr/>
          <p:nvPr/>
        </p:nvSpPr>
        <p:spPr>
          <a:xfrm>
            <a:off x="5394959" y="1600199"/>
            <a:ext cx="219456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94959" y="1600199"/>
            <a:ext cx="21945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知財管理（IPMS）</a:t>
            </a:r>
          </a:p>
        </p:txBody>
      </p:sp>
      <p:sp>
        <p:nvSpPr>
          <p:cNvPr id="12" name="Rounded Rectangle 11"/>
          <p:cNvSpPr/>
          <p:nvPr/>
        </p:nvSpPr>
        <p:spPr>
          <a:xfrm>
            <a:off x="457200" y="1984248"/>
            <a:ext cx="2407920" cy="3867912"/>
          </a:xfrm>
          <a:prstGeom prst="roundRect">
            <a:avLst>
              <a:gd name="adj" fmla="val 3000"/>
            </a:avLst>
          </a:prstGeom>
          <a:solidFill>
            <a:srgbClr val="FDEEE7"/>
          </a:solidFill>
          <a:ln w="19050">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039112"/>
            <a:ext cx="2407920" cy="274320"/>
          </a:xfrm>
          <a:prstGeom prst="rect">
            <a:avLst/>
          </a:prstGeom>
          <a:noFill/>
        </p:spPr>
        <p:txBody>
          <a:bodyPr wrap="square" lIns="0" rIns="0" tIns="0" bIns="0" anchor="ctr" rtlCol="0"/>
          <a:lstStyle/>
          <a:p>
            <a:pPr marL="0" indent="0" algn="ctr">
              <a:buNone/>
            </a:pPr>
            <a:r>
              <a:rPr sz="1250" b="1" lang="en-US" dirty="0">
                <a:solidFill>
                  <a:srgbClr val="C24E1C"/>
                </a:solidFill>
                <a:latin typeface="Yu Gothic" pitchFamily="34" charset="0"/>
                <a:ea typeface="Yu Gothic" pitchFamily="34" charset="-122"/>
                <a:cs typeface="Yu Gothic" pitchFamily="34" charset="-120"/>
              </a:rPr>
              <a:t>Commercial &amp; Patient</a:t>
            </a:r>
          </a:p>
        </p:txBody>
      </p:sp>
      <p:sp>
        <p:nvSpPr>
          <p:cNvPr id="14" name="Rounded Rectangle 13"/>
          <p:cNvSpPr/>
          <p:nvPr/>
        </p:nvSpPr>
        <p:spPr>
          <a:xfrm>
            <a:off x="530352" y="2368296"/>
            <a:ext cx="2261616" cy="1517904"/>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2784348"/>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メディカル・患者エンゲージメント</a:t>
            </a:r>
          </a:p>
        </p:txBody>
      </p:sp>
      <p:sp>
        <p:nvSpPr>
          <p:cNvPr id="16" name="Rounded Rectangle 15"/>
          <p:cNvSpPr/>
          <p:nvPr/>
        </p:nvSpPr>
        <p:spPr>
          <a:xfrm>
            <a:off x="621792" y="3076956"/>
            <a:ext cx="2078736" cy="182880"/>
          </a:xfrm>
          <a:prstGeom prst="roundRect">
            <a:avLst>
              <a:gd name="adj" fmla="val 50000"/>
            </a:avLst>
          </a:prstGeom>
          <a:solidFill>
            <a:srgbClr val="E4EAEC"/>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076956"/>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顧客関係管理（CRM）</a:t>
            </a:r>
          </a:p>
        </p:txBody>
      </p:sp>
      <p:sp>
        <p:nvSpPr>
          <p:cNvPr id="18" name="Rounded Rectangle 17"/>
          <p:cNvSpPr/>
          <p:nvPr/>
        </p:nvSpPr>
        <p:spPr>
          <a:xfrm>
            <a:off x="621792" y="3287268"/>
            <a:ext cx="2078736" cy="182880"/>
          </a:xfrm>
          <a:prstGeom prst="roundRect">
            <a:avLst>
              <a:gd name="adj" fmla="val 50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3287268"/>
            <a:ext cx="2078736" cy="182880"/>
          </a:xfrm>
          <a:prstGeom prst="rect">
            <a:avLst/>
          </a:prstGeom>
          <a:noFill/>
        </p:spPr>
        <p:txBody>
          <a:bodyPr wrap="square" lIns="0" rIns="0" tIns="0" bIns="0" anchor="ctr" rtlCol="0"/>
          <a:lstStyle/>
          <a:p>
            <a:pPr marL="0" indent="0" algn="ctr">
              <a:buNone/>
            </a:pPr>
            <a:r>
              <a:rPr sz="650" b="0" lang="en-US" dirty="0">
                <a:solidFill>
                  <a:srgbClr val="1F2E35"/>
                </a:solidFill>
                <a:latin typeface="Yu Gothic" pitchFamily="34" charset="0"/>
                <a:ea typeface="Yu Gothic" pitchFamily="34" charset="-122"/>
                <a:cs typeface="Yu Gothic" pitchFamily="34" charset="-120"/>
              </a:rPr>
              <a:t>患者支援（ハブ）（ハブサービスシステム）</a:t>
            </a:r>
          </a:p>
        </p:txBody>
      </p:sp>
      <p:sp>
        <p:nvSpPr>
          <p:cNvPr id="20" name="Rounded Rectangle 19"/>
          <p:cNvSpPr/>
          <p:nvPr/>
        </p:nvSpPr>
        <p:spPr>
          <a:xfrm>
            <a:off x="530352" y="3959352"/>
            <a:ext cx="2261616" cy="1819656"/>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4375404"/>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市場アクセス・商業</a:t>
            </a:r>
          </a:p>
        </p:txBody>
      </p:sp>
      <p:sp>
        <p:nvSpPr>
          <p:cNvPr id="22" name="Rounded Rectangle 21"/>
          <p:cNvSpPr/>
          <p:nvPr/>
        </p:nvSpPr>
        <p:spPr>
          <a:xfrm>
            <a:off x="621792" y="4668012"/>
            <a:ext cx="2078736" cy="182880"/>
          </a:xfrm>
          <a:prstGeom prst="roundRect">
            <a:avLst>
              <a:gd name="adj" fmla="val 50000"/>
            </a:avLst>
          </a:prstGeom>
          <a:solidFill>
            <a:srgbClr val="E4EAEC"/>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4668012"/>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顧客関係管理（CRM）</a:t>
            </a:r>
          </a:p>
        </p:txBody>
      </p:sp>
      <p:sp>
        <p:nvSpPr>
          <p:cNvPr id="24" name="Rounded Rectangle 23"/>
          <p:cNvSpPr/>
          <p:nvPr/>
        </p:nvSpPr>
        <p:spPr>
          <a:xfrm>
            <a:off x="621792" y="4878324"/>
            <a:ext cx="2078736" cy="274320"/>
          </a:xfrm>
          <a:prstGeom prst="roundRect">
            <a:avLst>
              <a:gd name="adj" fmla="val 35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 y="4878324"/>
            <a:ext cx="1987296"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価格・契約・政府価格報告</a:t>
            </a:r>
          </a:p>
          <a:p>
            <a:pPr marL="0" indent="0" algn="ctr">
              <a:buNone/>
            </a:pPr>
            <a:r>
              <a:rPr sz="650" b="0" lang="en-US" dirty="0">
                <a:solidFill>
                  <a:srgbClr val="5B6B70"/>
                </a:solidFill>
                <a:latin typeface="Yu Gothic" pitchFamily="34" charset="0"/>
                <a:ea typeface="Yu Gothic" pitchFamily="34" charset="-122"/>
                <a:cs typeface="Yu Gothic" pitchFamily="34" charset="-120"/>
              </a:rPr>
              <a:t>（GTN／リベート管理）</a:t>
            </a:r>
          </a:p>
        </p:txBody>
      </p:sp>
      <p:sp>
        <p:nvSpPr>
          <p:cNvPr id="26" name="Rounded Rectangle 25"/>
          <p:cNvSpPr/>
          <p:nvPr/>
        </p:nvSpPr>
        <p:spPr>
          <a:xfrm>
            <a:off x="621792" y="5180076"/>
            <a:ext cx="2078736" cy="182880"/>
          </a:xfrm>
          <a:prstGeom prst="roundRect">
            <a:avLst>
              <a:gd name="adj" fmla="val 50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180076"/>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販促資材審査（MLRレビュー）</a:t>
            </a:r>
          </a:p>
        </p:txBody>
      </p:sp>
      <p:sp>
        <p:nvSpPr>
          <p:cNvPr id="28" name="Chevron 27"/>
          <p:cNvSpPr/>
          <p:nvPr/>
        </p:nvSpPr>
        <p:spPr>
          <a:xfrm rot="5400000">
            <a:off x="1601724" y="1764791"/>
            <a:ext cx="118872" cy="310896"/>
          </a:xfrm>
          <a:prstGeom prst="chevron">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hevron 28"/>
          <p:cNvSpPr/>
          <p:nvPr/>
        </p:nvSpPr>
        <p:spPr>
          <a:xfrm rot="5400000">
            <a:off x="1601724" y="5765292"/>
            <a:ext cx="118872" cy="310896"/>
          </a:xfrm>
          <a:prstGeom prst="chevron">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956560" y="1984248"/>
            <a:ext cx="2407920" cy="3867912"/>
          </a:xfrm>
          <a:prstGeom prst="roundRect">
            <a:avLst>
              <a:gd name="adj" fmla="val 3000"/>
            </a:avLst>
          </a:prstGeom>
          <a:solidFill>
            <a:srgbClr val="EEECF7"/>
          </a:solidFill>
          <a:ln w="19050">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56560" y="2039112"/>
            <a:ext cx="2407920" cy="274320"/>
          </a:xfrm>
          <a:prstGeom prst="rect">
            <a:avLst/>
          </a:prstGeom>
          <a:noFill/>
        </p:spPr>
        <p:txBody>
          <a:bodyPr wrap="square" lIns="0" rIns="0" tIns="0" bIns="0" anchor="ctr" rtlCol="0"/>
          <a:lstStyle/>
          <a:p>
            <a:pPr marL="0" indent="0" algn="ctr">
              <a:buNone/>
            </a:pPr>
            <a:r>
              <a:rPr sz="1250" b="1" lang="en-US" dirty="0">
                <a:solidFill>
                  <a:srgbClr val="4A3AA7"/>
                </a:solidFill>
                <a:latin typeface="Yu Gothic" pitchFamily="34" charset="0"/>
                <a:ea typeface="Yu Gothic" pitchFamily="34" charset="-122"/>
                <a:cs typeface="Yu Gothic" pitchFamily="34" charset="-120"/>
              </a:rPr>
              <a:t>Regulatory &amp; Quality</a:t>
            </a:r>
          </a:p>
        </p:txBody>
      </p:sp>
      <p:sp>
        <p:nvSpPr>
          <p:cNvPr id="32" name="Rounded Rectangle 31"/>
          <p:cNvSpPr/>
          <p:nvPr/>
        </p:nvSpPr>
        <p:spPr>
          <a:xfrm>
            <a:off x="3029712" y="2368296"/>
            <a:ext cx="2261616" cy="1328928"/>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29712" y="2433828"/>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薬事</a:t>
            </a:r>
          </a:p>
        </p:txBody>
      </p:sp>
      <p:sp>
        <p:nvSpPr>
          <p:cNvPr id="34" name="Rounded Rectangle 33"/>
          <p:cNvSpPr/>
          <p:nvPr/>
        </p:nvSpPr>
        <p:spPr>
          <a:xfrm>
            <a:off x="3121152" y="2726436"/>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121152" y="2726436"/>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薬事情報管理（RIM）</a:t>
            </a:r>
          </a:p>
        </p:txBody>
      </p:sp>
      <p:sp>
        <p:nvSpPr>
          <p:cNvPr id="36" name="Rounded Rectangle 35"/>
          <p:cNvSpPr/>
          <p:nvPr/>
        </p:nvSpPr>
        <p:spPr>
          <a:xfrm>
            <a:off x="3121152" y="2936748"/>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21152" y="2936748"/>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申請出版（eCTD出版）</a:t>
            </a:r>
          </a:p>
        </p:txBody>
      </p:sp>
      <p:sp>
        <p:nvSpPr>
          <p:cNvPr id="38" name="Rounded Rectangle 37"/>
          <p:cNvSpPr/>
          <p:nvPr/>
        </p:nvSpPr>
        <p:spPr>
          <a:xfrm>
            <a:off x="3121152" y="3147060"/>
            <a:ext cx="2078736" cy="274320"/>
          </a:xfrm>
          <a:prstGeom prst="roundRect">
            <a:avLst>
              <a:gd name="adj" fmla="val 35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66872" y="3147060"/>
            <a:ext cx="1987296"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ラベル・アートワーク管理</a:t>
            </a:r>
          </a:p>
          <a:p>
            <a:pPr marL="0" indent="0" algn="ctr">
              <a:buNone/>
            </a:pPr>
            <a:r>
              <a:rPr sz="650" b="0" lang="en-US" dirty="0">
                <a:solidFill>
                  <a:srgbClr val="5B6B70"/>
                </a:solidFill>
                <a:latin typeface="Yu Gothic" pitchFamily="34" charset="0"/>
                <a:ea typeface="Yu Gothic" pitchFamily="34" charset="-122"/>
                <a:cs typeface="Yu Gothic" pitchFamily="34" charset="-120"/>
              </a:rPr>
              <a:t>（アートワーク管理）</a:t>
            </a:r>
          </a:p>
        </p:txBody>
      </p:sp>
      <p:sp>
        <p:nvSpPr>
          <p:cNvPr id="40" name="Rounded Rectangle 39"/>
          <p:cNvSpPr/>
          <p:nvPr/>
        </p:nvSpPr>
        <p:spPr>
          <a:xfrm>
            <a:off x="3121152" y="3448812"/>
            <a:ext cx="2078736" cy="182880"/>
          </a:xfrm>
          <a:prstGeom prst="roundRect">
            <a:avLst>
              <a:gd name="adj" fmla="val 50000"/>
            </a:avLst>
          </a:prstGeom>
          <a:solidFill>
            <a:srgbClr val="E4EAEC"/>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121152" y="3448812"/>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GxP文書管理（eDMS）</a:t>
            </a:r>
          </a:p>
        </p:txBody>
      </p:sp>
      <p:sp>
        <p:nvSpPr>
          <p:cNvPr id="42" name="Rounded Rectangle 41"/>
          <p:cNvSpPr/>
          <p:nvPr/>
        </p:nvSpPr>
        <p:spPr>
          <a:xfrm>
            <a:off x="3029712" y="3770375"/>
            <a:ext cx="2261616" cy="1118616"/>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029712" y="3835908"/>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品質</a:t>
            </a:r>
          </a:p>
        </p:txBody>
      </p:sp>
      <p:sp>
        <p:nvSpPr>
          <p:cNvPr id="44" name="Rounded Rectangle 43"/>
          <p:cNvSpPr/>
          <p:nvPr/>
        </p:nvSpPr>
        <p:spPr>
          <a:xfrm>
            <a:off x="3121152" y="4128516"/>
            <a:ext cx="2078736" cy="182880"/>
          </a:xfrm>
          <a:prstGeom prst="roundRect">
            <a:avLst>
              <a:gd name="adj" fmla="val 50000"/>
            </a:avLst>
          </a:prstGeom>
          <a:solidFill>
            <a:srgbClr val="E4EAEC"/>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121152" y="4128516"/>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品質マネジメントシステム（eQMS）</a:t>
            </a:r>
          </a:p>
        </p:txBody>
      </p:sp>
      <p:sp>
        <p:nvSpPr>
          <p:cNvPr id="46" name="Rounded Rectangle 45"/>
          <p:cNvSpPr/>
          <p:nvPr/>
        </p:nvSpPr>
        <p:spPr>
          <a:xfrm>
            <a:off x="3121152" y="4338828"/>
            <a:ext cx="2078736" cy="274320"/>
          </a:xfrm>
          <a:prstGeom prst="roundRect">
            <a:avLst>
              <a:gd name="adj" fmla="val 35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166872" y="4338828"/>
            <a:ext cx="1987296"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バリデーション管理</a:t>
            </a:r>
          </a:p>
          <a:p>
            <a:pPr marL="0" indent="0" algn="ctr">
              <a:buNone/>
            </a:pPr>
            <a:r>
              <a:rPr sz="650" b="0" lang="en-US" dirty="0">
                <a:solidFill>
                  <a:srgbClr val="5B6B70"/>
                </a:solidFill>
                <a:latin typeface="Yu Gothic" pitchFamily="34" charset="0"/>
                <a:ea typeface="Yu Gothic" pitchFamily="34" charset="-122"/>
                <a:cs typeface="Yu Gothic" pitchFamily="34" charset="-120"/>
              </a:rPr>
              <a:t>（バリデーションライフサイクル管理）</a:t>
            </a:r>
          </a:p>
        </p:txBody>
      </p:sp>
      <p:sp>
        <p:nvSpPr>
          <p:cNvPr id="48" name="Rounded Rectangle 47"/>
          <p:cNvSpPr/>
          <p:nvPr/>
        </p:nvSpPr>
        <p:spPr>
          <a:xfrm>
            <a:off x="3121152" y="4640580"/>
            <a:ext cx="2078736" cy="182880"/>
          </a:xfrm>
          <a:prstGeom prst="roundRect">
            <a:avLst>
              <a:gd name="adj" fmla="val 50000"/>
            </a:avLst>
          </a:prstGeom>
          <a:solidFill>
            <a:srgbClr val="E4EAEC"/>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121152" y="4640580"/>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試験室情報管理（LIMS）</a:t>
            </a:r>
          </a:p>
        </p:txBody>
      </p:sp>
      <p:sp>
        <p:nvSpPr>
          <p:cNvPr id="50" name="Rounded Rectangle 49"/>
          <p:cNvSpPr/>
          <p:nvPr/>
        </p:nvSpPr>
        <p:spPr>
          <a:xfrm>
            <a:off x="3029712" y="4962144"/>
            <a:ext cx="2261616" cy="816864"/>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029712" y="5027676"/>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ファーマコビジランス（安全性）</a:t>
            </a:r>
          </a:p>
        </p:txBody>
      </p:sp>
      <p:sp>
        <p:nvSpPr>
          <p:cNvPr id="52" name="Rounded Rectangle 51"/>
          <p:cNvSpPr/>
          <p:nvPr/>
        </p:nvSpPr>
        <p:spPr>
          <a:xfrm>
            <a:off x="3121152" y="5320284"/>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121152" y="5320284"/>
            <a:ext cx="2078736" cy="182880"/>
          </a:xfrm>
          <a:prstGeom prst="rect">
            <a:avLst/>
          </a:prstGeom>
          <a:noFill/>
        </p:spPr>
        <p:txBody>
          <a:bodyPr wrap="square" lIns="0" rIns="0" tIns="0" bIns="0" anchor="ctr" rtlCol="0"/>
          <a:lstStyle/>
          <a:p>
            <a:pPr marL="0" indent="0" algn="ctr">
              <a:buNone/>
            </a:pPr>
            <a:r>
              <a:rPr sz="650" b="0" lang="en-US" dirty="0">
                <a:solidFill>
                  <a:srgbClr val="1F2E35"/>
                </a:solidFill>
                <a:latin typeface="Yu Gothic" pitchFamily="34" charset="0"/>
                <a:ea typeface="Yu Gothic" pitchFamily="34" charset="-122"/>
                <a:cs typeface="Yu Gothic" pitchFamily="34" charset="-120"/>
              </a:rPr>
              <a:t>安全性データベース（安全性DB（ICSR））</a:t>
            </a:r>
          </a:p>
        </p:txBody>
      </p:sp>
      <p:sp>
        <p:nvSpPr>
          <p:cNvPr id="54" name="Rounded Rectangle 53"/>
          <p:cNvSpPr/>
          <p:nvPr/>
        </p:nvSpPr>
        <p:spPr>
          <a:xfrm>
            <a:off x="3121152" y="5530596"/>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121152" y="5530596"/>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シグナル検出（シグナル管理）</a:t>
            </a:r>
          </a:p>
        </p:txBody>
      </p:sp>
      <p:sp>
        <p:nvSpPr>
          <p:cNvPr id="56" name="Chevron 55"/>
          <p:cNvSpPr/>
          <p:nvPr/>
        </p:nvSpPr>
        <p:spPr>
          <a:xfrm rot="5400000">
            <a:off x="4101083" y="1764791"/>
            <a:ext cx="118872" cy="310896"/>
          </a:xfrm>
          <a:prstGeom prst="chevron">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hevron 56"/>
          <p:cNvSpPr/>
          <p:nvPr/>
        </p:nvSpPr>
        <p:spPr>
          <a:xfrm rot="5400000">
            <a:off x="4101083" y="5765292"/>
            <a:ext cx="118872" cy="310896"/>
          </a:xfrm>
          <a:prstGeom prst="chevron">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455920" y="1984248"/>
            <a:ext cx="2407920" cy="3867912"/>
          </a:xfrm>
          <a:prstGeom prst="roundRect">
            <a:avLst>
              <a:gd name="adj" fmla="val 3000"/>
            </a:avLst>
          </a:prstGeom>
          <a:solidFill>
            <a:srgbClr val="E6F6F0"/>
          </a:solidFill>
          <a:ln w="19050">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55920" y="2039112"/>
            <a:ext cx="2407920" cy="274320"/>
          </a:xfrm>
          <a:prstGeom prst="rect">
            <a:avLst/>
          </a:prstGeom>
          <a:noFill/>
        </p:spPr>
        <p:txBody>
          <a:bodyPr wrap="square" lIns="0" rIns="0" tIns="0" bIns="0" anchor="ctr" rtlCol="0"/>
          <a:lstStyle/>
          <a:p>
            <a:pPr marL="0" indent="0" algn="ctr">
              <a:buNone/>
            </a:pPr>
            <a:r>
              <a:rPr sz="1250" b="1" lang="en-US" dirty="0">
                <a:solidFill>
                  <a:srgbClr val="0E7A52"/>
                </a:solidFill>
                <a:latin typeface="Yu Gothic" pitchFamily="34" charset="0"/>
                <a:ea typeface="Yu Gothic" pitchFamily="34" charset="-122"/>
                <a:cs typeface="Yu Gothic" pitchFamily="34" charset="-120"/>
              </a:rPr>
              <a:t>Supply Chain &amp; Mfg</a:t>
            </a:r>
          </a:p>
        </p:txBody>
      </p:sp>
      <p:sp>
        <p:nvSpPr>
          <p:cNvPr id="60" name="Rounded Rectangle 59"/>
          <p:cNvSpPr/>
          <p:nvPr/>
        </p:nvSpPr>
        <p:spPr>
          <a:xfrm>
            <a:off x="5529072" y="2368296"/>
            <a:ext cx="2261616" cy="1517904"/>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529072" y="2528316"/>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製造</a:t>
            </a:r>
          </a:p>
        </p:txBody>
      </p:sp>
      <p:sp>
        <p:nvSpPr>
          <p:cNvPr id="62" name="Rounded Rectangle 61"/>
          <p:cNvSpPr/>
          <p:nvPr/>
        </p:nvSpPr>
        <p:spPr>
          <a:xfrm>
            <a:off x="5620512" y="2820924"/>
            <a:ext cx="2078736" cy="274320"/>
          </a:xfrm>
          <a:prstGeom prst="roundRect">
            <a:avLst>
              <a:gd name="adj" fmla="val 35000"/>
            </a:avLst>
          </a:prstGeom>
          <a:solidFill>
            <a:srgbClr val="E4EAEC"/>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666232" y="2820924"/>
            <a:ext cx="1987296"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製造実行システム</a:t>
            </a:r>
          </a:p>
          <a:p>
            <a:pPr marL="0" indent="0" algn="ctr">
              <a:buNone/>
            </a:pPr>
            <a:r>
              <a:rPr sz="650" b="0" lang="en-US" dirty="0">
                <a:solidFill>
                  <a:srgbClr val="5B6B70"/>
                </a:solidFill>
                <a:latin typeface="Yu Gothic" pitchFamily="34" charset="0"/>
                <a:ea typeface="Yu Gothic" pitchFamily="34" charset="-122"/>
                <a:cs typeface="Yu Gothic" pitchFamily="34" charset="-120"/>
              </a:rPr>
              <a:t>（MES（電子バッチ記録））</a:t>
            </a:r>
          </a:p>
        </p:txBody>
      </p:sp>
      <p:sp>
        <p:nvSpPr>
          <p:cNvPr id="64" name="Rounded Rectangle 63"/>
          <p:cNvSpPr/>
          <p:nvPr/>
        </p:nvSpPr>
        <p:spPr>
          <a:xfrm>
            <a:off x="5620512" y="3122676"/>
            <a:ext cx="2078736"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20512" y="3122676"/>
            <a:ext cx="2078736" cy="18288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工程データ管理（プロセスヒストリアン）</a:t>
            </a:r>
          </a:p>
        </p:txBody>
      </p:sp>
      <p:sp>
        <p:nvSpPr>
          <p:cNvPr id="66" name="Rounded Rectangle 65"/>
          <p:cNvSpPr/>
          <p:nvPr/>
        </p:nvSpPr>
        <p:spPr>
          <a:xfrm>
            <a:off x="5620512" y="3332988"/>
            <a:ext cx="2078736"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620512" y="3332988"/>
            <a:ext cx="2078736" cy="182880"/>
          </a:xfrm>
          <a:prstGeom prst="rect">
            <a:avLst/>
          </a:prstGeom>
          <a:noFill/>
        </p:spPr>
        <p:txBody>
          <a:bodyPr wrap="square" lIns="0" rIns="0" tIns="0" bIns="0" anchor="ctr" rtlCol="0"/>
          <a:lstStyle/>
          <a:p>
            <a:pPr marL="0" indent="0" algn="ctr">
              <a:buNone/>
            </a:pPr>
            <a:r>
              <a:rPr sz="650" b="0" lang="en-US" dirty="0">
                <a:solidFill>
                  <a:srgbClr val="1F2E35"/>
                </a:solidFill>
                <a:latin typeface="Yu Gothic" pitchFamily="34" charset="0"/>
                <a:ea typeface="Yu Gothic" pitchFamily="34" charset="-122"/>
                <a:cs typeface="Yu Gothic" pitchFamily="34" charset="-120"/>
              </a:rPr>
              <a:t>設備・環境管理（CMMS／環境モニタリング）</a:t>
            </a:r>
          </a:p>
        </p:txBody>
      </p:sp>
      <p:sp>
        <p:nvSpPr>
          <p:cNvPr id="68" name="Rounded Rectangle 67"/>
          <p:cNvSpPr/>
          <p:nvPr/>
        </p:nvSpPr>
        <p:spPr>
          <a:xfrm>
            <a:off x="5620512" y="3543300"/>
            <a:ext cx="2078736" cy="182880"/>
          </a:xfrm>
          <a:prstGeom prst="roundRect">
            <a:avLst>
              <a:gd name="adj" fmla="val 50000"/>
            </a:avLst>
          </a:prstGeom>
          <a:solidFill>
            <a:srgbClr val="E4EAEC"/>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620512" y="3543300"/>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ERP</a:t>
            </a:r>
          </a:p>
        </p:txBody>
      </p:sp>
      <p:sp>
        <p:nvSpPr>
          <p:cNvPr id="70" name="Rounded Rectangle 69"/>
          <p:cNvSpPr/>
          <p:nvPr/>
        </p:nvSpPr>
        <p:spPr>
          <a:xfrm>
            <a:off x="5529072" y="3959352"/>
            <a:ext cx="2261616" cy="1819656"/>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529072" y="4119372"/>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サプライチェーン</a:t>
            </a:r>
          </a:p>
        </p:txBody>
      </p:sp>
      <p:sp>
        <p:nvSpPr>
          <p:cNvPr id="72" name="Rounded Rectangle 71"/>
          <p:cNvSpPr/>
          <p:nvPr/>
        </p:nvSpPr>
        <p:spPr>
          <a:xfrm>
            <a:off x="5620512" y="4411980"/>
            <a:ext cx="2078736" cy="182880"/>
          </a:xfrm>
          <a:prstGeom prst="roundRect">
            <a:avLst>
              <a:gd name="adj" fmla="val 50000"/>
            </a:avLst>
          </a:prstGeom>
          <a:solidFill>
            <a:srgbClr val="E4EAEC"/>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620512" y="4411980"/>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品質マネジメントシステム（eQMS）</a:t>
            </a:r>
          </a:p>
        </p:txBody>
      </p:sp>
      <p:sp>
        <p:nvSpPr>
          <p:cNvPr id="74" name="Rounded Rectangle 73"/>
          <p:cNvSpPr/>
          <p:nvPr/>
        </p:nvSpPr>
        <p:spPr>
          <a:xfrm>
            <a:off x="5620512" y="4622292"/>
            <a:ext cx="2078736"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620512" y="4622292"/>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需給計画（APS／S&amp;OP）</a:t>
            </a:r>
          </a:p>
        </p:txBody>
      </p:sp>
      <p:sp>
        <p:nvSpPr>
          <p:cNvPr id="76" name="Rounded Rectangle 75"/>
          <p:cNvSpPr/>
          <p:nvPr/>
        </p:nvSpPr>
        <p:spPr>
          <a:xfrm>
            <a:off x="5620512" y="4832604"/>
            <a:ext cx="2078736" cy="274320"/>
          </a:xfrm>
          <a:prstGeom prst="roundRect">
            <a:avLst>
              <a:gd name="adj" fmla="val 35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666232" y="4832604"/>
            <a:ext cx="1987296"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倉庫・物流管理</a:t>
            </a:r>
          </a:p>
          <a:p>
            <a:pPr marL="0" indent="0" algn="ctr">
              <a:buNone/>
            </a:pPr>
            <a:r>
              <a:rPr sz="650" b="0" lang="en-US" dirty="0">
                <a:solidFill>
                  <a:srgbClr val="5B6B70"/>
                </a:solidFill>
                <a:latin typeface="Yu Gothic" pitchFamily="34" charset="0"/>
                <a:ea typeface="Yu Gothic" pitchFamily="34" charset="-122"/>
                <a:cs typeface="Yu Gothic" pitchFamily="34" charset="-120"/>
              </a:rPr>
              <a:t>（WMS／TMS（温度監視含む））</a:t>
            </a:r>
          </a:p>
        </p:txBody>
      </p:sp>
      <p:sp>
        <p:nvSpPr>
          <p:cNvPr id="78" name="Rounded Rectangle 77"/>
          <p:cNvSpPr/>
          <p:nvPr/>
        </p:nvSpPr>
        <p:spPr>
          <a:xfrm>
            <a:off x="5620512" y="5134356"/>
            <a:ext cx="2078736" cy="274320"/>
          </a:xfrm>
          <a:prstGeom prst="roundRect">
            <a:avLst>
              <a:gd name="adj" fmla="val 35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666232" y="5134356"/>
            <a:ext cx="1987296"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シリアライゼーション</a:t>
            </a:r>
          </a:p>
          <a:p>
            <a:pPr marL="0" indent="0" algn="ctr">
              <a:buNone/>
            </a:pPr>
            <a:r>
              <a:rPr sz="650" b="0" lang="en-US" dirty="0">
                <a:solidFill>
                  <a:srgbClr val="5B6B70"/>
                </a:solidFill>
                <a:latin typeface="Yu Gothic" pitchFamily="34" charset="0"/>
                <a:ea typeface="Yu Gothic" pitchFamily="34" charset="-122"/>
                <a:cs typeface="Yu Gothic" pitchFamily="34" charset="-120"/>
              </a:rPr>
              <a:t>（DSCSA対応システム）</a:t>
            </a:r>
          </a:p>
        </p:txBody>
      </p:sp>
      <p:sp>
        <p:nvSpPr>
          <p:cNvPr id="80" name="Rounded Rectangle 79"/>
          <p:cNvSpPr/>
          <p:nvPr/>
        </p:nvSpPr>
        <p:spPr>
          <a:xfrm>
            <a:off x="5620512" y="5436108"/>
            <a:ext cx="2078736" cy="182880"/>
          </a:xfrm>
          <a:prstGeom prst="roundRect">
            <a:avLst>
              <a:gd name="adj" fmla="val 50000"/>
            </a:avLst>
          </a:prstGeom>
          <a:solidFill>
            <a:srgbClr val="E4EAEC"/>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620512" y="5436108"/>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ERP</a:t>
            </a:r>
          </a:p>
        </p:txBody>
      </p:sp>
      <p:sp>
        <p:nvSpPr>
          <p:cNvPr id="82" name="Chevron 81"/>
          <p:cNvSpPr/>
          <p:nvPr/>
        </p:nvSpPr>
        <p:spPr>
          <a:xfrm rot="5400000">
            <a:off x="6600444" y="1764791"/>
            <a:ext cx="118872" cy="310896"/>
          </a:xfrm>
          <a:prstGeom prst="chevron">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Chevron 82"/>
          <p:cNvSpPr/>
          <p:nvPr/>
        </p:nvSpPr>
        <p:spPr>
          <a:xfrm rot="5400000">
            <a:off x="6600444" y="5765292"/>
            <a:ext cx="118872" cy="310896"/>
          </a:xfrm>
          <a:prstGeom prst="chevron">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8001000" y="1325880"/>
            <a:ext cx="3730752" cy="4526280"/>
          </a:xfrm>
          <a:prstGeom prst="roundRect">
            <a:avLst>
              <a:gd name="adj" fmla="val 3000"/>
            </a:avLst>
          </a:prstGeom>
          <a:solidFill>
            <a:srgbClr val="E8F1FB"/>
          </a:solidFill>
          <a:ln w="1905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001000" y="1380744"/>
            <a:ext cx="3730752" cy="274320"/>
          </a:xfrm>
          <a:prstGeom prst="rect">
            <a:avLst/>
          </a:prstGeom>
          <a:noFill/>
        </p:spPr>
        <p:txBody>
          <a:bodyPr wrap="square" lIns="0" rIns="0" tIns="0" bIns="0" anchor="ctr" rtlCol="0"/>
          <a:lstStyle/>
          <a:p>
            <a:pPr marL="0" indent="0" algn="ctr">
              <a:buNone/>
            </a:pPr>
            <a:r>
              <a:rPr sz="1250" b="1" lang="en-US" dirty="0">
                <a:solidFill>
                  <a:srgbClr val="2A78D6"/>
                </a:solidFill>
                <a:latin typeface="Yu Gothic" pitchFamily="34" charset="0"/>
                <a:ea typeface="Yu Gothic" pitchFamily="34" charset="-122"/>
                <a:cs typeface="Yu Gothic" pitchFamily="34" charset="-120"/>
              </a:rPr>
              <a:t>R&amp;D Engine</a:t>
            </a:r>
          </a:p>
        </p:txBody>
      </p:sp>
      <p:sp>
        <p:nvSpPr>
          <p:cNvPr id="86" name="Rounded Rectangle 85"/>
          <p:cNvSpPr/>
          <p:nvPr/>
        </p:nvSpPr>
        <p:spPr>
          <a:xfrm>
            <a:off x="8074152" y="1709928"/>
            <a:ext cx="3584448" cy="880109"/>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074152" y="1715642"/>
            <a:ext cx="3584448"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研究（創薬）</a:t>
            </a:r>
          </a:p>
        </p:txBody>
      </p:sp>
      <p:sp>
        <p:nvSpPr>
          <p:cNvPr id="88" name="Rounded Rectangle 87"/>
          <p:cNvSpPr/>
          <p:nvPr/>
        </p:nvSpPr>
        <p:spPr>
          <a:xfrm>
            <a:off x="8165592" y="2008250"/>
            <a:ext cx="1673352" cy="274320"/>
          </a:xfrm>
          <a:prstGeom prst="roundRect">
            <a:avLst>
              <a:gd name="adj" fmla="val 35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165592" y="2008250"/>
            <a:ext cx="1673352" cy="27432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電子実験ノート（ELN）</a:t>
            </a:r>
          </a:p>
        </p:txBody>
      </p:sp>
      <p:sp>
        <p:nvSpPr>
          <p:cNvPr id="90" name="Rounded Rectangle 89"/>
          <p:cNvSpPr/>
          <p:nvPr/>
        </p:nvSpPr>
        <p:spPr>
          <a:xfrm>
            <a:off x="9893808" y="2008250"/>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939528" y="2008250"/>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生物学的物質登録</a:t>
            </a:r>
          </a:p>
          <a:p>
            <a:pPr marL="0" indent="0" algn="ctr">
              <a:buNone/>
            </a:pPr>
            <a:r>
              <a:rPr sz="650" b="0" lang="en-US" dirty="0">
                <a:solidFill>
                  <a:srgbClr val="5B6B70"/>
                </a:solidFill>
                <a:latin typeface="Yu Gothic" pitchFamily="34" charset="0"/>
                <a:ea typeface="Yu Gothic" pitchFamily="34" charset="-122"/>
                <a:cs typeface="Yu Gothic" pitchFamily="34" charset="-120"/>
              </a:rPr>
              <a:t>（バイオレジストリ）</a:t>
            </a:r>
          </a:p>
        </p:txBody>
      </p:sp>
      <p:sp>
        <p:nvSpPr>
          <p:cNvPr id="92" name="Rounded Rectangle 91"/>
          <p:cNvSpPr/>
          <p:nvPr/>
        </p:nvSpPr>
        <p:spPr>
          <a:xfrm>
            <a:off x="8165592" y="2310002"/>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211312" y="2310002"/>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科学データ解析基盤</a:t>
            </a:r>
          </a:p>
          <a:p>
            <a:pPr marL="0" indent="0" algn="ctr">
              <a:buNone/>
            </a:pPr>
            <a:r>
              <a:rPr sz="650" b="0" lang="en-US" dirty="0">
                <a:solidFill>
                  <a:srgbClr val="5B6B70"/>
                </a:solidFill>
                <a:latin typeface="Yu Gothic" pitchFamily="34" charset="0"/>
                <a:ea typeface="Yu Gothic" pitchFamily="34" charset="-122"/>
                <a:cs typeface="Yu Gothic" pitchFamily="34" charset="-120"/>
              </a:rPr>
              <a:t>（バイオインフォマティクス基盤）</a:t>
            </a:r>
          </a:p>
        </p:txBody>
      </p:sp>
      <p:sp>
        <p:nvSpPr>
          <p:cNvPr id="94" name="Rounded Rectangle 93"/>
          <p:cNvSpPr/>
          <p:nvPr/>
        </p:nvSpPr>
        <p:spPr>
          <a:xfrm>
            <a:off x="8074152" y="2663189"/>
            <a:ext cx="3584448" cy="78867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074152" y="2668904"/>
            <a:ext cx="3584448"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非臨床・臨床薬理</a:t>
            </a:r>
          </a:p>
        </p:txBody>
      </p:sp>
      <p:sp>
        <p:nvSpPr>
          <p:cNvPr id="96" name="Rounded Rectangle 95"/>
          <p:cNvSpPr/>
          <p:nvPr/>
        </p:nvSpPr>
        <p:spPr>
          <a:xfrm>
            <a:off x="8165592" y="2961512"/>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211312" y="2961512"/>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非臨床試験管理</a:t>
            </a:r>
          </a:p>
          <a:p>
            <a:pPr marL="0" indent="0" algn="ctr">
              <a:buNone/>
            </a:pPr>
            <a:r>
              <a:rPr sz="650" b="0" lang="en-US" dirty="0">
                <a:solidFill>
                  <a:srgbClr val="5B6B70"/>
                </a:solidFill>
                <a:latin typeface="Yu Gothic" pitchFamily="34" charset="0"/>
                <a:ea typeface="Yu Gothic" pitchFamily="34" charset="-122"/>
                <a:cs typeface="Yu Gothic" pitchFamily="34" charset="-120"/>
              </a:rPr>
              <a:t>（毒性試験管理（SEND対応））</a:t>
            </a:r>
          </a:p>
        </p:txBody>
      </p:sp>
      <p:sp>
        <p:nvSpPr>
          <p:cNvPr id="98" name="Rounded Rectangle 97"/>
          <p:cNvSpPr/>
          <p:nvPr/>
        </p:nvSpPr>
        <p:spPr>
          <a:xfrm>
            <a:off x="9893808" y="2961512"/>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9939528" y="2961512"/>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PK/PD解析・モデリング</a:t>
            </a:r>
          </a:p>
          <a:p>
            <a:pPr marL="0" indent="0" algn="ctr">
              <a:buNone/>
            </a:pPr>
            <a:r>
              <a:rPr sz="650" b="0" lang="en-US" dirty="0">
                <a:solidFill>
                  <a:srgbClr val="5B6B70"/>
                </a:solidFill>
                <a:latin typeface="Yu Gothic" pitchFamily="34" charset="0"/>
                <a:ea typeface="Yu Gothic" pitchFamily="34" charset="-122"/>
                <a:cs typeface="Yu Gothic" pitchFamily="34" charset="-120"/>
              </a:rPr>
              <a:t>（ファーマコメトリクス環境）</a:t>
            </a:r>
          </a:p>
        </p:txBody>
      </p:sp>
      <p:sp>
        <p:nvSpPr>
          <p:cNvPr id="100" name="Rounded Rectangle 99"/>
          <p:cNvSpPr/>
          <p:nvPr/>
        </p:nvSpPr>
        <p:spPr>
          <a:xfrm>
            <a:off x="8165592" y="3263264"/>
            <a:ext cx="1673352" cy="182880"/>
          </a:xfrm>
          <a:prstGeom prst="roundRect">
            <a:avLst>
              <a:gd name="adj" fmla="val 50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165592" y="3263264"/>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試験室情報管理（LIMS）</a:t>
            </a:r>
          </a:p>
        </p:txBody>
      </p:sp>
      <p:sp>
        <p:nvSpPr>
          <p:cNvPr id="102" name="Rounded Rectangle 101"/>
          <p:cNvSpPr/>
          <p:nvPr/>
        </p:nvSpPr>
        <p:spPr>
          <a:xfrm>
            <a:off x="8074152" y="3525011"/>
            <a:ext cx="3584448" cy="78867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074152" y="3530726"/>
            <a:ext cx="3584448"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CMC開発</a:t>
            </a:r>
          </a:p>
        </p:txBody>
      </p:sp>
      <p:sp>
        <p:nvSpPr>
          <p:cNvPr id="104" name="Rounded Rectangle 103"/>
          <p:cNvSpPr/>
          <p:nvPr/>
        </p:nvSpPr>
        <p:spPr>
          <a:xfrm>
            <a:off x="8165592" y="3823334"/>
            <a:ext cx="1673352" cy="274320"/>
          </a:xfrm>
          <a:prstGeom prst="roundRect">
            <a:avLst>
              <a:gd name="adj" fmla="val 35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165592" y="3823334"/>
            <a:ext cx="1673352" cy="27432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電子実験ノート（ELN）</a:t>
            </a:r>
          </a:p>
        </p:txBody>
      </p:sp>
      <p:sp>
        <p:nvSpPr>
          <p:cNvPr id="106" name="Rounded Rectangle 105"/>
          <p:cNvSpPr/>
          <p:nvPr/>
        </p:nvSpPr>
        <p:spPr>
          <a:xfrm>
            <a:off x="9893808" y="3823334"/>
            <a:ext cx="1673352" cy="274320"/>
          </a:xfrm>
          <a:prstGeom prst="roundRect">
            <a:avLst>
              <a:gd name="adj" fmla="val 35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939528" y="3823334"/>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製造実行システム</a:t>
            </a:r>
          </a:p>
          <a:p>
            <a:pPr marL="0" indent="0" algn="ctr">
              <a:buNone/>
            </a:pPr>
            <a:r>
              <a:rPr sz="650" b="0" lang="en-US" dirty="0">
                <a:solidFill>
                  <a:srgbClr val="5B6B70"/>
                </a:solidFill>
                <a:latin typeface="Yu Gothic" pitchFamily="34" charset="0"/>
                <a:ea typeface="Yu Gothic" pitchFamily="34" charset="-122"/>
                <a:cs typeface="Yu Gothic" pitchFamily="34" charset="-120"/>
              </a:rPr>
              <a:t>（MES（電子バッチ記録））</a:t>
            </a:r>
          </a:p>
        </p:txBody>
      </p:sp>
      <p:sp>
        <p:nvSpPr>
          <p:cNvPr id="108" name="Rounded Rectangle 107"/>
          <p:cNvSpPr/>
          <p:nvPr/>
        </p:nvSpPr>
        <p:spPr>
          <a:xfrm>
            <a:off x="8165592" y="4125086"/>
            <a:ext cx="1673352" cy="182880"/>
          </a:xfrm>
          <a:prstGeom prst="roundRect">
            <a:avLst>
              <a:gd name="adj" fmla="val 50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165592" y="4125086"/>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試験室情報管理（LIMS）</a:t>
            </a:r>
          </a:p>
        </p:txBody>
      </p:sp>
      <p:sp>
        <p:nvSpPr>
          <p:cNvPr id="110" name="Rounded Rectangle 109"/>
          <p:cNvSpPr/>
          <p:nvPr/>
        </p:nvSpPr>
        <p:spPr>
          <a:xfrm>
            <a:off x="8074152" y="4386833"/>
            <a:ext cx="3584448" cy="1392174"/>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074152" y="4392548"/>
            <a:ext cx="3584448"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臨床開発</a:t>
            </a:r>
          </a:p>
        </p:txBody>
      </p:sp>
      <p:sp>
        <p:nvSpPr>
          <p:cNvPr id="112" name="Rounded Rectangle 111"/>
          <p:cNvSpPr/>
          <p:nvPr/>
        </p:nvSpPr>
        <p:spPr>
          <a:xfrm>
            <a:off x="8165592" y="4685156"/>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165592" y="4685156"/>
            <a:ext cx="1673352" cy="27432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臨床試験管理（CTMS）</a:t>
            </a:r>
          </a:p>
        </p:txBody>
      </p:sp>
      <p:sp>
        <p:nvSpPr>
          <p:cNvPr id="114" name="Rounded Rectangle 113"/>
          <p:cNvSpPr/>
          <p:nvPr/>
        </p:nvSpPr>
        <p:spPr>
          <a:xfrm>
            <a:off x="9893808" y="4685156"/>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939528" y="4685156"/>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臨床データ収集</a:t>
            </a:r>
          </a:p>
          <a:p>
            <a:pPr marL="0" indent="0" algn="ctr">
              <a:buNone/>
            </a:pPr>
            <a:r>
              <a:rPr sz="650" b="0" lang="en-US" dirty="0">
                <a:solidFill>
                  <a:srgbClr val="5B6B70"/>
                </a:solidFill>
                <a:latin typeface="Yu Gothic" pitchFamily="34" charset="0"/>
                <a:ea typeface="Yu Gothic" pitchFamily="34" charset="-122"/>
                <a:cs typeface="Yu Gothic" pitchFamily="34" charset="-120"/>
              </a:rPr>
              <a:t>（EDC（eCOA／ePRO含む））</a:t>
            </a:r>
          </a:p>
        </p:txBody>
      </p:sp>
      <p:sp>
        <p:nvSpPr>
          <p:cNvPr id="116" name="Rounded Rectangle 115"/>
          <p:cNvSpPr/>
          <p:nvPr/>
        </p:nvSpPr>
        <p:spPr>
          <a:xfrm>
            <a:off x="8165592" y="4986908"/>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165592" y="4986908"/>
            <a:ext cx="1673352" cy="27432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無作為化・治験薬供給（IRT）</a:t>
            </a:r>
          </a:p>
        </p:txBody>
      </p:sp>
      <p:sp>
        <p:nvSpPr>
          <p:cNvPr id="118" name="Rounded Rectangle 117"/>
          <p:cNvSpPr/>
          <p:nvPr/>
        </p:nvSpPr>
        <p:spPr>
          <a:xfrm>
            <a:off x="9893808" y="4986908"/>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939528" y="4986908"/>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電子治験マスターファイル</a:t>
            </a:r>
          </a:p>
          <a:p>
            <a:pPr marL="0" indent="0" algn="ctr">
              <a:buNone/>
            </a:pPr>
            <a:r>
              <a:rPr sz="650" b="0" lang="en-US" dirty="0">
                <a:solidFill>
                  <a:srgbClr val="5B6B70"/>
                </a:solidFill>
                <a:latin typeface="Yu Gothic" pitchFamily="34" charset="0"/>
                <a:ea typeface="Yu Gothic" pitchFamily="34" charset="-122"/>
                <a:cs typeface="Yu Gothic" pitchFamily="34" charset="-120"/>
              </a:rPr>
              <a:t>（eTMF）</a:t>
            </a:r>
          </a:p>
        </p:txBody>
      </p:sp>
      <p:sp>
        <p:nvSpPr>
          <p:cNvPr id="120" name="Rounded Rectangle 119"/>
          <p:cNvSpPr/>
          <p:nvPr/>
        </p:nvSpPr>
        <p:spPr>
          <a:xfrm>
            <a:off x="8165592" y="5288661"/>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8165592" y="5288661"/>
            <a:ext cx="1673352" cy="27432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統計解析環境（SCE）</a:t>
            </a:r>
          </a:p>
        </p:txBody>
      </p:sp>
      <p:sp>
        <p:nvSpPr>
          <p:cNvPr id="122" name="Rounded Rectangle 121"/>
          <p:cNvSpPr/>
          <p:nvPr/>
        </p:nvSpPr>
        <p:spPr>
          <a:xfrm>
            <a:off x="9893808" y="5288661"/>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9939528" y="5288661"/>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患者レジストリ・RWD基盤</a:t>
            </a:r>
          </a:p>
          <a:p>
            <a:pPr marL="0" indent="0" algn="ctr">
              <a:buNone/>
            </a:pPr>
            <a:r>
              <a:rPr sz="650" b="0" lang="en-US" dirty="0">
                <a:solidFill>
                  <a:srgbClr val="5B6B70"/>
                </a:solidFill>
                <a:latin typeface="Yu Gothic" pitchFamily="34" charset="0"/>
                <a:ea typeface="Yu Gothic" pitchFamily="34" charset="-122"/>
                <a:cs typeface="Yu Gothic" pitchFamily="34" charset="-120"/>
              </a:rPr>
              <a:t>（レジストリ／RWDプラットフォーム）</a:t>
            </a:r>
          </a:p>
        </p:txBody>
      </p:sp>
      <p:sp>
        <p:nvSpPr>
          <p:cNvPr id="124" name="Rounded Rectangle 123"/>
          <p:cNvSpPr/>
          <p:nvPr/>
        </p:nvSpPr>
        <p:spPr>
          <a:xfrm>
            <a:off x="8165592" y="5590413"/>
            <a:ext cx="1673352" cy="182880"/>
          </a:xfrm>
          <a:prstGeom prst="roundRect">
            <a:avLst>
              <a:gd name="adj" fmla="val 50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8165592" y="5590413"/>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GxP文書管理（eDMS）</a:t>
            </a:r>
          </a:p>
        </p:txBody>
      </p:sp>
      <p:sp>
        <p:nvSpPr>
          <p:cNvPr id="126" name="Chevron 125"/>
          <p:cNvSpPr/>
          <p:nvPr/>
        </p:nvSpPr>
        <p:spPr>
          <a:xfrm rot="5400000">
            <a:off x="9806940" y="5765292"/>
            <a:ext cx="118872" cy="310896"/>
          </a:xfrm>
          <a:prstGeom prst="chevron">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Chevron 126"/>
          <p:cNvSpPr/>
          <p:nvPr/>
        </p:nvSpPr>
        <p:spPr>
          <a:xfrm>
            <a:off x="7886699" y="1472184"/>
            <a:ext cx="91440" cy="237744"/>
          </a:xfrm>
          <a:prstGeom prst="chevron">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ounded Rectangle 127"/>
          <p:cNvSpPr/>
          <p:nvPr/>
        </p:nvSpPr>
        <p:spPr>
          <a:xfrm>
            <a:off x="457200" y="5989320"/>
            <a:ext cx="11274552" cy="566928"/>
          </a:xfrm>
          <a:prstGeom prst="roundRect">
            <a:avLst>
              <a:gd name="adj" fmla="val 8000"/>
            </a:avLst>
          </a:prstGeom>
          <a:solidFill>
            <a:srgbClr val="FFFFFF"/>
          </a:solidFill>
          <a:ln w="19050">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457200" y="6025896"/>
            <a:ext cx="11274552" cy="219456"/>
          </a:xfrm>
          <a:prstGeom prst="rect">
            <a:avLst/>
          </a:prstGeom>
          <a:noFill/>
        </p:spPr>
        <p:txBody>
          <a:bodyPr wrap="square" lIns="0" rIns="0" tIns="0" bIns="0" anchor="ctr" rtlCol="0"/>
          <a:lstStyle/>
          <a:p>
            <a:pPr marL="0" indent="0" algn="ctr">
              <a:buNone/>
            </a:pPr>
            <a:r>
              <a:rPr sz="1150" b="1" lang="en-US" dirty="0">
                <a:solidFill>
                  <a:srgbClr val="1F2E35"/>
                </a:solidFill>
                <a:latin typeface="Yu Gothic" pitchFamily="34" charset="0"/>
                <a:ea typeface="Yu Gothic" pitchFamily="34" charset="-122"/>
                <a:cs typeface="Yu Gothic" pitchFamily="34" charset="-120"/>
              </a:rPr>
              <a:t>共通基盤（Support / Foundation）</a:t>
            </a:r>
          </a:p>
        </p:txBody>
      </p:sp>
      <p:sp>
        <p:nvSpPr>
          <p:cNvPr id="130" name="Rounded Rectangle 129"/>
          <p:cNvSpPr/>
          <p:nvPr/>
        </p:nvSpPr>
        <p:spPr>
          <a:xfrm>
            <a:off x="1133855" y="6300216"/>
            <a:ext cx="237744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133855" y="6300216"/>
            <a:ext cx="237744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マスタデータ管理（MDM）</a:t>
            </a:r>
          </a:p>
        </p:txBody>
      </p:sp>
      <p:sp>
        <p:nvSpPr>
          <p:cNvPr id="132" name="Rounded Rectangle 131"/>
          <p:cNvSpPr/>
          <p:nvPr/>
        </p:nvSpPr>
        <p:spPr>
          <a:xfrm>
            <a:off x="3648456" y="6300216"/>
            <a:ext cx="2377440" cy="182880"/>
          </a:xfrm>
          <a:prstGeom prst="roundRect">
            <a:avLst>
              <a:gd name="adj" fmla="val 50000"/>
            </a:avLst>
          </a:prstGeom>
          <a:solidFill>
            <a:srgbClr val="E4EAEC"/>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3648456" y="6300216"/>
            <a:ext cx="237744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GxP文書管理（eDMS）</a:t>
            </a:r>
          </a:p>
        </p:txBody>
      </p:sp>
      <p:sp>
        <p:nvSpPr>
          <p:cNvPr id="134" name="Rounded Rectangle 133"/>
          <p:cNvSpPr/>
          <p:nvPr/>
        </p:nvSpPr>
        <p:spPr>
          <a:xfrm>
            <a:off x="6163056" y="6300216"/>
            <a:ext cx="237744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163056" y="6300216"/>
            <a:ext cx="237744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教育管理（LMS）</a:t>
            </a:r>
          </a:p>
        </p:txBody>
      </p:sp>
      <p:sp>
        <p:nvSpPr>
          <p:cNvPr id="136" name="Rounded Rectangle 135"/>
          <p:cNvSpPr/>
          <p:nvPr/>
        </p:nvSpPr>
        <p:spPr>
          <a:xfrm>
            <a:off x="8677656" y="6300216"/>
            <a:ext cx="237744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677656" y="6300216"/>
            <a:ext cx="2377440" cy="18288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データ・分析基盤（データレイク／DWH／BI）</a:t>
            </a:r>
          </a:p>
        </p:txBody>
      </p:sp>
      <p:sp>
        <p:nvSpPr>
          <p:cNvPr id="138" name="Rounded Rectangle 137"/>
          <p:cNvSpPr/>
          <p:nvPr/>
        </p:nvSpPr>
        <p:spPr>
          <a:xfrm>
            <a:off x="9098280" y="896112"/>
            <a:ext cx="411480" cy="164592"/>
          </a:xfrm>
          <a:prstGeom prst="roundRect">
            <a:avLst>
              <a:gd name="adj" fmla="val 50000"/>
            </a:avLst>
          </a:prstGeom>
          <a:solidFill>
            <a:srgbClr val="E4EAEC"/>
          </a:solidFill>
          <a:ln w="9525">
            <a:solidFill>
              <a:srgbClr val="5B6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9582912" y="868680"/>
            <a:ext cx="2148840" cy="219456"/>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複数の領域で使うアプリケーション</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anchor="t" lIns="0" rIns="0" tIns="0" bIns="0">
            <a:spAutoFit/>
          </a:bodyPr>
          <a:lstStyle/>
          <a:p>
            <a:pPr algn="l"/>
            <a:r>
              <a:rPr sz="2800" b="1">
                <a:solidFill>
                  <a:srgbClr val="1F2E35"/>
                </a:solidFill>
                <a:latin typeface="Yu Gothic"/>
                <a:ea typeface="Yu Gothic"/>
              </a:rPr>
              <a:t>複数の領域で使うアプリケーション</a:t>
            </a:r>
          </a:p>
        </p:txBody>
      </p:sp>
      <p:sp>
        <p:nvSpPr>
          <p:cNvPr id="3" name="TextBox 2"/>
          <p:cNvSpPr txBox="1"/>
          <p:nvPr/>
        </p:nvSpPr>
        <p:spPr>
          <a:xfrm>
            <a:off x="457200" y="841248"/>
            <a:ext cx="10058400" cy="320040"/>
          </a:xfrm>
          <a:prstGeom prst="rect">
            <a:avLst/>
          </a:prstGeom>
          <a:noFill/>
        </p:spPr>
        <p:txBody>
          <a:bodyPr wrap="square" anchor="t" lIns="0" rIns="0" tIns="0" bIns="0">
            <a:spAutoFit/>
          </a:bodyPr>
          <a:lstStyle/>
          <a:p>
            <a:pPr algn="l"/>
            <a:r>
              <a:rPr sz="1300" b="0">
                <a:solidFill>
                  <a:srgbClr val="5B6B70"/>
                </a:solidFill>
                <a:latin typeface="Yu Gothic"/>
                <a:ea typeface="Yu Gothic"/>
              </a:rPr>
              <a:t>7種類のアプリケーションが、複数の領域（ケイパビリティL1）の能力を支え、複数の段階（VS L2）にまたがって使われる</a:t>
            </a:r>
          </a:p>
        </p:txBody>
      </p:sp>
      <p:sp>
        <p:nvSpPr>
          <p:cNvPr id="4" name="Rectangle 3"/>
          <p:cNvSpPr/>
          <p:nvPr/>
        </p:nvSpPr>
        <p:spPr>
          <a:xfrm>
            <a:off x="5660136" y="1261872"/>
            <a:ext cx="3320288" cy="237744"/>
          </a:xfrm>
          <a:prstGeom prst="rect">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0136" y="1261872"/>
            <a:ext cx="3320288" cy="237744"/>
          </a:xfrm>
          <a:prstGeom prst="rect">
            <a:avLst/>
          </a:prstGeom>
          <a:noFill/>
        </p:spPr>
        <p:txBody>
          <a:bodyPr wrap="square" lIns="0" rIns="0" tIns="0" bIns="0" anchor="ctr" rtlCol="0"/>
          <a:lstStyle/>
          <a:p>
            <a:pPr marL="0" indent="0" algn="ctr">
              <a:buNone/>
            </a:pPr>
            <a:r>
              <a:rPr sz="950" b="1" lang="en-US" dirty="0">
                <a:solidFill>
                  <a:srgbClr val="FFFFFF"/>
                </a:solidFill>
                <a:latin typeface="Yu Gothic" pitchFamily="34" charset="0"/>
                <a:ea typeface="Yu Gothic" pitchFamily="34" charset="-122"/>
                <a:cs typeface="Yu Gothic" pitchFamily="34" charset="-120"/>
              </a:rPr>
              <a:t>Phase 1：開発</a:t>
            </a:r>
          </a:p>
        </p:txBody>
      </p:sp>
      <p:sp>
        <p:nvSpPr>
          <p:cNvPr id="6" name="Rectangle 5"/>
          <p:cNvSpPr/>
          <p:nvPr/>
        </p:nvSpPr>
        <p:spPr>
          <a:xfrm>
            <a:off x="9053575" y="1261872"/>
            <a:ext cx="2641600" cy="237744"/>
          </a:xfrm>
          <a:prstGeom prst="rect">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3575" y="1261872"/>
            <a:ext cx="2641600" cy="237744"/>
          </a:xfrm>
          <a:prstGeom prst="rect">
            <a:avLst/>
          </a:prstGeom>
          <a:noFill/>
        </p:spPr>
        <p:txBody>
          <a:bodyPr wrap="square" lIns="0" rIns="0" tIns="0" bIns="0" anchor="ctr" rtlCol="0"/>
          <a:lstStyle/>
          <a:p>
            <a:pPr marL="0" indent="0" algn="ctr">
              <a:buNone/>
            </a:pPr>
            <a:r>
              <a:rPr sz="950" b="1" lang="en-US" dirty="0">
                <a:solidFill>
                  <a:srgbClr val="FFFFFF"/>
                </a:solidFill>
                <a:latin typeface="Yu Gothic" pitchFamily="34" charset="0"/>
                <a:ea typeface="Yu Gothic" pitchFamily="34" charset="-122"/>
                <a:cs typeface="Yu Gothic" pitchFamily="34" charset="-120"/>
              </a:rPr>
              <a:t>Phase 2：商業化・供給</a:t>
            </a:r>
          </a:p>
        </p:txBody>
      </p:sp>
      <p:sp>
        <p:nvSpPr>
          <p:cNvPr id="8" name="Right Arrow 7"/>
          <p:cNvSpPr/>
          <p:nvPr/>
        </p:nvSpPr>
        <p:spPr>
          <a:xfrm>
            <a:off x="5688584" y="1609344"/>
            <a:ext cx="548640" cy="310896"/>
          </a:xfrm>
          <a:prstGeom prst="rightArrow">
            <a:avLst>
              <a:gd name="adj1" fmla="val 62000"/>
              <a:gd name="adj2" fmla="val 55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23560"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創薬研究</a:t>
            </a:r>
          </a:p>
        </p:txBody>
      </p:sp>
      <p:sp>
        <p:nvSpPr>
          <p:cNvPr id="10" name="Right Arrow 9"/>
          <p:cNvSpPr/>
          <p:nvPr/>
        </p:nvSpPr>
        <p:spPr>
          <a:xfrm>
            <a:off x="6367272" y="1609344"/>
            <a:ext cx="548640" cy="310896"/>
          </a:xfrm>
          <a:prstGeom prst="rightArrow">
            <a:avLst>
              <a:gd name="adj1" fmla="val 62000"/>
              <a:gd name="adj2" fmla="val 55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2248"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非臨床開発</a:t>
            </a:r>
          </a:p>
        </p:txBody>
      </p:sp>
      <p:sp>
        <p:nvSpPr>
          <p:cNvPr id="12" name="Rounded Rectangle 11"/>
          <p:cNvSpPr/>
          <p:nvPr/>
        </p:nvSpPr>
        <p:spPr>
          <a:xfrm>
            <a:off x="7027672" y="1664208"/>
            <a:ext cx="585216" cy="201168"/>
          </a:xfrm>
          <a:prstGeom prst="roundRect">
            <a:avLst>
              <a:gd name="adj"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80936"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CMC開発</a:t>
            </a:r>
          </a:p>
        </p:txBody>
      </p:sp>
      <p:sp>
        <p:nvSpPr>
          <p:cNvPr id="14" name="Right Arrow 13"/>
          <p:cNvSpPr/>
          <p:nvPr/>
        </p:nvSpPr>
        <p:spPr>
          <a:xfrm>
            <a:off x="7724647" y="1609344"/>
            <a:ext cx="548640" cy="310896"/>
          </a:xfrm>
          <a:prstGeom prst="rightArrow">
            <a:avLst>
              <a:gd name="adj1" fmla="val 62000"/>
              <a:gd name="adj2" fmla="val 55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59624"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臨床開発</a:t>
            </a:r>
          </a:p>
        </p:txBody>
      </p:sp>
      <p:sp>
        <p:nvSpPr>
          <p:cNvPr id="16" name="Right Arrow 15"/>
          <p:cNvSpPr/>
          <p:nvPr/>
        </p:nvSpPr>
        <p:spPr>
          <a:xfrm>
            <a:off x="8403336" y="1609344"/>
            <a:ext cx="548640" cy="310896"/>
          </a:xfrm>
          <a:prstGeom prst="rightArrow">
            <a:avLst>
              <a:gd name="adj1" fmla="val 62000"/>
              <a:gd name="adj2" fmla="val 55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8312"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BLA申請・審査</a:t>
            </a:r>
          </a:p>
        </p:txBody>
      </p:sp>
      <p:sp>
        <p:nvSpPr>
          <p:cNvPr id="18" name="Block Arc 17"/>
          <p:cNvSpPr/>
          <p:nvPr/>
        </p:nvSpPr>
        <p:spPr>
          <a:xfrm>
            <a:off x="9200896" y="1609344"/>
            <a:ext cx="310896" cy="310896"/>
          </a:xfrm>
          <a:prstGeom prst="blockArc">
            <a:avLst>
              <a:gd name="adj1" fmla="val 17280000"/>
              <a:gd name="adj2" fmla="val 15000000"/>
              <a:gd name="adj3" fmla="val 17647"/>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5400000">
            <a:off x="9316011" y="1593853"/>
            <a:ext cx="118872" cy="91440"/>
          </a:xfrm>
          <a:prstGeom prst="triangle">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17000"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商用製造</a:t>
            </a:r>
          </a:p>
        </p:txBody>
      </p:sp>
      <p:sp>
        <p:nvSpPr>
          <p:cNvPr id="21" name="Right Arrow 20"/>
          <p:cNvSpPr/>
          <p:nvPr/>
        </p:nvSpPr>
        <p:spPr>
          <a:xfrm>
            <a:off x="9760711" y="1609344"/>
            <a:ext cx="548640" cy="310896"/>
          </a:xfrm>
          <a:prstGeom prst="rightArrow">
            <a:avLst>
              <a:gd name="adj1" fmla="val 62000"/>
              <a:gd name="adj2" fmla="val 55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5688"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上市</a:t>
            </a:r>
          </a:p>
        </p:txBody>
      </p:sp>
      <p:sp>
        <p:nvSpPr>
          <p:cNvPr id="23" name="Block Arc 22"/>
          <p:cNvSpPr/>
          <p:nvPr/>
        </p:nvSpPr>
        <p:spPr>
          <a:xfrm>
            <a:off x="10558272" y="1609344"/>
            <a:ext cx="310896" cy="310896"/>
          </a:xfrm>
          <a:prstGeom prst="blockArc">
            <a:avLst>
              <a:gd name="adj1" fmla="val 17280000"/>
              <a:gd name="adj2" fmla="val 15000000"/>
              <a:gd name="adj3" fmla="val 17647"/>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5400000">
            <a:off x="10673387" y="1593853"/>
            <a:ext cx="118872" cy="91440"/>
          </a:xfrm>
          <a:prstGeom prst="triangle">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74376"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供給・流通</a:t>
            </a:r>
          </a:p>
        </p:txBody>
      </p:sp>
      <p:sp>
        <p:nvSpPr>
          <p:cNvPr id="26" name="Block Arc 25"/>
          <p:cNvSpPr/>
          <p:nvPr/>
        </p:nvSpPr>
        <p:spPr>
          <a:xfrm>
            <a:off x="11236959" y="1609344"/>
            <a:ext cx="310896" cy="310896"/>
          </a:xfrm>
          <a:prstGeom prst="blockArc">
            <a:avLst>
              <a:gd name="adj1" fmla="val 17280000"/>
              <a:gd name="adj2" fmla="val 15000000"/>
              <a:gd name="adj3" fmla="val 17647"/>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5400000">
            <a:off x="11352075" y="1593853"/>
            <a:ext cx="118872" cy="91440"/>
          </a:xfrm>
          <a:prstGeom prst="triangle">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53064"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市販後</a:t>
            </a:r>
          </a:p>
        </p:txBody>
      </p:sp>
      <p:sp>
        <p:nvSpPr>
          <p:cNvPr id="29" name="Rectangle 28"/>
          <p:cNvSpPr/>
          <p:nvPr/>
        </p:nvSpPr>
        <p:spPr>
          <a:xfrm>
            <a:off x="2103120" y="2304288"/>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194560" y="2286000"/>
            <a:ext cx="338328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戦略・ガバナンス</a:t>
            </a:r>
          </a:p>
        </p:txBody>
      </p:sp>
      <p:sp>
        <p:nvSpPr>
          <p:cNvPr id="31" name="Oval 30"/>
          <p:cNvSpPr/>
          <p:nvPr/>
        </p:nvSpPr>
        <p:spPr>
          <a:xfrm>
            <a:off x="5887080" y="2351908"/>
            <a:ext cx="151646" cy="151646"/>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595872" y="238201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74560" y="238201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953247" y="238201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631936" y="238201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322947" y="2358271"/>
            <a:ext cx="138920" cy="13892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011679" y="2322576"/>
            <a:ext cx="54864" cy="210311"/>
          </a:xfrm>
          <a:prstGeom prst="rect">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2286000"/>
            <a:ext cx="1463039" cy="283464"/>
          </a:xfrm>
          <a:prstGeom prst="rect">
            <a:avLst/>
          </a:prstGeom>
          <a:noFill/>
        </p:spPr>
        <p:txBody>
          <a:bodyPr wrap="square" lIns="0" rIns="0" tIns="0" bIns="0" anchor="ctr" rtlCol="0"/>
          <a:lstStyle/>
          <a:p>
            <a:pPr marL="0" indent="0" algn="r">
              <a:buNone/>
            </a:pPr>
            <a:r>
              <a:rPr sz="900" b="1" lang="en-US" dirty="0">
                <a:solidFill>
                  <a:srgbClr val="1F2E35"/>
                </a:solidFill>
                <a:latin typeface="Yu Gothic" pitchFamily="34" charset="0"/>
                <a:ea typeface="Yu Gothic" pitchFamily="34" charset="-122"/>
                <a:cs typeface="Yu Gothic" pitchFamily="34" charset="-120"/>
              </a:rPr>
              <a:t>Strategy</a:t>
            </a:r>
          </a:p>
        </p:txBody>
      </p:sp>
      <p:cxnSp>
        <p:nvCxnSpPr>
          <p:cNvPr id="39" name="Connector 38"/>
          <p:cNvCxnSpPr/>
          <p:nvPr/>
        </p:nvCxnSpPr>
        <p:spPr>
          <a:xfrm>
            <a:off x="2103120" y="2569464"/>
            <a:ext cx="962863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2103120" y="2587752"/>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2569464"/>
            <a:ext cx="338328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研究（創薬）</a:t>
            </a:r>
          </a:p>
        </p:txBody>
      </p:sp>
      <p:sp>
        <p:nvSpPr>
          <p:cNvPr id="42" name="Oval 41"/>
          <p:cNvSpPr/>
          <p:nvPr/>
        </p:nvSpPr>
        <p:spPr>
          <a:xfrm>
            <a:off x="5839211" y="2587503"/>
            <a:ext cx="247384" cy="247384"/>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595872" y="2665476"/>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103120" y="2871216"/>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194560" y="2852928"/>
            <a:ext cx="338328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非臨床・臨床薬理</a:t>
            </a:r>
          </a:p>
        </p:txBody>
      </p:sp>
      <p:sp>
        <p:nvSpPr>
          <p:cNvPr id="46" name="Oval 45"/>
          <p:cNvSpPr/>
          <p:nvPr/>
        </p:nvSpPr>
        <p:spPr>
          <a:xfrm>
            <a:off x="6525536" y="2878604"/>
            <a:ext cx="232111" cy="232111"/>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929507" y="2925199"/>
            <a:ext cx="138920" cy="13892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103120" y="3154680"/>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194560" y="3136392"/>
            <a:ext cx="338328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CMC開発</a:t>
            </a:r>
          </a:p>
        </p:txBody>
      </p:sp>
      <p:sp>
        <p:nvSpPr>
          <p:cNvPr id="50" name="Oval 49"/>
          <p:cNvSpPr/>
          <p:nvPr/>
        </p:nvSpPr>
        <p:spPr>
          <a:xfrm>
            <a:off x="5917184" y="3232404"/>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183120" y="3140964"/>
            <a:ext cx="274320" cy="27432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631936" y="3232404"/>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310623" y="3232404"/>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1346687" y="3232404"/>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103120" y="3438144"/>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194560" y="3419856"/>
            <a:ext cx="338328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臨床開発</a:t>
            </a:r>
          </a:p>
        </p:txBody>
      </p:sp>
      <p:sp>
        <p:nvSpPr>
          <p:cNvPr id="57" name="Oval 56"/>
          <p:cNvSpPr/>
          <p:nvPr/>
        </p:nvSpPr>
        <p:spPr>
          <a:xfrm>
            <a:off x="5901736" y="3500420"/>
            <a:ext cx="122335" cy="122335"/>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580424" y="3500420"/>
            <a:ext cx="122335" cy="122335"/>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250819" y="3492127"/>
            <a:ext cx="138920" cy="13892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872882" y="3435502"/>
            <a:ext cx="252170" cy="25217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8631936" y="3515868"/>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9989311" y="3515868"/>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1316584" y="3485764"/>
            <a:ext cx="151646" cy="151646"/>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011679" y="2606040"/>
            <a:ext cx="54864" cy="106070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2569464"/>
            <a:ext cx="1463039" cy="1133856"/>
          </a:xfrm>
          <a:prstGeom prst="rect">
            <a:avLst/>
          </a:prstGeom>
          <a:noFill/>
        </p:spPr>
        <p:txBody>
          <a:bodyPr wrap="square" lIns="0" rIns="0" tIns="0" bIns="0" anchor="ctr" rtlCol="0"/>
          <a:lstStyle/>
          <a:p>
            <a:pPr marL="0" indent="0" algn="r">
              <a:buNone/>
            </a:pPr>
            <a:r>
              <a:rPr sz="900" b="1" lang="en-US" dirty="0">
                <a:solidFill>
                  <a:srgbClr val="2A78D6"/>
                </a:solidFill>
                <a:latin typeface="Yu Gothic" pitchFamily="34" charset="0"/>
                <a:ea typeface="Yu Gothic" pitchFamily="34" charset="-122"/>
                <a:cs typeface="Yu Gothic" pitchFamily="34" charset="-120"/>
              </a:rPr>
              <a:t>R&amp;D Engine</a:t>
            </a:r>
          </a:p>
        </p:txBody>
      </p:sp>
      <p:cxnSp>
        <p:nvCxnSpPr>
          <p:cNvPr id="66" name="Connector 65"/>
          <p:cNvCxnSpPr/>
          <p:nvPr/>
        </p:nvCxnSpPr>
        <p:spPr>
          <a:xfrm>
            <a:off x="2103120" y="3703320"/>
            <a:ext cx="962863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2103120" y="3721607"/>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194560" y="3703320"/>
            <a:ext cx="338328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薬事</a:t>
            </a:r>
          </a:p>
        </p:txBody>
      </p:sp>
      <p:sp>
        <p:nvSpPr>
          <p:cNvPr id="69" name="Oval 68"/>
          <p:cNvSpPr/>
          <p:nvPr/>
        </p:nvSpPr>
        <p:spPr>
          <a:xfrm>
            <a:off x="5917184" y="379933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6555678" y="3759138"/>
            <a:ext cx="171827" cy="171827"/>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7929507" y="3775591"/>
            <a:ext cx="138920" cy="13892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561600" y="3728996"/>
            <a:ext cx="232111" cy="232111"/>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9310623" y="379933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1311220" y="3763864"/>
            <a:ext cx="162375" cy="162375"/>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103120" y="4005071"/>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94560" y="3986783"/>
            <a:ext cx="338328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品質</a:t>
            </a:r>
          </a:p>
        </p:txBody>
      </p:sp>
      <p:sp>
        <p:nvSpPr>
          <p:cNvPr id="77" name="Oval 76"/>
          <p:cNvSpPr/>
          <p:nvPr/>
        </p:nvSpPr>
        <p:spPr>
          <a:xfrm>
            <a:off x="6595872" y="4082796"/>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7226164" y="4034400"/>
            <a:ext cx="188231" cy="188231"/>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8608195" y="4059055"/>
            <a:ext cx="138920" cy="13892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266157" y="4038329"/>
            <a:ext cx="180373" cy="180373"/>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9989311" y="4082796"/>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0668000" y="4082796"/>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1346687" y="4082796"/>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2103120" y="4288536"/>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194560" y="4270248"/>
            <a:ext cx="338328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ファーマコビジランス（安全性）</a:t>
            </a:r>
          </a:p>
        </p:txBody>
      </p:sp>
      <p:sp>
        <p:nvSpPr>
          <p:cNvPr id="86" name="Oval 85"/>
          <p:cNvSpPr/>
          <p:nvPr/>
        </p:nvSpPr>
        <p:spPr>
          <a:xfrm>
            <a:off x="7937800" y="4350812"/>
            <a:ext cx="122335" cy="122335"/>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8616488" y="4350812"/>
            <a:ext cx="122335" cy="122335"/>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1306494" y="4326066"/>
            <a:ext cx="171827" cy="171827"/>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2011679" y="3739896"/>
            <a:ext cx="54864" cy="777240"/>
          </a:xfrm>
          <a:prstGeom prst="rect">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7200" y="3703320"/>
            <a:ext cx="1463039" cy="850392"/>
          </a:xfrm>
          <a:prstGeom prst="rect">
            <a:avLst/>
          </a:prstGeom>
          <a:noFill/>
        </p:spPr>
        <p:txBody>
          <a:bodyPr wrap="square" lIns="0" rIns="0" tIns="0" bIns="0" anchor="ctr" rtlCol="0"/>
          <a:lstStyle/>
          <a:p>
            <a:pPr marL="0" indent="0" algn="r">
              <a:buNone/>
            </a:pPr>
            <a:r>
              <a:rPr sz="900" b="1" lang="en-US" dirty="0">
                <a:solidFill>
                  <a:srgbClr val="4A3AA7"/>
                </a:solidFill>
                <a:latin typeface="Yu Gothic" pitchFamily="34" charset="0"/>
                <a:ea typeface="Yu Gothic" pitchFamily="34" charset="-122"/>
                <a:cs typeface="Yu Gothic" pitchFamily="34" charset="-120"/>
              </a:rPr>
              <a:t>Regulatory &amp; Quality</a:t>
            </a:r>
          </a:p>
        </p:txBody>
      </p:sp>
      <p:cxnSp>
        <p:nvCxnSpPr>
          <p:cNvPr id="91" name="Connector 90"/>
          <p:cNvCxnSpPr/>
          <p:nvPr/>
        </p:nvCxnSpPr>
        <p:spPr>
          <a:xfrm>
            <a:off x="2103120" y="4553712"/>
            <a:ext cx="962863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2103120" y="4571999"/>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194560" y="4553712"/>
            <a:ext cx="338328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製造</a:t>
            </a:r>
          </a:p>
        </p:txBody>
      </p:sp>
      <p:sp>
        <p:nvSpPr>
          <p:cNvPr id="94" name="Oval 93"/>
          <p:cNvSpPr/>
          <p:nvPr/>
        </p:nvSpPr>
        <p:spPr>
          <a:xfrm>
            <a:off x="7244456" y="4619620"/>
            <a:ext cx="151646" cy="151646"/>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9251887" y="4590987"/>
            <a:ext cx="208912" cy="208912"/>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2103120" y="4855463"/>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194560" y="4837175"/>
            <a:ext cx="338328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サプライチェーン</a:t>
            </a:r>
          </a:p>
        </p:txBody>
      </p:sp>
      <p:sp>
        <p:nvSpPr>
          <p:cNvPr id="98" name="Oval 97"/>
          <p:cNvSpPr/>
          <p:nvPr/>
        </p:nvSpPr>
        <p:spPr>
          <a:xfrm>
            <a:off x="7274560" y="4933188"/>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9310623" y="4933188"/>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9965571" y="4909447"/>
            <a:ext cx="138920" cy="13892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0609263" y="4874451"/>
            <a:ext cx="208912" cy="208912"/>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2011679" y="4590288"/>
            <a:ext cx="54864" cy="493776"/>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57200" y="4553712"/>
            <a:ext cx="1463039" cy="566928"/>
          </a:xfrm>
          <a:prstGeom prst="rect">
            <a:avLst/>
          </a:prstGeom>
          <a:noFill/>
        </p:spPr>
        <p:txBody>
          <a:bodyPr wrap="square" lIns="0" rIns="0" tIns="0" bIns="0" anchor="ctr" rtlCol="0"/>
          <a:lstStyle/>
          <a:p>
            <a:pPr marL="0" indent="0" algn="r">
              <a:buNone/>
            </a:pPr>
            <a:r>
              <a:rPr sz="900" b="1" lang="en-US" dirty="0">
                <a:solidFill>
                  <a:srgbClr val="0E7A52"/>
                </a:solidFill>
                <a:latin typeface="Yu Gothic" pitchFamily="34" charset="0"/>
                <a:ea typeface="Yu Gothic" pitchFamily="34" charset="-122"/>
                <a:cs typeface="Yu Gothic" pitchFamily="34" charset="-120"/>
              </a:rPr>
              <a:t>Supply Chain &amp; Mfg</a:t>
            </a:r>
          </a:p>
        </p:txBody>
      </p:sp>
      <p:cxnSp>
        <p:nvCxnSpPr>
          <p:cNvPr id="104" name="Connector 103"/>
          <p:cNvCxnSpPr/>
          <p:nvPr/>
        </p:nvCxnSpPr>
        <p:spPr>
          <a:xfrm>
            <a:off x="2103120" y="5120640"/>
            <a:ext cx="962863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2103120" y="5138927"/>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194560" y="5120640"/>
            <a:ext cx="338328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メディカル・患者エンゲージメント</a:t>
            </a:r>
          </a:p>
        </p:txBody>
      </p:sp>
      <p:sp>
        <p:nvSpPr>
          <p:cNvPr id="107" name="Oval 106"/>
          <p:cNvSpPr/>
          <p:nvPr/>
        </p:nvSpPr>
        <p:spPr>
          <a:xfrm>
            <a:off x="5901736" y="5201204"/>
            <a:ext cx="122335" cy="122335"/>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7953247" y="521665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959208" y="5186548"/>
            <a:ext cx="151646" cy="151646"/>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10668000" y="521665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1346687" y="521665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2103120" y="5422391"/>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194560" y="5404103"/>
            <a:ext cx="338328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市場アクセス・商業</a:t>
            </a:r>
          </a:p>
        </p:txBody>
      </p:sp>
      <p:sp>
        <p:nvSpPr>
          <p:cNvPr id="114" name="Oval 113"/>
          <p:cNvSpPr/>
          <p:nvPr/>
        </p:nvSpPr>
        <p:spPr>
          <a:xfrm>
            <a:off x="9940916" y="5451720"/>
            <a:ext cx="188231" cy="188231"/>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1331240" y="5484668"/>
            <a:ext cx="122335" cy="122335"/>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2011679" y="5157216"/>
            <a:ext cx="54864" cy="493776"/>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57200" y="5120640"/>
            <a:ext cx="1463039" cy="566928"/>
          </a:xfrm>
          <a:prstGeom prst="rect">
            <a:avLst/>
          </a:prstGeom>
          <a:noFill/>
        </p:spPr>
        <p:txBody>
          <a:bodyPr wrap="square" lIns="0" rIns="0" tIns="0" bIns="0" anchor="ctr" rtlCol="0"/>
          <a:lstStyle/>
          <a:p>
            <a:pPr marL="0" indent="0" algn="r">
              <a:buNone/>
            </a:pPr>
            <a:r>
              <a:rPr sz="900" b="1" lang="en-US" dirty="0">
                <a:solidFill>
                  <a:srgbClr val="C24E1C"/>
                </a:solidFill>
                <a:latin typeface="Yu Gothic" pitchFamily="34" charset="0"/>
                <a:ea typeface="Yu Gothic" pitchFamily="34" charset="-122"/>
                <a:cs typeface="Yu Gothic" pitchFamily="34" charset="-120"/>
              </a:rPr>
              <a:t>Commercial &amp; Patient</a:t>
            </a:r>
          </a:p>
        </p:txBody>
      </p:sp>
      <p:cxnSp>
        <p:nvCxnSpPr>
          <p:cNvPr id="118" name="Connector 117"/>
          <p:cNvCxnSpPr/>
          <p:nvPr/>
        </p:nvCxnSpPr>
        <p:spPr>
          <a:xfrm>
            <a:off x="2103120" y="5687568"/>
            <a:ext cx="962863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119" name="Rectangle 118"/>
          <p:cNvSpPr/>
          <p:nvPr/>
        </p:nvSpPr>
        <p:spPr>
          <a:xfrm>
            <a:off x="2103120" y="5705855"/>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ounded Rectangle 170"/>
          <p:cNvSpPr/>
          <p:nvPr/>
        </p:nvSpPr>
        <p:spPr>
          <a:xfrm>
            <a:off x="9750552" y="5449823"/>
            <a:ext cx="568960" cy="192024"/>
          </a:xfrm>
          <a:prstGeom prst="roundRect">
            <a:avLst>
              <a:gd name="adj" fmla="val 50000"/>
            </a:avLst>
          </a:prstGeom>
          <a:solidFill>
            <a:srgbClr val="E87BA4">
              <a:alpha val="22000"/>
            </a:srgbClr>
          </a:solidFill>
          <a:ln w="15875">
            <a:solidFill>
              <a:srgbClr val="E87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ounded Rectangle 167"/>
          <p:cNvSpPr/>
          <p:nvPr/>
        </p:nvSpPr>
        <p:spPr>
          <a:xfrm>
            <a:off x="5678424" y="5166359"/>
            <a:ext cx="4641088" cy="192024"/>
          </a:xfrm>
          <a:prstGeom prst="roundRect">
            <a:avLst>
              <a:gd name="adj" fmla="val 50000"/>
            </a:avLst>
          </a:prstGeom>
          <a:solidFill>
            <a:srgbClr val="E87BA4">
              <a:alpha val="22000"/>
            </a:srgbClr>
          </a:solidFill>
          <a:ln w="15875">
            <a:solidFill>
              <a:srgbClr val="E87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ounded Rectangle 164"/>
          <p:cNvSpPr/>
          <p:nvPr/>
        </p:nvSpPr>
        <p:spPr>
          <a:xfrm>
            <a:off x="9686544" y="4850891"/>
            <a:ext cx="1375664" cy="256032"/>
          </a:xfrm>
          <a:prstGeom prst="roundRect">
            <a:avLst>
              <a:gd name="adj" fmla="val 50000"/>
            </a:avLst>
          </a:prstGeom>
          <a:solidFill>
            <a:srgbClr val="008300">
              <a:alpha val="22000"/>
            </a:srgbClr>
          </a:solidFill>
          <a:ln w="15875">
            <a:solidFill>
              <a:srgbClr val="00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ounded Rectangle 163"/>
          <p:cNvSpPr/>
          <p:nvPr/>
        </p:nvSpPr>
        <p:spPr>
          <a:xfrm>
            <a:off x="10429240" y="4882895"/>
            <a:ext cx="568960" cy="192024"/>
          </a:xfrm>
          <a:prstGeom prst="roundRect">
            <a:avLst>
              <a:gd name="adj" fmla="val 50000"/>
            </a:avLst>
          </a:prstGeom>
          <a:solidFill>
            <a:srgbClr val="1BAF7A">
              <a:alpha val="22000"/>
            </a:srgbClr>
          </a:solidFill>
          <a:ln w="1587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ounded Rectangle 158"/>
          <p:cNvSpPr/>
          <p:nvPr/>
        </p:nvSpPr>
        <p:spPr>
          <a:xfrm>
            <a:off x="9007856" y="4567427"/>
            <a:ext cx="696976" cy="256032"/>
          </a:xfrm>
          <a:prstGeom prst="roundRect">
            <a:avLst>
              <a:gd name="adj" fmla="val 50000"/>
            </a:avLst>
          </a:prstGeom>
          <a:solidFill>
            <a:srgbClr val="008300">
              <a:alpha val="22000"/>
            </a:srgbClr>
          </a:solidFill>
          <a:ln w="15875">
            <a:solidFill>
              <a:srgbClr val="00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ounded Rectangle 157"/>
          <p:cNvSpPr/>
          <p:nvPr/>
        </p:nvSpPr>
        <p:spPr>
          <a:xfrm>
            <a:off x="7035800" y="4599431"/>
            <a:ext cx="2605024" cy="192024"/>
          </a:xfrm>
          <a:prstGeom prst="roundRect">
            <a:avLst>
              <a:gd name="adj" fmla="val 50000"/>
            </a:avLst>
          </a:prstGeom>
          <a:solidFill>
            <a:srgbClr val="EB6834">
              <a:alpha val="22000"/>
            </a:srgbClr>
          </a:solidFill>
          <a:ln w="1587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ounded Rectangle 152"/>
          <p:cNvSpPr/>
          <p:nvPr/>
        </p:nvSpPr>
        <p:spPr>
          <a:xfrm>
            <a:off x="6971792" y="4000500"/>
            <a:ext cx="2733040" cy="256032"/>
          </a:xfrm>
          <a:prstGeom prst="roundRect">
            <a:avLst>
              <a:gd name="adj" fmla="val 50000"/>
            </a:avLst>
          </a:prstGeom>
          <a:solidFill>
            <a:srgbClr val="EDA100">
              <a:alpha val="22000"/>
            </a:srgbClr>
          </a:solidFill>
          <a:ln w="15875">
            <a:solidFill>
              <a:srgbClr val="EDA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ounded Rectangle 151"/>
          <p:cNvSpPr/>
          <p:nvPr/>
        </p:nvSpPr>
        <p:spPr>
          <a:xfrm>
            <a:off x="7035800" y="4032503"/>
            <a:ext cx="2605024" cy="192024"/>
          </a:xfrm>
          <a:prstGeom prst="roundRect">
            <a:avLst>
              <a:gd name="adj" fmla="val 50000"/>
            </a:avLst>
          </a:prstGeom>
          <a:solidFill>
            <a:srgbClr val="1BAF7A">
              <a:alpha val="22000"/>
            </a:srgbClr>
          </a:solidFill>
          <a:ln w="1587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ounded Rectangle 146"/>
          <p:cNvSpPr/>
          <p:nvPr/>
        </p:nvSpPr>
        <p:spPr>
          <a:xfrm>
            <a:off x="6357112" y="3749039"/>
            <a:ext cx="5319776" cy="192024"/>
          </a:xfrm>
          <a:prstGeom prst="roundRect">
            <a:avLst>
              <a:gd name="adj" fmla="val 50000"/>
            </a:avLst>
          </a:prstGeom>
          <a:solidFill>
            <a:srgbClr val="4A3AA7">
              <a:alpha val="22000"/>
            </a:srgbClr>
          </a:solidFill>
          <a:ln w="1587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ounded Rectangle 143"/>
          <p:cNvSpPr/>
          <p:nvPr/>
        </p:nvSpPr>
        <p:spPr>
          <a:xfrm>
            <a:off x="7714488" y="3465576"/>
            <a:ext cx="568960" cy="192024"/>
          </a:xfrm>
          <a:prstGeom prst="roundRect">
            <a:avLst>
              <a:gd name="adj" fmla="val 50000"/>
            </a:avLst>
          </a:prstGeom>
          <a:solidFill>
            <a:srgbClr val="4A3AA7">
              <a:alpha val="22000"/>
            </a:srgbClr>
          </a:solidFill>
          <a:ln w="1587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ounded Rectangle 140"/>
          <p:cNvSpPr/>
          <p:nvPr/>
        </p:nvSpPr>
        <p:spPr>
          <a:xfrm>
            <a:off x="6907784" y="3118104"/>
            <a:ext cx="824992" cy="320040"/>
          </a:xfrm>
          <a:prstGeom prst="roundRect">
            <a:avLst>
              <a:gd name="adj" fmla="val 50000"/>
            </a:avLst>
          </a:prstGeom>
          <a:solidFill>
            <a:srgbClr val="EDA100">
              <a:alpha val="22000"/>
            </a:srgbClr>
          </a:solidFill>
          <a:ln w="15875">
            <a:solidFill>
              <a:srgbClr val="EDA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ounded Rectangle 139"/>
          <p:cNvSpPr/>
          <p:nvPr/>
        </p:nvSpPr>
        <p:spPr>
          <a:xfrm>
            <a:off x="6971792" y="3150108"/>
            <a:ext cx="696976" cy="256032"/>
          </a:xfrm>
          <a:prstGeom prst="roundRect">
            <a:avLst>
              <a:gd name="adj" fmla="val 50000"/>
            </a:avLst>
          </a:prstGeom>
          <a:solidFill>
            <a:srgbClr val="EB6834">
              <a:alpha val="22000"/>
            </a:srgbClr>
          </a:solidFill>
          <a:ln w="1587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ounded Rectangle 138"/>
          <p:cNvSpPr/>
          <p:nvPr/>
        </p:nvSpPr>
        <p:spPr>
          <a:xfrm>
            <a:off x="7035800" y="3182112"/>
            <a:ext cx="568960" cy="192024"/>
          </a:xfrm>
          <a:prstGeom prst="roundRect">
            <a:avLst>
              <a:gd name="adj" fmla="val 50000"/>
            </a:avLst>
          </a:prstGeom>
          <a:solidFill>
            <a:srgbClr val="2A78D6">
              <a:alpha val="22000"/>
            </a:srgbClr>
          </a:solidFill>
          <a:ln w="1587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6357112" y="2898648"/>
            <a:ext cx="1926335" cy="192024"/>
          </a:xfrm>
          <a:prstGeom prst="roundRect">
            <a:avLst>
              <a:gd name="adj" fmla="val 50000"/>
            </a:avLst>
          </a:prstGeom>
          <a:solidFill>
            <a:srgbClr val="EDA100">
              <a:alpha val="22000"/>
            </a:srgbClr>
          </a:solidFill>
          <a:ln w="15875">
            <a:solidFill>
              <a:srgbClr val="EDA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ounded Rectangle 128"/>
          <p:cNvSpPr/>
          <p:nvPr/>
        </p:nvSpPr>
        <p:spPr>
          <a:xfrm>
            <a:off x="5678424" y="2615184"/>
            <a:ext cx="568960" cy="192024"/>
          </a:xfrm>
          <a:prstGeom prst="roundRect">
            <a:avLst>
              <a:gd name="adj" fmla="val 50000"/>
            </a:avLst>
          </a:prstGeom>
          <a:solidFill>
            <a:srgbClr val="2A78D6">
              <a:alpha val="22000"/>
            </a:srgbClr>
          </a:solidFill>
          <a:ln w="1587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2194560" y="5687568"/>
            <a:ext cx="3383280" cy="283464"/>
          </a:xfrm>
          <a:prstGeom prst="rect">
            <a:avLst/>
          </a:prstGeom>
          <a:noFill/>
        </p:spPr>
        <p:txBody>
          <a:bodyPr wrap="square" lIns="0" rIns="0" tIns="0" bIns="0" anchor="ctr" rtlCol="0"/>
          <a:lstStyle/>
          <a:p>
            <a:pPr marL="0" indent="0">
              <a:buNone/>
            </a:pPr>
            <a:r>
              <a:rPr sz="900" b="1" lang="en-US" dirty="0">
                <a:solidFill>
                  <a:srgbClr val="1F2E35"/>
                </a:solidFill>
                <a:latin typeface="Yu Gothic" pitchFamily="34" charset="0"/>
                <a:ea typeface="Yu Gothic" pitchFamily="34" charset="-122"/>
                <a:cs typeface="Yu Gothic" pitchFamily="34" charset="-120"/>
              </a:rPr>
              <a:t>共通基盤</a:t>
            </a:r>
          </a:p>
        </p:txBody>
      </p:sp>
      <p:sp>
        <p:nvSpPr>
          <p:cNvPr id="121" name="Oval 120"/>
          <p:cNvSpPr/>
          <p:nvPr/>
        </p:nvSpPr>
        <p:spPr>
          <a:xfrm>
            <a:off x="5917184" y="5783580"/>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7953247" y="5783580"/>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989311" y="5783580"/>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2011679" y="5724144"/>
            <a:ext cx="54864" cy="210311"/>
          </a:xfrm>
          <a:prstGeom prst="rect">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57200" y="5687568"/>
            <a:ext cx="1463039" cy="283464"/>
          </a:xfrm>
          <a:prstGeom prst="rect">
            <a:avLst/>
          </a:prstGeom>
          <a:noFill/>
        </p:spPr>
        <p:txBody>
          <a:bodyPr wrap="square" lIns="0" rIns="0" tIns="0" bIns="0" anchor="ctr" rtlCol="0"/>
          <a:lstStyle/>
          <a:p>
            <a:pPr marL="0" indent="0" algn="r">
              <a:buNone/>
            </a:pPr>
            <a:r>
              <a:rPr sz="900" b="1" lang="en-US" dirty="0">
                <a:solidFill>
                  <a:srgbClr val="1F2E35"/>
                </a:solidFill>
                <a:latin typeface="Yu Gothic" pitchFamily="34" charset="0"/>
                <a:ea typeface="Yu Gothic" pitchFamily="34" charset="-122"/>
                <a:cs typeface="Yu Gothic" pitchFamily="34" charset="-120"/>
              </a:rPr>
              <a:t>Foundation</a:t>
            </a:r>
          </a:p>
        </p:txBody>
      </p:sp>
      <p:sp>
        <p:nvSpPr>
          <p:cNvPr id="126" name="TextBox 125"/>
          <p:cNvSpPr txBox="1"/>
          <p:nvPr/>
        </p:nvSpPr>
        <p:spPr>
          <a:xfrm>
            <a:off x="4160520" y="2084831"/>
            <a:ext cx="1371600"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複数の領域で使う</a:t>
            </a:r>
          </a:p>
          <a:p>
            <a:pPr marL="0" indent="0" algn="ctr">
              <a:buNone/>
            </a:pPr>
            <a:r>
              <a:rPr sz="850" b="1" lang="en-US" dirty="0">
                <a:solidFill>
                  <a:srgbClr val="1F2E35"/>
                </a:solidFill>
                <a:latin typeface="Yu Gothic" pitchFamily="34" charset="0"/>
                <a:ea typeface="Yu Gothic" pitchFamily="34" charset="-122"/>
                <a:cs typeface="Yu Gothic" pitchFamily="34" charset="-120"/>
              </a:rPr>
              <a:t>アプリケーション</a:t>
            </a:r>
          </a:p>
        </p:txBody>
      </p:sp>
      <p:sp>
        <p:nvSpPr>
          <p:cNvPr id="127" name="Rounded Rectangle 126"/>
          <p:cNvSpPr/>
          <p:nvPr/>
        </p:nvSpPr>
        <p:spPr>
          <a:xfrm>
            <a:off x="4645152" y="2624328"/>
            <a:ext cx="402336" cy="173736"/>
          </a:xfrm>
          <a:prstGeom prst="roundRect">
            <a:avLst>
              <a:gd name="adj" fmla="val 50000"/>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645152" y="2624328"/>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ELN</a:t>
            </a:r>
          </a:p>
        </p:txBody>
      </p:sp>
      <p:sp>
        <p:nvSpPr>
          <p:cNvPr id="130" name="Rounded Rectangle 129"/>
          <p:cNvSpPr/>
          <p:nvPr/>
        </p:nvSpPr>
        <p:spPr>
          <a:xfrm>
            <a:off x="4645152" y="2907792"/>
            <a:ext cx="402336" cy="173736"/>
          </a:xfrm>
          <a:prstGeom prst="roundRect">
            <a:avLst>
              <a:gd name="adj" fmla="val 50000"/>
            </a:avLst>
          </a:prstGeom>
          <a:solidFill>
            <a:srgbClr val="EDA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4645152" y="2907792"/>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LIMS</a:t>
            </a:r>
          </a:p>
        </p:txBody>
      </p:sp>
      <p:sp>
        <p:nvSpPr>
          <p:cNvPr id="133" name="Rounded Rectangle 132"/>
          <p:cNvSpPr/>
          <p:nvPr/>
        </p:nvSpPr>
        <p:spPr>
          <a:xfrm>
            <a:off x="4206240" y="3191256"/>
            <a:ext cx="402336" cy="173736"/>
          </a:xfrm>
          <a:prstGeom prst="roundRect">
            <a:avLst>
              <a:gd name="adj" fmla="val 50000"/>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4206240" y="3191256"/>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ELN</a:t>
            </a:r>
          </a:p>
        </p:txBody>
      </p:sp>
      <p:sp>
        <p:nvSpPr>
          <p:cNvPr id="135" name="Rounded Rectangle 134"/>
          <p:cNvSpPr/>
          <p:nvPr/>
        </p:nvSpPr>
        <p:spPr>
          <a:xfrm>
            <a:off x="4645152" y="3191256"/>
            <a:ext cx="402336" cy="173736"/>
          </a:xfrm>
          <a:prstGeom prst="roundRect">
            <a:avLst>
              <a:gd name="adj" fmla="val 50000"/>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4645152" y="3191256"/>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MES</a:t>
            </a:r>
          </a:p>
        </p:txBody>
      </p:sp>
      <p:sp>
        <p:nvSpPr>
          <p:cNvPr id="137" name="Rounded Rectangle 136"/>
          <p:cNvSpPr/>
          <p:nvPr/>
        </p:nvSpPr>
        <p:spPr>
          <a:xfrm>
            <a:off x="5084064" y="3191256"/>
            <a:ext cx="402336" cy="173736"/>
          </a:xfrm>
          <a:prstGeom prst="roundRect">
            <a:avLst>
              <a:gd name="adj" fmla="val 50000"/>
            </a:avLst>
          </a:prstGeom>
          <a:solidFill>
            <a:srgbClr val="EDA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5084064" y="3191256"/>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LIMS</a:t>
            </a:r>
          </a:p>
        </p:txBody>
      </p:sp>
      <p:sp>
        <p:nvSpPr>
          <p:cNvPr id="142" name="Rounded Rectangle 141"/>
          <p:cNvSpPr/>
          <p:nvPr/>
        </p:nvSpPr>
        <p:spPr>
          <a:xfrm>
            <a:off x="4645152" y="3474720"/>
            <a:ext cx="402336" cy="173736"/>
          </a:xfrm>
          <a:prstGeom prst="roundRect">
            <a:avLst>
              <a:gd name="adj" fmla="val 50000"/>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4645152" y="3474720"/>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eDMS</a:t>
            </a:r>
          </a:p>
        </p:txBody>
      </p:sp>
      <p:sp>
        <p:nvSpPr>
          <p:cNvPr id="145" name="Rounded Rectangle 144"/>
          <p:cNvSpPr/>
          <p:nvPr/>
        </p:nvSpPr>
        <p:spPr>
          <a:xfrm>
            <a:off x="4645152" y="3758183"/>
            <a:ext cx="402336" cy="173736"/>
          </a:xfrm>
          <a:prstGeom prst="roundRect">
            <a:avLst>
              <a:gd name="adj" fmla="val 50000"/>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4645152" y="3758183"/>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eDMS</a:t>
            </a:r>
          </a:p>
        </p:txBody>
      </p:sp>
      <p:sp>
        <p:nvSpPr>
          <p:cNvPr id="148" name="Rounded Rectangle 147"/>
          <p:cNvSpPr/>
          <p:nvPr/>
        </p:nvSpPr>
        <p:spPr>
          <a:xfrm>
            <a:off x="4425696" y="4041647"/>
            <a:ext cx="402336" cy="173736"/>
          </a:xfrm>
          <a:prstGeom prst="roundRect">
            <a:avLst>
              <a:gd name="adj" fmla="val 50000"/>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4425696" y="4041647"/>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eQMS</a:t>
            </a:r>
          </a:p>
        </p:txBody>
      </p:sp>
      <p:sp>
        <p:nvSpPr>
          <p:cNvPr id="150" name="Rounded Rectangle 149"/>
          <p:cNvSpPr/>
          <p:nvPr/>
        </p:nvSpPr>
        <p:spPr>
          <a:xfrm>
            <a:off x="4864608" y="4041647"/>
            <a:ext cx="402336" cy="173736"/>
          </a:xfrm>
          <a:prstGeom prst="roundRect">
            <a:avLst>
              <a:gd name="adj" fmla="val 50000"/>
            </a:avLst>
          </a:prstGeom>
          <a:solidFill>
            <a:srgbClr val="EDA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4864608" y="4041647"/>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LIMS</a:t>
            </a:r>
          </a:p>
        </p:txBody>
      </p:sp>
      <p:sp>
        <p:nvSpPr>
          <p:cNvPr id="154" name="Rounded Rectangle 153"/>
          <p:cNvSpPr/>
          <p:nvPr/>
        </p:nvSpPr>
        <p:spPr>
          <a:xfrm>
            <a:off x="4425696" y="4608575"/>
            <a:ext cx="402336" cy="173736"/>
          </a:xfrm>
          <a:prstGeom prst="roundRect">
            <a:avLst>
              <a:gd name="adj" fmla="val 50000"/>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425696" y="4608575"/>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MES</a:t>
            </a:r>
          </a:p>
        </p:txBody>
      </p:sp>
      <p:sp>
        <p:nvSpPr>
          <p:cNvPr id="156" name="Rounded Rectangle 155"/>
          <p:cNvSpPr/>
          <p:nvPr/>
        </p:nvSpPr>
        <p:spPr>
          <a:xfrm>
            <a:off x="4864608" y="4608575"/>
            <a:ext cx="402336" cy="173736"/>
          </a:xfrm>
          <a:prstGeom prst="roundRect">
            <a:avLst>
              <a:gd name="adj" fmla="val 50000"/>
            </a:avLst>
          </a:prstGeom>
          <a:solidFill>
            <a:srgbClr val="008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4864608" y="4608575"/>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ERP</a:t>
            </a:r>
          </a:p>
        </p:txBody>
      </p:sp>
      <p:sp>
        <p:nvSpPr>
          <p:cNvPr id="160" name="Rounded Rectangle 159"/>
          <p:cNvSpPr/>
          <p:nvPr/>
        </p:nvSpPr>
        <p:spPr>
          <a:xfrm>
            <a:off x="4425696" y="4892039"/>
            <a:ext cx="402336" cy="173736"/>
          </a:xfrm>
          <a:prstGeom prst="roundRect">
            <a:avLst>
              <a:gd name="adj" fmla="val 50000"/>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4425696" y="4892039"/>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eQMS</a:t>
            </a:r>
          </a:p>
        </p:txBody>
      </p:sp>
      <p:sp>
        <p:nvSpPr>
          <p:cNvPr id="162" name="Rounded Rectangle 161"/>
          <p:cNvSpPr/>
          <p:nvPr/>
        </p:nvSpPr>
        <p:spPr>
          <a:xfrm>
            <a:off x="4864608" y="4892039"/>
            <a:ext cx="402336" cy="173736"/>
          </a:xfrm>
          <a:prstGeom prst="roundRect">
            <a:avLst>
              <a:gd name="adj" fmla="val 50000"/>
            </a:avLst>
          </a:prstGeom>
          <a:solidFill>
            <a:srgbClr val="008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4864608" y="4892039"/>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ERP</a:t>
            </a:r>
          </a:p>
        </p:txBody>
      </p:sp>
      <p:sp>
        <p:nvSpPr>
          <p:cNvPr id="166" name="Rounded Rectangle 165"/>
          <p:cNvSpPr/>
          <p:nvPr/>
        </p:nvSpPr>
        <p:spPr>
          <a:xfrm>
            <a:off x="4645152" y="5175503"/>
            <a:ext cx="402336" cy="173736"/>
          </a:xfrm>
          <a:prstGeom prst="roundRect">
            <a:avLst>
              <a:gd name="adj" fmla="val 50000"/>
            </a:avLst>
          </a:prstGeom>
          <a:solidFill>
            <a:srgbClr val="E87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4645152" y="5175503"/>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CRM</a:t>
            </a:r>
          </a:p>
        </p:txBody>
      </p:sp>
      <p:sp>
        <p:nvSpPr>
          <p:cNvPr id="169" name="Rounded Rectangle 168"/>
          <p:cNvSpPr/>
          <p:nvPr/>
        </p:nvSpPr>
        <p:spPr>
          <a:xfrm>
            <a:off x="4645152" y="5458967"/>
            <a:ext cx="402336" cy="173736"/>
          </a:xfrm>
          <a:prstGeom prst="roundRect">
            <a:avLst>
              <a:gd name="adj" fmla="val 50000"/>
            </a:avLst>
          </a:prstGeom>
          <a:solidFill>
            <a:srgbClr val="E87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4645152" y="5458967"/>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CRM</a:t>
            </a:r>
          </a:p>
        </p:txBody>
      </p:sp>
      <p:sp>
        <p:nvSpPr>
          <p:cNvPr id="172" name="Rounded Rectangle 171"/>
          <p:cNvSpPr/>
          <p:nvPr/>
        </p:nvSpPr>
        <p:spPr>
          <a:xfrm>
            <a:off x="4645152" y="5742431"/>
            <a:ext cx="402336" cy="173736"/>
          </a:xfrm>
          <a:prstGeom prst="roundRect">
            <a:avLst>
              <a:gd name="adj" fmla="val 50000"/>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4645152" y="5742431"/>
            <a:ext cx="402336"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eDMS</a:t>
            </a:r>
          </a:p>
        </p:txBody>
      </p:sp>
      <p:cxnSp>
        <p:nvCxnSpPr>
          <p:cNvPr id="174" name="Connector 173"/>
          <p:cNvCxnSpPr/>
          <p:nvPr/>
        </p:nvCxnSpPr>
        <p:spPr>
          <a:xfrm>
            <a:off x="6302248"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6980936"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7659624"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8338312"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9017000" y="2286000"/>
            <a:ext cx="0" cy="3685031"/>
          </a:xfrm>
          <a:prstGeom prst="line">
            <a:avLst/>
          </a:prstGeom>
          <a:ln w="12700">
            <a:solidFill>
              <a:srgbClr val="1F2E35"/>
            </a:solidFill>
            <a:prstDash val="lgDash"/>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9695688"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10374376"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11053064"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457200" y="6025895"/>
            <a:ext cx="2194560" cy="274320"/>
          </a:xfrm>
          <a:prstGeom prst="rect">
            <a:avLst/>
          </a:prstGeom>
          <a:noFill/>
        </p:spPr>
        <p:txBody>
          <a:bodyPr wrap="square" lIns="0" rIns="0" tIns="0" bIns="0" anchor="ctr" rtlCol="0"/>
          <a:lstStyle/>
          <a:p>
            <a:pPr marL="0" indent="0">
              <a:buNone/>
            </a:pPr>
            <a:r>
              <a:rPr sz="850" b="1" lang="en-US" dirty="0">
                <a:solidFill>
                  <a:srgbClr val="5B6B70"/>
                </a:solidFill>
                <a:latin typeface="Yu Gothic" pitchFamily="34" charset="0"/>
                <a:ea typeface="Yu Gothic" pitchFamily="34" charset="-122"/>
                <a:cs typeface="Yu Gothic" pitchFamily="34" charset="-120"/>
              </a:rPr>
              <a:t>円の大きさ＝「主」の関係の件数</a:t>
            </a:r>
          </a:p>
        </p:txBody>
      </p:sp>
      <p:sp>
        <p:nvSpPr>
          <p:cNvPr id="183" name="Oval 182"/>
          <p:cNvSpPr/>
          <p:nvPr/>
        </p:nvSpPr>
        <p:spPr>
          <a:xfrm>
            <a:off x="2651760" y="6101888"/>
            <a:ext cx="122335" cy="122335"/>
          </a:xfrm>
          <a:prstGeom prst="ellipse">
            <a:avLst/>
          </a:prstGeom>
          <a:solidFill>
            <a:srgbClr val="5B6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2819815" y="6025895"/>
            <a:ext cx="365760" cy="274320"/>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1</a:t>
            </a:r>
          </a:p>
        </p:txBody>
      </p:sp>
      <p:sp>
        <p:nvSpPr>
          <p:cNvPr id="185" name="Oval 184"/>
          <p:cNvSpPr/>
          <p:nvPr/>
        </p:nvSpPr>
        <p:spPr>
          <a:xfrm>
            <a:off x="3231295" y="6077142"/>
            <a:ext cx="171827" cy="171827"/>
          </a:xfrm>
          <a:prstGeom prst="ellipse">
            <a:avLst/>
          </a:prstGeom>
          <a:solidFill>
            <a:srgbClr val="5B6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3448843" y="6025895"/>
            <a:ext cx="365760" cy="274320"/>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5</a:t>
            </a:r>
          </a:p>
        </p:txBody>
      </p:sp>
      <p:sp>
        <p:nvSpPr>
          <p:cNvPr id="187" name="Oval 186"/>
          <p:cNvSpPr/>
          <p:nvPr/>
        </p:nvSpPr>
        <p:spPr>
          <a:xfrm>
            <a:off x="3860323" y="6058599"/>
            <a:ext cx="208912" cy="208912"/>
          </a:xfrm>
          <a:prstGeom prst="ellipse">
            <a:avLst/>
          </a:prstGeom>
          <a:solidFill>
            <a:srgbClr val="5B6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4114956" y="6025895"/>
            <a:ext cx="365760" cy="274320"/>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10</a:t>
            </a:r>
          </a:p>
        </p:txBody>
      </p:sp>
      <p:sp>
        <p:nvSpPr>
          <p:cNvPr id="189" name="Oval 188"/>
          <p:cNvSpPr/>
          <p:nvPr/>
        </p:nvSpPr>
        <p:spPr>
          <a:xfrm>
            <a:off x="4526436" y="6032376"/>
            <a:ext cx="261359" cy="261359"/>
          </a:xfrm>
          <a:prstGeom prst="ellipse">
            <a:avLst/>
          </a:prstGeom>
          <a:solidFill>
            <a:srgbClr val="5B6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4833515" y="6025895"/>
            <a:ext cx="365760" cy="274320"/>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20</a:t>
            </a:r>
          </a:p>
        </p:txBody>
      </p:sp>
      <p:sp>
        <p:nvSpPr>
          <p:cNvPr id="191" name="Rounded Rectangle 190"/>
          <p:cNvSpPr/>
          <p:nvPr/>
        </p:nvSpPr>
        <p:spPr>
          <a:xfrm>
            <a:off x="5336435" y="6089903"/>
            <a:ext cx="457200" cy="146304"/>
          </a:xfrm>
          <a:prstGeom prst="roundRect">
            <a:avLst>
              <a:gd name="adj" fmla="val 50000"/>
            </a:avLst>
          </a:prstGeom>
          <a:solidFill>
            <a:srgbClr val="5B6B70">
              <a:alpha val="22000"/>
            </a:srgbClr>
          </a:solidFill>
          <a:ln w="12700">
            <a:solidFill>
              <a:srgbClr val="5B6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5866787" y="6025895"/>
            <a:ext cx="5029200" cy="274320"/>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色の枠＝その領域で、そのアプリケーションが支える能力が「主」として使われる段階の範囲</a:t>
            </a:r>
          </a:p>
        </p:txBody>
      </p:sp>
      <p:sp>
        <p:nvSpPr>
          <p:cNvPr id="193" name="TextBox 192"/>
          <p:cNvSpPr txBox="1"/>
          <p:nvPr/>
        </p:nvSpPr>
        <p:spPr>
          <a:xfrm>
            <a:off x="457200" y="6336791"/>
            <a:ext cx="11274552" cy="365760"/>
          </a:xfrm>
          <a:prstGeom prst="rect">
            <a:avLst/>
          </a:prstGeom>
          <a:noFill/>
        </p:spPr>
        <p:txBody>
          <a:bodyPr wrap="square" lIns="0" rIns="0" tIns="0" bIns="0" anchor="t" rtlCol="0"/>
          <a:lstStyle/>
          <a:p>
            <a:pPr marL="0" indent="0">
              <a:buNone/>
            </a:pPr>
            <a:r>
              <a:rPr sz="800" b="0" lang="en-US" dirty="0">
                <a:solidFill>
                  <a:srgbClr val="5B6B70"/>
                </a:solidFill>
                <a:latin typeface="Yu Gothic" pitchFamily="34" charset="0"/>
                <a:ea typeface="Yu Gothic" pitchFamily="34" charset="-122"/>
                <a:cs typeface="Yu Gothic" pitchFamily="34" charset="-120"/>
              </a:rPr>
              <a:t>アプリケーションは「ケイパビリティ×アプリケーション」シートの●（主に支える）、段階は「VS×ケイパビリティ関係」シートの「主」の関係から求めた。範囲は最初と最後の段階を結んだもので、間の段階で使わない場合も含む。共通基盤のeDMSは、特定の段階に「主」の関係を付けていないため枠がな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anchor="t" lIns="0" rIns="0" tIns="0" bIns="0">
            <a:spAutoFit/>
          </a:bodyPr>
          <a:lstStyle/>
          <a:p>
            <a:pPr algn="l"/>
            <a:r>
              <a:rPr sz="2800" b="1">
                <a:solidFill>
                  <a:srgbClr val="1F2E35"/>
                </a:solidFill>
                <a:latin typeface="Yu Gothic"/>
                <a:ea typeface="Yu Gothic"/>
              </a:rPr>
              <a:t>データマップ全体像（1/2）</a:t>
            </a:r>
          </a:p>
        </p:txBody>
      </p:sp>
      <p:sp>
        <p:nvSpPr>
          <p:cNvPr id="3" name="TextBox 2"/>
          <p:cNvSpPr txBox="1"/>
          <p:nvPr/>
        </p:nvSpPr>
        <p:spPr>
          <a:xfrm>
            <a:off x="457200" y="841248"/>
            <a:ext cx="7040880" cy="320040"/>
          </a:xfrm>
          <a:prstGeom prst="rect">
            <a:avLst/>
          </a:prstGeom>
          <a:noFill/>
        </p:spPr>
        <p:txBody>
          <a:bodyPr wrap="square" anchor="t" lIns="0" rIns="0" tIns="0" bIns="0">
            <a:spAutoFit/>
          </a:bodyPr>
          <a:lstStyle/>
          <a:p>
            <a:pPr algn="l"/>
            <a:r>
              <a:rPr sz="1300" b="0">
                <a:solidFill>
                  <a:srgbClr val="5B6B70"/>
                </a:solidFill>
                <a:latin typeface="Yu Gothic"/>
                <a:ea typeface="Yu Gothic"/>
              </a:rPr>
              <a:t>オーナーの領域（ケイパビリティL1）ごとの情報オブジェクト（96件中49件）</a:t>
            </a:r>
          </a:p>
        </p:txBody>
      </p:sp>
      <p:sp>
        <p:nvSpPr>
          <p:cNvPr id="4" name="Rectangle 3"/>
          <p:cNvSpPr/>
          <p:nvPr/>
        </p:nvSpPr>
        <p:spPr>
          <a:xfrm>
            <a:off x="10561320" y="384048"/>
            <a:ext cx="754380" cy="85587"/>
          </a:xfrm>
          <a:prstGeom prst="rect">
            <a:avLst/>
          </a:prstGeom>
          <a:solidFill>
            <a:srgbClr val="1F2E35"/>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38560" y="384048"/>
            <a:ext cx="365760" cy="613379"/>
          </a:xfrm>
          <a:prstGeom prst="rect">
            <a:avLst/>
          </a:prstGeom>
          <a:solidFill>
            <a:srgbClr val="2A78D6"/>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61320" y="491032"/>
            <a:ext cx="228600" cy="506394"/>
          </a:xfrm>
          <a:prstGeom prst="rect">
            <a:avLst/>
          </a:prstGeom>
          <a:solidFill>
            <a:srgbClr val="E3E8E9"/>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812780" y="491032"/>
            <a:ext cx="228600" cy="506394"/>
          </a:xfrm>
          <a:prstGeom prst="rect">
            <a:avLst/>
          </a:prstGeom>
          <a:solidFill>
            <a:srgbClr val="E3E8E9"/>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064240" y="491032"/>
            <a:ext cx="228600" cy="506394"/>
          </a:xfrm>
          <a:prstGeom prst="rect">
            <a:avLst/>
          </a:prstGeom>
          <a:solidFill>
            <a:srgbClr val="E3E8E9"/>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561320" y="1011692"/>
            <a:ext cx="1143000" cy="85587"/>
          </a:xfrm>
          <a:prstGeom prst="rect">
            <a:avLst/>
          </a:prstGeom>
          <a:solidFill>
            <a:srgbClr val="E3E8E9"/>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61320" y="1115568"/>
            <a:ext cx="1143000" cy="201168"/>
          </a:xfrm>
          <a:prstGeom prst="rect">
            <a:avLst/>
          </a:prstGeom>
          <a:noFill/>
        </p:spPr>
        <p:txBody>
          <a:bodyPr wrap="square" lIns="0" rIns="0" tIns="0" bIns="0" anchor="ctr" rtlCol="0"/>
          <a:lstStyle/>
          <a:p>
            <a:pPr marL="0" indent="0" algn="ctr">
              <a:buNone/>
            </a:pPr>
            <a:r>
              <a:rPr sz="900" b="1" lang="en-US" dirty="0">
                <a:solidFill>
                  <a:srgbClr val="5B6B70"/>
                </a:solidFill>
                <a:latin typeface="Yu Gothic" pitchFamily="34" charset="0"/>
                <a:ea typeface="Yu Gothic" pitchFamily="34" charset="-122"/>
                <a:cs typeface="Yu Gothic" pitchFamily="34" charset="-120"/>
              </a:rPr>
              <a:t>1 / 2</a:t>
            </a:r>
          </a:p>
        </p:txBody>
      </p:sp>
      <p:sp>
        <p:nvSpPr>
          <p:cNvPr id="11" name="Rectangle 10"/>
          <p:cNvSpPr/>
          <p:nvPr/>
        </p:nvSpPr>
        <p:spPr>
          <a:xfrm>
            <a:off x="7269480" y="384048"/>
            <a:ext cx="384048" cy="155448"/>
          </a:xfrm>
          <a:prstGeom prst="rect">
            <a:avLst/>
          </a:prstGeom>
          <a:solidFill>
            <a:srgbClr val="FFFFFF"/>
          </a:solidFill>
          <a:ln w="9525">
            <a:solidFill>
              <a:srgbClr val="5B6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47472"/>
            <a:ext cx="2743200" cy="228600"/>
          </a:xfrm>
          <a:prstGeom prst="rect">
            <a:avLst/>
          </a:prstGeom>
          <a:noFill/>
        </p:spPr>
        <p:txBody>
          <a:bodyPr wrap="square" lIns="0" rIns="0" tIns="0" bIns="0" anchor="ctr" rtlCol="0"/>
          <a:lstStyle/>
          <a:p>
            <a:pPr marL="0" indent="0">
              <a:buNone/>
            </a:pPr>
            <a:r>
              <a:rPr sz="800" b="0" lang="en-US" dirty="0">
                <a:solidFill>
                  <a:srgbClr val="5B6B70"/>
                </a:solidFill>
                <a:latin typeface="Yu Gothic" pitchFamily="34" charset="0"/>
                <a:ea typeface="Yu Gothic" pitchFamily="34" charset="-122"/>
                <a:cs typeface="Yu Gothic" pitchFamily="34" charset="-120"/>
              </a:rPr>
              <a:t>データ（マスタ・トランザクション・測定データ）</a:t>
            </a:r>
          </a:p>
        </p:txBody>
      </p:sp>
      <p:sp>
        <p:nvSpPr>
          <p:cNvPr id="13" name="Rounded Rectangle 12"/>
          <p:cNvSpPr/>
          <p:nvPr/>
        </p:nvSpPr>
        <p:spPr>
          <a:xfrm>
            <a:off x="7269480" y="585216"/>
            <a:ext cx="384048" cy="155448"/>
          </a:xfrm>
          <a:prstGeom prst="roundRect">
            <a:avLst>
              <a:gd name="adj" fmla="val 50000"/>
            </a:avLst>
          </a:prstGeom>
          <a:solidFill>
            <a:srgbClr val="FFFFFF"/>
          </a:solidFill>
          <a:ln w="9525">
            <a:solidFill>
              <a:srgbClr val="5B6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79" y="548640"/>
            <a:ext cx="2743200" cy="228600"/>
          </a:xfrm>
          <a:prstGeom prst="rect">
            <a:avLst/>
          </a:prstGeom>
          <a:noFill/>
        </p:spPr>
        <p:txBody>
          <a:bodyPr wrap="square" lIns="0" rIns="0" tIns="0" bIns="0" anchor="ctr" rtlCol="0"/>
          <a:lstStyle/>
          <a:p>
            <a:pPr marL="0" indent="0">
              <a:buNone/>
            </a:pPr>
            <a:r>
              <a:rPr sz="800" b="0" lang="en-US" dirty="0">
                <a:solidFill>
                  <a:srgbClr val="5B6B70"/>
                </a:solidFill>
                <a:latin typeface="Yu Gothic" pitchFamily="34" charset="0"/>
                <a:ea typeface="Yu Gothic" pitchFamily="34" charset="-122"/>
                <a:cs typeface="Yu Gothic" pitchFamily="34" charset="-120"/>
              </a:rPr>
              <a:t>文書・記録（定義・仕様、分析・評価、文書）</a:t>
            </a:r>
          </a:p>
        </p:txBody>
      </p:sp>
      <p:sp>
        <p:nvSpPr>
          <p:cNvPr id="15" name="Rounded Rectangle 14"/>
          <p:cNvSpPr/>
          <p:nvPr/>
        </p:nvSpPr>
        <p:spPr>
          <a:xfrm>
            <a:off x="7269480" y="786384"/>
            <a:ext cx="384048" cy="155448"/>
          </a:xfrm>
          <a:prstGeom prst="roundRect">
            <a:avLst>
              <a:gd name="adj" fmla="val 50000"/>
            </a:avLst>
          </a:prstGeom>
          <a:solidFill>
            <a:srgbClr val="E4EAEC"/>
          </a:solidFill>
          <a:ln w="9525">
            <a:solidFill>
              <a:srgbClr val="5B6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749808"/>
            <a:ext cx="2743200" cy="228600"/>
          </a:xfrm>
          <a:prstGeom prst="rect">
            <a:avLst/>
          </a:prstGeom>
          <a:noFill/>
        </p:spPr>
        <p:txBody>
          <a:bodyPr wrap="square" lIns="0" rIns="0" tIns="0" bIns="0" anchor="ctr" rtlCol="0"/>
          <a:lstStyle/>
          <a:p>
            <a:pPr marL="0" indent="0">
              <a:buNone/>
            </a:pPr>
            <a:r>
              <a:rPr sz="800" b="0" lang="en-US" dirty="0">
                <a:solidFill>
                  <a:srgbClr val="5B6B70"/>
                </a:solidFill>
                <a:latin typeface="Yu Gothic" pitchFamily="34" charset="0"/>
                <a:ea typeface="Yu Gothic" pitchFamily="34" charset="-122"/>
                <a:cs typeface="Yu Gothic" pitchFamily="34" charset="-120"/>
              </a:rPr>
              <a:t>2つのアプリで作成・更新（C）</a:t>
            </a:r>
          </a:p>
        </p:txBody>
      </p:sp>
      <p:sp>
        <p:nvSpPr>
          <p:cNvPr id="17" name="Rounded Rectangle 16"/>
          <p:cNvSpPr/>
          <p:nvPr/>
        </p:nvSpPr>
        <p:spPr>
          <a:xfrm>
            <a:off x="7269480" y="987552"/>
            <a:ext cx="384048" cy="155448"/>
          </a:xfrm>
          <a:prstGeom prst="roundRect">
            <a:avLst>
              <a:gd name="adj" fmla="val 50000"/>
            </a:avLst>
          </a:prstGeom>
          <a:solidFill>
            <a:srgbClr val="00FFFF"/>
          </a:solidFill>
          <a:ln w="9525">
            <a:solidFill>
              <a:srgbClr val="5B6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950976"/>
            <a:ext cx="2743200" cy="228600"/>
          </a:xfrm>
          <a:prstGeom prst="rect">
            <a:avLst/>
          </a:prstGeom>
          <a:noFill/>
        </p:spPr>
        <p:txBody>
          <a:bodyPr wrap="square" lIns="0" rIns="0" tIns="0" bIns="0" anchor="ctr" rtlCol="0"/>
          <a:lstStyle/>
          <a:p>
            <a:pPr marL="0" indent="0">
              <a:buNone/>
            </a:pPr>
            <a:r>
              <a:rPr sz="800" b="0" lang="en-US" dirty="0">
                <a:solidFill>
                  <a:srgbClr val="5B6B70"/>
                </a:solidFill>
                <a:latin typeface="Yu Gothic" pitchFamily="34" charset="0"/>
                <a:ea typeface="Yu Gothic" pitchFamily="34" charset="-122"/>
                <a:cs typeface="Yu Gothic" pitchFamily="34" charset="-120"/>
              </a:rPr>
              <a:t>3つ以上のアプリで作成・更新（C）。数字＝アプリ数</a:t>
            </a:r>
          </a:p>
        </p:txBody>
      </p:sp>
      <p:sp>
        <p:nvSpPr>
          <p:cNvPr id="19" name="Rounded Rectangle 18"/>
          <p:cNvSpPr/>
          <p:nvPr/>
        </p:nvSpPr>
        <p:spPr>
          <a:xfrm>
            <a:off x="457200" y="1325880"/>
            <a:ext cx="11274552" cy="530352"/>
          </a:xfrm>
          <a:prstGeom prst="roundRect">
            <a:avLst>
              <a:gd name="adj" fmla="val 8000"/>
            </a:avLst>
          </a:prstGeom>
          <a:solidFill>
            <a:srgbClr val="FFFFFF"/>
          </a:solidFill>
          <a:ln w="19050">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1362456"/>
            <a:ext cx="11274552" cy="219456"/>
          </a:xfrm>
          <a:prstGeom prst="rect">
            <a:avLst/>
          </a:prstGeom>
          <a:noFill/>
        </p:spPr>
        <p:txBody>
          <a:bodyPr wrap="square" lIns="0" rIns="0" tIns="0" bIns="0" anchor="ctr" rtlCol="0"/>
          <a:lstStyle/>
          <a:p>
            <a:pPr marL="0" indent="0" algn="ctr">
              <a:buNone/>
            </a:pPr>
            <a:r>
              <a:rPr sz="1150" b="1" lang="en-US" dirty="0">
                <a:solidFill>
                  <a:srgbClr val="1F2E35"/>
                </a:solidFill>
                <a:latin typeface="Yu Gothic" pitchFamily="34" charset="0"/>
                <a:ea typeface="Yu Gothic" pitchFamily="34" charset="-122"/>
                <a:cs typeface="Yu Gothic" pitchFamily="34" charset="-120"/>
              </a:rPr>
              <a:t>戦略・ガバナンス（Strategy &amp; Governance）</a:t>
            </a:r>
          </a:p>
        </p:txBody>
      </p:sp>
      <p:sp>
        <p:nvSpPr>
          <p:cNvPr id="21" name="Rectangle 20"/>
          <p:cNvSpPr/>
          <p:nvPr/>
        </p:nvSpPr>
        <p:spPr>
          <a:xfrm>
            <a:off x="640080" y="1600199"/>
            <a:ext cx="1726692" cy="182880"/>
          </a:xfrm>
          <a:prstGeom prst="rect">
            <a:avLst/>
          </a:prstGeom>
          <a:solidFill>
            <a:srgbClr val="00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944" y="1600199"/>
            <a:ext cx="1616964"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開発判定記録（5）</a:t>
            </a:r>
          </a:p>
        </p:txBody>
      </p:sp>
      <p:sp>
        <p:nvSpPr>
          <p:cNvPr id="23" name="Rectangle 22"/>
          <p:cNvSpPr/>
          <p:nvPr/>
        </p:nvSpPr>
        <p:spPr>
          <a:xfrm>
            <a:off x="2476499" y="1600199"/>
            <a:ext cx="1726692" cy="182880"/>
          </a:xfrm>
          <a:prstGeom prst="rect">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31364" y="1600199"/>
            <a:ext cx="1616964"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特許・独占期間</a:t>
            </a:r>
          </a:p>
        </p:txBody>
      </p:sp>
      <p:sp>
        <p:nvSpPr>
          <p:cNvPr id="25" name="Rectangle 24"/>
          <p:cNvSpPr/>
          <p:nvPr/>
        </p:nvSpPr>
        <p:spPr>
          <a:xfrm>
            <a:off x="4312920" y="1600199"/>
            <a:ext cx="1726692" cy="182880"/>
          </a:xfrm>
          <a:prstGeom prst="rect">
            <a:avLst/>
          </a:prstGeom>
          <a:solidFill>
            <a:srgbClr val="E4EAEC"/>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67784" y="1600199"/>
            <a:ext cx="1616964"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取引先・施設マスタ（2）</a:t>
            </a:r>
          </a:p>
        </p:txBody>
      </p:sp>
      <p:sp>
        <p:nvSpPr>
          <p:cNvPr id="27" name="Rectangle 26"/>
          <p:cNvSpPr/>
          <p:nvPr/>
        </p:nvSpPr>
        <p:spPr>
          <a:xfrm>
            <a:off x="6149340" y="1600199"/>
            <a:ext cx="1726692" cy="182880"/>
          </a:xfrm>
          <a:prstGeom prst="rect">
            <a:avLst/>
          </a:prstGeom>
          <a:solidFill>
            <a:srgbClr val="00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04204" y="1600199"/>
            <a:ext cx="1616964"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契約（5）</a:t>
            </a:r>
          </a:p>
        </p:txBody>
      </p:sp>
      <p:sp>
        <p:nvSpPr>
          <p:cNvPr id="29" name="Rectangle 28"/>
          <p:cNvSpPr/>
          <p:nvPr/>
        </p:nvSpPr>
        <p:spPr>
          <a:xfrm>
            <a:off x="7985759" y="1600199"/>
            <a:ext cx="1726692" cy="182880"/>
          </a:xfrm>
          <a:prstGeom prst="rect">
            <a:avLst/>
          </a:prstGeom>
          <a:solidFill>
            <a:srgbClr val="00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0624" y="1600199"/>
            <a:ext cx="1616964"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適応症（5）</a:t>
            </a:r>
          </a:p>
        </p:txBody>
      </p:sp>
      <p:sp>
        <p:nvSpPr>
          <p:cNvPr id="31" name="Rounded Rectangle 30"/>
          <p:cNvSpPr/>
          <p:nvPr/>
        </p:nvSpPr>
        <p:spPr>
          <a:xfrm>
            <a:off x="9822179" y="1600199"/>
            <a:ext cx="1726692" cy="182880"/>
          </a:xfrm>
          <a:prstGeom prst="roundRect">
            <a:avLst>
              <a:gd name="adj" fmla="val 50000"/>
            </a:avLst>
          </a:prstGeom>
          <a:solidFill>
            <a:srgbClr val="00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77044" y="1600199"/>
            <a:ext cx="1616964" cy="182880"/>
          </a:xfrm>
          <a:prstGeom prst="rect">
            <a:avLst/>
          </a:prstGeom>
          <a:noFill/>
        </p:spPr>
        <p:txBody>
          <a:bodyPr wrap="square" lIns="0" rIns="0" tIns="0" bIns="0" anchor="ctr" rtlCol="0"/>
          <a:lstStyle/>
          <a:p>
            <a:pPr marL="0" indent="0" algn="ctr">
              <a:buNone/>
            </a:pPr>
            <a:r>
              <a:rPr sz="650" b="1" lang="en-US" dirty="0">
                <a:solidFill>
                  <a:srgbClr val="000000"/>
                </a:solidFill>
                <a:latin typeface="Yu Gothic" pitchFamily="34" charset="0"/>
                <a:ea typeface="Yu Gothic" pitchFamily="34" charset="-122"/>
                <a:cs typeface="Yu Gothic" pitchFamily="34" charset="-120"/>
              </a:rPr>
              <a:t>目標製品プロファイル（TPP）（3）</a:t>
            </a:r>
          </a:p>
        </p:txBody>
      </p:sp>
      <p:sp>
        <p:nvSpPr>
          <p:cNvPr id="33" name="Rounded Rectangle 32"/>
          <p:cNvSpPr/>
          <p:nvPr/>
        </p:nvSpPr>
        <p:spPr>
          <a:xfrm>
            <a:off x="457200" y="1984248"/>
            <a:ext cx="11274552" cy="4526280"/>
          </a:xfrm>
          <a:prstGeom prst="roundRect">
            <a:avLst>
              <a:gd name="adj" fmla="val 2000"/>
            </a:avLst>
          </a:prstGeom>
          <a:solidFill>
            <a:srgbClr val="E8F1FB"/>
          </a:solidFill>
          <a:ln w="1905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2039112"/>
            <a:ext cx="11274552" cy="274320"/>
          </a:xfrm>
          <a:prstGeom prst="rect">
            <a:avLst/>
          </a:prstGeom>
          <a:noFill/>
        </p:spPr>
        <p:txBody>
          <a:bodyPr wrap="square" lIns="0" rIns="0" tIns="0" bIns="0" anchor="ctr" rtlCol="0"/>
          <a:lstStyle/>
          <a:p>
            <a:pPr marL="0" indent="0" algn="ctr">
              <a:buNone/>
            </a:pPr>
            <a:r>
              <a:rPr sz="1250" b="1" lang="en-US" dirty="0">
                <a:solidFill>
                  <a:srgbClr val="2A78D6"/>
                </a:solidFill>
                <a:latin typeface="Yu Gothic" pitchFamily="34" charset="0"/>
                <a:ea typeface="Yu Gothic" pitchFamily="34" charset="-122"/>
                <a:cs typeface="Yu Gothic" pitchFamily="34" charset="-120"/>
              </a:rPr>
              <a:t>R&amp;D Engine</a:t>
            </a:r>
          </a:p>
        </p:txBody>
      </p:sp>
      <p:sp>
        <p:nvSpPr>
          <p:cNvPr id="35" name="Rounded Rectangle 34"/>
          <p:cNvSpPr/>
          <p:nvPr/>
        </p:nvSpPr>
        <p:spPr>
          <a:xfrm>
            <a:off x="530352" y="2368296"/>
            <a:ext cx="2331720" cy="4069080"/>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0352" y="2478024"/>
            <a:ext cx="2331720"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研究（創薬）</a:t>
            </a:r>
          </a:p>
        </p:txBody>
      </p:sp>
      <p:sp>
        <p:nvSpPr>
          <p:cNvPr id="37" name="Rectangle 36"/>
          <p:cNvSpPr/>
          <p:nvPr/>
        </p:nvSpPr>
        <p:spPr>
          <a:xfrm>
            <a:off x="621792" y="2770632"/>
            <a:ext cx="2148839" cy="182880"/>
          </a:xfrm>
          <a:prstGeom prst="rect">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76656" y="2770632"/>
            <a:ext cx="203911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遺伝子・オミクスデータ（2）</a:t>
            </a:r>
          </a:p>
        </p:txBody>
      </p:sp>
      <p:sp>
        <p:nvSpPr>
          <p:cNvPr id="39" name="Rectangle 38"/>
          <p:cNvSpPr/>
          <p:nvPr/>
        </p:nvSpPr>
        <p:spPr>
          <a:xfrm>
            <a:off x="621792" y="2985515"/>
            <a:ext cx="2148839" cy="182880"/>
          </a:xfrm>
          <a:prstGeom prst="rect">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2985515"/>
            <a:ext cx="203911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標的（2）</a:t>
            </a:r>
          </a:p>
        </p:txBody>
      </p:sp>
      <p:sp>
        <p:nvSpPr>
          <p:cNvPr id="41" name="Rectangle 40"/>
          <p:cNvSpPr/>
          <p:nvPr/>
        </p:nvSpPr>
        <p:spPr>
          <a:xfrm>
            <a:off x="621792" y="3200399"/>
            <a:ext cx="2148839" cy="182880"/>
          </a:xfrm>
          <a:prstGeom prst="rect">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6656" y="3200399"/>
            <a:ext cx="203911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抗原・試薬（2）</a:t>
            </a:r>
          </a:p>
        </p:txBody>
      </p:sp>
      <p:sp>
        <p:nvSpPr>
          <p:cNvPr id="43" name="Rounded Rectangle 42"/>
          <p:cNvSpPr/>
          <p:nvPr/>
        </p:nvSpPr>
        <p:spPr>
          <a:xfrm>
            <a:off x="621792" y="3415283"/>
            <a:ext cx="2148839" cy="182880"/>
          </a:xfrm>
          <a:prstGeom prst="roundRect">
            <a:avLst>
              <a:gd name="adj" fmla="val 50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6656" y="3415283"/>
            <a:ext cx="203911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アッセイ（評価系）（2）</a:t>
            </a:r>
          </a:p>
        </p:txBody>
      </p:sp>
      <p:sp>
        <p:nvSpPr>
          <p:cNvPr id="45" name="Rectangle 44"/>
          <p:cNvSpPr/>
          <p:nvPr/>
        </p:nvSpPr>
        <p:spPr>
          <a:xfrm>
            <a:off x="621792" y="3630167"/>
            <a:ext cx="2148839" cy="182880"/>
          </a:xfrm>
          <a:prstGeom prst="rect">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76656" y="3630167"/>
            <a:ext cx="203911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抗体分子（2）</a:t>
            </a:r>
          </a:p>
        </p:txBody>
      </p:sp>
      <p:sp>
        <p:nvSpPr>
          <p:cNvPr id="47" name="Rectangle 46"/>
          <p:cNvSpPr/>
          <p:nvPr/>
        </p:nvSpPr>
        <p:spPr>
          <a:xfrm>
            <a:off x="621792" y="3845051"/>
            <a:ext cx="2148839" cy="182880"/>
          </a:xfrm>
          <a:prstGeom prst="rect">
            <a:avLst/>
          </a:prstGeom>
          <a:solidFill>
            <a:srgbClr val="00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76656" y="3845051"/>
            <a:ext cx="2039111"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研究実験データ（3）</a:t>
            </a:r>
          </a:p>
        </p:txBody>
      </p:sp>
      <p:sp>
        <p:nvSpPr>
          <p:cNvPr id="49" name="Rectangle 48"/>
          <p:cNvSpPr/>
          <p:nvPr/>
        </p:nvSpPr>
        <p:spPr>
          <a:xfrm>
            <a:off x="621792" y="4059935"/>
            <a:ext cx="2148839" cy="182880"/>
          </a:xfrm>
          <a:prstGeom prst="rect">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76656" y="4059935"/>
            <a:ext cx="203911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疾患モデル</a:t>
            </a:r>
          </a:p>
        </p:txBody>
      </p:sp>
      <p:sp>
        <p:nvSpPr>
          <p:cNvPr id="51" name="Rectangle 50"/>
          <p:cNvSpPr/>
          <p:nvPr/>
        </p:nvSpPr>
        <p:spPr>
          <a:xfrm>
            <a:off x="621792" y="4274820"/>
            <a:ext cx="2148839" cy="182880"/>
          </a:xfrm>
          <a:prstGeom prst="rect">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76656" y="4274820"/>
            <a:ext cx="203911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in vivo薬効データ</a:t>
            </a:r>
          </a:p>
        </p:txBody>
      </p:sp>
      <p:sp>
        <p:nvSpPr>
          <p:cNvPr id="53" name="Rounded Rectangle 52"/>
          <p:cNvSpPr/>
          <p:nvPr/>
        </p:nvSpPr>
        <p:spPr>
          <a:xfrm>
            <a:off x="621792" y="4489704"/>
            <a:ext cx="2148839" cy="182880"/>
          </a:xfrm>
          <a:prstGeom prst="roundRect">
            <a:avLst>
              <a:gd name="adj" fmla="val 50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76656" y="4489704"/>
            <a:ext cx="203911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免疫原性リスク評価（2）</a:t>
            </a:r>
          </a:p>
        </p:txBody>
      </p:sp>
      <p:sp>
        <p:nvSpPr>
          <p:cNvPr id="55" name="Rounded Rectangle 54"/>
          <p:cNvSpPr/>
          <p:nvPr/>
        </p:nvSpPr>
        <p:spPr>
          <a:xfrm>
            <a:off x="2935224" y="2368296"/>
            <a:ext cx="2331720" cy="4069080"/>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35224" y="2478024"/>
            <a:ext cx="2331720"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非臨床・臨床薬理</a:t>
            </a:r>
          </a:p>
        </p:txBody>
      </p:sp>
      <p:sp>
        <p:nvSpPr>
          <p:cNvPr id="57" name="Rounded Rectangle 56"/>
          <p:cNvSpPr/>
          <p:nvPr/>
        </p:nvSpPr>
        <p:spPr>
          <a:xfrm>
            <a:off x="3026664" y="2770632"/>
            <a:ext cx="2148839"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081528" y="2770632"/>
            <a:ext cx="203911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非臨床試験計画</a:t>
            </a:r>
          </a:p>
        </p:txBody>
      </p:sp>
      <p:sp>
        <p:nvSpPr>
          <p:cNvPr id="59" name="Rectangle 58"/>
          <p:cNvSpPr/>
          <p:nvPr/>
        </p:nvSpPr>
        <p:spPr>
          <a:xfrm>
            <a:off x="3026664" y="2985515"/>
            <a:ext cx="2148839" cy="182880"/>
          </a:xfrm>
          <a:prstGeom prst="rect">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081528" y="2985515"/>
            <a:ext cx="203911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非臨床試験データ（2）</a:t>
            </a:r>
          </a:p>
        </p:txBody>
      </p:sp>
      <p:sp>
        <p:nvSpPr>
          <p:cNvPr id="61" name="Rounded Rectangle 60"/>
          <p:cNvSpPr/>
          <p:nvPr/>
        </p:nvSpPr>
        <p:spPr>
          <a:xfrm>
            <a:off x="3026664" y="3200399"/>
            <a:ext cx="2148839"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081528" y="3200399"/>
            <a:ext cx="203911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非臨床試験報告書</a:t>
            </a:r>
          </a:p>
        </p:txBody>
      </p:sp>
      <p:sp>
        <p:nvSpPr>
          <p:cNvPr id="63" name="Rounded Rectangle 62"/>
          <p:cNvSpPr/>
          <p:nvPr/>
        </p:nvSpPr>
        <p:spPr>
          <a:xfrm>
            <a:off x="3026664" y="3415283"/>
            <a:ext cx="2148839"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081528" y="3415283"/>
            <a:ext cx="203911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生体試料分析法</a:t>
            </a:r>
          </a:p>
        </p:txBody>
      </p:sp>
      <p:sp>
        <p:nvSpPr>
          <p:cNvPr id="65" name="Rectangle 64"/>
          <p:cNvSpPr/>
          <p:nvPr/>
        </p:nvSpPr>
        <p:spPr>
          <a:xfrm>
            <a:off x="3026664" y="3630167"/>
            <a:ext cx="2148839" cy="182880"/>
          </a:xfrm>
          <a:prstGeom prst="rect">
            <a:avLst/>
          </a:prstGeom>
          <a:solidFill>
            <a:srgbClr val="00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081528" y="3630167"/>
            <a:ext cx="2039111"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臨床検体分析データ（3）</a:t>
            </a:r>
          </a:p>
        </p:txBody>
      </p:sp>
      <p:sp>
        <p:nvSpPr>
          <p:cNvPr id="67" name="Rounded Rectangle 66"/>
          <p:cNvSpPr/>
          <p:nvPr/>
        </p:nvSpPr>
        <p:spPr>
          <a:xfrm>
            <a:off x="3026664" y="3845051"/>
            <a:ext cx="2148839"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081528" y="3845051"/>
            <a:ext cx="203911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PK/PDモデル・解析結果</a:t>
            </a:r>
          </a:p>
        </p:txBody>
      </p:sp>
      <p:sp>
        <p:nvSpPr>
          <p:cNvPr id="69" name="Rounded Rectangle 68"/>
          <p:cNvSpPr/>
          <p:nvPr/>
        </p:nvSpPr>
        <p:spPr>
          <a:xfrm>
            <a:off x="5340096" y="2368296"/>
            <a:ext cx="2514600" cy="4069080"/>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340096" y="2478024"/>
            <a:ext cx="2514600"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CMC開発</a:t>
            </a:r>
          </a:p>
        </p:txBody>
      </p:sp>
      <p:sp>
        <p:nvSpPr>
          <p:cNvPr id="71" name="Rectangle 70"/>
          <p:cNvSpPr/>
          <p:nvPr/>
        </p:nvSpPr>
        <p:spPr>
          <a:xfrm>
            <a:off x="5431536" y="2770632"/>
            <a:ext cx="2331720" cy="182880"/>
          </a:xfrm>
          <a:prstGeom prst="rect">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486399" y="2770632"/>
            <a:ext cx="222199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発現ベクター・細胞株</a:t>
            </a:r>
          </a:p>
        </p:txBody>
      </p:sp>
      <p:sp>
        <p:nvSpPr>
          <p:cNvPr id="73" name="Rectangle 72"/>
          <p:cNvSpPr/>
          <p:nvPr/>
        </p:nvSpPr>
        <p:spPr>
          <a:xfrm>
            <a:off x="5431536" y="2985515"/>
            <a:ext cx="2331720" cy="182880"/>
          </a:xfrm>
          <a:prstGeom prst="rect">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486399" y="2985515"/>
            <a:ext cx="222199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セルバンク</a:t>
            </a:r>
          </a:p>
        </p:txBody>
      </p:sp>
      <p:sp>
        <p:nvSpPr>
          <p:cNvPr id="75" name="Rounded Rectangle 74"/>
          <p:cNvSpPr/>
          <p:nvPr/>
        </p:nvSpPr>
        <p:spPr>
          <a:xfrm>
            <a:off x="5431536" y="3200399"/>
            <a:ext cx="2331720" cy="182880"/>
          </a:xfrm>
          <a:prstGeom prst="roundRect">
            <a:avLst>
              <a:gd name="adj" fmla="val 50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486399" y="3200399"/>
            <a:ext cx="222199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プロセス定義（2）</a:t>
            </a:r>
          </a:p>
        </p:txBody>
      </p:sp>
      <p:sp>
        <p:nvSpPr>
          <p:cNvPr id="77" name="Rectangle 76"/>
          <p:cNvSpPr/>
          <p:nvPr/>
        </p:nvSpPr>
        <p:spPr>
          <a:xfrm>
            <a:off x="5431536" y="3415283"/>
            <a:ext cx="2331720" cy="182880"/>
          </a:xfrm>
          <a:prstGeom prst="rect">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486399" y="3415283"/>
            <a:ext cx="222199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プロセス開発データ</a:t>
            </a:r>
          </a:p>
        </p:txBody>
      </p:sp>
      <p:sp>
        <p:nvSpPr>
          <p:cNvPr id="79" name="Rounded Rectangle 78"/>
          <p:cNvSpPr/>
          <p:nvPr/>
        </p:nvSpPr>
        <p:spPr>
          <a:xfrm>
            <a:off x="5431536" y="3630167"/>
            <a:ext cx="2331720"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486399" y="3630167"/>
            <a:ext cx="222199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処方・製剤仕様</a:t>
            </a:r>
          </a:p>
        </p:txBody>
      </p:sp>
      <p:sp>
        <p:nvSpPr>
          <p:cNvPr id="81" name="Rounded Rectangle 80"/>
          <p:cNvSpPr/>
          <p:nvPr/>
        </p:nvSpPr>
        <p:spPr>
          <a:xfrm>
            <a:off x="5431536" y="3845051"/>
            <a:ext cx="2331720" cy="182880"/>
          </a:xfrm>
          <a:prstGeom prst="roundRect">
            <a:avLst>
              <a:gd name="adj" fmla="val 50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486399" y="3845051"/>
            <a:ext cx="222199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重要品質特性（CQA）（2）</a:t>
            </a:r>
          </a:p>
        </p:txBody>
      </p:sp>
      <p:sp>
        <p:nvSpPr>
          <p:cNvPr id="83" name="Rounded Rectangle 82"/>
          <p:cNvSpPr/>
          <p:nvPr/>
        </p:nvSpPr>
        <p:spPr>
          <a:xfrm>
            <a:off x="5431536" y="4059935"/>
            <a:ext cx="2331720" cy="182880"/>
          </a:xfrm>
          <a:prstGeom prst="roundRect">
            <a:avLst>
              <a:gd name="adj" fmla="val 50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486399" y="4059935"/>
            <a:ext cx="222199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分析法（2）</a:t>
            </a:r>
          </a:p>
        </p:txBody>
      </p:sp>
      <p:sp>
        <p:nvSpPr>
          <p:cNvPr id="85" name="Rectangle 84"/>
          <p:cNvSpPr/>
          <p:nvPr/>
        </p:nvSpPr>
        <p:spPr>
          <a:xfrm>
            <a:off x="5431536" y="4274820"/>
            <a:ext cx="2331720" cy="182880"/>
          </a:xfrm>
          <a:prstGeom prst="rect">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486399" y="4274820"/>
            <a:ext cx="222199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標準物質（2）</a:t>
            </a:r>
          </a:p>
        </p:txBody>
      </p:sp>
      <p:sp>
        <p:nvSpPr>
          <p:cNvPr id="87" name="Rounded Rectangle 86"/>
          <p:cNvSpPr/>
          <p:nvPr/>
        </p:nvSpPr>
        <p:spPr>
          <a:xfrm>
            <a:off x="5431536" y="4489704"/>
            <a:ext cx="2331720" cy="182880"/>
          </a:xfrm>
          <a:prstGeom prst="roundRect">
            <a:avLst>
              <a:gd name="adj" fmla="val 50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486399" y="4489704"/>
            <a:ext cx="222199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規格（2）</a:t>
            </a:r>
          </a:p>
        </p:txBody>
      </p:sp>
      <p:sp>
        <p:nvSpPr>
          <p:cNvPr id="89" name="Rounded Rectangle 88"/>
          <p:cNvSpPr/>
          <p:nvPr/>
        </p:nvSpPr>
        <p:spPr>
          <a:xfrm>
            <a:off x="5431536" y="4704588"/>
            <a:ext cx="2331720"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486399" y="4704588"/>
            <a:ext cx="222199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管理戦略</a:t>
            </a:r>
          </a:p>
        </p:txBody>
      </p:sp>
      <p:sp>
        <p:nvSpPr>
          <p:cNvPr id="91" name="Rounded Rectangle 90"/>
          <p:cNvSpPr/>
          <p:nvPr/>
        </p:nvSpPr>
        <p:spPr>
          <a:xfrm>
            <a:off x="5431536" y="4919472"/>
            <a:ext cx="2331720" cy="182880"/>
          </a:xfrm>
          <a:prstGeom prst="roundRect">
            <a:avLst>
              <a:gd name="adj" fmla="val 50000"/>
            </a:avLst>
          </a:prstGeom>
          <a:solidFill>
            <a:srgbClr val="00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486399" y="4919472"/>
            <a:ext cx="2221991"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CMC技術報告書（3）</a:t>
            </a:r>
          </a:p>
        </p:txBody>
      </p:sp>
      <p:sp>
        <p:nvSpPr>
          <p:cNvPr id="93" name="Rounded Rectangle 92"/>
          <p:cNvSpPr/>
          <p:nvPr/>
        </p:nvSpPr>
        <p:spPr>
          <a:xfrm>
            <a:off x="5431536" y="5134356"/>
            <a:ext cx="2331720"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486399" y="5134356"/>
            <a:ext cx="2221991"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マスターバッチレコード</a:t>
            </a:r>
          </a:p>
        </p:txBody>
      </p:sp>
      <p:sp>
        <p:nvSpPr>
          <p:cNvPr id="95" name="Rounded Rectangle 94"/>
          <p:cNvSpPr/>
          <p:nvPr/>
        </p:nvSpPr>
        <p:spPr>
          <a:xfrm>
            <a:off x="7927848" y="2368296"/>
            <a:ext cx="3730752" cy="4069080"/>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927848" y="2478024"/>
            <a:ext cx="3730752"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臨床開発</a:t>
            </a:r>
          </a:p>
        </p:txBody>
      </p:sp>
      <p:sp>
        <p:nvSpPr>
          <p:cNvPr id="97" name="Rounded Rectangle 96"/>
          <p:cNvSpPr/>
          <p:nvPr/>
        </p:nvSpPr>
        <p:spPr>
          <a:xfrm>
            <a:off x="8019288" y="2770632"/>
            <a:ext cx="1746504"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8074152" y="2770632"/>
            <a:ext cx="163677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疫学データ</a:t>
            </a:r>
          </a:p>
        </p:txBody>
      </p:sp>
      <p:sp>
        <p:nvSpPr>
          <p:cNvPr id="99" name="Rectangle 98"/>
          <p:cNvSpPr/>
          <p:nvPr/>
        </p:nvSpPr>
        <p:spPr>
          <a:xfrm>
            <a:off x="9820656" y="2770632"/>
            <a:ext cx="1746504" cy="182880"/>
          </a:xfrm>
          <a:prstGeom prst="rect">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9875520" y="2770632"/>
            <a:ext cx="163677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自然歴データ</a:t>
            </a:r>
          </a:p>
        </p:txBody>
      </p:sp>
      <p:sp>
        <p:nvSpPr>
          <p:cNvPr id="101" name="Rectangle 100"/>
          <p:cNvSpPr/>
          <p:nvPr/>
        </p:nvSpPr>
        <p:spPr>
          <a:xfrm>
            <a:off x="8019288" y="2985515"/>
            <a:ext cx="1746504" cy="182880"/>
          </a:xfrm>
          <a:prstGeom prst="rect">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074152" y="2985515"/>
            <a:ext cx="163677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患者レジストリデータ</a:t>
            </a:r>
          </a:p>
        </p:txBody>
      </p:sp>
      <p:sp>
        <p:nvSpPr>
          <p:cNvPr id="103" name="Rectangle 102"/>
          <p:cNvSpPr/>
          <p:nvPr/>
        </p:nvSpPr>
        <p:spPr>
          <a:xfrm>
            <a:off x="9820656" y="2985515"/>
            <a:ext cx="1746504" cy="182880"/>
          </a:xfrm>
          <a:prstGeom prst="rect">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875520" y="2985515"/>
            <a:ext cx="163677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候補患者情報</a:t>
            </a:r>
          </a:p>
        </p:txBody>
      </p:sp>
      <p:sp>
        <p:nvSpPr>
          <p:cNvPr id="105" name="Rounded Rectangle 104"/>
          <p:cNvSpPr/>
          <p:nvPr/>
        </p:nvSpPr>
        <p:spPr>
          <a:xfrm>
            <a:off x="8019288" y="3200399"/>
            <a:ext cx="1746504" cy="182880"/>
          </a:xfrm>
          <a:prstGeom prst="roundRect">
            <a:avLst>
              <a:gd name="adj" fmla="val 50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074152" y="3200399"/>
            <a:ext cx="1636776" cy="182880"/>
          </a:xfrm>
          <a:prstGeom prst="rect">
            <a:avLst/>
          </a:prstGeom>
          <a:noFill/>
        </p:spPr>
        <p:txBody>
          <a:bodyPr wrap="square" lIns="0" rIns="0" tIns="0" bIns="0" anchor="ctr" rtlCol="0"/>
          <a:lstStyle/>
          <a:p>
            <a:pPr marL="0" indent="0" algn="ctr">
              <a:buNone/>
            </a:pPr>
            <a:r>
              <a:rPr sz="650" b="0" lang="en-US" dirty="0">
                <a:solidFill>
                  <a:srgbClr val="1F2E35"/>
                </a:solidFill>
                <a:latin typeface="Yu Gothic" pitchFamily="34" charset="0"/>
                <a:ea typeface="Yu Gothic" pitchFamily="34" charset="-122"/>
                <a:cs typeface="Yu Gothic" pitchFamily="34" charset="-120"/>
              </a:rPr>
              <a:t>臨床評価指標・バイオマーカー定義</a:t>
            </a:r>
          </a:p>
        </p:txBody>
      </p:sp>
      <p:sp>
        <p:nvSpPr>
          <p:cNvPr id="107" name="Rounded Rectangle 106"/>
          <p:cNvSpPr/>
          <p:nvPr/>
        </p:nvSpPr>
        <p:spPr>
          <a:xfrm>
            <a:off x="9820656" y="3200399"/>
            <a:ext cx="1746504" cy="182880"/>
          </a:xfrm>
          <a:prstGeom prst="roundRect">
            <a:avLst>
              <a:gd name="adj" fmla="val 50000"/>
            </a:avLst>
          </a:prstGeom>
          <a:solidFill>
            <a:srgbClr val="00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9875520" y="3200399"/>
            <a:ext cx="1636776"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治験実施計画書（3）</a:t>
            </a:r>
          </a:p>
        </p:txBody>
      </p:sp>
      <p:sp>
        <p:nvSpPr>
          <p:cNvPr id="109" name="Rounded Rectangle 108"/>
          <p:cNvSpPr/>
          <p:nvPr/>
        </p:nvSpPr>
        <p:spPr>
          <a:xfrm>
            <a:off x="8019288" y="3415283"/>
            <a:ext cx="1746504" cy="182880"/>
          </a:xfrm>
          <a:prstGeom prst="roundRect">
            <a:avLst>
              <a:gd name="adj" fmla="val 50000"/>
            </a:avLst>
          </a:prstGeom>
          <a:solidFill>
            <a:srgbClr val="00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8074152" y="3415283"/>
            <a:ext cx="1636776"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治験薬概要書（IB）（3）</a:t>
            </a:r>
          </a:p>
        </p:txBody>
      </p:sp>
      <p:sp>
        <p:nvSpPr>
          <p:cNvPr id="111" name="Rectangle 110"/>
          <p:cNvSpPr/>
          <p:nvPr/>
        </p:nvSpPr>
        <p:spPr>
          <a:xfrm>
            <a:off x="9820656" y="3415283"/>
            <a:ext cx="1746504" cy="182880"/>
          </a:xfrm>
          <a:prstGeom prst="rect">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875520" y="3415283"/>
            <a:ext cx="163677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試験実施体制（2）</a:t>
            </a:r>
          </a:p>
        </p:txBody>
      </p:sp>
      <p:sp>
        <p:nvSpPr>
          <p:cNvPr id="113" name="Rectangle 112"/>
          <p:cNvSpPr/>
          <p:nvPr/>
        </p:nvSpPr>
        <p:spPr>
          <a:xfrm>
            <a:off x="8019288" y="3630167"/>
            <a:ext cx="1746504" cy="182880"/>
          </a:xfrm>
          <a:prstGeom prst="rect">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074152" y="3630167"/>
            <a:ext cx="163677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試験登録情報（2）</a:t>
            </a:r>
          </a:p>
        </p:txBody>
      </p:sp>
      <p:sp>
        <p:nvSpPr>
          <p:cNvPr id="115" name="Rectangle 114"/>
          <p:cNvSpPr/>
          <p:nvPr/>
        </p:nvSpPr>
        <p:spPr>
          <a:xfrm>
            <a:off x="9820656" y="3630167"/>
            <a:ext cx="1746504" cy="182880"/>
          </a:xfrm>
          <a:prstGeom prst="rect">
            <a:avLst/>
          </a:prstGeom>
          <a:solidFill>
            <a:srgbClr val="00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9875520" y="3630167"/>
            <a:ext cx="1636776"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症例データ（4）</a:t>
            </a:r>
          </a:p>
        </p:txBody>
      </p:sp>
      <p:sp>
        <p:nvSpPr>
          <p:cNvPr id="117" name="Rectangle 116"/>
          <p:cNvSpPr/>
          <p:nvPr/>
        </p:nvSpPr>
        <p:spPr>
          <a:xfrm>
            <a:off x="8019288" y="3845051"/>
            <a:ext cx="1746504" cy="182880"/>
          </a:xfrm>
          <a:prstGeom prst="rect">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074152" y="3845051"/>
            <a:ext cx="163677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臨床データセット（2）</a:t>
            </a:r>
          </a:p>
        </p:txBody>
      </p:sp>
      <p:sp>
        <p:nvSpPr>
          <p:cNvPr id="119" name="Rounded Rectangle 118"/>
          <p:cNvSpPr/>
          <p:nvPr/>
        </p:nvSpPr>
        <p:spPr>
          <a:xfrm>
            <a:off x="9820656" y="3845051"/>
            <a:ext cx="1746504" cy="182880"/>
          </a:xfrm>
          <a:prstGeom prst="roundRect">
            <a:avLst>
              <a:gd name="adj" fmla="val 50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875520" y="3845051"/>
            <a:ext cx="163677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統計解析結果（2）</a:t>
            </a:r>
          </a:p>
        </p:txBody>
      </p:sp>
      <p:sp>
        <p:nvSpPr>
          <p:cNvPr id="121" name="Rounded Rectangle 120"/>
          <p:cNvSpPr/>
          <p:nvPr/>
        </p:nvSpPr>
        <p:spPr>
          <a:xfrm>
            <a:off x="8019288" y="4059935"/>
            <a:ext cx="1746504" cy="182880"/>
          </a:xfrm>
          <a:prstGeom prst="roundRect">
            <a:avLst>
              <a:gd name="adj" fmla="val 50000"/>
            </a:avLst>
          </a:prstGeom>
          <a:solidFill>
            <a:srgbClr val="00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8074152" y="4059935"/>
            <a:ext cx="1636776"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総括報告書（CSR）（4）</a:t>
            </a:r>
          </a:p>
        </p:txBody>
      </p:sp>
      <p:sp>
        <p:nvSpPr>
          <p:cNvPr id="123" name="Rounded Rectangle 122"/>
          <p:cNvSpPr/>
          <p:nvPr/>
        </p:nvSpPr>
        <p:spPr>
          <a:xfrm>
            <a:off x="9820656" y="4059935"/>
            <a:ext cx="1746504" cy="182880"/>
          </a:xfrm>
          <a:prstGeom prst="roundRect">
            <a:avLst>
              <a:gd name="adj" fmla="val 50000"/>
            </a:avLst>
          </a:prstGeom>
          <a:solidFill>
            <a:srgbClr val="00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9875520" y="4059935"/>
            <a:ext cx="1636776"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統合解析（3）</a:t>
            </a:r>
          </a:p>
        </p:txBody>
      </p:sp>
      <p:sp>
        <p:nvSpPr>
          <p:cNvPr id="125" name="Rectangle 124"/>
          <p:cNvSpPr/>
          <p:nvPr/>
        </p:nvSpPr>
        <p:spPr>
          <a:xfrm>
            <a:off x="8019288" y="4274820"/>
            <a:ext cx="1746504" cy="182880"/>
          </a:xfrm>
          <a:prstGeom prst="rect">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074152" y="4274820"/>
            <a:ext cx="163677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治験薬供給記録</a:t>
            </a:r>
          </a:p>
        </p:txBody>
      </p:sp>
      <p:sp>
        <p:nvSpPr>
          <p:cNvPr id="127" name="Rectangle 126"/>
          <p:cNvSpPr/>
          <p:nvPr/>
        </p:nvSpPr>
        <p:spPr>
          <a:xfrm>
            <a:off x="9820656" y="4274820"/>
            <a:ext cx="1746504" cy="182880"/>
          </a:xfrm>
          <a:prstGeom prst="rect">
            <a:avLst/>
          </a:prstGeom>
          <a:solidFill>
            <a:srgbClr val="00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9875520" y="4274820"/>
            <a:ext cx="1636776"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臨床試験（4）</a:t>
            </a:r>
          </a:p>
        </p:txBody>
      </p:sp>
      <p:sp>
        <p:nvSpPr>
          <p:cNvPr id="129" name="Chevron 128"/>
          <p:cNvSpPr/>
          <p:nvPr/>
        </p:nvSpPr>
        <p:spPr>
          <a:xfrm rot="5400000">
            <a:off x="6035040" y="1764791"/>
            <a:ext cx="118872" cy="310896"/>
          </a:xfrm>
          <a:prstGeom prst="chevron">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anchor="t" lIns="0" rIns="0" tIns="0" bIns="0">
            <a:spAutoFit/>
          </a:bodyPr>
          <a:lstStyle/>
          <a:p>
            <a:pPr algn="l"/>
            <a:r>
              <a:rPr sz="2800" b="1">
                <a:solidFill>
                  <a:srgbClr val="1F2E35"/>
                </a:solidFill>
                <a:latin typeface="Yu Gothic"/>
                <a:ea typeface="Yu Gothic"/>
              </a:rPr>
              <a:t>データマップ全体像（2/2）</a:t>
            </a:r>
          </a:p>
        </p:txBody>
      </p:sp>
      <p:sp>
        <p:nvSpPr>
          <p:cNvPr id="3" name="TextBox 2"/>
          <p:cNvSpPr txBox="1"/>
          <p:nvPr/>
        </p:nvSpPr>
        <p:spPr>
          <a:xfrm>
            <a:off x="457200" y="841248"/>
            <a:ext cx="7040880" cy="320040"/>
          </a:xfrm>
          <a:prstGeom prst="rect">
            <a:avLst/>
          </a:prstGeom>
          <a:noFill/>
        </p:spPr>
        <p:txBody>
          <a:bodyPr wrap="square" anchor="t" lIns="0" rIns="0" tIns="0" bIns="0">
            <a:spAutoFit/>
          </a:bodyPr>
          <a:lstStyle/>
          <a:p>
            <a:pPr algn="l"/>
            <a:r>
              <a:rPr sz="1300" b="0">
                <a:solidFill>
                  <a:srgbClr val="5B6B70"/>
                </a:solidFill>
                <a:latin typeface="Yu Gothic"/>
                <a:ea typeface="Yu Gothic"/>
              </a:rPr>
              <a:t>オーナーの領域（ケイパビリティL1）ごとの情報オブジェクト（96件中47件）</a:t>
            </a:r>
          </a:p>
        </p:txBody>
      </p:sp>
      <p:sp>
        <p:nvSpPr>
          <p:cNvPr id="4" name="Rectangle 3"/>
          <p:cNvSpPr/>
          <p:nvPr/>
        </p:nvSpPr>
        <p:spPr>
          <a:xfrm>
            <a:off x="10561320" y="384048"/>
            <a:ext cx="754380" cy="85587"/>
          </a:xfrm>
          <a:prstGeom prst="rect">
            <a:avLst/>
          </a:prstGeom>
          <a:solidFill>
            <a:srgbClr val="E3E8E9"/>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338560" y="384048"/>
            <a:ext cx="365760" cy="613379"/>
          </a:xfrm>
          <a:prstGeom prst="rect">
            <a:avLst/>
          </a:prstGeom>
          <a:solidFill>
            <a:srgbClr val="E3E8E9"/>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61320" y="491032"/>
            <a:ext cx="228600" cy="506394"/>
          </a:xfrm>
          <a:prstGeom prst="rect">
            <a:avLst/>
          </a:prstGeom>
          <a:solidFill>
            <a:srgbClr val="EB6834"/>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812780" y="491032"/>
            <a:ext cx="228600" cy="506394"/>
          </a:xfrm>
          <a:prstGeom prst="rect">
            <a:avLst/>
          </a:prstGeom>
          <a:solidFill>
            <a:srgbClr val="4A3AA7"/>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064240" y="491032"/>
            <a:ext cx="228600" cy="506394"/>
          </a:xfrm>
          <a:prstGeom prst="rect">
            <a:avLst/>
          </a:prstGeom>
          <a:solidFill>
            <a:srgbClr val="1BAF7A"/>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561320" y="1011692"/>
            <a:ext cx="1143000" cy="85587"/>
          </a:xfrm>
          <a:prstGeom prst="rect">
            <a:avLst/>
          </a:prstGeom>
          <a:solidFill>
            <a:srgbClr val="1F2E35"/>
          </a:solidFill>
          <a:ln w="952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61320" y="1115568"/>
            <a:ext cx="1143000" cy="201168"/>
          </a:xfrm>
          <a:prstGeom prst="rect">
            <a:avLst/>
          </a:prstGeom>
          <a:noFill/>
        </p:spPr>
        <p:txBody>
          <a:bodyPr wrap="square" lIns="0" rIns="0" tIns="0" bIns="0" anchor="ctr" rtlCol="0"/>
          <a:lstStyle/>
          <a:p>
            <a:pPr marL="0" indent="0" algn="ctr">
              <a:buNone/>
            </a:pPr>
            <a:r>
              <a:rPr sz="900" b="1" lang="en-US" dirty="0">
                <a:solidFill>
                  <a:srgbClr val="5B6B70"/>
                </a:solidFill>
                <a:latin typeface="Yu Gothic" pitchFamily="34" charset="0"/>
                <a:ea typeface="Yu Gothic" pitchFamily="34" charset="-122"/>
                <a:cs typeface="Yu Gothic" pitchFamily="34" charset="-120"/>
              </a:rPr>
              <a:t>2 / 2</a:t>
            </a:r>
          </a:p>
        </p:txBody>
      </p:sp>
      <p:sp>
        <p:nvSpPr>
          <p:cNvPr id="11" name="Rectangle 10"/>
          <p:cNvSpPr/>
          <p:nvPr/>
        </p:nvSpPr>
        <p:spPr>
          <a:xfrm>
            <a:off x="7269480" y="384048"/>
            <a:ext cx="384048" cy="155448"/>
          </a:xfrm>
          <a:prstGeom prst="rect">
            <a:avLst/>
          </a:prstGeom>
          <a:solidFill>
            <a:srgbClr val="FFFFFF"/>
          </a:solidFill>
          <a:ln w="9525">
            <a:solidFill>
              <a:srgbClr val="5B6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47472"/>
            <a:ext cx="2743200" cy="228600"/>
          </a:xfrm>
          <a:prstGeom prst="rect">
            <a:avLst/>
          </a:prstGeom>
          <a:noFill/>
        </p:spPr>
        <p:txBody>
          <a:bodyPr wrap="square" lIns="0" rIns="0" tIns="0" bIns="0" anchor="ctr" rtlCol="0"/>
          <a:lstStyle/>
          <a:p>
            <a:pPr marL="0" indent="0">
              <a:buNone/>
            </a:pPr>
            <a:r>
              <a:rPr sz="800" b="0" lang="en-US" dirty="0">
                <a:solidFill>
                  <a:srgbClr val="5B6B70"/>
                </a:solidFill>
                <a:latin typeface="Yu Gothic" pitchFamily="34" charset="0"/>
                <a:ea typeface="Yu Gothic" pitchFamily="34" charset="-122"/>
                <a:cs typeface="Yu Gothic" pitchFamily="34" charset="-120"/>
              </a:rPr>
              <a:t>データ（マスタ・トランザクション・測定データ）</a:t>
            </a:r>
          </a:p>
        </p:txBody>
      </p:sp>
      <p:sp>
        <p:nvSpPr>
          <p:cNvPr id="13" name="Rounded Rectangle 12"/>
          <p:cNvSpPr/>
          <p:nvPr/>
        </p:nvSpPr>
        <p:spPr>
          <a:xfrm>
            <a:off x="7269480" y="585216"/>
            <a:ext cx="384048" cy="155448"/>
          </a:xfrm>
          <a:prstGeom prst="roundRect">
            <a:avLst>
              <a:gd name="adj" fmla="val 50000"/>
            </a:avLst>
          </a:prstGeom>
          <a:solidFill>
            <a:srgbClr val="FFFFFF"/>
          </a:solidFill>
          <a:ln w="9525">
            <a:solidFill>
              <a:srgbClr val="5B6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79" y="548640"/>
            <a:ext cx="2743200" cy="228600"/>
          </a:xfrm>
          <a:prstGeom prst="rect">
            <a:avLst/>
          </a:prstGeom>
          <a:noFill/>
        </p:spPr>
        <p:txBody>
          <a:bodyPr wrap="square" lIns="0" rIns="0" tIns="0" bIns="0" anchor="ctr" rtlCol="0"/>
          <a:lstStyle/>
          <a:p>
            <a:pPr marL="0" indent="0">
              <a:buNone/>
            </a:pPr>
            <a:r>
              <a:rPr sz="800" b="0" lang="en-US" dirty="0">
                <a:solidFill>
                  <a:srgbClr val="5B6B70"/>
                </a:solidFill>
                <a:latin typeface="Yu Gothic" pitchFamily="34" charset="0"/>
                <a:ea typeface="Yu Gothic" pitchFamily="34" charset="-122"/>
                <a:cs typeface="Yu Gothic" pitchFamily="34" charset="-120"/>
              </a:rPr>
              <a:t>文書・記録（定義・仕様、分析・評価、文書）</a:t>
            </a:r>
          </a:p>
        </p:txBody>
      </p:sp>
      <p:sp>
        <p:nvSpPr>
          <p:cNvPr id="15" name="Rounded Rectangle 14"/>
          <p:cNvSpPr/>
          <p:nvPr/>
        </p:nvSpPr>
        <p:spPr>
          <a:xfrm>
            <a:off x="7269480" y="786384"/>
            <a:ext cx="384048" cy="155448"/>
          </a:xfrm>
          <a:prstGeom prst="roundRect">
            <a:avLst>
              <a:gd name="adj" fmla="val 50000"/>
            </a:avLst>
          </a:prstGeom>
          <a:solidFill>
            <a:srgbClr val="E4EAEC"/>
          </a:solidFill>
          <a:ln w="9525">
            <a:solidFill>
              <a:srgbClr val="5B6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749808"/>
            <a:ext cx="2743200" cy="228600"/>
          </a:xfrm>
          <a:prstGeom prst="rect">
            <a:avLst/>
          </a:prstGeom>
          <a:noFill/>
        </p:spPr>
        <p:txBody>
          <a:bodyPr wrap="square" lIns="0" rIns="0" tIns="0" bIns="0" anchor="ctr" rtlCol="0"/>
          <a:lstStyle/>
          <a:p>
            <a:pPr marL="0" indent="0">
              <a:buNone/>
            </a:pPr>
            <a:r>
              <a:rPr sz="800" b="0" lang="en-US" dirty="0">
                <a:solidFill>
                  <a:srgbClr val="5B6B70"/>
                </a:solidFill>
                <a:latin typeface="Yu Gothic" pitchFamily="34" charset="0"/>
                <a:ea typeface="Yu Gothic" pitchFamily="34" charset="-122"/>
                <a:cs typeface="Yu Gothic" pitchFamily="34" charset="-120"/>
              </a:rPr>
              <a:t>2つのアプリで作成・更新（C）</a:t>
            </a:r>
          </a:p>
        </p:txBody>
      </p:sp>
      <p:sp>
        <p:nvSpPr>
          <p:cNvPr id="17" name="Rounded Rectangle 16"/>
          <p:cNvSpPr/>
          <p:nvPr/>
        </p:nvSpPr>
        <p:spPr>
          <a:xfrm>
            <a:off x="7269480" y="987552"/>
            <a:ext cx="384048" cy="155448"/>
          </a:xfrm>
          <a:prstGeom prst="roundRect">
            <a:avLst>
              <a:gd name="adj" fmla="val 50000"/>
            </a:avLst>
          </a:prstGeom>
          <a:solidFill>
            <a:srgbClr val="00FFFF"/>
          </a:solidFill>
          <a:ln w="9525">
            <a:solidFill>
              <a:srgbClr val="5B6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950976"/>
            <a:ext cx="2743200" cy="228600"/>
          </a:xfrm>
          <a:prstGeom prst="rect">
            <a:avLst/>
          </a:prstGeom>
          <a:noFill/>
        </p:spPr>
        <p:txBody>
          <a:bodyPr wrap="square" lIns="0" rIns="0" tIns="0" bIns="0" anchor="ctr" rtlCol="0"/>
          <a:lstStyle/>
          <a:p>
            <a:pPr marL="0" indent="0">
              <a:buNone/>
            </a:pPr>
            <a:r>
              <a:rPr sz="800" b="0" lang="en-US" dirty="0">
                <a:solidFill>
                  <a:srgbClr val="5B6B70"/>
                </a:solidFill>
                <a:latin typeface="Yu Gothic" pitchFamily="34" charset="0"/>
                <a:ea typeface="Yu Gothic" pitchFamily="34" charset="-122"/>
                <a:cs typeface="Yu Gothic" pitchFamily="34" charset="-120"/>
              </a:rPr>
              <a:t>3つ以上のアプリで作成・更新（C）。数字＝アプリ数</a:t>
            </a:r>
          </a:p>
        </p:txBody>
      </p:sp>
      <p:sp>
        <p:nvSpPr>
          <p:cNvPr id="19" name="Rounded Rectangle 18"/>
          <p:cNvSpPr/>
          <p:nvPr/>
        </p:nvSpPr>
        <p:spPr>
          <a:xfrm>
            <a:off x="457200" y="1325880"/>
            <a:ext cx="3697224" cy="4526280"/>
          </a:xfrm>
          <a:prstGeom prst="roundRect">
            <a:avLst>
              <a:gd name="adj" fmla="val 2000"/>
            </a:avLst>
          </a:prstGeom>
          <a:solidFill>
            <a:srgbClr val="FDEEE7"/>
          </a:solidFill>
          <a:ln w="19050">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1380744"/>
            <a:ext cx="3697224" cy="274320"/>
          </a:xfrm>
          <a:prstGeom prst="rect">
            <a:avLst/>
          </a:prstGeom>
          <a:noFill/>
        </p:spPr>
        <p:txBody>
          <a:bodyPr wrap="square" lIns="0" rIns="0" tIns="0" bIns="0" anchor="ctr" rtlCol="0"/>
          <a:lstStyle/>
          <a:p>
            <a:pPr marL="0" indent="0" algn="ctr">
              <a:buNone/>
            </a:pPr>
            <a:r>
              <a:rPr sz="1250" b="1" lang="en-US" dirty="0">
                <a:solidFill>
                  <a:srgbClr val="C24E1C"/>
                </a:solidFill>
                <a:latin typeface="Yu Gothic" pitchFamily="34" charset="0"/>
                <a:ea typeface="Yu Gothic" pitchFamily="34" charset="-122"/>
                <a:cs typeface="Yu Gothic" pitchFamily="34" charset="-120"/>
              </a:rPr>
              <a:t>Commercial &amp; Patient</a:t>
            </a:r>
          </a:p>
        </p:txBody>
      </p:sp>
      <p:sp>
        <p:nvSpPr>
          <p:cNvPr id="21" name="Rounded Rectangle 20"/>
          <p:cNvSpPr/>
          <p:nvPr/>
        </p:nvSpPr>
        <p:spPr>
          <a:xfrm>
            <a:off x="530352" y="1709928"/>
            <a:ext cx="3550920" cy="1783080"/>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1819655"/>
            <a:ext cx="3550920"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メディカル・患者エンゲージメント</a:t>
            </a:r>
          </a:p>
        </p:txBody>
      </p:sp>
      <p:sp>
        <p:nvSpPr>
          <p:cNvPr id="23" name="Rounded Rectangle 22"/>
          <p:cNvSpPr/>
          <p:nvPr/>
        </p:nvSpPr>
        <p:spPr>
          <a:xfrm>
            <a:off x="621792" y="2112263"/>
            <a:ext cx="1656588" cy="182880"/>
          </a:xfrm>
          <a:prstGeom prst="roundRect">
            <a:avLst>
              <a:gd name="adj" fmla="val 50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2112263"/>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疾患知見</a:t>
            </a:r>
          </a:p>
        </p:txBody>
      </p:sp>
      <p:sp>
        <p:nvSpPr>
          <p:cNvPr id="25" name="Rectangle 24"/>
          <p:cNvSpPr/>
          <p:nvPr/>
        </p:nvSpPr>
        <p:spPr>
          <a:xfrm>
            <a:off x="2333244" y="2112263"/>
            <a:ext cx="1656588" cy="182880"/>
          </a:xfrm>
          <a:prstGeom prst="rect">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88108" y="2112263"/>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患者支援ケース</a:t>
            </a:r>
          </a:p>
        </p:txBody>
      </p:sp>
      <p:sp>
        <p:nvSpPr>
          <p:cNvPr id="27" name="Rectangle 26"/>
          <p:cNvSpPr/>
          <p:nvPr/>
        </p:nvSpPr>
        <p:spPr>
          <a:xfrm>
            <a:off x="621792" y="2327147"/>
            <a:ext cx="1656588" cy="182880"/>
          </a:xfrm>
          <a:prstGeom prst="rect">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 y="2327147"/>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医療機関・医療従事者マスタ</a:t>
            </a:r>
          </a:p>
        </p:txBody>
      </p:sp>
      <p:sp>
        <p:nvSpPr>
          <p:cNvPr id="29" name="Rounded Rectangle 28"/>
          <p:cNvSpPr/>
          <p:nvPr/>
        </p:nvSpPr>
        <p:spPr>
          <a:xfrm>
            <a:off x="530352" y="3566160"/>
            <a:ext cx="3550920" cy="2212848"/>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0352" y="3675888"/>
            <a:ext cx="3550920"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市場アクセス・商業</a:t>
            </a:r>
          </a:p>
        </p:txBody>
      </p:sp>
      <p:sp>
        <p:nvSpPr>
          <p:cNvPr id="31" name="Rectangle 30"/>
          <p:cNvSpPr/>
          <p:nvPr/>
        </p:nvSpPr>
        <p:spPr>
          <a:xfrm>
            <a:off x="621792" y="3968496"/>
            <a:ext cx="1656588" cy="182880"/>
          </a:xfrm>
          <a:prstGeom prst="rect">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 y="3968496"/>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価格</a:t>
            </a:r>
          </a:p>
        </p:txBody>
      </p:sp>
      <p:sp>
        <p:nvSpPr>
          <p:cNvPr id="33" name="Rectangle 32"/>
          <p:cNvSpPr/>
          <p:nvPr/>
        </p:nvSpPr>
        <p:spPr>
          <a:xfrm>
            <a:off x="2333244" y="3968496"/>
            <a:ext cx="1656588" cy="182880"/>
          </a:xfrm>
          <a:prstGeom prst="rect">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88108" y="3968496"/>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保険者契約</a:t>
            </a:r>
          </a:p>
        </p:txBody>
      </p:sp>
      <p:sp>
        <p:nvSpPr>
          <p:cNvPr id="35" name="Rectangle 34"/>
          <p:cNvSpPr/>
          <p:nvPr/>
        </p:nvSpPr>
        <p:spPr>
          <a:xfrm>
            <a:off x="621792" y="4183380"/>
            <a:ext cx="1656588" cy="182880"/>
          </a:xfrm>
          <a:prstGeom prst="rect">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 y="4183380"/>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償還コード</a:t>
            </a:r>
          </a:p>
        </p:txBody>
      </p:sp>
      <p:sp>
        <p:nvSpPr>
          <p:cNvPr id="37" name="Rounded Rectangle 36"/>
          <p:cNvSpPr/>
          <p:nvPr/>
        </p:nvSpPr>
        <p:spPr>
          <a:xfrm>
            <a:off x="2333244" y="4183380"/>
            <a:ext cx="1656588" cy="182880"/>
          </a:xfrm>
          <a:prstGeom prst="roundRect">
            <a:avLst>
              <a:gd name="adj" fmla="val 50000"/>
            </a:avLst>
          </a:prstGeom>
          <a:solidFill>
            <a:srgbClr val="E4EAEC"/>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388108" y="4183380"/>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販促・医療情報資材（2）</a:t>
            </a:r>
          </a:p>
        </p:txBody>
      </p:sp>
      <p:sp>
        <p:nvSpPr>
          <p:cNvPr id="39" name="Rectangle 38"/>
          <p:cNvSpPr/>
          <p:nvPr/>
        </p:nvSpPr>
        <p:spPr>
          <a:xfrm>
            <a:off x="621792" y="4398264"/>
            <a:ext cx="1656588" cy="182880"/>
          </a:xfrm>
          <a:prstGeom prst="rect">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6656" y="4398264"/>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教育記録</a:t>
            </a:r>
          </a:p>
        </p:txBody>
      </p:sp>
      <p:sp>
        <p:nvSpPr>
          <p:cNvPr id="41" name="Rectangle 40"/>
          <p:cNvSpPr/>
          <p:nvPr/>
        </p:nvSpPr>
        <p:spPr>
          <a:xfrm>
            <a:off x="2333244" y="4398264"/>
            <a:ext cx="1656588" cy="182880"/>
          </a:xfrm>
          <a:prstGeom prst="rect">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388108" y="4398264"/>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政府価格報告</a:t>
            </a:r>
          </a:p>
        </p:txBody>
      </p:sp>
      <p:sp>
        <p:nvSpPr>
          <p:cNvPr id="43" name="Rounded Rectangle 42"/>
          <p:cNvSpPr/>
          <p:nvPr/>
        </p:nvSpPr>
        <p:spPr>
          <a:xfrm>
            <a:off x="621792" y="4613148"/>
            <a:ext cx="1656588" cy="182880"/>
          </a:xfrm>
          <a:prstGeom prst="roundRect">
            <a:avLst>
              <a:gd name="adj" fmla="val 50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6656" y="4613148"/>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Medicare価格交渉対象判定</a:t>
            </a:r>
          </a:p>
        </p:txBody>
      </p:sp>
      <p:sp>
        <p:nvSpPr>
          <p:cNvPr id="45" name="Chevron 44"/>
          <p:cNvSpPr/>
          <p:nvPr/>
        </p:nvSpPr>
        <p:spPr>
          <a:xfrm rot="5400000">
            <a:off x="2246376" y="5765292"/>
            <a:ext cx="118872" cy="310896"/>
          </a:xfrm>
          <a:prstGeom prst="chevron">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4245864" y="1325880"/>
            <a:ext cx="3697224" cy="4526280"/>
          </a:xfrm>
          <a:prstGeom prst="roundRect">
            <a:avLst>
              <a:gd name="adj" fmla="val 2000"/>
            </a:avLst>
          </a:prstGeom>
          <a:solidFill>
            <a:srgbClr val="EEECF7"/>
          </a:solidFill>
          <a:ln w="19050">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245864" y="1380744"/>
            <a:ext cx="3697224" cy="274320"/>
          </a:xfrm>
          <a:prstGeom prst="rect">
            <a:avLst/>
          </a:prstGeom>
          <a:noFill/>
        </p:spPr>
        <p:txBody>
          <a:bodyPr wrap="square" lIns="0" rIns="0" tIns="0" bIns="0" anchor="ctr" rtlCol="0"/>
          <a:lstStyle/>
          <a:p>
            <a:pPr marL="0" indent="0" algn="ctr">
              <a:buNone/>
            </a:pPr>
            <a:r>
              <a:rPr sz="1250" b="1" lang="en-US" dirty="0">
                <a:solidFill>
                  <a:srgbClr val="4A3AA7"/>
                </a:solidFill>
                <a:latin typeface="Yu Gothic" pitchFamily="34" charset="0"/>
                <a:ea typeface="Yu Gothic" pitchFamily="34" charset="-122"/>
                <a:cs typeface="Yu Gothic" pitchFamily="34" charset="-120"/>
              </a:rPr>
              <a:t>Regulatory &amp; Quality</a:t>
            </a:r>
          </a:p>
        </p:txBody>
      </p:sp>
      <p:sp>
        <p:nvSpPr>
          <p:cNvPr id="48" name="Rounded Rectangle 47"/>
          <p:cNvSpPr/>
          <p:nvPr/>
        </p:nvSpPr>
        <p:spPr>
          <a:xfrm>
            <a:off x="4319016" y="1709928"/>
            <a:ext cx="3550920" cy="1583436"/>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19016" y="1788413"/>
            <a:ext cx="3550920"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薬事</a:t>
            </a:r>
          </a:p>
        </p:txBody>
      </p:sp>
      <p:sp>
        <p:nvSpPr>
          <p:cNvPr id="50" name="Rounded Rectangle 49"/>
          <p:cNvSpPr/>
          <p:nvPr/>
        </p:nvSpPr>
        <p:spPr>
          <a:xfrm>
            <a:off x="4410456" y="2081021"/>
            <a:ext cx="1656588" cy="182880"/>
          </a:xfrm>
          <a:prstGeom prst="roundRect">
            <a:avLst>
              <a:gd name="adj" fmla="val 50000"/>
            </a:avLst>
          </a:prstGeom>
          <a:solidFill>
            <a:srgbClr val="00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465320" y="2081021"/>
            <a:ext cx="1546860" cy="182880"/>
          </a:xfrm>
          <a:prstGeom prst="rect">
            <a:avLst/>
          </a:prstGeom>
          <a:noFill/>
        </p:spPr>
        <p:txBody>
          <a:bodyPr wrap="square" lIns="0" rIns="0" tIns="0" bIns="0" anchor="ctr" rtlCol="0"/>
          <a:lstStyle/>
          <a:p>
            <a:pPr marL="0" indent="0" algn="ctr">
              <a:buNone/>
            </a:pPr>
            <a:r>
              <a:rPr sz="700" b="1" lang="en-US" dirty="0">
                <a:solidFill>
                  <a:srgbClr val="000000"/>
                </a:solidFill>
                <a:latin typeface="Yu Gothic" pitchFamily="34" charset="0"/>
                <a:ea typeface="Yu Gothic" pitchFamily="34" charset="-122"/>
                <a:cs typeface="Yu Gothic" pitchFamily="34" charset="-120"/>
              </a:rPr>
              <a:t>包装表示（アートワーク）（3）</a:t>
            </a:r>
          </a:p>
        </p:txBody>
      </p:sp>
      <p:sp>
        <p:nvSpPr>
          <p:cNvPr id="52" name="Rectangle 51"/>
          <p:cNvSpPr/>
          <p:nvPr/>
        </p:nvSpPr>
        <p:spPr>
          <a:xfrm>
            <a:off x="6121908" y="2081021"/>
            <a:ext cx="1656588" cy="182880"/>
          </a:xfrm>
          <a:prstGeom prst="rect">
            <a:avLst/>
          </a:prstGeom>
          <a:solidFill>
            <a:srgbClr val="E4EAEC"/>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76772" y="2081021"/>
            <a:ext cx="1546860" cy="182880"/>
          </a:xfrm>
          <a:prstGeom prst="rect">
            <a:avLst/>
          </a:prstGeom>
          <a:noFill/>
        </p:spPr>
        <p:txBody>
          <a:bodyPr wrap="square" lIns="0" rIns="0" tIns="0" bIns="0" anchor="ctr" rtlCol="0"/>
          <a:lstStyle/>
          <a:p>
            <a:pPr marL="0" indent="0" algn="ctr">
              <a:buNone/>
            </a:pPr>
            <a:r>
              <a:rPr sz="650" b="0" lang="en-US" dirty="0">
                <a:solidFill>
                  <a:srgbClr val="1F2E35"/>
                </a:solidFill>
                <a:latin typeface="Yu Gothic" pitchFamily="34" charset="0"/>
                <a:ea typeface="Yu Gothic" pitchFamily="34" charset="-122"/>
                <a:cs typeface="Yu Gothic" pitchFamily="34" charset="-120"/>
              </a:rPr>
              <a:t>当局コミュニケーション記録（2）</a:t>
            </a:r>
          </a:p>
        </p:txBody>
      </p:sp>
      <p:sp>
        <p:nvSpPr>
          <p:cNvPr id="54" name="Rectangle 53"/>
          <p:cNvSpPr/>
          <p:nvPr/>
        </p:nvSpPr>
        <p:spPr>
          <a:xfrm>
            <a:off x="4410456" y="2295905"/>
            <a:ext cx="1656588" cy="182880"/>
          </a:xfrm>
          <a:prstGeom prst="rect">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465320" y="2295905"/>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指定・インセンティブ</a:t>
            </a:r>
          </a:p>
        </p:txBody>
      </p:sp>
      <p:sp>
        <p:nvSpPr>
          <p:cNvPr id="56" name="Rounded Rectangle 55"/>
          <p:cNvSpPr/>
          <p:nvPr/>
        </p:nvSpPr>
        <p:spPr>
          <a:xfrm>
            <a:off x="6121908" y="2295905"/>
            <a:ext cx="1656588" cy="182880"/>
          </a:xfrm>
          <a:prstGeom prst="roundRect">
            <a:avLst>
              <a:gd name="adj" fmla="val 50000"/>
            </a:avLst>
          </a:prstGeom>
          <a:solidFill>
            <a:srgbClr val="E4EAEC"/>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176772" y="2295905"/>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IND（2）</a:t>
            </a:r>
          </a:p>
        </p:txBody>
      </p:sp>
      <p:sp>
        <p:nvSpPr>
          <p:cNvPr id="58" name="Rounded Rectangle 57"/>
          <p:cNvSpPr/>
          <p:nvPr/>
        </p:nvSpPr>
        <p:spPr>
          <a:xfrm>
            <a:off x="4410456" y="2510789"/>
            <a:ext cx="1656588" cy="182880"/>
          </a:xfrm>
          <a:prstGeom prst="roundRect">
            <a:avLst>
              <a:gd name="adj" fmla="val 50000"/>
            </a:avLst>
          </a:prstGeom>
          <a:solidFill>
            <a:srgbClr val="00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465320" y="2510789"/>
            <a:ext cx="1546860"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申請資料（6）</a:t>
            </a:r>
          </a:p>
        </p:txBody>
      </p:sp>
      <p:sp>
        <p:nvSpPr>
          <p:cNvPr id="60" name="Rectangle 59"/>
          <p:cNvSpPr/>
          <p:nvPr/>
        </p:nvSpPr>
        <p:spPr>
          <a:xfrm>
            <a:off x="6121908" y="2510789"/>
            <a:ext cx="1656588" cy="182880"/>
          </a:xfrm>
          <a:prstGeom prst="rect">
            <a:avLst/>
          </a:prstGeom>
          <a:solidFill>
            <a:srgbClr val="00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76772" y="2510789"/>
            <a:ext cx="1546860"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承認・許可（3）</a:t>
            </a:r>
          </a:p>
        </p:txBody>
      </p:sp>
      <p:sp>
        <p:nvSpPr>
          <p:cNvPr id="62" name="Rounded Rectangle 61"/>
          <p:cNvSpPr/>
          <p:nvPr/>
        </p:nvSpPr>
        <p:spPr>
          <a:xfrm>
            <a:off x="4410456" y="2725673"/>
            <a:ext cx="1656588" cy="274320"/>
          </a:xfrm>
          <a:prstGeom prst="roundRect">
            <a:avLst>
              <a:gd name="adj" fmla="val 35000"/>
            </a:avLst>
          </a:prstGeom>
          <a:solidFill>
            <a:srgbClr val="00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465320" y="2725673"/>
            <a:ext cx="1546860" cy="27432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表示（USPI）（4）</a:t>
            </a:r>
          </a:p>
        </p:txBody>
      </p:sp>
      <p:sp>
        <p:nvSpPr>
          <p:cNvPr id="64" name="Rectangle 63"/>
          <p:cNvSpPr/>
          <p:nvPr/>
        </p:nvSpPr>
        <p:spPr>
          <a:xfrm>
            <a:off x="6121908" y="2725673"/>
            <a:ext cx="1656588" cy="274320"/>
          </a:xfrm>
          <a:prstGeom prst="rect">
            <a:avLst/>
          </a:prstGeom>
          <a:solidFill>
            <a:srgbClr val="E4EAEC"/>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176772" y="2725673"/>
            <a:ext cx="1546860"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市販後要求・コミットメント（PMR／PMC）（2）</a:t>
            </a:r>
          </a:p>
        </p:txBody>
      </p:sp>
      <p:sp>
        <p:nvSpPr>
          <p:cNvPr id="66" name="Rounded Rectangle 65"/>
          <p:cNvSpPr/>
          <p:nvPr/>
        </p:nvSpPr>
        <p:spPr>
          <a:xfrm>
            <a:off x="4410456" y="3031997"/>
            <a:ext cx="1656588"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65320" y="3031997"/>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当局年次報告</a:t>
            </a:r>
          </a:p>
        </p:txBody>
      </p:sp>
      <p:sp>
        <p:nvSpPr>
          <p:cNvPr id="68" name="Rounded Rectangle 67"/>
          <p:cNvSpPr/>
          <p:nvPr/>
        </p:nvSpPr>
        <p:spPr>
          <a:xfrm>
            <a:off x="4319016" y="3366516"/>
            <a:ext cx="3550920" cy="1277112"/>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319016" y="3445002"/>
            <a:ext cx="3550920"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品質</a:t>
            </a:r>
          </a:p>
        </p:txBody>
      </p:sp>
      <p:sp>
        <p:nvSpPr>
          <p:cNvPr id="70" name="Rectangle 69"/>
          <p:cNvSpPr/>
          <p:nvPr/>
        </p:nvSpPr>
        <p:spPr>
          <a:xfrm>
            <a:off x="4410456" y="3737610"/>
            <a:ext cx="1656588" cy="182880"/>
          </a:xfrm>
          <a:prstGeom prst="rect">
            <a:avLst/>
          </a:prstGeom>
          <a:solidFill>
            <a:srgbClr val="00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465320" y="3737610"/>
            <a:ext cx="1546860"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安定性データ（3）</a:t>
            </a:r>
          </a:p>
        </p:txBody>
      </p:sp>
      <p:sp>
        <p:nvSpPr>
          <p:cNvPr id="72" name="Rectangle 71"/>
          <p:cNvSpPr/>
          <p:nvPr/>
        </p:nvSpPr>
        <p:spPr>
          <a:xfrm>
            <a:off x="6121908" y="3737610"/>
            <a:ext cx="1656588" cy="182880"/>
          </a:xfrm>
          <a:prstGeom prst="rect">
            <a:avLst/>
          </a:prstGeom>
          <a:solidFill>
            <a:srgbClr val="00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176772" y="3737610"/>
            <a:ext cx="1546860"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試験成績（3）</a:t>
            </a:r>
          </a:p>
        </p:txBody>
      </p:sp>
      <p:sp>
        <p:nvSpPr>
          <p:cNvPr id="74" name="Rectangle 73"/>
          <p:cNvSpPr/>
          <p:nvPr/>
        </p:nvSpPr>
        <p:spPr>
          <a:xfrm>
            <a:off x="4410456" y="3952494"/>
            <a:ext cx="1656588" cy="182880"/>
          </a:xfrm>
          <a:prstGeom prst="rect">
            <a:avLst/>
          </a:prstGeom>
          <a:solidFill>
            <a:srgbClr val="E4EAEC"/>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465320" y="3952494"/>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逸脱・CAPA（2）</a:t>
            </a:r>
          </a:p>
        </p:txBody>
      </p:sp>
      <p:sp>
        <p:nvSpPr>
          <p:cNvPr id="76" name="Rectangle 75"/>
          <p:cNvSpPr/>
          <p:nvPr/>
        </p:nvSpPr>
        <p:spPr>
          <a:xfrm>
            <a:off x="6121908" y="3952494"/>
            <a:ext cx="1656588" cy="182880"/>
          </a:xfrm>
          <a:prstGeom prst="rect">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176772" y="3952494"/>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変更管理記録</a:t>
            </a:r>
          </a:p>
        </p:txBody>
      </p:sp>
      <p:sp>
        <p:nvSpPr>
          <p:cNvPr id="78" name="Rectangle 77"/>
          <p:cNvSpPr/>
          <p:nvPr/>
        </p:nvSpPr>
        <p:spPr>
          <a:xfrm>
            <a:off x="4410456" y="4167378"/>
            <a:ext cx="1656588" cy="182880"/>
          </a:xfrm>
          <a:prstGeom prst="rect">
            <a:avLst/>
          </a:prstGeom>
          <a:solidFill>
            <a:srgbClr val="E4EAEC"/>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465320" y="4167378"/>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出荷判定記録（2）</a:t>
            </a:r>
          </a:p>
        </p:txBody>
      </p:sp>
      <p:sp>
        <p:nvSpPr>
          <p:cNvPr id="80" name="Rounded Rectangle 79"/>
          <p:cNvSpPr/>
          <p:nvPr/>
        </p:nvSpPr>
        <p:spPr>
          <a:xfrm>
            <a:off x="6121908" y="4167378"/>
            <a:ext cx="1656588"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176772" y="4167378"/>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バリデーション計画・報告</a:t>
            </a:r>
          </a:p>
        </p:txBody>
      </p:sp>
      <p:sp>
        <p:nvSpPr>
          <p:cNvPr id="82" name="Rounded Rectangle 81"/>
          <p:cNvSpPr/>
          <p:nvPr/>
        </p:nvSpPr>
        <p:spPr>
          <a:xfrm>
            <a:off x="4410456" y="4382262"/>
            <a:ext cx="1656588" cy="182880"/>
          </a:xfrm>
          <a:prstGeom prst="roundRect">
            <a:avLst>
              <a:gd name="adj" fmla="val 50000"/>
            </a:avLst>
          </a:prstGeom>
          <a:solidFill>
            <a:srgbClr val="E4EAEC"/>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465320" y="4382262"/>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年次製品照査（APR）（2）</a:t>
            </a:r>
          </a:p>
        </p:txBody>
      </p:sp>
      <p:sp>
        <p:nvSpPr>
          <p:cNvPr id="84" name="Rectangle 83"/>
          <p:cNvSpPr/>
          <p:nvPr/>
        </p:nvSpPr>
        <p:spPr>
          <a:xfrm>
            <a:off x="6121908" y="4382262"/>
            <a:ext cx="1656588" cy="182880"/>
          </a:xfrm>
          <a:prstGeom prst="rect">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176772" y="4382262"/>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査察記録</a:t>
            </a:r>
          </a:p>
        </p:txBody>
      </p:sp>
      <p:sp>
        <p:nvSpPr>
          <p:cNvPr id="86" name="Rounded Rectangle 85"/>
          <p:cNvSpPr/>
          <p:nvPr/>
        </p:nvSpPr>
        <p:spPr>
          <a:xfrm>
            <a:off x="4319016" y="4716780"/>
            <a:ext cx="3550920" cy="1062228"/>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319016" y="4795266"/>
            <a:ext cx="3550920"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ファーマコビジランス（安全性）</a:t>
            </a:r>
          </a:p>
        </p:txBody>
      </p:sp>
      <p:sp>
        <p:nvSpPr>
          <p:cNvPr id="88" name="Rounded Rectangle 87"/>
          <p:cNvSpPr/>
          <p:nvPr/>
        </p:nvSpPr>
        <p:spPr>
          <a:xfrm>
            <a:off x="4410456" y="5087874"/>
            <a:ext cx="1656588"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465320" y="5087874"/>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ベネフィット・リスク評価</a:t>
            </a:r>
          </a:p>
        </p:txBody>
      </p:sp>
      <p:sp>
        <p:nvSpPr>
          <p:cNvPr id="90" name="Rounded Rectangle 89"/>
          <p:cNvSpPr/>
          <p:nvPr/>
        </p:nvSpPr>
        <p:spPr>
          <a:xfrm>
            <a:off x="6121908" y="5087874"/>
            <a:ext cx="1656588" cy="182880"/>
          </a:xfrm>
          <a:prstGeom prst="roundRect">
            <a:avLst>
              <a:gd name="adj" fmla="val 50000"/>
            </a:avLst>
          </a:prstGeom>
          <a:solidFill>
            <a:srgbClr val="E4EAEC"/>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176772" y="5087874"/>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REMS（2）</a:t>
            </a:r>
          </a:p>
        </p:txBody>
      </p:sp>
      <p:sp>
        <p:nvSpPr>
          <p:cNvPr id="92" name="Rectangle 91"/>
          <p:cNvSpPr/>
          <p:nvPr/>
        </p:nvSpPr>
        <p:spPr>
          <a:xfrm>
            <a:off x="4410456" y="5302758"/>
            <a:ext cx="1656588" cy="182880"/>
          </a:xfrm>
          <a:prstGeom prst="rect">
            <a:avLst/>
          </a:prstGeom>
          <a:solidFill>
            <a:srgbClr val="00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465320" y="5302758"/>
            <a:ext cx="1546860"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有害事象症例（3）</a:t>
            </a:r>
          </a:p>
        </p:txBody>
      </p:sp>
      <p:sp>
        <p:nvSpPr>
          <p:cNvPr id="94" name="Rounded Rectangle 93"/>
          <p:cNvSpPr/>
          <p:nvPr/>
        </p:nvSpPr>
        <p:spPr>
          <a:xfrm>
            <a:off x="6121908" y="5302758"/>
            <a:ext cx="1656588"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176772" y="5302758"/>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安全性シグナル評価</a:t>
            </a:r>
          </a:p>
        </p:txBody>
      </p:sp>
      <p:sp>
        <p:nvSpPr>
          <p:cNvPr id="96" name="Rounded Rectangle 95"/>
          <p:cNvSpPr/>
          <p:nvPr/>
        </p:nvSpPr>
        <p:spPr>
          <a:xfrm>
            <a:off x="4410456" y="5517642"/>
            <a:ext cx="1656588"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4465320" y="5517642"/>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安全性報告</a:t>
            </a:r>
          </a:p>
        </p:txBody>
      </p:sp>
      <p:sp>
        <p:nvSpPr>
          <p:cNvPr id="98" name="Chevron 97"/>
          <p:cNvSpPr/>
          <p:nvPr/>
        </p:nvSpPr>
        <p:spPr>
          <a:xfrm rot="5400000">
            <a:off x="6035040" y="5765292"/>
            <a:ext cx="118872" cy="310896"/>
          </a:xfrm>
          <a:prstGeom prst="chevron">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ounded Rectangle 98"/>
          <p:cNvSpPr/>
          <p:nvPr/>
        </p:nvSpPr>
        <p:spPr>
          <a:xfrm>
            <a:off x="8034528" y="1325880"/>
            <a:ext cx="3697224" cy="4526280"/>
          </a:xfrm>
          <a:prstGeom prst="roundRect">
            <a:avLst>
              <a:gd name="adj" fmla="val 2000"/>
            </a:avLst>
          </a:prstGeom>
          <a:solidFill>
            <a:srgbClr val="E6F6F0"/>
          </a:solidFill>
          <a:ln w="19050">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8034528" y="1380744"/>
            <a:ext cx="3697224" cy="274320"/>
          </a:xfrm>
          <a:prstGeom prst="rect">
            <a:avLst/>
          </a:prstGeom>
          <a:noFill/>
        </p:spPr>
        <p:txBody>
          <a:bodyPr wrap="square" lIns="0" rIns="0" tIns="0" bIns="0" anchor="ctr" rtlCol="0"/>
          <a:lstStyle/>
          <a:p>
            <a:pPr marL="0" indent="0" algn="ctr">
              <a:buNone/>
            </a:pPr>
            <a:r>
              <a:rPr sz="1250" b="1" lang="en-US" dirty="0">
                <a:solidFill>
                  <a:srgbClr val="0E7A52"/>
                </a:solidFill>
                <a:latin typeface="Yu Gothic" pitchFamily="34" charset="0"/>
                <a:ea typeface="Yu Gothic" pitchFamily="34" charset="-122"/>
                <a:cs typeface="Yu Gothic" pitchFamily="34" charset="-120"/>
              </a:rPr>
              <a:t>Supply Chain &amp; Mfg</a:t>
            </a:r>
          </a:p>
        </p:txBody>
      </p:sp>
      <p:sp>
        <p:nvSpPr>
          <p:cNvPr id="101" name="Rounded Rectangle 100"/>
          <p:cNvSpPr/>
          <p:nvPr/>
        </p:nvSpPr>
        <p:spPr>
          <a:xfrm>
            <a:off x="8107680" y="1709928"/>
            <a:ext cx="3550920" cy="1890522"/>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107680" y="1819655"/>
            <a:ext cx="3550920"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製造</a:t>
            </a:r>
          </a:p>
        </p:txBody>
      </p:sp>
      <p:sp>
        <p:nvSpPr>
          <p:cNvPr id="103" name="Rectangle 102"/>
          <p:cNvSpPr/>
          <p:nvPr/>
        </p:nvSpPr>
        <p:spPr>
          <a:xfrm>
            <a:off x="8199120" y="2112263"/>
            <a:ext cx="1656588" cy="182880"/>
          </a:xfrm>
          <a:prstGeom prst="rect">
            <a:avLst/>
          </a:prstGeom>
          <a:solidFill>
            <a:srgbClr val="E4EAEC"/>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253984" y="2112263"/>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生産計画（2）</a:t>
            </a:r>
          </a:p>
        </p:txBody>
      </p:sp>
      <p:sp>
        <p:nvSpPr>
          <p:cNvPr id="105" name="Rectangle 104"/>
          <p:cNvSpPr/>
          <p:nvPr/>
        </p:nvSpPr>
        <p:spPr>
          <a:xfrm>
            <a:off x="9910572" y="2112263"/>
            <a:ext cx="1656588" cy="182880"/>
          </a:xfrm>
          <a:prstGeom prst="rect">
            <a:avLst/>
          </a:prstGeom>
          <a:solidFill>
            <a:srgbClr val="E4EAEC"/>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965436" y="2112263"/>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原材料・資材（2）</a:t>
            </a:r>
          </a:p>
        </p:txBody>
      </p:sp>
      <p:sp>
        <p:nvSpPr>
          <p:cNvPr id="107" name="Rectangle 106"/>
          <p:cNvSpPr/>
          <p:nvPr/>
        </p:nvSpPr>
        <p:spPr>
          <a:xfrm>
            <a:off x="8199120" y="2327147"/>
            <a:ext cx="1656588" cy="182880"/>
          </a:xfrm>
          <a:prstGeom prst="rect">
            <a:avLst/>
          </a:prstGeom>
          <a:solidFill>
            <a:srgbClr val="00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253984" y="2327147"/>
            <a:ext cx="1546860"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バッチ記録（5）</a:t>
            </a:r>
          </a:p>
        </p:txBody>
      </p:sp>
      <p:sp>
        <p:nvSpPr>
          <p:cNvPr id="109" name="Rectangle 108"/>
          <p:cNvSpPr/>
          <p:nvPr/>
        </p:nvSpPr>
        <p:spPr>
          <a:xfrm>
            <a:off x="9910572" y="2327147"/>
            <a:ext cx="1656588" cy="182880"/>
          </a:xfrm>
          <a:prstGeom prst="rect">
            <a:avLst/>
          </a:prstGeom>
          <a:solidFill>
            <a:srgbClr val="00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9965436" y="2327147"/>
            <a:ext cx="1546860"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ロット（4）</a:t>
            </a:r>
          </a:p>
        </p:txBody>
      </p:sp>
      <p:sp>
        <p:nvSpPr>
          <p:cNvPr id="111" name="Rectangle 110"/>
          <p:cNvSpPr/>
          <p:nvPr/>
        </p:nvSpPr>
        <p:spPr>
          <a:xfrm>
            <a:off x="8199120" y="2542031"/>
            <a:ext cx="1656588" cy="274320"/>
          </a:xfrm>
          <a:prstGeom prst="rect">
            <a:avLst/>
          </a:prstGeom>
          <a:solidFill>
            <a:srgbClr val="00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253984" y="2542031"/>
            <a:ext cx="1546860" cy="27432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工程データ（3）</a:t>
            </a:r>
          </a:p>
        </p:txBody>
      </p:sp>
      <p:sp>
        <p:nvSpPr>
          <p:cNvPr id="113" name="Rectangle 112"/>
          <p:cNvSpPr/>
          <p:nvPr/>
        </p:nvSpPr>
        <p:spPr>
          <a:xfrm>
            <a:off x="9910572" y="2542031"/>
            <a:ext cx="1656588" cy="274320"/>
          </a:xfrm>
          <a:prstGeom prst="rect">
            <a:avLst/>
          </a:prstGeom>
          <a:solidFill>
            <a:srgbClr val="E4EAEC"/>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9965436" y="2542031"/>
            <a:ext cx="1546860"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設備・環境モニタリングデータ（2）</a:t>
            </a:r>
          </a:p>
        </p:txBody>
      </p:sp>
      <p:sp>
        <p:nvSpPr>
          <p:cNvPr id="115" name="Rounded Rectangle 114"/>
          <p:cNvSpPr/>
          <p:nvPr/>
        </p:nvSpPr>
        <p:spPr>
          <a:xfrm>
            <a:off x="8107680" y="3673602"/>
            <a:ext cx="3550920" cy="2105406"/>
          </a:xfrm>
          <a:prstGeom prst="roundRect">
            <a:avLst>
              <a:gd name="adj" fmla="val 4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8107680" y="3783330"/>
            <a:ext cx="3550920"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サプライチェーン</a:t>
            </a:r>
          </a:p>
        </p:txBody>
      </p:sp>
      <p:sp>
        <p:nvSpPr>
          <p:cNvPr id="117" name="Rectangle 116"/>
          <p:cNvSpPr/>
          <p:nvPr/>
        </p:nvSpPr>
        <p:spPr>
          <a:xfrm>
            <a:off x="8199120" y="4075938"/>
            <a:ext cx="1656588" cy="182880"/>
          </a:xfrm>
          <a:prstGeom prst="rect">
            <a:avLst/>
          </a:prstGeom>
          <a:solidFill>
            <a:srgbClr val="E4EAEC"/>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253984" y="4075938"/>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需給計画（2）</a:t>
            </a:r>
          </a:p>
        </p:txBody>
      </p:sp>
      <p:sp>
        <p:nvSpPr>
          <p:cNvPr id="119" name="Rectangle 118"/>
          <p:cNvSpPr/>
          <p:nvPr/>
        </p:nvSpPr>
        <p:spPr>
          <a:xfrm>
            <a:off x="9910572" y="4075938"/>
            <a:ext cx="1656588" cy="182880"/>
          </a:xfrm>
          <a:prstGeom prst="rect">
            <a:avLst/>
          </a:prstGeom>
          <a:solidFill>
            <a:srgbClr val="00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965436" y="4075938"/>
            <a:ext cx="1546860"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在庫（5）</a:t>
            </a:r>
          </a:p>
        </p:txBody>
      </p:sp>
      <p:sp>
        <p:nvSpPr>
          <p:cNvPr id="121" name="Rectangle 120"/>
          <p:cNvSpPr/>
          <p:nvPr/>
        </p:nvSpPr>
        <p:spPr>
          <a:xfrm>
            <a:off x="8199120" y="4290822"/>
            <a:ext cx="1656588" cy="182880"/>
          </a:xfrm>
          <a:prstGeom prst="rect">
            <a:avLst/>
          </a:prstGeom>
          <a:solidFill>
            <a:srgbClr val="00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8253984" y="4290822"/>
            <a:ext cx="1546860"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受注・出荷（3）</a:t>
            </a:r>
          </a:p>
        </p:txBody>
      </p:sp>
      <p:sp>
        <p:nvSpPr>
          <p:cNvPr id="123" name="Rectangle 122"/>
          <p:cNvSpPr/>
          <p:nvPr/>
        </p:nvSpPr>
        <p:spPr>
          <a:xfrm>
            <a:off x="9910572" y="4290822"/>
            <a:ext cx="1656588" cy="182880"/>
          </a:xfrm>
          <a:prstGeom prst="rect">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9965436" y="4290822"/>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温度記録</a:t>
            </a:r>
          </a:p>
        </p:txBody>
      </p:sp>
      <p:sp>
        <p:nvSpPr>
          <p:cNvPr id="125" name="Rectangle 124"/>
          <p:cNvSpPr/>
          <p:nvPr/>
        </p:nvSpPr>
        <p:spPr>
          <a:xfrm>
            <a:off x="8199120" y="4505706"/>
            <a:ext cx="1656588" cy="274320"/>
          </a:xfrm>
          <a:prstGeom prst="rect">
            <a:avLst/>
          </a:prstGeom>
          <a:solidFill>
            <a:srgbClr val="E4EAEC"/>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8253984" y="4505706"/>
            <a:ext cx="1546860"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製品識別子・取引情報（DSCSA）（2）</a:t>
            </a:r>
          </a:p>
        </p:txBody>
      </p:sp>
      <p:sp>
        <p:nvSpPr>
          <p:cNvPr id="127" name="Rectangle 126"/>
          <p:cNvSpPr/>
          <p:nvPr/>
        </p:nvSpPr>
        <p:spPr>
          <a:xfrm>
            <a:off x="9910572" y="4505706"/>
            <a:ext cx="1656588" cy="274320"/>
          </a:xfrm>
          <a:prstGeom prst="rect">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9965436" y="4505706"/>
            <a:ext cx="1546860" cy="27432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回収記録</a:t>
            </a:r>
          </a:p>
        </p:txBody>
      </p:sp>
      <p:sp>
        <p:nvSpPr>
          <p:cNvPr id="129" name="Rounded Rectangle 128"/>
          <p:cNvSpPr/>
          <p:nvPr/>
        </p:nvSpPr>
        <p:spPr>
          <a:xfrm>
            <a:off x="8199120" y="4812030"/>
            <a:ext cx="1656588"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8253984" y="4812030"/>
            <a:ext cx="15468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供給継続計画</a:t>
            </a:r>
          </a:p>
        </p:txBody>
      </p:sp>
      <p:sp>
        <p:nvSpPr>
          <p:cNvPr id="131" name="Chevron 130"/>
          <p:cNvSpPr/>
          <p:nvPr/>
        </p:nvSpPr>
        <p:spPr>
          <a:xfrm rot="5400000">
            <a:off x="9823704" y="5765292"/>
            <a:ext cx="118872" cy="310896"/>
          </a:xfrm>
          <a:prstGeom prst="chevron">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457200" y="5989320"/>
            <a:ext cx="11274552" cy="566928"/>
          </a:xfrm>
          <a:prstGeom prst="roundRect">
            <a:avLst>
              <a:gd name="adj" fmla="val 8000"/>
            </a:avLst>
          </a:prstGeom>
          <a:solidFill>
            <a:srgbClr val="FFFFFF"/>
          </a:solidFill>
          <a:ln w="19050">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457200" y="6025896"/>
            <a:ext cx="11274552" cy="219456"/>
          </a:xfrm>
          <a:prstGeom prst="rect">
            <a:avLst/>
          </a:prstGeom>
          <a:noFill/>
        </p:spPr>
        <p:txBody>
          <a:bodyPr wrap="square" lIns="0" rIns="0" tIns="0" bIns="0" anchor="ctr" rtlCol="0"/>
          <a:lstStyle/>
          <a:p>
            <a:pPr marL="0" indent="0" algn="ctr">
              <a:buNone/>
            </a:pPr>
            <a:r>
              <a:rPr sz="1150" b="1" lang="en-US" dirty="0">
                <a:solidFill>
                  <a:srgbClr val="1F2E35"/>
                </a:solidFill>
                <a:latin typeface="Yu Gothic" pitchFamily="34" charset="0"/>
                <a:ea typeface="Yu Gothic" pitchFamily="34" charset="-122"/>
                <a:cs typeface="Yu Gothic" pitchFamily="34" charset="-120"/>
              </a:rPr>
              <a:t>共通基盤（Support / Foundation）</a:t>
            </a:r>
          </a:p>
        </p:txBody>
      </p:sp>
      <p:sp>
        <p:nvSpPr>
          <p:cNvPr id="134" name="Rectangle 133"/>
          <p:cNvSpPr/>
          <p:nvPr/>
        </p:nvSpPr>
        <p:spPr>
          <a:xfrm>
            <a:off x="3845052" y="6300216"/>
            <a:ext cx="2194560" cy="182880"/>
          </a:xfrm>
          <a:prstGeom prst="rect">
            <a:avLst/>
          </a:prstGeom>
          <a:solidFill>
            <a:srgbClr val="00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899915" y="6300216"/>
            <a:ext cx="2084831"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製品マスタ（4）</a:t>
            </a:r>
          </a:p>
        </p:txBody>
      </p:sp>
      <p:sp>
        <p:nvSpPr>
          <p:cNvPr id="136" name="Rectangle 135"/>
          <p:cNvSpPr/>
          <p:nvPr/>
        </p:nvSpPr>
        <p:spPr>
          <a:xfrm>
            <a:off x="6149340" y="6300216"/>
            <a:ext cx="2194560" cy="182880"/>
          </a:xfrm>
          <a:prstGeom prst="rect">
            <a:avLst/>
          </a:prstGeom>
          <a:solidFill>
            <a:srgbClr val="00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6204203" y="6300216"/>
            <a:ext cx="2084831" cy="182880"/>
          </a:xfrm>
          <a:prstGeom prst="rect">
            <a:avLst/>
          </a:prstGeom>
          <a:noFill/>
        </p:spPr>
        <p:txBody>
          <a:bodyPr wrap="square" lIns="0" rIns="0" tIns="0" bIns="0" anchor="ctr" rtlCol="0"/>
          <a:lstStyle/>
          <a:p>
            <a:pPr marL="0" indent="0" algn="ctr">
              <a:buNone/>
            </a:pPr>
            <a:r>
              <a:rPr sz="750" b="1" lang="en-US" dirty="0">
                <a:solidFill>
                  <a:srgbClr val="000000"/>
                </a:solidFill>
                <a:latin typeface="Yu Gothic" pitchFamily="34" charset="0"/>
                <a:ea typeface="Yu Gothic" pitchFamily="34" charset="-122"/>
                <a:cs typeface="Yu Gothic" pitchFamily="34" charset="-120"/>
              </a:rPr>
              <a:t>患者・被験者（5）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65760"/>
            <a:ext cx="9144000" cy="640080"/>
          </a:xfrm>
          <a:prstGeom prst="rect">
            <a:avLst/>
          </a:prstGeom>
          <a:noFill/>
          <a:ln/>
        </p:spPr>
        <p:txBody>
          <a:bodyPr wrap="square" lIns="0" tIns="0" rIns="0" bIns="0" rtlCol="0" anchor="ctr"/>
          <a:lstStyle/>
          <a:p>
            <a:pPr indent="0" marL="0">
              <a:buNone/>
            </a:pPr>
            <a:r>
              <a:rPr lang="en-US" sz="3000" b="1" dirty="0">
                <a:solidFill>
                  <a:srgbClr val="1F2E35"/>
                </a:solidFill>
                <a:latin typeface="Yu Gothic" pitchFamily="34" charset="0"/>
                <a:ea typeface="Yu Gothic" pitchFamily="34" charset="-122"/>
                <a:cs typeface="Yu Gothic" pitchFamily="34" charset="-120"/>
              </a:rPr>
              <a:t>免責事項</a:t>
            </a:r>
            <a:endParaRPr lang="en-US" sz="3000" dirty="0"/>
          </a:p>
        </p:txBody>
      </p:sp>
      <p:sp>
        <p:nvSpPr>
          <p:cNvPr id="3" name="Text 1"/>
          <p:cNvSpPr txBox="1"/>
          <p:nvPr/>
        </p:nvSpPr>
        <p:spPr>
          <a:xfrm>
            <a:off x="457200" y="960120"/>
            <a:ext cx="11247120" cy="365760"/>
          </a:xfrm>
          <a:prstGeom prst="rect">
            <a:avLst/>
          </a:prstGeom>
          <a:noFill/>
          <a:ln/>
        </p:spPr>
        <p:txBody>
          <a:bodyPr wrap="square" lIns="0" tIns="0" rIns="0" bIns="0" rtlCol="0" anchor="ctr"/>
          <a:lstStyle/>
          <a:p>
            <a:pPr indent="0" marL="0">
              <a:buNone/>
            </a:pPr>
            <a:r>
              <a:rPr lang="en-US" sz="1400" dirty="0">
                <a:solidFill>
                  <a:srgbClr val="5B6B70"/>
                </a:solidFill>
                <a:latin typeface="Yu Gothic" pitchFamily="34" charset="0"/>
                <a:ea typeface="Yu Gothic" pitchFamily="34" charset="-122"/>
                <a:cs typeface="Yu Gothic" pitchFamily="34" charset="-120"/>
              </a:rPr>
              <a:t>本資料は、一般に公開され入手可能な情報をもとに、生成AIを用いて作成したものです。ご利用にあたっては、次の点にご留意ください。</a:t>
            </a:r>
            <a:endParaRPr lang="en-US" sz="1400" dirty="0"/>
          </a:p>
        </p:txBody>
      </p:sp>
      <p:sp>
        <p:nvSpPr>
          <p:cNvPr id="4" name="Oval 3"/>
          <p:cNvSpPr/>
          <p:nvPr/>
        </p:nvSpPr>
        <p:spPr>
          <a:xfrm>
            <a:off x="457200" y="1609344"/>
            <a:ext cx="274320" cy="274320"/>
          </a:xfrm>
          <a:prstGeom prst="ellipse">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09344"/>
            <a:ext cx="274320" cy="274320"/>
          </a:xfrm>
          <a:prstGeom prst="rect">
            <a:avLst/>
          </a:prstGeom>
          <a:noFill/>
        </p:spPr>
        <p:txBody>
          <a:bodyPr wrap="square" lIns="0" rIns="0" tIns="0" bIns="0" anchor="ctr" rtlCol="0"/>
          <a:lstStyle/>
          <a:p>
            <a:pPr marL="0" indent="0" algn="ctr">
              <a:buNone/>
            </a:pPr>
            <a:r>
              <a:rPr sz="1000" b="1" lang="en-US" dirty="0">
                <a:solidFill>
                  <a:srgbClr val="FFFFFF"/>
                </a:solidFill>
                <a:latin typeface="Yu Gothic" pitchFamily="34" charset="0"/>
                <a:ea typeface="Yu Gothic" pitchFamily="34" charset="-122"/>
                <a:cs typeface="Yu Gothic" pitchFamily="34" charset="-120"/>
              </a:rPr>
              <a:t>1</a:t>
            </a:r>
          </a:p>
        </p:txBody>
      </p:sp>
      <p:sp>
        <p:nvSpPr>
          <p:cNvPr id="6" name="TextBox 5"/>
          <p:cNvSpPr txBox="1"/>
          <p:nvPr/>
        </p:nvSpPr>
        <p:spPr>
          <a:xfrm>
            <a:off x="868680" y="1591056"/>
            <a:ext cx="2194560" cy="310896"/>
          </a:xfrm>
          <a:prstGeom prst="rect">
            <a:avLst/>
          </a:prstGeom>
          <a:noFill/>
        </p:spPr>
        <p:txBody>
          <a:bodyPr wrap="square" lIns="0" rIns="0" tIns="0" bIns="0" anchor="ctr" rtlCol="0"/>
          <a:lstStyle/>
          <a:p>
            <a:pPr marL="0" indent="0">
              <a:buNone/>
            </a:pPr>
            <a:r>
              <a:rPr sz="1200" b="1" lang="en-US" dirty="0">
                <a:solidFill>
                  <a:srgbClr val="1F2E35"/>
                </a:solidFill>
                <a:latin typeface="Yu Gothic" pitchFamily="34" charset="0"/>
                <a:ea typeface="Yu Gothic" pitchFamily="34" charset="-122"/>
                <a:cs typeface="Yu Gothic" pitchFamily="34" charset="-120"/>
              </a:rPr>
              <a:t>情報源</a:t>
            </a:r>
          </a:p>
        </p:txBody>
      </p:sp>
      <p:sp>
        <p:nvSpPr>
          <p:cNvPr id="7" name="TextBox 6"/>
          <p:cNvSpPr txBox="1"/>
          <p:nvPr/>
        </p:nvSpPr>
        <p:spPr>
          <a:xfrm>
            <a:off x="3108960" y="1481328"/>
            <a:ext cx="8622792" cy="512064"/>
          </a:xfrm>
          <a:prstGeom prst="rect">
            <a:avLst/>
          </a:prstGeom>
          <a:noFill/>
        </p:spPr>
        <p:txBody>
          <a:bodyPr wrap="square" lIns="0" rIns="0" tIns="0" bIns="0" anchor="ctr" rtlCol="0"/>
          <a:lstStyle/>
          <a:p>
            <a:pPr marL="0" indent="0">
              <a:buNone/>
            </a:pPr>
            <a:r>
              <a:rPr sz="1050" b="0" lang="en-US" dirty="0">
                <a:solidFill>
                  <a:srgbClr val="1F2E35"/>
                </a:solidFill>
                <a:latin typeface="Yu Gothic" pitchFamily="34" charset="0"/>
                <a:ea typeface="Yu Gothic" pitchFamily="34" charset="-122"/>
                <a:cs typeface="Yu Gothic" pitchFamily="34" charset="-120"/>
              </a:rPr>
              <a:t>本資料は、一般に公開されている情報（規制当局の公表資料、法律事務所等の解説記事など）のみに基づいて作成しています。特定の企業・組織の非公開情報、内部資料は含みません。</a:t>
            </a:r>
          </a:p>
        </p:txBody>
      </p:sp>
      <p:cxnSp>
        <p:nvCxnSpPr>
          <p:cNvPr id="8" name="Connector 7"/>
          <p:cNvCxnSpPr/>
          <p:nvPr/>
        </p:nvCxnSpPr>
        <p:spPr>
          <a:xfrm>
            <a:off x="457200" y="2176272"/>
            <a:ext cx="1127455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57200" y="2286000"/>
            <a:ext cx="274320" cy="274320"/>
          </a:xfrm>
          <a:prstGeom prst="ellipse">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286000"/>
            <a:ext cx="274320" cy="274320"/>
          </a:xfrm>
          <a:prstGeom prst="rect">
            <a:avLst/>
          </a:prstGeom>
          <a:noFill/>
        </p:spPr>
        <p:txBody>
          <a:bodyPr wrap="square" lIns="0" rIns="0" tIns="0" bIns="0" anchor="ctr" rtlCol="0"/>
          <a:lstStyle/>
          <a:p>
            <a:pPr marL="0" indent="0" algn="ctr">
              <a:buNone/>
            </a:pPr>
            <a:r>
              <a:rPr sz="1000" b="1" lang="en-US" dirty="0">
                <a:solidFill>
                  <a:srgbClr val="FFFFFF"/>
                </a:solidFill>
                <a:latin typeface="Yu Gothic" pitchFamily="34" charset="0"/>
                <a:ea typeface="Yu Gothic" pitchFamily="34" charset="-122"/>
                <a:cs typeface="Yu Gothic" pitchFamily="34" charset="-120"/>
              </a:rPr>
              <a:t>2</a:t>
            </a:r>
          </a:p>
        </p:txBody>
      </p:sp>
      <p:sp>
        <p:nvSpPr>
          <p:cNvPr id="11" name="TextBox 10"/>
          <p:cNvSpPr txBox="1"/>
          <p:nvPr/>
        </p:nvSpPr>
        <p:spPr>
          <a:xfrm>
            <a:off x="868680" y="2267712"/>
            <a:ext cx="2194560" cy="310896"/>
          </a:xfrm>
          <a:prstGeom prst="rect">
            <a:avLst/>
          </a:prstGeom>
          <a:noFill/>
        </p:spPr>
        <p:txBody>
          <a:bodyPr wrap="square" lIns="0" rIns="0" tIns="0" bIns="0" anchor="ctr" rtlCol="0"/>
          <a:lstStyle/>
          <a:p>
            <a:pPr marL="0" indent="0">
              <a:buNone/>
            </a:pPr>
            <a:r>
              <a:rPr sz="1200" b="1" lang="en-US" dirty="0">
                <a:solidFill>
                  <a:srgbClr val="1F2E35"/>
                </a:solidFill>
                <a:latin typeface="Yu Gothic" pitchFamily="34" charset="0"/>
                <a:ea typeface="Yu Gothic" pitchFamily="34" charset="-122"/>
                <a:cs typeface="Yu Gothic" pitchFamily="34" charset="-120"/>
              </a:rPr>
              <a:t>生成AIの利用</a:t>
            </a:r>
          </a:p>
        </p:txBody>
      </p:sp>
      <p:sp>
        <p:nvSpPr>
          <p:cNvPr id="12" name="TextBox 11"/>
          <p:cNvSpPr txBox="1"/>
          <p:nvPr/>
        </p:nvSpPr>
        <p:spPr>
          <a:xfrm>
            <a:off x="3108960" y="2157984"/>
            <a:ext cx="8622792" cy="512064"/>
          </a:xfrm>
          <a:prstGeom prst="rect">
            <a:avLst/>
          </a:prstGeom>
          <a:noFill/>
        </p:spPr>
        <p:txBody>
          <a:bodyPr wrap="square" lIns="0" rIns="0" tIns="0" bIns="0" anchor="ctr" rtlCol="0"/>
          <a:lstStyle/>
          <a:p>
            <a:pPr marL="0" indent="0">
              <a:buNone/>
            </a:pPr>
            <a:r>
              <a:rPr sz="1050" b="0" lang="en-US" dirty="0">
                <a:solidFill>
                  <a:srgbClr val="1F2E35"/>
                </a:solidFill>
                <a:latin typeface="Yu Gothic" pitchFamily="34" charset="0"/>
                <a:ea typeface="Yu Gothic" pitchFamily="34" charset="-122"/>
                <a:cs typeface="Yu Gothic" pitchFamily="34" charset="-120"/>
              </a:rPr>
              <a:t>構成・分析・図表の作成に生成AIを使用しています。生成AIの出力には、事実誤認、不正確な記述、情報の欠落が含まれる可能性があります。</a:t>
            </a:r>
          </a:p>
        </p:txBody>
      </p:sp>
      <p:cxnSp>
        <p:nvCxnSpPr>
          <p:cNvPr id="13" name="Connector 12"/>
          <p:cNvCxnSpPr/>
          <p:nvPr/>
        </p:nvCxnSpPr>
        <p:spPr>
          <a:xfrm>
            <a:off x="457200" y="2852927"/>
            <a:ext cx="1127455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57200" y="2962656"/>
            <a:ext cx="274320" cy="274320"/>
          </a:xfrm>
          <a:prstGeom prst="ellipse">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962656"/>
            <a:ext cx="274320" cy="274320"/>
          </a:xfrm>
          <a:prstGeom prst="rect">
            <a:avLst/>
          </a:prstGeom>
          <a:noFill/>
        </p:spPr>
        <p:txBody>
          <a:bodyPr wrap="square" lIns="0" rIns="0" tIns="0" bIns="0" anchor="ctr" rtlCol="0"/>
          <a:lstStyle/>
          <a:p>
            <a:pPr marL="0" indent="0" algn="ctr">
              <a:buNone/>
            </a:pPr>
            <a:r>
              <a:rPr sz="1000" b="1" lang="en-US" dirty="0">
                <a:solidFill>
                  <a:srgbClr val="FFFFFF"/>
                </a:solidFill>
                <a:latin typeface="Yu Gothic" pitchFamily="34" charset="0"/>
                <a:ea typeface="Yu Gothic" pitchFamily="34" charset="-122"/>
                <a:cs typeface="Yu Gothic" pitchFamily="34" charset="-120"/>
              </a:rPr>
              <a:t>3</a:t>
            </a:r>
          </a:p>
        </p:txBody>
      </p:sp>
      <p:sp>
        <p:nvSpPr>
          <p:cNvPr id="16" name="TextBox 15"/>
          <p:cNvSpPr txBox="1"/>
          <p:nvPr/>
        </p:nvSpPr>
        <p:spPr>
          <a:xfrm>
            <a:off x="868680" y="2944368"/>
            <a:ext cx="2194560" cy="310896"/>
          </a:xfrm>
          <a:prstGeom prst="rect">
            <a:avLst/>
          </a:prstGeom>
          <a:noFill/>
        </p:spPr>
        <p:txBody>
          <a:bodyPr wrap="square" lIns="0" rIns="0" tIns="0" bIns="0" anchor="ctr" rtlCol="0"/>
          <a:lstStyle/>
          <a:p>
            <a:pPr marL="0" indent="0">
              <a:buNone/>
            </a:pPr>
            <a:r>
              <a:rPr sz="1200" b="1" lang="en-US" dirty="0">
                <a:solidFill>
                  <a:srgbClr val="1F2E35"/>
                </a:solidFill>
                <a:latin typeface="Yu Gothic" pitchFamily="34" charset="0"/>
                <a:ea typeface="Yu Gothic" pitchFamily="34" charset="-122"/>
                <a:cs typeface="Yu Gothic" pitchFamily="34" charset="-120"/>
              </a:rPr>
              <a:t>正確性・完全性</a:t>
            </a:r>
          </a:p>
        </p:txBody>
      </p:sp>
      <p:sp>
        <p:nvSpPr>
          <p:cNvPr id="17" name="TextBox 16"/>
          <p:cNvSpPr txBox="1"/>
          <p:nvPr/>
        </p:nvSpPr>
        <p:spPr>
          <a:xfrm>
            <a:off x="3108960" y="2834639"/>
            <a:ext cx="8622792" cy="512064"/>
          </a:xfrm>
          <a:prstGeom prst="rect">
            <a:avLst/>
          </a:prstGeom>
          <a:noFill/>
        </p:spPr>
        <p:txBody>
          <a:bodyPr wrap="square" lIns="0" rIns="0" tIns="0" bIns="0" anchor="ctr" rtlCol="0"/>
          <a:lstStyle/>
          <a:p>
            <a:pPr marL="0" indent="0">
              <a:buNone/>
            </a:pPr>
            <a:r>
              <a:rPr sz="1050" b="0" lang="en-US" dirty="0">
                <a:solidFill>
                  <a:srgbClr val="1F2E35"/>
                </a:solidFill>
                <a:latin typeface="Yu Gothic" pitchFamily="34" charset="0"/>
                <a:ea typeface="Yu Gothic" pitchFamily="34" charset="-122"/>
                <a:cs typeface="Yu Gothic" pitchFamily="34" charset="-120"/>
              </a:rPr>
              <a:t>記載内容の正確性、完全性、最新性、特定目的への適合性について、いかなる保証もいたしません。制度や規制の状況は作成時点（2026年9月）のものであり、その後変更される可能性があります。</a:t>
            </a:r>
          </a:p>
        </p:txBody>
      </p:sp>
      <p:cxnSp>
        <p:nvCxnSpPr>
          <p:cNvPr id="18" name="Connector 17"/>
          <p:cNvCxnSpPr/>
          <p:nvPr/>
        </p:nvCxnSpPr>
        <p:spPr>
          <a:xfrm>
            <a:off x="457200" y="3529584"/>
            <a:ext cx="1127455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57200" y="3639312"/>
            <a:ext cx="274320" cy="274320"/>
          </a:xfrm>
          <a:prstGeom prst="ellipse">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639312"/>
            <a:ext cx="274320" cy="274320"/>
          </a:xfrm>
          <a:prstGeom prst="rect">
            <a:avLst/>
          </a:prstGeom>
          <a:noFill/>
        </p:spPr>
        <p:txBody>
          <a:bodyPr wrap="square" lIns="0" rIns="0" tIns="0" bIns="0" anchor="ctr" rtlCol="0"/>
          <a:lstStyle/>
          <a:p>
            <a:pPr marL="0" indent="0" algn="ctr">
              <a:buNone/>
            </a:pPr>
            <a:r>
              <a:rPr sz="1000" b="1" lang="en-US" dirty="0">
                <a:solidFill>
                  <a:srgbClr val="FFFFFF"/>
                </a:solidFill>
                <a:latin typeface="Yu Gothic" pitchFamily="34" charset="0"/>
                <a:ea typeface="Yu Gothic" pitchFamily="34" charset="-122"/>
                <a:cs typeface="Yu Gothic" pitchFamily="34" charset="-120"/>
              </a:rPr>
              <a:t>4</a:t>
            </a:r>
          </a:p>
        </p:txBody>
      </p:sp>
      <p:sp>
        <p:nvSpPr>
          <p:cNvPr id="21" name="TextBox 20"/>
          <p:cNvSpPr txBox="1"/>
          <p:nvPr/>
        </p:nvSpPr>
        <p:spPr>
          <a:xfrm>
            <a:off x="868680" y="3621024"/>
            <a:ext cx="2194560" cy="310896"/>
          </a:xfrm>
          <a:prstGeom prst="rect">
            <a:avLst/>
          </a:prstGeom>
          <a:noFill/>
        </p:spPr>
        <p:txBody>
          <a:bodyPr wrap="square" lIns="0" rIns="0" tIns="0" bIns="0" anchor="ctr" rtlCol="0"/>
          <a:lstStyle/>
          <a:p>
            <a:pPr marL="0" indent="0">
              <a:buNone/>
            </a:pPr>
            <a:r>
              <a:rPr sz="1200" b="1" lang="en-US" dirty="0">
                <a:solidFill>
                  <a:srgbClr val="1F2E35"/>
                </a:solidFill>
                <a:latin typeface="Yu Gothic" pitchFamily="34" charset="0"/>
                <a:ea typeface="Yu Gothic" pitchFamily="34" charset="-122"/>
                <a:cs typeface="Yu Gothic" pitchFamily="34" charset="-120"/>
              </a:rPr>
              <a:t>仮定に基づくモデル</a:t>
            </a:r>
          </a:p>
        </p:txBody>
      </p:sp>
      <p:sp>
        <p:nvSpPr>
          <p:cNvPr id="22" name="TextBox 21"/>
          <p:cNvSpPr txBox="1"/>
          <p:nvPr/>
        </p:nvSpPr>
        <p:spPr>
          <a:xfrm>
            <a:off x="3108960" y="3511296"/>
            <a:ext cx="8622792" cy="512064"/>
          </a:xfrm>
          <a:prstGeom prst="rect">
            <a:avLst/>
          </a:prstGeom>
          <a:noFill/>
        </p:spPr>
        <p:txBody>
          <a:bodyPr wrap="square" lIns="0" rIns="0" tIns="0" bIns="0" anchor="ctr" rtlCol="0"/>
          <a:lstStyle/>
          <a:p>
            <a:pPr marL="0" indent="0">
              <a:buNone/>
            </a:pPr>
            <a:r>
              <a:rPr sz="1050" b="0" lang="en-US" dirty="0">
                <a:solidFill>
                  <a:srgbClr val="1F2E35"/>
                </a:solidFill>
                <a:latin typeface="Yu Gothic" pitchFamily="34" charset="0"/>
                <a:ea typeface="Yu Gothic" pitchFamily="34" charset="-122"/>
                <a:cs typeface="Yu Gothic" pitchFamily="34" charset="-120"/>
              </a:rPr>
              <a:t>バリューストリーム、ケイパビリティ、アプリケーション、データの各マップと考察は、「希少疾患向けの新規バイオ医薬品を米国で開発・上市する」という仮定に基づく参照モデルです。特定の企業の実態を表すものではありません。</a:t>
            </a:r>
          </a:p>
        </p:txBody>
      </p:sp>
      <p:cxnSp>
        <p:nvCxnSpPr>
          <p:cNvPr id="23" name="Connector 22"/>
          <p:cNvCxnSpPr/>
          <p:nvPr/>
        </p:nvCxnSpPr>
        <p:spPr>
          <a:xfrm>
            <a:off x="457200" y="4206240"/>
            <a:ext cx="1127455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457200" y="4315968"/>
            <a:ext cx="274320" cy="274320"/>
          </a:xfrm>
          <a:prstGeom prst="ellipse">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315968"/>
            <a:ext cx="274320" cy="274320"/>
          </a:xfrm>
          <a:prstGeom prst="rect">
            <a:avLst/>
          </a:prstGeom>
          <a:noFill/>
        </p:spPr>
        <p:txBody>
          <a:bodyPr wrap="square" lIns="0" rIns="0" tIns="0" bIns="0" anchor="ctr" rtlCol="0"/>
          <a:lstStyle/>
          <a:p>
            <a:pPr marL="0" indent="0" algn="ctr">
              <a:buNone/>
            </a:pPr>
            <a:r>
              <a:rPr sz="1000" b="1" lang="en-US" dirty="0">
                <a:solidFill>
                  <a:srgbClr val="FFFFFF"/>
                </a:solidFill>
                <a:latin typeface="Yu Gothic" pitchFamily="34" charset="0"/>
                <a:ea typeface="Yu Gothic" pitchFamily="34" charset="-122"/>
                <a:cs typeface="Yu Gothic" pitchFamily="34" charset="-120"/>
              </a:rPr>
              <a:t>5</a:t>
            </a:r>
          </a:p>
        </p:txBody>
      </p:sp>
      <p:sp>
        <p:nvSpPr>
          <p:cNvPr id="26" name="TextBox 25"/>
          <p:cNvSpPr txBox="1"/>
          <p:nvPr/>
        </p:nvSpPr>
        <p:spPr>
          <a:xfrm>
            <a:off x="868680" y="4297680"/>
            <a:ext cx="2194560" cy="310896"/>
          </a:xfrm>
          <a:prstGeom prst="rect">
            <a:avLst/>
          </a:prstGeom>
          <a:noFill/>
        </p:spPr>
        <p:txBody>
          <a:bodyPr wrap="square" lIns="0" rIns="0" tIns="0" bIns="0" anchor="ctr" rtlCol="0"/>
          <a:lstStyle/>
          <a:p>
            <a:pPr marL="0" indent="0">
              <a:buNone/>
            </a:pPr>
            <a:r>
              <a:rPr sz="1200" b="1" lang="en-US" dirty="0">
                <a:solidFill>
                  <a:srgbClr val="1F2E35"/>
                </a:solidFill>
                <a:latin typeface="Yu Gothic" pitchFamily="34" charset="0"/>
                <a:ea typeface="Yu Gothic" pitchFamily="34" charset="-122"/>
                <a:cs typeface="Yu Gothic" pitchFamily="34" charset="-120"/>
              </a:rPr>
              <a:t>専門的助言ではない</a:t>
            </a:r>
          </a:p>
        </p:txBody>
      </p:sp>
      <p:sp>
        <p:nvSpPr>
          <p:cNvPr id="27" name="TextBox 26"/>
          <p:cNvSpPr txBox="1"/>
          <p:nvPr/>
        </p:nvSpPr>
        <p:spPr>
          <a:xfrm>
            <a:off x="3108960" y="4187952"/>
            <a:ext cx="8622792" cy="512064"/>
          </a:xfrm>
          <a:prstGeom prst="rect">
            <a:avLst/>
          </a:prstGeom>
          <a:noFill/>
        </p:spPr>
        <p:txBody>
          <a:bodyPr wrap="square" lIns="0" rIns="0" tIns="0" bIns="0" anchor="ctr" rtlCol="0"/>
          <a:lstStyle/>
          <a:p>
            <a:pPr marL="0" indent="0">
              <a:buNone/>
            </a:pPr>
            <a:r>
              <a:rPr sz="1050" b="0" lang="en-US" dirty="0">
                <a:solidFill>
                  <a:srgbClr val="1F2E35"/>
                </a:solidFill>
                <a:latin typeface="Yu Gothic" pitchFamily="34" charset="0"/>
                <a:ea typeface="Yu Gothic" pitchFamily="34" charset="-122"/>
                <a:cs typeface="Yu Gothic" pitchFamily="34" charset="-120"/>
              </a:rPr>
              <a:t>本資料は、法務、薬事、規制、投資、その他の専門的助言を提供するものではありません。意思決定にあたっては、一次情報の確認と、必要に応じた専門家への相談を行ってください。</a:t>
            </a:r>
          </a:p>
        </p:txBody>
      </p:sp>
      <p:cxnSp>
        <p:nvCxnSpPr>
          <p:cNvPr id="28" name="Connector 27"/>
          <p:cNvCxnSpPr/>
          <p:nvPr/>
        </p:nvCxnSpPr>
        <p:spPr>
          <a:xfrm>
            <a:off x="457200" y="4882896"/>
            <a:ext cx="1127455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457200" y="4992624"/>
            <a:ext cx="274320" cy="274320"/>
          </a:xfrm>
          <a:prstGeom prst="ellipse">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992624"/>
            <a:ext cx="274320" cy="274320"/>
          </a:xfrm>
          <a:prstGeom prst="rect">
            <a:avLst/>
          </a:prstGeom>
          <a:noFill/>
        </p:spPr>
        <p:txBody>
          <a:bodyPr wrap="square" lIns="0" rIns="0" tIns="0" bIns="0" anchor="ctr" rtlCol="0"/>
          <a:lstStyle/>
          <a:p>
            <a:pPr marL="0" indent="0" algn="ctr">
              <a:buNone/>
            </a:pPr>
            <a:r>
              <a:rPr sz="1000" b="1" lang="en-US" dirty="0">
                <a:solidFill>
                  <a:srgbClr val="FFFFFF"/>
                </a:solidFill>
                <a:latin typeface="Yu Gothic" pitchFamily="34" charset="0"/>
                <a:ea typeface="Yu Gothic" pitchFamily="34" charset="-122"/>
                <a:cs typeface="Yu Gothic" pitchFamily="34" charset="-120"/>
              </a:rPr>
              <a:t>6</a:t>
            </a:r>
          </a:p>
        </p:txBody>
      </p:sp>
      <p:sp>
        <p:nvSpPr>
          <p:cNvPr id="31" name="TextBox 30"/>
          <p:cNvSpPr txBox="1"/>
          <p:nvPr/>
        </p:nvSpPr>
        <p:spPr>
          <a:xfrm>
            <a:off x="868680" y="4974336"/>
            <a:ext cx="2194560" cy="310896"/>
          </a:xfrm>
          <a:prstGeom prst="rect">
            <a:avLst/>
          </a:prstGeom>
          <a:noFill/>
        </p:spPr>
        <p:txBody>
          <a:bodyPr wrap="square" lIns="0" rIns="0" tIns="0" bIns="0" anchor="ctr" rtlCol="0"/>
          <a:lstStyle/>
          <a:p>
            <a:pPr marL="0" indent="0">
              <a:buNone/>
            </a:pPr>
            <a:r>
              <a:rPr sz="1200" b="1" lang="en-US" dirty="0">
                <a:solidFill>
                  <a:srgbClr val="1F2E35"/>
                </a:solidFill>
                <a:latin typeface="Yu Gothic" pitchFamily="34" charset="0"/>
                <a:ea typeface="Yu Gothic" pitchFamily="34" charset="-122"/>
                <a:cs typeface="Yu Gothic" pitchFamily="34" charset="-120"/>
              </a:rPr>
              <a:t>責任の限定</a:t>
            </a:r>
          </a:p>
        </p:txBody>
      </p:sp>
      <p:sp>
        <p:nvSpPr>
          <p:cNvPr id="32" name="TextBox 31"/>
          <p:cNvSpPr txBox="1"/>
          <p:nvPr/>
        </p:nvSpPr>
        <p:spPr>
          <a:xfrm>
            <a:off x="3108960" y="4864608"/>
            <a:ext cx="8622792" cy="512064"/>
          </a:xfrm>
          <a:prstGeom prst="rect">
            <a:avLst/>
          </a:prstGeom>
          <a:noFill/>
        </p:spPr>
        <p:txBody>
          <a:bodyPr wrap="square" lIns="0" rIns="0" tIns="0" bIns="0" anchor="ctr" rtlCol="0"/>
          <a:lstStyle/>
          <a:p>
            <a:pPr marL="0" indent="0">
              <a:buNone/>
            </a:pPr>
            <a:r>
              <a:rPr sz="1050" b="0" lang="en-US" dirty="0">
                <a:solidFill>
                  <a:srgbClr val="1F2E35"/>
                </a:solidFill>
                <a:latin typeface="Yu Gothic" pitchFamily="34" charset="0"/>
                <a:ea typeface="Yu Gothic" pitchFamily="34" charset="-122"/>
                <a:cs typeface="Yu Gothic" pitchFamily="34" charset="-120"/>
              </a:rPr>
              <a:t>本資料の利用、または利用できなかったことにより生じたいかなる損害についても、作成者は責任を負いません。</a:t>
            </a:r>
          </a:p>
        </p:txBody>
      </p:sp>
      <p:cxnSp>
        <p:nvCxnSpPr>
          <p:cNvPr id="33" name="Connector 32"/>
          <p:cNvCxnSpPr/>
          <p:nvPr/>
        </p:nvCxnSpPr>
        <p:spPr>
          <a:xfrm>
            <a:off x="457200" y="5559552"/>
            <a:ext cx="1127455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457200" y="5669280"/>
            <a:ext cx="274320" cy="274320"/>
          </a:xfrm>
          <a:prstGeom prst="ellipse">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5669280"/>
            <a:ext cx="274320" cy="274320"/>
          </a:xfrm>
          <a:prstGeom prst="rect">
            <a:avLst/>
          </a:prstGeom>
          <a:noFill/>
        </p:spPr>
        <p:txBody>
          <a:bodyPr wrap="square" lIns="0" rIns="0" tIns="0" bIns="0" anchor="ctr" rtlCol="0"/>
          <a:lstStyle/>
          <a:p>
            <a:pPr marL="0" indent="0" algn="ctr">
              <a:buNone/>
            </a:pPr>
            <a:r>
              <a:rPr sz="1000" b="1" lang="en-US" dirty="0">
                <a:solidFill>
                  <a:srgbClr val="FFFFFF"/>
                </a:solidFill>
                <a:latin typeface="Yu Gothic" pitchFamily="34" charset="0"/>
                <a:ea typeface="Yu Gothic" pitchFamily="34" charset="-122"/>
                <a:cs typeface="Yu Gothic" pitchFamily="34" charset="-120"/>
              </a:rPr>
              <a:t>7</a:t>
            </a:r>
          </a:p>
        </p:txBody>
      </p:sp>
      <p:sp>
        <p:nvSpPr>
          <p:cNvPr id="36" name="TextBox 35"/>
          <p:cNvSpPr txBox="1"/>
          <p:nvPr/>
        </p:nvSpPr>
        <p:spPr>
          <a:xfrm>
            <a:off x="868680" y="5650992"/>
            <a:ext cx="2194560" cy="310896"/>
          </a:xfrm>
          <a:prstGeom prst="rect">
            <a:avLst/>
          </a:prstGeom>
          <a:noFill/>
        </p:spPr>
        <p:txBody>
          <a:bodyPr wrap="square" lIns="0" rIns="0" tIns="0" bIns="0" anchor="ctr" rtlCol="0"/>
          <a:lstStyle/>
          <a:p>
            <a:pPr marL="0" indent="0">
              <a:buNone/>
            </a:pPr>
            <a:r>
              <a:rPr sz="1200" b="1" lang="en-US" dirty="0">
                <a:solidFill>
                  <a:srgbClr val="1F2E35"/>
                </a:solidFill>
                <a:latin typeface="Yu Gothic" pitchFamily="34" charset="0"/>
                <a:ea typeface="Yu Gothic" pitchFamily="34" charset="-122"/>
                <a:cs typeface="Yu Gothic" pitchFamily="34" charset="-120"/>
              </a:rPr>
              <a:t>名称の扱い</a:t>
            </a:r>
          </a:p>
        </p:txBody>
      </p:sp>
      <p:sp>
        <p:nvSpPr>
          <p:cNvPr id="37" name="TextBox 36"/>
          <p:cNvSpPr txBox="1"/>
          <p:nvPr/>
        </p:nvSpPr>
        <p:spPr>
          <a:xfrm>
            <a:off x="3108960" y="5541264"/>
            <a:ext cx="8622792" cy="512064"/>
          </a:xfrm>
          <a:prstGeom prst="rect">
            <a:avLst/>
          </a:prstGeom>
          <a:noFill/>
        </p:spPr>
        <p:txBody>
          <a:bodyPr wrap="square" lIns="0" rIns="0" tIns="0" bIns="0" anchor="ctr" rtlCol="0"/>
          <a:lstStyle/>
          <a:p>
            <a:pPr marL="0" indent="0">
              <a:buNone/>
            </a:pPr>
            <a:r>
              <a:rPr sz="1050" b="0" lang="en-US" dirty="0">
                <a:solidFill>
                  <a:srgbClr val="1F2E35"/>
                </a:solidFill>
                <a:latin typeface="Yu Gothic" pitchFamily="34" charset="0"/>
                <a:ea typeface="Yu Gothic" pitchFamily="34" charset="-122"/>
                <a:cs typeface="Yu Gothic" pitchFamily="34" charset="-120"/>
              </a:rPr>
              <a:t>本資料に記載した製品・システムの種類の名称や略称（ELN、LIMS、ERPなど）は一般名称として使用しており、特定の製品やベンダーを推奨・評価するものではありません。</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9144000" cy="548640"/>
          </a:xfrm>
          <a:prstGeom prst="rect">
            <a:avLst/>
          </a:prstGeom>
          <a:noFill/>
        </p:spPr>
        <p:txBody>
          <a:bodyPr wrap="square" anchor="t" lIns="0" rIns="0" tIns="0" bIns="0">
            <a:spAutoFit/>
          </a:bodyPr>
          <a:lstStyle/>
          <a:p>
            <a:pPr algn="l"/>
            <a:r>
              <a:rPr sz="2800" b="1">
                <a:solidFill>
                  <a:srgbClr val="1F2E35"/>
                </a:solidFill>
                <a:latin typeface="Yu Gothic"/>
                <a:ea typeface="Yu Gothic"/>
              </a:rPr>
              <a:t>アプリケーションマップ（製品別）</a:t>
            </a:r>
          </a:p>
        </p:txBody>
      </p:sp>
      <p:sp>
        <p:nvSpPr>
          <p:cNvPr id="3" name="TextBox 2"/>
          <p:cNvSpPr txBox="1"/>
          <p:nvPr/>
        </p:nvSpPr>
        <p:spPr>
          <a:xfrm>
            <a:off x="457200" y="841248"/>
            <a:ext cx="8412480" cy="320040"/>
          </a:xfrm>
          <a:prstGeom prst="rect">
            <a:avLst/>
          </a:prstGeom>
          <a:noFill/>
        </p:spPr>
        <p:txBody>
          <a:bodyPr wrap="square" anchor="t" lIns="0" rIns="0" tIns="0" bIns="0">
            <a:spAutoFit/>
          </a:bodyPr>
          <a:lstStyle/>
          <a:p>
            <a:pPr algn="l"/>
            <a:r>
              <a:rPr sz="1300" b="0">
                <a:solidFill>
                  <a:srgbClr val="5B6B70"/>
                </a:solidFill>
                <a:latin typeface="Yu Gothic"/>
                <a:ea typeface="Yu Gothic"/>
              </a:rPr>
              <a:t>各領域の能力を主に支えるアプリケーションを、主に対応する製品（●）で表示。製品がないものは種類名のまま</a:t>
            </a:r>
          </a:p>
        </p:txBody>
      </p:sp>
      <p:sp>
        <p:nvSpPr>
          <p:cNvPr id="4" name="Rounded Rectangle 3"/>
          <p:cNvSpPr/>
          <p:nvPr/>
        </p:nvSpPr>
        <p:spPr>
          <a:xfrm>
            <a:off x="457200" y="1325880"/>
            <a:ext cx="7406640" cy="530352"/>
          </a:xfrm>
          <a:prstGeom prst="roundRect">
            <a:avLst>
              <a:gd name="adj" fmla="val 8000"/>
            </a:avLst>
          </a:prstGeom>
          <a:solidFill>
            <a:srgbClr val="FFFFFF"/>
          </a:solidFill>
          <a:ln w="19050">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62456"/>
            <a:ext cx="7406640" cy="219456"/>
          </a:xfrm>
          <a:prstGeom prst="rect">
            <a:avLst/>
          </a:prstGeom>
          <a:noFill/>
        </p:spPr>
        <p:txBody>
          <a:bodyPr wrap="square" lIns="0" rIns="0" tIns="0" bIns="0" anchor="ctr" rtlCol="0"/>
          <a:lstStyle/>
          <a:p>
            <a:pPr marL="0" indent="0" algn="ctr">
              <a:buNone/>
            </a:pPr>
            <a:r>
              <a:rPr sz="1150" b="1" lang="en-US" dirty="0">
                <a:solidFill>
                  <a:srgbClr val="1F2E35"/>
                </a:solidFill>
                <a:latin typeface="Yu Gothic" pitchFamily="34" charset="0"/>
                <a:ea typeface="Yu Gothic" pitchFamily="34" charset="-122"/>
                <a:cs typeface="Yu Gothic" pitchFamily="34" charset="-120"/>
              </a:rPr>
              <a:t>戦略・ガバナンス（Strategy &amp; Governance）</a:t>
            </a:r>
          </a:p>
        </p:txBody>
      </p:sp>
      <p:sp>
        <p:nvSpPr>
          <p:cNvPr id="6" name="Rounded Rectangle 5"/>
          <p:cNvSpPr/>
          <p:nvPr/>
        </p:nvSpPr>
        <p:spPr>
          <a:xfrm>
            <a:off x="731520" y="1600199"/>
            <a:ext cx="219456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00199"/>
            <a:ext cx="2194560" cy="18288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ポートフォリオ・プロジェクト管理（PPM）</a:t>
            </a:r>
          </a:p>
        </p:txBody>
      </p:sp>
      <p:sp>
        <p:nvSpPr>
          <p:cNvPr id="8" name="Rounded Rectangle 7"/>
          <p:cNvSpPr/>
          <p:nvPr/>
        </p:nvSpPr>
        <p:spPr>
          <a:xfrm>
            <a:off x="3063240" y="1600199"/>
            <a:ext cx="219456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63240" y="1600199"/>
            <a:ext cx="21945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契約管理（CLM）</a:t>
            </a:r>
          </a:p>
        </p:txBody>
      </p:sp>
      <p:sp>
        <p:nvSpPr>
          <p:cNvPr id="10" name="Rounded Rectangle 9"/>
          <p:cNvSpPr/>
          <p:nvPr/>
        </p:nvSpPr>
        <p:spPr>
          <a:xfrm>
            <a:off x="5394959" y="1600199"/>
            <a:ext cx="219456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94959" y="1600199"/>
            <a:ext cx="219456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知財管理（IPMS）</a:t>
            </a:r>
          </a:p>
        </p:txBody>
      </p:sp>
      <p:sp>
        <p:nvSpPr>
          <p:cNvPr id="12" name="Rounded Rectangle 11"/>
          <p:cNvSpPr/>
          <p:nvPr/>
        </p:nvSpPr>
        <p:spPr>
          <a:xfrm>
            <a:off x="457200" y="1984248"/>
            <a:ext cx="2407920" cy="3867912"/>
          </a:xfrm>
          <a:prstGeom prst="roundRect">
            <a:avLst>
              <a:gd name="adj" fmla="val 3000"/>
            </a:avLst>
          </a:prstGeom>
          <a:solidFill>
            <a:srgbClr val="FDEEE7"/>
          </a:solidFill>
          <a:ln w="19050">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039112"/>
            <a:ext cx="2407920" cy="274320"/>
          </a:xfrm>
          <a:prstGeom prst="rect">
            <a:avLst/>
          </a:prstGeom>
          <a:noFill/>
        </p:spPr>
        <p:txBody>
          <a:bodyPr wrap="square" lIns="0" rIns="0" tIns="0" bIns="0" anchor="ctr" rtlCol="0"/>
          <a:lstStyle/>
          <a:p>
            <a:pPr marL="0" indent="0" algn="ctr">
              <a:buNone/>
            </a:pPr>
            <a:r>
              <a:rPr sz="1250" b="1" lang="en-US" dirty="0">
                <a:solidFill>
                  <a:srgbClr val="C24E1C"/>
                </a:solidFill>
                <a:latin typeface="Yu Gothic" pitchFamily="34" charset="0"/>
                <a:ea typeface="Yu Gothic" pitchFamily="34" charset="-122"/>
                <a:cs typeface="Yu Gothic" pitchFamily="34" charset="-120"/>
              </a:rPr>
              <a:t>Commercial &amp; Patient</a:t>
            </a:r>
          </a:p>
        </p:txBody>
      </p:sp>
      <p:sp>
        <p:nvSpPr>
          <p:cNvPr id="14" name="Rounded Rectangle 13"/>
          <p:cNvSpPr/>
          <p:nvPr/>
        </p:nvSpPr>
        <p:spPr>
          <a:xfrm>
            <a:off x="530352" y="2368296"/>
            <a:ext cx="2261616" cy="1517904"/>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2688336"/>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メディカル・患者エンゲージメント</a:t>
            </a:r>
          </a:p>
        </p:txBody>
      </p:sp>
      <p:sp>
        <p:nvSpPr>
          <p:cNvPr id="16" name="Rounded Rectangle 15"/>
          <p:cNvSpPr/>
          <p:nvPr/>
        </p:nvSpPr>
        <p:spPr>
          <a:xfrm>
            <a:off x="621792" y="2980944"/>
            <a:ext cx="2078736" cy="374904"/>
          </a:xfrm>
          <a:prstGeom prst="roundRect">
            <a:avLst>
              <a:gd name="adj" fmla="val 35000"/>
            </a:avLst>
          </a:prstGeom>
          <a:solidFill>
            <a:srgbClr val="E4EAEC"/>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2980944"/>
            <a:ext cx="1987296" cy="374904"/>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Vault CRM／Medical CRM／</a:t>
            </a:r>
          </a:p>
          <a:p>
            <a:pPr marL="0" indent="0" algn="ctr">
              <a:buNone/>
            </a:pPr>
            <a:r>
              <a:rPr sz="750" b="0" lang="en-US" dirty="0">
                <a:solidFill>
                  <a:srgbClr val="1F2E35"/>
                </a:solidFill>
                <a:latin typeface="Yu Gothic" pitchFamily="34" charset="0"/>
                <a:ea typeface="Yu Gothic" pitchFamily="34" charset="-122"/>
                <a:cs typeface="Yu Gothic" pitchFamily="34" charset="-120"/>
              </a:rPr>
              <a:t>Veeva CRM（Salesforce基盤）／</a:t>
            </a:r>
          </a:p>
          <a:p>
            <a:pPr marL="0" indent="0" algn="ctr">
              <a:buNone/>
            </a:pPr>
            <a:r>
              <a:rPr sz="750" b="0" lang="en-US" dirty="0">
                <a:solidFill>
                  <a:srgbClr val="1F2E35"/>
                </a:solidFill>
                <a:latin typeface="Yu Gothic" pitchFamily="34" charset="0"/>
                <a:ea typeface="Yu Gothic" pitchFamily="34" charset="-122"/>
                <a:cs typeface="Yu Gothic" pitchFamily="34" charset="-120"/>
              </a:rPr>
              <a:t>Salesforce Life Sciences Cloud</a:t>
            </a:r>
          </a:p>
        </p:txBody>
      </p:sp>
      <p:sp>
        <p:nvSpPr>
          <p:cNvPr id="18" name="Rounded Rectangle 17"/>
          <p:cNvSpPr/>
          <p:nvPr/>
        </p:nvSpPr>
        <p:spPr>
          <a:xfrm>
            <a:off x="621792" y="3383280"/>
            <a:ext cx="2078736" cy="182880"/>
          </a:xfrm>
          <a:prstGeom prst="roundRect">
            <a:avLst>
              <a:gd name="adj" fmla="val 50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3383280"/>
            <a:ext cx="2078736" cy="182880"/>
          </a:xfrm>
          <a:prstGeom prst="rect">
            <a:avLst/>
          </a:prstGeom>
          <a:noFill/>
        </p:spPr>
        <p:txBody>
          <a:bodyPr wrap="square" lIns="0" rIns="0" tIns="0" bIns="0" anchor="ctr" rtlCol="0"/>
          <a:lstStyle/>
          <a:p>
            <a:pPr marL="0" indent="0" algn="ctr">
              <a:buNone/>
            </a:pPr>
            <a:r>
              <a:rPr sz="650" b="0" lang="en-US" dirty="0">
                <a:solidFill>
                  <a:srgbClr val="1F2E35"/>
                </a:solidFill>
                <a:latin typeface="Yu Gothic" pitchFamily="34" charset="0"/>
                <a:ea typeface="Yu Gothic" pitchFamily="34" charset="-122"/>
                <a:cs typeface="Yu Gothic" pitchFamily="34" charset="-120"/>
              </a:rPr>
              <a:t>Patient CRM</a:t>
            </a:r>
          </a:p>
        </p:txBody>
      </p:sp>
      <p:sp>
        <p:nvSpPr>
          <p:cNvPr id="20" name="Rounded Rectangle 19"/>
          <p:cNvSpPr/>
          <p:nvPr/>
        </p:nvSpPr>
        <p:spPr>
          <a:xfrm>
            <a:off x="530352" y="3959352"/>
            <a:ext cx="2261616" cy="1819656"/>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0352" y="4279392"/>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市場アクセス・商業</a:t>
            </a:r>
          </a:p>
        </p:txBody>
      </p:sp>
      <p:sp>
        <p:nvSpPr>
          <p:cNvPr id="22" name="Rounded Rectangle 21"/>
          <p:cNvSpPr/>
          <p:nvPr/>
        </p:nvSpPr>
        <p:spPr>
          <a:xfrm>
            <a:off x="621792" y="4572000"/>
            <a:ext cx="2078736" cy="374904"/>
          </a:xfrm>
          <a:prstGeom prst="roundRect">
            <a:avLst>
              <a:gd name="adj" fmla="val 35000"/>
            </a:avLst>
          </a:prstGeom>
          <a:solidFill>
            <a:srgbClr val="E4EAEC"/>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4572000"/>
            <a:ext cx="1987296" cy="374904"/>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Vault CRM／Medical CRM／</a:t>
            </a:r>
          </a:p>
          <a:p>
            <a:pPr marL="0" indent="0" algn="ctr">
              <a:buNone/>
            </a:pPr>
            <a:r>
              <a:rPr sz="750" b="0" lang="en-US" dirty="0">
                <a:solidFill>
                  <a:srgbClr val="1F2E35"/>
                </a:solidFill>
                <a:latin typeface="Yu Gothic" pitchFamily="34" charset="0"/>
                <a:ea typeface="Yu Gothic" pitchFamily="34" charset="-122"/>
                <a:cs typeface="Yu Gothic" pitchFamily="34" charset="-120"/>
              </a:rPr>
              <a:t>Veeva CRM（Salesforce基盤）／</a:t>
            </a:r>
          </a:p>
          <a:p>
            <a:pPr marL="0" indent="0" algn="ctr">
              <a:buNone/>
            </a:pPr>
            <a:r>
              <a:rPr sz="750" b="0" lang="en-US" dirty="0">
                <a:solidFill>
                  <a:srgbClr val="1F2E35"/>
                </a:solidFill>
                <a:latin typeface="Yu Gothic" pitchFamily="34" charset="0"/>
                <a:ea typeface="Yu Gothic" pitchFamily="34" charset="-122"/>
                <a:cs typeface="Yu Gothic" pitchFamily="34" charset="-120"/>
              </a:rPr>
              <a:t>Salesforce Life Sciences Cloud</a:t>
            </a:r>
          </a:p>
        </p:txBody>
      </p:sp>
      <p:sp>
        <p:nvSpPr>
          <p:cNvPr id="24" name="Rounded Rectangle 23"/>
          <p:cNvSpPr/>
          <p:nvPr/>
        </p:nvSpPr>
        <p:spPr>
          <a:xfrm>
            <a:off x="621792" y="4974336"/>
            <a:ext cx="2078736" cy="274320"/>
          </a:xfrm>
          <a:prstGeom prst="roundRect">
            <a:avLst>
              <a:gd name="adj" fmla="val 35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 y="4974336"/>
            <a:ext cx="1987296"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価格・契約・政府価格報告</a:t>
            </a:r>
          </a:p>
          <a:p>
            <a:pPr marL="0" indent="0" algn="ctr">
              <a:buNone/>
            </a:pPr>
            <a:r>
              <a:rPr sz="650" b="0" lang="en-US" dirty="0">
                <a:solidFill>
                  <a:srgbClr val="5B6B70"/>
                </a:solidFill>
                <a:latin typeface="Yu Gothic" pitchFamily="34" charset="0"/>
                <a:ea typeface="Yu Gothic" pitchFamily="34" charset="-122"/>
                <a:cs typeface="Yu Gothic" pitchFamily="34" charset="-120"/>
              </a:rPr>
              <a:t>（GTN／リベート管理）</a:t>
            </a:r>
          </a:p>
        </p:txBody>
      </p:sp>
      <p:sp>
        <p:nvSpPr>
          <p:cNvPr id="26" name="Rounded Rectangle 25"/>
          <p:cNvSpPr/>
          <p:nvPr/>
        </p:nvSpPr>
        <p:spPr>
          <a:xfrm>
            <a:off x="621792" y="5276088"/>
            <a:ext cx="2078736" cy="182880"/>
          </a:xfrm>
          <a:prstGeom prst="roundRect">
            <a:avLst>
              <a:gd name="adj" fmla="val 50000"/>
            </a:avLst>
          </a:prstGeom>
          <a:solidFill>
            <a:srgbClr val="FFFFFF"/>
          </a:solidFill>
          <a:ln w="952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276088"/>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Veeva MedComms／Veeva PromoMats</a:t>
            </a:r>
          </a:p>
        </p:txBody>
      </p:sp>
      <p:sp>
        <p:nvSpPr>
          <p:cNvPr id="28" name="Chevron 27"/>
          <p:cNvSpPr/>
          <p:nvPr/>
        </p:nvSpPr>
        <p:spPr>
          <a:xfrm rot="5400000">
            <a:off x="1601724" y="1764791"/>
            <a:ext cx="118872" cy="310896"/>
          </a:xfrm>
          <a:prstGeom prst="chevron">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hevron 28"/>
          <p:cNvSpPr/>
          <p:nvPr/>
        </p:nvSpPr>
        <p:spPr>
          <a:xfrm rot="5400000">
            <a:off x="1601724" y="5765292"/>
            <a:ext cx="118872" cy="310896"/>
          </a:xfrm>
          <a:prstGeom prst="chevron">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956560" y="1984248"/>
            <a:ext cx="2407920" cy="3867912"/>
          </a:xfrm>
          <a:prstGeom prst="roundRect">
            <a:avLst>
              <a:gd name="adj" fmla="val 3000"/>
            </a:avLst>
          </a:prstGeom>
          <a:solidFill>
            <a:srgbClr val="EEECF7"/>
          </a:solidFill>
          <a:ln w="19050">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56560" y="2039112"/>
            <a:ext cx="2407920" cy="274320"/>
          </a:xfrm>
          <a:prstGeom prst="rect">
            <a:avLst/>
          </a:prstGeom>
          <a:noFill/>
        </p:spPr>
        <p:txBody>
          <a:bodyPr wrap="square" lIns="0" rIns="0" tIns="0" bIns="0" anchor="ctr" rtlCol="0"/>
          <a:lstStyle/>
          <a:p>
            <a:pPr marL="0" indent="0" algn="ctr">
              <a:buNone/>
            </a:pPr>
            <a:r>
              <a:rPr sz="1250" b="1" lang="en-US" dirty="0">
                <a:solidFill>
                  <a:srgbClr val="4A3AA7"/>
                </a:solidFill>
                <a:latin typeface="Yu Gothic" pitchFamily="34" charset="0"/>
                <a:ea typeface="Yu Gothic" pitchFamily="34" charset="-122"/>
                <a:cs typeface="Yu Gothic" pitchFamily="34" charset="-120"/>
              </a:rPr>
              <a:t>Regulatory &amp; Quality</a:t>
            </a:r>
          </a:p>
        </p:txBody>
      </p:sp>
      <p:sp>
        <p:nvSpPr>
          <p:cNvPr id="32" name="Rounded Rectangle 31"/>
          <p:cNvSpPr/>
          <p:nvPr/>
        </p:nvSpPr>
        <p:spPr>
          <a:xfrm>
            <a:off x="3029712" y="2368296"/>
            <a:ext cx="2261616" cy="1420368"/>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29712" y="2433828"/>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薬事</a:t>
            </a:r>
          </a:p>
        </p:txBody>
      </p:sp>
      <p:sp>
        <p:nvSpPr>
          <p:cNvPr id="34" name="Rounded Rectangle 33"/>
          <p:cNvSpPr/>
          <p:nvPr/>
        </p:nvSpPr>
        <p:spPr>
          <a:xfrm>
            <a:off x="3121152" y="2726436"/>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121152" y="2726436"/>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Veeva Registrations</a:t>
            </a:r>
          </a:p>
        </p:txBody>
      </p:sp>
      <p:sp>
        <p:nvSpPr>
          <p:cNvPr id="36" name="Rounded Rectangle 35"/>
          <p:cNvSpPr/>
          <p:nvPr/>
        </p:nvSpPr>
        <p:spPr>
          <a:xfrm>
            <a:off x="3121152" y="2936748"/>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121152" y="2936748"/>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Veeva Submissions Publishing／EXTEDO</a:t>
            </a:r>
          </a:p>
        </p:txBody>
      </p:sp>
      <p:sp>
        <p:nvSpPr>
          <p:cNvPr id="38" name="Rounded Rectangle 37"/>
          <p:cNvSpPr/>
          <p:nvPr/>
        </p:nvSpPr>
        <p:spPr>
          <a:xfrm>
            <a:off x="3121152" y="3147060"/>
            <a:ext cx="2078736" cy="274320"/>
          </a:xfrm>
          <a:prstGeom prst="roundRect">
            <a:avLst>
              <a:gd name="adj" fmla="val 35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166872" y="3147060"/>
            <a:ext cx="1987296"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ラベル・アートワーク管理</a:t>
            </a:r>
          </a:p>
          <a:p>
            <a:pPr marL="0" indent="0" algn="ctr">
              <a:buNone/>
            </a:pPr>
            <a:r>
              <a:rPr sz="650" b="0" lang="en-US" dirty="0">
                <a:solidFill>
                  <a:srgbClr val="5B6B70"/>
                </a:solidFill>
                <a:latin typeface="Yu Gothic" pitchFamily="34" charset="0"/>
                <a:ea typeface="Yu Gothic" pitchFamily="34" charset="-122"/>
                <a:cs typeface="Yu Gothic" pitchFamily="34" charset="-120"/>
              </a:rPr>
              <a:t>（アートワーク管理）</a:t>
            </a:r>
          </a:p>
        </p:txBody>
      </p:sp>
      <p:sp>
        <p:nvSpPr>
          <p:cNvPr id="40" name="Rounded Rectangle 39"/>
          <p:cNvSpPr/>
          <p:nvPr/>
        </p:nvSpPr>
        <p:spPr>
          <a:xfrm>
            <a:off x="3121152" y="3448812"/>
            <a:ext cx="2078736" cy="274320"/>
          </a:xfrm>
          <a:prstGeom prst="roundRect">
            <a:avLst>
              <a:gd name="adj" fmla="val 35000"/>
            </a:avLst>
          </a:prstGeom>
          <a:solidFill>
            <a:srgbClr val="E4EAEC"/>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166872" y="3448812"/>
            <a:ext cx="1987296" cy="27432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Veeva QualityDocs／</a:t>
            </a:r>
          </a:p>
          <a:p>
            <a:pPr marL="0" indent="0" algn="ctr">
              <a:buNone/>
            </a:pPr>
            <a:r>
              <a:rPr sz="750" b="0" lang="en-US" dirty="0">
                <a:solidFill>
                  <a:srgbClr val="1F2E35"/>
                </a:solidFill>
                <a:latin typeface="Yu Gothic" pitchFamily="34" charset="0"/>
                <a:ea typeface="Yu Gothic" pitchFamily="34" charset="-122"/>
                <a:cs typeface="Yu Gothic" pitchFamily="34" charset="-120"/>
              </a:rPr>
              <a:t>MasterControl／Documentum</a:t>
            </a:r>
          </a:p>
        </p:txBody>
      </p:sp>
      <p:sp>
        <p:nvSpPr>
          <p:cNvPr id="42" name="Rounded Rectangle 41"/>
          <p:cNvSpPr/>
          <p:nvPr/>
        </p:nvSpPr>
        <p:spPr>
          <a:xfrm>
            <a:off x="3029712" y="3861816"/>
            <a:ext cx="2261616" cy="1027176"/>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029712" y="3927348"/>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品質</a:t>
            </a:r>
          </a:p>
        </p:txBody>
      </p:sp>
      <p:sp>
        <p:nvSpPr>
          <p:cNvPr id="44" name="Rounded Rectangle 43"/>
          <p:cNvSpPr/>
          <p:nvPr/>
        </p:nvSpPr>
        <p:spPr>
          <a:xfrm>
            <a:off x="3121152" y="4219956"/>
            <a:ext cx="2078736" cy="182880"/>
          </a:xfrm>
          <a:prstGeom prst="roundRect">
            <a:avLst>
              <a:gd name="adj" fmla="val 50000"/>
            </a:avLst>
          </a:prstGeom>
          <a:solidFill>
            <a:srgbClr val="E4EAEC"/>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121152" y="4219956"/>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Veeva QMS／MasterControl</a:t>
            </a:r>
          </a:p>
        </p:txBody>
      </p:sp>
      <p:sp>
        <p:nvSpPr>
          <p:cNvPr id="46" name="Rounded Rectangle 45"/>
          <p:cNvSpPr/>
          <p:nvPr/>
        </p:nvSpPr>
        <p:spPr>
          <a:xfrm>
            <a:off x="3121152" y="4430268"/>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121152" y="4430268"/>
            <a:ext cx="2078736" cy="18288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Veeva Validation Management</a:t>
            </a:r>
          </a:p>
        </p:txBody>
      </p:sp>
      <p:sp>
        <p:nvSpPr>
          <p:cNvPr id="48" name="Rounded Rectangle 47"/>
          <p:cNvSpPr/>
          <p:nvPr/>
        </p:nvSpPr>
        <p:spPr>
          <a:xfrm>
            <a:off x="3121152" y="4640580"/>
            <a:ext cx="2078736" cy="182880"/>
          </a:xfrm>
          <a:prstGeom prst="roundRect">
            <a:avLst>
              <a:gd name="adj" fmla="val 50000"/>
            </a:avLst>
          </a:prstGeom>
          <a:solidFill>
            <a:srgbClr val="E4EAEC"/>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121152" y="4640580"/>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Veeva LIMS</a:t>
            </a:r>
          </a:p>
        </p:txBody>
      </p:sp>
      <p:sp>
        <p:nvSpPr>
          <p:cNvPr id="50" name="Rounded Rectangle 49"/>
          <p:cNvSpPr/>
          <p:nvPr/>
        </p:nvSpPr>
        <p:spPr>
          <a:xfrm>
            <a:off x="3029712" y="4962144"/>
            <a:ext cx="2261616" cy="816864"/>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029712" y="5027676"/>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ファーマコビジランス（安全性）</a:t>
            </a:r>
          </a:p>
        </p:txBody>
      </p:sp>
      <p:sp>
        <p:nvSpPr>
          <p:cNvPr id="52" name="Rounded Rectangle 51"/>
          <p:cNvSpPr/>
          <p:nvPr/>
        </p:nvSpPr>
        <p:spPr>
          <a:xfrm>
            <a:off x="3121152" y="5320284"/>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121152" y="5320284"/>
            <a:ext cx="2078736" cy="182880"/>
          </a:xfrm>
          <a:prstGeom prst="rect">
            <a:avLst/>
          </a:prstGeom>
          <a:noFill/>
        </p:spPr>
        <p:txBody>
          <a:bodyPr wrap="square" lIns="0" rIns="0" tIns="0" bIns="0" anchor="ctr" rtlCol="0"/>
          <a:lstStyle/>
          <a:p>
            <a:pPr marL="0" indent="0" algn="ctr">
              <a:buNone/>
            </a:pPr>
            <a:r>
              <a:rPr sz="650" b="0" lang="en-US" dirty="0">
                <a:solidFill>
                  <a:srgbClr val="1F2E35"/>
                </a:solidFill>
                <a:latin typeface="Yu Gothic" pitchFamily="34" charset="0"/>
                <a:ea typeface="Yu Gothic" pitchFamily="34" charset="-122"/>
                <a:cs typeface="Yu Gothic" pitchFamily="34" charset="-120"/>
              </a:rPr>
              <a:t>Veeva Safety／Oracle Argus／ARISg</a:t>
            </a:r>
          </a:p>
        </p:txBody>
      </p:sp>
      <p:sp>
        <p:nvSpPr>
          <p:cNvPr id="54" name="Rounded Rectangle 53"/>
          <p:cNvSpPr/>
          <p:nvPr/>
        </p:nvSpPr>
        <p:spPr>
          <a:xfrm>
            <a:off x="3121152" y="5530596"/>
            <a:ext cx="2078736" cy="182880"/>
          </a:xfrm>
          <a:prstGeom prst="roundRect">
            <a:avLst>
              <a:gd name="adj" fmla="val 50000"/>
            </a:avLst>
          </a:prstGeom>
          <a:solidFill>
            <a:srgbClr val="FFFFFF"/>
          </a:solidFill>
          <a:ln w="952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121152" y="5530596"/>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Veeva Safety Signal</a:t>
            </a:r>
          </a:p>
        </p:txBody>
      </p:sp>
      <p:sp>
        <p:nvSpPr>
          <p:cNvPr id="56" name="Chevron 55"/>
          <p:cNvSpPr/>
          <p:nvPr/>
        </p:nvSpPr>
        <p:spPr>
          <a:xfrm rot="5400000">
            <a:off x="4101083" y="1764791"/>
            <a:ext cx="118872" cy="310896"/>
          </a:xfrm>
          <a:prstGeom prst="chevron">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hevron 56"/>
          <p:cNvSpPr/>
          <p:nvPr/>
        </p:nvSpPr>
        <p:spPr>
          <a:xfrm rot="5400000">
            <a:off x="4101083" y="5765292"/>
            <a:ext cx="118872" cy="310896"/>
          </a:xfrm>
          <a:prstGeom prst="chevron">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455920" y="1984248"/>
            <a:ext cx="2407920" cy="3867912"/>
          </a:xfrm>
          <a:prstGeom prst="roundRect">
            <a:avLst>
              <a:gd name="adj" fmla="val 3000"/>
            </a:avLst>
          </a:prstGeom>
          <a:solidFill>
            <a:srgbClr val="E6F6F0"/>
          </a:solidFill>
          <a:ln w="19050">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55920" y="2039112"/>
            <a:ext cx="2407920" cy="274320"/>
          </a:xfrm>
          <a:prstGeom prst="rect">
            <a:avLst/>
          </a:prstGeom>
          <a:noFill/>
        </p:spPr>
        <p:txBody>
          <a:bodyPr wrap="square" lIns="0" rIns="0" tIns="0" bIns="0" anchor="ctr" rtlCol="0"/>
          <a:lstStyle/>
          <a:p>
            <a:pPr marL="0" indent="0" algn="ctr">
              <a:buNone/>
            </a:pPr>
            <a:r>
              <a:rPr sz="1250" b="1" lang="en-US" dirty="0">
                <a:solidFill>
                  <a:srgbClr val="0E7A52"/>
                </a:solidFill>
                <a:latin typeface="Yu Gothic" pitchFamily="34" charset="0"/>
                <a:ea typeface="Yu Gothic" pitchFamily="34" charset="-122"/>
                <a:cs typeface="Yu Gothic" pitchFamily="34" charset="-120"/>
              </a:rPr>
              <a:t>Supply Chain &amp; Mfg</a:t>
            </a:r>
          </a:p>
        </p:txBody>
      </p:sp>
      <p:sp>
        <p:nvSpPr>
          <p:cNvPr id="60" name="Rounded Rectangle 59"/>
          <p:cNvSpPr/>
          <p:nvPr/>
        </p:nvSpPr>
        <p:spPr>
          <a:xfrm>
            <a:off x="5529072" y="2368296"/>
            <a:ext cx="2261616" cy="1517904"/>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529072" y="2528316"/>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製造</a:t>
            </a:r>
          </a:p>
        </p:txBody>
      </p:sp>
      <p:sp>
        <p:nvSpPr>
          <p:cNvPr id="62" name="Rounded Rectangle 61"/>
          <p:cNvSpPr/>
          <p:nvPr/>
        </p:nvSpPr>
        <p:spPr>
          <a:xfrm>
            <a:off x="5620512" y="2820924"/>
            <a:ext cx="2078736" cy="274320"/>
          </a:xfrm>
          <a:prstGeom prst="roundRect">
            <a:avLst>
              <a:gd name="adj" fmla="val 35000"/>
            </a:avLst>
          </a:prstGeom>
          <a:solidFill>
            <a:srgbClr val="E4EAEC"/>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666232" y="2820924"/>
            <a:ext cx="1987296"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製造実行システム</a:t>
            </a:r>
          </a:p>
          <a:p>
            <a:pPr marL="0" indent="0" algn="ctr">
              <a:buNone/>
            </a:pPr>
            <a:r>
              <a:rPr sz="650" b="0" lang="en-US" dirty="0">
                <a:solidFill>
                  <a:srgbClr val="5B6B70"/>
                </a:solidFill>
                <a:latin typeface="Yu Gothic" pitchFamily="34" charset="0"/>
                <a:ea typeface="Yu Gothic" pitchFamily="34" charset="-122"/>
                <a:cs typeface="Yu Gothic" pitchFamily="34" charset="-120"/>
              </a:rPr>
              <a:t>（MES（電子バッチ記録））</a:t>
            </a:r>
          </a:p>
        </p:txBody>
      </p:sp>
      <p:sp>
        <p:nvSpPr>
          <p:cNvPr id="64" name="Rounded Rectangle 63"/>
          <p:cNvSpPr/>
          <p:nvPr/>
        </p:nvSpPr>
        <p:spPr>
          <a:xfrm>
            <a:off x="5620512" y="3122676"/>
            <a:ext cx="2078736"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620512" y="3122676"/>
            <a:ext cx="2078736" cy="18288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工程データ管理（プロセスヒストリアン）</a:t>
            </a:r>
          </a:p>
        </p:txBody>
      </p:sp>
      <p:sp>
        <p:nvSpPr>
          <p:cNvPr id="66" name="Rounded Rectangle 65"/>
          <p:cNvSpPr/>
          <p:nvPr/>
        </p:nvSpPr>
        <p:spPr>
          <a:xfrm>
            <a:off x="5620512" y="3332988"/>
            <a:ext cx="2078736"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620512" y="3332988"/>
            <a:ext cx="2078736" cy="182880"/>
          </a:xfrm>
          <a:prstGeom prst="rect">
            <a:avLst/>
          </a:prstGeom>
          <a:noFill/>
        </p:spPr>
        <p:txBody>
          <a:bodyPr wrap="square" lIns="0" rIns="0" tIns="0" bIns="0" anchor="ctr" rtlCol="0"/>
          <a:lstStyle/>
          <a:p>
            <a:pPr marL="0" indent="0" algn="ctr">
              <a:buNone/>
            </a:pPr>
            <a:r>
              <a:rPr sz="650" b="0" lang="en-US" dirty="0">
                <a:solidFill>
                  <a:srgbClr val="1F2E35"/>
                </a:solidFill>
                <a:latin typeface="Yu Gothic" pitchFamily="34" charset="0"/>
                <a:ea typeface="Yu Gothic" pitchFamily="34" charset="-122"/>
                <a:cs typeface="Yu Gothic" pitchFamily="34" charset="-120"/>
              </a:rPr>
              <a:t>設備・環境管理（CMMS／環境モニタリング）</a:t>
            </a:r>
          </a:p>
        </p:txBody>
      </p:sp>
      <p:sp>
        <p:nvSpPr>
          <p:cNvPr id="68" name="Rounded Rectangle 67"/>
          <p:cNvSpPr/>
          <p:nvPr/>
        </p:nvSpPr>
        <p:spPr>
          <a:xfrm>
            <a:off x="5620512" y="3543300"/>
            <a:ext cx="2078736" cy="182880"/>
          </a:xfrm>
          <a:prstGeom prst="roundRect">
            <a:avLst>
              <a:gd name="adj" fmla="val 50000"/>
            </a:avLst>
          </a:prstGeom>
          <a:solidFill>
            <a:srgbClr val="E4EAEC"/>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620512" y="3543300"/>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ERP</a:t>
            </a:r>
          </a:p>
        </p:txBody>
      </p:sp>
      <p:sp>
        <p:nvSpPr>
          <p:cNvPr id="70" name="Rounded Rectangle 69"/>
          <p:cNvSpPr/>
          <p:nvPr/>
        </p:nvSpPr>
        <p:spPr>
          <a:xfrm>
            <a:off x="5529072" y="3959352"/>
            <a:ext cx="2261616" cy="1819656"/>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529072" y="4119372"/>
            <a:ext cx="2261616"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サプライチェーン</a:t>
            </a:r>
          </a:p>
        </p:txBody>
      </p:sp>
      <p:sp>
        <p:nvSpPr>
          <p:cNvPr id="72" name="Rounded Rectangle 71"/>
          <p:cNvSpPr/>
          <p:nvPr/>
        </p:nvSpPr>
        <p:spPr>
          <a:xfrm>
            <a:off x="5620512" y="4411980"/>
            <a:ext cx="2078736" cy="182880"/>
          </a:xfrm>
          <a:prstGeom prst="roundRect">
            <a:avLst>
              <a:gd name="adj" fmla="val 50000"/>
            </a:avLst>
          </a:prstGeom>
          <a:solidFill>
            <a:srgbClr val="E4EAEC"/>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620512" y="4411980"/>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Veeva QMS／MasterControl</a:t>
            </a:r>
          </a:p>
        </p:txBody>
      </p:sp>
      <p:sp>
        <p:nvSpPr>
          <p:cNvPr id="74" name="Rounded Rectangle 73"/>
          <p:cNvSpPr/>
          <p:nvPr/>
        </p:nvSpPr>
        <p:spPr>
          <a:xfrm>
            <a:off x="5620512" y="4622292"/>
            <a:ext cx="2078736" cy="182880"/>
          </a:xfrm>
          <a:prstGeom prst="roundRect">
            <a:avLst>
              <a:gd name="adj" fmla="val 50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620512" y="4622292"/>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需給計画（APS／S&amp;OP）</a:t>
            </a:r>
          </a:p>
        </p:txBody>
      </p:sp>
      <p:sp>
        <p:nvSpPr>
          <p:cNvPr id="76" name="Rounded Rectangle 75"/>
          <p:cNvSpPr/>
          <p:nvPr/>
        </p:nvSpPr>
        <p:spPr>
          <a:xfrm>
            <a:off x="5620512" y="4832604"/>
            <a:ext cx="2078736" cy="274320"/>
          </a:xfrm>
          <a:prstGeom prst="roundRect">
            <a:avLst>
              <a:gd name="adj" fmla="val 35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666232" y="4832604"/>
            <a:ext cx="1987296"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倉庫・物流管理</a:t>
            </a:r>
          </a:p>
          <a:p>
            <a:pPr marL="0" indent="0" algn="ctr">
              <a:buNone/>
            </a:pPr>
            <a:r>
              <a:rPr sz="650" b="0" lang="en-US" dirty="0">
                <a:solidFill>
                  <a:srgbClr val="5B6B70"/>
                </a:solidFill>
                <a:latin typeface="Yu Gothic" pitchFamily="34" charset="0"/>
                <a:ea typeface="Yu Gothic" pitchFamily="34" charset="-122"/>
                <a:cs typeface="Yu Gothic" pitchFamily="34" charset="-120"/>
              </a:rPr>
              <a:t>（WMS／TMS（温度監視含む））</a:t>
            </a:r>
          </a:p>
        </p:txBody>
      </p:sp>
      <p:sp>
        <p:nvSpPr>
          <p:cNvPr id="78" name="Rounded Rectangle 77"/>
          <p:cNvSpPr/>
          <p:nvPr/>
        </p:nvSpPr>
        <p:spPr>
          <a:xfrm>
            <a:off x="5620512" y="5134356"/>
            <a:ext cx="2078736" cy="274320"/>
          </a:xfrm>
          <a:prstGeom prst="roundRect">
            <a:avLst>
              <a:gd name="adj" fmla="val 35000"/>
            </a:avLst>
          </a:prstGeom>
          <a:solidFill>
            <a:srgbClr val="FFFFFF"/>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666232" y="5134356"/>
            <a:ext cx="1987296"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シリアライゼーション</a:t>
            </a:r>
          </a:p>
          <a:p>
            <a:pPr marL="0" indent="0" algn="ctr">
              <a:buNone/>
            </a:pPr>
            <a:r>
              <a:rPr sz="650" b="0" lang="en-US" dirty="0">
                <a:solidFill>
                  <a:srgbClr val="5B6B70"/>
                </a:solidFill>
                <a:latin typeface="Yu Gothic" pitchFamily="34" charset="0"/>
                <a:ea typeface="Yu Gothic" pitchFamily="34" charset="-122"/>
                <a:cs typeface="Yu Gothic" pitchFamily="34" charset="-120"/>
              </a:rPr>
              <a:t>（DSCSA対応システム）</a:t>
            </a:r>
          </a:p>
        </p:txBody>
      </p:sp>
      <p:sp>
        <p:nvSpPr>
          <p:cNvPr id="80" name="Rounded Rectangle 79"/>
          <p:cNvSpPr/>
          <p:nvPr/>
        </p:nvSpPr>
        <p:spPr>
          <a:xfrm>
            <a:off x="5620512" y="5436108"/>
            <a:ext cx="2078736" cy="182880"/>
          </a:xfrm>
          <a:prstGeom prst="roundRect">
            <a:avLst>
              <a:gd name="adj" fmla="val 50000"/>
            </a:avLst>
          </a:prstGeom>
          <a:solidFill>
            <a:srgbClr val="E4EAEC"/>
          </a:solidFill>
          <a:ln w="952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620512" y="5436108"/>
            <a:ext cx="2078736"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ERP</a:t>
            </a:r>
          </a:p>
        </p:txBody>
      </p:sp>
      <p:sp>
        <p:nvSpPr>
          <p:cNvPr id="82" name="Chevron 81"/>
          <p:cNvSpPr/>
          <p:nvPr/>
        </p:nvSpPr>
        <p:spPr>
          <a:xfrm rot="5400000">
            <a:off x="6600444" y="1764791"/>
            <a:ext cx="118872" cy="310896"/>
          </a:xfrm>
          <a:prstGeom prst="chevron">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Chevron 82"/>
          <p:cNvSpPr/>
          <p:nvPr/>
        </p:nvSpPr>
        <p:spPr>
          <a:xfrm rot="5400000">
            <a:off x="6600444" y="5765292"/>
            <a:ext cx="118872" cy="310896"/>
          </a:xfrm>
          <a:prstGeom prst="chevron">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8001000" y="1325880"/>
            <a:ext cx="3730752" cy="4526280"/>
          </a:xfrm>
          <a:prstGeom prst="roundRect">
            <a:avLst>
              <a:gd name="adj" fmla="val 3000"/>
            </a:avLst>
          </a:prstGeom>
          <a:solidFill>
            <a:srgbClr val="E8F1FB"/>
          </a:solidFill>
          <a:ln w="1905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001000" y="1380744"/>
            <a:ext cx="3730752" cy="274320"/>
          </a:xfrm>
          <a:prstGeom prst="rect">
            <a:avLst/>
          </a:prstGeom>
          <a:noFill/>
        </p:spPr>
        <p:txBody>
          <a:bodyPr wrap="square" lIns="0" rIns="0" tIns="0" bIns="0" anchor="ctr" rtlCol="0"/>
          <a:lstStyle/>
          <a:p>
            <a:pPr marL="0" indent="0" algn="ctr">
              <a:buNone/>
            </a:pPr>
            <a:r>
              <a:rPr sz="1250" b="1" lang="en-US" dirty="0">
                <a:solidFill>
                  <a:srgbClr val="2A78D6"/>
                </a:solidFill>
                <a:latin typeface="Yu Gothic" pitchFamily="34" charset="0"/>
                <a:ea typeface="Yu Gothic" pitchFamily="34" charset="-122"/>
                <a:cs typeface="Yu Gothic" pitchFamily="34" charset="-120"/>
              </a:rPr>
              <a:t>R&amp;D Engine</a:t>
            </a:r>
          </a:p>
        </p:txBody>
      </p:sp>
      <p:sp>
        <p:nvSpPr>
          <p:cNvPr id="86" name="Rounded Rectangle 85"/>
          <p:cNvSpPr/>
          <p:nvPr/>
        </p:nvSpPr>
        <p:spPr>
          <a:xfrm>
            <a:off x="8074152" y="1709928"/>
            <a:ext cx="3584448" cy="880109"/>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074152" y="1715642"/>
            <a:ext cx="3584448"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研究（創薬）</a:t>
            </a:r>
          </a:p>
        </p:txBody>
      </p:sp>
      <p:sp>
        <p:nvSpPr>
          <p:cNvPr id="88" name="Rounded Rectangle 87"/>
          <p:cNvSpPr/>
          <p:nvPr/>
        </p:nvSpPr>
        <p:spPr>
          <a:xfrm>
            <a:off x="8165592" y="2008250"/>
            <a:ext cx="1673352" cy="274320"/>
          </a:xfrm>
          <a:prstGeom prst="roundRect">
            <a:avLst>
              <a:gd name="adj" fmla="val 35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165592" y="2008250"/>
            <a:ext cx="1673352" cy="27432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電子実験ノート（ELN）</a:t>
            </a:r>
          </a:p>
        </p:txBody>
      </p:sp>
      <p:sp>
        <p:nvSpPr>
          <p:cNvPr id="90" name="Rounded Rectangle 89"/>
          <p:cNvSpPr/>
          <p:nvPr/>
        </p:nvSpPr>
        <p:spPr>
          <a:xfrm>
            <a:off x="9893808" y="2008250"/>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9939528" y="2008250"/>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生物学的物質登録</a:t>
            </a:r>
          </a:p>
          <a:p>
            <a:pPr marL="0" indent="0" algn="ctr">
              <a:buNone/>
            </a:pPr>
            <a:r>
              <a:rPr sz="650" b="0" lang="en-US" dirty="0">
                <a:solidFill>
                  <a:srgbClr val="5B6B70"/>
                </a:solidFill>
                <a:latin typeface="Yu Gothic" pitchFamily="34" charset="0"/>
                <a:ea typeface="Yu Gothic" pitchFamily="34" charset="-122"/>
                <a:cs typeface="Yu Gothic" pitchFamily="34" charset="-120"/>
              </a:rPr>
              <a:t>（バイオレジストリ）</a:t>
            </a:r>
          </a:p>
        </p:txBody>
      </p:sp>
      <p:sp>
        <p:nvSpPr>
          <p:cNvPr id="92" name="Rounded Rectangle 91"/>
          <p:cNvSpPr/>
          <p:nvPr/>
        </p:nvSpPr>
        <p:spPr>
          <a:xfrm>
            <a:off x="8165592" y="2310002"/>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211312" y="2310002"/>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科学データ解析基盤</a:t>
            </a:r>
          </a:p>
          <a:p>
            <a:pPr marL="0" indent="0" algn="ctr">
              <a:buNone/>
            </a:pPr>
            <a:r>
              <a:rPr sz="650" b="0" lang="en-US" dirty="0">
                <a:solidFill>
                  <a:srgbClr val="5B6B70"/>
                </a:solidFill>
                <a:latin typeface="Yu Gothic" pitchFamily="34" charset="0"/>
                <a:ea typeface="Yu Gothic" pitchFamily="34" charset="-122"/>
                <a:cs typeface="Yu Gothic" pitchFamily="34" charset="-120"/>
              </a:rPr>
              <a:t>（バイオインフォマティクス基盤）</a:t>
            </a:r>
          </a:p>
        </p:txBody>
      </p:sp>
      <p:sp>
        <p:nvSpPr>
          <p:cNvPr id="94" name="Rounded Rectangle 93"/>
          <p:cNvSpPr/>
          <p:nvPr/>
        </p:nvSpPr>
        <p:spPr>
          <a:xfrm>
            <a:off x="8074152" y="2663189"/>
            <a:ext cx="3584448" cy="78867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074152" y="2668904"/>
            <a:ext cx="3584448"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非臨床・臨床薬理</a:t>
            </a:r>
          </a:p>
        </p:txBody>
      </p:sp>
      <p:sp>
        <p:nvSpPr>
          <p:cNvPr id="96" name="Rounded Rectangle 95"/>
          <p:cNvSpPr/>
          <p:nvPr/>
        </p:nvSpPr>
        <p:spPr>
          <a:xfrm>
            <a:off x="8165592" y="2961512"/>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211312" y="2961512"/>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非臨床試験管理</a:t>
            </a:r>
          </a:p>
          <a:p>
            <a:pPr marL="0" indent="0" algn="ctr">
              <a:buNone/>
            </a:pPr>
            <a:r>
              <a:rPr sz="650" b="0" lang="en-US" dirty="0">
                <a:solidFill>
                  <a:srgbClr val="5B6B70"/>
                </a:solidFill>
                <a:latin typeface="Yu Gothic" pitchFamily="34" charset="0"/>
                <a:ea typeface="Yu Gothic" pitchFamily="34" charset="-122"/>
                <a:cs typeface="Yu Gothic" pitchFamily="34" charset="-120"/>
              </a:rPr>
              <a:t>（毒性試験管理（SEND対応））</a:t>
            </a:r>
          </a:p>
        </p:txBody>
      </p:sp>
      <p:sp>
        <p:nvSpPr>
          <p:cNvPr id="98" name="Rounded Rectangle 97"/>
          <p:cNvSpPr/>
          <p:nvPr/>
        </p:nvSpPr>
        <p:spPr>
          <a:xfrm>
            <a:off x="9893808" y="2961512"/>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9939528" y="2961512"/>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PK/PD解析・モデリング</a:t>
            </a:r>
          </a:p>
          <a:p>
            <a:pPr marL="0" indent="0" algn="ctr">
              <a:buNone/>
            </a:pPr>
            <a:r>
              <a:rPr sz="650" b="0" lang="en-US" dirty="0">
                <a:solidFill>
                  <a:srgbClr val="5B6B70"/>
                </a:solidFill>
                <a:latin typeface="Yu Gothic" pitchFamily="34" charset="0"/>
                <a:ea typeface="Yu Gothic" pitchFamily="34" charset="-122"/>
                <a:cs typeface="Yu Gothic" pitchFamily="34" charset="-120"/>
              </a:rPr>
              <a:t>（ファーマコメトリクス環境）</a:t>
            </a:r>
          </a:p>
        </p:txBody>
      </p:sp>
      <p:sp>
        <p:nvSpPr>
          <p:cNvPr id="100" name="Rounded Rectangle 99"/>
          <p:cNvSpPr/>
          <p:nvPr/>
        </p:nvSpPr>
        <p:spPr>
          <a:xfrm>
            <a:off x="8165592" y="3263264"/>
            <a:ext cx="1673352" cy="182880"/>
          </a:xfrm>
          <a:prstGeom prst="roundRect">
            <a:avLst>
              <a:gd name="adj" fmla="val 50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165592" y="3263264"/>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Veeva LIMS</a:t>
            </a:r>
          </a:p>
        </p:txBody>
      </p:sp>
      <p:sp>
        <p:nvSpPr>
          <p:cNvPr id="102" name="Rounded Rectangle 101"/>
          <p:cNvSpPr/>
          <p:nvPr/>
        </p:nvSpPr>
        <p:spPr>
          <a:xfrm>
            <a:off x="8074152" y="3525011"/>
            <a:ext cx="3584448" cy="788670"/>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074152" y="3530726"/>
            <a:ext cx="3584448"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CMC開発</a:t>
            </a:r>
          </a:p>
        </p:txBody>
      </p:sp>
      <p:sp>
        <p:nvSpPr>
          <p:cNvPr id="104" name="Rounded Rectangle 103"/>
          <p:cNvSpPr/>
          <p:nvPr/>
        </p:nvSpPr>
        <p:spPr>
          <a:xfrm>
            <a:off x="8165592" y="3823334"/>
            <a:ext cx="1673352" cy="274320"/>
          </a:xfrm>
          <a:prstGeom prst="roundRect">
            <a:avLst>
              <a:gd name="adj" fmla="val 35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165592" y="3823334"/>
            <a:ext cx="1673352" cy="27432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電子実験ノート（ELN）</a:t>
            </a:r>
          </a:p>
        </p:txBody>
      </p:sp>
      <p:sp>
        <p:nvSpPr>
          <p:cNvPr id="106" name="Rounded Rectangle 105"/>
          <p:cNvSpPr/>
          <p:nvPr/>
        </p:nvSpPr>
        <p:spPr>
          <a:xfrm>
            <a:off x="9893808" y="3823334"/>
            <a:ext cx="1673352" cy="274320"/>
          </a:xfrm>
          <a:prstGeom prst="roundRect">
            <a:avLst>
              <a:gd name="adj" fmla="val 35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9939528" y="3823334"/>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製造実行システム</a:t>
            </a:r>
          </a:p>
          <a:p>
            <a:pPr marL="0" indent="0" algn="ctr">
              <a:buNone/>
            </a:pPr>
            <a:r>
              <a:rPr sz="650" b="0" lang="en-US" dirty="0">
                <a:solidFill>
                  <a:srgbClr val="5B6B70"/>
                </a:solidFill>
                <a:latin typeface="Yu Gothic" pitchFamily="34" charset="0"/>
                <a:ea typeface="Yu Gothic" pitchFamily="34" charset="-122"/>
                <a:cs typeface="Yu Gothic" pitchFamily="34" charset="-120"/>
              </a:rPr>
              <a:t>（MES（電子バッチ記録））</a:t>
            </a:r>
          </a:p>
        </p:txBody>
      </p:sp>
      <p:sp>
        <p:nvSpPr>
          <p:cNvPr id="108" name="Rounded Rectangle 107"/>
          <p:cNvSpPr/>
          <p:nvPr/>
        </p:nvSpPr>
        <p:spPr>
          <a:xfrm>
            <a:off x="8165592" y="4125086"/>
            <a:ext cx="1673352" cy="182880"/>
          </a:xfrm>
          <a:prstGeom prst="roundRect">
            <a:avLst>
              <a:gd name="adj" fmla="val 50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165592" y="4125086"/>
            <a:ext cx="1673352"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Veeva LIMS</a:t>
            </a:r>
          </a:p>
        </p:txBody>
      </p:sp>
      <p:sp>
        <p:nvSpPr>
          <p:cNvPr id="110" name="Rounded Rectangle 109"/>
          <p:cNvSpPr/>
          <p:nvPr/>
        </p:nvSpPr>
        <p:spPr>
          <a:xfrm>
            <a:off x="8074152" y="4386833"/>
            <a:ext cx="3584448" cy="1392174"/>
          </a:xfrm>
          <a:prstGeom prst="roundRect">
            <a:avLst>
              <a:gd name="adj" fmla="val 5000"/>
            </a:avLst>
          </a:prstGeom>
          <a:solidFill>
            <a:srgbClr val="FFFFFF"/>
          </a:solidFill>
          <a:ln w="9525">
            <a:solidFill>
              <a:srgbClr val="D5DD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8074152" y="4392548"/>
            <a:ext cx="3584448" cy="237744"/>
          </a:xfrm>
          <a:prstGeom prst="rect">
            <a:avLst/>
          </a:prstGeom>
          <a:noFill/>
        </p:spPr>
        <p:txBody>
          <a:bodyPr wrap="square" lIns="0" rIns="0" tIns="0" bIns="0" anchor="ctr" rtlCol="0"/>
          <a:lstStyle/>
          <a:p>
            <a:pPr marL="0" indent="0" algn="ctr">
              <a:buNone/>
            </a:pPr>
            <a:r>
              <a:rPr sz="1050" b="1" lang="en-US" dirty="0">
                <a:solidFill>
                  <a:srgbClr val="1F2E35"/>
                </a:solidFill>
                <a:latin typeface="Yu Gothic" pitchFamily="34" charset="0"/>
                <a:ea typeface="Yu Gothic" pitchFamily="34" charset="-122"/>
                <a:cs typeface="Yu Gothic" pitchFamily="34" charset="-120"/>
              </a:rPr>
              <a:t>臨床開発</a:t>
            </a:r>
          </a:p>
        </p:txBody>
      </p:sp>
      <p:sp>
        <p:nvSpPr>
          <p:cNvPr id="112" name="Rounded Rectangle 111"/>
          <p:cNvSpPr/>
          <p:nvPr/>
        </p:nvSpPr>
        <p:spPr>
          <a:xfrm>
            <a:off x="8165592" y="4685156"/>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165592" y="4685156"/>
            <a:ext cx="1673352" cy="27432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Veeva CTMS</a:t>
            </a:r>
          </a:p>
        </p:txBody>
      </p:sp>
      <p:sp>
        <p:nvSpPr>
          <p:cNvPr id="114" name="Rounded Rectangle 113"/>
          <p:cNvSpPr/>
          <p:nvPr/>
        </p:nvSpPr>
        <p:spPr>
          <a:xfrm>
            <a:off x="9893808" y="4685156"/>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939528" y="4685156"/>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Veeva EDC／Veeva eCOA／Medidata</a:t>
            </a:r>
          </a:p>
        </p:txBody>
      </p:sp>
      <p:sp>
        <p:nvSpPr>
          <p:cNvPr id="116" name="Rounded Rectangle 115"/>
          <p:cNvSpPr/>
          <p:nvPr/>
        </p:nvSpPr>
        <p:spPr>
          <a:xfrm>
            <a:off x="8165592" y="4986908"/>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165592" y="4986908"/>
            <a:ext cx="1673352" cy="27432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Veeva RTSM</a:t>
            </a:r>
          </a:p>
        </p:txBody>
      </p:sp>
      <p:sp>
        <p:nvSpPr>
          <p:cNvPr id="118" name="Rounded Rectangle 117"/>
          <p:cNvSpPr/>
          <p:nvPr/>
        </p:nvSpPr>
        <p:spPr>
          <a:xfrm>
            <a:off x="9893808" y="4986908"/>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9939528" y="4986908"/>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Veeva eTMF</a:t>
            </a:r>
          </a:p>
        </p:txBody>
      </p:sp>
      <p:sp>
        <p:nvSpPr>
          <p:cNvPr id="120" name="Rounded Rectangle 119"/>
          <p:cNvSpPr/>
          <p:nvPr/>
        </p:nvSpPr>
        <p:spPr>
          <a:xfrm>
            <a:off x="8165592" y="5288661"/>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8165592" y="5288661"/>
            <a:ext cx="1673352" cy="27432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統計解析環境（SCE）</a:t>
            </a:r>
          </a:p>
        </p:txBody>
      </p:sp>
      <p:sp>
        <p:nvSpPr>
          <p:cNvPr id="122" name="Rounded Rectangle 121"/>
          <p:cNvSpPr/>
          <p:nvPr/>
        </p:nvSpPr>
        <p:spPr>
          <a:xfrm>
            <a:off x="9893808" y="5288661"/>
            <a:ext cx="1673352" cy="274320"/>
          </a:xfrm>
          <a:prstGeom prst="roundRect">
            <a:avLst>
              <a:gd name="adj" fmla="val 35000"/>
            </a:avLst>
          </a:prstGeom>
          <a:solidFill>
            <a:srgbClr val="FFFFFF"/>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9939528" y="5288661"/>
            <a:ext cx="1581912" cy="27432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患者レジストリ・RWD基盤</a:t>
            </a:r>
          </a:p>
          <a:p>
            <a:pPr marL="0" indent="0" algn="ctr">
              <a:buNone/>
            </a:pPr>
            <a:r>
              <a:rPr sz="650" b="0" lang="en-US" dirty="0">
                <a:solidFill>
                  <a:srgbClr val="5B6B70"/>
                </a:solidFill>
                <a:latin typeface="Yu Gothic" pitchFamily="34" charset="0"/>
                <a:ea typeface="Yu Gothic" pitchFamily="34" charset="-122"/>
                <a:cs typeface="Yu Gothic" pitchFamily="34" charset="-120"/>
              </a:rPr>
              <a:t>（レジストリ／RWDプラットフォーム）</a:t>
            </a:r>
          </a:p>
        </p:txBody>
      </p:sp>
      <p:sp>
        <p:nvSpPr>
          <p:cNvPr id="124" name="Rounded Rectangle 123"/>
          <p:cNvSpPr/>
          <p:nvPr/>
        </p:nvSpPr>
        <p:spPr>
          <a:xfrm>
            <a:off x="8165592" y="5590413"/>
            <a:ext cx="3401568" cy="182880"/>
          </a:xfrm>
          <a:prstGeom prst="roundRect">
            <a:avLst>
              <a:gd name="adj" fmla="val 50000"/>
            </a:avLst>
          </a:prstGeom>
          <a:solidFill>
            <a:srgbClr val="E4EAEC"/>
          </a:solidFill>
          <a:ln w="952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8165592" y="5590413"/>
            <a:ext cx="3401568"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Veeva QualityDocs／MasterControl／Documentum</a:t>
            </a:r>
          </a:p>
        </p:txBody>
      </p:sp>
      <p:sp>
        <p:nvSpPr>
          <p:cNvPr id="126" name="Chevron 125"/>
          <p:cNvSpPr/>
          <p:nvPr/>
        </p:nvSpPr>
        <p:spPr>
          <a:xfrm rot="5400000">
            <a:off x="9806940" y="5765292"/>
            <a:ext cx="118872" cy="310896"/>
          </a:xfrm>
          <a:prstGeom prst="chevron">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Chevron 126"/>
          <p:cNvSpPr/>
          <p:nvPr/>
        </p:nvSpPr>
        <p:spPr>
          <a:xfrm>
            <a:off x="7886699" y="1472184"/>
            <a:ext cx="91440" cy="237744"/>
          </a:xfrm>
          <a:prstGeom prst="chevron">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ounded Rectangle 127"/>
          <p:cNvSpPr/>
          <p:nvPr/>
        </p:nvSpPr>
        <p:spPr>
          <a:xfrm>
            <a:off x="457200" y="5989320"/>
            <a:ext cx="11274552" cy="566928"/>
          </a:xfrm>
          <a:prstGeom prst="roundRect">
            <a:avLst>
              <a:gd name="adj" fmla="val 8000"/>
            </a:avLst>
          </a:prstGeom>
          <a:solidFill>
            <a:srgbClr val="FFFFFF"/>
          </a:solidFill>
          <a:ln w="19050">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457200" y="6025896"/>
            <a:ext cx="11274552" cy="219456"/>
          </a:xfrm>
          <a:prstGeom prst="rect">
            <a:avLst/>
          </a:prstGeom>
          <a:noFill/>
        </p:spPr>
        <p:txBody>
          <a:bodyPr wrap="square" lIns="0" rIns="0" tIns="0" bIns="0" anchor="ctr" rtlCol="0"/>
          <a:lstStyle/>
          <a:p>
            <a:pPr marL="0" indent="0" algn="ctr">
              <a:buNone/>
            </a:pPr>
            <a:r>
              <a:rPr sz="1150" b="1" lang="en-US" dirty="0">
                <a:solidFill>
                  <a:srgbClr val="1F2E35"/>
                </a:solidFill>
                <a:latin typeface="Yu Gothic" pitchFamily="34" charset="0"/>
                <a:ea typeface="Yu Gothic" pitchFamily="34" charset="-122"/>
                <a:cs typeface="Yu Gothic" pitchFamily="34" charset="-120"/>
              </a:rPr>
              <a:t>共通基盤（Support / Foundation）</a:t>
            </a:r>
          </a:p>
        </p:txBody>
      </p:sp>
      <p:sp>
        <p:nvSpPr>
          <p:cNvPr id="130" name="Rounded Rectangle 129"/>
          <p:cNvSpPr/>
          <p:nvPr/>
        </p:nvSpPr>
        <p:spPr>
          <a:xfrm>
            <a:off x="1133855" y="6300216"/>
            <a:ext cx="237744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133855" y="6300216"/>
            <a:ext cx="237744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Veeva Network</a:t>
            </a:r>
          </a:p>
        </p:txBody>
      </p:sp>
      <p:sp>
        <p:nvSpPr>
          <p:cNvPr id="132" name="Rounded Rectangle 131"/>
          <p:cNvSpPr/>
          <p:nvPr/>
        </p:nvSpPr>
        <p:spPr>
          <a:xfrm>
            <a:off x="3648456" y="6300216"/>
            <a:ext cx="2377440" cy="182880"/>
          </a:xfrm>
          <a:prstGeom prst="roundRect">
            <a:avLst>
              <a:gd name="adj" fmla="val 50000"/>
            </a:avLst>
          </a:prstGeom>
          <a:solidFill>
            <a:srgbClr val="E4EAEC"/>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3648456" y="6300216"/>
            <a:ext cx="2377440" cy="182880"/>
          </a:xfrm>
          <a:prstGeom prst="rect">
            <a:avLst/>
          </a:prstGeom>
          <a:noFill/>
        </p:spPr>
        <p:txBody>
          <a:bodyPr wrap="square" lIns="0" rIns="0" tIns="0" bIns="0" anchor="ctr" rtlCol="0"/>
          <a:lstStyle/>
          <a:p>
            <a:pPr marL="0" indent="0" algn="ctr">
              <a:buNone/>
            </a:pPr>
            <a:r>
              <a:rPr sz="650" b="0" lang="en-US" dirty="0">
                <a:solidFill>
                  <a:srgbClr val="1F2E35"/>
                </a:solidFill>
                <a:latin typeface="Yu Gothic" pitchFamily="34" charset="0"/>
                <a:ea typeface="Yu Gothic" pitchFamily="34" charset="-122"/>
                <a:cs typeface="Yu Gothic" pitchFamily="34" charset="-120"/>
              </a:rPr>
              <a:t>Veeva QualityDocs／MasterControl／Documentum</a:t>
            </a:r>
          </a:p>
        </p:txBody>
      </p:sp>
      <p:sp>
        <p:nvSpPr>
          <p:cNvPr id="134" name="Rounded Rectangle 133"/>
          <p:cNvSpPr/>
          <p:nvPr/>
        </p:nvSpPr>
        <p:spPr>
          <a:xfrm>
            <a:off x="6163056" y="6300216"/>
            <a:ext cx="237744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6163056" y="6300216"/>
            <a:ext cx="2377440" cy="182880"/>
          </a:xfrm>
          <a:prstGeom prst="rect">
            <a:avLst/>
          </a:prstGeom>
          <a:noFill/>
        </p:spPr>
        <p:txBody>
          <a:bodyPr wrap="square" lIns="0" rIns="0" tIns="0" bIns="0" anchor="ctr" rtlCol="0"/>
          <a:lstStyle/>
          <a:p>
            <a:pPr marL="0" indent="0" algn="ctr">
              <a:buNone/>
            </a:pPr>
            <a:r>
              <a:rPr sz="750" b="0" lang="en-US" dirty="0">
                <a:solidFill>
                  <a:srgbClr val="1F2E35"/>
                </a:solidFill>
                <a:latin typeface="Yu Gothic" pitchFamily="34" charset="0"/>
                <a:ea typeface="Yu Gothic" pitchFamily="34" charset="-122"/>
                <a:cs typeface="Yu Gothic" pitchFamily="34" charset="-120"/>
              </a:rPr>
              <a:t>Veeva Training</a:t>
            </a:r>
          </a:p>
        </p:txBody>
      </p:sp>
      <p:sp>
        <p:nvSpPr>
          <p:cNvPr id="136" name="Rounded Rectangle 135"/>
          <p:cNvSpPr/>
          <p:nvPr/>
        </p:nvSpPr>
        <p:spPr>
          <a:xfrm>
            <a:off x="8677656" y="6300216"/>
            <a:ext cx="2377440" cy="182880"/>
          </a:xfrm>
          <a:prstGeom prst="roundRect">
            <a:avLst>
              <a:gd name="adj" fmla="val 50000"/>
            </a:avLst>
          </a:prstGeom>
          <a:solidFill>
            <a:srgbClr val="FFFFFF"/>
          </a:solidFill>
          <a:ln w="9525">
            <a:solidFill>
              <a:srgbClr val="1F2E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8677656" y="6300216"/>
            <a:ext cx="2377440" cy="182880"/>
          </a:xfrm>
          <a:prstGeom prst="rect">
            <a:avLst/>
          </a:prstGeom>
          <a:noFill/>
        </p:spPr>
        <p:txBody>
          <a:bodyPr wrap="square" lIns="0" rIns="0" tIns="0" bIns="0" anchor="ctr" rtlCol="0"/>
          <a:lstStyle/>
          <a:p>
            <a:pPr marL="0" indent="0" algn="ctr">
              <a:buNone/>
            </a:pPr>
            <a:r>
              <a:rPr sz="700" b="0" lang="en-US" dirty="0">
                <a:solidFill>
                  <a:srgbClr val="1F2E35"/>
                </a:solidFill>
                <a:latin typeface="Yu Gothic" pitchFamily="34" charset="0"/>
                <a:ea typeface="Yu Gothic" pitchFamily="34" charset="-122"/>
                <a:cs typeface="Yu Gothic" pitchFamily="34" charset="-120"/>
              </a:rPr>
              <a:t>Veeva Nitro</a:t>
            </a:r>
          </a:p>
        </p:txBody>
      </p:sp>
      <p:sp>
        <p:nvSpPr>
          <p:cNvPr id="138" name="Rounded Rectangle 137"/>
          <p:cNvSpPr/>
          <p:nvPr/>
        </p:nvSpPr>
        <p:spPr>
          <a:xfrm>
            <a:off x="9098280" y="896112"/>
            <a:ext cx="411480" cy="164592"/>
          </a:xfrm>
          <a:prstGeom prst="roundRect">
            <a:avLst>
              <a:gd name="adj" fmla="val 50000"/>
            </a:avLst>
          </a:prstGeom>
          <a:solidFill>
            <a:srgbClr val="E4EAEC"/>
          </a:solidFill>
          <a:ln w="9525">
            <a:solidFill>
              <a:srgbClr val="5B6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9582912" y="868680"/>
            <a:ext cx="2148840" cy="219456"/>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複数の領域で使うアプリケーション</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anchor="t" lIns="0" rIns="0" tIns="0" bIns="0">
            <a:spAutoFit/>
          </a:bodyPr>
          <a:lstStyle/>
          <a:p>
            <a:pPr algn="l"/>
            <a:r>
              <a:rPr sz="2800" b="1">
                <a:solidFill>
                  <a:srgbClr val="1F2E35"/>
                </a:solidFill>
                <a:latin typeface="Yu Gothic"/>
                <a:ea typeface="Yu Gothic"/>
              </a:rPr>
              <a:t>複数の領域で使うアプリケーション（製品別）</a:t>
            </a:r>
          </a:p>
        </p:txBody>
      </p:sp>
      <p:sp>
        <p:nvSpPr>
          <p:cNvPr id="3" name="TextBox 2"/>
          <p:cNvSpPr txBox="1"/>
          <p:nvPr/>
        </p:nvSpPr>
        <p:spPr>
          <a:xfrm>
            <a:off x="457200" y="841248"/>
            <a:ext cx="10058400" cy="320040"/>
          </a:xfrm>
          <a:prstGeom prst="rect">
            <a:avLst/>
          </a:prstGeom>
          <a:noFill/>
        </p:spPr>
        <p:txBody>
          <a:bodyPr wrap="square" anchor="t" lIns="0" rIns="0" tIns="0" bIns="0">
            <a:spAutoFit/>
          </a:bodyPr>
          <a:lstStyle/>
          <a:p>
            <a:pPr algn="l"/>
            <a:r>
              <a:rPr sz="1300" b="0">
                <a:solidFill>
                  <a:srgbClr val="5B6B70"/>
                </a:solidFill>
                <a:latin typeface="Yu Gothic"/>
                <a:ea typeface="Yu Gothic"/>
              </a:rPr>
              <a:t>7種類のアプリケーションを、主に対応する製品（●）で表示。製品がないもの（ELN・MES・ERP）は種類名のまま</a:t>
            </a:r>
          </a:p>
        </p:txBody>
      </p:sp>
      <p:sp>
        <p:nvSpPr>
          <p:cNvPr id="4" name="Rectangle 3"/>
          <p:cNvSpPr/>
          <p:nvPr/>
        </p:nvSpPr>
        <p:spPr>
          <a:xfrm>
            <a:off x="5660136" y="1261872"/>
            <a:ext cx="3320288" cy="237744"/>
          </a:xfrm>
          <a:prstGeom prst="rect">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0136" y="1261872"/>
            <a:ext cx="3320288" cy="237744"/>
          </a:xfrm>
          <a:prstGeom prst="rect">
            <a:avLst/>
          </a:prstGeom>
          <a:noFill/>
        </p:spPr>
        <p:txBody>
          <a:bodyPr wrap="square" lIns="0" rIns="0" tIns="0" bIns="0" anchor="ctr" rtlCol="0"/>
          <a:lstStyle/>
          <a:p>
            <a:pPr marL="0" indent="0" algn="ctr">
              <a:buNone/>
            </a:pPr>
            <a:r>
              <a:rPr sz="950" b="1" lang="en-US" dirty="0">
                <a:solidFill>
                  <a:srgbClr val="FFFFFF"/>
                </a:solidFill>
                <a:latin typeface="Yu Gothic" pitchFamily="34" charset="0"/>
                <a:ea typeface="Yu Gothic" pitchFamily="34" charset="-122"/>
                <a:cs typeface="Yu Gothic" pitchFamily="34" charset="-120"/>
              </a:rPr>
              <a:t>Phase 1：開発</a:t>
            </a:r>
          </a:p>
        </p:txBody>
      </p:sp>
      <p:sp>
        <p:nvSpPr>
          <p:cNvPr id="6" name="Rectangle 5"/>
          <p:cNvSpPr/>
          <p:nvPr/>
        </p:nvSpPr>
        <p:spPr>
          <a:xfrm>
            <a:off x="9053575" y="1261872"/>
            <a:ext cx="2641600" cy="237744"/>
          </a:xfrm>
          <a:prstGeom prst="rect">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3575" y="1261872"/>
            <a:ext cx="2641600" cy="237744"/>
          </a:xfrm>
          <a:prstGeom prst="rect">
            <a:avLst/>
          </a:prstGeom>
          <a:noFill/>
        </p:spPr>
        <p:txBody>
          <a:bodyPr wrap="square" lIns="0" rIns="0" tIns="0" bIns="0" anchor="ctr" rtlCol="0"/>
          <a:lstStyle/>
          <a:p>
            <a:pPr marL="0" indent="0" algn="ctr">
              <a:buNone/>
            </a:pPr>
            <a:r>
              <a:rPr sz="950" b="1" lang="en-US" dirty="0">
                <a:solidFill>
                  <a:srgbClr val="FFFFFF"/>
                </a:solidFill>
                <a:latin typeface="Yu Gothic" pitchFamily="34" charset="0"/>
                <a:ea typeface="Yu Gothic" pitchFamily="34" charset="-122"/>
                <a:cs typeface="Yu Gothic" pitchFamily="34" charset="-120"/>
              </a:rPr>
              <a:t>Phase 2：商業化・供給</a:t>
            </a:r>
          </a:p>
        </p:txBody>
      </p:sp>
      <p:sp>
        <p:nvSpPr>
          <p:cNvPr id="8" name="Right Arrow 7"/>
          <p:cNvSpPr/>
          <p:nvPr/>
        </p:nvSpPr>
        <p:spPr>
          <a:xfrm>
            <a:off x="5688584" y="1609344"/>
            <a:ext cx="548640" cy="310896"/>
          </a:xfrm>
          <a:prstGeom prst="rightArrow">
            <a:avLst>
              <a:gd name="adj1" fmla="val 62000"/>
              <a:gd name="adj2" fmla="val 55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23560"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創薬研究</a:t>
            </a:r>
          </a:p>
        </p:txBody>
      </p:sp>
      <p:sp>
        <p:nvSpPr>
          <p:cNvPr id="10" name="Right Arrow 9"/>
          <p:cNvSpPr/>
          <p:nvPr/>
        </p:nvSpPr>
        <p:spPr>
          <a:xfrm>
            <a:off x="6367272" y="1609344"/>
            <a:ext cx="548640" cy="310896"/>
          </a:xfrm>
          <a:prstGeom prst="rightArrow">
            <a:avLst>
              <a:gd name="adj1" fmla="val 62000"/>
              <a:gd name="adj2" fmla="val 55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2248"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非臨床開発</a:t>
            </a:r>
          </a:p>
        </p:txBody>
      </p:sp>
      <p:sp>
        <p:nvSpPr>
          <p:cNvPr id="12" name="Rounded Rectangle 11"/>
          <p:cNvSpPr/>
          <p:nvPr/>
        </p:nvSpPr>
        <p:spPr>
          <a:xfrm>
            <a:off x="7027672" y="1664208"/>
            <a:ext cx="585216" cy="201168"/>
          </a:xfrm>
          <a:prstGeom prst="roundRect">
            <a:avLst>
              <a:gd name="adj" fmla="val 50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80936"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CMC開発</a:t>
            </a:r>
          </a:p>
        </p:txBody>
      </p:sp>
      <p:sp>
        <p:nvSpPr>
          <p:cNvPr id="14" name="Right Arrow 13"/>
          <p:cNvSpPr/>
          <p:nvPr/>
        </p:nvSpPr>
        <p:spPr>
          <a:xfrm>
            <a:off x="7724647" y="1609344"/>
            <a:ext cx="548640" cy="310896"/>
          </a:xfrm>
          <a:prstGeom prst="rightArrow">
            <a:avLst>
              <a:gd name="adj1" fmla="val 62000"/>
              <a:gd name="adj2" fmla="val 55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59624"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臨床開発</a:t>
            </a:r>
          </a:p>
        </p:txBody>
      </p:sp>
      <p:sp>
        <p:nvSpPr>
          <p:cNvPr id="16" name="Right Arrow 15"/>
          <p:cNvSpPr/>
          <p:nvPr/>
        </p:nvSpPr>
        <p:spPr>
          <a:xfrm>
            <a:off x="8403336" y="1609344"/>
            <a:ext cx="548640" cy="310896"/>
          </a:xfrm>
          <a:prstGeom prst="rightArrow">
            <a:avLst>
              <a:gd name="adj1" fmla="val 62000"/>
              <a:gd name="adj2" fmla="val 55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8312"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BLA申請・審査</a:t>
            </a:r>
          </a:p>
        </p:txBody>
      </p:sp>
      <p:sp>
        <p:nvSpPr>
          <p:cNvPr id="18" name="Block Arc 17"/>
          <p:cNvSpPr/>
          <p:nvPr/>
        </p:nvSpPr>
        <p:spPr>
          <a:xfrm>
            <a:off x="9200896" y="1609344"/>
            <a:ext cx="310896" cy="310896"/>
          </a:xfrm>
          <a:prstGeom prst="blockArc">
            <a:avLst>
              <a:gd name="adj1" fmla="val 17280000"/>
              <a:gd name="adj2" fmla="val 15000000"/>
              <a:gd name="adj3" fmla="val 17647"/>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Isosceles Triangle 18"/>
          <p:cNvSpPr/>
          <p:nvPr/>
        </p:nvSpPr>
        <p:spPr>
          <a:xfrm rot="5400000">
            <a:off x="9316011" y="1593853"/>
            <a:ext cx="118872" cy="91440"/>
          </a:xfrm>
          <a:prstGeom prst="triangle">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17000"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商用製造</a:t>
            </a:r>
          </a:p>
        </p:txBody>
      </p:sp>
      <p:sp>
        <p:nvSpPr>
          <p:cNvPr id="21" name="Right Arrow 20"/>
          <p:cNvSpPr/>
          <p:nvPr/>
        </p:nvSpPr>
        <p:spPr>
          <a:xfrm>
            <a:off x="9760711" y="1609344"/>
            <a:ext cx="548640" cy="310896"/>
          </a:xfrm>
          <a:prstGeom prst="rightArrow">
            <a:avLst>
              <a:gd name="adj1" fmla="val 62000"/>
              <a:gd name="adj2" fmla="val 55000"/>
            </a:avLst>
          </a:prstGeom>
          <a:gradFill rotWithShape="1">
            <a:gsLst>
              <a:gs pos="0">
                <a:srgbClr val="557580"/>
              </a:gs>
              <a:gs pos="100000">
                <a:srgbClr val="2F4F5A"/>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5688"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上市</a:t>
            </a:r>
          </a:p>
        </p:txBody>
      </p:sp>
      <p:sp>
        <p:nvSpPr>
          <p:cNvPr id="23" name="Block Arc 22"/>
          <p:cNvSpPr/>
          <p:nvPr/>
        </p:nvSpPr>
        <p:spPr>
          <a:xfrm>
            <a:off x="10558272" y="1609344"/>
            <a:ext cx="310896" cy="310896"/>
          </a:xfrm>
          <a:prstGeom prst="blockArc">
            <a:avLst>
              <a:gd name="adj1" fmla="val 17280000"/>
              <a:gd name="adj2" fmla="val 15000000"/>
              <a:gd name="adj3" fmla="val 17647"/>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Isosceles Triangle 23"/>
          <p:cNvSpPr/>
          <p:nvPr/>
        </p:nvSpPr>
        <p:spPr>
          <a:xfrm rot="5400000">
            <a:off x="10673387" y="1593853"/>
            <a:ext cx="118872" cy="91440"/>
          </a:xfrm>
          <a:prstGeom prst="triangle">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74376"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供給・流通</a:t>
            </a:r>
          </a:p>
        </p:txBody>
      </p:sp>
      <p:sp>
        <p:nvSpPr>
          <p:cNvPr id="26" name="Block Arc 25"/>
          <p:cNvSpPr/>
          <p:nvPr/>
        </p:nvSpPr>
        <p:spPr>
          <a:xfrm>
            <a:off x="11236959" y="1609344"/>
            <a:ext cx="310896" cy="310896"/>
          </a:xfrm>
          <a:prstGeom prst="blockArc">
            <a:avLst>
              <a:gd name="adj1" fmla="val 17280000"/>
              <a:gd name="adj2" fmla="val 15000000"/>
              <a:gd name="adj3" fmla="val 17647"/>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Isosceles Triangle 26"/>
          <p:cNvSpPr/>
          <p:nvPr/>
        </p:nvSpPr>
        <p:spPr>
          <a:xfrm rot="5400000">
            <a:off x="11352075" y="1593853"/>
            <a:ext cx="118872" cy="91440"/>
          </a:xfrm>
          <a:prstGeom prst="triangle">
            <a:avLst/>
          </a:prstGeom>
          <a:solidFill>
            <a:srgbClr val="2F4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53064" y="1975104"/>
            <a:ext cx="678688"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市販後</a:t>
            </a:r>
          </a:p>
        </p:txBody>
      </p:sp>
      <p:sp>
        <p:nvSpPr>
          <p:cNvPr id="29" name="Rectangle 28"/>
          <p:cNvSpPr/>
          <p:nvPr/>
        </p:nvSpPr>
        <p:spPr>
          <a:xfrm>
            <a:off x="2103120" y="2304288"/>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194560" y="2286000"/>
            <a:ext cx="3383280" cy="283464"/>
          </a:xfrm>
          <a:prstGeom prst="rect">
            <a:avLst/>
          </a:prstGeom>
          <a:noFill/>
        </p:spPr>
        <p:txBody>
          <a:bodyPr wrap="square" lIns="0" rIns="0" tIns="0" bIns="0" anchor="ctr" rtlCol="0"/>
          <a:lstStyle/>
          <a:p>
            <a:pPr marL="0" indent="0">
              <a:buNone/>
            </a:pPr>
            <a:r>
              <a:rPr sz="800" b="1" lang="en-US" dirty="0">
                <a:solidFill>
                  <a:srgbClr val="1F2E35"/>
                </a:solidFill>
                <a:latin typeface="Yu Gothic" pitchFamily="34" charset="0"/>
                <a:ea typeface="Yu Gothic" pitchFamily="34" charset="-122"/>
                <a:cs typeface="Yu Gothic" pitchFamily="34" charset="-120"/>
              </a:rPr>
              <a:t>戦略・ガバナンス</a:t>
            </a:r>
          </a:p>
        </p:txBody>
      </p:sp>
      <p:sp>
        <p:nvSpPr>
          <p:cNvPr id="31" name="Oval 30"/>
          <p:cNvSpPr/>
          <p:nvPr/>
        </p:nvSpPr>
        <p:spPr>
          <a:xfrm>
            <a:off x="5887080" y="2351908"/>
            <a:ext cx="151646" cy="151646"/>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595872" y="238201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274560" y="238201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953247" y="238201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631936" y="238201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322947" y="2358271"/>
            <a:ext cx="138920" cy="13892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011679" y="2322576"/>
            <a:ext cx="54864" cy="210311"/>
          </a:xfrm>
          <a:prstGeom prst="rect">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2286000"/>
            <a:ext cx="1463039" cy="283464"/>
          </a:xfrm>
          <a:prstGeom prst="rect">
            <a:avLst/>
          </a:prstGeom>
          <a:noFill/>
        </p:spPr>
        <p:txBody>
          <a:bodyPr wrap="square" lIns="0" rIns="0" tIns="0" bIns="0" anchor="ctr" rtlCol="0"/>
          <a:lstStyle/>
          <a:p>
            <a:pPr marL="0" indent="0" algn="r">
              <a:buNone/>
            </a:pPr>
            <a:r>
              <a:rPr sz="900" b="1" lang="en-US" dirty="0">
                <a:solidFill>
                  <a:srgbClr val="1F2E35"/>
                </a:solidFill>
                <a:latin typeface="Yu Gothic" pitchFamily="34" charset="0"/>
                <a:ea typeface="Yu Gothic" pitchFamily="34" charset="-122"/>
                <a:cs typeface="Yu Gothic" pitchFamily="34" charset="-120"/>
              </a:rPr>
              <a:t>Strategy</a:t>
            </a:r>
          </a:p>
        </p:txBody>
      </p:sp>
      <p:cxnSp>
        <p:nvCxnSpPr>
          <p:cNvPr id="39" name="Connector 38"/>
          <p:cNvCxnSpPr/>
          <p:nvPr/>
        </p:nvCxnSpPr>
        <p:spPr>
          <a:xfrm>
            <a:off x="2103120" y="2569464"/>
            <a:ext cx="962863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2103120" y="2587752"/>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194560" y="2569464"/>
            <a:ext cx="3383280" cy="283464"/>
          </a:xfrm>
          <a:prstGeom prst="rect">
            <a:avLst/>
          </a:prstGeom>
          <a:noFill/>
        </p:spPr>
        <p:txBody>
          <a:bodyPr wrap="square" lIns="0" rIns="0" tIns="0" bIns="0" anchor="ctr" rtlCol="0"/>
          <a:lstStyle/>
          <a:p>
            <a:pPr marL="0" indent="0">
              <a:buNone/>
            </a:pPr>
            <a:r>
              <a:rPr sz="800" b="1" lang="en-US" dirty="0">
                <a:solidFill>
                  <a:srgbClr val="1F2E35"/>
                </a:solidFill>
                <a:latin typeface="Yu Gothic" pitchFamily="34" charset="0"/>
                <a:ea typeface="Yu Gothic" pitchFamily="34" charset="-122"/>
                <a:cs typeface="Yu Gothic" pitchFamily="34" charset="-120"/>
              </a:rPr>
              <a:t>研究（創薬）</a:t>
            </a:r>
          </a:p>
        </p:txBody>
      </p:sp>
      <p:sp>
        <p:nvSpPr>
          <p:cNvPr id="42" name="Oval 41"/>
          <p:cNvSpPr/>
          <p:nvPr/>
        </p:nvSpPr>
        <p:spPr>
          <a:xfrm>
            <a:off x="5839211" y="2587503"/>
            <a:ext cx="247384" cy="247384"/>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595872" y="2665476"/>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103120" y="2871216"/>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194560" y="2852928"/>
            <a:ext cx="3383280" cy="283464"/>
          </a:xfrm>
          <a:prstGeom prst="rect">
            <a:avLst/>
          </a:prstGeom>
          <a:noFill/>
        </p:spPr>
        <p:txBody>
          <a:bodyPr wrap="square" lIns="0" rIns="0" tIns="0" bIns="0" anchor="ctr" rtlCol="0"/>
          <a:lstStyle/>
          <a:p>
            <a:pPr marL="0" indent="0">
              <a:buNone/>
            </a:pPr>
            <a:r>
              <a:rPr sz="800" b="1" lang="en-US" dirty="0">
                <a:solidFill>
                  <a:srgbClr val="1F2E35"/>
                </a:solidFill>
                <a:latin typeface="Yu Gothic" pitchFamily="34" charset="0"/>
                <a:ea typeface="Yu Gothic" pitchFamily="34" charset="-122"/>
                <a:cs typeface="Yu Gothic" pitchFamily="34" charset="-120"/>
              </a:rPr>
              <a:t>非臨床・臨床薬理</a:t>
            </a:r>
          </a:p>
        </p:txBody>
      </p:sp>
      <p:sp>
        <p:nvSpPr>
          <p:cNvPr id="46" name="Oval 45"/>
          <p:cNvSpPr/>
          <p:nvPr/>
        </p:nvSpPr>
        <p:spPr>
          <a:xfrm>
            <a:off x="6525536" y="2878604"/>
            <a:ext cx="232111" cy="232111"/>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929507" y="2925199"/>
            <a:ext cx="138920" cy="13892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103120" y="3154680"/>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194560" y="3136392"/>
            <a:ext cx="3383280" cy="283464"/>
          </a:xfrm>
          <a:prstGeom prst="rect">
            <a:avLst/>
          </a:prstGeom>
          <a:noFill/>
        </p:spPr>
        <p:txBody>
          <a:bodyPr wrap="square" lIns="0" rIns="0" tIns="0" bIns="0" anchor="ctr" rtlCol="0"/>
          <a:lstStyle/>
          <a:p>
            <a:pPr marL="0" indent="0">
              <a:buNone/>
            </a:pPr>
            <a:r>
              <a:rPr sz="800" b="1" lang="en-US" dirty="0">
                <a:solidFill>
                  <a:srgbClr val="1F2E35"/>
                </a:solidFill>
                <a:latin typeface="Yu Gothic" pitchFamily="34" charset="0"/>
                <a:ea typeface="Yu Gothic" pitchFamily="34" charset="-122"/>
                <a:cs typeface="Yu Gothic" pitchFamily="34" charset="-120"/>
              </a:rPr>
              <a:t>CMC開発</a:t>
            </a:r>
          </a:p>
        </p:txBody>
      </p:sp>
      <p:sp>
        <p:nvSpPr>
          <p:cNvPr id="50" name="Oval 49"/>
          <p:cNvSpPr/>
          <p:nvPr/>
        </p:nvSpPr>
        <p:spPr>
          <a:xfrm>
            <a:off x="5917184" y="3232404"/>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183120" y="3140964"/>
            <a:ext cx="274320" cy="27432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631936" y="3232404"/>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9310623" y="3232404"/>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1346687" y="3232404"/>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103120" y="3438144"/>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194560" y="3419856"/>
            <a:ext cx="3383280" cy="283464"/>
          </a:xfrm>
          <a:prstGeom prst="rect">
            <a:avLst/>
          </a:prstGeom>
          <a:noFill/>
        </p:spPr>
        <p:txBody>
          <a:bodyPr wrap="square" lIns="0" rIns="0" tIns="0" bIns="0" anchor="ctr" rtlCol="0"/>
          <a:lstStyle/>
          <a:p>
            <a:pPr marL="0" indent="0">
              <a:buNone/>
            </a:pPr>
            <a:r>
              <a:rPr sz="800" b="1" lang="en-US" dirty="0">
                <a:solidFill>
                  <a:srgbClr val="1F2E35"/>
                </a:solidFill>
                <a:latin typeface="Yu Gothic" pitchFamily="34" charset="0"/>
                <a:ea typeface="Yu Gothic" pitchFamily="34" charset="-122"/>
                <a:cs typeface="Yu Gothic" pitchFamily="34" charset="-120"/>
              </a:rPr>
              <a:t>臨床開発</a:t>
            </a:r>
          </a:p>
        </p:txBody>
      </p:sp>
      <p:sp>
        <p:nvSpPr>
          <p:cNvPr id="57" name="Oval 56"/>
          <p:cNvSpPr/>
          <p:nvPr/>
        </p:nvSpPr>
        <p:spPr>
          <a:xfrm>
            <a:off x="5901736" y="3500420"/>
            <a:ext cx="122335" cy="122335"/>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580424" y="3500420"/>
            <a:ext cx="122335" cy="122335"/>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250819" y="3492127"/>
            <a:ext cx="138920" cy="13892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872882" y="3435502"/>
            <a:ext cx="252170" cy="25217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8631936" y="3515868"/>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9989311" y="3515868"/>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11316584" y="3485764"/>
            <a:ext cx="151646" cy="151646"/>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2011679" y="2606040"/>
            <a:ext cx="54864" cy="106070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2569464"/>
            <a:ext cx="1463039" cy="1133856"/>
          </a:xfrm>
          <a:prstGeom prst="rect">
            <a:avLst/>
          </a:prstGeom>
          <a:noFill/>
        </p:spPr>
        <p:txBody>
          <a:bodyPr wrap="square" lIns="0" rIns="0" tIns="0" bIns="0" anchor="ctr" rtlCol="0"/>
          <a:lstStyle/>
          <a:p>
            <a:pPr marL="0" indent="0" algn="r">
              <a:buNone/>
            </a:pPr>
            <a:r>
              <a:rPr sz="900" b="1" lang="en-US" dirty="0">
                <a:solidFill>
                  <a:srgbClr val="2A78D6"/>
                </a:solidFill>
                <a:latin typeface="Yu Gothic" pitchFamily="34" charset="0"/>
                <a:ea typeface="Yu Gothic" pitchFamily="34" charset="-122"/>
                <a:cs typeface="Yu Gothic" pitchFamily="34" charset="-120"/>
              </a:rPr>
              <a:t>R&amp;D Engine</a:t>
            </a:r>
          </a:p>
        </p:txBody>
      </p:sp>
      <p:cxnSp>
        <p:nvCxnSpPr>
          <p:cNvPr id="66" name="Connector 65"/>
          <p:cNvCxnSpPr/>
          <p:nvPr/>
        </p:nvCxnSpPr>
        <p:spPr>
          <a:xfrm>
            <a:off x="2103120" y="3703320"/>
            <a:ext cx="962863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2103120" y="3721607"/>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194560" y="3703320"/>
            <a:ext cx="3383280" cy="283464"/>
          </a:xfrm>
          <a:prstGeom prst="rect">
            <a:avLst/>
          </a:prstGeom>
          <a:noFill/>
        </p:spPr>
        <p:txBody>
          <a:bodyPr wrap="square" lIns="0" rIns="0" tIns="0" bIns="0" anchor="ctr" rtlCol="0"/>
          <a:lstStyle/>
          <a:p>
            <a:pPr marL="0" indent="0">
              <a:buNone/>
            </a:pPr>
            <a:r>
              <a:rPr sz="800" b="1" lang="en-US" dirty="0">
                <a:solidFill>
                  <a:srgbClr val="1F2E35"/>
                </a:solidFill>
                <a:latin typeface="Yu Gothic" pitchFamily="34" charset="0"/>
                <a:ea typeface="Yu Gothic" pitchFamily="34" charset="-122"/>
                <a:cs typeface="Yu Gothic" pitchFamily="34" charset="-120"/>
              </a:rPr>
              <a:t>薬事</a:t>
            </a:r>
          </a:p>
        </p:txBody>
      </p:sp>
      <p:sp>
        <p:nvSpPr>
          <p:cNvPr id="69" name="Oval 68"/>
          <p:cNvSpPr/>
          <p:nvPr/>
        </p:nvSpPr>
        <p:spPr>
          <a:xfrm>
            <a:off x="5917184" y="379933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6555678" y="3759138"/>
            <a:ext cx="171827" cy="171827"/>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7929507" y="3775591"/>
            <a:ext cx="138920" cy="13892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561600" y="3728996"/>
            <a:ext cx="232111" cy="232111"/>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9310623" y="379933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1311220" y="3763864"/>
            <a:ext cx="162375" cy="162375"/>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103120" y="4005071"/>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94560" y="3986783"/>
            <a:ext cx="3383280" cy="283464"/>
          </a:xfrm>
          <a:prstGeom prst="rect">
            <a:avLst/>
          </a:prstGeom>
          <a:noFill/>
        </p:spPr>
        <p:txBody>
          <a:bodyPr wrap="square" lIns="0" rIns="0" tIns="0" bIns="0" anchor="ctr" rtlCol="0"/>
          <a:lstStyle/>
          <a:p>
            <a:pPr marL="0" indent="0">
              <a:buNone/>
            </a:pPr>
            <a:r>
              <a:rPr sz="800" b="1" lang="en-US" dirty="0">
                <a:solidFill>
                  <a:srgbClr val="1F2E35"/>
                </a:solidFill>
                <a:latin typeface="Yu Gothic" pitchFamily="34" charset="0"/>
                <a:ea typeface="Yu Gothic" pitchFamily="34" charset="-122"/>
                <a:cs typeface="Yu Gothic" pitchFamily="34" charset="-120"/>
              </a:rPr>
              <a:t>品質</a:t>
            </a:r>
          </a:p>
        </p:txBody>
      </p:sp>
      <p:sp>
        <p:nvSpPr>
          <p:cNvPr id="77" name="Oval 76"/>
          <p:cNvSpPr/>
          <p:nvPr/>
        </p:nvSpPr>
        <p:spPr>
          <a:xfrm>
            <a:off x="6595872" y="4082796"/>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7226164" y="4034400"/>
            <a:ext cx="188231" cy="188231"/>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8608195" y="4059055"/>
            <a:ext cx="138920" cy="13892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266157" y="4038329"/>
            <a:ext cx="180373" cy="180373"/>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9989311" y="4082796"/>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0668000" y="4082796"/>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1346687" y="4082796"/>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2103120" y="4288536"/>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194560" y="4270248"/>
            <a:ext cx="3383280" cy="283464"/>
          </a:xfrm>
          <a:prstGeom prst="rect">
            <a:avLst/>
          </a:prstGeom>
          <a:noFill/>
        </p:spPr>
        <p:txBody>
          <a:bodyPr wrap="square" lIns="0" rIns="0" tIns="0" bIns="0" anchor="ctr" rtlCol="0"/>
          <a:lstStyle/>
          <a:p>
            <a:pPr marL="0" indent="0">
              <a:buNone/>
            </a:pPr>
            <a:r>
              <a:rPr sz="800" b="1" lang="en-US" dirty="0">
                <a:solidFill>
                  <a:srgbClr val="1F2E35"/>
                </a:solidFill>
                <a:latin typeface="Yu Gothic" pitchFamily="34" charset="0"/>
                <a:ea typeface="Yu Gothic" pitchFamily="34" charset="-122"/>
                <a:cs typeface="Yu Gothic" pitchFamily="34" charset="-120"/>
              </a:rPr>
              <a:t>ファーマコビジランス（安全性）</a:t>
            </a:r>
          </a:p>
        </p:txBody>
      </p:sp>
      <p:sp>
        <p:nvSpPr>
          <p:cNvPr id="86" name="Oval 85"/>
          <p:cNvSpPr/>
          <p:nvPr/>
        </p:nvSpPr>
        <p:spPr>
          <a:xfrm>
            <a:off x="7937800" y="4350812"/>
            <a:ext cx="122335" cy="122335"/>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8616488" y="4350812"/>
            <a:ext cx="122335" cy="122335"/>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1306494" y="4326066"/>
            <a:ext cx="171827" cy="171827"/>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2011679" y="3739896"/>
            <a:ext cx="54864" cy="777240"/>
          </a:xfrm>
          <a:prstGeom prst="rect">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7200" y="3703320"/>
            <a:ext cx="1463039" cy="850392"/>
          </a:xfrm>
          <a:prstGeom prst="rect">
            <a:avLst/>
          </a:prstGeom>
          <a:noFill/>
        </p:spPr>
        <p:txBody>
          <a:bodyPr wrap="square" lIns="0" rIns="0" tIns="0" bIns="0" anchor="ctr" rtlCol="0"/>
          <a:lstStyle/>
          <a:p>
            <a:pPr marL="0" indent="0" algn="r">
              <a:buNone/>
            </a:pPr>
            <a:r>
              <a:rPr sz="900" b="1" lang="en-US" dirty="0">
                <a:solidFill>
                  <a:srgbClr val="4A3AA7"/>
                </a:solidFill>
                <a:latin typeface="Yu Gothic" pitchFamily="34" charset="0"/>
                <a:ea typeface="Yu Gothic" pitchFamily="34" charset="-122"/>
                <a:cs typeface="Yu Gothic" pitchFamily="34" charset="-120"/>
              </a:rPr>
              <a:t>Regulatory &amp; Quality</a:t>
            </a:r>
          </a:p>
        </p:txBody>
      </p:sp>
      <p:cxnSp>
        <p:nvCxnSpPr>
          <p:cNvPr id="91" name="Connector 90"/>
          <p:cNvCxnSpPr/>
          <p:nvPr/>
        </p:nvCxnSpPr>
        <p:spPr>
          <a:xfrm>
            <a:off x="2103120" y="4553712"/>
            <a:ext cx="962863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2103120" y="4571999"/>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194560" y="4553712"/>
            <a:ext cx="3383280" cy="283464"/>
          </a:xfrm>
          <a:prstGeom prst="rect">
            <a:avLst/>
          </a:prstGeom>
          <a:noFill/>
        </p:spPr>
        <p:txBody>
          <a:bodyPr wrap="square" lIns="0" rIns="0" tIns="0" bIns="0" anchor="ctr" rtlCol="0"/>
          <a:lstStyle/>
          <a:p>
            <a:pPr marL="0" indent="0">
              <a:buNone/>
            </a:pPr>
            <a:r>
              <a:rPr sz="800" b="1" lang="en-US" dirty="0">
                <a:solidFill>
                  <a:srgbClr val="1F2E35"/>
                </a:solidFill>
                <a:latin typeface="Yu Gothic" pitchFamily="34" charset="0"/>
                <a:ea typeface="Yu Gothic" pitchFamily="34" charset="-122"/>
                <a:cs typeface="Yu Gothic" pitchFamily="34" charset="-120"/>
              </a:rPr>
              <a:t>製造</a:t>
            </a:r>
          </a:p>
        </p:txBody>
      </p:sp>
      <p:sp>
        <p:nvSpPr>
          <p:cNvPr id="94" name="Oval 93"/>
          <p:cNvSpPr/>
          <p:nvPr/>
        </p:nvSpPr>
        <p:spPr>
          <a:xfrm>
            <a:off x="7244456" y="4619620"/>
            <a:ext cx="151646" cy="151646"/>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9251887" y="4590987"/>
            <a:ext cx="208912" cy="208912"/>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2103120" y="4855463"/>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194560" y="4837175"/>
            <a:ext cx="3383280" cy="283464"/>
          </a:xfrm>
          <a:prstGeom prst="rect">
            <a:avLst/>
          </a:prstGeom>
          <a:noFill/>
        </p:spPr>
        <p:txBody>
          <a:bodyPr wrap="square" lIns="0" rIns="0" tIns="0" bIns="0" anchor="ctr" rtlCol="0"/>
          <a:lstStyle/>
          <a:p>
            <a:pPr marL="0" indent="0">
              <a:buNone/>
            </a:pPr>
            <a:r>
              <a:rPr sz="800" b="1" lang="en-US" dirty="0">
                <a:solidFill>
                  <a:srgbClr val="1F2E35"/>
                </a:solidFill>
                <a:latin typeface="Yu Gothic" pitchFamily="34" charset="0"/>
                <a:ea typeface="Yu Gothic" pitchFamily="34" charset="-122"/>
                <a:cs typeface="Yu Gothic" pitchFamily="34" charset="-120"/>
              </a:rPr>
              <a:t>サプライチェーン</a:t>
            </a:r>
          </a:p>
        </p:txBody>
      </p:sp>
      <p:sp>
        <p:nvSpPr>
          <p:cNvPr id="98" name="Oval 97"/>
          <p:cNvSpPr/>
          <p:nvPr/>
        </p:nvSpPr>
        <p:spPr>
          <a:xfrm>
            <a:off x="7274560" y="4933188"/>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9310623" y="4933188"/>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9965571" y="4909447"/>
            <a:ext cx="138920" cy="138920"/>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10609263" y="4874451"/>
            <a:ext cx="208912" cy="208912"/>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2011679" y="4590288"/>
            <a:ext cx="54864" cy="493776"/>
          </a:xfrm>
          <a:prstGeom prst="rect">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57200" y="4553712"/>
            <a:ext cx="1463039" cy="566928"/>
          </a:xfrm>
          <a:prstGeom prst="rect">
            <a:avLst/>
          </a:prstGeom>
          <a:noFill/>
        </p:spPr>
        <p:txBody>
          <a:bodyPr wrap="square" lIns="0" rIns="0" tIns="0" bIns="0" anchor="ctr" rtlCol="0"/>
          <a:lstStyle/>
          <a:p>
            <a:pPr marL="0" indent="0" algn="r">
              <a:buNone/>
            </a:pPr>
            <a:r>
              <a:rPr sz="900" b="1" lang="en-US" dirty="0">
                <a:solidFill>
                  <a:srgbClr val="0E7A52"/>
                </a:solidFill>
                <a:latin typeface="Yu Gothic" pitchFamily="34" charset="0"/>
                <a:ea typeface="Yu Gothic" pitchFamily="34" charset="-122"/>
                <a:cs typeface="Yu Gothic" pitchFamily="34" charset="-120"/>
              </a:rPr>
              <a:t>Supply Chain &amp; Mfg</a:t>
            </a:r>
          </a:p>
        </p:txBody>
      </p:sp>
      <p:cxnSp>
        <p:nvCxnSpPr>
          <p:cNvPr id="104" name="Connector 103"/>
          <p:cNvCxnSpPr/>
          <p:nvPr/>
        </p:nvCxnSpPr>
        <p:spPr>
          <a:xfrm>
            <a:off x="2103120" y="5120640"/>
            <a:ext cx="962863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2103120" y="5138927"/>
            <a:ext cx="9628632" cy="246888"/>
          </a:xfrm>
          <a:prstGeom prst="rect">
            <a:avLst/>
          </a:prstGeom>
          <a:solidFill>
            <a:srgbClr val="F3F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2194560" y="5120640"/>
            <a:ext cx="3383280" cy="283464"/>
          </a:xfrm>
          <a:prstGeom prst="rect">
            <a:avLst/>
          </a:prstGeom>
          <a:noFill/>
        </p:spPr>
        <p:txBody>
          <a:bodyPr wrap="square" lIns="0" rIns="0" tIns="0" bIns="0" anchor="ctr" rtlCol="0"/>
          <a:lstStyle/>
          <a:p>
            <a:pPr marL="0" indent="0">
              <a:buNone/>
            </a:pPr>
            <a:r>
              <a:rPr sz="800" b="1" lang="en-US" dirty="0">
                <a:solidFill>
                  <a:srgbClr val="1F2E35"/>
                </a:solidFill>
                <a:latin typeface="Yu Gothic" pitchFamily="34" charset="0"/>
                <a:ea typeface="Yu Gothic" pitchFamily="34" charset="-122"/>
                <a:cs typeface="Yu Gothic" pitchFamily="34" charset="-120"/>
              </a:rPr>
              <a:t>メディカル・患者エンゲージメント</a:t>
            </a:r>
          </a:p>
        </p:txBody>
      </p:sp>
      <p:sp>
        <p:nvSpPr>
          <p:cNvPr id="107" name="Oval 106"/>
          <p:cNvSpPr/>
          <p:nvPr/>
        </p:nvSpPr>
        <p:spPr>
          <a:xfrm>
            <a:off x="5901736" y="5201204"/>
            <a:ext cx="122335" cy="122335"/>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7953247" y="521665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959208" y="5186548"/>
            <a:ext cx="151646" cy="151646"/>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10668000" y="521665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11346687" y="5216652"/>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2103120" y="5422391"/>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194560" y="5404103"/>
            <a:ext cx="3383280" cy="283464"/>
          </a:xfrm>
          <a:prstGeom prst="rect">
            <a:avLst/>
          </a:prstGeom>
          <a:noFill/>
        </p:spPr>
        <p:txBody>
          <a:bodyPr wrap="square" lIns="0" rIns="0" tIns="0" bIns="0" anchor="ctr" rtlCol="0"/>
          <a:lstStyle/>
          <a:p>
            <a:pPr marL="0" indent="0">
              <a:buNone/>
            </a:pPr>
            <a:r>
              <a:rPr sz="800" b="1" lang="en-US" dirty="0">
                <a:solidFill>
                  <a:srgbClr val="1F2E35"/>
                </a:solidFill>
                <a:latin typeface="Yu Gothic" pitchFamily="34" charset="0"/>
                <a:ea typeface="Yu Gothic" pitchFamily="34" charset="-122"/>
                <a:cs typeface="Yu Gothic" pitchFamily="34" charset="-120"/>
              </a:rPr>
              <a:t>市場アクセス・商業</a:t>
            </a:r>
          </a:p>
        </p:txBody>
      </p:sp>
      <p:sp>
        <p:nvSpPr>
          <p:cNvPr id="114" name="Oval 113"/>
          <p:cNvSpPr/>
          <p:nvPr/>
        </p:nvSpPr>
        <p:spPr>
          <a:xfrm>
            <a:off x="9940916" y="5451720"/>
            <a:ext cx="188231" cy="188231"/>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1331240" y="5484668"/>
            <a:ext cx="122335" cy="122335"/>
          </a:xfrm>
          <a:prstGeom prst="ellipse">
            <a:avLst/>
          </a:prstGeom>
          <a:solidFill>
            <a:srgbClr val="8A95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2011679" y="5157216"/>
            <a:ext cx="54864" cy="493776"/>
          </a:xfrm>
          <a:prstGeom prst="rect">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457200" y="5120640"/>
            <a:ext cx="1463039" cy="566928"/>
          </a:xfrm>
          <a:prstGeom prst="rect">
            <a:avLst/>
          </a:prstGeom>
          <a:noFill/>
        </p:spPr>
        <p:txBody>
          <a:bodyPr wrap="square" lIns="0" rIns="0" tIns="0" bIns="0" anchor="ctr" rtlCol="0"/>
          <a:lstStyle/>
          <a:p>
            <a:pPr marL="0" indent="0" algn="r">
              <a:buNone/>
            </a:pPr>
            <a:r>
              <a:rPr sz="900" b="1" lang="en-US" dirty="0">
                <a:solidFill>
                  <a:srgbClr val="C24E1C"/>
                </a:solidFill>
                <a:latin typeface="Yu Gothic" pitchFamily="34" charset="0"/>
                <a:ea typeface="Yu Gothic" pitchFamily="34" charset="-122"/>
                <a:cs typeface="Yu Gothic" pitchFamily="34" charset="-120"/>
              </a:rPr>
              <a:t>Commercial &amp; Patient</a:t>
            </a:r>
          </a:p>
        </p:txBody>
      </p:sp>
      <p:cxnSp>
        <p:nvCxnSpPr>
          <p:cNvPr id="118" name="Connector 117"/>
          <p:cNvCxnSpPr/>
          <p:nvPr/>
        </p:nvCxnSpPr>
        <p:spPr>
          <a:xfrm>
            <a:off x="2103120" y="5687568"/>
            <a:ext cx="9628632" cy="0"/>
          </a:xfrm>
          <a:prstGeom prst="line">
            <a:avLst/>
          </a:prstGeom>
          <a:ln w="9525">
            <a:solidFill>
              <a:srgbClr val="C3CFD1"/>
            </a:solidFill>
          </a:ln>
        </p:spPr>
        <p:style>
          <a:lnRef idx="2">
            <a:schemeClr val="accent1"/>
          </a:lnRef>
          <a:fillRef idx="0">
            <a:schemeClr val="accent1"/>
          </a:fillRef>
          <a:effectRef idx="1">
            <a:schemeClr val="accent1"/>
          </a:effectRef>
          <a:fontRef idx="minor">
            <a:schemeClr val="tx1"/>
          </a:fontRef>
        </p:style>
      </p:cxnSp>
      <p:sp>
        <p:nvSpPr>
          <p:cNvPr id="119" name="Rectangle 118"/>
          <p:cNvSpPr/>
          <p:nvPr/>
        </p:nvSpPr>
        <p:spPr>
          <a:xfrm>
            <a:off x="2103120" y="5705855"/>
            <a:ext cx="9628632" cy="2468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ounded Rectangle 170"/>
          <p:cNvSpPr/>
          <p:nvPr/>
        </p:nvSpPr>
        <p:spPr>
          <a:xfrm>
            <a:off x="9750552" y="5449823"/>
            <a:ext cx="568960" cy="192024"/>
          </a:xfrm>
          <a:prstGeom prst="roundRect">
            <a:avLst>
              <a:gd name="adj" fmla="val 50000"/>
            </a:avLst>
          </a:prstGeom>
          <a:solidFill>
            <a:srgbClr val="E87BA4">
              <a:alpha val="22000"/>
            </a:srgbClr>
          </a:solidFill>
          <a:ln w="15875">
            <a:solidFill>
              <a:srgbClr val="E87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ounded Rectangle 167"/>
          <p:cNvSpPr/>
          <p:nvPr/>
        </p:nvSpPr>
        <p:spPr>
          <a:xfrm>
            <a:off x="5678424" y="5166359"/>
            <a:ext cx="4641088" cy="192024"/>
          </a:xfrm>
          <a:prstGeom prst="roundRect">
            <a:avLst>
              <a:gd name="adj" fmla="val 50000"/>
            </a:avLst>
          </a:prstGeom>
          <a:solidFill>
            <a:srgbClr val="E87BA4">
              <a:alpha val="22000"/>
            </a:srgbClr>
          </a:solidFill>
          <a:ln w="15875">
            <a:solidFill>
              <a:srgbClr val="E87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ounded Rectangle 164"/>
          <p:cNvSpPr/>
          <p:nvPr/>
        </p:nvSpPr>
        <p:spPr>
          <a:xfrm>
            <a:off x="9686544" y="4850891"/>
            <a:ext cx="1375664" cy="256032"/>
          </a:xfrm>
          <a:prstGeom prst="roundRect">
            <a:avLst>
              <a:gd name="adj" fmla="val 50000"/>
            </a:avLst>
          </a:prstGeom>
          <a:solidFill>
            <a:srgbClr val="008300">
              <a:alpha val="22000"/>
            </a:srgbClr>
          </a:solidFill>
          <a:ln w="15875">
            <a:solidFill>
              <a:srgbClr val="00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ounded Rectangle 163"/>
          <p:cNvSpPr/>
          <p:nvPr/>
        </p:nvSpPr>
        <p:spPr>
          <a:xfrm>
            <a:off x="10429240" y="4882895"/>
            <a:ext cx="568960" cy="192024"/>
          </a:xfrm>
          <a:prstGeom prst="roundRect">
            <a:avLst>
              <a:gd name="adj" fmla="val 50000"/>
            </a:avLst>
          </a:prstGeom>
          <a:solidFill>
            <a:srgbClr val="1BAF7A">
              <a:alpha val="22000"/>
            </a:srgbClr>
          </a:solidFill>
          <a:ln w="1587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ounded Rectangle 158"/>
          <p:cNvSpPr/>
          <p:nvPr/>
        </p:nvSpPr>
        <p:spPr>
          <a:xfrm>
            <a:off x="9007856" y="4567427"/>
            <a:ext cx="696976" cy="256032"/>
          </a:xfrm>
          <a:prstGeom prst="roundRect">
            <a:avLst>
              <a:gd name="adj" fmla="val 50000"/>
            </a:avLst>
          </a:prstGeom>
          <a:solidFill>
            <a:srgbClr val="008300">
              <a:alpha val="22000"/>
            </a:srgbClr>
          </a:solidFill>
          <a:ln w="15875">
            <a:solidFill>
              <a:srgbClr val="008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ounded Rectangle 157"/>
          <p:cNvSpPr/>
          <p:nvPr/>
        </p:nvSpPr>
        <p:spPr>
          <a:xfrm>
            <a:off x="7035800" y="4599431"/>
            <a:ext cx="2605024" cy="192024"/>
          </a:xfrm>
          <a:prstGeom prst="roundRect">
            <a:avLst>
              <a:gd name="adj" fmla="val 50000"/>
            </a:avLst>
          </a:prstGeom>
          <a:solidFill>
            <a:srgbClr val="EB6834">
              <a:alpha val="22000"/>
            </a:srgbClr>
          </a:solidFill>
          <a:ln w="1587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ounded Rectangle 152"/>
          <p:cNvSpPr/>
          <p:nvPr/>
        </p:nvSpPr>
        <p:spPr>
          <a:xfrm>
            <a:off x="6971792" y="4000500"/>
            <a:ext cx="2733040" cy="256032"/>
          </a:xfrm>
          <a:prstGeom prst="roundRect">
            <a:avLst>
              <a:gd name="adj" fmla="val 50000"/>
            </a:avLst>
          </a:prstGeom>
          <a:solidFill>
            <a:srgbClr val="EDA100">
              <a:alpha val="22000"/>
            </a:srgbClr>
          </a:solidFill>
          <a:ln w="15875">
            <a:solidFill>
              <a:srgbClr val="EDA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ounded Rectangle 151"/>
          <p:cNvSpPr/>
          <p:nvPr/>
        </p:nvSpPr>
        <p:spPr>
          <a:xfrm>
            <a:off x="7035800" y="4032503"/>
            <a:ext cx="2605024" cy="192024"/>
          </a:xfrm>
          <a:prstGeom prst="roundRect">
            <a:avLst>
              <a:gd name="adj" fmla="val 50000"/>
            </a:avLst>
          </a:prstGeom>
          <a:solidFill>
            <a:srgbClr val="1BAF7A">
              <a:alpha val="22000"/>
            </a:srgbClr>
          </a:solidFill>
          <a:ln w="15875">
            <a:solidFill>
              <a:srgbClr val="1BA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ounded Rectangle 146"/>
          <p:cNvSpPr/>
          <p:nvPr/>
        </p:nvSpPr>
        <p:spPr>
          <a:xfrm>
            <a:off x="6357112" y="3749039"/>
            <a:ext cx="5319776" cy="192024"/>
          </a:xfrm>
          <a:prstGeom prst="roundRect">
            <a:avLst>
              <a:gd name="adj" fmla="val 50000"/>
            </a:avLst>
          </a:prstGeom>
          <a:solidFill>
            <a:srgbClr val="4A3AA7">
              <a:alpha val="22000"/>
            </a:srgbClr>
          </a:solidFill>
          <a:ln w="1587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ounded Rectangle 143"/>
          <p:cNvSpPr/>
          <p:nvPr/>
        </p:nvSpPr>
        <p:spPr>
          <a:xfrm>
            <a:off x="7714488" y="3465576"/>
            <a:ext cx="568960" cy="192024"/>
          </a:xfrm>
          <a:prstGeom prst="roundRect">
            <a:avLst>
              <a:gd name="adj" fmla="val 50000"/>
            </a:avLst>
          </a:prstGeom>
          <a:solidFill>
            <a:srgbClr val="4A3AA7">
              <a:alpha val="22000"/>
            </a:srgbClr>
          </a:solidFill>
          <a:ln w="15875">
            <a:solidFill>
              <a:srgbClr val="4A3A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ounded Rectangle 140"/>
          <p:cNvSpPr/>
          <p:nvPr/>
        </p:nvSpPr>
        <p:spPr>
          <a:xfrm>
            <a:off x="6907784" y="3118104"/>
            <a:ext cx="824992" cy="320040"/>
          </a:xfrm>
          <a:prstGeom prst="roundRect">
            <a:avLst>
              <a:gd name="adj" fmla="val 50000"/>
            </a:avLst>
          </a:prstGeom>
          <a:solidFill>
            <a:srgbClr val="EDA100">
              <a:alpha val="22000"/>
            </a:srgbClr>
          </a:solidFill>
          <a:ln w="15875">
            <a:solidFill>
              <a:srgbClr val="EDA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ounded Rectangle 139"/>
          <p:cNvSpPr/>
          <p:nvPr/>
        </p:nvSpPr>
        <p:spPr>
          <a:xfrm>
            <a:off x="6971792" y="3150108"/>
            <a:ext cx="696976" cy="256032"/>
          </a:xfrm>
          <a:prstGeom prst="roundRect">
            <a:avLst>
              <a:gd name="adj" fmla="val 50000"/>
            </a:avLst>
          </a:prstGeom>
          <a:solidFill>
            <a:srgbClr val="EB6834">
              <a:alpha val="22000"/>
            </a:srgbClr>
          </a:solidFill>
          <a:ln w="15875">
            <a:solidFill>
              <a:srgbClr val="EB68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ounded Rectangle 138"/>
          <p:cNvSpPr/>
          <p:nvPr/>
        </p:nvSpPr>
        <p:spPr>
          <a:xfrm>
            <a:off x="7035800" y="3182112"/>
            <a:ext cx="568960" cy="192024"/>
          </a:xfrm>
          <a:prstGeom prst="roundRect">
            <a:avLst>
              <a:gd name="adj" fmla="val 50000"/>
            </a:avLst>
          </a:prstGeom>
          <a:solidFill>
            <a:srgbClr val="2A78D6">
              <a:alpha val="22000"/>
            </a:srgbClr>
          </a:solidFill>
          <a:ln w="1587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6357112" y="2898648"/>
            <a:ext cx="1926335" cy="192024"/>
          </a:xfrm>
          <a:prstGeom prst="roundRect">
            <a:avLst>
              <a:gd name="adj" fmla="val 50000"/>
            </a:avLst>
          </a:prstGeom>
          <a:solidFill>
            <a:srgbClr val="EDA100">
              <a:alpha val="22000"/>
            </a:srgbClr>
          </a:solidFill>
          <a:ln w="15875">
            <a:solidFill>
              <a:srgbClr val="EDA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ounded Rectangle 128"/>
          <p:cNvSpPr/>
          <p:nvPr/>
        </p:nvSpPr>
        <p:spPr>
          <a:xfrm>
            <a:off x="5678424" y="2615184"/>
            <a:ext cx="568960" cy="192024"/>
          </a:xfrm>
          <a:prstGeom prst="roundRect">
            <a:avLst>
              <a:gd name="adj" fmla="val 50000"/>
            </a:avLst>
          </a:prstGeom>
          <a:solidFill>
            <a:srgbClr val="2A78D6">
              <a:alpha val="22000"/>
            </a:srgbClr>
          </a:solidFill>
          <a:ln w="15875">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2194560" y="5687568"/>
            <a:ext cx="3383280" cy="283464"/>
          </a:xfrm>
          <a:prstGeom prst="rect">
            <a:avLst/>
          </a:prstGeom>
          <a:noFill/>
        </p:spPr>
        <p:txBody>
          <a:bodyPr wrap="square" lIns="0" rIns="0" tIns="0" bIns="0" anchor="ctr" rtlCol="0"/>
          <a:lstStyle/>
          <a:p>
            <a:pPr marL="0" indent="0">
              <a:buNone/>
            </a:pPr>
            <a:r>
              <a:rPr sz="800" b="1" lang="en-US" dirty="0">
                <a:solidFill>
                  <a:srgbClr val="1F2E35"/>
                </a:solidFill>
                <a:latin typeface="Yu Gothic" pitchFamily="34" charset="0"/>
                <a:ea typeface="Yu Gothic" pitchFamily="34" charset="-122"/>
                <a:cs typeface="Yu Gothic" pitchFamily="34" charset="-120"/>
              </a:rPr>
              <a:t>共通基盤</a:t>
            </a:r>
          </a:p>
        </p:txBody>
      </p:sp>
      <p:sp>
        <p:nvSpPr>
          <p:cNvPr id="121" name="Oval 120"/>
          <p:cNvSpPr/>
          <p:nvPr/>
        </p:nvSpPr>
        <p:spPr>
          <a:xfrm>
            <a:off x="5917184" y="5783580"/>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7953247" y="5783580"/>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9989311" y="5783580"/>
            <a:ext cx="91440" cy="91440"/>
          </a:xfrm>
          <a:prstGeom prst="ellipse">
            <a:avLst/>
          </a:prstGeom>
          <a:solidFill>
            <a:srgbClr val="FFFFFF"/>
          </a:solidFill>
          <a:ln w="12700">
            <a:solidFill>
              <a:srgbClr val="8A95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2011679" y="5724144"/>
            <a:ext cx="54864" cy="210311"/>
          </a:xfrm>
          <a:prstGeom prst="rect">
            <a:avLst/>
          </a:prstGeom>
          <a:solidFill>
            <a:srgbClr val="1F2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457200" y="5687568"/>
            <a:ext cx="1463039" cy="283464"/>
          </a:xfrm>
          <a:prstGeom prst="rect">
            <a:avLst/>
          </a:prstGeom>
          <a:noFill/>
        </p:spPr>
        <p:txBody>
          <a:bodyPr wrap="square" lIns="0" rIns="0" tIns="0" bIns="0" anchor="ctr" rtlCol="0"/>
          <a:lstStyle/>
          <a:p>
            <a:pPr marL="0" indent="0" algn="r">
              <a:buNone/>
            </a:pPr>
            <a:r>
              <a:rPr sz="900" b="1" lang="en-US" dirty="0">
                <a:solidFill>
                  <a:srgbClr val="1F2E35"/>
                </a:solidFill>
                <a:latin typeface="Yu Gothic" pitchFamily="34" charset="0"/>
                <a:ea typeface="Yu Gothic" pitchFamily="34" charset="-122"/>
                <a:cs typeface="Yu Gothic" pitchFamily="34" charset="-120"/>
              </a:rPr>
              <a:t>Foundation</a:t>
            </a:r>
          </a:p>
        </p:txBody>
      </p:sp>
      <p:sp>
        <p:nvSpPr>
          <p:cNvPr id="126" name="TextBox 125"/>
          <p:cNvSpPr txBox="1"/>
          <p:nvPr/>
        </p:nvSpPr>
        <p:spPr>
          <a:xfrm>
            <a:off x="3886200" y="2084831"/>
            <a:ext cx="1682496" cy="310896"/>
          </a:xfrm>
          <a:prstGeom prst="rect">
            <a:avLst/>
          </a:prstGeom>
          <a:noFill/>
        </p:spPr>
        <p:txBody>
          <a:bodyPr wrap="square" lIns="0" rIns="0" tIns="0" bIns="0" anchor="t" rtlCol="0"/>
          <a:lstStyle/>
          <a:p>
            <a:pPr marL="0" indent="0" algn="ctr">
              <a:buNone/>
            </a:pPr>
            <a:r>
              <a:rPr sz="850" b="1" lang="en-US" dirty="0">
                <a:solidFill>
                  <a:srgbClr val="1F2E35"/>
                </a:solidFill>
                <a:latin typeface="Yu Gothic" pitchFamily="34" charset="0"/>
                <a:ea typeface="Yu Gothic" pitchFamily="34" charset="-122"/>
                <a:cs typeface="Yu Gothic" pitchFamily="34" charset="-120"/>
              </a:rPr>
              <a:t>複数の領域で使う</a:t>
            </a:r>
          </a:p>
          <a:p>
            <a:pPr marL="0" indent="0" algn="ctr">
              <a:buNone/>
            </a:pPr>
            <a:r>
              <a:rPr sz="850" b="1" lang="en-US" dirty="0">
                <a:solidFill>
                  <a:srgbClr val="1F2E35"/>
                </a:solidFill>
                <a:latin typeface="Yu Gothic" pitchFamily="34" charset="0"/>
                <a:ea typeface="Yu Gothic" pitchFamily="34" charset="-122"/>
                <a:cs typeface="Yu Gothic" pitchFamily="34" charset="-120"/>
              </a:rPr>
              <a:t>アプリケーション（製品）</a:t>
            </a:r>
          </a:p>
        </p:txBody>
      </p:sp>
      <p:sp>
        <p:nvSpPr>
          <p:cNvPr id="127" name="Rounded Rectangle 126"/>
          <p:cNvSpPr/>
          <p:nvPr/>
        </p:nvSpPr>
        <p:spPr>
          <a:xfrm>
            <a:off x="4544568" y="2624328"/>
            <a:ext cx="365760" cy="173736"/>
          </a:xfrm>
          <a:prstGeom prst="roundRect">
            <a:avLst>
              <a:gd name="adj" fmla="val 50000"/>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4544568" y="2624328"/>
            <a:ext cx="365760"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ELN</a:t>
            </a:r>
          </a:p>
        </p:txBody>
      </p:sp>
      <p:sp>
        <p:nvSpPr>
          <p:cNvPr id="130" name="Rounded Rectangle 129"/>
          <p:cNvSpPr/>
          <p:nvPr/>
        </p:nvSpPr>
        <p:spPr>
          <a:xfrm>
            <a:off x="4388990" y="2907792"/>
            <a:ext cx="676915" cy="173736"/>
          </a:xfrm>
          <a:prstGeom prst="roundRect">
            <a:avLst>
              <a:gd name="adj" fmla="val 50000"/>
            </a:avLst>
          </a:prstGeom>
          <a:solidFill>
            <a:srgbClr val="EDA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4388990" y="2907792"/>
            <a:ext cx="676915"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Veeva LIMS</a:t>
            </a:r>
          </a:p>
        </p:txBody>
      </p:sp>
      <p:sp>
        <p:nvSpPr>
          <p:cNvPr id="133" name="Rounded Rectangle 132"/>
          <p:cNvSpPr/>
          <p:nvPr/>
        </p:nvSpPr>
        <p:spPr>
          <a:xfrm>
            <a:off x="3986654" y="3191256"/>
            <a:ext cx="365760" cy="173736"/>
          </a:xfrm>
          <a:prstGeom prst="roundRect">
            <a:avLst>
              <a:gd name="adj" fmla="val 50000"/>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3986654" y="3191256"/>
            <a:ext cx="365760"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ELN</a:t>
            </a:r>
          </a:p>
        </p:txBody>
      </p:sp>
      <p:sp>
        <p:nvSpPr>
          <p:cNvPr id="135" name="Rounded Rectangle 134"/>
          <p:cNvSpPr/>
          <p:nvPr/>
        </p:nvSpPr>
        <p:spPr>
          <a:xfrm>
            <a:off x="4388990" y="3191256"/>
            <a:ext cx="365760" cy="173736"/>
          </a:xfrm>
          <a:prstGeom prst="roundRect">
            <a:avLst>
              <a:gd name="adj" fmla="val 50000"/>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4388990" y="3191256"/>
            <a:ext cx="365760"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MES</a:t>
            </a:r>
          </a:p>
        </p:txBody>
      </p:sp>
      <p:sp>
        <p:nvSpPr>
          <p:cNvPr id="137" name="Rounded Rectangle 136"/>
          <p:cNvSpPr/>
          <p:nvPr/>
        </p:nvSpPr>
        <p:spPr>
          <a:xfrm>
            <a:off x="4791326" y="3191256"/>
            <a:ext cx="676915" cy="173736"/>
          </a:xfrm>
          <a:prstGeom prst="roundRect">
            <a:avLst>
              <a:gd name="adj" fmla="val 50000"/>
            </a:avLst>
          </a:prstGeom>
          <a:solidFill>
            <a:srgbClr val="EDA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4791326" y="3191256"/>
            <a:ext cx="676915"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Veeva LIMS</a:t>
            </a:r>
          </a:p>
        </p:txBody>
      </p:sp>
      <p:sp>
        <p:nvSpPr>
          <p:cNvPr id="142" name="Rounded Rectangle 141"/>
          <p:cNvSpPr/>
          <p:nvPr/>
        </p:nvSpPr>
        <p:spPr>
          <a:xfrm>
            <a:off x="4033801" y="3442716"/>
            <a:ext cx="1387293" cy="237744"/>
          </a:xfrm>
          <a:prstGeom prst="roundRect">
            <a:avLst>
              <a:gd name="adj" fmla="val 30000"/>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4033801" y="3442716"/>
            <a:ext cx="1387293" cy="237744"/>
          </a:xfrm>
          <a:prstGeom prst="rect">
            <a:avLst/>
          </a:prstGeom>
          <a:noFill/>
        </p:spPr>
        <p:txBody>
          <a:bodyPr wrap="square" lIns="0" rIns="0" tIns="0" bIns="0" anchor="ctr" rtlCol="0"/>
          <a:lstStyle/>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Veeva QualityDocs／</a:t>
            </a:r>
          </a:p>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MasterControl／Documentum</a:t>
            </a:r>
          </a:p>
        </p:txBody>
      </p:sp>
      <p:sp>
        <p:nvSpPr>
          <p:cNvPr id="145" name="Rounded Rectangle 144"/>
          <p:cNvSpPr/>
          <p:nvPr/>
        </p:nvSpPr>
        <p:spPr>
          <a:xfrm>
            <a:off x="4033801" y="3726179"/>
            <a:ext cx="1387293" cy="237744"/>
          </a:xfrm>
          <a:prstGeom prst="roundRect">
            <a:avLst>
              <a:gd name="adj" fmla="val 30000"/>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4033801" y="3726179"/>
            <a:ext cx="1387293" cy="237744"/>
          </a:xfrm>
          <a:prstGeom prst="rect">
            <a:avLst/>
          </a:prstGeom>
          <a:noFill/>
        </p:spPr>
        <p:txBody>
          <a:bodyPr wrap="square" lIns="0" rIns="0" tIns="0" bIns="0" anchor="ctr" rtlCol="0"/>
          <a:lstStyle/>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Veeva QualityDocs／</a:t>
            </a:r>
          </a:p>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MasterControl／Documentum</a:t>
            </a:r>
          </a:p>
        </p:txBody>
      </p:sp>
      <p:sp>
        <p:nvSpPr>
          <p:cNvPr id="148" name="Rounded Rectangle 147"/>
          <p:cNvSpPr/>
          <p:nvPr/>
        </p:nvSpPr>
        <p:spPr>
          <a:xfrm>
            <a:off x="4006143" y="4009643"/>
            <a:ext cx="729117" cy="237744"/>
          </a:xfrm>
          <a:prstGeom prst="roundRect">
            <a:avLst>
              <a:gd name="adj" fmla="val 30000"/>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4006143" y="4009643"/>
            <a:ext cx="729117" cy="237744"/>
          </a:xfrm>
          <a:prstGeom prst="rect">
            <a:avLst/>
          </a:prstGeom>
          <a:noFill/>
        </p:spPr>
        <p:txBody>
          <a:bodyPr wrap="square" lIns="0" rIns="0" tIns="0" bIns="0" anchor="ctr" rtlCol="0"/>
          <a:lstStyle/>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Veeva QMS／</a:t>
            </a:r>
          </a:p>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MasterControl</a:t>
            </a:r>
          </a:p>
        </p:txBody>
      </p:sp>
      <p:sp>
        <p:nvSpPr>
          <p:cNvPr id="150" name="Rounded Rectangle 149"/>
          <p:cNvSpPr/>
          <p:nvPr/>
        </p:nvSpPr>
        <p:spPr>
          <a:xfrm>
            <a:off x="4771837" y="4041647"/>
            <a:ext cx="676915" cy="173736"/>
          </a:xfrm>
          <a:prstGeom prst="roundRect">
            <a:avLst>
              <a:gd name="adj" fmla="val 50000"/>
            </a:avLst>
          </a:prstGeom>
          <a:solidFill>
            <a:srgbClr val="EDA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4771837" y="4041647"/>
            <a:ext cx="676915"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Veeva LIMS</a:t>
            </a:r>
          </a:p>
        </p:txBody>
      </p:sp>
      <p:sp>
        <p:nvSpPr>
          <p:cNvPr id="154" name="Rounded Rectangle 153"/>
          <p:cNvSpPr/>
          <p:nvPr/>
        </p:nvSpPr>
        <p:spPr>
          <a:xfrm>
            <a:off x="4343400" y="4608575"/>
            <a:ext cx="365760" cy="173736"/>
          </a:xfrm>
          <a:prstGeom prst="roundRect">
            <a:avLst>
              <a:gd name="adj" fmla="val 50000"/>
            </a:avLst>
          </a:prstGeom>
          <a:solidFill>
            <a:srgbClr val="EB68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4343400" y="4608575"/>
            <a:ext cx="365760"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MES</a:t>
            </a:r>
          </a:p>
        </p:txBody>
      </p:sp>
      <p:sp>
        <p:nvSpPr>
          <p:cNvPr id="156" name="Rounded Rectangle 155"/>
          <p:cNvSpPr/>
          <p:nvPr/>
        </p:nvSpPr>
        <p:spPr>
          <a:xfrm>
            <a:off x="4745736" y="4608575"/>
            <a:ext cx="365760" cy="173736"/>
          </a:xfrm>
          <a:prstGeom prst="roundRect">
            <a:avLst>
              <a:gd name="adj" fmla="val 50000"/>
            </a:avLst>
          </a:prstGeom>
          <a:solidFill>
            <a:srgbClr val="008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4745736" y="4608575"/>
            <a:ext cx="365760"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ERP</a:t>
            </a:r>
          </a:p>
        </p:txBody>
      </p:sp>
      <p:sp>
        <p:nvSpPr>
          <p:cNvPr id="160" name="Rounded Rectangle 159"/>
          <p:cNvSpPr/>
          <p:nvPr/>
        </p:nvSpPr>
        <p:spPr>
          <a:xfrm>
            <a:off x="4161721" y="4860035"/>
            <a:ext cx="729117" cy="237744"/>
          </a:xfrm>
          <a:prstGeom prst="roundRect">
            <a:avLst>
              <a:gd name="adj" fmla="val 30000"/>
            </a:avLst>
          </a:prstGeom>
          <a:solidFill>
            <a:srgbClr val="1BAF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4161721" y="4860035"/>
            <a:ext cx="729117" cy="237744"/>
          </a:xfrm>
          <a:prstGeom prst="rect">
            <a:avLst/>
          </a:prstGeom>
          <a:noFill/>
        </p:spPr>
        <p:txBody>
          <a:bodyPr wrap="square" lIns="0" rIns="0" tIns="0" bIns="0" anchor="ctr" rtlCol="0"/>
          <a:lstStyle/>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Veeva QMS／</a:t>
            </a:r>
          </a:p>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MasterControl</a:t>
            </a:r>
          </a:p>
        </p:txBody>
      </p:sp>
      <p:sp>
        <p:nvSpPr>
          <p:cNvPr id="162" name="Rounded Rectangle 161"/>
          <p:cNvSpPr/>
          <p:nvPr/>
        </p:nvSpPr>
        <p:spPr>
          <a:xfrm>
            <a:off x="4927414" y="4892039"/>
            <a:ext cx="365760" cy="173736"/>
          </a:xfrm>
          <a:prstGeom prst="roundRect">
            <a:avLst>
              <a:gd name="adj" fmla="val 50000"/>
            </a:avLst>
          </a:prstGeom>
          <a:solidFill>
            <a:srgbClr val="008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4927414" y="4892039"/>
            <a:ext cx="365760" cy="173736"/>
          </a:xfrm>
          <a:prstGeom prst="rect">
            <a:avLst/>
          </a:prstGeom>
          <a:noFill/>
        </p:spPr>
        <p:txBody>
          <a:bodyPr wrap="square" lIns="0" rIns="0" tIns="0" bIns="0" anchor="ctr" rtlCol="0"/>
          <a:lstStyle/>
          <a:p>
            <a:pPr marL="0" indent="0" algn="ctr">
              <a:buNone/>
            </a:pPr>
            <a:r>
              <a:rPr sz="700" b="1" lang="en-US" dirty="0">
                <a:solidFill>
                  <a:srgbClr val="FFFFFF"/>
                </a:solidFill>
                <a:latin typeface="Yu Gothic" pitchFamily="34" charset="0"/>
                <a:ea typeface="Yu Gothic" pitchFamily="34" charset="-122"/>
                <a:cs typeface="Yu Gothic" pitchFamily="34" charset="-120"/>
              </a:rPr>
              <a:t>ERP</a:t>
            </a:r>
          </a:p>
        </p:txBody>
      </p:sp>
      <p:sp>
        <p:nvSpPr>
          <p:cNvPr id="166" name="Rounded Rectangle 165"/>
          <p:cNvSpPr/>
          <p:nvPr/>
        </p:nvSpPr>
        <p:spPr>
          <a:xfrm>
            <a:off x="4005757" y="5125211"/>
            <a:ext cx="1443380" cy="274320"/>
          </a:xfrm>
          <a:prstGeom prst="roundRect">
            <a:avLst>
              <a:gd name="adj" fmla="val 30000"/>
            </a:avLst>
          </a:prstGeom>
          <a:solidFill>
            <a:srgbClr val="E87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4005757" y="5125211"/>
            <a:ext cx="1443380" cy="274320"/>
          </a:xfrm>
          <a:prstGeom prst="rect">
            <a:avLst/>
          </a:prstGeom>
          <a:noFill/>
        </p:spPr>
        <p:txBody>
          <a:bodyPr wrap="square" lIns="0" rIns="0" tIns="0" bIns="0" anchor="ctr" rtlCol="0"/>
          <a:lstStyle/>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Vault CRM／Medical CRM／</a:t>
            </a:r>
          </a:p>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Veeva CRM（Salesforce基盤）／</a:t>
            </a:r>
          </a:p>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Salesforce Life Sciences Cloud</a:t>
            </a:r>
          </a:p>
        </p:txBody>
      </p:sp>
      <p:sp>
        <p:nvSpPr>
          <p:cNvPr id="169" name="Rounded Rectangle 168"/>
          <p:cNvSpPr/>
          <p:nvPr/>
        </p:nvSpPr>
        <p:spPr>
          <a:xfrm>
            <a:off x="4005757" y="5408675"/>
            <a:ext cx="1443380" cy="274320"/>
          </a:xfrm>
          <a:prstGeom prst="roundRect">
            <a:avLst>
              <a:gd name="adj" fmla="val 30000"/>
            </a:avLst>
          </a:prstGeom>
          <a:solidFill>
            <a:srgbClr val="E87B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4005757" y="5408675"/>
            <a:ext cx="1443380" cy="274320"/>
          </a:xfrm>
          <a:prstGeom prst="rect">
            <a:avLst/>
          </a:prstGeom>
          <a:noFill/>
        </p:spPr>
        <p:txBody>
          <a:bodyPr wrap="square" lIns="0" rIns="0" tIns="0" bIns="0" anchor="ctr" rtlCol="0"/>
          <a:lstStyle/>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Vault CRM／Medical CRM／</a:t>
            </a:r>
          </a:p>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Veeva CRM（Salesforce基盤）／</a:t>
            </a:r>
          </a:p>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Salesforce Life Sciences Cloud</a:t>
            </a:r>
          </a:p>
        </p:txBody>
      </p:sp>
      <p:sp>
        <p:nvSpPr>
          <p:cNvPr id="172" name="Rounded Rectangle 171"/>
          <p:cNvSpPr/>
          <p:nvPr/>
        </p:nvSpPr>
        <p:spPr>
          <a:xfrm>
            <a:off x="4033801" y="5710427"/>
            <a:ext cx="1387293" cy="237744"/>
          </a:xfrm>
          <a:prstGeom prst="roundRect">
            <a:avLst>
              <a:gd name="adj" fmla="val 30000"/>
            </a:avLst>
          </a:prstGeom>
          <a:solidFill>
            <a:srgbClr val="4A3A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Box 172"/>
          <p:cNvSpPr txBox="1"/>
          <p:nvPr/>
        </p:nvSpPr>
        <p:spPr>
          <a:xfrm>
            <a:off x="4033801" y="5710427"/>
            <a:ext cx="1387293" cy="237744"/>
          </a:xfrm>
          <a:prstGeom prst="rect">
            <a:avLst/>
          </a:prstGeom>
          <a:noFill/>
        </p:spPr>
        <p:txBody>
          <a:bodyPr wrap="square" lIns="0" rIns="0" tIns="0" bIns="0" anchor="ctr" rtlCol="0"/>
          <a:lstStyle/>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Veeva QualityDocs／</a:t>
            </a:r>
          </a:p>
          <a:p>
            <a:pPr marL="0" indent="0" algn="ctr">
              <a:lnSpc>
                <a:spcPct val="85000"/>
              </a:lnSpc>
              <a:buNone/>
            </a:pPr>
            <a:r>
              <a:rPr sz="600" b="1" lang="en-US" dirty="0">
                <a:solidFill>
                  <a:srgbClr val="FFFFFF"/>
                </a:solidFill>
                <a:latin typeface="Yu Gothic" pitchFamily="34" charset="0"/>
                <a:ea typeface="Yu Gothic" pitchFamily="34" charset="-122"/>
                <a:cs typeface="Yu Gothic" pitchFamily="34" charset="-120"/>
              </a:rPr>
              <a:t>MasterControl／Documentum</a:t>
            </a:r>
          </a:p>
        </p:txBody>
      </p:sp>
      <p:cxnSp>
        <p:nvCxnSpPr>
          <p:cNvPr id="174" name="Connector 173"/>
          <p:cNvCxnSpPr/>
          <p:nvPr/>
        </p:nvCxnSpPr>
        <p:spPr>
          <a:xfrm>
            <a:off x="6302248"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6980936"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7659624"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8338312"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9017000" y="2286000"/>
            <a:ext cx="0" cy="3685031"/>
          </a:xfrm>
          <a:prstGeom prst="line">
            <a:avLst/>
          </a:prstGeom>
          <a:ln w="12700">
            <a:solidFill>
              <a:srgbClr val="1F2E35"/>
            </a:solidFill>
            <a:prstDash val="lgDash"/>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9695688"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10374376"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11053064" y="2286000"/>
            <a:ext cx="0" cy="3685031"/>
          </a:xfrm>
          <a:prstGeom prst="line">
            <a:avLst/>
          </a:prstGeom>
          <a:ln w="6350">
            <a:solidFill>
              <a:srgbClr val="DDE3E4"/>
            </a:solidFill>
          </a:ln>
        </p:spPr>
        <p:style>
          <a:lnRef idx="2">
            <a:schemeClr val="accent1"/>
          </a:lnRef>
          <a:fillRef idx="0">
            <a:schemeClr val="accent1"/>
          </a:fillRef>
          <a:effectRef idx="1">
            <a:schemeClr val="accent1"/>
          </a:effectRef>
          <a:fontRef idx="minor">
            <a:schemeClr val="tx1"/>
          </a:fontRef>
        </p:style>
      </p:cxnSp>
      <p:sp>
        <p:nvSpPr>
          <p:cNvPr id="182" name="TextBox 181"/>
          <p:cNvSpPr txBox="1"/>
          <p:nvPr/>
        </p:nvSpPr>
        <p:spPr>
          <a:xfrm>
            <a:off x="457200" y="6025895"/>
            <a:ext cx="2194560" cy="274320"/>
          </a:xfrm>
          <a:prstGeom prst="rect">
            <a:avLst/>
          </a:prstGeom>
          <a:noFill/>
        </p:spPr>
        <p:txBody>
          <a:bodyPr wrap="square" lIns="0" rIns="0" tIns="0" bIns="0" anchor="ctr" rtlCol="0"/>
          <a:lstStyle/>
          <a:p>
            <a:pPr marL="0" indent="0">
              <a:buNone/>
            </a:pPr>
            <a:r>
              <a:rPr sz="850" b="1" lang="en-US" dirty="0">
                <a:solidFill>
                  <a:srgbClr val="5B6B70"/>
                </a:solidFill>
                <a:latin typeface="Yu Gothic" pitchFamily="34" charset="0"/>
                <a:ea typeface="Yu Gothic" pitchFamily="34" charset="-122"/>
                <a:cs typeface="Yu Gothic" pitchFamily="34" charset="-120"/>
              </a:rPr>
              <a:t>円の大きさ＝「主」の関係の件数</a:t>
            </a:r>
          </a:p>
        </p:txBody>
      </p:sp>
      <p:sp>
        <p:nvSpPr>
          <p:cNvPr id="183" name="Oval 182"/>
          <p:cNvSpPr/>
          <p:nvPr/>
        </p:nvSpPr>
        <p:spPr>
          <a:xfrm>
            <a:off x="2651760" y="6101888"/>
            <a:ext cx="122335" cy="122335"/>
          </a:xfrm>
          <a:prstGeom prst="ellipse">
            <a:avLst/>
          </a:prstGeom>
          <a:solidFill>
            <a:srgbClr val="5B6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2819815" y="6025895"/>
            <a:ext cx="365760" cy="274320"/>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1</a:t>
            </a:r>
          </a:p>
        </p:txBody>
      </p:sp>
      <p:sp>
        <p:nvSpPr>
          <p:cNvPr id="185" name="Oval 184"/>
          <p:cNvSpPr/>
          <p:nvPr/>
        </p:nvSpPr>
        <p:spPr>
          <a:xfrm>
            <a:off x="3231295" y="6077142"/>
            <a:ext cx="171827" cy="171827"/>
          </a:xfrm>
          <a:prstGeom prst="ellipse">
            <a:avLst/>
          </a:prstGeom>
          <a:solidFill>
            <a:srgbClr val="5B6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3448843" y="6025895"/>
            <a:ext cx="365760" cy="274320"/>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5</a:t>
            </a:r>
          </a:p>
        </p:txBody>
      </p:sp>
      <p:sp>
        <p:nvSpPr>
          <p:cNvPr id="187" name="Oval 186"/>
          <p:cNvSpPr/>
          <p:nvPr/>
        </p:nvSpPr>
        <p:spPr>
          <a:xfrm>
            <a:off x="3860323" y="6058599"/>
            <a:ext cx="208912" cy="208912"/>
          </a:xfrm>
          <a:prstGeom prst="ellipse">
            <a:avLst/>
          </a:prstGeom>
          <a:solidFill>
            <a:srgbClr val="5B6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4114956" y="6025895"/>
            <a:ext cx="365760" cy="274320"/>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10</a:t>
            </a:r>
          </a:p>
        </p:txBody>
      </p:sp>
      <p:sp>
        <p:nvSpPr>
          <p:cNvPr id="189" name="Oval 188"/>
          <p:cNvSpPr/>
          <p:nvPr/>
        </p:nvSpPr>
        <p:spPr>
          <a:xfrm>
            <a:off x="4526436" y="6032376"/>
            <a:ext cx="261359" cy="261359"/>
          </a:xfrm>
          <a:prstGeom prst="ellipse">
            <a:avLst/>
          </a:prstGeom>
          <a:solidFill>
            <a:srgbClr val="5B6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4833515" y="6025895"/>
            <a:ext cx="365760" cy="274320"/>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20</a:t>
            </a:r>
          </a:p>
        </p:txBody>
      </p:sp>
      <p:sp>
        <p:nvSpPr>
          <p:cNvPr id="191" name="Rounded Rectangle 190"/>
          <p:cNvSpPr/>
          <p:nvPr/>
        </p:nvSpPr>
        <p:spPr>
          <a:xfrm>
            <a:off x="5336435" y="6089903"/>
            <a:ext cx="457200" cy="146304"/>
          </a:xfrm>
          <a:prstGeom prst="roundRect">
            <a:avLst>
              <a:gd name="adj" fmla="val 50000"/>
            </a:avLst>
          </a:prstGeom>
          <a:solidFill>
            <a:srgbClr val="5B6B70">
              <a:alpha val="22000"/>
            </a:srgbClr>
          </a:solidFill>
          <a:ln w="12700">
            <a:solidFill>
              <a:srgbClr val="5B6B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TextBox 191"/>
          <p:cNvSpPr txBox="1"/>
          <p:nvPr/>
        </p:nvSpPr>
        <p:spPr>
          <a:xfrm>
            <a:off x="5866787" y="6025895"/>
            <a:ext cx="5029200" cy="274320"/>
          </a:xfrm>
          <a:prstGeom prst="rect">
            <a:avLst/>
          </a:prstGeom>
          <a:noFill/>
        </p:spPr>
        <p:txBody>
          <a:bodyPr wrap="square" lIns="0" rIns="0" tIns="0" bIns="0" anchor="ctr" rtlCol="0"/>
          <a:lstStyle/>
          <a:p>
            <a:pPr marL="0" indent="0">
              <a:buNone/>
            </a:pPr>
            <a:r>
              <a:rPr sz="850" b="0" lang="en-US" dirty="0">
                <a:solidFill>
                  <a:srgbClr val="5B6B70"/>
                </a:solidFill>
                <a:latin typeface="Yu Gothic" pitchFamily="34" charset="0"/>
                <a:ea typeface="Yu Gothic" pitchFamily="34" charset="-122"/>
                <a:cs typeface="Yu Gothic" pitchFamily="34" charset="-120"/>
              </a:rPr>
              <a:t>色の枠＝その領域で、そのアプリケーションが支える能力が「主」として使われる段階の範囲</a:t>
            </a:r>
          </a:p>
        </p:txBody>
      </p:sp>
      <p:sp>
        <p:nvSpPr>
          <p:cNvPr id="193" name="TextBox 192"/>
          <p:cNvSpPr txBox="1"/>
          <p:nvPr/>
        </p:nvSpPr>
        <p:spPr>
          <a:xfrm>
            <a:off x="457200" y="6336791"/>
            <a:ext cx="11274552" cy="365760"/>
          </a:xfrm>
          <a:prstGeom prst="rect">
            <a:avLst/>
          </a:prstGeom>
          <a:noFill/>
        </p:spPr>
        <p:txBody>
          <a:bodyPr wrap="square" lIns="0" rIns="0" tIns="0" bIns="0" anchor="t" rtlCol="0"/>
          <a:lstStyle/>
          <a:p>
            <a:pPr marL="0" indent="0">
              <a:buNone/>
            </a:pPr>
            <a:r>
              <a:rPr sz="800" b="0" lang="en-US" dirty="0">
                <a:solidFill>
                  <a:srgbClr val="5B6B70"/>
                </a:solidFill>
                <a:latin typeface="Yu Gothic" pitchFamily="34" charset="0"/>
                <a:ea typeface="Yu Gothic" pitchFamily="34" charset="-122"/>
                <a:cs typeface="Yu Gothic" pitchFamily="34" charset="-120"/>
              </a:rPr>
              <a:t>アプリケーションは「ケイパビリティ×アプリケーション」シートの●（主に支える）、段階は「VS×ケイパビリティ関係」シートの「主」の関係から求めた。範囲は最初と最後の段階を結んだもので、間の段階で使わない場合も含む。共通基盤のeDMSは、特定の段階に「主」の関係を付けていないため枠がない。製品は「アプリケーション×製品」シートの●（主に対応する）から求め、製品がないアプリケーション（ELN・MES・ERP）は種類名のまま表示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Target-to-Patient バリューチェーン</dc:title>
  <dc:subject>PptxGenJS Presentation</dc:subject>
  <dc:creator>PptxGenJS</dc:creator>
  <cp:lastModifiedBy>PptxGenJS</cp:lastModifiedBy>
  <cp:revision>1</cp:revision>
  <dcterms:created xsi:type="dcterms:W3CDTF">2026-09-19T08:44:48Z</dcterms:created>
  <dcterms:modified xsi:type="dcterms:W3CDTF">2026-09-19T08:44:48Z</dcterms:modified>
</cp:coreProperties>
</file>