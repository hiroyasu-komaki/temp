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前提とデータソースを確認したうえで、第1部でバリューストリーム、第2部でケイパビリティマップ、第3部でアプリケーションとデータのマップを示す。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前提が変わる場合（海外拠点、特定業種の規制など）は、日本の制度・商慣行に固有の項目（★）と法令名を見直す必要がある。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需要特定・購買申請：事業部門の需要を把握して仕様にまとめ、予算と職務権限に基づいて購買申請を承認する段階</a:t>
            </a:r>
          </a:p>
          <a:p>
            <a:r>
              <a:t>サプライヤー選定・見積：候補サプライヤーを探して審査し、見積・提案を比較・交渉して発注先を決める段階</a:t>
            </a:r>
          </a:p>
          <a:p>
            <a:r>
              <a:t>契約締結・発注：購買契約を結び、取引条件を明示した発注書を送って、受注の確認と納期を管理する段階</a:t>
            </a:r>
          </a:p>
          <a:p>
            <a:r>
              <a:t>受入・検収：納品物を受け入れて数量・品質を確認し、物品・役務を検収して、在庫・資産として計上する段階</a:t>
            </a:r>
          </a:p>
          <a:p>
            <a:r>
              <a:t>請求照合・支払決済：請求書を受け取ってインボイスの要件と発注・検収との一致を確認し、期日どおりに支払って、債務・税務・証憑を処理する段階</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調達戦略・ガバナンス（戦略）：支出の実態から調達の方針とカテゴリ戦略を定め、購買規程と取引の適正化で調達全体を統制する能力</a:t>
            </a:r>
          </a:p>
          <a:p>
            <a:r>
              <a:t>調達・購買管理（コア）：需要を購買申請にまとめ、サプライヤーを選び、契約を結び、発注するまでを管理する能力</a:t>
            </a:r>
          </a:p>
          <a:p>
            <a:r>
              <a:t>受入・ロジスティクス（コア）：納品物を受け入れて検査・検収し、在庫や資産として計上する能力</a:t>
            </a:r>
          </a:p>
          <a:p>
            <a:r>
              <a:t>財務・債務管理（コア）：請求書を受け取って照合し、期日どおりに支払い、債務と税務を正しく処理する能力</a:t>
            </a:r>
          </a:p>
          <a:p>
            <a:r>
              <a:t>サプライヤー管理（コア）：サプライヤーを審査・登録し、評価と関係づくりを行い、リスクを管理する能力</a:t>
            </a:r>
          </a:p>
          <a:p>
            <a:r>
              <a:t>調達基盤（支援）：調達のマスタ・データ・分析と内部統制の基盤を提供する能力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ケイパビリティL2（18件）×VS L2（5段階）。●の大きさは主の関係の件数、○は支援のみ。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購買管理（ERP購買モジュール（MM））：購買申請・発注・納期・受入の記録と、購買の実績を管理する</a:t>
            </a:r>
          </a:p>
          <a:p>
            <a:r>
              <a:t>カタログ購買（Eプロキュアメント／購買サイト）：カタログから選んで申請・発注する（間接材）</a:t>
            </a:r>
          </a:p>
          <a:p>
            <a:r>
              <a:t>ソーシング・サプライヤー管理（SRM（電子見積・電子入札））：RFI・RFP・RFQ、見積の比較、サプライヤーの評価を管理する</a:t>
            </a:r>
          </a:p>
          <a:p>
            <a:r>
              <a:t>サプライヤーポータル（サプライヤーポータル／EDI）：発注・請書・納期回答・出荷通知・請求をサプライヤーとやりとりする</a:t>
            </a:r>
          </a:p>
          <a:p>
            <a:r>
              <a:t>契約管理（CLM）：契約書の作成・審査・承認・保管と、期限・更新を管理する</a:t>
            </a:r>
          </a:p>
          <a:p>
            <a:r>
              <a:t>電子契約（電子契約サービス）：契約・発注書を電子で締結・交付・保管する</a:t>
            </a:r>
          </a:p>
          <a:p>
            <a:r>
              <a:t>ワークフロー（電子承認（稟議））：購買申請・稟議・支払などを職務権限に沿って承認する</a:t>
            </a:r>
          </a:p>
          <a:p>
            <a:r>
              <a:t>生産管理（MRP）：生産計画から所要量を計算し、購買依頼を作る</a:t>
            </a:r>
          </a:p>
          <a:p>
            <a:r>
              <a:t>倉庫管理（WMS）：入荷・受入・入庫・在庫を管理する</a:t>
            </a:r>
          </a:p>
          <a:p>
            <a:r>
              <a:t>受入検査・品質管理（QMS（受入検査））：受入検査の基準・結果と不適合を管理する</a:t>
            </a:r>
          </a:p>
          <a:p>
            <a:r>
              <a:t>固定資産管理（固定資産システム）：固定資産の登録と台帳を管理する</a:t>
            </a:r>
          </a:p>
          <a:p>
            <a:r>
              <a:t>請求書受領（請求書受領クラウド（AI-OCR／Peppol））：請求書を受け取って電子化し、インボイスの要件を確認する</a:t>
            </a:r>
          </a:p>
          <a:p>
            <a:r>
              <a:t>財務会計・債務管理（ERP会計モジュール（FI／AP））：照合・債務計上・支払予定・仕訳・消費税の区分を管理する</a:t>
            </a:r>
          </a:p>
          <a:p>
            <a:r>
              <a:t>支払・資金管理（ファームバンキング／資金管理）：振込データの作成・送信と資金の管理を行う</a:t>
            </a:r>
          </a:p>
          <a:p>
            <a:r>
              <a:t>電子帳簿保存（文書保存（電帳法対応））：証憑を電帳法の要件（検索・改ざん防止）に沿って保存する</a:t>
            </a:r>
          </a:p>
          <a:p>
            <a:r>
              <a:t>取引先審査（与信・反社チェックサービス）：与信・反社会的勢力・インボイス登録番号の照会を行う</a:t>
            </a:r>
          </a:p>
          <a:p>
            <a:r>
              <a:t>サプライヤーリスク管理（リスクモニタリング）：サプライヤーの信用・供給・ESGのリスクを監視する</a:t>
            </a:r>
          </a:p>
          <a:p>
            <a:r>
              <a:t>マスタデータ管理（MDM）：品目・取引先のマスタを統合し、品質を管理する</a:t>
            </a:r>
          </a:p>
          <a:p>
            <a:r>
              <a:t>調達分析（支出分析BI）：調達データを集約し、支出分析・レポートを提供する</a:t>
            </a:r>
          </a:p>
          <a:p>
            <a:r>
              <a:t>ID・アクセス管理（IAM／GRC）：職務分掌に沿って権限を付与・点検する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購買管理（ERP購買モジュール（MM））：調達・購買管理、受入・ロジスティクス</a:t>
            </a:r>
          </a:p>
          <a:p>
            <a:r>
              <a:t>ソーシング・サプライヤー管理（SRM（電子見積・電子入札））：調達・購買管理、サプライヤー管理</a:t>
            </a:r>
          </a:p>
          <a:p>
            <a:r>
              <a:t>マスタデータ管理（MDM）：サプライヤー管理、調達基盤</a:t>
            </a:r>
          </a:p>
          <a:p>
            <a:r>
              <a:t>調達分析（支出分析BI）：調達戦略・ガバナンス、調達基盤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サプライヤーマスタ：取引先の名称・所在地・口座・支払条件・インボイス登録番号・取適法等の区分</a:t>
            </a:r>
          </a:p>
          <a:p>
            <a:r>
              <a:t>購買規程・職務権限：購買規程、金額別の承認者（職務権限表）、稟議の基準、調達方針</a:t>
            </a:r>
          </a:p>
          <a:p>
            <a:r>
              <a:t>購買計画・予算：年間の購買計画と、部門・費目別の購買予算および予算の引当状況</a:t>
            </a:r>
          </a:p>
          <a:p>
            <a:r>
              <a:t>支出分析：品目・サプライヤー・部門別の支出と、集約・削減の余地</a:t>
            </a:r>
          </a:p>
          <a:p>
            <a:r>
              <a:t>カテゴリ戦略：カテゴリごとの調達方針・サプライヤー数・契約形態</a:t>
            </a:r>
          </a:p>
          <a:p>
            <a:r>
              <a:t>所要量・補充依頼：生産計画・在庫から計算した必要量と補充の依頼（MRP・補充点）</a:t>
            </a:r>
          </a:p>
          <a:p>
            <a:r>
              <a:t>購買仕様書：品質・数量・納期・作業範囲（SOW）などの要求事項</a:t>
            </a:r>
          </a:p>
          <a:p>
            <a:r>
              <a:t>購買申請（PR）：品目・数量・希望納期・予算・申請者と、承認・稟議の記録</a:t>
            </a:r>
          </a:p>
          <a:p>
            <a:r>
              <a:t>候補サプライヤー情報（RFI）：情報提供依頼（RFI）の回答と候補サプライヤーの情報</a:t>
            </a:r>
          </a:p>
          <a:p>
            <a:r>
              <a:t>見積依頼書（RFP・RFQ）：提案依頼書・見積依頼書と評価基準</a:t>
            </a:r>
          </a:p>
          <a:p>
            <a:r>
              <a:t>見積書・提案書：サプライヤーから受け取った見積書・提案書</a:t>
            </a:r>
          </a:p>
          <a:p>
            <a:r>
              <a:t>見積比較・選定記録：見積・提案の比較評価、発注先の選定理由と承認</a:t>
            </a:r>
          </a:p>
          <a:p>
            <a:r>
              <a:t>価格交渉・協議記録：価格交渉の経緯と、価格転嫁の協議の記録</a:t>
            </a:r>
          </a:p>
          <a:p>
            <a:r>
              <a:t>取引先審査記録：与信・反社チェック・インボイス登録の確認の結果</a:t>
            </a:r>
          </a:p>
          <a:p>
            <a:r>
              <a:t>取引区分判定：取適法・フリーランス法の対象か否かの判定と根拠（資本金・従業員数・取引内容）</a:t>
            </a:r>
          </a:p>
          <a:p>
            <a:r>
              <a:t>サプライヤー評価：品質・納期・価格・対応の評価結果と改善要請</a:t>
            </a:r>
          </a:p>
          <a:p>
            <a:r>
              <a:t>サプライヤーリスク情報：経営・供給・地政学・ESGのリスクと、代替策・BCP</a:t>
            </a:r>
          </a:p>
          <a:p>
            <a:r>
              <a:t>契約書：基本契約・個別契約・秘密保持契約と、期限・更新・印紙税の情報</a:t>
            </a:r>
          </a:p>
          <a:p>
            <a:r>
              <a:t>単価契約・カタログ：契約単価・価格表・購買カタログ</a:t>
            </a:r>
          </a:p>
          <a:p>
            <a:r>
              <a:t>発注書（PO）：品目・数量・単価・納期・支払条件と、取適法等の明示事項</a:t>
            </a:r>
          </a:p>
          <a:p>
            <a:r>
              <a:t>注文請書・納期回答：サプライヤーの受注確認と納期回答、発注の変更・取消の記録</a:t>
            </a:r>
          </a:p>
          <a:p>
            <a:r>
              <a:t>取引適正化点検記録：支払遅延・減額・返品・価格協議などの点検結果と是正</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品目マスタ：品目・サービスの分類、品目コード、単位、勘定科目との対応</a:t>
            </a:r>
          </a:p>
          <a:p>
            <a:r>
              <a:t>個人事業者の番号情報：個人の報酬受領者のマイナンバー（支払調書の作成に使う）</a:t>
            </a:r>
          </a:p>
          <a:p>
            <a:r>
              <a:t>入荷予定：発注と納期回答から作る入荷の予定、事前出荷通知</a:t>
            </a:r>
          </a:p>
          <a:p>
            <a:r>
              <a:t>納品書：サプライヤーが納品時に渡す品目・数量の記録</a:t>
            </a:r>
          </a:p>
          <a:p>
            <a:r>
              <a:t>受入記録：受け入れた品目・数量・日時と受入検査の結果</a:t>
            </a:r>
          </a:p>
          <a:p>
            <a:r>
              <a:t>検収記録：物品・役務の検収の判定と検収日（検収書）</a:t>
            </a:r>
          </a:p>
          <a:p>
            <a:r>
              <a:t>返品・不適合記録：不適合の内容と、返品・再納品・値引きの協議と結果</a:t>
            </a:r>
          </a:p>
          <a:p>
            <a:r>
              <a:t>在庫：入庫した物品の在庫（拠点・ロケーション別）</a:t>
            </a:r>
          </a:p>
          <a:p>
            <a:r>
              <a:t>固定資産台帳：資産番号・取得価額・耐用年数・設置場所</a:t>
            </a:r>
          </a:p>
          <a:p>
            <a:r>
              <a:t>請求書：受け取った請求書（適格請求書の記載事項・登録番号を含む）と電子化データ</a:t>
            </a:r>
          </a:p>
          <a:p>
            <a:r>
              <a:t>照合結果・差異記録：発注・検収・請求の照合結果と、差異の原因・解消</a:t>
            </a:r>
          </a:p>
          <a:p>
            <a:r>
              <a:t>支払予定：締め日・支払期日・支払額の予定と承認</a:t>
            </a:r>
          </a:p>
          <a:p>
            <a:r>
              <a:t>支払データ：振込データ（全銀形式）と支払の結果・支払通知</a:t>
            </a:r>
          </a:p>
          <a:p>
            <a:r>
              <a:t>買掛金（債務）：取引先別の債務残高と、計上・消込の履歴</a:t>
            </a:r>
          </a:p>
          <a:p>
            <a:r>
              <a:t>会計仕訳：債務・費用・資産・税の仕訳（税区分・経過措置の区分を含む）</a:t>
            </a:r>
          </a:p>
          <a:p>
            <a:r>
              <a:t>源泉徴収・支払調書：個人への報酬の源泉徴収額・納付と支払調書</a:t>
            </a:r>
          </a:p>
          <a:p>
            <a:r>
              <a:t>保存証憑：契約書・発注書・納品書・請求書などの証憑と、検索できる保存の記録</a:t>
            </a:r>
          </a:p>
          <a:p>
            <a:r>
              <a:t>調達実績レポート：購買額・件数・リードタイム・削減効果・規程遵守の指標</a:t>
            </a:r>
          </a:p>
          <a:p>
            <a:r>
              <a:t>職務分掌・権限設定：職務分掌の定義と、システムの権限付与・見直しの記録</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件数はxlsxから集計。段階の番号：1 需要特定・購買申請、2 サプライヤー選定・見積、3 契約締結・発注、4 受入・検収、5 請求照合・支払決済。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調達戦略・カテゴリ管理：アプリ2、データ3</a:t>
            </a:r>
          </a:p>
          <a:p>
            <a:r>
              <a:t>調達ガバナンス・取引適正化★：アプリ0、データ4</a:t>
            </a:r>
          </a:p>
          <a:p>
            <a:r>
              <a:t>需要・購買申請管理：アプリ5、データ11</a:t>
            </a:r>
          </a:p>
          <a:p>
            <a:r>
              <a:t>ソーシング：アプリ2、データ11</a:t>
            </a:r>
          </a:p>
          <a:p>
            <a:r>
              <a:t>契約管理★：アプリ2、データ5</a:t>
            </a:r>
          </a:p>
          <a:p>
            <a:r>
              <a:t>発注管理★：アプリ4、データ11</a:t>
            </a:r>
          </a:p>
          <a:p>
            <a:r>
              <a:t>入荷・受入管理：アプリ3、データ5</a:t>
            </a:r>
          </a:p>
          <a:p>
            <a:r>
              <a:t>検収管理★：アプリ3、データ10</a:t>
            </a:r>
          </a:p>
          <a:p>
            <a:r>
              <a:t>在庫・資産計上：アプリ3、データ1</a:t>
            </a:r>
          </a:p>
          <a:p>
            <a:r>
              <a:t>請求書受領・照合★：アプリ4、データ3</a:t>
            </a:r>
          </a:p>
          <a:p>
            <a:r>
              <a:t>支払管理★：アプリ4、データ3</a:t>
            </a:r>
          </a:p>
          <a:p>
            <a:r>
              <a:t>債務会計・税務★：アプリ4、データ5</a:t>
            </a:r>
          </a:p>
          <a:p>
            <a:r>
              <a:t>サプライヤー登録・審査★：アプリ3、データ13</a:t>
            </a:r>
          </a:p>
          <a:p>
            <a:r>
              <a:t>サプライヤー評価・関係管理：アプリ2、データ2</a:t>
            </a:r>
          </a:p>
          <a:p>
            <a:r>
              <a:t>サプライヤーリスク管理：アプリ1、データ1</a:t>
            </a:r>
          </a:p>
          <a:p>
            <a:r>
              <a:t>調達マスタ・データ管理：アプリ2、データ11</a:t>
            </a:r>
          </a:p>
          <a:p>
            <a:r>
              <a:t>調達分析・レポーティング：アプリ2、データ2</a:t>
            </a:r>
          </a:p>
          <a:p>
            <a:r>
              <a:t>内部統制・監査対応：アプリ1、データ0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作成時点：2026年9月。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gov-online.go.jp/article/202511/entry-9983.html" TargetMode="External"/><Relationship Id="rId3" Type="http://schemas.openxmlformats.org/officeDocument/2006/relationships/hyperlink" Target="https://www.jftc.go.jp/file/toriteki_leaflet.pdf" TargetMode="External"/><Relationship Id="rId4" Type="http://schemas.openxmlformats.org/officeDocument/2006/relationships/hyperlink" Target="https://www.nta.go.jp/taxes/shiraberu/zeimokubetsu/shohi/keigenzeiritsu/invoice-review/index.htm" TargetMode="External"/><Relationship Id="rId5" Type="http://schemas.openxmlformats.org/officeDocument/2006/relationships/hyperlink" Target="https://sogyotecho.jp/inputtaxcredit-extension/" TargetMode="External"/><Relationship Id="rId6" Type="http://schemas.openxmlformats.org/officeDocument/2006/relationships/hyperlink" Target="https://learn.microsoft.com/en-us/dynamics365/guidance/business-processes/source-to-pay-areas" TargetMode="External"/><Relationship Id="rId7" Type="http://schemas.openxmlformats.org/officeDocument/2006/relationships/hyperlink" Target="https://www.apqc.org/process-frameworks" TargetMode="Externa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E35"/>
        </a:solidFill>
        <a:effectLst/>
      </p:bgPr>
    </p:bg>
    <p:spTree>
      <p:nvGrpSpPr>
        <p:cNvPr id="1" name=""/>
        <p:cNvGrpSpPr/>
        <p:nvPr/>
      </p:nvGrpSpPr>
      <p:grpSpPr/>
      <p:sp>
        <p:nvSpPr>
          <p:cNvPr id="2" name="TextBox 1"/>
          <p:cNvSpPr txBox="1"/>
          <p:nvPr/>
        </p:nvSpPr>
        <p:spPr>
          <a:xfrm>
            <a:off x="731520" y="1783080"/>
            <a:ext cx="10515600" cy="1005840"/>
          </a:xfrm>
          <a:prstGeom prst="rect">
            <a:avLst/>
          </a:prstGeom>
          <a:noFill/>
        </p:spPr>
        <p:txBody>
          <a:bodyPr wrap="square" lIns="0" rIns="0" tIns="0" bIns="0" anchor="ctr">
            <a:spAutoFit/>
          </a:bodyPr>
          <a:lstStyle/>
          <a:p>
            <a:pPr algn="l"/>
            <a:r>
              <a:rPr sz="4800" b="1">
                <a:solidFill>
                  <a:srgbClr val="FFFFFF"/>
                </a:solidFill>
                <a:latin typeface="Yu Gothic"/>
                <a:ea typeface="Yu Gothic"/>
                <a:cs typeface="Yu Gothic"/>
              </a:rPr>
              <a:t>Procure-to-Pay</a:t>
            </a:r>
          </a:p>
        </p:txBody>
      </p:sp>
      <p:sp>
        <p:nvSpPr>
          <p:cNvPr id="3" name="TextBox 2"/>
          <p:cNvSpPr txBox="1"/>
          <p:nvPr/>
        </p:nvSpPr>
        <p:spPr>
          <a:xfrm>
            <a:off x="731520" y="2880360"/>
            <a:ext cx="9601200" cy="822960"/>
          </a:xfrm>
          <a:prstGeom prst="rect">
            <a:avLst/>
          </a:prstGeom>
          <a:noFill/>
        </p:spPr>
        <p:txBody>
          <a:bodyPr wrap="square" lIns="0" rIns="0" tIns="0" bIns="0" anchor="t">
            <a:spAutoFit/>
          </a:bodyPr>
          <a:lstStyle/>
          <a:p>
            <a:pPr algn="l"/>
            <a:r>
              <a:rPr sz="1800" b="0">
                <a:solidFill>
                  <a:srgbClr val="D5DEE0"/>
                </a:solidFill>
                <a:latin typeface="Yu Gothic"/>
                <a:ea typeface="Yu Gothic"/>
                <a:cs typeface="Yu Gothic"/>
              </a:rPr>
              <a:t>事業部門の需要を購買申請にまとめ、サプライヤーを選定して契約・発注し、受入・検収を経て、請求を照合して支払うまで</a:t>
            </a:r>
          </a:p>
        </p:txBody>
      </p:sp>
      <p:sp>
        <p:nvSpPr>
          <p:cNvPr id="4" name="TextBox 3"/>
          <p:cNvSpPr txBox="1"/>
          <p:nvPr/>
        </p:nvSpPr>
        <p:spPr>
          <a:xfrm>
            <a:off x="731520" y="3840480"/>
            <a:ext cx="9601200" cy="365760"/>
          </a:xfrm>
          <a:prstGeom prst="rect">
            <a:avLst/>
          </a:prstGeom>
          <a:noFill/>
        </p:spPr>
        <p:txBody>
          <a:bodyPr wrap="square" lIns="0" rIns="0" tIns="0" bIns="0" anchor="t">
            <a:spAutoFit/>
          </a:bodyPr>
          <a:lstStyle/>
          <a:p>
            <a:pPr algn="l"/>
            <a:r>
              <a:rPr sz="1300" b="0">
                <a:solidFill>
                  <a:srgbClr val="A9BCC1"/>
                </a:solidFill>
                <a:latin typeface="Yu Gothic"/>
                <a:ea typeface="Yu Gothic"/>
                <a:cs typeface="Yu Gothic"/>
              </a:rPr>
              <a:t>日本の事業会社（直接材・間接材・役務）／日本の法令・制度基準（取適法・インボイス・電帳法）</a:t>
            </a:r>
          </a:p>
        </p:txBody>
      </p:sp>
      <p:sp>
        <p:nvSpPr>
          <p:cNvPr id="5" name="Pentagon 4"/>
          <p:cNvSpPr/>
          <p:nvPr/>
        </p:nvSpPr>
        <p:spPr>
          <a:xfrm>
            <a:off x="731520" y="5120640"/>
            <a:ext cx="530352" cy="237744"/>
          </a:xfrm>
          <a:prstGeom prst="homePlate">
            <a:avLst/>
          </a:prstGeom>
          <a:solidFill>
            <a:srgbClr val="4B6A7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entagon 5"/>
          <p:cNvSpPr/>
          <p:nvPr/>
        </p:nvSpPr>
        <p:spPr>
          <a:xfrm>
            <a:off x="1298448" y="5120640"/>
            <a:ext cx="530352" cy="237744"/>
          </a:xfrm>
          <a:prstGeom prst="homePlate">
            <a:avLst/>
          </a:prstGeom>
          <a:solidFill>
            <a:srgbClr val="4B6A7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Pentagon 6"/>
          <p:cNvSpPr/>
          <p:nvPr/>
        </p:nvSpPr>
        <p:spPr>
          <a:xfrm>
            <a:off x="1865376" y="5120640"/>
            <a:ext cx="530352" cy="237744"/>
          </a:xfrm>
          <a:prstGeom prst="homePlate">
            <a:avLst/>
          </a:prstGeom>
          <a:solidFill>
            <a:srgbClr val="4B6A7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Pentagon 7"/>
          <p:cNvSpPr/>
          <p:nvPr/>
        </p:nvSpPr>
        <p:spPr>
          <a:xfrm>
            <a:off x="2432304" y="5120640"/>
            <a:ext cx="530352" cy="237744"/>
          </a:xfrm>
          <a:prstGeom prst="homePlate">
            <a:avLst/>
          </a:prstGeom>
          <a:solidFill>
            <a:srgbClr val="6E8B9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ntagon 8"/>
          <p:cNvSpPr/>
          <p:nvPr/>
        </p:nvSpPr>
        <p:spPr>
          <a:xfrm>
            <a:off x="2999232" y="5120640"/>
            <a:ext cx="530352" cy="237744"/>
          </a:xfrm>
          <a:prstGeom prst="homePlate">
            <a:avLst/>
          </a:prstGeom>
          <a:solidFill>
            <a:srgbClr val="6E8B9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前提条件とデータソース</a:t>
            </a:r>
          </a:p>
        </p:txBody>
      </p:sp>
      <p:sp>
        <p:nvSpPr>
          <p:cNvPr id="3" name="TextBox 2"/>
          <p:cNvSpPr txBox="1"/>
          <p:nvPr/>
        </p:nvSpPr>
        <p:spPr>
          <a:xfrm>
            <a:off x="457200" y="960120"/>
            <a:ext cx="914400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本資料は、次の前提で定義したマップ一式の全体像を図示したものです。</a:t>
            </a:r>
          </a:p>
        </p:txBody>
      </p:sp>
      <p:sp>
        <p:nvSpPr>
          <p:cNvPr id="4" name="TextBox 3"/>
          <p:cNvSpPr txBox="1"/>
          <p:nvPr/>
        </p:nvSpPr>
        <p:spPr>
          <a:xfrm>
            <a:off x="457200" y="1600200"/>
            <a:ext cx="5486400" cy="320040"/>
          </a:xfrm>
          <a:prstGeom prst="rect">
            <a:avLst/>
          </a:prstGeom>
          <a:noFill/>
        </p:spPr>
        <p:txBody>
          <a:bodyPr wrap="square" lIns="0" rIns="0" tIns="0" bIns="0" anchor="ctr">
            <a:spAutoFit/>
          </a:bodyPr>
          <a:lstStyle/>
          <a:p>
            <a:pPr algn="l"/>
            <a:r>
              <a:rPr sz="1600" b="1">
                <a:solidFill>
                  <a:srgbClr val="2F4F5A"/>
                </a:solidFill>
                <a:latin typeface="Yu Gothic"/>
                <a:ea typeface="Yu Gothic"/>
                <a:cs typeface="Yu Gothic"/>
              </a:rPr>
              <a:t>前提条件</a:t>
            </a:r>
          </a:p>
        </p:txBody>
      </p:sp>
      <p:sp>
        <p:nvSpPr>
          <p:cNvPr id="5" name="Rectangle 4"/>
          <p:cNvSpPr/>
          <p:nvPr/>
        </p:nvSpPr>
        <p:spPr>
          <a:xfrm>
            <a:off x="457200" y="201168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201168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対象企業</a:t>
            </a:r>
          </a:p>
        </p:txBody>
      </p:sp>
      <p:sp>
        <p:nvSpPr>
          <p:cNvPr id="7" name="TextBox 6"/>
          <p:cNvSpPr txBox="1"/>
          <p:nvPr/>
        </p:nvSpPr>
        <p:spPr>
          <a:xfrm>
            <a:off x="2148840" y="201168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日本の事業会社（業種を限定しない一般的な想定）</a:t>
            </a:r>
          </a:p>
        </p:txBody>
      </p:sp>
      <p:sp>
        <p:nvSpPr>
          <p:cNvPr id="8" name="Rectangle 7"/>
          <p:cNvSpPr/>
          <p:nvPr/>
        </p:nvSpPr>
        <p:spPr>
          <a:xfrm>
            <a:off x="457200" y="297180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0080" y="297180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調達の対象</a:t>
            </a:r>
          </a:p>
        </p:txBody>
      </p:sp>
      <p:sp>
        <p:nvSpPr>
          <p:cNvPr id="10" name="TextBox 9"/>
          <p:cNvSpPr txBox="1"/>
          <p:nvPr/>
        </p:nvSpPr>
        <p:spPr>
          <a:xfrm>
            <a:off x="2148840" y="297180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直接材（原材料・部品）、間接材（消耗品・設備・IT）、役務（業務委託）</a:t>
            </a:r>
          </a:p>
        </p:txBody>
      </p:sp>
      <p:sp>
        <p:nvSpPr>
          <p:cNvPr id="11" name="Rectangle 10"/>
          <p:cNvSpPr/>
          <p:nvPr/>
        </p:nvSpPr>
        <p:spPr>
          <a:xfrm>
            <a:off x="457200" y="393192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080" y="393192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取引条件</a:t>
            </a:r>
          </a:p>
        </p:txBody>
      </p:sp>
      <p:sp>
        <p:nvSpPr>
          <p:cNvPr id="13" name="TextBox 12"/>
          <p:cNvSpPr txBox="1"/>
          <p:nvPr/>
        </p:nvSpPr>
        <p:spPr>
          <a:xfrm>
            <a:off x="2148840" y="393192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月末締め・振込払い。手形は使わない</a:t>
            </a:r>
          </a:p>
        </p:txBody>
      </p:sp>
      <p:sp>
        <p:nvSpPr>
          <p:cNvPr id="14" name="Rectangle 13"/>
          <p:cNvSpPr/>
          <p:nvPr/>
        </p:nvSpPr>
        <p:spPr>
          <a:xfrm>
            <a:off x="457200" y="4892040"/>
            <a:ext cx="6035040" cy="822960"/>
          </a:xfrm>
          <a:prstGeom prst="rect">
            <a:avLst/>
          </a:prstGeom>
          <a:solidFill>
            <a:srgbClr val="EEF2F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0080" y="4892040"/>
            <a:ext cx="1463040" cy="822960"/>
          </a:xfrm>
          <a:prstGeom prst="rect">
            <a:avLst/>
          </a:prstGeom>
          <a:noFill/>
        </p:spPr>
        <p:txBody>
          <a:bodyPr wrap="square" lIns="0" rIns="0" tIns="0" bIns="0" anchor="ctr">
            <a:spAutoFit/>
          </a:bodyPr>
          <a:lstStyle/>
          <a:p>
            <a:pPr algn="l"/>
            <a:r>
              <a:rPr sz="1300" b="1">
                <a:solidFill>
                  <a:srgbClr val="2F4F5A"/>
                </a:solidFill>
                <a:latin typeface="Yu Gothic"/>
                <a:ea typeface="Yu Gothic"/>
                <a:cs typeface="Yu Gothic"/>
              </a:rPr>
              <a:t>制度の基準</a:t>
            </a:r>
          </a:p>
        </p:txBody>
      </p:sp>
      <p:sp>
        <p:nvSpPr>
          <p:cNvPr id="16" name="TextBox 15"/>
          <p:cNvSpPr txBox="1"/>
          <p:nvPr/>
        </p:nvSpPr>
        <p:spPr>
          <a:xfrm>
            <a:off x="2148840" y="4892040"/>
            <a:ext cx="4206240" cy="822960"/>
          </a:xfrm>
          <a:prstGeom prst="rect">
            <a:avLst/>
          </a:prstGeom>
          <a:noFill/>
        </p:spPr>
        <p:txBody>
          <a:bodyPr wrap="square" lIns="0" rIns="0" tIns="0" bIns="0" anchor="ctr">
            <a:spAutoFit/>
          </a:bodyPr>
          <a:lstStyle/>
          <a:p>
            <a:pPr algn="l"/>
            <a:r>
              <a:rPr sz="1300" b="0">
                <a:solidFill>
                  <a:srgbClr val="1F2E35"/>
                </a:solidFill>
                <a:latin typeface="Yu Gothic"/>
                <a:ea typeface="Yu Gothic"/>
                <a:cs typeface="Yu Gothic"/>
              </a:rPr>
              <a:t>日本（取適法・フリーランス法・消費税法〔インボイス〕・電帳法・印紙税法・J-SOXほか）</a:t>
            </a:r>
          </a:p>
        </p:txBody>
      </p:sp>
      <p:sp>
        <p:nvSpPr>
          <p:cNvPr id="17" name="TextBox 16"/>
          <p:cNvSpPr txBox="1"/>
          <p:nvPr/>
        </p:nvSpPr>
        <p:spPr>
          <a:xfrm>
            <a:off x="6949440" y="1600200"/>
            <a:ext cx="4846320" cy="320040"/>
          </a:xfrm>
          <a:prstGeom prst="rect">
            <a:avLst/>
          </a:prstGeom>
          <a:noFill/>
        </p:spPr>
        <p:txBody>
          <a:bodyPr wrap="square" lIns="0" rIns="0" tIns="0" bIns="0" anchor="ctr">
            <a:spAutoFit/>
          </a:bodyPr>
          <a:lstStyle/>
          <a:p>
            <a:pPr algn="l"/>
            <a:r>
              <a:rPr sz="1600" b="1">
                <a:solidFill>
                  <a:srgbClr val="2F4F5A"/>
                </a:solidFill>
                <a:latin typeface="Yu Gothic"/>
                <a:ea typeface="Yu Gothic"/>
                <a:cs typeface="Yu Gothic"/>
              </a:rPr>
              <a:t>データソース（2026年9月時点）</a:t>
            </a:r>
          </a:p>
        </p:txBody>
      </p:sp>
      <p:sp>
        <p:nvSpPr>
          <p:cNvPr id="18" name="TextBox 17"/>
          <p:cNvSpPr txBox="1"/>
          <p:nvPr/>
        </p:nvSpPr>
        <p:spPr>
          <a:xfrm>
            <a:off x="6949440" y="2011680"/>
            <a:ext cx="4782312" cy="2377440"/>
          </a:xfrm>
          <a:prstGeom prst="rect">
            <a:avLst/>
          </a:prstGeom>
          <a:noFill/>
        </p:spPr>
        <p:txBody>
          <a:bodyPr wrap="square" lIns="0" rIns="0" tIns="0" bIns="0" anchor="t">
            <a:spAutoFit/>
          </a:bodyPr>
          <a:lstStyle/>
          <a:p>
            <a:pPr algn="l" marL="118872" indent="-118872">
              <a:spcAft>
                <a:spcPts val="300"/>
              </a:spcAft>
              <a:buFont typeface="Yu Gothic"/>
              <a:buChar char="・"/>
            </a:pPr>
            <a:r>
              <a:rPr sz="1100" b="0" u="sng">
                <a:solidFill>
                  <a:srgbClr val="2A78D6"/>
                </a:solidFill>
                <a:latin typeface="Yu Gothic"/>
                <a:ea typeface="Yu Gothic"/>
                <a:cs typeface="Yu Gothic"/>
                <a:hlinkClick r:id="rId2"/>
              </a:rPr>
              <a:t>政府広報オンライン – 下請法が「取適法」に（2026年1月施行）</a:t>
            </a:r>
          </a:p>
          <a:p>
            <a:pPr algn="l" marL="118872" indent="-118872">
              <a:spcAft>
                <a:spcPts val="300"/>
              </a:spcAft>
              <a:buFont typeface="Yu Gothic"/>
              <a:buChar char="・"/>
            </a:pPr>
            <a:r>
              <a:rPr sz="1100" b="0" u="sng">
                <a:solidFill>
                  <a:srgbClr val="2A78D6"/>
                </a:solidFill>
                <a:latin typeface="Yu Gothic"/>
                <a:ea typeface="Yu Gothic"/>
                <a:cs typeface="Yu Gothic"/>
                <a:hlinkClick r:id="rId3"/>
              </a:rPr>
              <a:t>公正取引委員会 – 取適法リーフレット</a:t>
            </a:r>
          </a:p>
          <a:p>
            <a:pPr algn="l" marL="118872" indent="-118872">
              <a:spcAft>
                <a:spcPts val="300"/>
              </a:spcAft>
              <a:buFont typeface="Yu Gothic"/>
              <a:buChar char="・"/>
            </a:pPr>
            <a:r>
              <a:rPr sz="1100" b="0" u="sng">
                <a:solidFill>
                  <a:srgbClr val="2A78D6"/>
                </a:solidFill>
                <a:latin typeface="Yu Gothic"/>
                <a:ea typeface="Yu Gothic"/>
                <a:cs typeface="Yu Gothic"/>
                <a:hlinkClick r:id="rId4"/>
              </a:rPr>
              <a:t>国税庁 – 令和8年度税制改正（インボイス制度の見直し）</a:t>
            </a:r>
          </a:p>
          <a:p>
            <a:pPr algn="l" marL="118872" indent="-118872">
              <a:spcAft>
                <a:spcPts val="300"/>
              </a:spcAft>
              <a:buFont typeface="Yu Gothic"/>
              <a:buChar char="・"/>
            </a:pPr>
            <a:r>
              <a:rPr sz="1100" b="0" u="sng">
                <a:solidFill>
                  <a:srgbClr val="2A78D6"/>
                </a:solidFill>
                <a:latin typeface="Yu Gothic"/>
                <a:ea typeface="Yu Gothic"/>
                <a:cs typeface="Yu Gothic"/>
                <a:hlinkClick r:id="rId5"/>
              </a:rPr>
              <a:t>創業手帳 – 仕入税額控除の経過措置の延長</a:t>
            </a:r>
          </a:p>
          <a:p>
            <a:pPr algn="l" marL="118872" indent="-118872">
              <a:spcAft>
                <a:spcPts val="300"/>
              </a:spcAft>
              <a:buFont typeface="Yu Gothic"/>
              <a:buChar char="・"/>
            </a:pPr>
            <a:r>
              <a:rPr sz="1100" b="0" u="sng">
                <a:solidFill>
                  <a:srgbClr val="2A78D6"/>
                </a:solidFill>
                <a:latin typeface="Yu Gothic"/>
                <a:ea typeface="Yu Gothic"/>
                <a:cs typeface="Yu Gothic"/>
                <a:hlinkClick r:id="rId6"/>
              </a:rPr>
              <a:t>Microsoft Learn – Source to pay business process areas</a:t>
            </a:r>
          </a:p>
          <a:p>
            <a:pPr algn="l" marL="118872" indent="-118872">
              <a:spcAft>
                <a:spcPts val="300"/>
              </a:spcAft>
              <a:buFont typeface="Yu Gothic"/>
              <a:buChar char="・"/>
            </a:pPr>
            <a:r>
              <a:rPr sz="1100" b="0" u="sng">
                <a:solidFill>
                  <a:srgbClr val="2A78D6"/>
                </a:solidFill>
                <a:latin typeface="Yu Gothic"/>
                <a:ea typeface="Yu Gothic"/>
                <a:cs typeface="Yu Gothic"/>
                <a:hlinkClick r:id="rId7"/>
              </a:rPr>
              <a:t>APQC – Process Classification Framework（Source/Procure）</a:t>
            </a:r>
          </a:p>
        </p:txBody>
      </p:sp>
      <p:sp>
        <p:nvSpPr>
          <p:cNvPr id="19" name="TextBox 18"/>
          <p:cNvSpPr txBox="1"/>
          <p:nvPr/>
        </p:nvSpPr>
        <p:spPr>
          <a:xfrm>
            <a:off x="6949440" y="4572000"/>
            <a:ext cx="4572000" cy="320040"/>
          </a:xfrm>
          <a:prstGeom prst="rect">
            <a:avLst/>
          </a:prstGeom>
          <a:noFill/>
        </p:spPr>
        <p:txBody>
          <a:bodyPr wrap="square" lIns="0" rIns="0" tIns="0" bIns="0" anchor="ctr">
            <a:spAutoFit/>
          </a:bodyPr>
          <a:lstStyle/>
          <a:p>
            <a:pPr algn="l"/>
            <a:r>
              <a:rPr sz="1600" b="1">
                <a:solidFill>
                  <a:srgbClr val="2F4F5A"/>
                </a:solidFill>
                <a:latin typeface="Yu Gothic"/>
                <a:ea typeface="Yu Gothic"/>
                <a:cs typeface="Yu Gothic"/>
              </a:rPr>
              <a:t>読み方</a:t>
            </a:r>
          </a:p>
        </p:txBody>
      </p:sp>
      <p:sp>
        <p:nvSpPr>
          <p:cNvPr id="20" name="TextBox 19"/>
          <p:cNvSpPr txBox="1"/>
          <p:nvPr/>
        </p:nvSpPr>
        <p:spPr>
          <a:xfrm>
            <a:off x="6949440" y="4983480"/>
            <a:ext cx="4782312" cy="1463040"/>
          </a:xfrm>
          <a:prstGeom prst="rect">
            <a:avLst/>
          </a:prstGeom>
          <a:noFill/>
        </p:spPr>
        <p:txBody>
          <a:bodyPr wrap="square" lIns="0" rIns="0" tIns="0" bIns="0" anchor="t">
            <a:spAutoFit/>
          </a:bodyPr>
          <a:lstStyle/>
          <a:p>
            <a:pPr algn="l" marL="118872" indent="-118872">
              <a:spcAft>
                <a:spcPts val="300"/>
              </a:spcAft>
              <a:buFont typeface="Yu Gothic"/>
              <a:buChar char="・"/>
            </a:pPr>
            <a:r>
              <a:rPr sz="1200" b="0">
                <a:solidFill>
                  <a:srgbClr val="1F2E35"/>
                </a:solidFill>
                <a:latin typeface="Yu Gothic"/>
                <a:ea typeface="Yu Gothic"/>
                <a:cs typeface="Yu Gothic"/>
              </a:rPr>
              <a:t>バリューストリームは段階（L2）とその内訳（L3）、ケイパビリティは領域（L1）・能力（L2）・内訳（L3）まで、すべての項目を載せています。</a:t>
            </a:r>
          </a:p>
          <a:p>
            <a:pPr algn="l" marL="118872" indent="-118872">
              <a:spcAft>
                <a:spcPts val="300"/>
              </a:spcAft>
              <a:buFont typeface="Yu Gothic"/>
              <a:buChar char="・"/>
            </a:pPr>
            <a:r>
              <a:rPr sz="1200" b="0">
                <a:solidFill>
                  <a:srgbClr val="1F2E35"/>
                </a:solidFill>
                <a:latin typeface="Yu Gothic"/>
                <a:ea typeface="Yu Gothic"/>
                <a:cs typeface="Yu Gothic"/>
              </a:rPr>
              <a:t>出口（ゲート）は、次の段階へ進む判断の節目です。</a:t>
            </a:r>
          </a:p>
          <a:p>
            <a:pPr algn="l" marL="118872" indent="-118872">
              <a:spcAft>
                <a:spcPts val="300"/>
              </a:spcAft>
              <a:buFont typeface="Yu Gothic"/>
              <a:buChar char="・"/>
            </a:pPr>
            <a:r>
              <a:rPr sz="1200" b="0">
                <a:solidFill>
                  <a:srgbClr val="1F2E35"/>
                </a:solidFill>
                <a:latin typeface="Yu Gothic"/>
                <a:ea typeface="Yu Gothic"/>
                <a:cs typeface="Yu Gothic"/>
              </a:rPr>
              <a:t>より細かい内容（VSのL4、各関係の正本）は vs_capability_map.xlsx にあります。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82296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バリューチェーン全体像</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段階（L2）と、その内訳（L3）・出口（◆）。★は日本の制度・商慣行に固有の項目</a:t>
            </a:r>
          </a:p>
        </p:txBody>
      </p:sp>
      <p:sp>
        <p:nvSpPr>
          <p:cNvPr id="4" name="Rectangle 3"/>
          <p:cNvSpPr/>
          <p:nvPr/>
        </p:nvSpPr>
        <p:spPr>
          <a:xfrm>
            <a:off x="457200" y="1417320"/>
            <a:ext cx="11274552" cy="4983480"/>
          </a:xfrm>
          <a:prstGeom prst="rect">
            <a:avLst/>
          </a:prstGeom>
          <a:noFill/>
          <a:ln w="9525">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57200" y="1417320"/>
            <a:ext cx="502920" cy="2514600"/>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rot="16200000">
            <a:off x="-548640" y="2423160"/>
            <a:ext cx="2514600" cy="502920"/>
          </a:xfrm>
          <a:prstGeom prst="rect">
            <a:avLst/>
          </a:prstGeom>
          <a:noFill/>
        </p:spPr>
        <p:txBody>
          <a:bodyPr wrap="square" lIns="0" rIns="0" tIns="0" bIns="0" anchor="ctr">
            <a:spAutoFit/>
          </a:bodyPr>
          <a:lstStyle/>
          <a:p>
            <a:pPr algn="ctr"/>
            <a:r>
              <a:rPr sz="1200" b="1">
                <a:solidFill>
                  <a:srgbClr val="FFFFFF"/>
                </a:solidFill>
                <a:latin typeface="Yu Gothic"/>
                <a:ea typeface="Yu Gothic"/>
                <a:cs typeface="Yu Gothic"/>
              </a:rPr>
              <a:t>Phase 1：調達</a:t>
            </a:r>
          </a:p>
          <a:p>
            <a:pPr algn="ctr"/>
            <a:r>
              <a:rPr sz="900" b="0">
                <a:solidFill>
                  <a:srgbClr val="FFFFFF"/>
                </a:solidFill>
                <a:latin typeface="Yu Gothic"/>
                <a:ea typeface="Yu Gothic"/>
                <a:cs typeface="Yu Gothic"/>
              </a:rPr>
              <a:t>(Procure)</a:t>
            </a:r>
          </a:p>
        </p:txBody>
      </p:sp>
      <p:sp>
        <p:nvSpPr>
          <p:cNvPr id="7" name="Rectangle 6"/>
          <p:cNvSpPr/>
          <p:nvPr/>
        </p:nvSpPr>
        <p:spPr>
          <a:xfrm>
            <a:off x="457200" y="3931920"/>
            <a:ext cx="502920" cy="2468880"/>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rot="16200000">
            <a:off x="-525780" y="4914900"/>
            <a:ext cx="2468880" cy="502920"/>
          </a:xfrm>
          <a:prstGeom prst="rect">
            <a:avLst/>
          </a:prstGeom>
          <a:noFill/>
        </p:spPr>
        <p:txBody>
          <a:bodyPr wrap="square" lIns="0" rIns="0" tIns="0" bIns="0" anchor="ctr">
            <a:spAutoFit/>
          </a:bodyPr>
          <a:lstStyle/>
          <a:p>
            <a:pPr algn="ctr"/>
            <a:r>
              <a:rPr sz="1200" b="1">
                <a:solidFill>
                  <a:srgbClr val="FFFFFF"/>
                </a:solidFill>
                <a:latin typeface="Yu Gothic"/>
                <a:ea typeface="Yu Gothic"/>
                <a:cs typeface="Yu Gothic"/>
              </a:rPr>
              <a:t>Phase 2：受入・支払</a:t>
            </a:r>
          </a:p>
          <a:p>
            <a:pPr algn="ctr"/>
            <a:r>
              <a:rPr sz="900" b="0">
                <a:solidFill>
                  <a:srgbClr val="FFFFFF"/>
                </a:solidFill>
                <a:latin typeface="Yu Gothic"/>
                <a:ea typeface="Yu Gothic"/>
                <a:cs typeface="Yu Gothic"/>
              </a:rPr>
              <a:t>(Pay)</a:t>
            </a:r>
          </a:p>
        </p:txBody>
      </p:sp>
      <p:cxnSp>
        <p:nvCxnSpPr>
          <p:cNvPr id="9" name="Connector 8"/>
          <p:cNvCxnSpPr/>
          <p:nvPr/>
        </p:nvCxnSpPr>
        <p:spPr>
          <a:xfrm>
            <a:off x="960120" y="3931920"/>
            <a:ext cx="10771632" cy="0"/>
          </a:xfrm>
          <a:prstGeom prst="line">
            <a:avLst/>
          </a:prstGeom>
          <a:ln w="19050">
            <a:solidFill>
              <a:srgbClr val="1F2E35"/>
            </a:solidFill>
            <a:prstDash val="dash"/>
          </a:ln>
        </p:spPr>
        <p:style>
          <a:lnRef idx="2">
            <a:schemeClr val="accent1"/>
          </a:lnRef>
          <a:fillRef idx="0">
            <a:schemeClr val="accent1"/>
          </a:fillRef>
          <a:effectRef idx="1">
            <a:schemeClr val="accent1"/>
          </a:effectRef>
          <a:fontRef idx="minor">
            <a:schemeClr val="tx1"/>
          </a:fontRef>
        </p:style>
      </p:cxnSp>
      <p:sp>
        <p:nvSpPr>
          <p:cNvPr id="10" name="Right Arrow 9"/>
          <p:cNvSpPr/>
          <p:nvPr/>
        </p:nvSpPr>
        <p:spPr>
          <a:xfrm>
            <a:off x="1234440" y="1645920"/>
            <a:ext cx="3291840"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371600" y="1847088"/>
            <a:ext cx="260604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需要特定・購買申請</a:t>
            </a:r>
          </a:p>
        </p:txBody>
      </p:sp>
      <p:sp>
        <p:nvSpPr>
          <p:cNvPr id="12" name="TextBox 11"/>
          <p:cNvSpPr txBox="1"/>
          <p:nvPr/>
        </p:nvSpPr>
        <p:spPr>
          <a:xfrm>
            <a:off x="1371600" y="2157984"/>
            <a:ext cx="260604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需要の把握・購買計画</a:t>
            </a:r>
          </a:p>
          <a:p>
            <a:pPr algn="l" marL="118872" indent="-118872">
              <a:buFont typeface="Yu Gothic"/>
              <a:buChar char="・"/>
            </a:pPr>
            <a:r>
              <a:rPr sz="900" b="0">
                <a:solidFill>
                  <a:srgbClr val="FFFFFF"/>
                </a:solidFill>
                <a:latin typeface="Yu Gothic"/>
                <a:ea typeface="Yu Gothic"/>
                <a:cs typeface="Yu Gothic"/>
              </a:rPr>
              <a:t>仕様策定・購買申請作成</a:t>
            </a:r>
          </a:p>
        </p:txBody>
      </p:sp>
      <p:sp>
        <p:nvSpPr>
          <p:cNvPr id="13" name="Diamond 12"/>
          <p:cNvSpPr/>
          <p:nvPr/>
        </p:nvSpPr>
        <p:spPr>
          <a:xfrm>
            <a:off x="4370832" y="221742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2788920" y="3108960"/>
            <a:ext cx="192024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購買申請の承認</a:t>
            </a:r>
          </a:p>
        </p:txBody>
      </p:sp>
      <p:sp>
        <p:nvSpPr>
          <p:cNvPr id="15" name="Right Arrow 14"/>
          <p:cNvSpPr/>
          <p:nvPr/>
        </p:nvSpPr>
        <p:spPr>
          <a:xfrm>
            <a:off x="4709160" y="1645920"/>
            <a:ext cx="3291840"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846320" y="1847088"/>
            <a:ext cx="260604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サプライヤー選定・見積</a:t>
            </a:r>
          </a:p>
        </p:txBody>
      </p:sp>
      <p:sp>
        <p:nvSpPr>
          <p:cNvPr id="17" name="TextBox 16"/>
          <p:cNvSpPr txBox="1"/>
          <p:nvPr/>
        </p:nvSpPr>
        <p:spPr>
          <a:xfrm>
            <a:off x="4846320" y="2157984"/>
            <a:ext cx="260604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調達戦略の適用</a:t>
            </a:r>
          </a:p>
          <a:p>
            <a:pPr algn="l" marL="118872" indent="-118872">
              <a:buFont typeface="Yu Gothic"/>
              <a:buChar char="・"/>
            </a:pPr>
            <a:r>
              <a:rPr sz="900" b="0">
                <a:solidFill>
                  <a:srgbClr val="FFFFFF"/>
                </a:solidFill>
                <a:latin typeface="Yu Gothic"/>
                <a:ea typeface="Yu Gothic"/>
                <a:cs typeface="Yu Gothic"/>
              </a:rPr>
              <a:t>サプライヤー探索・登録</a:t>
            </a:r>
          </a:p>
          <a:p>
            <a:pPr algn="l" marL="118872" indent="-118872">
              <a:buFont typeface="Yu Gothic"/>
              <a:buChar char="・"/>
            </a:pPr>
            <a:r>
              <a:rPr sz="900" b="0">
                <a:solidFill>
                  <a:srgbClr val="FFFFFF"/>
                </a:solidFill>
                <a:latin typeface="Yu Gothic"/>
                <a:ea typeface="Yu Gothic"/>
                <a:cs typeface="Yu Gothic"/>
              </a:rPr>
              <a:t>RFP/RFQ・見積比較</a:t>
            </a:r>
          </a:p>
        </p:txBody>
      </p:sp>
      <p:sp>
        <p:nvSpPr>
          <p:cNvPr id="18" name="Diamond 17"/>
          <p:cNvSpPr/>
          <p:nvPr/>
        </p:nvSpPr>
        <p:spPr>
          <a:xfrm>
            <a:off x="7845552" y="221742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263640" y="3108960"/>
            <a:ext cx="192024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発注先の決定</a:t>
            </a:r>
          </a:p>
        </p:txBody>
      </p:sp>
      <p:sp>
        <p:nvSpPr>
          <p:cNvPr id="20" name="Right Arrow 19"/>
          <p:cNvSpPr/>
          <p:nvPr/>
        </p:nvSpPr>
        <p:spPr>
          <a:xfrm>
            <a:off x="8183879" y="1645920"/>
            <a:ext cx="3291840"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321040" y="1847088"/>
            <a:ext cx="260604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契約締結・発注</a:t>
            </a:r>
          </a:p>
        </p:txBody>
      </p:sp>
      <p:sp>
        <p:nvSpPr>
          <p:cNvPr id="22" name="TextBox 21"/>
          <p:cNvSpPr txBox="1"/>
          <p:nvPr/>
        </p:nvSpPr>
        <p:spPr>
          <a:xfrm>
            <a:off x="8321040" y="2157984"/>
            <a:ext cx="260604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契約締結</a:t>
            </a:r>
          </a:p>
          <a:p>
            <a:pPr algn="l" marL="118872" indent="-118872">
              <a:buFont typeface="Yu Gothic"/>
              <a:buChar char="・"/>
            </a:pPr>
            <a:r>
              <a:rPr sz="900" b="0">
                <a:solidFill>
                  <a:srgbClr val="FFFFFF"/>
                </a:solidFill>
                <a:latin typeface="Yu Gothic"/>
                <a:ea typeface="Yu Gothic"/>
                <a:cs typeface="Yu Gothic"/>
              </a:rPr>
              <a:t>発注</a:t>
            </a:r>
          </a:p>
        </p:txBody>
      </p:sp>
      <p:sp>
        <p:nvSpPr>
          <p:cNvPr id="23" name="Diamond 22"/>
          <p:cNvSpPr/>
          <p:nvPr/>
        </p:nvSpPr>
        <p:spPr>
          <a:xfrm>
            <a:off x="11320272" y="221742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738359" y="3108960"/>
            <a:ext cx="192024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発注の確定（注文請書の受領）</a:t>
            </a:r>
          </a:p>
        </p:txBody>
      </p:sp>
      <p:sp>
        <p:nvSpPr>
          <p:cNvPr id="25" name="Right Arrow 24"/>
          <p:cNvSpPr/>
          <p:nvPr/>
        </p:nvSpPr>
        <p:spPr>
          <a:xfrm>
            <a:off x="1234440" y="4160520"/>
            <a:ext cx="3291840"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371600" y="4361688"/>
            <a:ext cx="260604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受入・検収</a:t>
            </a:r>
          </a:p>
        </p:txBody>
      </p:sp>
      <p:sp>
        <p:nvSpPr>
          <p:cNvPr id="27" name="TextBox 26"/>
          <p:cNvSpPr txBox="1"/>
          <p:nvPr/>
        </p:nvSpPr>
        <p:spPr>
          <a:xfrm>
            <a:off x="1371600" y="4672583"/>
            <a:ext cx="260604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入荷・受入</a:t>
            </a:r>
          </a:p>
          <a:p>
            <a:pPr algn="l" marL="118872" indent="-118872">
              <a:buFont typeface="Yu Gothic"/>
              <a:buChar char="・"/>
            </a:pPr>
            <a:r>
              <a:rPr sz="900" b="0">
                <a:solidFill>
                  <a:srgbClr val="FFFFFF"/>
                </a:solidFill>
                <a:latin typeface="Yu Gothic"/>
                <a:ea typeface="Yu Gothic"/>
                <a:cs typeface="Yu Gothic"/>
              </a:rPr>
              <a:t>検収</a:t>
            </a:r>
          </a:p>
        </p:txBody>
      </p:sp>
      <p:sp>
        <p:nvSpPr>
          <p:cNvPr id="28" name="Diamond 27"/>
          <p:cNvSpPr/>
          <p:nvPr/>
        </p:nvSpPr>
        <p:spPr>
          <a:xfrm>
            <a:off x="4370832" y="473202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788920" y="5623559"/>
            <a:ext cx="192024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検収の完了</a:t>
            </a:r>
          </a:p>
        </p:txBody>
      </p:sp>
      <p:sp>
        <p:nvSpPr>
          <p:cNvPr id="30" name="Right Arrow 29"/>
          <p:cNvSpPr/>
          <p:nvPr/>
        </p:nvSpPr>
        <p:spPr>
          <a:xfrm>
            <a:off x="4709160" y="4160520"/>
            <a:ext cx="3291840"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846320" y="4361688"/>
            <a:ext cx="2606040" cy="274320"/>
          </a:xfrm>
          <a:prstGeom prst="rect">
            <a:avLst/>
          </a:prstGeom>
          <a:noFill/>
        </p:spPr>
        <p:txBody>
          <a:bodyPr wrap="square" lIns="0" rIns="0" tIns="0" bIns="0" anchor="ctr">
            <a:spAutoFit/>
          </a:bodyPr>
          <a:lstStyle/>
          <a:p>
            <a:pPr algn="l"/>
            <a:r>
              <a:rPr sz="1300" b="1">
                <a:solidFill>
                  <a:srgbClr val="FFFFFF"/>
                </a:solidFill>
                <a:latin typeface="Yu Gothic"/>
                <a:ea typeface="Yu Gothic"/>
                <a:cs typeface="Yu Gothic"/>
              </a:rPr>
              <a:t>請求照合・支払決済</a:t>
            </a:r>
          </a:p>
        </p:txBody>
      </p:sp>
      <p:sp>
        <p:nvSpPr>
          <p:cNvPr id="32" name="TextBox 31"/>
          <p:cNvSpPr txBox="1"/>
          <p:nvPr/>
        </p:nvSpPr>
        <p:spPr>
          <a:xfrm>
            <a:off x="4846320" y="4672583"/>
            <a:ext cx="2606040" cy="868680"/>
          </a:xfrm>
          <a:prstGeom prst="rect">
            <a:avLst/>
          </a:prstGeom>
          <a:noFill/>
        </p:spPr>
        <p:txBody>
          <a:bodyPr wrap="square" lIns="0" rIns="0" tIns="0" bIns="0" anchor="t">
            <a:spAutoFit/>
          </a:bodyPr>
          <a:lstStyle/>
          <a:p>
            <a:pPr algn="l" marL="118872" indent="-118872">
              <a:buFont typeface="Yu Gothic"/>
              <a:buChar char="・"/>
            </a:pPr>
            <a:r>
              <a:rPr sz="900" b="0">
                <a:solidFill>
                  <a:srgbClr val="FFFFFF"/>
                </a:solidFill>
                <a:latin typeface="Yu Gothic"/>
                <a:ea typeface="Yu Gothic"/>
                <a:cs typeface="Yu Gothic"/>
              </a:rPr>
              <a:t>請求書受領</a:t>
            </a:r>
          </a:p>
          <a:p>
            <a:pPr algn="l" marL="118872" indent="-118872">
              <a:buFont typeface="Yu Gothic"/>
              <a:buChar char="・"/>
            </a:pPr>
            <a:r>
              <a:rPr sz="900" b="0">
                <a:solidFill>
                  <a:srgbClr val="FFFFFF"/>
                </a:solidFill>
                <a:latin typeface="Yu Gothic"/>
                <a:ea typeface="Yu Gothic"/>
                <a:cs typeface="Yu Gothic"/>
              </a:rPr>
              <a:t>照合・支払承認</a:t>
            </a:r>
          </a:p>
          <a:p>
            <a:pPr algn="l" marL="118872" indent="-118872">
              <a:buFont typeface="Yu Gothic"/>
              <a:buChar char="・"/>
            </a:pPr>
            <a:r>
              <a:rPr sz="900" b="0">
                <a:solidFill>
                  <a:srgbClr val="FFFFFF"/>
                </a:solidFill>
                <a:latin typeface="Yu Gothic"/>
                <a:ea typeface="Yu Gothic"/>
                <a:cs typeface="Yu Gothic"/>
              </a:rPr>
              <a:t>支払・会計処理</a:t>
            </a:r>
          </a:p>
          <a:p>
            <a:pPr algn="l" marL="118872" indent="-118872">
              <a:buFont typeface="Yu Gothic"/>
              <a:buChar char="・"/>
            </a:pPr>
            <a:r>
              <a:rPr sz="900" b="0">
                <a:solidFill>
                  <a:srgbClr val="FFFFFF"/>
                </a:solidFill>
                <a:latin typeface="Yu Gothic"/>
                <a:ea typeface="Yu Gothic"/>
                <a:cs typeface="Yu Gothic"/>
              </a:rPr>
              <a:t>振り返り・評価</a:t>
            </a:r>
          </a:p>
        </p:txBody>
      </p:sp>
      <p:sp>
        <p:nvSpPr>
          <p:cNvPr id="33" name="Diamond 32"/>
          <p:cNvSpPr/>
          <p:nvPr/>
        </p:nvSpPr>
        <p:spPr>
          <a:xfrm>
            <a:off x="7845552" y="4732020"/>
            <a:ext cx="274320" cy="274320"/>
          </a:xfrm>
          <a:prstGeom prst="diamond">
            <a:avLst/>
          </a:prstGeom>
          <a:solidFill>
            <a:srgbClr val="9C7C45"/>
          </a:solidFill>
          <a:ln w="1905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263640" y="5623559"/>
            <a:ext cx="1920240" cy="274320"/>
          </a:xfrm>
          <a:prstGeom prst="rect">
            <a:avLst/>
          </a:prstGeom>
          <a:noFill/>
        </p:spPr>
        <p:txBody>
          <a:bodyPr wrap="square" lIns="0" rIns="0" tIns="0" bIns="0" anchor="t">
            <a:spAutoFit/>
          </a:bodyPr>
          <a:lstStyle/>
          <a:p>
            <a:pPr algn="r"/>
            <a:r>
              <a:rPr sz="850" b="1">
                <a:solidFill>
                  <a:srgbClr val="1F2E35"/>
                </a:solidFill>
                <a:latin typeface="Yu Gothic"/>
                <a:ea typeface="Yu Gothic"/>
                <a:cs typeface="Yu Gothic"/>
              </a:rPr>
              <a:t>支払の完了・債務の消込</a:t>
            </a:r>
          </a:p>
        </p:txBody>
      </p:sp>
      <p:sp>
        <p:nvSpPr>
          <p:cNvPr id="35" name="Block Arc 34"/>
          <p:cNvSpPr/>
          <p:nvPr/>
        </p:nvSpPr>
        <p:spPr>
          <a:xfrm>
            <a:off x="8778240" y="4114800"/>
            <a:ext cx="1737360" cy="1737360"/>
          </a:xfrm>
          <a:prstGeom prst="blockArc">
            <a:avLst>
              <a:gd name="adj1" fmla="val -7200000"/>
              <a:gd name="adj2" fmla="val -11000000"/>
              <a:gd name="adj3" fmla="val 12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Isosceles Triangle 35"/>
          <p:cNvSpPr/>
          <p:nvPr/>
        </p:nvSpPr>
        <p:spPr>
          <a:xfrm rot="5400000">
            <a:off x="9500615" y="4069080"/>
            <a:ext cx="292608" cy="246888"/>
          </a:xfrm>
          <a:prstGeom prst="triangl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052560" y="4498848"/>
            <a:ext cx="1188719" cy="1005840"/>
          </a:xfrm>
          <a:prstGeom prst="rect">
            <a:avLst/>
          </a:prstGeom>
          <a:noFill/>
        </p:spPr>
        <p:txBody>
          <a:bodyPr wrap="square" lIns="0" rIns="0" tIns="0" bIns="0" anchor="t">
            <a:spAutoFit/>
          </a:bodyPr>
          <a:lstStyle/>
          <a:p>
            <a:pPr algn="ctr"/>
            <a:r>
              <a:rPr sz="1050" b="1">
                <a:solidFill>
                  <a:srgbClr val="1F2E35"/>
                </a:solidFill>
                <a:latin typeface="Yu Gothic"/>
                <a:ea typeface="Yu Gothic"/>
                <a:cs typeface="Yu Gothic"/>
              </a:rPr>
              <a:t>振り返り・評価</a:t>
            </a:r>
          </a:p>
          <a:p>
            <a:pPr algn="ctr"/>
            <a:r>
              <a:rPr sz="750" b="0">
                <a:solidFill>
                  <a:srgbClr val="1F2E35"/>
                </a:solidFill>
                <a:latin typeface="Yu Gothic"/>
                <a:ea typeface="Yu Gothic"/>
                <a:cs typeface="Yu Gothic"/>
              </a:rPr>
              <a:t>サプライヤー評価</a:t>
            </a:r>
          </a:p>
          <a:p>
            <a:pPr algn="ctr"/>
            <a:r>
              <a:rPr sz="750" b="0">
                <a:solidFill>
                  <a:srgbClr val="1F2E35"/>
                </a:solidFill>
                <a:latin typeface="Yu Gothic"/>
                <a:ea typeface="Yu Gothic"/>
                <a:cs typeface="Yu Gothic"/>
              </a:rPr>
              <a:t>リスク監視・BCP</a:t>
            </a:r>
          </a:p>
          <a:p>
            <a:pPr algn="ctr"/>
            <a:r>
              <a:rPr sz="750" b="0">
                <a:solidFill>
                  <a:srgbClr val="1F2E35"/>
                </a:solidFill>
                <a:latin typeface="Yu Gothic"/>
                <a:ea typeface="Yu Gothic"/>
                <a:cs typeface="Yu Gothic"/>
              </a:rPr>
              <a:t>調達実績・削減効果</a:t>
            </a:r>
          </a:p>
          <a:p>
            <a:pPr algn="ctr"/>
            <a:r>
              <a:rPr sz="750" b="0">
                <a:solidFill>
                  <a:srgbClr val="1F2E35"/>
                </a:solidFill>
                <a:latin typeface="Yu Gothic"/>
                <a:ea typeface="Yu Gothic"/>
                <a:cs typeface="Yu Gothic"/>
              </a:rPr>
              <a:t>取引適正化の点検</a:t>
            </a:r>
          </a:p>
          <a:p>
            <a:pPr algn="ctr"/>
            <a:r>
              <a:rPr sz="750" b="0">
                <a:solidFill>
                  <a:srgbClr val="1F2E35"/>
                </a:solidFill>
                <a:latin typeface="Yu Gothic"/>
                <a:ea typeface="Yu Gothic"/>
                <a:cs typeface="Yu Gothic"/>
              </a:rPr>
              <a:t>規程・マスタの見直し</a:t>
            </a:r>
          </a:p>
        </p:txBody>
      </p:sp>
      <p:sp>
        <p:nvSpPr>
          <p:cNvPr id="38" name="TextBox 37"/>
          <p:cNvSpPr txBox="1"/>
          <p:nvPr/>
        </p:nvSpPr>
        <p:spPr>
          <a:xfrm>
            <a:off x="8183879" y="4526280"/>
            <a:ext cx="54864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B</a:t>
            </a:r>
          </a:p>
        </p:txBody>
      </p:sp>
      <p:sp>
        <p:nvSpPr>
          <p:cNvPr id="39" name="TextBox 38"/>
          <p:cNvSpPr txBox="1"/>
          <p:nvPr/>
        </p:nvSpPr>
        <p:spPr>
          <a:xfrm>
            <a:off x="8092440" y="4892040"/>
            <a:ext cx="731520" cy="365760"/>
          </a:xfrm>
          <a:prstGeom prst="rect">
            <a:avLst/>
          </a:prstGeom>
          <a:noFill/>
        </p:spPr>
        <p:txBody>
          <a:bodyPr wrap="square" lIns="0" rIns="0" tIns="0" bIns="0" anchor="t">
            <a:spAutoFit/>
          </a:bodyPr>
          <a:lstStyle/>
          <a:p>
            <a:pPr algn="ctr"/>
            <a:r>
              <a:rPr sz="850" b="1">
                <a:solidFill>
                  <a:srgbClr val="9C7C45"/>
                </a:solidFill>
                <a:latin typeface="Yu Gothic"/>
                <a:ea typeface="Yu Gothic"/>
                <a:cs typeface="Yu Gothic"/>
              </a:rPr>
              <a:t>継続</a:t>
            </a:r>
          </a:p>
          <a:p>
            <a:pPr algn="ctr"/>
            <a:r>
              <a:rPr sz="700" b="0">
                <a:solidFill>
                  <a:srgbClr val="9C7C45"/>
                </a:solidFill>
                <a:latin typeface="Yu Gothic"/>
                <a:ea typeface="Yu Gothic"/>
                <a:cs typeface="Yu Gothic"/>
              </a:rPr>
              <a:t>(Continuous)</a:t>
            </a:r>
          </a:p>
        </p:txBody>
      </p:sp>
      <p:sp>
        <p:nvSpPr>
          <p:cNvPr id="40" name="TextBox 39"/>
          <p:cNvSpPr txBox="1"/>
          <p:nvPr/>
        </p:nvSpPr>
        <p:spPr>
          <a:xfrm>
            <a:off x="10607040" y="4663440"/>
            <a:ext cx="1097280" cy="914400"/>
          </a:xfrm>
          <a:prstGeom prst="rect">
            <a:avLst/>
          </a:prstGeom>
          <a:noFill/>
        </p:spPr>
        <p:txBody>
          <a:bodyPr wrap="square" lIns="0" rIns="0" tIns="0" bIns="0" anchor="t">
            <a:spAutoFit/>
          </a:bodyPr>
          <a:lstStyle/>
          <a:p>
            <a:pPr algn="l"/>
            <a:r>
              <a:rPr sz="850" b="1">
                <a:solidFill>
                  <a:srgbClr val="1F2E35"/>
                </a:solidFill>
                <a:latin typeface="Yu Gothic"/>
                <a:ea typeface="Yu Gothic"/>
                <a:cs typeface="Yu Gothic"/>
              </a:rPr>
              <a:t>次の調達へ</a:t>
            </a:r>
          </a:p>
          <a:p>
            <a:pPr algn="l"/>
            <a:r>
              <a:rPr sz="750" b="0">
                <a:solidFill>
                  <a:srgbClr val="1F2E35"/>
                </a:solidFill>
                <a:latin typeface="Yu Gothic"/>
                <a:ea typeface="Yu Gothic"/>
                <a:cs typeface="Yu Gothic"/>
              </a:rPr>
              <a:t>支出分析・カテゴリ戦略（段階2）、購買計画（段階1）に反映</a:t>
            </a:r>
          </a:p>
        </p:txBody>
      </p:sp>
      <p:sp>
        <p:nvSpPr>
          <p:cNvPr id="41" name="TextBox 40"/>
          <p:cNvSpPr txBox="1"/>
          <p:nvPr/>
        </p:nvSpPr>
        <p:spPr>
          <a:xfrm>
            <a:off x="960120" y="2103120"/>
            <a:ext cx="27432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A</a:t>
            </a:r>
          </a:p>
        </p:txBody>
      </p:sp>
      <p:sp>
        <p:nvSpPr>
          <p:cNvPr id="42" name="TextBox 41"/>
          <p:cNvSpPr txBox="1"/>
          <p:nvPr/>
        </p:nvSpPr>
        <p:spPr>
          <a:xfrm>
            <a:off x="960120" y="4617720"/>
            <a:ext cx="274320" cy="365760"/>
          </a:xfrm>
          <a:prstGeom prst="rect">
            <a:avLst/>
          </a:prstGeom>
          <a:noFill/>
        </p:spPr>
        <p:txBody>
          <a:bodyPr wrap="square" lIns="0" rIns="0" tIns="0" bIns="0" anchor="t">
            <a:spAutoFit/>
          </a:bodyPr>
          <a:lstStyle/>
          <a:p>
            <a:pPr algn="ctr"/>
            <a:r>
              <a:rPr sz="1800" b="1">
                <a:solidFill>
                  <a:srgbClr val="1F2E35"/>
                </a:solidFill>
                <a:latin typeface="Yu Gothic"/>
                <a:ea typeface="Yu Gothic"/>
                <a:cs typeface="Yu Gothic"/>
              </a:rPr>
              <a:t>A</a:t>
            </a:r>
          </a:p>
        </p:txBody>
      </p:sp>
      <p:sp>
        <p:nvSpPr>
          <p:cNvPr id="43" name="TextBox 42"/>
          <p:cNvSpPr txBox="1"/>
          <p:nvPr/>
        </p:nvSpPr>
        <p:spPr>
          <a:xfrm>
            <a:off x="457200" y="6492240"/>
            <a:ext cx="11247120" cy="228600"/>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◆は次の段階へ進む判断の節目（出口）。「振り返り・評価」は段階5のL3（05-04）で、取引ごとではなく継続的に行い、次の調達の計画・選定に戻る。L4はxlsxの「バリューストリーム」シート。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ケイパビリティマップ全体像</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領域（L1）・能力（L2）・内訳（L3）。上段＝戦略、中段・右列＝コア、下段＝支援。★は日本の制度・商慣行に固有の能力</a:t>
            </a:r>
          </a:p>
        </p:txBody>
      </p:sp>
      <p:sp>
        <p:nvSpPr>
          <p:cNvPr id="4" name="Rounded Rectangle 3"/>
          <p:cNvSpPr/>
          <p:nvPr/>
        </p:nvSpPr>
        <p:spPr>
          <a:xfrm>
            <a:off x="457200" y="1280160"/>
            <a:ext cx="11274552" cy="749808"/>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57200" y="131673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調達戦略・ガバナンス（Strategy &amp; Governance）</a:t>
            </a:r>
          </a:p>
        </p:txBody>
      </p:sp>
      <p:sp>
        <p:nvSpPr>
          <p:cNvPr id="6" name="TextBox 5"/>
          <p:cNvSpPr txBox="1"/>
          <p:nvPr/>
        </p:nvSpPr>
        <p:spPr>
          <a:xfrm>
            <a:off x="457200" y="1554480"/>
            <a:ext cx="5637276"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調達戦略・カテゴリ管理</a:t>
            </a:r>
          </a:p>
        </p:txBody>
      </p:sp>
      <p:sp>
        <p:nvSpPr>
          <p:cNvPr id="7" name="Rounded Rectangle 6"/>
          <p:cNvSpPr/>
          <p:nvPr/>
        </p:nvSpPr>
        <p:spPr>
          <a:xfrm>
            <a:off x="630936" y="1737360"/>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58368" y="1737360"/>
            <a:ext cx="16596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支出分析</a:t>
            </a:r>
          </a:p>
        </p:txBody>
      </p:sp>
      <p:sp>
        <p:nvSpPr>
          <p:cNvPr id="9" name="Rounded Rectangle 8"/>
          <p:cNvSpPr/>
          <p:nvPr/>
        </p:nvSpPr>
        <p:spPr>
          <a:xfrm>
            <a:off x="2418588" y="1737360"/>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446020" y="1737360"/>
            <a:ext cx="16596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カテゴリ戦略</a:t>
            </a:r>
          </a:p>
        </p:txBody>
      </p:sp>
      <p:sp>
        <p:nvSpPr>
          <p:cNvPr id="11" name="Rounded Rectangle 10"/>
          <p:cNvSpPr/>
          <p:nvPr/>
        </p:nvSpPr>
        <p:spPr>
          <a:xfrm>
            <a:off x="4206240" y="1737360"/>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233672" y="1737360"/>
            <a:ext cx="16596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購買計画・予算管理</a:t>
            </a:r>
          </a:p>
        </p:txBody>
      </p:sp>
      <p:sp>
        <p:nvSpPr>
          <p:cNvPr id="13" name="TextBox 12"/>
          <p:cNvSpPr txBox="1"/>
          <p:nvPr/>
        </p:nvSpPr>
        <p:spPr>
          <a:xfrm>
            <a:off x="6094476" y="1554480"/>
            <a:ext cx="5637276"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調達ガバナンス・取引適正化★</a:t>
            </a:r>
          </a:p>
        </p:txBody>
      </p:sp>
      <p:sp>
        <p:nvSpPr>
          <p:cNvPr id="14" name="Rounded Rectangle 13"/>
          <p:cNvSpPr/>
          <p:nvPr/>
        </p:nvSpPr>
        <p:spPr>
          <a:xfrm>
            <a:off x="6268212" y="1737360"/>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295644" y="1737360"/>
            <a:ext cx="16596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購買規程・職務権限★</a:t>
            </a:r>
          </a:p>
        </p:txBody>
      </p:sp>
      <p:sp>
        <p:nvSpPr>
          <p:cNvPr id="16" name="Rounded Rectangle 15"/>
          <p:cNvSpPr/>
          <p:nvPr/>
        </p:nvSpPr>
        <p:spPr>
          <a:xfrm>
            <a:off x="8055864" y="1737360"/>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083296" y="1737360"/>
            <a:ext cx="1659636"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取引適正化（取適法・フリーランス法）★</a:t>
            </a:r>
          </a:p>
        </p:txBody>
      </p:sp>
      <p:sp>
        <p:nvSpPr>
          <p:cNvPr id="18" name="Rounded Rectangle 17"/>
          <p:cNvSpPr/>
          <p:nvPr/>
        </p:nvSpPr>
        <p:spPr>
          <a:xfrm>
            <a:off x="9843516" y="1737360"/>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870948" y="1737360"/>
            <a:ext cx="16596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持続可能な調達</a:t>
            </a:r>
          </a:p>
        </p:txBody>
      </p:sp>
      <p:sp>
        <p:nvSpPr>
          <p:cNvPr id="20" name="Rounded Rectangle 19"/>
          <p:cNvSpPr/>
          <p:nvPr/>
        </p:nvSpPr>
        <p:spPr>
          <a:xfrm>
            <a:off x="457200" y="5870448"/>
            <a:ext cx="11274552" cy="731520"/>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57200" y="5907024"/>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調達基盤（Support / Foundation）</a:t>
            </a:r>
          </a:p>
        </p:txBody>
      </p:sp>
      <p:sp>
        <p:nvSpPr>
          <p:cNvPr id="22" name="TextBox 21"/>
          <p:cNvSpPr txBox="1"/>
          <p:nvPr/>
        </p:nvSpPr>
        <p:spPr>
          <a:xfrm>
            <a:off x="457200" y="6144768"/>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調達マスタ・データ管理</a:t>
            </a:r>
          </a:p>
        </p:txBody>
      </p:sp>
      <p:sp>
        <p:nvSpPr>
          <p:cNvPr id="23" name="Rounded Rectangle 22"/>
          <p:cNvSpPr/>
          <p:nvPr/>
        </p:nvSpPr>
        <p:spPr>
          <a:xfrm>
            <a:off x="630936" y="6327648"/>
            <a:ext cx="166878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8368" y="6327648"/>
            <a:ext cx="161391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品目マスタ管理</a:t>
            </a:r>
          </a:p>
        </p:txBody>
      </p:sp>
      <p:sp>
        <p:nvSpPr>
          <p:cNvPr id="25" name="Rounded Rectangle 24"/>
          <p:cNvSpPr/>
          <p:nvPr/>
        </p:nvSpPr>
        <p:spPr>
          <a:xfrm>
            <a:off x="2372868" y="6327648"/>
            <a:ext cx="166878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400300" y="6327648"/>
            <a:ext cx="161391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調達データ品質管理</a:t>
            </a:r>
          </a:p>
        </p:txBody>
      </p:sp>
      <p:sp>
        <p:nvSpPr>
          <p:cNvPr id="27" name="TextBox 26"/>
          <p:cNvSpPr txBox="1"/>
          <p:nvPr/>
        </p:nvSpPr>
        <p:spPr>
          <a:xfrm>
            <a:off x="4215384" y="6144768"/>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調達分析・レポーティング</a:t>
            </a:r>
          </a:p>
        </p:txBody>
      </p:sp>
      <p:sp>
        <p:nvSpPr>
          <p:cNvPr id="28" name="Rounded Rectangle 27"/>
          <p:cNvSpPr/>
          <p:nvPr/>
        </p:nvSpPr>
        <p:spPr>
          <a:xfrm>
            <a:off x="4389120" y="6327648"/>
            <a:ext cx="166878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416552" y="6327648"/>
            <a:ext cx="161391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調達実績レポート</a:t>
            </a:r>
          </a:p>
        </p:txBody>
      </p:sp>
      <p:sp>
        <p:nvSpPr>
          <p:cNvPr id="30" name="Rounded Rectangle 29"/>
          <p:cNvSpPr/>
          <p:nvPr/>
        </p:nvSpPr>
        <p:spPr>
          <a:xfrm>
            <a:off x="6131052" y="6327648"/>
            <a:ext cx="166878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158484" y="6327648"/>
            <a:ext cx="161391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コスト削減効果測定</a:t>
            </a:r>
          </a:p>
        </p:txBody>
      </p:sp>
      <p:sp>
        <p:nvSpPr>
          <p:cNvPr id="32" name="TextBox 31"/>
          <p:cNvSpPr txBox="1"/>
          <p:nvPr/>
        </p:nvSpPr>
        <p:spPr>
          <a:xfrm>
            <a:off x="7973568" y="6144768"/>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内部統制・監査対応</a:t>
            </a:r>
          </a:p>
        </p:txBody>
      </p:sp>
      <p:sp>
        <p:nvSpPr>
          <p:cNvPr id="33" name="Rounded Rectangle 32"/>
          <p:cNvSpPr/>
          <p:nvPr/>
        </p:nvSpPr>
        <p:spPr>
          <a:xfrm>
            <a:off x="8147304" y="6327648"/>
            <a:ext cx="166878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174736" y="6327648"/>
            <a:ext cx="161391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職務分掌・アクセス管理</a:t>
            </a:r>
          </a:p>
        </p:txBody>
      </p:sp>
      <p:sp>
        <p:nvSpPr>
          <p:cNvPr id="35" name="Rounded Rectangle 34"/>
          <p:cNvSpPr/>
          <p:nvPr/>
        </p:nvSpPr>
        <p:spPr>
          <a:xfrm>
            <a:off x="9889236" y="6327648"/>
            <a:ext cx="166878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916668" y="6327648"/>
            <a:ext cx="161391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監査対応</a:t>
            </a:r>
          </a:p>
        </p:txBody>
      </p:sp>
      <p:sp>
        <p:nvSpPr>
          <p:cNvPr id="37" name="Rounded Rectangle 36"/>
          <p:cNvSpPr/>
          <p:nvPr/>
        </p:nvSpPr>
        <p:spPr>
          <a:xfrm>
            <a:off x="457200" y="2212848"/>
            <a:ext cx="2404872" cy="3529584"/>
          </a:xfrm>
          <a:prstGeom prst="roundRect">
            <a:avLst>
              <a:gd name="adj" fmla="val 4000"/>
            </a:avLst>
          </a:prstGeom>
          <a:solidFill>
            <a:srgbClr val="FDEEE7"/>
          </a:solidFill>
          <a:ln w="1905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57200" y="2258568"/>
            <a:ext cx="2404872" cy="274320"/>
          </a:xfrm>
          <a:prstGeom prst="rect">
            <a:avLst/>
          </a:prstGeom>
          <a:noFill/>
        </p:spPr>
        <p:txBody>
          <a:bodyPr wrap="square" lIns="0" rIns="0" tIns="0" bIns="0" anchor="ctr">
            <a:spAutoFit/>
          </a:bodyPr>
          <a:lstStyle/>
          <a:p>
            <a:pPr algn="ctr"/>
            <a:r>
              <a:rPr sz="1250" b="1">
                <a:solidFill>
                  <a:srgbClr val="C24E1C"/>
                </a:solidFill>
                <a:latin typeface="Yu Gothic"/>
                <a:ea typeface="Yu Gothic"/>
                <a:cs typeface="Yu Gothic"/>
              </a:rPr>
              <a:t>Supplier Management</a:t>
            </a:r>
          </a:p>
        </p:txBody>
      </p:sp>
      <p:sp>
        <p:nvSpPr>
          <p:cNvPr id="39" name="Rounded Rectangle 38"/>
          <p:cNvSpPr/>
          <p:nvPr/>
        </p:nvSpPr>
        <p:spPr>
          <a:xfrm>
            <a:off x="530352" y="2578608"/>
            <a:ext cx="2258568" cy="1088136"/>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30352" y="265404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サプライヤー登録・審査★</a:t>
            </a:r>
          </a:p>
        </p:txBody>
      </p:sp>
      <p:sp>
        <p:nvSpPr>
          <p:cNvPr id="41" name="Rounded Rectangle 40"/>
          <p:cNvSpPr/>
          <p:nvPr/>
        </p:nvSpPr>
        <p:spPr>
          <a:xfrm>
            <a:off x="621792" y="2928365"/>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9224" y="2928365"/>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取引先審査★</a:t>
            </a:r>
          </a:p>
        </p:txBody>
      </p:sp>
      <p:sp>
        <p:nvSpPr>
          <p:cNvPr id="43" name="Rounded Rectangle 42"/>
          <p:cNvSpPr/>
          <p:nvPr/>
        </p:nvSpPr>
        <p:spPr>
          <a:xfrm>
            <a:off x="621792" y="3143249"/>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49224" y="3143249"/>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サプライヤーマスタ管理</a:t>
            </a:r>
          </a:p>
        </p:txBody>
      </p:sp>
      <p:sp>
        <p:nvSpPr>
          <p:cNvPr id="45" name="Rounded Rectangle 44"/>
          <p:cNvSpPr/>
          <p:nvPr/>
        </p:nvSpPr>
        <p:spPr>
          <a:xfrm>
            <a:off x="621792" y="3358133"/>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649224" y="3358133"/>
            <a:ext cx="2020823" cy="182880"/>
          </a:xfrm>
          <a:prstGeom prst="rect">
            <a:avLst/>
          </a:prstGeom>
          <a:noFill/>
        </p:spPr>
        <p:txBody>
          <a:bodyPr wrap="square" lIns="0" rIns="0" tIns="0" bIns="0" anchor="ctr">
            <a:spAutoFit/>
          </a:bodyPr>
          <a:lstStyle/>
          <a:p>
            <a:pPr algn="ctr"/>
            <a:r>
              <a:rPr sz="650" b="0">
                <a:solidFill>
                  <a:srgbClr val="1F2E35"/>
                </a:solidFill>
                <a:latin typeface="Yu Gothic"/>
                <a:ea typeface="Yu Gothic"/>
                <a:cs typeface="Yu Gothic"/>
              </a:rPr>
              <a:t>取適法・フリーランス法の適用判定★</a:t>
            </a:r>
          </a:p>
        </p:txBody>
      </p:sp>
      <p:sp>
        <p:nvSpPr>
          <p:cNvPr id="47" name="Rounded Rectangle 46"/>
          <p:cNvSpPr/>
          <p:nvPr/>
        </p:nvSpPr>
        <p:spPr>
          <a:xfrm>
            <a:off x="530352" y="3794760"/>
            <a:ext cx="2258568" cy="87325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530352" y="3870198"/>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サプライヤー評価・関係管理</a:t>
            </a:r>
          </a:p>
        </p:txBody>
      </p:sp>
      <p:sp>
        <p:nvSpPr>
          <p:cNvPr id="49" name="Rounded Rectangle 48"/>
          <p:cNvSpPr/>
          <p:nvPr/>
        </p:nvSpPr>
        <p:spPr>
          <a:xfrm>
            <a:off x="621792" y="4144518"/>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9224" y="4144518"/>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サプライヤー評価</a:t>
            </a:r>
          </a:p>
        </p:txBody>
      </p:sp>
      <p:sp>
        <p:nvSpPr>
          <p:cNvPr id="51" name="Rounded Rectangle 50"/>
          <p:cNvSpPr/>
          <p:nvPr/>
        </p:nvSpPr>
        <p:spPr>
          <a:xfrm>
            <a:off x="621792" y="4359402"/>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49224" y="4359402"/>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関係構築・改善</a:t>
            </a:r>
          </a:p>
        </p:txBody>
      </p:sp>
      <p:sp>
        <p:nvSpPr>
          <p:cNvPr id="53" name="Rounded Rectangle 52"/>
          <p:cNvSpPr/>
          <p:nvPr/>
        </p:nvSpPr>
        <p:spPr>
          <a:xfrm>
            <a:off x="530352" y="4796028"/>
            <a:ext cx="2258568" cy="87325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530352" y="487146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サプライヤーリスク管理</a:t>
            </a:r>
          </a:p>
        </p:txBody>
      </p:sp>
      <p:sp>
        <p:nvSpPr>
          <p:cNvPr id="55" name="Rounded Rectangle 54"/>
          <p:cNvSpPr/>
          <p:nvPr/>
        </p:nvSpPr>
        <p:spPr>
          <a:xfrm>
            <a:off x="621792" y="5145786"/>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649224" y="5145786"/>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リスクモニタリング</a:t>
            </a:r>
          </a:p>
        </p:txBody>
      </p:sp>
      <p:sp>
        <p:nvSpPr>
          <p:cNvPr id="57" name="Rounded Rectangle 56"/>
          <p:cNvSpPr/>
          <p:nvPr/>
        </p:nvSpPr>
        <p:spPr>
          <a:xfrm>
            <a:off x="621792" y="5360670"/>
            <a:ext cx="2075687" cy="18288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49224" y="5360670"/>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BCP・代替調達</a:t>
            </a:r>
          </a:p>
        </p:txBody>
      </p:sp>
      <p:sp>
        <p:nvSpPr>
          <p:cNvPr id="59" name="Chevron 58"/>
          <p:cNvSpPr/>
          <p:nvPr/>
        </p:nvSpPr>
        <p:spPr>
          <a:xfrm rot="5400000">
            <a:off x="1600200" y="1984248"/>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Chevron 59"/>
          <p:cNvSpPr/>
          <p:nvPr/>
        </p:nvSpPr>
        <p:spPr>
          <a:xfrm rot="5400000">
            <a:off x="1600200" y="5632704"/>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2953512" y="2212848"/>
            <a:ext cx="2404872" cy="3529584"/>
          </a:xfrm>
          <a:prstGeom prst="roundRect">
            <a:avLst>
              <a:gd name="adj" fmla="val 4000"/>
            </a:avLst>
          </a:prstGeom>
          <a:solidFill>
            <a:srgbClr val="E6F6F0"/>
          </a:solidFill>
          <a:ln w="1905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2953512" y="2258568"/>
            <a:ext cx="2404872" cy="274320"/>
          </a:xfrm>
          <a:prstGeom prst="rect">
            <a:avLst/>
          </a:prstGeom>
          <a:noFill/>
        </p:spPr>
        <p:txBody>
          <a:bodyPr wrap="square" lIns="0" rIns="0" tIns="0" bIns="0" anchor="ctr">
            <a:spAutoFit/>
          </a:bodyPr>
          <a:lstStyle/>
          <a:p>
            <a:pPr algn="ctr"/>
            <a:r>
              <a:rPr sz="1250" b="1">
                <a:solidFill>
                  <a:srgbClr val="0E7A52"/>
                </a:solidFill>
                <a:latin typeface="Yu Gothic"/>
                <a:ea typeface="Yu Gothic"/>
                <a:cs typeface="Yu Gothic"/>
              </a:rPr>
              <a:t>Receiving &amp; Logistics</a:t>
            </a:r>
          </a:p>
        </p:txBody>
      </p:sp>
      <p:sp>
        <p:nvSpPr>
          <p:cNvPr id="63" name="Rounded Rectangle 62"/>
          <p:cNvSpPr/>
          <p:nvPr/>
        </p:nvSpPr>
        <p:spPr>
          <a:xfrm>
            <a:off x="3026664" y="2578608"/>
            <a:ext cx="2258568" cy="1016508"/>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3026664" y="2618232"/>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入荷・受入管理</a:t>
            </a:r>
          </a:p>
        </p:txBody>
      </p:sp>
      <p:sp>
        <p:nvSpPr>
          <p:cNvPr id="65" name="Rounded Rectangle 64"/>
          <p:cNvSpPr/>
          <p:nvPr/>
        </p:nvSpPr>
        <p:spPr>
          <a:xfrm>
            <a:off x="3118104" y="2892552"/>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3145536" y="2892552"/>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入荷予定管理</a:t>
            </a:r>
          </a:p>
        </p:txBody>
      </p:sp>
      <p:sp>
        <p:nvSpPr>
          <p:cNvPr id="67" name="Rounded Rectangle 66"/>
          <p:cNvSpPr/>
          <p:nvPr/>
        </p:nvSpPr>
        <p:spPr>
          <a:xfrm>
            <a:off x="3118104" y="3107435"/>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3145536" y="3107435"/>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受入・数量確認</a:t>
            </a:r>
          </a:p>
        </p:txBody>
      </p:sp>
      <p:sp>
        <p:nvSpPr>
          <p:cNvPr id="69" name="Rounded Rectangle 68"/>
          <p:cNvSpPr/>
          <p:nvPr/>
        </p:nvSpPr>
        <p:spPr>
          <a:xfrm>
            <a:off x="3118104" y="3322319"/>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3145536" y="3322319"/>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受入検査</a:t>
            </a:r>
          </a:p>
        </p:txBody>
      </p:sp>
      <p:sp>
        <p:nvSpPr>
          <p:cNvPr id="71" name="Rounded Rectangle 70"/>
          <p:cNvSpPr/>
          <p:nvPr/>
        </p:nvSpPr>
        <p:spPr>
          <a:xfrm>
            <a:off x="3026664" y="3723132"/>
            <a:ext cx="2258568" cy="1016508"/>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3026664" y="376275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検収管理★</a:t>
            </a:r>
          </a:p>
        </p:txBody>
      </p:sp>
      <p:sp>
        <p:nvSpPr>
          <p:cNvPr id="73" name="Rounded Rectangle 72"/>
          <p:cNvSpPr/>
          <p:nvPr/>
        </p:nvSpPr>
        <p:spPr>
          <a:xfrm>
            <a:off x="3118104" y="4037076"/>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3145536" y="4037076"/>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物品の検収</a:t>
            </a:r>
          </a:p>
        </p:txBody>
      </p:sp>
      <p:sp>
        <p:nvSpPr>
          <p:cNvPr id="75" name="Rounded Rectangle 74"/>
          <p:cNvSpPr/>
          <p:nvPr/>
        </p:nvSpPr>
        <p:spPr>
          <a:xfrm>
            <a:off x="3118104" y="4251960"/>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3145536" y="4251960"/>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役務・サービスの検収</a:t>
            </a:r>
          </a:p>
        </p:txBody>
      </p:sp>
      <p:sp>
        <p:nvSpPr>
          <p:cNvPr id="77" name="Rounded Rectangle 76"/>
          <p:cNvSpPr/>
          <p:nvPr/>
        </p:nvSpPr>
        <p:spPr>
          <a:xfrm>
            <a:off x="3118104" y="4466844"/>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3145536" y="4466844"/>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返品・不適合品処理★</a:t>
            </a:r>
          </a:p>
        </p:txBody>
      </p:sp>
      <p:sp>
        <p:nvSpPr>
          <p:cNvPr id="79" name="Rounded Rectangle 78"/>
          <p:cNvSpPr/>
          <p:nvPr/>
        </p:nvSpPr>
        <p:spPr>
          <a:xfrm>
            <a:off x="3026664" y="4867656"/>
            <a:ext cx="2258568" cy="801624"/>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3026664" y="4907280"/>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在庫・資産計上</a:t>
            </a:r>
          </a:p>
        </p:txBody>
      </p:sp>
      <p:sp>
        <p:nvSpPr>
          <p:cNvPr id="81" name="Rounded Rectangle 80"/>
          <p:cNvSpPr/>
          <p:nvPr/>
        </p:nvSpPr>
        <p:spPr>
          <a:xfrm>
            <a:off x="3118104" y="5181600"/>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3145536" y="5181600"/>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入庫・在庫計上</a:t>
            </a:r>
          </a:p>
        </p:txBody>
      </p:sp>
      <p:sp>
        <p:nvSpPr>
          <p:cNvPr id="83" name="Rounded Rectangle 82"/>
          <p:cNvSpPr/>
          <p:nvPr/>
        </p:nvSpPr>
        <p:spPr>
          <a:xfrm>
            <a:off x="3118104" y="5396484"/>
            <a:ext cx="2075687" cy="18288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3145536" y="5396484"/>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固定資産計上</a:t>
            </a:r>
          </a:p>
        </p:txBody>
      </p:sp>
      <p:sp>
        <p:nvSpPr>
          <p:cNvPr id="85" name="Chevron 84"/>
          <p:cNvSpPr/>
          <p:nvPr/>
        </p:nvSpPr>
        <p:spPr>
          <a:xfrm rot="5400000">
            <a:off x="4096511" y="1984248"/>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Chevron 85"/>
          <p:cNvSpPr/>
          <p:nvPr/>
        </p:nvSpPr>
        <p:spPr>
          <a:xfrm rot="5400000">
            <a:off x="4096511" y="5632704"/>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5449824" y="2212848"/>
            <a:ext cx="2404872" cy="3529584"/>
          </a:xfrm>
          <a:prstGeom prst="roundRect">
            <a:avLst>
              <a:gd name="adj" fmla="val 4000"/>
            </a:avLst>
          </a:prstGeom>
          <a:solidFill>
            <a:srgbClr val="EEECF7"/>
          </a:solidFill>
          <a:ln w="1905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5449824" y="2258568"/>
            <a:ext cx="2404872" cy="274320"/>
          </a:xfrm>
          <a:prstGeom prst="rect">
            <a:avLst/>
          </a:prstGeom>
          <a:noFill/>
        </p:spPr>
        <p:txBody>
          <a:bodyPr wrap="square" lIns="0" rIns="0" tIns="0" bIns="0" anchor="ctr">
            <a:spAutoFit/>
          </a:bodyPr>
          <a:lstStyle/>
          <a:p>
            <a:pPr algn="ctr"/>
            <a:r>
              <a:rPr sz="1250" b="1">
                <a:solidFill>
                  <a:srgbClr val="4A3AA7"/>
                </a:solidFill>
                <a:latin typeface="Yu Gothic"/>
                <a:ea typeface="Yu Gothic"/>
                <a:cs typeface="Yu Gothic"/>
              </a:rPr>
              <a:t>Accounts Payable</a:t>
            </a:r>
          </a:p>
        </p:txBody>
      </p:sp>
      <p:sp>
        <p:nvSpPr>
          <p:cNvPr id="89" name="Rounded Rectangle 88"/>
          <p:cNvSpPr/>
          <p:nvPr/>
        </p:nvSpPr>
        <p:spPr>
          <a:xfrm>
            <a:off x="5522976" y="2578608"/>
            <a:ext cx="2258568" cy="922020"/>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5522976" y="2570988"/>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請求書受領・照合★</a:t>
            </a:r>
          </a:p>
        </p:txBody>
      </p:sp>
      <p:sp>
        <p:nvSpPr>
          <p:cNvPr id="91" name="Rounded Rectangle 90"/>
          <p:cNvSpPr/>
          <p:nvPr/>
        </p:nvSpPr>
        <p:spPr>
          <a:xfrm>
            <a:off x="5614416" y="2845307"/>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5641848" y="2845307"/>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請求書受領・電子化★</a:t>
            </a:r>
          </a:p>
        </p:txBody>
      </p:sp>
      <p:sp>
        <p:nvSpPr>
          <p:cNvPr id="93" name="Rounded Rectangle 92"/>
          <p:cNvSpPr/>
          <p:nvPr/>
        </p:nvSpPr>
        <p:spPr>
          <a:xfrm>
            <a:off x="5614416" y="3060191"/>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extBox 93"/>
          <p:cNvSpPr txBox="1"/>
          <p:nvPr/>
        </p:nvSpPr>
        <p:spPr>
          <a:xfrm>
            <a:off x="5641848" y="3060191"/>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インボイス要件確認★</a:t>
            </a:r>
          </a:p>
        </p:txBody>
      </p:sp>
      <p:sp>
        <p:nvSpPr>
          <p:cNvPr id="95" name="Rounded Rectangle 94"/>
          <p:cNvSpPr/>
          <p:nvPr/>
        </p:nvSpPr>
        <p:spPr>
          <a:xfrm>
            <a:off x="5614416" y="3275075"/>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5641848" y="3275075"/>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3-Wayマッチング・差異解消</a:t>
            </a:r>
          </a:p>
        </p:txBody>
      </p:sp>
      <p:sp>
        <p:nvSpPr>
          <p:cNvPr id="97" name="Rounded Rectangle 96"/>
          <p:cNvSpPr/>
          <p:nvPr/>
        </p:nvSpPr>
        <p:spPr>
          <a:xfrm>
            <a:off x="5522976" y="3555492"/>
            <a:ext cx="2258568" cy="922020"/>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TextBox 97"/>
          <p:cNvSpPr txBox="1"/>
          <p:nvPr/>
        </p:nvSpPr>
        <p:spPr>
          <a:xfrm>
            <a:off x="5522976" y="3547872"/>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支払管理★</a:t>
            </a:r>
          </a:p>
        </p:txBody>
      </p:sp>
      <p:sp>
        <p:nvSpPr>
          <p:cNvPr id="99" name="Rounded Rectangle 98"/>
          <p:cNvSpPr/>
          <p:nvPr/>
        </p:nvSpPr>
        <p:spPr>
          <a:xfrm>
            <a:off x="5614416" y="3822192"/>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5641848" y="3822192"/>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支払予定・資金計画★</a:t>
            </a:r>
          </a:p>
        </p:txBody>
      </p:sp>
      <p:sp>
        <p:nvSpPr>
          <p:cNvPr id="101" name="Rounded Rectangle 100"/>
          <p:cNvSpPr/>
          <p:nvPr/>
        </p:nvSpPr>
        <p:spPr>
          <a:xfrm>
            <a:off x="5614416" y="4037076"/>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TextBox 101"/>
          <p:cNvSpPr txBox="1"/>
          <p:nvPr/>
        </p:nvSpPr>
        <p:spPr>
          <a:xfrm>
            <a:off x="5641848" y="4037076"/>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支払承認</a:t>
            </a:r>
          </a:p>
        </p:txBody>
      </p:sp>
      <p:sp>
        <p:nvSpPr>
          <p:cNvPr id="103" name="Rounded Rectangle 102"/>
          <p:cNvSpPr/>
          <p:nvPr/>
        </p:nvSpPr>
        <p:spPr>
          <a:xfrm>
            <a:off x="5614416" y="4251960"/>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5641848" y="4251960"/>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支払実行</a:t>
            </a:r>
          </a:p>
        </p:txBody>
      </p:sp>
      <p:sp>
        <p:nvSpPr>
          <p:cNvPr id="105" name="Rounded Rectangle 104"/>
          <p:cNvSpPr/>
          <p:nvPr/>
        </p:nvSpPr>
        <p:spPr>
          <a:xfrm>
            <a:off x="5522976" y="4532376"/>
            <a:ext cx="2258568" cy="1136904"/>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TextBox 105"/>
          <p:cNvSpPr txBox="1"/>
          <p:nvPr/>
        </p:nvSpPr>
        <p:spPr>
          <a:xfrm>
            <a:off x="5522976" y="4524756"/>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債務会計・税務★</a:t>
            </a:r>
          </a:p>
        </p:txBody>
      </p:sp>
      <p:sp>
        <p:nvSpPr>
          <p:cNvPr id="107" name="Rounded Rectangle 106"/>
          <p:cNvSpPr/>
          <p:nvPr/>
        </p:nvSpPr>
        <p:spPr>
          <a:xfrm>
            <a:off x="5614416" y="4799076"/>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5641848" y="4799076"/>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債務計上・消込</a:t>
            </a:r>
          </a:p>
        </p:txBody>
      </p:sp>
      <p:sp>
        <p:nvSpPr>
          <p:cNvPr id="109" name="Rounded Rectangle 108"/>
          <p:cNvSpPr/>
          <p:nvPr/>
        </p:nvSpPr>
        <p:spPr>
          <a:xfrm>
            <a:off x="5614416" y="5013960"/>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5641848" y="5013960"/>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消費税の仕入税額控除★</a:t>
            </a:r>
          </a:p>
        </p:txBody>
      </p:sp>
      <p:sp>
        <p:nvSpPr>
          <p:cNvPr id="111" name="Rounded Rectangle 110"/>
          <p:cNvSpPr/>
          <p:nvPr/>
        </p:nvSpPr>
        <p:spPr>
          <a:xfrm>
            <a:off x="5614416" y="5228844"/>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5641848" y="5228844"/>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源泉徴収★</a:t>
            </a:r>
          </a:p>
        </p:txBody>
      </p:sp>
      <p:sp>
        <p:nvSpPr>
          <p:cNvPr id="113" name="Rounded Rectangle 112"/>
          <p:cNvSpPr/>
          <p:nvPr/>
        </p:nvSpPr>
        <p:spPr>
          <a:xfrm>
            <a:off x="5614416" y="5443728"/>
            <a:ext cx="2075687" cy="18288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TextBox 113"/>
          <p:cNvSpPr txBox="1"/>
          <p:nvPr/>
        </p:nvSpPr>
        <p:spPr>
          <a:xfrm>
            <a:off x="5641848" y="5443728"/>
            <a:ext cx="2020823"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証憑保存★</a:t>
            </a:r>
          </a:p>
        </p:txBody>
      </p:sp>
      <p:sp>
        <p:nvSpPr>
          <p:cNvPr id="115" name="Chevron 114"/>
          <p:cNvSpPr/>
          <p:nvPr/>
        </p:nvSpPr>
        <p:spPr>
          <a:xfrm rot="5400000">
            <a:off x="6592824" y="1984248"/>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Chevron 115"/>
          <p:cNvSpPr/>
          <p:nvPr/>
        </p:nvSpPr>
        <p:spPr>
          <a:xfrm rot="5400000">
            <a:off x="6592824" y="5632704"/>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Rounded Rectangle 116"/>
          <p:cNvSpPr/>
          <p:nvPr/>
        </p:nvSpPr>
        <p:spPr>
          <a:xfrm>
            <a:off x="7946136" y="2212848"/>
            <a:ext cx="3785615" cy="3529584"/>
          </a:xfrm>
          <a:prstGeom prst="roundRect">
            <a:avLst>
              <a:gd name="adj" fmla="val 4000"/>
            </a:avLst>
          </a:prstGeom>
          <a:solidFill>
            <a:srgbClr val="E8F1FB"/>
          </a:solidFill>
          <a:ln w="1905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TextBox 117"/>
          <p:cNvSpPr txBox="1"/>
          <p:nvPr/>
        </p:nvSpPr>
        <p:spPr>
          <a:xfrm>
            <a:off x="7946136" y="2258568"/>
            <a:ext cx="3785615" cy="274320"/>
          </a:xfrm>
          <a:prstGeom prst="rect">
            <a:avLst/>
          </a:prstGeom>
          <a:noFill/>
        </p:spPr>
        <p:txBody>
          <a:bodyPr wrap="square" lIns="0" rIns="0" tIns="0" bIns="0" anchor="ctr">
            <a:spAutoFit/>
          </a:bodyPr>
          <a:lstStyle/>
          <a:p>
            <a:pPr algn="ctr"/>
            <a:r>
              <a:rPr sz="1250" b="1">
                <a:solidFill>
                  <a:srgbClr val="2A78D6"/>
                </a:solidFill>
                <a:latin typeface="Yu Gothic"/>
                <a:ea typeface="Yu Gothic"/>
                <a:cs typeface="Yu Gothic"/>
              </a:rPr>
              <a:t>Procurement</a:t>
            </a:r>
          </a:p>
        </p:txBody>
      </p:sp>
      <p:sp>
        <p:nvSpPr>
          <p:cNvPr id="119" name="Rounded Rectangle 118"/>
          <p:cNvSpPr/>
          <p:nvPr/>
        </p:nvSpPr>
        <p:spPr>
          <a:xfrm>
            <a:off x="8019288" y="2578608"/>
            <a:ext cx="3639311" cy="731520"/>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8019288" y="2583179"/>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需要・購買申請管理</a:t>
            </a:r>
          </a:p>
        </p:txBody>
      </p:sp>
      <p:sp>
        <p:nvSpPr>
          <p:cNvPr id="121" name="Rounded Rectangle 120"/>
          <p:cNvSpPr/>
          <p:nvPr/>
        </p:nvSpPr>
        <p:spPr>
          <a:xfrm>
            <a:off x="8110727" y="2857499"/>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TextBox 121"/>
          <p:cNvSpPr txBox="1"/>
          <p:nvPr/>
        </p:nvSpPr>
        <p:spPr>
          <a:xfrm>
            <a:off x="8138159" y="2857499"/>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所要量計算・補充依頼</a:t>
            </a:r>
          </a:p>
        </p:txBody>
      </p:sp>
      <p:sp>
        <p:nvSpPr>
          <p:cNvPr id="123" name="Rounded Rectangle 122"/>
          <p:cNvSpPr/>
          <p:nvPr/>
        </p:nvSpPr>
        <p:spPr>
          <a:xfrm>
            <a:off x="9866376" y="2857499"/>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TextBox 123"/>
          <p:cNvSpPr txBox="1"/>
          <p:nvPr/>
        </p:nvSpPr>
        <p:spPr>
          <a:xfrm>
            <a:off x="9893807" y="2857499"/>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購買仕様作成</a:t>
            </a:r>
          </a:p>
        </p:txBody>
      </p:sp>
      <p:sp>
        <p:nvSpPr>
          <p:cNvPr id="125" name="Rounded Rectangle 124"/>
          <p:cNvSpPr/>
          <p:nvPr/>
        </p:nvSpPr>
        <p:spPr>
          <a:xfrm>
            <a:off x="8110727" y="3072383"/>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Box 125"/>
          <p:cNvSpPr txBox="1"/>
          <p:nvPr/>
        </p:nvSpPr>
        <p:spPr>
          <a:xfrm>
            <a:off x="8138159" y="3072383"/>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購買申請・承認★</a:t>
            </a:r>
          </a:p>
        </p:txBody>
      </p:sp>
      <p:sp>
        <p:nvSpPr>
          <p:cNvPr id="127" name="Rounded Rectangle 126"/>
          <p:cNvSpPr/>
          <p:nvPr/>
        </p:nvSpPr>
        <p:spPr>
          <a:xfrm>
            <a:off x="8019288" y="3364991"/>
            <a:ext cx="3639311" cy="731520"/>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TextBox 127"/>
          <p:cNvSpPr txBox="1"/>
          <p:nvPr/>
        </p:nvSpPr>
        <p:spPr>
          <a:xfrm>
            <a:off x="8019288" y="3369563"/>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ソーシング</a:t>
            </a:r>
          </a:p>
        </p:txBody>
      </p:sp>
      <p:sp>
        <p:nvSpPr>
          <p:cNvPr id="129" name="Rounded Rectangle 128"/>
          <p:cNvSpPr/>
          <p:nvPr/>
        </p:nvSpPr>
        <p:spPr>
          <a:xfrm>
            <a:off x="8110727" y="3643883"/>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8138159" y="3643883"/>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サプライヤー探索（RFI）</a:t>
            </a:r>
          </a:p>
        </p:txBody>
      </p:sp>
      <p:sp>
        <p:nvSpPr>
          <p:cNvPr id="131" name="Rounded Rectangle 130"/>
          <p:cNvSpPr/>
          <p:nvPr/>
        </p:nvSpPr>
        <p:spPr>
          <a:xfrm>
            <a:off x="9866376" y="3643883"/>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9893807" y="3643883"/>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RFP・RFQと見積評価</a:t>
            </a:r>
          </a:p>
        </p:txBody>
      </p:sp>
      <p:sp>
        <p:nvSpPr>
          <p:cNvPr id="133" name="Rounded Rectangle 132"/>
          <p:cNvSpPr/>
          <p:nvPr/>
        </p:nvSpPr>
        <p:spPr>
          <a:xfrm>
            <a:off x="8110727" y="3858768"/>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TextBox 133"/>
          <p:cNvSpPr txBox="1"/>
          <p:nvPr/>
        </p:nvSpPr>
        <p:spPr>
          <a:xfrm>
            <a:off x="8138159" y="3858768"/>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価格交渉・価格転嫁の協議★</a:t>
            </a:r>
          </a:p>
        </p:txBody>
      </p:sp>
      <p:sp>
        <p:nvSpPr>
          <p:cNvPr id="135" name="Rounded Rectangle 134"/>
          <p:cNvSpPr/>
          <p:nvPr/>
        </p:nvSpPr>
        <p:spPr>
          <a:xfrm>
            <a:off x="9866376" y="3858768"/>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9893807" y="3858768"/>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発注先選定</a:t>
            </a:r>
          </a:p>
        </p:txBody>
      </p:sp>
      <p:sp>
        <p:nvSpPr>
          <p:cNvPr id="137" name="Rounded Rectangle 136"/>
          <p:cNvSpPr/>
          <p:nvPr/>
        </p:nvSpPr>
        <p:spPr>
          <a:xfrm>
            <a:off x="8019288" y="4151376"/>
            <a:ext cx="3639311" cy="731520"/>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TextBox 137"/>
          <p:cNvSpPr txBox="1"/>
          <p:nvPr/>
        </p:nvSpPr>
        <p:spPr>
          <a:xfrm>
            <a:off x="8019288" y="4155948"/>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契約管理★</a:t>
            </a:r>
          </a:p>
        </p:txBody>
      </p:sp>
      <p:sp>
        <p:nvSpPr>
          <p:cNvPr id="139" name="Rounded Rectangle 138"/>
          <p:cNvSpPr/>
          <p:nvPr/>
        </p:nvSpPr>
        <p:spPr>
          <a:xfrm>
            <a:off x="8110727" y="4430268"/>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TextBox 139"/>
          <p:cNvSpPr txBox="1"/>
          <p:nvPr/>
        </p:nvSpPr>
        <p:spPr>
          <a:xfrm>
            <a:off x="8138159" y="4430268"/>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契約書作成・審査</a:t>
            </a:r>
          </a:p>
        </p:txBody>
      </p:sp>
      <p:sp>
        <p:nvSpPr>
          <p:cNvPr id="141" name="Rounded Rectangle 140"/>
          <p:cNvSpPr/>
          <p:nvPr/>
        </p:nvSpPr>
        <p:spPr>
          <a:xfrm>
            <a:off x="9866376" y="4430268"/>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TextBox 141"/>
          <p:cNvSpPr txBox="1"/>
          <p:nvPr/>
        </p:nvSpPr>
        <p:spPr>
          <a:xfrm>
            <a:off x="9893807" y="4430268"/>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契約締結★</a:t>
            </a:r>
          </a:p>
        </p:txBody>
      </p:sp>
      <p:sp>
        <p:nvSpPr>
          <p:cNvPr id="143" name="Rounded Rectangle 142"/>
          <p:cNvSpPr/>
          <p:nvPr/>
        </p:nvSpPr>
        <p:spPr>
          <a:xfrm>
            <a:off x="8110727" y="4645152"/>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TextBox 143"/>
          <p:cNvSpPr txBox="1"/>
          <p:nvPr/>
        </p:nvSpPr>
        <p:spPr>
          <a:xfrm>
            <a:off x="8138159" y="4645152"/>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契約期限・更新管理</a:t>
            </a:r>
          </a:p>
        </p:txBody>
      </p:sp>
      <p:sp>
        <p:nvSpPr>
          <p:cNvPr id="145" name="Rounded Rectangle 144"/>
          <p:cNvSpPr/>
          <p:nvPr/>
        </p:nvSpPr>
        <p:spPr>
          <a:xfrm>
            <a:off x="9866376" y="4645152"/>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TextBox 145"/>
          <p:cNvSpPr txBox="1"/>
          <p:nvPr/>
        </p:nvSpPr>
        <p:spPr>
          <a:xfrm>
            <a:off x="9893807" y="4645152"/>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単価・カタログ管理</a:t>
            </a:r>
          </a:p>
        </p:txBody>
      </p:sp>
      <p:sp>
        <p:nvSpPr>
          <p:cNvPr id="147" name="Rounded Rectangle 146"/>
          <p:cNvSpPr/>
          <p:nvPr/>
        </p:nvSpPr>
        <p:spPr>
          <a:xfrm>
            <a:off x="8019288" y="4937760"/>
            <a:ext cx="3639311" cy="731520"/>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TextBox 147"/>
          <p:cNvSpPr txBox="1"/>
          <p:nvPr/>
        </p:nvSpPr>
        <p:spPr>
          <a:xfrm>
            <a:off x="8019288" y="4942332"/>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発注管理★</a:t>
            </a:r>
          </a:p>
        </p:txBody>
      </p:sp>
      <p:sp>
        <p:nvSpPr>
          <p:cNvPr id="149" name="Rounded Rectangle 148"/>
          <p:cNvSpPr/>
          <p:nvPr/>
        </p:nvSpPr>
        <p:spPr>
          <a:xfrm>
            <a:off x="8110727" y="5216652"/>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TextBox 149"/>
          <p:cNvSpPr txBox="1"/>
          <p:nvPr/>
        </p:nvSpPr>
        <p:spPr>
          <a:xfrm>
            <a:off x="8138159" y="5216652"/>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発注書作成・承認</a:t>
            </a:r>
          </a:p>
        </p:txBody>
      </p:sp>
      <p:sp>
        <p:nvSpPr>
          <p:cNvPr id="151" name="Rounded Rectangle 150"/>
          <p:cNvSpPr/>
          <p:nvPr/>
        </p:nvSpPr>
        <p:spPr>
          <a:xfrm>
            <a:off x="9866376" y="5216652"/>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TextBox 151"/>
          <p:cNvSpPr txBox="1"/>
          <p:nvPr/>
        </p:nvSpPr>
        <p:spPr>
          <a:xfrm>
            <a:off x="9893807" y="5216652"/>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取引条件の明示★</a:t>
            </a:r>
          </a:p>
        </p:txBody>
      </p:sp>
      <p:sp>
        <p:nvSpPr>
          <p:cNvPr id="153" name="Rounded Rectangle 152"/>
          <p:cNvSpPr/>
          <p:nvPr/>
        </p:nvSpPr>
        <p:spPr>
          <a:xfrm>
            <a:off x="8110727" y="5431536"/>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TextBox 153"/>
          <p:cNvSpPr txBox="1"/>
          <p:nvPr/>
        </p:nvSpPr>
        <p:spPr>
          <a:xfrm>
            <a:off x="8138159" y="5431536"/>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発注送付・請書管理</a:t>
            </a:r>
          </a:p>
        </p:txBody>
      </p:sp>
      <p:sp>
        <p:nvSpPr>
          <p:cNvPr id="155" name="Rounded Rectangle 154"/>
          <p:cNvSpPr/>
          <p:nvPr/>
        </p:nvSpPr>
        <p:spPr>
          <a:xfrm>
            <a:off x="9866376" y="5431536"/>
            <a:ext cx="1700783" cy="18288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TextBox 155"/>
          <p:cNvSpPr txBox="1"/>
          <p:nvPr/>
        </p:nvSpPr>
        <p:spPr>
          <a:xfrm>
            <a:off x="9893807" y="5431536"/>
            <a:ext cx="1645919"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納期管理・発注変更</a:t>
            </a:r>
          </a:p>
        </p:txBody>
      </p:sp>
      <p:sp>
        <p:nvSpPr>
          <p:cNvPr id="157" name="Chevron 156"/>
          <p:cNvSpPr/>
          <p:nvPr/>
        </p:nvSpPr>
        <p:spPr>
          <a:xfrm rot="5400000">
            <a:off x="9779508" y="1984248"/>
            <a:ext cx="118872" cy="310896"/>
          </a:xfrm>
          <a:prstGeom prst="chevron">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Chevron 157"/>
          <p:cNvSpPr/>
          <p:nvPr/>
        </p:nvSpPr>
        <p:spPr>
          <a:xfrm rot="5400000">
            <a:off x="9779508" y="5632704"/>
            <a:ext cx="118872" cy="310896"/>
          </a:xfrm>
          <a:prstGeom prst="chevron">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VS×ケイパビリティマップ全体像</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各段階（VS L2）が、どの能力（ケイパビリティL2）を中核として使うか。円の大きさ＝「主」の関係の件数</a:t>
            </a:r>
          </a:p>
        </p:txBody>
      </p:sp>
      <p:sp>
        <p:nvSpPr>
          <p:cNvPr id="4" name="Rectangle 3"/>
          <p:cNvSpPr/>
          <p:nvPr/>
        </p:nvSpPr>
        <p:spPr>
          <a:xfrm>
            <a:off x="4416552" y="1261872"/>
            <a:ext cx="4337913"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416552" y="1261872"/>
            <a:ext cx="4337913"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1：調達（Procure）</a:t>
            </a:r>
          </a:p>
        </p:txBody>
      </p:sp>
      <p:sp>
        <p:nvSpPr>
          <p:cNvPr id="6" name="Rectangle 5"/>
          <p:cNvSpPr/>
          <p:nvPr/>
        </p:nvSpPr>
        <p:spPr>
          <a:xfrm>
            <a:off x="8827617" y="1261872"/>
            <a:ext cx="2867558"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827617" y="1261872"/>
            <a:ext cx="2867558"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2：受入・支払（Pay）</a:t>
            </a:r>
          </a:p>
        </p:txBody>
      </p:sp>
      <p:sp>
        <p:nvSpPr>
          <p:cNvPr id="8" name="Right Arrow 7"/>
          <p:cNvSpPr/>
          <p:nvPr/>
        </p:nvSpPr>
        <p:spPr>
          <a:xfrm>
            <a:off x="4840833"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379976" y="1975104"/>
            <a:ext cx="147035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需要特定・購買申請</a:t>
            </a:r>
          </a:p>
        </p:txBody>
      </p:sp>
      <p:sp>
        <p:nvSpPr>
          <p:cNvPr id="10" name="Right Arrow 9"/>
          <p:cNvSpPr/>
          <p:nvPr/>
        </p:nvSpPr>
        <p:spPr>
          <a:xfrm>
            <a:off x="6311188"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850331" y="1975104"/>
            <a:ext cx="147035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サプライヤー選定・見積</a:t>
            </a:r>
          </a:p>
        </p:txBody>
      </p:sp>
      <p:sp>
        <p:nvSpPr>
          <p:cNvPr id="12" name="Right Arrow 11"/>
          <p:cNvSpPr/>
          <p:nvPr/>
        </p:nvSpPr>
        <p:spPr>
          <a:xfrm>
            <a:off x="7781544"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20686" y="1975104"/>
            <a:ext cx="147035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契約締結・発注</a:t>
            </a:r>
          </a:p>
        </p:txBody>
      </p:sp>
      <p:sp>
        <p:nvSpPr>
          <p:cNvPr id="14" name="Right Arrow 13"/>
          <p:cNvSpPr/>
          <p:nvPr/>
        </p:nvSpPr>
        <p:spPr>
          <a:xfrm>
            <a:off x="9251899"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91041" y="1975104"/>
            <a:ext cx="147035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受入・検収</a:t>
            </a:r>
          </a:p>
        </p:txBody>
      </p:sp>
      <p:sp>
        <p:nvSpPr>
          <p:cNvPr id="16" name="Right Arrow 15"/>
          <p:cNvSpPr/>
          <p:nvPr/>
        </p:nvSpPr>
        <p:spPr>
          <a:xfrm>
            <a:off x="10722254"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261396" y="1975104"/>
            <a:ext cx="1470355"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請求照合・支払決済</a:t>
            </a:r>
          </a:p>
        </p:txBody>
      </p:sp>
      <p:sp>
        <p:nvSpPr>
          <p:cNvPr id="18" name="Rectangle 17"/>
          <p:cNvSpPr/>
          <p:nvPr/>
        </p:nvSpPr>
        <p:spPr>
          <a:xfrm>
            <a:off x="2103120" y="233172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194560" y="233172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調達戦略・カテゴリ管理</a:t>
            </a:r>
          </a:p>
        </p:txBody>
      </p:sp>
      <p:sp>
        <p:nvSpPr>
          <p:cNvPr id="20" name="Oval 19"/>
          <p:cNvSpPr/>
          <p:nvPr/>
        </p:nvSpPr>
        <p:spPr>
          <a:xfrm>
            <a:off x="5048859" y="2368296"/>
            <a:ext cx="132588" cy="132588"/>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6510692" y="2359773"/>
            <a:ext cx="149632" cy="149632"/>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2194560" y="253746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調達ガバナンス・取引適正化★</a:t>
            </a:r>
          </a:p>
        </p:txBody>
      </p:sp>
      <p:sp>
        <p:nvSpPr>
          <p:cNvPr id="23" name="Oval 22"/>
          <p:cNvSpPr/>
          <p:nvPr/>
        </p:nvSpPr>
        <p:spPr>
          <a:xfrm>
            <a:off x="5069433" y="2594610"/>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6539788" y="2594610"/>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8010144" y="2594610"/>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9480499" y="2594610"/>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10915219" y="2558974"/>
            <a:ext cx="162710" cy="16271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011679" y="2350008"/>
            <a:ext cx="54864" cy="37490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365760" y="2331720"/>
            <a:ext cx="1554480" cy="411480"/>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Strategy</a:t>
            </a:r>
          </a:p>
        </p:txBody>
      </p:sp>
      <p:cxnSp>
        <p:nvCxnSpPr>
          <p:cNvPr id="30" name="Connector 29"/>
          <p:cNvCxnSpPr/>
          <p:nvPr/>
        </p:nvCxnSpPr>
        <p:spPr>
          <a:xfrm>
            <a:off x="2103120" y="2743200"/>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2103120" y="274320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194560" y="274320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需要・購買申請管理</a:t>
            </a:r>
          </a:p>
        </p:txBody>
      </p:sp>
      <p:sp>
        <p:nvSpPr>
          <p:cNvPr id="33" name="Oval 32"/>
          <p:cNvSpPr/>
          <p:nvPr/>
        </p:nvSpPr>
        <p:spPr>
          <a:xfrm>
            <a:off x="5014999" y="2745916"/>
            <a:ext cx="200307" cy="200307"/>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2194560" y="294894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ソーシング</a:t>
            </a:r>
          </a:p>
        </p:txBody>
      </p:sp>
      <p:sp>
        <p:nvSpPr>
          <p:cNvPr id="35" name="Oval 34"/>
          <p:cNvSpPr/>
          <p:nvPr/>
        </p:nvSpPr>
        <p:spPr>
          <a:xfrm>
            <a:off x="6493783" y="2960085"/>
            <a:ext cx="183449" cy="183449"/>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2103120" y="315468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2194560" y="315468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契約管理★</a:t>
            </a:r>
          </a:p>
        </p:txBody>
      </p:sp>
      <p:sp>
        <p:nvSpPr>
          <p:cNvPr id="38" name="Oval 37"/>
          <p:cNvSpPr/>
          <p:nvPr/>
        </p:nvSpPr>
        <p:spPr>
          <a:xfrm>
            <a:off x="5069433" y="3211830"/>
            <a:ext cx="91440" cy="91440"/>
          </a:xfrm>
          <a:prstGeom prst="ellipse">
            <a:avLst/>
          </a:prstGeom>
          <a:solidFill>
            <a:srgbClr val="FFFFFF"/>
          </a:solidFill>
          <a:ln w="1270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7968996" y="3170682"/>
            <a:ext cx="173736" cy="173736"/>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194560" y="336042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発注管理★</a:t>
            </a:r>
          </a:p>
        </p:txBody>
      </p:sp>
      <p:sp>
        <p:nvSpPr>
          <p:cNvPr id="41" name="Oval 40"/>
          <p:cNvSpPr/>
          <p:nvPr/>
        </p:nvSpPr>
        <p:spPr>
          <a:xfrm>
            <a:off x="7968996" y="3376422"/>
            <a:ext cx="173736" cy="173736"/>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10950854" y="3417570"/>
            <a:ext cx="91440" cy="91440"/>
          </a:xfrm>
          <a:prstGeom prst="ellipse">
            <a:avLst/>
          </a:prstGeom>
          <a:solidFill>
            <a:srgbClr val="FFFFFF"/>
          </a:solidFill>
          <a:ln w="1270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2011679" y="2761488"/>
            <a:ext cx="54864" cy="786384"/>
          </a:xfrm>
          <a:prstGeom prst="rect">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365760" y="2743200"/>
            <a:ext cx="1554480" cy="822960"/>
          </a:xfrm>
          <a:prstGeom prst="rect">
            <a:avLst/>
          </a:prstGeom>
          <a:noFill/>
        </p:spPr>
        <p:txBody>
          <a:bodyPr wrap="square" lIns="0" rIns="0" tIns="0" bIns="0" anchor="ctr">
            <a:spAutoFit/>
          </a:bodyPr>
          <a:lstStyle/>
          <a:p>
            <a:pPr algn="r"/>
            <a:r>
              <a:rPr sz="900" b="1">
                <a:solidFill>
                  <a:srgbClr val="2A78D6"/>
                </a:solidFill>
                <a:latin typeface="Yu Gothic"/>
                <a:ea typeface="Yu Gothic"/>
                <a:cs typeface="Yu Gothic"/>
              </a:rPr>
              <a:t>Procurement</a:t>
            </a:r>
          </a:p>
        </p:txBody>
      </p:sp>
      <p:cxnSp>
        <p:nvCxnSpPr>
          <p:cNvPr id="45" name="Connector 44"/>
          <p:cNvCxnSpPr/>
          <p:nvPr/>
        </p:nvCxnSpPr>
        <p:spPr>
          <a:xfrm>
            <a:off x="2103120" y="3566160"/>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103120" y="356616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2194560" y="356616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入荷・受入管理</a:t>
            </a:r>
          </a:p>
        </p:txBody>
      </p:sp>
      <p:sp>
        <p:nvSpPr>
          <p:cNvPr id="48" name="Oval 47"/>
          <p:cNvSpPr/>
          <p:nvPr/>
        </p:nvSpPr>
        <p:spPr>
          <a:xfrm>
            <a:off x="9444863" y="3587674"/>
            <a:ext cx="162710" cy="16271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2194560" y="3771900"/>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検収管理★</a:t>
            </a:r>
          </a:p>
        </p:txBody>
      </p:sp>
      <p:sp>
        <p:nvSpPr>
          <p:cNvPr id="50" name="Oval 49"/>
          <p:cNvSpPr/>
          <p:nvPr/>
        </p:nvSpPr>
        <p:spPr>
          <a:xfrm>
            <a:off x="9444863" y="3793414"/>
            <a:ext cx="162710" cy="16271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2103120" y="397763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2194560" y="397763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在庫・資産計上</a:t>
            </a:r>
          </a:p>
        </p:txBody>
      </p:sp>
      <p:sp>
        <p:nvSpPr>
          <p:cNvPr id="53" name="Oval 52"/>
          <p:cNvSpPr/>
          <p:nvPr/>
        </p:nvSpPr>
        <p:spPr>
          <a:xfrm>
            <a:off x="5069433" y="4034789"/>
            <a:ext cx="91440" cy="91440"/>
          </a:xfrm>
          <a:prstGeom prst="ellipse">
            <a:avLst/>
          </a:prstGeom>
          <a:solidFill>
            <a:srgbClr val="FFFFFF"/>
          </a:solidFill>
          <a:ln w="1270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9451403" y="4005693"/>
            <a:ext cx="149632" cy="149632"/>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ectangle 54"/>
          <p:cNvSpPr/>
          <p:nvPr/>
        </p:nvSpPr>
        <p:spPr>
          <a:xfrm>
            <a:off x="2011679" y="3584448"/>
            <a:ext cx="54864" cy="580643"/>
          </a:xfrm>
          <a:prstGeom prst="rect">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365760" y="3566160"/>
            <a:ext cx="1554480" cy="617219"/>
          </a:xfrm>
          <a:prstGeom prst="rect">
            <a:avLst/>
          </a:prstGeom>
          <a:noFill/>
        </p:spPr>
        <p:txBody>
          <a:bodyPr wrap="square" lIns="0" rIns="0" tIns="0" bIns="0" anchor="ctr">
            <a:spAutoFit/>
          </a:bodyPr>
          <a:lstStyle/>
          <a:p>
            <a:pPr algn="r"/>
            <a:r>
              <a:rPr sz="900" b="1">
                <a:solidFill>
                  <a:srgbClr val="0E7A52"/>
                </a:solidFill>
                <a:latin typeface="Yu Gothic"/>
                <a:ea typeface="Yu Gothic"/>
                <a:cs typeface="Yu Gothic"/>
              </a:rPr>
              <a:t>Receiving &amp; Logistics</a:t>
            </a:r>
          </a:p>
        </p:txBody>
      </p:sp>
      <p:cxnSp>
        <p:nvCxnSpPr>
          <p:cNvPr id="57" name="Connector 56"/>
          <p:cNvCxnSpPr/>
          <p:nvPr/>
        </p:nvCxnSpPr>
        <p:spPr>
          <a:xfrm>
            <a:off x="2103120" y="418337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194560" y="418337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請求書受領・照合★</a:t>
            </a:r>
          </a:p>
        </p:txBody>
      </p:sp>
      <p:sp>
        <p:nvSpPr>
          <p:cNvPr id="59" name="Oval 58"/>
          <p:cNvSpPr/>
          <p:nvPr/>
        </p:nvSpPr>
        <p:spPr>
          <a:xfrm>
            <a:off x="10909706" y="4199381"/>
            <a:ext cx="173736" cy="173736"/>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ectangle 59"/>
          <p:cNvSpPr/>
          <p:nvPr/>
        </p:nvSpPr>
        <p:spPr>
          <a:xfrm>
            <a:off x="2103120" y="438911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2194560" y="438911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支払管理★</a:t>
            </a:r>
          </a:p>
        </p:txBody>
      </p:sp>
      <p:sp>
        <p:nvSpPr>
          <p:cNvPr id="62" name="Oval 61"/>
          <p:cNvSpPr/>
          <p:nvPr/>
        </p:nvSpPr>
        <p:spPr>
          <a:xfrm>
            <a:off x="10915219" y="4410634"/>
            <a:ext cx="162710" cy="16271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2194560" y="459485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債務会計・税務★</a:t>
            </a:r>
          </a:p>
        </p:txBody>
      </p:sp>
      <p:sp>
        <p:nvSpPr>
          <p:cNvPr id="64" name="Oval 63"/>
          <p:cNvSpPr/>
          <p:nvPr/>
        </p:nvSpPr>
        <p:spPr>
          <a:xfrm>
            <a:off x="6519214" y="4631435"/>
            <a:ext cx="132588" cy="132588"/>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8010144" y="4652009"/>
            <a:ext cx="91440" cy="91440"/>
          </a:xfrm>
          <a:prstGeom prst="ellipse">
            <a:avLst/>
          </a:prstGeom>
          <a:solidFill>
            <a:srgbClr val="FFFFFF"/>
          </a:solidFill>
          <a:ln w="1270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10904849" y="4606005"/>
            <a:ext cx="183449" cy="183449"/>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2011679" y="4201667"/>
            <a:ext cx="54864" cy="580643"/>
          </a:xfrm>
          <a:prstGeom prst="rect">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365760" y="4183379"/>
            <a:ext cx="1554480" cy="617219"/>
          </a:xfrm>
          <a:prstGeom prst="rect">
            <a:avLst/>
          </a:prstGeom>
          <a:noFill/>
        </p:spPr>
        <p:txBody>
          <a:bodyPr wrap="square" lIns="0" rIns="0" tIns="0" bIns="0" anchor="ctr">
            <a:spAutoFit/>
          </a:bodyPr>
          <a:lstStyle/>
          <a:p>
            <a:pPr algn="r"/>
            <a:r>
              <a:rPr sz="900" b="1">
                <a:solidFill>
                  <a:srgbClr val="4A3AA7"/>
                </a:solidFill>
                <a:latin typeface="Yu Gothic"/>
                <a:ea typeface="Yu Gothic"/>
                <a:cs typeface="Yu Gothic"/>
              </a:rPr>
              <a:t>Accounts Payable</a:t>
            </a:r>
          </a:p>
        </p:txBody>
      </p:sp>
      <p:cxnSp>
        <p:nvCxnSpPr>
          <p:cNvPr id="69" name="Connector 68"/>
          <p:cNvCxnSpPr/>
          <p:nvPr/>
        </p:nvCxnSpPr>
        <p:spPr>
          <a:xfrm>
            <a:off x="2103120" y="480059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2103120" y="480059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2194560" y="480059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サプライヤー登録・審査★</a:t>
            </a:r>
          </a:p>
        </p:txBody>
      </p:sp>
      <p:sp>
        <p:nvSpPr>
          <p:cNvPr id="72" name="Oval 71"/>
          <p:cNvSpPr/>
          <p:nvPr/>
        </p:nvSpPr>
        <p:spPr>
          <a:xfrm>
            <a:off x="6504153" y="4822114"/>
            <a:ext cx="162710" cy="16271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Oval 72"/>
          <p:cNvSpPr/>
          <p:nvPr/>
        </p:nvSpPr>
        <p:spPr>
          <a:xfrm>
            <a:off x="10950854" y="4857749"/>
            <a:ext cx="91440" cy="91440"/>
          </a:xfrm>
          <a:prstGeom prst="ellipse">
            <a:avLst/>
          </a:prstGeom>
          <a:solidFill>
            <a:srgbClr val="FFFFFF"/>
          </a:solidFill>
          <a:ln w="1270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2194560" y="500633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サプライヤー評価・関係管理</a:t>
            </a:r>
          </a:p>
        </p:txBody>
      </p:sp>
      <p:sp>
        <p:nvSpPr>
          <p:cNvPr id="75" name="Oval 74"/>
          <p:cNvSpPr/>
          <p:nvPr/>
        </p:nvSpPr>
        <p:spPr>
          <a:xfrm>
            <a:off x="6539788" y="5063489"/>
            <a:ext cx="91440" cy="91440"/>
          </a:xfrm>
          <a:prstGeom prst="ellipse">
            <a:avLst/>
          </a:prstGeom>
          <a:solidFill>
            <a:srgbClr val="FFFFFF"/>
          </a:solidFill>
          <a:ln w="1270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10930280" y="5042915"/>
            <a:ext cx="132588" cy="132588"/>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ectangle 76"/>
          <p:cNvSpPr/>
          <p:nvPr/>
        </p:nvSpPr>
        <p:spPr>
          <a:xfrm>
            <a:off x="2103120" y="521207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2194560" y="521207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サプライヤーリスク管理</a:t>
            </a:r>
          </a:p>
        </p:txBody>
      </p:sp>
      <p:sp>
        <p:nvSpPr>
          <p:cNvPr id="79" name="Oval 78"/>
          <p:cNvSpPr/>
          <p:nvPr/>
        </p:nvSpPr>
        <p:spPr>
          <a:xfrm>
            <a:off x="10921758" y="5240133"/>
            <a:ext cx="149632" cy="149632"/>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angle 79"/>
          <p:cNvSpPr/>
          <p:nvPr/>
        </p:nvSpPr>
        <p:spPr>
          <a:xfrm>
            <a:off x="2011679" y="4818887"/>
            <a:ext cx="54864" cy="580643"/>
          </a:xfrm>
          <a:prstGeom prst="rect">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365760" y="4800599"/>
            <a:ext cx="1554480" cy="617219"/>
          </a:xfrm>
          <a:prstGeom prst="rect">
            <a:avLst/>
          </a:prstGeom>
          <a:noFill/>
        </p:spPr>
        <p:txBody>
          <a:bodyPr wrap="square" lIns="0" rIns="0" tIns="0" bIns="0" anchor="ctr">
            <a:spAutoFit/>
          </a:bodyPr>
          <a:lstStyle/>
          <a:p>
            <a:pPr algn="r"/>
            <a:r>
              <a:rPr sz="900" b="1">
                <a:solidFill>
                  <a:srgbClr val="C24E1C"/>
                </a:solidFill>
                <a:latin typeface="Yu Gothic"/>
                <a:ea typeface="Yu Gothic"/>
                <a:cs typeface="Yu Gothic"/>
              </a:rPr>
              <a:t>Supplier Management</a:t>
            </a:r>
          </a:p>
        </p:txBody>
      </p:sp>
      <p:cxnSp>
        <p:nvCxnSpPr>
          <p:cNvPr id="82" name="Connector 81"/>
          <p:cNvCxnSpPr/>
          <p:nvPr/>
        </p:nvCxnSpPr>
        <p:spPr>
          <a:xfrm>
            <a:off x="2103120" y="541781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2194560" y="541781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調達マスタ・データ管理</a:t>
            </a:r>
          </a:p>
        </p:txBody>
      </p:sp>
      <p:sp>
        <p:nvSpPr>
          <p:cNvPr id="84" name="Oval 83"/>
          <p:cNvSpPr/>
          <p:nvPr/>
        </p:nvSpPr>
        <p:spPr>
          <a:xfrm>
            <a:off x="8010144" y="5474969"/>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Oval 84"/>
          <p:cNvSpPr/>
          <p:nvPr/>
        </p:nvSpPr>
        <p:spPr>
          <a:xfrm>
            <a:off x="10921758" y="5445873"/>
            <a:ext cx="149632" cy="149632"/>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2103120" y="562355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2194560" y="562355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調達分析・レポーティング</a:t>
            </a:r>
          </a:p>
        </p:txBody>
      </p:sp>
      <p:sp>
        <p:nvSpPr>
          <p:cNvPr id="88" name="Oval 87"/>
          <p:cNvSpPr/>
          <p:nvPr/>
        </p:nvSpPr>
        <p:spPr>
          <a:xfrm>
            <a:off x="6539788" y="5680709"/>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p:cNvSpPr/>
          <p:nvPr/>
        </p:nvSpPr>
        <p:spPr>
          <a:xfrm>
            <a:off x="10921758" y="5651613"/>
            <a:ext cx="149632" cy="149632"/>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2194560" y="5829299"/>
            <a:ext cx="210312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内部統制・監査対応</a:t>
            </a:r>
          </a:p>
        </p:txBody>
      </p:sp>
      <p:sp>
        <p:nvSpPr>
          <p:cNvPr id="91" name="Oval 90"/>
          <p:cNvSpPr/>
          <p:nvPr/>
        </p:nvSpPr>
        <p:spPr>
          <a:xfrm>
            <a:off x="6539788" y="5886449"/>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Oval 91"/>
          <p:cNvSpPr/>
          <p:nvPr/>
        </p:nvSpPr>
        <p:spPr>
          <a:xfrm>
            <a:off x="10921758" y="5857353"/>
            <a:ext cx="149632" cy="149632"/>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angle 92"/>
          <p:cNvSpPr/>
          <p:nvPr/>
        </p:nvSpPr>
        <p:spPr>
          <a:xfrm>
            <a:off x="2011679" y="5436107"/>
            <a:ext cx="54864" cy="580643"/>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extBox 93"/>
          <p:cNvSpPr txBox="1"/>
          <p:nvPr/>
        </p:nvSpPr>
        <p:spPr>
          <a:xfrm>
            <a:off x="365760" y="5417819"/>
            <a:ext cx="1554480" cy="617219"/>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Foundation</a:t>
            </a:r>
          </a:p>
        </p:txBody>
      </p:sp>
      <p:cxnSp>
        <p:nvCxnSpPr>
          <p:cNvPr id="95" name="Connector 94"/>
          <p:cNvCxnSpPr/>
          <p:nvPr/>
        </p:nvCxnSpPr>
        <p:spPr>
          <a:xfrm>
            <a:off x="2103120" y="603503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850331"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320686"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791041"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261396"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1041" y="2286000"/>
            <a:ext cx="0" cy="3767327"/>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457200" y="6144767"/>
            <a:ext cx="2011680" cy="22860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円の大きさ＝「主」の関係の件数</a:t>
            </a:r>
          </a:p>
        </p:txBody>
      </p:sp>
      <p:sp>
        <p:nvSpPr>
          <p:cNvPr id="102" name="Oval 101"/>
          <p:cNvSpPr/>
          <p:nvPr/>
        </p:nvSpPr>
        <p:spPr>
          <a:xfrm>
            <a:off x="2606040" y="6192773"/>
            <a:ext cx="132588" cy="132588"/>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2784348"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a:t>
            </a:r>
          </a:p>
        </p:txBody>
      </p:sp>
      <p:sp>
        <p:nvSpPr>
          <p:cNvPr id="104" name="Oval 103"/>
          <p:cNvSpPr/>
          <p:nvPr/>
        </p:nvSpPr>
        <p:spPr>
          <a:xfrm>
            <a:off x="3241548" y="6177712"/>
            <a:ext cx="162710" cy="162710"/>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3449978"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3</a:t>
            </a:r>
          </a:p>
        </p:txBody>
      </p:sp>
      <p:sp>
        <p:nvSpPr>
          <p:cNvPr id="106" name="Oval 105"/>
          <p:cNvSpPr/>
          <p:nvPr/>
        </p:nvSpPr>
        <p:spPr>
          <a:xfrm>
            <a:off x="3907178" y="6167343"/>
            <a:ext cx="183449" cy="183449"/>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4136348"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5</a:t>
            </a:r>
          </a:p>
        </p:txBody>
      </p:sp>
      <p:sp>
        <p:nvSpPr>
          <p:cNvPr id="108" name="Oval 107"/>
          <p:cNvSpPr/>
          <p:nvPr/>
        </p:nvSpPr>
        <p:spPr>
          <a:xfrm>
            <a:off x="4593548" y="6148287"/>
            <a:ext cx="221561" cy="221561"/>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4860829"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10</a:t>
            </a:r>
          </a:p>
        </p:txBody>
      </p:sp>
      <p:sp>
        <p:nvSpPr>
          <p:cNvPr id="110" name="Oval 109"/>
          <p:cNvSpPr/>
          <p:nvPr/>
        </p:nvSpPr>
        <p:spPr>
          <a:xfrm>
            <a:off x="5318029" y="6213347"/>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TextBox 110"/>
          <p:cNvSpPr txBox="1"/>
          <p:nvPr/>
        </p:nvSpPr>
        <p:spPr>
          <a:xfrm>
            <a:off x="5455189" y="6144767"/>
            <a:ext cx="11887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支援の関係のみ</a:t>
            </a:r>
          </a:p>
        </p:txBody>
      </p:sp>
      <p:sp>
        <p:nvSpPr>
          <p:cNvPr id="112" name="TextBox 111"/>
          <p:cNvSpPr txBox="1"/>
          <p:nvPr/>
        </p:nvSpPr>
        <p:spPr>
          <a:xfrm>
            <a:off x="457200" y="6419087"/>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件数は、配下の仕事（VS L4）と能力（ケイパビリティL3）の間の「主」の関係の数。段階1〜4は中核の能力が対角線上に並ぶが、段階5（請求照合・支払決済）は支払・債務のほか、振り返り（評価・リスク・分析・統制）で多くの能力を使う。取引適正化は全段階に関わる。詳細（VS L3×ケイパビリティL2）はxlsxの「VS×ケイパビリティ」シート。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アプリケーションマップ全体像</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各能力（ケイパビリティL2）を主に支えるアプリケーション（種類の単位、●のみ。括弧内は略称）</a:t>
            </a:r>
          </a:p>
        </p:txBody>
      </p:sp>
      <p:sp>
        <p:nvSpPr>
          <p:cNvPr id="4" name="Rounded Rectangle 3"/>
          <p:cNvSpPr/>
          <p:nvPr/>
        </p:nvSpPr>
        <p:spPr>
          <a:xfrm>
            <a:off x="9235440" y="914400"/>
            <a:ext cx="384048" cy="155448"/>
          </a:xfrm>
          <a:prstGeom prst="roundRect">
            <a:avLst/>
          </a:prstGeom>
          <a:solidFill>
            <a:srgbClr val="E4EAEC"/>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692640" y="877824"/>
            <a:ext cx="210312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複数の領域で使うアプリケーション</a:t>
            </a:r>
          </a:p>
        </p:txBody>
      </p:sp>
      <p:sp>
        <p:nvSpPr>
          <p:cNvPr id="6" name="Rounded Rectangle 5"/>
          <p:cNvSpPr/>
          <p:nvPr/>
        </p:nvSpPr>
        <p:spPr>
          <a:xfrm>
            <a:off x="457200" y="1280160"/>
            <a:ext cx="11274552" cy="749808"/>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57200" y="131673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調達戦略・ガバナンス（Strategy &amp; Governance）</a:t>
            </a:r>
          </a:p>
        </p:txBody>
      </p:sp>
      <p:sp>
        <p:nvSpPr>
          <p:cNvPr id="8" name="TextBox 7"/>
          <p:cNvSpPr txBox="1"/>
          <p:nvPr/>
        </p:nvSpPr>
        <p:spPr>
          <a:xfrm>
            <a:off x="457200" y="1554480"/>
            <a:ext cx="5637276"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調達戦略・カテゴリ管理</a:t>
            </a:r>
          </a:p>
        </p:txBody>
      </p:sp>
      <p:sp>
        <p:nvSpPr>
          <p:cNvPr id="9" name="Rounded Rectangle 8"/>
          <p:cNvSpPr/>
          <p:nvPr/>
        </p:nvSpPr>
        <p:spPr>
          <a:xfrm>
            <a:off x="2384298" y="1737360"/>
            <a:ext cx="1783080" cy="256032"/>
          </a:xfrm>
          <a:prstGeom prst="round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411729" y="1737360"/>
            <a:ext cx="1728216" cy="256032"/>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調達分析</a:t>
            </a:r>
          </a:p>
          <a:p>
            <a:pPr algn="ctr"/>
            <a:r>
              <a:rPr sz="600" b="0">
                <a:solidFill>
                  <a:srgbClr val="5B6B70"/>
                </a:solidFill>
                <a:latin typeface="Yu Gothic"/>
                <a:ea typeface="Yu Gothic"/>
                <a:cs typeface="Yu Gothic"/>
              </a:rPr>
              <a:t>（支出分析BI）</a:t>
            </a:r>
          </a:p>
        </p:txBody>
      </p:sp>
      <p:sp>
        <p:nvSpPr>
          <p:cNvPr id="11" name="TextBox 10"/>
          <p:cNvSpPr txBox="1"/>
          <p:nvPr/>
        </p:nvSpPr>
        <p:spPr>
          <a:xfrm>
            <a:off x="6094476" y="1554480"/>
            <a:ext cx="5637276"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調達ガバナンス・取引適正化★</a:t>
            </a:r>
          </a:p>
        </p:txBody>
      </p:sp>
      <p:sp>
        <p:nvSpPr>
          <p:cNvPr id="12" name="TextBox 11"/>
          <p:cNvSpPr txBox="1"/>
          <p:nvPr/>
        </p:nvSpPr>
        <p:spPr>
          <a:xfrm>
            <a:off x="6094476" y="1737360"/>
            <a:ext cx="5637276" cy="256032"/>
          </a:xfrm>
          <a:prstGeom prst="rect">
            <a:avLst/>
          </a:prstGeom>
          <a:noFill/>
        </p:spPr>
        <p:txBody>
          <a:bodyPr wrap="square" lIns="0" rIns="0" tIns="0" bIns="0" anchor="ctr">
            <a:spAutoFit/>
          </a:bodyPr>
          <a:lstStyle/>
          <a:p>
            <a:pPr algn="ctr"/>
            <a:r>
              <a:rPr sz="700" b="0">
                <a:solidFill>
                  <a:srgbClr val="8A9599"/>
                </a:solidFill>
                <a:latin typeface="Yu Gothic"/>
                <a:ea typeface="Yu Gothic"/>
                <a:cs typeface="Yu Gothic"/>
              </a:rPr>
              <a:t>（主に支えるアプリケーションなし）</a:t>
            </a:r>
          </a:p>
        </p:txBody>
      </p:sp>
      <p:sp>
        <p:nvSpPr>
          <p:cNvPr id="13" name="Rounded Rectangle 12"/>
          <p:cNvSpPr/>
          <p:nvPr/>
        </p:nvSpPr>
        <p:spPr>
          <a:xfrm>
            <a:off x="457200" y="5870448"/>
            <a:ext cx="11274552" cy="731520"/>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5907024"/>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調達基盤（Support / Foundation）</a:t>
            </a:r>
          </a:p>
        </p:txBody>
      </p:sp>
      <p:sp>
        <p:nvSpPr>
          <p:cNvPr id="15" name="TextBox 14"/>
          <p:cNvSpPr txBox="1"/>
          <p:nvPr/>
        </p:nvSpPr>
        <p:spPr>
          <a:xfrm>
            <a:off x="457200" y="6144768"/>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調達マスタ・データ管理</a:t>
            </a:r>
          </a:p>
        </p:txBody>
      </p:sp>
      <p:sp>
        <p:nvSpPr>
          <p:cNvPr id="16" name="Rounded Rectangle 15"/>
          <p:cNvSpPr/>
          <p:nvPr/>
        </p:nvSpPr>
        <p:spPr>
          <a:xfrm>
            <a:off x="1444752" y="6327648"/>
            <a:ext cx="1783080" cy="256032"/>
          </a:xfrm>
          <a:prstGeom prst="round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472184" y="6327648"/>
            <a:ext cx="1728216" cy="256032"/>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マスタデータ管理</a:t>
            </a:r>
          </a:p>
          <a:p>
            <a:pPr algn="ctr"/>
            <a:r>
              <a:rPr sz="600" b="0">
                <a:solidFill>
                  <a:srgbClr val="5B6B70"/>
                </a:solidFill>
                <a:latin typeface="Yu Gothic"/>
                <a:ea typeface="Yu Gothic"/>
                <a:cs typeface="Yu Gothic"/>
              </a:rPr>
              <a:t>（MDM）</a:t>
            </a:r>
          </a:p>
        </p:txBody>
      </p:sp>
      <p:sp>
        <p:nvSpPr>
          <p:cNvPr id="18" name="TextBox 17"/>
          <p:cNvSpPr txBox="1"/>
          <p:nvPr/>
        </p:nvSpPr>
        <p:spPr>
          <a:xfrm>
            <a:off x="4215384" y="6144768"/>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調達分析・レポーティング</a:t>
            </a:r>
          </a:p>
        </p:txBody>
      </p:sp>
      <p:sp>
        <p:nvSpPr>
          <p:cNvPr id="19" name="Rounded Rectangle 18"/>
          <p:cNvSpPr/>
          <p:nvPr/>
        </p:nvSpPr>
        <p:spPr>
          <a:xfrm>
            <a:off x="5202936" y="6327648"/>
            <a:ext cx="1783080" cy="256032"/>
          </a:xfrm>
          <a:prstGeom prst="roundRect">
            <a:avLst/>
          </a:prstGeom>
          <a:solidFill>
            <a:srgbClr val="E4EAEC"/>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230368" y="6327648"/>
            <a:ext cx="1728216" cy="256032"/>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調達分析</a:t>
            </a:r>
          </a:p>
          <a:p>
            <a:pPr algn="ctr"/>
            <a:r>
              <a:rPr sz="600" b="0">
                <a:solidFill>
                  <a:srgbClr val="5B6B70"/>
                </a:solidFill>
                <a:latin typeface="Yu Gothic"/>
                <a:ea typeface="Yu Gothic"/>
                <a:cs typeface="Yu Gothic"/>
              </a:rPr>
              <a:t>（支出分析BI）</a:t>
            </a:r>
          </a:p>
        </p:txBody>
      </p:sp>
      <p:sp>
        <p:nvSpPr>
          <p:cNvPr id="21" name="TextBox 20"/>
          <p:cNvSpPr txBox="1"/>
          <p:nvPr/>
        </p:nvSpPr>
        <p:spPr>
          <a:xfrm>
            <a:off x="7973568" y="6144768"/>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内部統制・監査対応</a:t>
            </a:r>
          </a:p>
        </p:txBody>
      </p:sp>
      <p:sp>
        <p:nvSpPr>
          <p:cNvPr id="22" name="Rounded Rectangle 21"/>
          <p:cNvSpPr/>
          <p:nvPr/>
        </p:nvSpPr>
        <p:spPr>
          <a:xfrm>
            <a:off x="8961120" y="6327648"/>
            <a:ext cx="1783080" cy="256032"/>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988552" y="6327648"/>
            <a:ext cx="1728216" cy="256032"/>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ID・アクセス管理</a:t>
            </a:r>
          </a:p>
          <a:p>
            <a:pPr algn="ctr"/>
            <a:r>
              <a:rPr sz="600" b="0">
                <a:solidFill>
                  <a:srgbClr val="5B6B70"/>
                </a:solidFill>
                <a:latin typeface="Yu Gothic"/>
                <a:ea typeface="Yu Gothic"/>
                <a:cs typeface="Yu Gothic"/>
              </a:rPr>
              <a:t>（IAM／GRC）</a:t>
            </a:r>
          </a:p>
        </p:txBody>
      </p:sp>
      <p:sp>
        <p:nvSpPr>
          <p:cNvPr id="24" name="Rounded Rectangle 23"/>
          <p:cNvSpPr/>
          <p:nvPr/>
        </p:nvSpPr>
        <p:spPr>
          <a:xfrm>
            <a:off x="457200" y="2212848"/>
            <a:ext cx="2404872" cy="3529584"/>
          </a:xfrm>
          <a:prstGeom prst="roundRect">
            <a:avLst>
              <a:gd name="adj" fmla="val 4000"/>
            </a:avLst>
          </a:prstGeom>
          <a:solidFill>
            <a:srgbClr val="FDEEE7"/>
          </a:solidFill>
          <a:ln w="1905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7200" y="2258568"/>
            <a:ext cx="2404872" cy="274320"/>
          </a:xfrm>
          <a:prstGeom prst="rect">
            <a:avLst/>
          </a:prstGeom>
          <a:noFill/>
        </p:spPr>
        <p:txBody>
          <a:bodyPr wrap="square" lIns="0" rIns="0" tIns="0" bIns="0" anchor="ctr">
            <a:spAutoFit/>
          </a:bodyPr>
          <a:lstStyle/>
          <a:p>
            <a:pPr algn="ctr"/>
            <a:r>
              <a:rPr sz="1250" b="1">
                <a:solidFill>
                  <a:srgbClr val="C24E1C"/>
                </a:solidFill>
                <a:latin typeface="Yu Gothic"/>
                <a:ea typeface="Yu Gothic"/>
                <a:cs typeface="Yu Gothic"/>
              </a:rPr>
              <a:t>Supplier Management</a:t>
            </a:r>
          </a:p>
        </p:txBody>
      </p:sp>
      <p:sp>
        <p:nvSpPr>
          <p:cNvPr id="26" name="Rounded Rectangle 25"/>
          <p:cNvSpPr/>
          <p:nvPr/>
        </p:nvSpPr>
        <p:spPr>
          <a:xfrm>
            <a:off x="530352" y="2578608"/>
            <a:ext cx="2258568" cy="1152144"/>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30352" y="2697480"/>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サプライヤー登録・審査★</a:t>
            </a:r>
          </a:p>
        </p:txBody>
      </p:sp>
      <p:sp>
        <p:nvSpPr>
          <p:cNvPr id="28" name="Rounded Rectangle 27"/>
          <p:cNvSpPr/>
          <p:nvPr/>
        </p:nvSpPr>
        <p:spPr>
          <a:xfrm>
            <a:off x="621792" y="2971800"/>
            <a:ext cx="2075687" cy="27432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49224" y="2971800"/>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取引先審査</a:t>
            </a:r>
          </a:p>
          <a:p>
            <a:pPr algn="ctr"/>
            <a:r>
              <a:rPr sz="600" b="0">
                <a:solidFill>
                  <a:srgbClr val="5B6B70"/>
                </a:solidFill>
                <a:latin typeface="Yu Gothic"/>
                <a:ea typeface="Yu Gothic"/>
                <a:cs typeface="Yu Gothic"/>
              </a:rPr>
              <a:t>（与信・反社チェックサービス）</a:t>
            </a:r>
          </a:p>
        </p:txBody>
      </p:sp>
      <p:sp>
        <p:nvSpPr>
          <p:cNvPr id="30" name="Rounded Rectangle 29"/>
          <p:cNvSpPr/>
          <p:nvPr/>
        </p:nvSpPr>
        <p:spPr>
          <a:xfrm>
            <a:off x="621792" y="3282696"/>
            <a:ext cx="2075687" cy="274320"/>
          </a:xfrm>
          <a:prstGeom prst="roundRect">
            <a:avLst/>
          </a:prstGeom>
          <a:solidFill>
            <a:srgbClr val="E4EAEC"/>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49224" y="3282696"/>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マスタデータ管理</a:t>
            </a:r>
          </a:p>
          <a:p>
            <a:pPr algn="ctr"/>
            <a:r>
              <a:rPr sz="600" b="0">
                <a:solidFill>
                  <a:srgbClr val="5B6B70"/>
                </a:solidFill>
                <a:latin typeface="Yu Gothic"/>
                <a:ea typeface="Yu Gothic"/>
                <a:cs typeface="Yu Gothic"/>
              </a:rPr>
              <a:t>（MDM）</a:t>
            </a:r>
          </a:p>
        </p:txBody>
      </p:sp>
      <p:sp>
        <p:nvSpPr>
          <p:cNvPr id="32" name="Rounded Rectangle 31"/>
          <p:cNvSpPr/>
          <p:nvPr/>
        </p:nvSpPr>
        <p:spPr>
          <a:xfrm>
            <a:off x="530352" y="3858768"/>
            <a:ext cx="2258568" cy="841248"/>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30352" y="3977640"/>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サプライヤー評価・関係管理</a:t>
            </a:r>
          </a:p>
        </p:txBody>
      </p:sp>
      <p:sp>
        <p:nvSpPr>
          <p:cNvPr id="34" name="Rounded Rectangle 33"/>
          <p:cNvSpPr/>
          <p:nvPr/>
        </p:nvSpPr>
        <p:spPr>
          <a:xfrm>
            <a:off x="621792" y="4251960"/>
            <a:ext cx="2075687" cy="274320"/>
          </a:xfrm>
          <a:prstGeom prst="roundRect">
            <a:avLst/>
          </a:prstGeom>
          <a:solidFill>
            <a:srgbClr val="E4EAEC"/>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49224" y="4251960"/>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ソーシング・サプライヤー管理</a:t>
            </a:r>
          </a:p>
          <a:p>
            <a:pPr algn="ctr"/>
            <a:r>
              <a:rPr sz="600" b="0">
                <a:solidFill>
                  <a:srgbClr val="5B6B70"/>
                </a:solidFill>
                <a:latin typeface="Yu Gothic"/>
                <a:ea typeface="Yu Gothic"/>
                <a:cs typeface="Yu Gothic"/>
              </a:rPr>
              <a:t>（SRM（電子見積・電子入札））</a:t>
            </a:r>
          </a:p>
        </p:txBody>
      </p:sp>
      <p:sp>
        <p:nvSpPr>
          <p:cNvPr id="36" name="Rounded Rectangle 35"/>
          <p:cNvSpPr/>
          <p:nvPr/>
        </p:nvSpPr>
        <p:spPr>
          <a:xfrm>
            <a:off x="530352" y="4828032"/>
            <a:ext cx="2258568" cy="841248"/>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530352" y="4946904"/>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サプライヤーリスク管理</a:t>
            </a:r>
          </a:p>
        </p:txBody>
      </p:sp>
      <p:sp>
        <p:nvSpPr>
          <p:cNvPr id="38" name="Rounded Rectangle 37"/>
          <p:cNvSpPr/>
          <p:nvPr/>
        </p:nvSpPr>
        <p:spPr>
          <a:xfrm>
            <a:off x="621792" y="5221224"/>
            <a:ext cx="2075687" cy="274320"/>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49224" y="5221224"/>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サプライヤーリスク管理</a:t>
            </a:r>
          </a:p>
          <a:p>
            <a:pPr algn="ctr"/>
            <a:r>
              <a:rPr sz="600" b="0">
                <a:solidFill>
                  <a:srgbClr val="5B6B70"/>
                </a:solidFill>
                <a:latin typeface="Yu Gothic"/>
                <a:ea typeface="Yu Gothic"/>
                <a:cs typeface="Yu Gothic"/>
              </a:rPr>
              <a:t>（リスクモニタリング）</a:t>
            </a:r>
          </a:p>
        </p:txBody>
      </p:sp>
      <p:sp>
        <p:nvSpPr>
          <p:cNvPr id="40" name="Chevron 39"/>
          <p:cNvSpPr/>
          <p:nvPr/>
        </p:nvSpPr>
        <p:spPr>
          <a:xfrm rot="5400000">
            <a:off x="1600200" y="1984248"/>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rot="5400000">
            <a:off x="1600200" y="5632704"/>
            <a:ext cx="118872" cy="310896"/>
          </a:xfrm>
          <a:prstGeom prst="chevron">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2953512" y="2212848"/>
            <a:ext cx="2404872" cy="3529584"/>
          </a:xfrm>
          <a:prstGeom prst="roundRect">
            <a:avLst>
              <a:gd name="adj" fmla="val 4000"/>
            </a:avLst>
          </a:prstGeom>
          <a:solidFill>
            <a:srgbClr val="E6F6F0"/>
          </a:solidFill>
          <a:ln w="1905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2953512" y="2258568"/>
            <a:ext cx="2404872" cy="274320"/>
          </a:xfrm>
          <a:prstGeom prst="rect">
            <a:avLst/>
          </a:prstGeom>
          <a:noFill/>
        </p:spPr>
        <p:txBody>
          <a:bodyPr wrap="square" lIns="0" rIns="0" tIns="0" bIns="0" anchor="ctr">
            <a:spAutoFit/>
          </a:bodyPr>
          <a:lstStyle/>
          <a:p>
            <a:pPr algn="ctr"/>
            <a:r>
              <a:rPr sz="1250" b="1">
                <a:solidFill>
                  <a:srgbClr val="0E7A52"/>
                </a:solidFill>
                <a:latin typeface="Yu Gothic"/>
                <a:ea typeface="Yu Gothic"/>
                <a:cs typeface="Yu Gothic"/>
              </a:rPr>
              <a:t>Receiving &amp; Logistics</a:t>
            </a:r>
          </a:p>
        </p:txBody>
      </p:sp>
      <p:sp>
        <p:nvSpPr>
          <p:cNvPr id="44" name="Rounded Rectangle 43"/>
          <p:cNvSpPr/>
          <p:nvPr/>
        </p:nvSpPr>
        <p:spPr>
          <a:xfrm>
            <a:off x="3026664" y="2578608"/>
            <a:ext cx="2258568" cy="104851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026664" y="2645664"/>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入荷・受入管理</a:t>
            </a:r>
          </a:p>
        </p:txBody>
      </p:sp>
      <p:sp>
        <p:nvSpPr>
          <p:cNvPr id="46" name="Rounded Rectangle 45"/>
          <p:cNvSpPr/>
          <p:nvPr/>
        </p:nvSpPr>
        <p:spPr>
          <a:xfrm>
            <a:off x="3118104" y="2919983"/>
            <a:ext cx="2075687" cy="27432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3145536" y="2919983"/>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倉庫管理</a:t>
            </a:r>
          </a:p>
          <a:p>
            <a:pPr algn="ctr"/>
            <a:r>
              <a:rPr sz="600" b="0">
                <a:solidFill>
                  <a:srgbClr val="5B6B70"/>
                </a:solidFill>
                <a:latin typeface="Yu Gothic"/>
                <a:ea typeface="Yu Gothic"/>
                <a:cs typeface="Yu Gothic"/>
              </a:rPr>
              <a:t>（WMS）</a:t>
            </a:r>
          </a:p>
        </p:txBody>
      </p:sp>
      <p:sp>
        <p:nvSpPr>
          <p:cNvPr id="48" name="Rounded Rectangle 47"/>
          <p:cNvSpPr/>
          <p:nvPr/>
        </p:nvSpPr>
        <p:spPr>
          <a:xfrm>
            <a:off x="3118104" y="3230879"/>
            <a:ext cx="2075687" cy="27432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3145536" y="3230879"/>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受入検査・品質管理</a:t>
            </a:r>
          </a:p>
          <a:p>
            <a:pPr algn="ctr"/>
            <a:r>
              <a:rPr sz="600" b="0">
                <a:solidFill>
                  <a:srgbClr val="5B6B70"/>
                </a:solidFill>
                <a:latin typeface="Yu Gothic"/>
                <a:ea typeface="Yu Gothic"/>
                <a:cs typeface="Yu Gothic"/>
              </a:rPr>
              <a:t>（QMS（受入検査））</a:t>
            </a:r>
          </a:p>
        </p:txBody>
      </p:sp>
      <p:sp>
        <p:nvSpPr>
          <p:cNvPr id="50" name="Rounded Rectangle 49"/>
          <p:cNvSpPr/>
          <p:nvPr/>
        </p:nvSpPr>
        <p:spPr>
          <a:xfrm>
            <a:off x="3026664" y="3755136"/>
            <a:ext cx="2258568" cy="737616"/>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3026664" y="3822191"/>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検収管理★</a:t>
            </a:r>
          </a:p>
        </p:txBody>
      </p:sp>
      <p:sp>
        <p:nvSpPr>
          <p:cNvPr id="52" name="Rounded Rectangle 51"/>
          <p:cNvSpPr/>
          <p:nvPr/>
        </p:nvSpPr>
        <p:spPr>
          <a:xfrm>
            <a:off x="3118104" y="4096511"/>
            <a:ext cx="2075687" cy="274320"/>
          </a:xfrm>
          <a:prstGeom prst="round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3145536" y="4096511"/>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購買管理</a:t>
            </a:r>
          </a:p>
          <a:p>
            <a:pPr algn="ctr"/>
            <a:r>
              <a:rPr sz="600" b="0">
                <a:solidFill>
                  <a:srgbClr val="5B6B70"/>
                </a:solidFill>
                <a:latin typeface="Yu Gothic"/>
                <a:ea typeface="Yu Gothic"/>
                <a:cs typeface="Yu Gothic"/>
              </a:rPr>
              <a:t>（ERP購買モジュール（MM））</a:t>
            </a:r>
          </a:p>
        </p:txBody>
      </p:sp>
      <p:sp>
        <p:nvSpPr>
          <p:cNvPr id="54" name="Rounded Rectangle 53"/>
          <p:cNvSpPr/>
          <p:nvPr/>
        </p:nvSpPr>
        <p:spPr>
          <a:xfrm>
            <a:off x="3026664" y="4620767"/>
            <a:ext cx="2258568" cy="104851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026664" y="4687823"/>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在庫・資産計上</a:t>
            </a:r>
          </a:p>
        </p:txBody>
      </p:sp>
      <p:sp>
        <p:nvSpPr>
          <p:cNvPr id="56" name="Rounded Rectangle 55"/>
          <p:cNvSpPr/>
          <p:nvPr/>
        </p:nvSpPr>
        <p:spPr>
          <a:xfrm>
            <a:off x="3118104" y="4962143"/>
            <a:ext cx="2075687" cy="27432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3145536" y="4962143"/>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倉庫管理</a:t>
            </a:r>
          </a:p>
          <a:p>
            <a:pPr algn="ctr"/>
            <a:r>
              <a:rPr sz="600" b="0">
                <a:solidFill>
                  <a:srgbClr val="5B6B70"/>
                </a:solidFill>
                <a:latin typeface="Yu Gothic"/>
                <a:ea typeface="Yu Gothic"/>
                <a:cs typeface="Yu Gothic"/>
              </a:rPr>
              <a:t>（WMS）</a:t>
            </a:r>
          </a:p>
        </p:txBody>
      </p:sp>
      <p:sp>
        <p:nvSpPr>
          <p:cNvPr id="58" name="Rounded Rectangle 57"/>
          <p:cNvSpPr/>
          <p:nvPr/>
        </p:nvSpPr>
        <p:spPr>
          <a:xfrm>
            <a:off x="3118104" y="5273039"/>
            <a:ext cx="2075687" cy="274320"/>
          </a:xfrm>
          <a:prstGeom prst="round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145536" y="5273039"/>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固定資産管理</a:t>
            </a:r>
          </a:p>
          <a:p>
            <a:pPr algn="ctr"/>
            <a:r>
              <a:rPr sz="600" b="0">
                <a:solidFill>
                  <a:srgbClr val="5B6B70"/>
                </a:solidFill>
                <a:latin typeface="Yu Gothic"/>
                <a:ea typeface="Yu Gothic"/>
                <a:cs typeface="Yu Gothic"/>
              </a:rPr>
              <a:t>（固定資産システム）</a:t>
            </a:r>
          </a:p>
        </p:txBody>
      </p:sp>
      <p:sp>
        <p:nvSpPr>
          <p:cNvPr id="60" name="Chevron 59"/>
          <p:cNvSpPr/>
          <p:nvPr/>
        </p:nvSpPr>
        <p:spPr>
          <a:xfrm rot="5400000">
            <a:off x="4096511" y="1984248"/>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Chevron 60"/>
          <p:cNvSpPr/>
          <p:nvPr/>
        </p:nvSpPr>
        <p:spPr>
          <a:xfrm rot="5400000">
            <a:off x="4096511" y="5632704"/>
            <a:ext cx="118872" cy="310896"/>
          </a:xfrm>
          <a:prstGeom prst="chevron">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5449824" y="2212848"/>
            <a:ext cx="2404872" cy="3529584"/>
          </a:xfrm>
          <a:prstGeom prst="roundRect">
            <a:avLst>
              <a:gd name="adj" fmla="val 4000"/>
            </a:avLst>
          </a:prstGeom>
          <a:solidFill>
            <a:srgbClr val="EEECF7"/>
          </a:solidFill>
          <a:ln w="1905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5449824" y="2258568"/>
            <a:ext cx="2404872" cy="274320"/>
          </a:xfrm>
          <a:prstGeom prst="rect">
            <a:avLst/>
          </a:prstGeom>
          <a:noFill/>
        </p:spPr>
        <p:txBody>
          <a:bodyPr wrap="square" lIns="0" rIns="0" tIns="0" bIns="0" anchor="ctr">
            <a:spAutoFit/>
          </a:bodyPr>
          <a:lstStyle/>
          <a:p>
            <a:pPr algn="ctr"/>
            <a:r>
              <a:rPr sz="1250" b="1">
                <a:solidFill>
                  <a:srgbClr val="4A3AA7"/>
                </a:solidFill>
                <a:latin typeface="Yu Gothic"/>
                <a:ea typeface="Yu Gothic"/>
                <a:cs typeface="Yu Gothic"/>
              </a:rPr>
              <a:t>Accounts Payable</a:t>
            </a:r>
          </a:p>
        </p:txBody>
      </p:sp>
      <p:sp>
        <p:nvSpPr>
          <p:cNvPr id="64" name="Rounded Rectangle 63"/>
          <p:cNvSpPr/>
          <p:nvPr/>
        </p:nvSpPr>
        <p:spPr>
          <a:xfrm>
            <a:off x="5522976" y="2578608"/>
            <a:ext cx="2258568" cy="98755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5522976" y="2615184"/>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請求書受領・照合★</a:t>
            </a:r>
          </a:p>
        </p:txBody>
      </p:sp>
      <p:sp>
        <p:nvSpPr>
          <p:cNvPr id="66" name="Rounded Rectangle 65"/>
          <p:cNvSpPr/>
          <p:nvPr/>
        </p:nvSpPr>
        <p:spPr>
          <a:xfrm>
            <a:off x="5614416" y="2889503"/>
            <a:ext cx="2075687" cy="27432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5641848" y="2889503"/>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請求書受領</a:t>
            </a:r>
          </a:p>
          <a:p>
            <a:pPr algn="ctr"/>
            <a:r>
              <a:rPr sz="600" b="0">
                <a:solidFill>
                  <a:srgbClr val="5B6B70"/>
                </a:solidFill>
                <a:latin typeface="Yu Gothic"/>
                <a:ea typeface="Yu Gothic"/>
                <a:cs typeface="Yu Gothic"/>
              </a:rPr>
              <a:t>（請求書受領クラウド（AI-OCR／Peppol））</a:t>
            </a:r>
          </a:p>
        </p:txBody>
      </p:sp>
      <p:sp>
        <p:nvSpPr>
          <p:cNvPr id="68" name="Rounded Rectangle 67"/>
          <p:cNvSpPr/>
          <p:nvPr/>
        </p:nvSpPr>
        <p:spPr>
          <a:xfrm>
            <a:off x="5614416" y="3200399"/>
            <a:ext cx="2075687" cy="27432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641848" y="3200399"/>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財務会計・債務管理</a:t>
            </a:r>
          </a:p>
          <a:p>
            <a:pPr algn="ctr"/>
            <a:r>
              <a:rPr sz="600" b="0">
                <a:solidFill>
                  <a:srgbClr val="5B6B70"/>
                </a:solidFill>
                <a:latin typeface="Yu Gothic"/>
                <a:ea typeface="Yu Gothic"/>
                <a:cs typeface="Yu Gothic"/>
              </a:rPr>
              <a:t>（ERP会計モジュール（FI／AP））</a:t>
            </a:r>
          </a:p>
        </p:txBody>
      </p:sp>
      <p:sp>
        <p:nvSpPr>
          <p:cNvPr id="70" name="Rounded Rectangle 69"/>
          <p:cNvSpPr/>
          <p:nvPr/>
        </p:nvSpPr>
        <p:spPr>
          <a:xfrm>
            <a:off x="5522976" y="3630168"/>
            <a:ext cx="2258568" cy="98755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522976" y="3666744"/>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支払管理★</a:t>
            </a:r>
          </a:p>
        </p:txBody>
      </p:sp>
      <p:sp>
        <p:nvSpPr>
          <p:cNvPr id="72" name="Rounded Rectangle 71"/>
          <p:cNvSpPr/>
          <p:nvPr/>
        </p:nvSpPr>
        <p:spPr>
          <a:xfrm>
            <a:off x="5614416" y="3941063"/>
            <a:ext cx="2075687" cy="27432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641848" y="3941063"/>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財務会計・債務管理</a:t>
            </a:r>
          </a:p>
          <a:p>
            <a:pPr algn="ctr"/>
            <a:r>
              <a:rPr sz="600" b="0">
                <a:solidFill>
                  <a:srgbClr val="5B6B70"/>
                </a:solidFill>
                <a:latin typeface="Yu Gothic"/>
                <a:ea typeface="Yu Gothic"/>
                <a:cs typeface="Yu Gothic"/>
              </a:rPr>
              <a:t>（ERP会計モジュール（FI／AP））</a:t>
            </a:r>
          </a:p>
        </p:txBody>
      </p:sp>
      <p:sp>
        <p:nvSpPr>
          <p:cNvPr id="74" name="Rounded Rectangle 73"/>
          <p:cNvSpPr/>
          <p:nvPr/>
        </p:nvSpPr>
        <p:spPr>
          <a:xfrm>
            <a:off x="5614416" y="4251959"/>
            <a:ext cx="2075687" cy="27432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641848" y="4251959"/>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支払・資金管理</a:t>
            </a:r>
          </a:p>
          <a:p>
            <a:pPr algn="ctr"/>
            <a:r>
              <a:rPr sz="600" b="0">
                <a:solidFill>
                  <a:srgbClr val="5B6B70"/>
                </a:solidFill>
                <a:latin typeface="Yu Gothic"/>
                <a:ea typeface="Yu Gothic"/>
                <a:cs typeface="Yu Gothic"/>
              </a:rPr>
              <a:t>（ファームバンキング／資金管理）</a:t>
            </a:r>
          </a:p>
        </p:txBody>
      </p:sp>
      <p:sp>
        <p:nvSpPr>
          <p:cNvPr id="76" name="Rounded Rectangle 75"/>
          <p:cNvSpPr/>
          <p:nvPr/>
        </p:nvSpPr>
        <p:spPr>
          <a:xfrm>
            <a:off x="5522976" y="4681728"/>
            <a:ext cx="2258568" cy="98755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5522976" y="4718304"/>
            <a:ext cx="2258568"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債務会計・税務★</a:t>
            </a:r>
          </a:p>
        </p:txBody>
      </p:sp>
      <p:sp>
        <p:nvSpPr>
          <p:cNvPr id="78" name="Rounded Rectangle 77"/>
          <p:cNvSpPr/>
          <p:nvPr/>
        </p:nvSpPr>
        <p:spPr>
          <a:xfrm>
            <a:off x="5614416" y="4992624"/>
            <a:ext cx="2075687" cy="27432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5641848" y="4992624"/>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財務会計・債務管理</a:t>
            </a:r>
          </a:p>
          <a:p>
            <a:pPr algn="ctr"/>
            <a:r>
              <a:rPr sz="600" b="0">
                <a:solidFill>
                  <a:srgbClr val="5B6B70"/>
                </a:solidFill>
                <a:latin typeface="Yu Gothic"/>
                <a:ea typeface="Yu Gothic"/>
                <a:cs typeface="Yu Gothic"/>
              </a:rPr>
              <a:t>（ERP会計モジュール（FI／AP））</a:t>
            </a:r>
          </a:p>
        </p:txBody>
      </p:sp>
      <p:sp>
        <p:nvSpPr>
          <p:cNvPr id="80" name="Rounded Rectangle 79"/>
          <p:cNvSpPr/>
          <p:nvPr/>
        </p:nvSpPr>
        <p:spPr>
          <a:xfrm>
            <a:off x="5614416" y="5303520"/>
            <a:ext cx="2075687" cy="274320"/>
          </a:xfrm>
          <a:prstGeom prst="roundRect">
            <a:avLst/>
          </a:prstGeom>
          <a:solidFill>
            <a:srgbClr val="FFFFFF"/>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641848" y="5303520"/>
            <a:ext cx="2020823"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電子帳簿保存</a:t>
            </a:r>
          </a:p>
          <a:p>
            <a:pPr algn="ctr"/>
            <a:r>
              <a:rPr sz="600" b="0">
                <a:solidFill>
                  <a:srgbClr val="5B6B70"/>
                </a:solidFill>
                <a:latin typeface="Yu Gothic"/>
                <a:ea typeface="Yu Gothic"/>
                <a:cs typeface="Yu Gothic"/>
              </a:rPr>
              <a:t>（文書保存（電帳法対応））</a:t>
            </a:r>
          </a:p>
        </p:txBody>
      </p:sp>
      <p:sp>
        <p:nvSpPr>
          <p:cNvPr id="82" name="Chevron 81"/>
          <p:cNvSpPr/>
          <p:nvPr/>
        </p:nvSpPr>
        <p:spPr>
          <a:xfrm rot="5400000">
            <a:off x="6592824" y="1984248"/>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Chevron 82"/>
          <p:cNvSpPr/>
          <p:nvPr/>
        </p:nvSpPr>
        <p:spPr>
          <a:xfrm rot="5400000">
            <a:off x="6592824" y="5632704"/>
            <a:ext cx="118872" cy="310896"/>
          </a:xfrm>
          <a:prstGeom prst="chevron">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7946136" y="2212848"/>
            <a:ext cx="3785615" cy="3529584"/>
          </a:xfrm>
          <a:prstGeom prst="roundRect">
            <a:avLst>
              <a:gd name="adj" fmla="val 4000"/>
            </a:avLst>
          </a:prstGeom>
          <a:solidFill>
            <a:srgbClr val="E8F1FB"/>
          </a:solidFill>
          <a:ln w="1905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7946136" y="2258568"/>
            <a:ext cx="3785615" cy="274320"/>
          </a:xfrm>
          <a:prstGeom prst="rect">
            <a:avLst/>
          </a:prstGeom>
          <a:noFill/>
        </p:spPr>
        <p:txBody>
          <a:bodyPr wrap="square" lIns="0" rIns="0" tIns="0" bIns="0" anchor="ctr">
            <a:spAutoFit/>
          </a:bodyPr>
          <a:lstStyle/>
          <a:p>
            <a:pPr algn="ctr"/>
            <a:r>
              <a:rPr sz="1250" b="1">
                <a:solidFill>
                  <a:srgbClr val="2A78D6"/>
                </a:solidFill>
                <a:latin typeface="Yu Gothic"/>
                <a:ea typeface="Yu Gothic"/>
                <a:cs typeface="Yu Gothic"/>
              </a:rPr>
              <a:t>Procurement</a:t>
            </a:r>
          </a:p>
        </p:txBody>
      </p:sp>
      <p:sp>
        <p:nvSpPr>
          <p:cNvPr id="86" name="Rounded Rectangle 85"/>
          <p:cNvSpPr/>
          <p:nvPr/>
        </p:nvSpPr>
        <p:spPr>
          <a:xfrm>
            <a:off x="8019288" y="2578608"/>
            <a:ext cx="3639311" cy="964692"/>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019288" y="2603754"/>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需要・購買申請管理</a:t>
            </a:r>
          </a:p>
        </p:txBody>
      </p:sp>
      <p:sp>
        <p:nvSpPr>
          <p:cNvPr id="88" name="Rounded Rectangle 87"/>
          <p:cNvSpPr/>
          <p:nvPr/>
        </p:nvSpPr>
        <p:spPr>
          <a:xfrm>
            <a:off x="8110727" y="2878074"/>
            <a:ext cx="1700783" cy="274320"/>
          </a:xfrm>
          <a:prstGeom prst="round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8138159" y="2878074"/>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購買管理</a:t>
            </a:r>
          </a:p>
          <a:p>
            <a:pPr algn="ctr"/>
            <a:r>
              <a:rPr sz="600" b="0">
                <a:solidFill>
                  <a:srgbClr val="5B6B70"/>
                </a:solidFill>
                <a:latin typeface="Yu Gothic"/>
                <a:ea typeface="Yu Gothic"/>
                <a:cs typeface="Yu Gothic"/>
              </a:rPr>
              <a:t>（ERP購買モジュール（MM））</a:t>
            </a:r>
          </a:p>
        </p:txBody>
      </p:sp>
      <p:sp>
        <p:nvSpPr>
          <p:cNvPr id="90" name="Rounded Rectangle 89"/>
          <p:cNvSpPr/>
          <p:nvPr/>
        </p:nvSpPr>
        <p:spPr>
          <a:xfrm>
            <a:off x="9866376" y="2878074"/>
            <a:ext cx="1700783"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9893807" y="2878074"/>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カタログ購買</a:t>
            </a:r>
          </a:p>
          <a:p>
            <a:pPr algn="ctr"/>
            <a:r>
              <a:rPr sz="600" b="0">
                <a:solidFill>
                  <a:srgbClr val="5B6B70"/>
                </a:solidFill>
                <a:latin typeface="Yu Gothic"/>
                <a:ea typeface="Yu Gothic"/>
                <a:cs typeface="Yu Gothic"/>
              </a:rPr>
              <a:t>（Eプロキュアメント／購買サイト）</a:t>
            </a:r>
          </a:p>
        </p:txBody>
      </p:sp>
      <p:sp>
        <p:nvSpPr>
          <p:cNvPr id="92" name="Rounded Rectangle 91"/>
          <p:cNvSpPr/>
          <p:nvPr/>
        </p:nvSpPr>
        <p:spPr>
          <a:xfrm>
            <a:off x="8110727" y="3188970"/>
            <a:ext cx="1700783"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8138159" y="3188970"/>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ワークフロー</a:t>
            </a:r>
          </a:p>
          <a:p>
            <a:pPr algn="ctr"/>
            <a:r>
              <a:rPr sz="600" b="0">
                <a:solidFill>
                  <a:srgbClr val="5B6B70"/>
                </a:solidFill>
                <a:latin typeface="Yu Gothic"/>
                <a:ea typeface="Yu Gothic"/>
                <a:cs typeface="Yu Gothic"/>
              </a:rPr>
              <a:t>（電子承認（稟議））</a:t>
            </a:r>
          </a:p>
        </p:txBody>
      </p:sp>
      <p:sp>
        <p:nvSpPr>
          <p:cNvPr id="94" name="Rounded Rectangle 93"/>
          <p:cNvSpPr/>
          <p:nvPr/>
        </p:nvSpPr>
        <p:spPr>
          <a:xfrm>
            <a:off x="8019288" y="3598164"/>
            <a:ext cx="3639311" cy="653796"/>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8019288" y="3623310"/>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ソーシング</a:t>
            </a:r>
          </a:p>
        </p:txBody>
      </p:sp>
      <p:sp>
        <p:nvSpPr>
          <p:cNvPr id="96" name="Rounded Rectangle 95"/>
          <p:cNvSpPr/>
          <p:nvPr/>
        </p:nvSpPr>
        <p:spPr>
          <a:xfrm>
            <a:off x="8110727" y="3897630"/>
            <a:ext cx="1700783" cy="274320"/>
          </a:xfrm>
          <a:prstGeom prst="round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TextBox 96"/>
          <p:cNvSpPr txBox="1"/>
          <p:nvPr/>
        </p:nvSpPr>
        <p:spPr>
          <a:xfrm>
            <a:off x="8138159" y="3897630"/>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ソーシング・サプライヤー管理</a:t>
            </a:r>
          </a:p>
          <a:p>
            <a:pPr algn="ctr"/>
            <a:r>
              <a:rPr sz="600" b="0">
                <a:solidFill>
                  <a:srgbClr val="5B6B70"/>
                </a:solidFill>
                <a:latin typeface="Yu Gothic"/>
                <a:ea typeface="Yu Gothic"/>
                <a:cs typeface="Yu Gothic"/>
              </a:rPr>
              <a:t>（SRM（電子見積・電子入札））</a:t>
            </a:r>
          </a:p>
        </p:txBody>
      </p:sp>
      <p:sp>
        <p:nvSpPr>
          <p:cNvPr id="98" name="Rounded Rectangle 97"/>
          <p:cNvSpPr/>
          <p:nvPr/>
        </p:nvSpPr>
        <p:spPr>
          <a:xfrm>
            <a:off x="8019288" y="4306824"/>
            <a:ext cx="3639311" cy="653796"/>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8019288" y="4331970"/>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契約管理★</a:t>
            </a:r>
          </a:p>
        </p:txBody>
      </p:sp>
      <p:sp>
        <p:nvSpPr>
          <p:cNvPr id="100" name="Rounded Rectangle 99"/>
          <p:cNvSpPr/>
          <p:nvPr/>
        </p:nvSpPr>
        <p:spPr>
          <a:xfrm>
            <a:off x="8110727" y="4606290"/>
            <a:ext cx="1700783"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extBox 100"/>
          <p:cNvSpPr txBox="1"/>
          <p:nvPr/>
        </p:nvSpPr>
        <p:spPr>
          <a:xfrm>
            <a:off x="8138159" y="4606290"/>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契約管理</a:t>
            </a:r>
          </a:p>
          <a:p>
            <a:pPr algn="ctr"/>
            <a:r>
              <a:rPr sz="600" b="0">
                <a:solidFill>
                  <a:srgbClr val="5B6B70"/>
                </a:solidFill>
                <a:latin typeface="Yu Gothic"/>
                <a:ea typeface="Yu Gothic"/>
                <a:cs typeface="Yu Gothic"/>
              </a:rPr>
              <a:t>（CLM）</a:t>
            </a:r>
          </a:p>
        </p:txBody>
      </p:sp>
      <p:sp>
        <p:nvSpPr>
          <p:cNvPr id="102" name="Rounded Rectangle 101"/>
          <p:cNvSpPr/>
          <p:nvPr/>
        </p:nvSpPr>
        <p:spPr>
          <a:xfrm>
            <a:off x="9866376" y="4606290"/>
            <a:ext cx="1700783"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9893807" y="4606290"/>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電子契約</a:t>
            </a:r>
          </a:p>
          <a:p>
            <a:pPr algn="ctr"/>
            <a:r>
              <a:rPr sz="600" b="0">
                <a:solidFill>
                  <a:srgbClr val="5B6B70"/>
                </a:solidFill>
                <a:latin typeface="Yu Gothic"/>
                <a:ea typeface="Yu Gothic"/>
                <a:cs typeface="Yu Gothic"/>
              </a:rPr>
              <a:t>（電子契約サービス）</a:t>
            </a:r>
          </a:p>
        </p:txBody>
      </p:sp>
      <p:sp>
        <p:nvSpPr>
          <p:cNvPr id="104" name="Rounded Rectangle 103"/>
          <p:cNvSpPr/>
          <p:nvPr/>
        </p:nvSpPr>
        <p:spPr>
          <a:xfrm>
            <a:off x="8019288" y="5015484"/>
            <a:ext cx="3639311" cy="653796"/>
          </a:xfrm>
          <a:prstGeom prst="roundRect">
            <a:avLst>
              <a:gd name="adj" fmla="val 6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8019288" y="5040630"/>
            <a:ext cx="3639311" cy="237744"/>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発注管理★</a:t>
            </a:r>
          </a:p>
        </p:txBody>
      </p:sp>
      <p:sp>
        <p:nvSpPr>
          <p:cNvPr id="106" name="Rounded Rectangle 105"/>
          <p:cNvSpPr/>
          <p:nvPr/>
        </p:nvSpPr>
        <p:spPr>
          <a:xfrm>
            <a:off x="8110727" y="5314950"/>
            <a:ext cx="1700783" cy="274320"/>
          </a:xfrm>
          <a:prstGeom prst="round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8138159" y="5314950"/>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購買管理</a:t>
            </a:r>
          </a:p>
          <a:p>
            <a:pPr algn="ctr"/>
            <a:r>
              <a:rPr sz="600" b="0">
                <a:solidFill>
                  <a:srgbClr val="5B6B70"/>
                </a:solidFill>
                <a:latin typeface="Yu Gothic"/>
                <a:ea typeface="Yu Gothic"/>
                <a:cs typeface="Yu Gothic"/>
              </a:rPr>
              <a:t>（ERP購買モジュール（MM））</a:t>
            </a:r>
          </a:p>
        </p:txBody>
      </p:sp>
      <p:sp>
        <p:nvSpPr>
          <p:cNvPr id="108" name="Rounded Rectangle 107"/>
          <p:cNvSpPr/>
          <p:nvPr/>
        </p:nvSpPr>
        <p:spPr>
          <a:xfrm>
            <a:off x="9866376" y="5314950"/>
            <a:ext cx="1700783" cy="274320"/>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9893807" y="5314950"/>
            <a:ext cx="1645919" cy="27432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サプライヤーポータル</a:t>
            </a:r>
          </a:p>
          <a:p>
            <a:pPr algn="ctr"/>
            <a:r>
              <a:rPr sz="600" b="0">
                <a:solidFill>
                  <a:srgbClr val="5B6B70"/>
                </a:solidFill>
                <a:latin typeface="Yu Gothic"/>
                <a:ea typeface="Yu Gothic"/>
                <a:cs typeface="Yu Gothic"/>
              </a:rPr>
              <a:t>（サプライヤーポータル／EDI）</a:t>
            </a:r>
          </a:p>
        </p:txBody>
      </p:sp>
      <p:sp>
        <p:nvSpPr>
          <p:cNvPr id="110" name="Chevron 109"/>
          <p:cNvSpPr/>
          <p:nvPr/>
        </p:nvSpPr>
        <p:spPr>
          <a:xfrm rot="5400000">
            <a:off x="9779508" y="1984248"/>
            <a:ext cx="118872" cy="310896"/>
          </a:xfrm>
          <a:prstGeom prst="chevron">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Chevron 110"/>
          <p:cNvSpPr/>
          <p:nvPr/>
        </p:nvSpPr>
        <p:spPr>
          <a:xfrm rot="5400000">
            <a:off x="9779508" y="5632704"/>
            <a:ext cx="118872" cy="310896"/>
          </a:xfrm>
          <a:prstGeom prst="chevron">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複数の領域で使うアプリケーション</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4種類のアプリケーションが、複数の領域（ケイパビリティL1）の能力を支え、複数の段階（VS L2）にまたがって使われる</a:t>
            </a:r>
          </a:p>
        </p:txBody>
      </p:sp>
      <p:sp>
        <p:nvSpPr>
          <p:cNvPr id="4" name="Rectangle 3"/>
          <p:cNvSpPr/>
          <p:nvPr/>
        </p:nvSpPr>
        <p:spPr>
          <a:xfrm>
            <a:off x="6345936" y="1261872"/>
            <a:ext cx="3180283"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345936" y="1261872"/>
            <a:ext cx="3180283"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1：調達（Procure）</a:t>
            </a:r>
          </a:p>
        </p:txBody>
      </p:sp>
      <p:sp>
        <p:nvSpPr>
          <p:cNvPr id="6" name="Rectangle 5"/>
          <p:cNvSpPr/>
          <p:nvPr/>
        </p:nvSpPr>
        <p:spPr>
          <a:xfrm>
            <a:off x="9599371" y="1261872"/>
            <a:ext cx="2095804" cy="23774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599371" y="1261872"/>
            <a:ext cx="2095804" cy="237744"/>
          </a:xfrm>
          <a:prstGeom prst="rect">
            <a:avLst/>
          </a:prstGeom>
          <a:noFill/>
        </p:spPr>
        <p:txBody>
          <a:bodyPr wrap="square" lIns="0" rIns="0" tIns="0" bIns="0" anchor="ctr">
            <a:spAutoFit/>
          </a:bodyPr>
          <a:lstStyle/>
          <a:p>
            <a:pPr algn="ctr"/>
            <a:r>
              <a:rPr sz="950" b="1">
                <a:solidFill>
                  <a:srgbClr val="FFFFFF"/>
                </a:solidFill>
                <a:latin typeface="Yu Gothic"/>
                <a:ea typeface="Yu Gothic"/>
                <a:cs typeface="Yu Gothic"/>
              </a:rPr>
              <a:t>Phase 2：受入・支払（Pay）</a:t>
            </a:r>
          </a:p>
        </p:txBody>
      </p:sp>
      <p:sp>
        <p:nvSpPr>
          <p:cNvPr id="8" name="Right Arrow 7"/>
          <p:cNvSpPr/>
          <p:nvPr/>
        </p:nvSpPr>
        <p:spPr>
          <a:xfrm>
            <a:off x="6577279"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09360" y="1975104"/>
            <a:ext cx="1084478"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需要特定・購買申請</a:t>
            </a:r>
          </a:p>
        </p:txBody>
      </p:sp>
      <p:sp>
        <p:nvSpPr>
          <p:cNvPr id="10" name="Right Arrow 9"/>
          <p:cNvSpPr/>
          <p:nvPr/>
        </p:nvSpPr>
        <p:spPr>
          <a:xfrm>
            <a:off x="7661757"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393838" y="1975104"/>
            <a:ext cx="1084478"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サプライヤー選定・見積</a:t>
            </a:r>
          </a:p>
        </p:txBody>
      </p:sp>
      <p:sp>
        <p:nvSpPr>
          <p:cNvPr id="12" name="Right Arrow 11"/>
          <p:cNvSpPr/>
          <p:nvPr/>
        </p:nvSpPr>
        <p:spPr>
          <a:xfrm>
            <a:off x="8746236"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78316" y="1975104"/>
            <a:ext cx="1084478"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契約締結・発注</a:t>
            </a:r>
          </a:p>
        </p:txBody>
      </p:sp>
      <p:sp>
        <p:nvSpPr>
          <p:cNvPr id="14" name="Right Arrow 13"/>
          <p:cNvSpPr/>
          <p:nvPr/>
        </p:nvSpPr>
        <p:spPr>
          <a:xfrm>
            <a:off x="9830714"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562795" y="1975104"/>
            <a:ext cx="1084478"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受入・検収</a:t>
            </a:r>
          </a:p>
        </p:txBody>
      </p:sp>
      <p:sp>
        <p:nvSpPr>
          <p:cNvPr id="16" name="Right Arrow 15"/>
          <p:cNvSpPr/>
          <p:nvPr/>
        </p:nvSpPr>
        <p:spPr>
          <a:xfrm>
            <a:off x="10915192" y="1609343"/>
            <a:ext cx="548640" cy="310896"/>
          </a:xfrm>
          <a:prstGeom prst="rightArrow">
            <a:avLst>
              <a:gd name="adj1" fmla="val 50000"/>
              <a:gd name="adj2"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647273" y="1975104"/>
            <a:ext cx="1084478" cy="310896"/>
          </a:xfrm>
          <a:prstGeom prst="rect">
            <a:avLst/>
          </a:prstGeom>
          <a:noFill/>
        </p:spPr>
        <p:txBody>
          <a:bodyPr wrap="square" lIns="0" rIns="0" tIns="0" bIns="0" anchor="ctr">
            <a:spAutoFit/>
          </a:bodyPr>
          <a:lstStyle/>
          <a:p>
            <a:pPr algn="ctr"/>
            <a:r>
              <a:rPr sz="850" b="1">
                <a:solidFill>
                  <a:srgbClr val="1F2E35"/>
                </a:solidFill>
                <a:latin typeface="Yu Gothic"/>
                <a:ea typeface="Yu Gothic"/>
                <a:cs typeface="Yu Gothic"/>
              </a:rPr>
              <a:t>請求照合・支払決済</a:t>
            </a:r>
          </a:p>
        </p:txBody>
      </p:sp>
      <p:sp>
        <p:nvSpPr>
          <p:cNvPr id="18" name="TextBox 17"/>
          <p:cNvSpPr txBox="1"/>
          <p:nvPr/>
        </p:nvSpPr>
        <p:spPr>
          <a:xfrm>
            <a:off x="4846320" y="1920240"/>
            <a:ext cx="1371600" cy="320040"/>
          </a:xfrm>
          <a:prstGeom prst="rect">
            <a:avLst/>
          </a:prstGeom>
          <a:noFill/>
        </p:spPr>
        <p:txBody>
          <a:bodyPr wrap="square" lIns="0" rIns="0" tIns="0" bIns="0" anchor="b">
            <a:spAutoFit/>
          </a:bodyPr>
          <a:lstStyle/>
          <a:p>
            <a:pPr algn="ctr"/>
            <a:r>
              <a:rPr sz="800" b="1">
                <a:solidFill>
                  <a:srgbClr val="1F2E35"/>
                </a:solidFill>
                <a:latin typeface="Yu Gothic"/>
                <a:ea typeface="Yu Gothic"/>
                <a:cs typeface="Yu Gothic"/>
              </a:rPr>
              <a:t>複数の領域で使う</a:t>
            </a:r>
          </a:p>
          <a:p>
            <a:pPr algn="ctr"/>
            <a:r>
              <a:rPr sz="800" b="1">
                <a:solidFill>
                  <a:srgbClr val="1F2E35"/>
                </a:solidFill>
                <a:latin typeface="Yu Gothic"/>
                <a:ea typeface="Yu Gothic"/>
                <a:cs typeface="Yu Gothic"/>
              </a:rPr>
              <a:t>アプリケーション</a:t>
            </a:r>
          </a:p>
        </p:txBody>
      </p:sp>
      <p:sp>
        <p:nvSpPr>
          <p:cNvPr id="19" name="Rectangle 18"/>
          <p:cNvSpPr/>
          <p:nvPr/>
        </p:nvSpPr>
        <p:spPr>
          <a:xfrm>
            <a:off x="2103120" y="233172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2194560" y="233172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調達戦略・カテゴリ管理</a:t>
            </a:r>
          </a:p>
        </p:txBody>
      </p:sp>
      <p:sp>
        <p:nvSpPr>
          <p:cNvPr id="21" name="Oval 20"/>
          <p:cNvSpPr/>
          <p:nvPr/>
        </p:nvSpPr>
        <p:spPr>
          <a:xfrm>
            <a:off x="6785305" y="2368296"/>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7861261" y="2359773"/>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5303520" y="2363724"/>
            <a:ext cx="457200" cy="141732"/>
          </a:xfrm>
          <a:prstGeom prst="roundRect">
            <a:avLst>
              <a:gd name="adj" fmla="val 50000"/>
            </a:avLst>
          </a:prstGeom>
          <a:solidFill>
            <a:srgbClr val="E87B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303520" y="2363724"/>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BI</a:t>
            </a:r>
          </a:p>
        </p:txBody>
      </p:sp>
      <p:sp>
        <p:nvSpPr>
          <p:cNvPr id="25" name="TextBox 24"/>
          <p:cNvSpPr txBox="1"/>
          <p:nvPr/>
        </p:nvSpPr>
        <p:spPr>
          <a:xfrm>
            <a:off x="2194560" y="253746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調達ガバナンス・取引適正化★</a:t>
            </a:r>
          </a:p>
        </p:txBody>
      </p:sp>
      <p:sp>
        <p:nvSpPr>
          <p:cNvPr id="26" name="Oval 25"/>
          <p:cNvSpPr/>
          <p:nvPr/>
        </p:nvSpPr>
        <p:spPr>
          <a:xfrm>
            <a:off x="6805879" y="2594610"/>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7890357" y="2594610"/>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8974836" y="2594610"/>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10059314" y="2594610"/>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11108157" y="2558974"/>
            <a:ext cx="162710" cy="162710"/>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2011679" y="2350008"/>
            <a:ext cx="54864" cy="374904"/>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365760" y="2331720"/>
            <a:ext cx="1554480" cy="411480"/>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Strategy</a:t>
            </a:r>
          </a:p>
        </p:txBody>
      </p:sp>
      <p:cxnSp>
        <p:nvCxnSpPr>
          <p:cNvPr id="33" name="Connector 32"/>
          <p:cNvCxnSpPr/>
          <p:nvPr/>
        </p:nvCxnSpPr>
        <p:spPr>
          <a:xfrm>
            <a:off x="2103120" y="2743200"/>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2103120" y="274320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2194560" y="274320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需要・購買申請管理</a:t>
            </a:r>
          </a:p>
        </p:txBody>
      </p:sp>
      <p:sp>
        <p:nvSpPr>
          <p:cNvPr id="36" name="Oval 35"/>
          <p:cNvSpPr/>
          <p:nvPr/>
        </p:nvSpPr>
        <p:spPr>
          <a:xfrm>
            <a:off x="6751445" y="2745916"/>
            <a:ext cx="200307" cy="200307"/>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5303520" y="2775204"/>
            <a:ext cx="457200" cy="141732"/>
          </a:xfrm>
          <a:prstGeom prst="roundRect">
            <a:avLst>
              <a:gd name="adj" fmla="val 50000"/>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303520" y="2775204"/>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購買</a:t>
            </a:r>
          </a:p>
        </p:txBody>
      </p:sp>
      <p:sp>
        <p:nvSpPr>
          <p:cNvPr id="39" name="TextBox 38"/>
          <p:cNvSpPr txBox="1"/>
          <p:nvPr/>
        </p:nvSpPr>
        <p:spPr>
          <a:xfrm>
            <a:off x="2194560" y="294894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ソーシング</a:t>
            </a:r>
          </a:p>
        </p:txBody>
      </p:sp>
      <p:sp>
        <p:nvSpPr>
          <p:cNvPr id="40" name="Oval 39"/>
          <p:cNvSpPr/>
          <p:nvPr/>
        </p:nvSpPr>
        <p:spPr>
          <a:xfrm>
            <a:off x="7844352" y="2960085"/>
            <a:ext cx="183449" cy="183449"/>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5303520" y="2980944"/>
            <a:ext cx="457200" cy="141732"/>
          </a:xfrm>
          <a:prstGeom prst="roundRect">
            <a:avLst>
              <a:gd name="adj" fmla="val 50000"/>
            </a:avLst>
          </a:prstGeom>
          <a:solidFill>
            <a:srgbClr val="EDA1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303520" y="2980944"/>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SRM</a:t>
            </a:r>
          </a:p>
        </p:txBody>
      </p:sp>
      <p:sp>
        <p:nvSpPr>
          <p:cNvPr id="43" name="Rectangle 42"/>
          <p:cNvSpPr/>
          <p:nvPr/>
        </p:nvSpPr>
        <p:spPr>
          <a:xfrm>
            <a:off x="2103120" y="315468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2194560" y="315468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契約管理★</a:t>
            </a:r>
          </a:p>
        </p:txBody>
      </p:sp>
      <p:sp>
        <p:nvSpPr>
          <p:cNvPr id="45" name="Oval 44"/>
          <p:cNvSpPr/>
          <p:nvPr/>
        </p:nvSpPr>
        <p:spPr>
          <a:xfrm>
            <a:off x="6805879" y="3211830"/>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8933688" y="3170682"/>
            <a:ext cx="173736" cy="173736"/>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2194560" y="336042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発注管理★</a:t>
            </a:r>
          </a:p>
        </p:txBody>
      </p:sp>
      <p:sp>
        <p:nvSpPr>
          <p:cNvPr id="48" name="Oval 47"/>
          <p:cNvSpPr/>
          <p:nvPr/>
        </p:nvSpPr>
        <p:spPr>
          <a:xfrm>
            <a:off x="8933688" y="3376422"/>
            <a:ext cx="173736" cy="173736"/>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Oval 48"/>
          <p:cNvSpPr/>
          <p:nvPr/>
        </p:nvSpPr>
        <p:spPr>
          <a:xfrm>
            <a:off x="11143792" y="3417570"/>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5303520" y="3392424"/>
            <a:ext cx="457200" cy="141732"/>
          </a:xfrm>
          <a:prstGeom prst="roundRect">
            <a:avLst>
              <a:gd name="adj" fmla="val 50000"/>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303520" y="3392424"/>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購買</a:t>
            </a:r>
          </a:p>
        </p:txBody>
      </p:sp>
      <p:sp>
        <p:nvSpPr>
          <p:cNvPr id="52" name="Rectangle 51"/>
          <p:cNvSpPr/>
          <p:nvPr/>
        </p:nvSpPr>
        <p:spPr>
          <a:xfrm>
            <a:off x="2011679" y="2761488"/>
            <a:ext cx="54864" cy="786384"/>
          </a:xfrm>
          <a:prstGeom prst="rect">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365760" y="2743200"/>
            <a:ext cx="1554480" cy="822960"/>
          </a:xfrm>
          <a:prstGeom prst="rect">
            <a:avLst/>
          </a:prstGeom>
          <a:noFill/>
        </p:spPr>
        <p:txBody>
          <a:bodyPr wrap="square" lIns="0" rIns="0" tIns="0" bIns="0" anchor="ctr">
            <a:spAutoFit/>
          </a:bodyPr>
          <a:lstStyle/>
          <a:p>
            <a:pPr algn="r"/>
            <a:r>
              <a:rPr sz="900" b="1">
                <a:solidFill>
                  <a:srgbClr val="2A78D6"/>
                </a:solidFill>
                <a:latin typeface="Yu Gothic"/>
                <a:ea typeface="Yu Gothic"/>
                <a:cs typeface="Yu Gothic"/>
              </a:rPr>
              <a:t>Procurement</a:t>
            </a:r>
          </a:p>
        </p:txBody>
      </p:sp>
      <p:cxnSp>
        <p:nvCxnSpPr>
          <p:cNvPr id="54" name="Connector 53"/>
          <p:cNvCxnSpPr/>
          <p:nvPr/>
        </p:nvCxnSpPr>
        <p:spPr>
          <a:xfrm>
            <a:off x="2103120" y="3566160"/>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2103120" y="3566160"/>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2194560" y="356616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入荷・受入管理</a:t>
            </a:r>
          </a:p>
        </p:txBody>
      </p:sp>
      <p:sp>
        <p:nvSpPr>
          <p:cNvPr id="57" name="Oval 56"/>
          <p:cNvSpPr/>
          <p:nvPr/>
        </p:nvSpPr>
        <p:spPr>
          <a:xfrm>
            <a:off x="10023679" y="3587674"/>
            <a:ext cx="162710" cy="162710"/>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2194560" y="3771900"/>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検収管理★</a:t>
            </a:r>
          </a:p>
        </p:txBody>
      </p:sp>
      <p:sp>
        <p:nvSpPr>
          <p:cNvPr id="59" name="Oval 58"/>
          <p:cNvSpPr/>
          <p:nvPr/>
        </p:nvSpPr>
        <p:spPr>
          <a:xfrm>
            <a:off x="10023679" y="3793414"/>
            <a:ext cx="162710" cy="162710"/>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5303520" y="3803904"/>
            <a:ext cx="457200" cy="141732"/>
          </a:xfrm>
          <a:prstGeom prst="roundRect">
            <a:avLst>
              <a:gd name="adj" fmla="val 50000"/>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5303520" y="3803904"/>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購買</a:t>
            </a:r>
          </a:p>
        </p:txBody>
      </p:sp>
      <p:sp>
        <p:nvSpPr>
          <p:cNvPr id="62" name="Rectangle 61"/>
          <p:cNvSpPr/>
          <p:nvPr/>
        </p:nvSpPr>
        <p:spPr>
          <a:xfrm>
            <a:off x="2103120" y="397763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2194560" y="397763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在庫・資産計上</a:t>
            </a:r>
          </a:p>
        </p:txBody>
      </p:sp>
      <p:sp>
        <p:nvSpPr>
          <p:cNvPr id="64" name="Oval 63"/>
          <p:cNvSpPr/>
          <p:nvPr/>
        </p:nvSpPr>
        <p:spPr>
          <a:xfrm>
            <a:off x="6805879" y="4034789"/>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10030218" y="4005693"/>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2011679" y="3584448"/>
            <a:ext cx="54864" cy="580643"/>
          </a:xfrm>
          <a:prstGeom prst="rect">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365760" y="3566160"/>
            <a:ext cx="1554480" cy="617219"/>
          </a:xfrm>
          <a:prstGeom prst="rect">
            <a:avLst/>
          </a:prstGeom>
          <a:noFill/>
        </p:spPr>
        <p:txBody>
          <a:bodyPr wrap="square" lIns="0" rIns="0" tIns="0" bIns="0" anchor="ctr">
            <a:spAutoFit/>
          </a:bodyPr>
          <a:lstStyle/>
          <a:p>
            <a:pPr algn="r"/>
            <a:r>
              <a:rPr sz="900" b="1">
                <a:solidFill>
                  <a:srgbClr val="0E7A52"/>
                </a:solidFill>
                <a:latin typeface="Yu Gothic"/>
                <a:ea typeface="Yu Gothic"/>
                <a:cs typeface="Yu Gothic"/>
              </a:rPr>
              <a:t>Receiving &amp; Logistics</a:t>
            </a:r>
          </a:p>
        </p:txBody>
      </p:sp>
      <p:cxnSp>
        <p:nvCxnSpPr>
          <p:cNvPr id="68" name="Connector 67"/>
          <p:cNvCxnSpPr/>
          <p:nvPr/>
        </p:nvCxnSpPr>
        <p:spPr>
          <a:xfrm>
            <a:off x="2103120" y="418337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2194560" y="418337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請求書受領・照合★</a:t>
            </a:r>
          </a:p>
        </p:txBody>
      </p:sp>
      <p:sp>
        <p:nvSpPr>
          <p:cNvPr id="70" name="Oval 69"/>
          <p:cNvSpPr/>
          <p:nvPr/>
        </p:nvSpPr>
        <p:spPr>
          <a:xfrm>
            <a:off x="11102644" y="4199381"/>
            <a:ext cx="173736" cy="173736"/>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ectangle 70"/>
          <p:cNvSpPr/>
          <p:nvPr/>
        </p:nvSpPr>
        <p:spPr>
          <a:xfrm>
            <a:off x="2103120" y="438911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2194560" y="438911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支払管理★</a:t>
            </a:r>
          </a:p>
        </p:txBody>
      </p:sp>
      <p:sp>
        <p:nvSpPr>
          <p:cNvPr id="73" name="Oval 72"/>
          <p:cNvSpPr/>
          <p:nvPr/>
        </p:nvSpPr>
        <p:spPr>
          <a:xfrm>
            <a:off x="11108157" y="4410634"/>
            <a:ext cx="162710" cy="162710"/>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2194560" y="459485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債務会計・税務★</a:t>
            </a:r>
          </a:p>
        </p:txBody>
      </p:sp>
      <p:sp>
        <p:nvSpPr>
          <p:cNvPr id="75" name="Oval 74"/>
          <p:cNvSpPr/>
          <p:nvPr/>
        </p:nvSpPr>
        <p:spPr>
          <a:xfrm>
            <a:off x="7869783" y="4631435"/>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8974836" y="4652009"/>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Oval 76"/>
          <p:cNvSpPr/>
          <p:nvPr/>
        </p:nvSpPr>
        <p:spPr>
          <a:xfrm>
            <a:off x="11097787" y="4606005"/>
            <a:ext cx="183449" cy="183449"/>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ectangle 77"/>
          <p:cNvSpPr/>
          <p:nvPr/>
        </p:nvSpPr>
        <p:spPr>
          <a:xfrm>
            <a:off x="2011679" y="4201667"/>
            <a:ext cx="54864" cy="580643"/>
          </a:xfrm>
          <a:prstGeom prst="rect">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365760" y="4183379"/>
            <a:ext cx="1554480" cy="617219"/>
          </a:xfrm>
          <a:prstGeom prst="rect">
            <a:avLst/>
          </a:prstGeom>
          <a:noFill/>
        </p:spPr>
        <p:txBody>
          <a:bodyPr wrap="square" lIns="0" rIns="0" tIns="0" bIns="0" anchor="ctr">
            <a:spAutoFit/>
          </a:bodyPr>
          <a:lstStyle/>
          <a:p>
            <a:pPr algn="r"/>
            <a:r>
              <a:rPr sz="900" b="1">
                <a:solidFill>
                  <a:srgbClr val="4A3AA7"/>
                </a:solidFill>
                <a:latin typeface="Yu Gothic"/>
                <a:ea typeface="Yu Gothic"/>
                <a:cs typeface="Yu Gothic"/>
              </a:rPr>
              <a:t>Accounts Payable</a:t>
            </a:r>
          </a:p>
        </p:txBody>
      </p:sp>
      <p:cxnSp>
        <p:nvCxnSpPr>
          <p:cNvPr id="80" name="Connector 79"/>
          <p:cNvCxnSpPr/>
          <p:nvPr/>
        </p:nvCxnSpPr>
        <p:spPr>
          <a:xfrm>
            <a:off x="2103120" y="480059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2103120" y="480059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2194560" y="480059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サプライヤー登録・審査★</a:t>
            </a:r>
          </a:p>
        </p:txBody>
      </p:sp>
      <p:sp>
        <p:nvSpPr>
          <p:cNvPr id="83" name="Oval 82"/>
          <p:cNvSpPr/>
          <p:nvPr/>
        </p:nvSpPr>
        <p:spPr>
          <a:xfrm>
            <a:off x="7854722" y="4822114"/>
            <a:ext cx="162710" cy="162710"/>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11143792" y="4857749"/>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5303520" y="4832603"/>
            <a:ext cx="457200" cy="141732"/>
          </a:xfrm>
          <a:prstGeom prst="roundRect">
            <a:avLst>
              <a:gd name="adj" fmla="val 50000"/>
            </a:avLst>
          </a:prstGeom>
          <a:solidFill>
            <a:srgbClr val="0083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5303520" y="4832603"/>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MDM</a:t>
            </a:r>
          </a:p>
        </p:txBody>
      </p:sp>
      <p:sp>
        <p:nvSpPr>
          <p:cNvPr id="87" name="TextBox 86"/>
          <p:cNvSpPr txBox="1"/>
          <p:nvPr/>
        </p:nvSpPr>
        <p:spPr>
          <a:xfrm>
            <a:off x="2194560" y="500633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サプライヤー評価・関係管理</a:t>
            </a:r>
          </a:p>
        </p:txBody>
      </p:sp>
      <p:sp>
        <p:nvSpPr>
          <p:cNvPr id="88" name="Oval 87"/>
          <p:cNvSpPr/>
          <p:nvPr/>
        </p:nvSpPr>
        <p:spPr>
          <a:xfrm>
            <a:off x="7890357" y="5063489"/>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Oval 88"/>
          <p:cNvSpPr/>
          <p:nvPr/>
        </p:nvSpPr>
        <p:spPr>
          <a:xfrm>
            <a:off x="11123218" y="5042915"/>
            <a:ext cx="132588" cy="132588"/>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5303520" y="5038343"/>
            <a:ext cx="457200" cy="141732"/>
          </a:xfrm>
          <a:prstGeom prst="roundRect">
            <a:avLst>
              <a:gd name="adj" fmla="val 50000"/>
            </a:avLst>
          </a:prstGeom>
          <a:solidFill>
            <a:srgbClr val="EDA1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5303520" y="5038343"/>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SRM</a:t>
            </a:r>
          </a:p>
        </p:txBody>
      </p:sp>
      <p:sp>
        <p:nvSpPr>
          <p:cNvPr id="92" name="Rectangle 91"/>
          <p:cNvSpPr/>
          <p:nvPr/>
        </p:nvSpPr>
        <p:spPr>
          <a:xfrm>
            <a:off x="2103120" y="521207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2194560" y="521207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サプライヤーリスク管理</a:t>
            </a:r>
          </a:p>
        </p:txBody>
      </p:sp>
      <p:sp>
        <p:nvSpPr>
          <p:cNvPr id="94" name="Oval 93"/>
          <p:cNvSpPr/>
          <p:nvPr/>
        </p:nvSpPr>
        <p:spPr>
          <a:xfrm>
            <a:off x="11114696" y="5240133"/>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ectangle 94"/>
          <p:cNvSpPr/>
          <p:nvPr/>
        </p:nvSpPr>
        <p:spPr>
          <a:xfrm>
            <a:off x="2011679" y="4818887"/>
            <a:ext cx="54864" cy="580643"/>
          </a:xfrm>
          <a:prstGeom prst="rect">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365760" y="4800599"/>
            <a:ext cx="1554480" cy="617219"/>
          </a:xfrm>
          <a:prstGeom prst="rect">
            <a:avLst/>
          </a:prstGeom>
          <a:noFill/>
        </p:spPr>
        <p:txBody>
          <a:bodyPr wrap="square" lIns="0" rIns="0" tIns="0" bIns="0" anchor="ctr">
            <a:spAutoFit/>
          </a:bodyPr>
          <a:lstStyle/>
          <a:p>
            <a:pPr algn="r"/>
            <a:r>
              <a:rPr sz="900" b="1">
                <a:solidFill>
                  <a:srgbClr val="C24E1C"/>
                </a:solidFill>
                <a:latin typeface="Yu Gothic"/>
                <a:ea typeface="Yu Gothic"/>
                <a:cs typeface="Yu Gothic"/>
              </a:rPr>
              <a:t>Supplier Management</a:t>
            </a:r>
          </a:p>
        </p:txBody>
      </p:sp>
      <p:cxnSp>
        <p:nvCxnSpPr>
          <p:cNvPr id="97" name="Connector 96"/>
          <p:cNvCxnSpPr/>
          <p:nvPr/>
        </p:nvCxnSpPr>
        <p:spPr>
          <a:xfrm>
            <a:off x="2103120" y="541781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2194560" y="541781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調達マスタ・データ管理</a:t>
            </a:r>
          </a:p>
        </p:txBody>
      </p:sp>
      <p:sp>
        <p:nvSpPr>
          <p:cNvPr id="99" name="Oval 98"/>
          <p:cNvSpPr/>
          <p:nvPr/>
        </p:nvSpPr>
        <p:spPr>
          <a:xfrm>
            <a:off x="8974836" y="5474969"/>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Oval 99"/>
          <p:cNvSpPr/>
          <p:nvPr/>
        </p:nvSpPr>
        <p:spPr>
          <a:xfrm>
            <a:off x="11114696" y="5445873"/>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ounded Rectangle 100"/>
          <p:cNvSpPr/>
          <p:nvPr/>
        </p:nvSpPr>
        <p:spPr>
          <a:xfrm>
            <a:off x="5303520" y="5449823"/>
            <a:ext cx="457200" cy="141732"/>
          </a:xfrm>
          <a:prstGeom prst="roundRect">
            <a:avLst>
              <a:gd name="adj" fmla="val 50000"/>
            </a:avLst>
          </a:prstGeom>
          <a:solidFill>
            <a:srgbClr val="00830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TextBox 101"/>
          <p:cNvSpPr txBox="1"/>
          <p:nvPr/>
        </p:nvSpPr>
        <p:spPr>
          <a:xfrm>
            <a:off x="5303520" y="5449823"/>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MDM</a:t>
            </a:r>
          </a:p>
        </p:txBody>
      </p:sp>
      <p:sp>
        <p:nvSpPr>
          <p:cNvPr id="103" name="Rectangle 102"/>
          <p:cNvSpPr/>
          <p:nvPr/>
        </p:nvSpPr>
        <p:spPr>
          <a:xfrm>
            <a:off x="2103120" y="5623559"/>
            <a:ext cx="9628632" cy="205740"/>
          </a:xfrm>
          <a:prstGeom prst="rect">
            <a:avLst/>
          </a:prstGeom>
          <a:solidFill>
            <a:srgbClr val="F3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2194560" y="562355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調達分析・レポーティング</a:t>
            </a:r>
          </a:p>
        </p:txBody>
      </p:sp>
      <p:sp>
        <p:nvSpPr>
          <p:cNvPr id="105" name="Oval 104"/>
          <p:cNvSpPr/>
          <p:nvPr/>
        </p:nvSpPr>
        <p:spPr>
          <a:xfrm>
            <a:off x="7890357" y="5680709"/>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Oval 105"/>
          <p:cNvSpPr/>
          <p:nvPr/>
        </p:nvSpPr>
        <p:spPr>
          <a:xfrm>
            <a:off x="11114696" y="5651613"/>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ounded Rectangle 106"/>
          <p:cNvSpPr/>
          <p:nvPr/>
        </p:nvSpPr>
        <p:spPr>
          <a:xfrm>
            <a:off x="5303520" y="5655563"/>
            <a:ext cx="457200" cy="141732"/>
          </a:xfrm>
          <a:prstGeom prst="roundRect">
            <a:avLst>
              <a:gd name="adj" fmla="val 50000"/>
            </a:avLst>
          </a:prstGeom>
          <a:solidFill>
            <a:srgbClr val="E87BA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5303520" y="5655563"/>
            <a:ext cx="457200" cy="141732"/>
          </a:xfrm>
          <a:prstGeom prst="rect">
            <a:avLst/>
          </a:prstGeom>
          <a:noFill/>
        </p:spPr>
        <p:txBody>
          <a:bodyPr wrap="square" lIns="0" rIns="0" tIns="0" bIns="0" anchor="ctr">
            <a:spAutoFit/>
          </a:bodyPr>
          <a:lstStyle/>
          <a:p>
            <a:pPr algn="ctr"/>
            <a:r>
              <a:rPr sz="700" b="1">
                <a:solidFill>
                  <a:srgbClr val="FFFFFF"/>
                </a:solidFill>
                <a:latin typeface="Yu Gothic"/>
                <a:ea typeface="Yu Gothic"/>
                <a:cs typeface="Yu Gothic"/>
              </a:rPr>
              <a:t>BI</a:t>
            </a:r>
          </a:p>
        </p:txBody>
      </p:sp>
      <p:sp>
        <p:nvSpPr>
          <p:cNvPr id="109" name="TextBox 108"/>
          <p:cNvSpPr txBox="1"/>
          <p:nvPr/>
        </p:nvSpPr>
        <p:spPr>
          <a:xfrm>
            <a:off x="2194560" y="5829299"/>
            <a:ext cx="2743200" cy="20574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内部統制・監査対応</a:t>
            </a:r>
          </a:p>
        </p:txBody>
      </p:sp>
      <p:sp>
        <p:nvSpPr>
          <p:cNvPr id="110" name="Oval 109"/>
          <p:cNvSpPr/>
          <p:nvPr/>
        </p:nvSpPr>
        <p:spPr>
          <a:xfrm>
            <a:off x="7890357" y="5886449"/>
            <a:ext cx="91440" cy="91440"/>
          </a:xfrm>
          <a:prstGeom prst="ellipse">
            <a:avLst/>
          </a:prstGeom>
          <a:solidFill>
            <a:srgbClr val="FFFFFF"/>
          </a:solidFill>
          <a:ln w="12700">
            <a:solidFill>
              <a:srgbClr val="8A959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Oval 110"/>
          <p:cNvSpPr/>
          <p:nvPr/>
        </p:nvSpPr>
        <p:spPr>
          <a:xfrm>
            <a:off x="11114696" y="5857353"/>
            <a:ext cx="149632" cy="149632"/>
          </a:xfrm>
          <a:prstGeom prst="ellipse">
            <a:avLst/>
          </a:prstGeom>
          <a:solidFill>
            <a:srgbClr val="8A959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Rectangle 111"/>
          <p:cNvSpPr/>
          <p:nvPr/>
        </p:nvSpPr>
        <p:spPr>
          <a:xfrm>
            <a:off x="2011679" y="5436107"/>
            <a:ext cx="54864" cy="580643"/>
          </a:xfrm>
          <a:prstGeom prst="rect">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extBox 112"/>
          <p:cNvSpPr txBox="1"/>
          <p:nvPr/>
        </p:nvSpPr>
        <p:spPr>
          <a:xfrm>
            <a:off x="365760" y="5417819"/>
            <a:ext cx="1554480" cy="617219"/>
          </a:xfrm>
          <a:prstGeom prst="rect">
            <a:avLst/>
          </a:prstGeom>
          <a:noFill/>
        </p:spPr>
        <p:txBody>
          <a:bodyPr wrap="square" lIns="0" rIns="0" tIns="0" bIns="0" anchor="ctr">
            <a:spAutoFit/>
          </a:bodyPr>
          <a:lstStyle/>
          <a:p>
            <a:pPr algn="r"/>
            <a:r>
              <a:rPr sz="900" b="1">
                <a:solidFill>
                  <a:srgbClr val="1F2E35"/>
                </a:solidFill>
                <a:latin typeface="Yu Gothic"/>
                <a:ea typeface="Yu Gothic"/>
                <a:cs typeface="Yu Gothic"/>
              </a:rPr>
              <a:t>Foundation</a:t>
            </a:r>
          </a:p>
        </p:txBody>
      </p:sp>
      <p:cxnSp>
        <p:nvCxnSpPr>
          <p:cNvPr id="114" name="Connector 113"/>
          <p:cNvCxnSpPr/>
          <p:nvPr/>
        </p:nvCxnSpPr>
        <p:spPr>
          <a:xfrm>
            <a:off x="2103120" y="6035039"/>
            <a:ext cx="9628631"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393838"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8478316"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9562795"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647273" y="2331720"/>
            <a:ext cx="0" cy="3703319"/>
          </a:xfrm>
          <a:prstGeom prst="line">
            <a:avLst/>
          </a:prstGeom>
          <a:ln w="6350">
            <a:solidFill>
              <a:srgbClr val="E4EAEC"/>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9562795" y="2286000"/>
            <a:ext cx="0" cy="3767327"/>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sp>
        <p:nvSpPr>
          <p:cNvPr id="120" name="Rounded Rectangle 119"/>
          <p:cNvSpPr/>
          <p:nvPr/>
        </p:nvSpPr>
        <p:spPr>
          <a:xfrm>
            <a:off x="6382512" y="2350008"/>
            <a:ext cx="2022652" cy="169164"/>
          </a:xfrm>
          <a:prstGeom prst="roundRect">
            <a:avLst>
              <a:gd name="adj" fmla="val 50000"/>
            </a:avLst>
          </a:prstGeom>
          <a:solidFill>
            <a:srgbClr val="F9DEE8">
              <a:alpha val="45000"/>
            </a:srgbClr>
          </a:solidFill>
          <a:ln w="15875">
            <a:solidFill>
              <a:srgbClr val="E87BA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Rounded Rectangle 120"/>
          <p:cNvSpPr/>
          <p:nvPr/>
        </p:nvSpPr>
        <p:spPr>
          <a:xfrm>
            <a:off x="6382512" y="2761488"/>
            <a:ext cx="938174" cy="169164"/>
          </a:xfrm>
          <a:prstGeom prst="roundRect">
            <a:avLst>
              <a:gd name="adj" fmla="val 50000"/>
            </a:avLst>
          </a:prstGeom>
          <a:solidFill>
            <a:srgbClr val="C9DDF4">
              <a:alpha val="45000"/>
            </a:srgbClr>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Rounded Rectangle 121"/>
          <p:cNvSpPr/>
          <p:nvPr/>
        </p:nvSpPr>
        <p:spPr>
          <a:xfrm>
            <a:off x="7466990" y="2967228"/>
            <a:ext cx="938174" cy="169164"/>
          </a:xfrm>
          <a:prstGeom prst="roundRect">
            <a:avLst>
              <a:gd name="adj" fmla="val 50000"/>
            </a:avLst>
          </a:prstGeom>
          <a:solidFill>
            <a:srgbClr val="FAE7BF">
              <a:alpha val="45000"/>
            </a:srgbClr>
          </a:solidFill>
          <a:ln w="15875">
            <a:solidFill>
              <a:srgbClr val="EDA1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Rounded Rectangle 122"/>
          <p:cNvSpPr/>
          <p:nvPr/>
        </p:nvSpPr>
        <p:spPr>
          <a:xfrm>
            <a:off x="8551468" y="3378708"/>
            <a:ext cx="938174" cy="169164"/>
          </a:xfrm>
          <a:prstGeom prst="roundRect">
            <a:avLst>
              <a:gd name="adj" fmla="val 50000"/>
            </a:avLst>
          </a:prstGeom>
          <a:solidFill>
            <a:srgbClr val="C9DDF4">
              <a:alpha val="45000"/>
            </a:srgbClr>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Rounded Rectangle 123"/>
          <p:cNvSpPr/>
          <p:nvPr/>
        </p:nvSpPr>
        <p:spPr>
          <a:xfrm>
            <a:off x="9635947" y="3790187"/>
            <a:ext cx="938174" cy="169164"/>
          </a:xfrm>
          <a:prstGeom prst="roundRect">
            <a:avLst>
              <a:gd name="adj" fmla="val 50000"/>
            </a:avLst>
          </a:prstGeom>
          <a:solidFill>
            <a:srgbClr val="C9DDF4">
              <a:alpha val="45000"/>
            </a:srgbClr>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Rounded Rectangle 124"/>
          <p:cNvSpPr/>
          <p:nvPr/>
        </p:nvSpPr>
        <p:spPr>
          <a:xfrm>
            <a:off x="7466990" y="4818887"/>
            <a:ext cx="938174" cy="169164"/>
          </a:xfrm>
          <a:prstGeom prst="roundRect">
            <a:avLst>
              <a:gd name="adj" fmla="val 50000"/>
            </a:avLst>
          </a:prstGeom>
          <a:solidFill>
            <a:srgbClr val="BFE0BF">
              <a:alpha val="45000"/>
            </a:srgbClr>
          </a:solidFill>
          <a:ln w="15875">
            <a:solidFill>
              <a:srgbClr val="0083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Rounded Rectangle 125"/>
          <p:cNvSpPr/>
          <p:nvPr/>
        </p:nvSpPr>
        <p:spPr>
          <a:xfrm>
            <a:off x="10720425" y="5024627"/>
            <a:ext cx="938174" cy="169164"/>
          </a:xfrm>
          <a:prstGeom prst="roundRect">
            <a:avLst>
              <a:gd name="adj" fmla="val 50000"/>
            </a:avLst>
          </a:prstGeom>
          <a:solidFill>
            <a:srgbClr val="FAE7BF">
              <a:alpha val="45000"/>
            </a:srgbClr>
          </a:solidFill>
          <a:ln w="15875">
            <a:solidFill>
              <a:srgbClr val="EDA1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Rounded Rectangle 126"/>
          <p:cNvSpPr/>
          <p:nvPr/>
        </p:nvSpPr>
        <p:spPr>
          <a:xfrm>
            <a:off x="10720425" y="5436107"/>
            <a:ext cx="938174" cy="169164"/>
          </a:xfrm>
          <a:prstGeom prst="roundRect">
            <a:avLst>
              <a:gd name="adj" fmla="val 50000"/>
            </a:avLst>
          </a:prstGeom>
          <a:solidFill>
            <a:srgbClr val="BFE0BF">
              <a:alpha val="45000"/>
            </a:srgbClr>
          </a:solidFill>
          <a:ln w="15875">
            <a:solidFill>
              <a:srgbClr val="00830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Rounded Rectangle 127"/>
          <p:cNvSpPr/>
          <p:nvPr/>
        </p:nvSpPr>
        <p:spPr>
          <a:xfrm>
            <a:off x="10720425" y="5641847"/>
            <a:ext cx="938174" cy="169164"/>
          </a:xfrm>
          <a:prstGeom prst="roundRect">
            <a:avLst>
              <a:gd name="adj" fmla="val 50000"/>
            </a:avLst>
          </a:prstGeom>
          <a:solidFill>
            <a:srgbClr val="F9DEE8">
              <a:alpha val="45000"/>
            </a:srgbClr>
          </a:solidFill>
          <a:ln w="15875">
            <a:solidFill>
              <a:srgbClr val="E87BA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p:cNvSpPr txBox="1"/>
          <p:nvPr/>
        </p:nvSpPr>
        <p:spPr>
          <a:xfrm>
            <a:off x="457200" y="6144767"/>
            <a:ext cx="2011680" cy="228600"/>
          </a:xfrm>
          <a:prstGeom prst="rect">
            <a:avLst/>
          </a:prstGeom>
          <a:noFill/>
        </p:spPr>
        <p:txBody>
          <a:bodyPr wrap="square" lIns="0" rIns="0" tIns="0" bIns="0" anchor="ctr">
            <a:spAutoFit/>
          </a:bodyPr>
          <a:lstStyle/>
          <a:p>
            <a:pPr algn="l"/>
            <a:r>
              <a:rPr sz="850" b="1">
                <a:solidFill>
                  <a:srgbClr val="1F2E35"/>
                </a:solidFill>
                <a:latin typeface="Yu Gothic"/>
                <a:ea typeface="Yu Gothic"/>
                <a:cs typeface="Yu Gothic"/>
              </a:rPr>
              <a:t>円の大きさ＝「主」の関係の件数</a:t>
            </a:r>
          </a:p>
        </p:txBody>
      </p:sp>
      <p:sp>
        <p:nvSpPr>
          <p:cNvPr id="130" name="Oval 129"/>
          <p:cNvSpPr/>
          <p:nvPr/>
        </p:nvSpPr>
        <p:spPr>
          <a:xfrm>
            <a:off x="2606040" y="6192773"/>
            <a:ext cx="132588" cy="132588"/>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2784348"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a:t>
            </a:r>
          </a:p>
        </p:txBody>
      </p:sp>
      <p:sp>
        <p:nvSpPr>
          <p:cNvPr id="132" name="Oval 131"/>
          <p:cNvSpPr/>
          <p:nvPr/>
        </p:nvSpPr>
        <p:spPr>
          <a:xfrm>
            <a:off x="3241548" y="6177712"/>
            <a:ext cx="162710" cy="162710"/>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p:cNvSpPr txBox="1"/>
          <p:nvPr/>
        </p:nvSpPr>
        <p:spPr>
          <a:xfrm>
            <a:off x="3449978"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3</a:t>
            </a:r>
          </a:p>
        </p:txBody>
      </p:sp>
      <p:sp>
        <p:nvSpPr>
          <p:cNvPr id="134" name="Oval 133"/>
          <p:cNvSpPr/>
          <p:nvPr/>
        </p:nvSpPr>
        <p:spPr>
          <a:xfrm>
            <a:off x="3907178" y="6167343"/>
            <a:ext cx="183449" cy="183449"/>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p:cNvSpPr txBox="1"/>
          <p:nvPr/>
        </p:nvSpPr>
        <p:spPr>
          <a:xfrm>
            <a:off x="4136348"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5</a:t>
            </a:r>
          </a:p>
        </p:txBody>
      </p:sp>
      <p:sp>
        <p:nvSpPr>
          <p:cNvPr id="136" name="Oval 135"/>
          <p:cNvSpPr/>
          <p:nvPr/>
        </p:nvSpPr>
        <p:spPr>
          <a:xfrm>
            <a:off x="4593548" y="6148287"/>
            <a:ext cx="221561" cy="221561"/>
          </a:xfrm>
          <a:prstGeom prst="ellipse">
            <a:avLst/>
          </a:prstGeom>
          <a:solidFill>
            <a:srgbClr val="5B6B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p:cNvSpPr txBox="1"/>
          <p:nvPr/>
        </p:nvSpPr>
        <p:spPr>
          <a:xfrm>
            <a:off x="4860829" y="6144767"/>
            <a:ext cx="2743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10</a:t>
            </a:r>
          </a:p>
        </p:txBody>
      </p:sp>
      <p:sp>
        <p:nvSpPr>
          <p:cNvPr id="138" name="Oval 137"/>
          <p:cNvSpPr/>
          <p:nvPr/>
        </p:nvSpPr>
        <p:spPr>
          <a:xfrm>
            <a:off x="5318029" y="6213347"/>
            <a:ext cx="91440" cy="91440"/>
          </a:xfrm>
          <a:prstGeom prst="ellipse">
            <a:avLst/>
          </a:prstGeom>
          <a:solidFill>
            <a:srgbClr val="FFFFFF"/>
          </a:solidFill>
          <a:ln w="1270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p:cNvSpPr txBox="1"/>
          <p:nvPr/>
        </p:nvSpPr>
        <p:spPr>
          <a:xfrm>
            <a:off x="5455189" y="6144767"/>
            <a:ext cx="118872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支援の関係のみ</a:t>
            </a:r>
          </a:p>
        </p:txBody>
      </p:sp>
      <p:sp>
        <p:nvSpPr>
          <p:cNvPr id="140" name="Rounded Rectangle 139"/>
          <p:cNvSpPr/>
          <p:nvPr/>
        </p:nvSpPr>
        <p:spPr>
          <a:xfrm>
            <a:off x="6689629" y="6190487"/>
            <a:ext cx="457200" cy="146304"/>
          </a:xfrm>
          <a:prstGeom prst="roundRect">
            <a:avLst>
              <a:gd name="adj" fmla="val 50000"/>
            </a:avLst>
          </a:prstGeom>
          <a:solidFill>
            <a:srgbClr val="E4EAEC"/>
          </a:solidFill>
          <a:ln w="12700">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p:cNvSpPr txBox="1"/>
          <p:nvPr/>
        </p:nvSpPr>
        <p:spPr>
          <a:xfrm>
            <a:off x="7219981" y="6144767"/>
            <a:ext cx="4572000" cy="228600"/>
          </a:xfrm>
          <a:prstGeom prst="rect">
            <a:avLst/>
          </a:prstGeom>
          <a:noFill/>
        </p:spPr>
        <p:txBody>
          <a:bodyPr wrap="square" lIns="0" rIns="0" tIns="0" bIns="0" anchor="ctr">
            <a:spAutoFit/>
          </a:bodyPr>
          <a:lstStyle/>
          <a:p>
            <a:pPr algn="l"/>
            <a:r>
              <a:rPr sz="800" b="0">
                <a:solidFill>
                  <a:srgbClr val="1F2E35"/>
                </a:solidFill>
                <a:latin typeface="Yu Gothic"/>
                <a:ea typeface="Yu Gothic"/>
                <a:cs typeface="Yu Gothic"/>
              </a:rPr>
              <a:t>色の枠＝その能力で、そのアプリケーションが「主」として使われる段階の範囲</a:t>
            </a:r>
          </a:p>
        </p:txBody>
      </p:sp>
      <p:sp>
        <p:nvSpPr>
          <p:cNvPr id="142" name="TextBox 141"/>
          <p:cNvSpPr txBox="1"/>
          <p:nvPr/>
        </p:nvSpPr>
        <p:spPr>
          <a:xfrm>
            <a:off x="457200" y="6419087"/>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アプリケーションは「ケイパビリティ×アプリケーション」シートの●（主に支える）のうち、2つ以上の領域（L1）で●のもの。段階は「VS×ケイパビリティ関係」シートの「主」の関係から求めた。範囲は最初と最後の段階を結んだもので、間の段階で使わない場合も含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データマップ全体像（1/2）</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オーナーの領域（ケイパビリティL1）ごとの情報オブジェクト（41件中22件）</a:t>
            </a:r>
          </a:p>
        </p:txBody>
      </p:sp>
      <p:sp>
        <p:nvSpPr>
          <p:cNvPr id="4" name="Rectangle 3"/>
          <p:cNvSpPr/>
          <p:nvPr/>
        </p:nvSpPr>
        <p:spPr>
          <a:xfrm>
            <a:off x="7269480" y="384048"/>
            <a:ext cx="384048" cy="155448"/>
          </a:xfrm>
          <a:prstGeom prst="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726679" y="347472"/>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データ（マスタ・トランザクション・測定データ）</a:t>
            </a:r>
          </a:p>
        </p:txBody>
      </p:sp>
      <p:sp>
        <p:nvSpPr>
          <p:cNvPr id="6" name="Rounded Rectangle 5"/>
          <p:cNvSpPr/>
          <p:nvPr/>
        </p:nvSpPr>
        <p:spPr>
          <a:xfrm>
            <a:off x="7269480" y="585216"/>
            <a:ext cx="384048" cy="155448"/>
          </a:xfrm>
          <a:prstGeom prst="round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26679" y="548640"/>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文書・記録（定義・仕様、分析・評価、文書）</a:t>
            </a:r>
          </a:p>
        </p:txBody>
      </p:sp>
      <p:sp>
        <p:nvSpPr>
          <p:cNvPr id="8" name="Rounded Rectangle 7"/>
          <p:cNvSpPr/>
          <p:nvPr/>
        </p:nvSpPr>
        <p:spPr>
          <a:xfrm>
            <a:off x="7269480" y="786384"/>
            <a:ext cx="384048" cy="155448"/>
          </a:xfrm>
          <a:prstGeom prst="roundRect">
            <a:avLst/>
          </a:prstGeom>
          <a:solidFill>
            <a:srgbClr val="E4EAEC"/>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26679" y="749808"/>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2つのアプリで作成・更新（C）</a:t>
            </a:r>
          </a:p>
        </p:txBody>
      </p:sp>
      <p:sp>
        <p:nvSpPr>
          <p:cNvPr id="10" name="Rounded Rectangle 9"/>
          <p:cNvSpPr/>
          <p:nvPr/>
        </p:nvSpPr>
        <p:spPr>
          <a:xfrm>
            <a:off x="7269480" y="987552"/>
            <a:ext cx="384048" cy="155448"/>
          </a:xfrm>
          <a:prstGeom prst="roundRect">
            <a:avLst/>
          </a:prstGeom>
          <a:solidFill>
            <a:srgbClr val="00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26679" y="950976"/>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3つ以上のアプリで作成・更新（C）。数字＝アプリ数</a:t>
            </a:r>
          </a:p>
        </p:txBody>
      </p:sp>
      <p:sp>
        <p:nvSpPr>
          <p:cNvPr id="12" name="Rectangle 11"/>
          <p:cNvSpPr/>
          <p:nvPr/>
        </p:nvSpPr>
        <p:spPr>
          <a:xfrm>
            <a:off x="10561320" y="384048"/>
            <a:ext cx="1143000" cy="82296"/>
          </a:xfrm>
          <a:prstGeom prst="rect">
            <a:avLst/>
          </a:prstGeom>
          <a:solidFill>
            <a:srgbClr val="1F2E35"/>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1338560" y="493776"/>
            <a:ext cx="365760" cy="502920"/>
          </a:xfrm>
          <a:prstGeom prst="rect">
            <a:avLst/>
          </a:prstGeom>
          <a:solidFill>
            <a:srgbClr val="2A78D6"/>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0561320" y="493776"/>
            <a:ext cx="228600" cy="502920"/>
          </a:xfrm>
          <a:prstGeom prst="rect">
            <a:avLst/>
          </a:prstGeom>
          <a:solidFill>
            <a:srgbClr val="EB6834"/>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0817352" y="493776"/>
            <a:ext cx="228600" cy="502920"/>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1073384" y="493776"/>
            <a:ext cx="228600" cy="502920"/>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0561320" y="1014984"/>
            <a:ext cx="1143000" cy="82296"/>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561320" y="1115568"/>
            <a:ext cx="1143000" cy="201168"/>
          </a:xfrm>
          <a:prstGeom prst="rect">
            <a:avLst/>
          </a:prstGeom>
          <a:noFill/>
        </p:spPr>
        <p:txBody>
          <a:bodyPr wrap="square" lIns="0" rIns="0" tIns="0" bIns="0" anchor="ctr">
            <a:spAutoFit/>
          </a:bodyPr>
          <a:lstStyle/>
          <a:p>
            <a:pPr algn="ctr"/>
            <a:r>
              <a:rPr sz="900" b="1">
                <a:solidFill>
                  <a:srgbClr val="5B6B70"/>
                </a:solidFill>
                <a:latin typeface="Yu Gothic"/>
                <a:ea typeface="Yu Gothic"/>
                <a:cs typeface="Yu Gothic"/>
              </a:rPr>
              <a:t>1 / 2</a:t>
            </a:r>
          </a:p>
        </p:txBody>
      </p:sp>
      <p:sp>
        <p:nvSpPr>
          <p:cNvPr id="19" name="Rounded Rectangle 18"/>
          <p:cNvSpPr/>
          <p:nvPr/>
        </p:nvSpPr>
        <p:spPr>
          <a:xfrm>
            <a:off x="457200" y="1417320"/>
            <a:ext cx="11274552" cy="731520"/>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1453896"/>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調達戦略・ガバナンス（Strategy &amp; Governance）</a:t>
            </a:r>
          </a:p>
        </p:txBody>
      </p:sp>
      <p:sp>
        <p:nvSpPr>
          <p:cNvPr id="21" name="TextBox 20"/>
          <p:cNvSpPr txBox="1"/>
          <p:nvPr/>
        </p:nvSpPr>
        <p:spPr>
          <a:xfrm>
            <a:off x="457200" y="1691640"/>
            <a:ext cx="5637276"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調達戦略・カテゴリ管理</a:t>
            </a:r>
          </a:p>
        </p:txBody>
      </p:sp>
      <p:sp>
        <p:nvSpPr>
          <p:cNvPr id="22" name="Rectangle 21"/>
          <p:cNvSpPr/>
          <p:nvPr/>
        </p:nvSpPr>
        <p:spPr>
          <a:xfrm>
            <a:off x="630936" y="1874519"/>
            <a:ext cx="1714500" cy="182880"/>
          </a:xfrm>
          <a:prstGeom prst="rect">
            <a:avLst/>
          </a:prstGeom>
          <a:solidFill>
            <a:srgbClr val="00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58368" y="1874519"/>
            <a:ext cx="1659636" cy="182880"/>
          </a:xfrm>
          <a:prstGeom prst="rect">
            <a:avLst/>
          </a:prstGeom>
          <a:noFill/>
        </p:spPr>
        <p:txBody>
          <a:bodyPr wrap="square" lIns="0" rIns="0" tIns="0" bIns="0" anchor="ctr">
            <a:spAutoFit/>
          </a:bodyPr>
          <a:lstStyle/>
          <a:p>
            <a:pPr algn="ctr"/>
            <a:r>
              <a:rPr sz="750" b="1">
                <a:solidFill>
                  <a:srgbClr val="000000"/>
                </a:solidFill>
                <a:latin typeface="Yu Gothic"/>
                <a:ea typeface="Yu Gothic"/>
                <a:cs typeface="Yu Gothic"/>
              </a:rPr>
              <a:t>購買計画・予算（4）</a:t>
            </a:r>
          </a:p>
        </p:txBody>
      </p:sp>
      <p:sp>
        <p:nvSpPr>
          <p:cNvPr id="24" name="Rounded Rectangle 23"/>
          <p:cNvSpPr/>
          <p:nvPr/>
        </p:nvSpPr>
        <p:spPr>
          <a:xfrm>
            <a:off x="2418588" y="1874519"/>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2446020" y="1874519"/>
            <a:ext cx="16596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支出分析</a:t>
            </a:r>
          </a:p>
        </p:txBody>
      </p:sp>
      <p:sp>
        <p:nvSpPr>
          <p:cNvPr id="26" name="Rounded Rectangle 25"/>
          <p:cNvSpPr/>
          <p:nvPr/>
        </p:nvSpPr>
        <p:spPr>
          <a:xfrm>
            <a:off x="4206240" y="1874519"/>
            <a:ext cx="171450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233672" y="1874519"/>
            <a:ext cx="1659636"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カテゴリ戦略</a:t>
            </a:r>
          </a:p>
        </p:txBody>
      </p:sp>
      <p:sp>
        <p:nvSpPr>
          <p:cNvPr id="28" name="TextBox 27"/>
          <p:cNvSpPr txBox="1"/>
          <p:nvPr/>
        </p:nvSpPr>
        <p:spPr>
          <a:xfrm>
            <a:off x="6094476" y="1691640"/>
            <a:ext cx="5637276"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調達ガバナンス・取引適正化★</a:t>
            </a:r>
          </a:p>
        </p:txBody>
      </p:sp>
      <p:sp>
        <p:nvSpPr>
          <p:cNvPr id="29" name="Rounded Rectangle 28"/>
          <p:cNvSpPr/>
          <p:nvPr/>
        </p:nvSpPr>
        <p:spPr>
          <a:xfrm>
            <a:off x="7139178" y="1874519"/>
            <a:ext cx="173736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166610" y="1874519"/>
            <a:ext cx="168249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購買規程・職務権限</a:t>
            </a:r>
          </a:p>
        </p:txBody>
      </p:sp>
      <p:sp>
        <p:nvSpPr>
          <p:cNvPr id="31" name="Rounded Rectangle 30"/>
          <p:cNvSpPr/>
          <p:nvPr/>
        </p:nvSpPr>
        <p:spPr>
          <a:xfrm>
            <a:off x="8949690" y="1874519"/>
            <a:ext cx="173736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977122" y="1874519"/>
            <a:ext cx="168249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取引適正化点検記録</a:t>
            </a:r>
          </a:p>
        </p:txBody>
      </p:sp>
      <p:sp>
        <p:nvSpPr>
          <p:cNvPr id="33" name="Chevron 32"/>
          <p:cNvSpPr/>
          <p:nvPr/>
        </p:nvSpPr>
        <p:spPr>
          <a:xfrm rot="5400000">
            <a:off x="6035040" y="2103120"/>
            <a:ext cx="118872" cy="310896"/>
          </a:xfrm>
          <a:prstGeom prst="chevron">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457200" y="2331720"/>
            <a:ext cx="11274552" cy="2194560"/>
          </a:xfrm>
          <a:prstGeom prst="roundRect">
            <a:avLst>
              <a:gd name="adj" fmla="val 3000"/>
            </a:avLst>
          </a:prstGeom>
          <a:solidFill>
            <a:srgbClr val="E8F1FB"/>
          </a:solidFill>
          <a:ln w="19050">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57200" y="2386584"/>
            <a:ext cx="11274552" cy="274320"/>
          </a:xfrm>
          <a:prstGeom prst="rect">
            <a:avLst/>
          </a:prstGeom>
          <a:noFill/>
        </p:spPr>
        <p:txBody>
          <a:bodyPr wrap="square" lIns="0" rIns="0" tIns="0" bIns="0" anchor="ctr">
            <a:spAutoFit/>
          </a:bodyPr>
          <a:lstStyle/>
          <a:p>
            <a:pPr algn="ctr"/>
            <a:r>
              <a:rPr sz="1250" b="1">
                <a:solidFill>
                  <a:srgbClr val="2A78D6"/>
                </a:solidFill>
                <a:latin typeface="Yu Gothic"/>
                <a:ea typeface="Yu Gothic"/>
                <a:cs typeface="Yu Gothic"/>
              </a:rPr>
              <a:t>Procurement</a:t>
            </a:r>
          </a:p>
        </p:txBody>
      </p:sp>
      <p:sp>
        <p:nvSpPr>
          <p:cNvPr id="36" name="Rounded Rectangle 35"/>
          <p:cNvSpPr/>
          <p:nvPr/>
        </p:nvSpPr>
        <p:spPr>
          <a:xfrm>
            <a:off x="530352" y="2715768"/>
            <a:ext cx="2713482" cy="173736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530352" y="2761487"/>
            <a:ext cx="2713482"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需要・購買申請管理</a:t>
            </a:r>
          </a:p>
        </p:txBody>
      </p:sp>
      <p:sp>
        <p:nvSpPr>
          <p:cNvPr id="38" name="Rectangle 37"/>
          <p:cNvSpPr/>
          <p:nvPr/>
        </p:nvSpPr>
        <p:spPr>
          <a:xfrm>
            <a:off x="640080" y="3108960"/>
            <a:ext cx="2494026" cy="219456"/>
          </a:xfrm>
          <a:prstGeom prst="rect">
            <a:avLst/>
          </a:prstGeom>
          <a:solidFill>
            <a:srgbClr val="00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67512" y="3108960"/>
            <a:ext cx="2439162" cy="219456"/>
          </a:xfrm>
          <a:prstGeom prst="rect">
            <a:avLst/>
          </a:prstGeom>
          <a:noFill/>
        </p:spPr>
        <p:txBody>
          <a:bodyPr wrap="square" lIns="0" rIns="0" tIns="0" bIns="0" anchor="ctr">
            <a:spAutoFit/>
          </a:bodyPr>
          <a:lstStyle/>
          <a:p>
            <a:pPr algn="ctr"/>
            <a:r>
              <a:rPr sz="900" b="1">
                <a:solidFill>
                  <a:srgbClr val="000000"/>
                </a:solidFill>
                <a:latin typeface="Yu Gothic"/>
                <a:ea typeface="Yu Gothic"/>
                <a:cs typeface="Yu Gothic"/>
              </a:rPr>
              <a:t>所要量・補充依頼（3）</a:t>
            </a:r>
          </a:p>
        </p:txBody>
      </p:sp>
      <p:sp>
        <p:nvSpPr>
          <p:cNvPr id="40" name="Rounded Rectangle 39"/>
          <p:cNvSpPr/>
          <p:nvPr/>
        </p:nvSpPr>
        <p:spPr>
          <a:xfrm>
            <a:off x="640080" y="3383279"/>
            <a:ext cx="2494026" cy="219456"/>
          </a:xfrm>
          <a:prstGeom prst="roundRect">
            <a:avLst/>
          </a:prstGeom>
          <a:solidFill>
            <a:srgbClr val="00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667512" y="3383279"/>
            <a:ext cx="2439162" cy="219456"/>
          </a:xfrm>
          <a:prstGeom prst="rect">
            <a:avLst/>
          </a:prstGeom>
          <a:noFill/>
        </p:spPr>
        <p:txBody>
          <a:bodyPr wrap="square" lIns="0" rIns="0" tIns="0" bIns="0" anchor="ctr">
            <a:spAutoFit/>
          </a:bodyPr>
          <a:lstStyle/>
          <a:p>
            <a:pPr algn="ctr"/>
            <a:r>
              <a:rPr sz="900" b="1">
                <a:solidFill>
                  <a:srgbClr val="000000"/>
                </a:solidFill>
                <a:latin typeface="Yu Gothic"/>
                <a:ea typeface="Yu Gothic"/>
                <a:cs typeface="Yu Gothic"/>
              </a:rPr>
              <a:t>購買仕様書（3）</a:t>
            </a:r>
          </a:p>
        </p:txBody>
      </p:sp>
      <p:sp>
        <p:nvSpPr>
          <p:cNvPr id="42" name="Rectangle 41"/>
          <p:cNvSpPr/>
          <p:nvPr/>
        </p:nvSpPr>
        <p:spPr>
          <a:xfrm>
            <a:off x="640080" y="3657600"/>
            <a:ext cx="2494026" cy="219456"/>
          </a:xfrm>
          <a:prstGeom prst="rect">
            <a:avLst/>
          </a:prstGeom>
          <a:solidFill>
            <a:srgbClr val="00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67512" y="3657600"/>
            <a:ext cx="2439162" cy="219456"/>
          </a:xfrm>
          <a:prstGeom prst="rect">
            <a:avLst/>
          </a:prstGeom>
          <a:noFill/>
        </p:spPr>
        <p:txBody>
          <a:bodyPr wrap="square" lIns="0" rIns="0" tIns="0" bIns="0" anchor="ctr">
            <a:spAutoFit/>
          </a:bodyPr>
          <a:lstStyle/>
          <a:p>
            <a:pPr algn="ctr"/>
            <a:r>
              <a:rPr sz="900" b="1">
                <a:solidFill>
                  <a:srgbClr val="000000"/>
                </a:solidFill>
                <a:latin typeface="Yu Gothic"/>
                <a:ea typeface="Yu Gothic"/>
                <a:cs typeface="Yu Gothic"/>
              </a:rPr>
              <a:t>購買申請（PR）（3）</a:t>
            </a:r>
          </a:p>
        </p:txBody>
      </p:sp>
      <p:sp>
        <p:nvSpPr>
          <p:cNvPr id="44" name="Rounded Rectangle 43"/>
          <p:cNvSpPr/>
          <p:nvPr/>
        </p:nvSpPr>
        <p:spPr>
          <a:xfrm>
            <a:off x="3335274" y="2715768"/>
            <a:ext cx="2713482" cy="173736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335274" y="2761487"/>
            <a:ext cx="2713482"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ソーシング</a:t>
            </a:r>
          </a:p>
        </p:txBody>
      </p:sp>
      <p:sp>
        <p:nvSpPr>
          <p:cNvPr id="46" name="Rounded Rectangle 45"/>
          <p:cNvSpPr/>
          <p:nvPr/>
        </p:nvSpPr>
        <p:spPr>
          <a:xfrm>
            <a:off x="3445002" y="3108960"/>
            <a:ext cx="2494026" cy="219456"/>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3472434" y="3108960"/>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候補サプライヤー情報（RFI）</a:t>
            </a:r>
          </a:p>
        </p:txBody>
      </p:sp>
      <p:sp>
        <p:nvSpPr>
          <p:cNvPr id="48" name="Rounded Rectangle 47"/>
          <p:cNvSpPr/>
          <p:nvPr/>
        </p:nvSpPr>
        <p:spPr>
          <a:xfrm>
            <a:off x="3445002" y="3383279"/>
            <a:ext cx="2494026" cy="219456"/>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3472434" y="3383279"/>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見積依頼書（RFP・RFQ）</a:t>
            </a:r>
          </a:p>
        </p:txBody>
      </p:sp>
      <p:sp>
        <p:nvSpPr>
          <p:cNvPr id="50" name="Rounded Rectangle 49"/>
          <p:cNvSpPr/>
          <p:nvPr/>
        </p:nvSpPr>
        <p:spPr>
          <a:xfrm>
            <a:off x="3445002" y="3657600"/>
            <a:ext cx="2494026" cy="219456"/>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3472434" y="3657600"/>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見積書・提案書</a:t>
            </a:r>
          </a:p>
        </p:txBody>
      </p:sp>
      <p:sp>
        <p:nvSpPr>
          <p:cNvPr id="52" name="Rounded Rectangle 51"/>
          <p:cNvSpPr/>
          <p:nvPr/>
        </p:nvSpPr>
        <p:spPr>
          <a:xfrm>
            <a:off x="3445002" y="3931920"/>
            <a:ext cx="2494026" cy="219456"/>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3472434" y="3931920"/>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見積比較・選定記録</a:t>
            </a:r>
          </a:p>
        </p:txBody>
      </p:sp>
      <p:sp>
        <p:nvSpPr>
          <p:cNvPr id="54" name="Rounded Rectangle 53"/>
          <p:cNvSpPr/>
          <p:nvPr/>
        </p:nvSpPr>
        <p:spPr>
          <a:xfrm>
            <a:off x="3445002" y="4206240"/>
            <a:ext cx="2494026" cy="219456"/>
          </a:xfrm>
          <a:prstGeom prst="roundRect">
            <a:avLst/>
          </a:prstGeom>
          <a:solidFill>
            <a:srgbClr val="FFFFFF"/>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472434" y="4206240"/>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価格交渉・協議記録</a:t>
            </a:r>
          </a:p>
        </p:txBody>
      </p:sp>
      <p:sp>
        <p:nvSpPr>
          <p:cNvPr id="56" name="Rounded Rectangle 55"/>
          <p:cNvSpPr/>
          <p:nvPr/>
        </p:nvSpPr>
        <p:spPr>
          <a:xfrm>
            <a:off x="6140196" y="2715768"/>
            <a:ext cx="2713482" cy="173736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6140196" y="2761487"/>
            <a:ext cx="2713482"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契約管理★</a:t>
            </a:r>
          </a:p>
        </p:txBody>
      </p:sp>
      <p:sp>
        <p:nvSpPr>
          <p:cNvPr id="58" name="Rounded Rectangle 57"/>
          <p:cNvSpPr/>
          <p:nvPr/>
        </p:nvSpPr>
        <p:spPr>
          <a:xfrm>
            <a:off x="6249924" y="3108960"/>
            <a:ext cx="2494026" cy="219456"/>
          </a:xfrm>
          <a:prstGeom prst="round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6277356" y="3108960"/>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契約書（2）</a:t>
            </a:r>
          </a:p>
        </p:txBody>
      </p:sp>
      <p:sp>
        <p:nvSpPr>
          <p:cNvPr id="60" name="Rounded Rectangle 59"/>
          <p:cNvSpPr/>
          <p:nvPr/>
        </p:nvSpPr>
        <p:spPr>
          <a:xfrm>
            <a:off x="6249924" y="3383279"/>
            <a:ext cx="2494026" cy="219456"/>
          </a:xfrm>
          <a:prstGeom prst="round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6277356" y="3383279"/>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単価契約・カタログ（2）</a:t>
            </a:r>
          </a:p>
        </p:txBody>
      </p:sp>
      <p:sp>
        <p:nvSpPr>
          <p:cNvPr id="62" name="Rounded Rectangle 61"/>
          <p:cNvSpPr/>
          <p:nvPr/>
        </p:nvSpPr>
        <p:spPr>
          <a:xfrm>
            <a:off x="8945118" y="2715768"/>
            <a:ext cx="2713482" cy="173736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8945118" y="2761487"/>
            <a:ext cx="2713482"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発注管理★</a:t>
            </a:r>
          </a:p>
        </p:txBody>
      </p:sp>
      <p:sp>
        <p:nvSpPr>
          <p:cNvPr id="64" name="Rectangle 63"/>
          <p:cNvSpPr/>
          <p:nvPr/>
        </p:nvSpPr>
        <p:spPr>
          <a:xfrm>
            <a:off x="9054846" y="3108960"/>
            <a:ext cx="2494026" cy="219456"/>
          </a:xfrm>
          <a:prstGeom prst="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082278" y="3108960"/>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発注書（PO）（2）</a:t>
            </a:r>
          </a:p>
        </p:txBody>
      </p:sp>
      <p:sp>
        <p:nvSpPr>
          <p:cNvPr id="66" name="Rectangle 65"/>
          <p:cNvSpPr/>
          <p:nvPr/>
        </p:nvSpPr>
        <p:spPr>
          <a:xfrm>
            <a:off x="9054846" y="3383279"/>
            <a:ext cx="2494026" cy="219456"/>
          </a:xfrm>
          <a:prstGeom prst="rect">
            <a:avLst/>
          </a:prstGeom>
          <a:solidFill>
            <a:srgbClr val="E4EAEC"/>
          </a:solidFill>
          <a:ln w="952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9082278" y="3383279"/>
            <a:ext cx="2439162"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注文請書・納期回答（2）</a:t>
            </a:r>
          </a:p>
        </p:txBody>
      </p:sp>
      <p:sp>
        <p:nvSpPr>
          <p:cNvPr id="68" name="Rounded Rectangle 67"/>
          <p:cNvSpPr/>
          <p:nvPr/>
        </p:nvSpPr>
        <p:spPr>
          <a:xfrm>
            <a:off x="457200" y="4663440"/>
            <a:ext cx="11274552" cy="1874520"/>
          </a:xfrm>
          <a:prstGeom prst="roundRect">
            <a:avLst>
              <a:gd name="adj" fmla="val 3000"/>
            </a:avLst>
          </a:prstGeom>
          <a:solidFill>
            <a:srgbClr val="FDEEE7"/>
          </a:solidFill>
          <a:ln w="19050">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457200" y="4718303"/>
            <a:ext cx="11274552" cy="274320"/>
          </a:xfrm>
          <a:prstGeom prst="rect">
            <a:avLst/>
          </a:prstGeom>
          <a:noFill/>
        </p:spPr>
        <p:txBody>
          <a:bodyPr wrap="square" lIns="0" rIns="0" tIns="0" bIns="0" anchor="ctr">
            <a:spAutoFit/>
          </a:bodyPr>
          <a:lstStyle/>
          <a:p>
            <a:pPr algn="ctr"/>
            <a:r>
              <a:rPr sz="1250" b="1">
                <a:solidFill>
                  <a:srgbClr val="C24E1C"/>
                </a:solidFill>
                <a:latin typeface="Yu Gothic"/>
                <a:ea typeface="Yu Gothic"/>
                <a:cs typeface="Yu Gothic"/>
              </a:rPr>
              <a:t>Supplier Management</a:t>
            </a:r>
          </a:p>
        </p:txBody>
      </p:sp>
      <p:sp>
        <p:nvSpPr>
          <p:cNvPr id="70" name="Rounded Rectangle 69"/>
          <p:cNvSpPr/>
          <p:nvPr/>
        </p:nvSpPr>
        <p:spPr>
          <a:xfrm>
            <a:off x="530352" y="5047488"/>
            <a:ext cx="3648456" cy="141732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530352" y="5093207"/>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サプライヤー登録・審査★</a:t>
            </a:r>
          </a:p>
        </p:txBody>
      </p:sp>
      <p:sp>
        <p:nvSpPr>
          <p:cNvPr id="72" name="Rectangle 71"/>
          <p:cNvSpPr/>
          <p:nvPr/>
        </p:nvSpPr>
        <p:spPr>
          <a:xfrm>
            <a:off x="640080" y="5440679"/>
            <a:ext cx="3429000" cy="219456"/>
          </a:xfrm>
          <a:prstGeom prst="rect">
            <a:avLst/>
          </a:prstGeom>
          <a:solidFill>
            <a:srgbClr val="E4EAEC"/>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667512" y="544067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サプライヤーマスタ（2）</a:t>
            </a:r>
          </a:p>
        </p:txBody>
      </p:sp>
      <p:sp>
        <p:nvSpPr>
          <p:cNvPr id="74" name="Rounded Rectangle 73"/>
          <p:cNvSpPr/>
          <p:nvPr/>
        </p:nvSpPr>
        <p:spPr>
          <a:xfrm>
            <a:off x="640080" y="5714999"/>
            <a:ext cx="3429000" cy="219456"/>
          </a:xfrm>
          <a:prstGeom prst="roundRect">
            <a:avLst/>
          </a:prstGeom>
          <a:solidFill>
            <a:srgbClr val="E4EAEC"/>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667512" y="571499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取引先審査記録（2）</a:t>
            </a:r>
          </a:p>
        </p:txBody>
      </p:sp>
      <p:sp>
        <p:nvSpPr>
          <p:cNvPr id="76" name="Rounded Rectangle 75"/>
          <p:cNvSpPr/>
          <p:nvPr/>
        </p:nvSpPr>
        <p:spPr>
          <a:xfrm>
            <a:off x="640080" y="5989319"/>
            <a:ext cx="3429000" cy="219456"/>
          </a:xfrm>
          <a:prstGeom prst="roundRect">
            <a:avLst/>
          </a:prstGeom>
          <a:solidFill>
            <a:srgbClr val="E4EAEC"/>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667512" y="598931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取引区分判定（2）</a:t>
            </a:r>
          </a:p>
        </p:txBody>
      </p:sp>
      <p:sp>
        <p:nvSpPr>
          <p:cNvPr id="78" name="Rounded Rectangle 77"/>
          <p:cNvSpPr/>
          <p:nvPr/>
        </p:nvSpPr>
        <p:spPr>
          <a:xfrm>
            <a:off x="4270248" y="5047488"/>
            <a:ext cx="3648456" cy="141732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270248" y="5093207"/>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サプライヤー評価・関係管理</a:t>
            </a:r>
          </a:p>
        </p:txBody>
      </p:sp>
      <p:sp>
        <p:nvSpPr>
          <p:cNvPr id="80" name="Rounded Rectangle 79"/>
          <p:cNvSpPr/>
          <p:nvPr/>
        </p:nvSpPr>
        <p:spPr>
          <a:xfrm>
            <a:off x="4379976" y="5440679"/>
            <a:ext cx="3429000" cy="219456"/>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4407408" y="544067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サプライヤー評価</a:t>
            </a:r>
          </a:p>
        </p:txBody>
      </p:sp>
      <p:sp>
        <p:nvSpPr>
          <p:cNvPr id="82" name="Rounded Rectangle 81"/>
          <p:cNvSpPr/>
          <p:nvPr/>
        </p:nvSpPr>
        <p:spPr>
          <a:xfrm>
            <a:off x="8010144" y="5047488"/>
            <a:ext cx="3648456" cy="141732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8010144" y="5093207"/>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サプライヤーリスク管理</a:t>
            </a:r>
          </a:p>
        </p:txBody>
      </p:sp>
      <p:sp>
        <p:nvSpPr>
          <p:cNvPr id="84" name="Rounded Rectangle 83"/>
          <p:cNvSpPr/>
          <p:nvPr/>
        </p:nvSpPr>
        <p:spPr>
          <a:xfrm>
            <a:off x="8119871" y="5440679"/>
            <a:ext cx="3429000" cy="219456"/>
          </a:xfrm>
          <a:prstGeom prst="roundRect">
            <a:avLst/>
          </a:prstGeom>
          <a:solidFill>
            <a:srgbClr val="FFFFFF"/>
          </a:solidFill>
          <a:ln w="952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8147303" y="544067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サプライヤーリスク情報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lIns="0" rIns="0" tIns="0" bIns="0" anchor="ctr">
            <a:spAutoFit/>
          </a:bodyPr>
          <a:lstStyle/>
          <a:p>
            <a:pPr algn="l"/>
            <a:r>
              <a:rPr sz="2800" b="1">
                <a:solidFill>
                  <a:srgbClr val="1F2E35"/>
                </a:solidFill>
                <a:latin typeface="Yu Gothic"/>
                <a:ea typeface="Yu Gothic"/>
                <a:cs typeface="Yu Gothic"/>
              </a:rPr>
              <a:t>データマップ全体像（2/2）</a:t>
            </a:r>
          </a:p>
        </p:txBody>
      </p:sp>
      <p:sp>
        <p:nvSpPr>
          <p:cNvPr id="3" name="TextBox 2"/>
          <p:cNvSpPr txBox="1"/>
          <p:nvPr/>
        </p:nvSpPr>
        <p:spPr>
          <a:xfrm>
            <a:off x="457200" y="841247"/>
            <a:ext cx="11247120" cy="320040"/>
          </a:xfrm>
          <a:prstGeom prst="rect">
            <a:avLst/>
          </a:prstGeom>
          <a:noFill/>
        </p:spPr>
        <p:txBody>
          <a:bodyPr wrap="square" lIns="0" rIns="0" tIns="0" bIns="0" anchor="ctr">
            <a:spAutoFit/>
          </a:bodyPr>
          <a:lstStyle/>
          <a:p>
            <a:pPr algn="l"/>
            <a:r>
              <a:rPr sz="1300" b="0">
                <a:solidFill>
                  <a:srgbClr val="5B6B70"/>
                </a:solidFill>
                <a:latin typeface="Yu Gothic"/>
                <a:ea typeface="Yu Gothic"/>
                <a:cs typeface="Yu Gothic"/>
              </a:rPr>
              <a:t>オーナーの領域（ケイパビリティL1）ごとの情報オブジェクト（41件中19件）</a:t>
            </a:r>
          </a:p>
        </p:txBody>
      </p:sp>
      <p:sp>
        <p:nvSpPr>
          <p:cNvPr id="4" name="Rectangle 3"/>
          <p:cNvSpPr/>
          <p:nvPr/>
        </p:nvSpPr>
        <p:spPr>
          <a:xfrm>
            <a:off x="7269480" y="384048"/>
            <a:ext cx="384048" cy="155448"/>
          </a:xfrm>
          <a:prstGeom prst="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726679" y="347472"/>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データ（マスタ・トランザクション・測定データ）</a:t>
            </a:r>
          </a:p>
        </p:txBody>
      </p:sp>
      <p:sp>
        <p:nvSpPr>
          <p:cNvPr id="6" name="Rounded Rectangle 5"/>
          <p:cNvSpPr/>
          <p:nvPr/>
        </p:nvSpPr>
        <p:spPr>
          <a:xfrm>
            <a:off x="7269480" y="585216"/>
            <a:ext cx="384048" cy="155448"/>
          </a:xfrm>
          <a:prstGeom prst="roundRect">
            <a:avLst/>
          </a:prstGeom>
          <a:solidFill>
            <a:srgbClr val="FF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26679" y="548640"/>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文書・記録（定義・仕様、分析・評価、文書）</a:t>
            </a:r>
          </a:p>
        </p:txBody>
      </p:sp>
      <p:sp>
        <p:nvSpPr>
          <p:cNvPr id="8" name="Rounded Rectangle 7"/>
          <p:cNvSpPr/>
          <p:nvPr/>
        </p:nvSpPr>
        <p:spPr>
          <a:xfrm>
            <a:off x="7269480" y="786384"/>
            <a:ext cx="384048" cy="155448"/>
          </a:xfrm>
          <a:prstGeom prst="roundRect">
            <a:avLst/>
          </a:prstGeom>
          <a:solidFill>
            <a:srgbClr val="E4EAEC"/>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26679" y="749808"/>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2つのアプリで作成・更新（C）</a:t>
            </a:r>
          </a:p>
        </p:txBody>
      </p:sp>
      <p:sp>
        <p:nvSpPr>
          <p:cNvPr id="10" name="Rounded Rectangle 9"/>
          <p:cNvSpPr/>
          <p:nvPr/>
        </p:nvSpPr>
        <p:spPr>
          <a:xfrm>
            <a:off x="7269480" y="987552"/>
            <a:ext cx="384048" cy="155448"/>
          </a:xfrm>
          <a:prstGeom prst="roundRect">
            <a:avLst/>
          </a:prstGeom>
          <a:solidFill>
            <a:srgbClr val="00FFFF"/>
          </a:solidFill>
          <a:ln w="9525">
            <a:solidFill>
              <a:srgbClr val="5B6B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26679" y="950976"/>
            <a:ext cx="2743200" cy="228600"/>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3つ以上のアプリで作成・更新（C）。数字＝アプリ数</a:t>
            </a:r>
          </a:p>
        </p:txBody>
      </p:sp>
      <p:sp>
        <p:nvSpPr>
          <p:cNvPr id="12" name="Rectangle 11"/>
          <p:cNvSpPr/>
          <p:nvPr/>
        </p:nvSpPr>
        <p:spPr>
          <a:xfrm>
            <a:off x="10561320" y="384048"/>
            <a:ext cx="1143000" cy="82296"/>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1338560" y="493776"/>
            <a:ext cx="365760" cy="502920"/>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0561320" y="493776"/>
            <a:ext cx="228600" cy="502920"/>
          </a:xfrm>
          <a:prstGeom prst="rect">
            <a:avLst/>
          </a:prstGeom>
          <a:solidFill>
            <a:srgbClr val="E3E8E9"/>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0817352" y="493776"/>
            <a:ext cx="228600" cy="502920"/>
          </a:xfrm>
          <a:prstGeom prst="rect">
            <a:avLst/>
          </a:prstGeom>
          <a:solidFill>
            <a:srgbClr val="1BAF7A"/>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11073384" y="493776"/>
            <a:ext cx="228600" cy="502920"/>
          </a:xfrm>
          <a:prstGeom prst="rect">
            <a:avLst/>
          </a:prstGeom>
          <a:solidFill>
            <a:srgbClr val="4A3AA7"/>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0561320" y="1014984"/>
            <a:ext cx="1143000" cy="82296"/>
          </a:xfrm>
          <a:prstGeom prst="rect">
            <a:avLst/>
          </a:prstGeom>
          <a:solidFill>
            <a:srgbClr val="1F2E35"/>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561320" y="1115568"/>
            <a:ext cx="1143000" cy="201168"/>
          </a:xfrm>
          <a:prstGeom prst="rect">
            <a:avLst/>
          </a:prstGeom>
          <a:noFill/>
        </p:spPr>
        <p:txBody>
          <a:bodyPr wrap="square" lIns="0" rIns="0" tIns="0" bIns="0" anchor="ctr">
            <a:spAutoFit/>
          </a:bodyPr>
          <a:lstStyle/>
          <a:p>
            <a:pPr algn="ctr"/>
            <a:r>
              <a:rPr sz="900" b="1">
                <a:solidFill>
                  <a:srgbClr val="5B6B70"/>
                </a:solidFill>
                <a:latin typeface="Yu Gothic"/>
                <a:ea typeface="Yu Gothic"/>
                <a:cs typeface="Yu Gothic"/>
              </a:rPr>
              <a:t>2 / 2</a:t>
            </a:r>
          </a:p>
        </p:txBody>
      </p:sp>
      <p:sp>
        <p:nvSpPr>
          <p:cNvPr id="19" name="Rounded Rectangle 18"/>
          <p:cNvSpPr/>
          <p:nvPr/>
        </p:nvSpPr>
        <p:spPr>
          <a:xfrm>
            <a:off x="457200" y="1417320"/>
            <a:ext cx="11274552" cy="1783080"/>
          </a:xfrm>
          <a:prstGeom prst="roundRect">
            <a:avLst>
              <a:gd name="adj" fmla="val 3000"/>
            </a:avLst>
          </a:prstGeom>
          <a:solidFill>
            <a:srgbClr val="E6F6F0"/>
          </a:solidFill>
          <a:ln w="19050">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1472184"/>
            <a:ext cx="11274552" cy="274320"/>
          </a:xfrm>
          <a:prstGeom prst="rect">
            <a:avLst/>
          </a:prstGeom>
          <a:noFill/>
        </p:spPr>
        <p:txBody>
          <a:bodyPr wrap="square" lIns="0" rIns="0" tIns="0" bIns="0" anchor="ctr">
            <a:spAutoFit/>
          </a:bodyPr>
          <a:lstStyle/>
          <a:p>
            <a:pPr algn="ctr"/>
            <a:r>
              <a:rPr sz="1250" b="1">
                <a:solidFill>
                  <a:srgbClr val="0E7A52"/>
                </a:solidFill>
                <a:latin typeface="Yu Gothic"/>
                <a:ea typeface="Yu Gothic"/>
                <a:cs typeface="Yu Gothic"/>
              </a:rPr>
              <a:t>Receiving &amp; Logistics</a:t>
            </a:r>
          </a:p>
        </p:txBody>
      </p:sp>
      <p:sp>
        <p:nvSpPr>
          <p:cNvPr id="21" name="Rounded Rectangle 20"/>
          <p:cNvSpPr/>
          <p:nvPr/>
        </p:nvSpPr>
        <p:spPr>
          <a:xfrm>
            <a:off x="530352" y="1801368"/>
            <a:ext cx="3648456" cy="132588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30352" y="1847088"/>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入荷・受入管理</a:t>
            </a:r>
          </a:p>
        </p:txBody>
      </p:sp>
      <p:sp>
        <p:nvSpPr>
          <p:cNvPr id="23" name="Rectangle 22"/>
          <p:cNvSpPr/>
          <p:nvPr/>
        </p:nvSpPr>
        <p:spPr>
          <a:xfrm>
            <a:off x="640080" y="2194560"/>
            <a:ext cx="3429000" cy="219456"/>
          </a:xfrm>
          <a:prstGeom prst="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67512" y="2194560"/>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入荷予定（2）</a:t>
            </a:r>
          </a:p>
        </p:txBody>
      </p:sp>
      <p:sp>
        <p:nvSpPr>
          <p:cNvPr id="25" name="Rounded Rectangle 24"/>
          <p:cNvSpPr/>
          <p:nvPr/>
        </p:nvSpPr>
        <p:spPr>
          <a:xfrm>
            <a:off x="640080" y="2468879"/>
            <a:ext cx="3429000" cy="219456"/>
          </a:xfrm>
          <a:prstGeom prst="round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67512" y="246887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納品書（2）</a:t>
            </a:r>
          </a:p>
        </p:txBody>
      </p:sp>
      <p:sp>
        <p:nvSpPr>
          <p:cNvPr id="27" name="Rectangle 26"/>
          <p:cNvSpPr/>
          <p:nvPr/>
        </p:nvSpPr>
        <p:spPr>
          <a:xfrm>
            <a:off x="640080" y="2743200"/>
            <a:ext cx="3429000" cy="219456"/>
          </a:xfrm>
          <a:prstGeom prst="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67512" y="2743200"/>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受入記録（2）</a:t>
            </a:r>
          </a:p>
        </p:txBody>
      </p:sp>
      <p:sp>
        <p:nvSpPr>
          <p:cNvPr id="29" name="Rounded Rectangle 28"/>
          <p:cNvSpPr/>
          <p:nvPr/>
        </p:nvSpPr>
        <p:spPr>
          <a:xfrm>
            <a:off x="4270248" y="1801368"/>
            <a:ext cx="3648456" cy="132588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270248" y="1847088"/>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検収管理★</a:t>
            </a:r>
          </a:p>
        </p:txBody>
      </p:sp>
      <p:sp>
        <p:nvSpPr>
          <p:cNvPr id="31" name="Rectangle 30"/>
          <p:cNvSpPr/>
          <p:nvPr/>
        </p:nvSpPr>
        <p:spPr>
          <a:xfrm>
            <a:off x="4379976" y="2194560"/>
            <a:ext cx="3429000" cy="219456"/>
          </a:xfrm>
          <a:prstGeom prst="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407408" y="2194560"/>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検収記録</a:t>
            </a:r>
          </a:p>
        </p:txBody>
      </p:sp>
      <p:sp>
        <p:nvSpPr>
          <p:cNvPr id="33" name="Rectangle 32"/>
          <p:cNvSpPr/>
          <p:nvPr/>
        </p:nvSpPr>
        <p:spPr>
          <a:xfrm>
            <a:off x="4379976" y="2468879"/>
            <a:ext cx="3429000" cy="219456"/>
          </a:xfrm>
          <a:prstGeom prst="rect">
            <a:avLst/>
          </a:prstGeom>
          <a:solidFill>
            <a:srgbClr val="FFFFFF"/>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07408" y="246887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返品・不適合記録</a:t>
            </a:r>
          </a:p>
        </p:txBody>
      </p:sp>
      <p:sp>
        <p:nvSpPr>
          <p:cNvPr id="35" name="Rounded Rectangle 34"/>
          <p:cNvSpPr/>
          <p:nvPr/>
        </p:nvSpPr>
        <p:spPr>
          <a:xfrm>
            <a:off x="8010144" y="1801368"/>
            <a:ext cx="3648456" cy="132588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010144" y="1847088"/>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在庫・資産計上</a:t>
            </a:r>
          </a:p>
        </p:txBody>
      </p:sp>
      <p:sp>
        <p:nvSpPr>
          <p:cNvPr id="37" name="Rectangle 36"/>
          <p:cNvSpPr/>
          <p:nvPr/>
        </p:nvSpPr>
        <p:spPr>
          <a:xfrm>
            <a:off x="8119871" y="2194560"/>
            <a:ext cx="3429000" cy="219456"/>
          </a:xfrm>
          <a:prstGeom prst="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147303" y="2194560"/>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在庫（2）</a:t>
            </a:r>
          </a:p>
        </p:txBody>
      </p:sp>
      <p:sp>
        <p:nvSpPr>
          <p:cNvPr id="39" name="Rectangle 38"/>
          <p:cNvSpPr/>
          <p:nvPr/>
        </p:nvSpPr>
        <p:spPr>
          <a:xfrm>
            <a:off x="8119871" y="2468879"/>
            <a:ext cx="3429000" cy="219456"/>
          </a:xfrm>
          <a:prstGeom prst="rect">
            <a:avLst/>
          </a:prstGeom>
          <a:solidFill>
            <a:srgbClr val="E4EAEC"/>
          </a:solidFill>
          <a:ln w="952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47303" y="2468879"/>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固定資産台帳（2）</a:t>
            </a:r>
          </a:p>
        </p:txBody>
      </p:sp>
      <p:sp>
        <p:nvSpPr>
          <p:cNvPr id="41" name="Rounded Rectangle 40"/>
          <p:cNvSpPr/>
          <p:nvPr/>
        </p:nvSpPr>
        <p:spPr>
          <a:xfrm>
            <a:off x="457200" y="3310128"/>
            <a:ext cx="11274552" cy="2304287"/>
          </a:xfrm>
          <a:prstGeom prst="roundRect">
            <a:avLst>
              <a:gd name="adj" fmla="val 3000"/>
            </a:avLst>
          </a:prstGeom>
          <a:solidFill>
            <a:srgbClr val="EEECF7"/>
          </a:solidFill>
          <a:ln w="19050">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457200" y="3364992"/>
            <a:ext cx="11274552" cy="274320"/>
          </a:xfrm>
          <a:prstGeom prst="rect">
            <a:avLst/>
          </a:prstGeom>
          <a:noFill/>
        </p:spPr>
        <p:txBody>
          <a:bodyPr wrap="square" lIns="0" rIns="0" tIns="0" bIns="0" anchor="ctr">
            <a:spAutoFit/>
          </a:bodyPr>
          <a:lstStyle/>
          <a:p>
            <a:pPr algn="ctr"/>
            <a:r>
              <a:rPr sz="1250" b="1">
                <a:solidFill>
                  <a:srgbClr val="4A3AA7"/>
                </a:solidFill>
                <a:latin typeface="Yu Gothic"/>
                <a:ea typeface="Yu Gothic"/>
                <a:cs typeface="Yu Gothic"/>
              </a:rPr>
              <a:t>Accounts Payable</a:t>
            </a:r>
          </a:p>
        </p:txBody>
      </p:sp>
      <p:sp>
        <p:nvSpPr>
          <p:cNvPr id="43" name="Rounded Rectangle 42"/>
          <p:cNvSpPr/>
          <p:nvPr/>
        </p:nvSpPr>
        <p:spPr>
          <a:xfrm>
            <a:off x="530352" y="3694176"/>
            <a:ext cx="3648456" cy="1847087"/>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30352" y="3739896"/>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請求書受領・照合★</a:t>
            </a:r>
          </a:p>
        </p:txBody>
      </p:sp>
      <p:sp>
        <p:nvSpPr>
          <p:cNvPr id="45" name="Rounded Rectangle 44"/>
          <p:cNvSpPr/>
          <p:nvPr/>
        </p:nvSpPr>
        <p:spPr>
          <a:xfrm>
            <a:off x="640080" y="4087368"/>
            <a:ext cx="3429000" cy="219456"/>
          </a:xfrm>
          <a:prstGeom prst="round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667512" y="4087368"/>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請求書（2）</a:t>
            </a:r>
          </a:p>
        </p:txBody>
      </p:sp>
      <p:sp>
        <p:nvSpPr>
          <p:cNvPr id="47" name="Rounded Rectangle 46"/>
          <p:cNvSpPr/>
          <p:nvPr/>
        </p:nvSpPr>
        <p:spPr>
          <a:xfrm>
            <a:off x="640080" y="4361688"/>
            <a:ext cx="3429000" cy="219456"/>
          </a:xfrm>
          <a:prstGeom prst="round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67512" y="4361688"/>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照合結果・差異記録（2）</a:t>
            </a:r>
          </a:p>
        </p:txBody>
      </p:sp>
      <p:sp>
        <p:nvSpPr>
          <p:cNvPr id="49" name="Rounded Rectangle 48"/>
          <p:cNvSpPr/>
          <p:nvPr/>
        </p:nvSpPr>
        <p:spPr>
          <a:xfrm>
            <a:off x="4270248" y="3694176"/>
            <a:ext cx="3648456" cy="1847087"/>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4270248" y="3739896"/>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支払管理★</a:t>
            </a:r>
          </a:p>
        </p:txBody>
      </p:sp>
      <p:sp>
        <p:nvSpPr>
          <p:cNvPr id="51" name="Rectangle 50"/>
          <p:cNvSpPr/>
          <p:nvPr/>
        </p:nvSpPr>
        <p:spPr>
          <a:xfrm>
            <a:off x="4379976" y="4087368"/>
            <a:ext cx="3429000" cy="219456"/>
          </a:xfrm>
          <a:prstGeom prst="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4407408" y="4087368"/>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支払予定（2）</a:t>
            </a:r>
          </a:p>
        </p:txBody>
      </p:sp>
      <p:sp>
        <p:nvSpPr>
          <p:cNvPr id="53" name="Rectangle 52"/>
          <p:cNvSpPr/>
          <p:nvPr/>
        </p:nvSpPr>
        <p:spPr>
          <a:xfrm>
            <a:off x="4379976" y="4361688"/>
            <a:ext cx="3429000" cy="219456"/>
          </a:xfrm>
          <a:prstGeom prst="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4407408" y="4361688"/>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支払データ（2）</a:t>
            </a:r>
          </a:p>
        </p:txBody>
      </p:sp>
      <p:sp>
        <p:nvSpPr>
          <p:cNvPr id="55" name="Rounded Rectangle 54"/>
          <p:cNvSpPr/>
          <p:nvPr/>
        </p:nvSpPr>
        <p:spPr>
          <a:xfrm>
            <a:off x="8010144" y="3694176"/>
            <a:ext cx="3648456" cy="1847087"/>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8010144" y="3739896"/>
            <a:ext cx="3648456" cy="274320"/>
          </a:xfrm>
          <a:prstGeom prst="rect">
            <a:avLst/>
          </a:prstGeom>
          <a:noFill/>
        </p:spPr>
        <p:txBody>
          <a:bodyPr wrap="square" lIns="0" rIns="0" tIns="0" bIns="0" anchor="ctr">
            <a:spAutoFit/>
          </a:bodyPr>
          <a:lstStyle/>
          <a:p>
            <a:pPr algn="ctr"/>
            <a:r>
              <a:rPr sz="1050" b="1">
                <a:solidFill>
                  <a:srgbClr val="1F2E35"/>
                </a:solidFill>
                <a:latin typeface="Yu Gothic"/>
                <a:ea typeface="Yu Gothic"/>
                <a:cs typeface="Yu Gothic"/>
              </a:rPr>
              <a:t>債務会計・税務★</a:t>
            </a:r>
          </a:p>
        </p:txBody>
      </p:sp>
      <p:sp>
        <p:nvSpPr>
          <p:cNvPr id="57" name="Rectangle 56"/>
          <p:cNvSpPr/>
          <p:nvPr/>
        </p:nvSpPr>
        <p:spPr>
          <a:xfrm>
            <a:off x="8119871" y="4087368"/>
            <a:ext cx="3429000" cy="219456"/>
          </a:xfrm>
          <a:prstGeom prst="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147303" y="4087368"/>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個人事業者の番号情報（2）</a:t>
            </a:r>
          </a:p>
        </p:txBody>
      </p:sp>
      <p:sp>
        <p:nvSpPr>
          <p:cNvPr id="59" name="Rectangle 58"/>
          <p:cNvSpPr/>
          <p:nvPr/>
        </p:nvSpPr>
        <p:spPr>
          <a:xfrm>
            <a:off x="8119871" y="4361688"/>
            <a:ext cx="3429000" cy="219456"/>
          </a:xfrm>
          <a:prstGeom prst="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8147303" y="4361688"/>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買掛金（債務）（2）</a:t>
            </a:r>
          </a:p>
        </p:txBody>
      </p:sp>
      <p:sp>
        <p:nvSpPr>
          <p:cNvPr id="61" name="Rectangle 60"/>
          <p:cNvSpPr/>
          <p:nvPr/>
        </p:nvSpPr>
        <p:spPr>
          <a:xfrm>
            <a:off x="8119871" y="4636007"/>
            <a:ext cx="3429000" cy="219456"/>
          </a:xfrm>
          <a:prstGeom prst="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8147303" y="4636007"/>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会計仕訳（2）</a:t>
            </a:r>
          </a:p>
        </p:txBody>
      </p:sp>
      <p:sp>
        <p:nvSpPr>
          <p:cNvPr id="63" name="Rectangle 62"/>
          <p:cNvSpPr/>
          <p:nvPr/>
        </p:nvSpPr>
        <p:spPr>
          <a:xfrm>
            <a:off x="8119871" y="4910327"/>
            <a:ext cx="3429000" cy="219456"/>
          </a:xfrm>
          <a:prstGeom prst="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8147303" y="4910327"/>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源泉徴収・支払調書（2）</a:t>
            </a:r>
          </a:p>
        </p:txBody>
      </p:sp>
      <p:sp>
        <p:nvSpPr>
          <p:cNvPr id="65" name="Rounded Rectangle 64"/>
          <p:cNvSpPr/>
          <p:nvPr/>
        </p:nvSpPr>
        <p:spPr>
          <a:xfrm>
            <a:off x="8119871" y="5184648"/>
            <a:ext cx="3429000" cy="219456"/>
          </a:xfrm>
          <a:prstGeom prst="roundRect">
            <a:avLst/>
          </a:prstGeom>
          <a:solidFill>
            <a:srgbClr val="E4EAEC"/>
          </a:solidFill>
          <a:ln w="952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8147303" y="5184648"/>
            <a:ext cx="3374136" cy="219456"/>
          </a:xfrm>
          <a:prstGeom prst="rect">
            <a:avLst/>
          </a:prstGeom>
          <a:noFill/>
        </p:spPr>
        <p:txBody>
          <a:bodyPr wrap="square" lIns="0" rIns="0" tIns="0" bIns="0" anchor="ctr">
            <a:spAutoFit/>
          </a:bodyPr>
          <a:lstStyle/>
          <a:p>
            <a:pPr algn="ctr"/>
            <a:r>
              <a:rPr sz="900" b="0">
                <a:solidFill>
                  <a:srgbClr val="1F2E35"/>
                </a:solidFill>
                <a:latin typeface="Yu Gothic"/>
                <a:ea typeface="Yu Gothic"/>
                <a:cs typeface="Yu Gothic"/>
              </a:rPr>
              <a:t>保存証憑（2）</a:t>
            </a:r>
          </a:p>
        </p:txBody>
      </p:sp>
      <p:sp>
        <p:nvSpPr>
          <p:cNvPr id="67" name="Chevron 66"/>
          <p:cNvSpPr/>
          <p:nvPr/>
        </p:nvSpPr>
        <p:spPr>
          <a:xfrm rot="5400000">
            <a:off x="6035040" y="5513832"/>
            <a:ext cx="118872" cy="310896"/>
          </a:xfrm>
          <a:prstGeom prst="chevron">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457200" y="5815584"/>
            <a:ext cx="11274552" cy="731520"/>
          </a:xfrm>
          <a:prstGeom prst="roundRect">
            <a:avLst>
              <a:gd name="adj" fmla="val 12000"/>
            </a:avLst>
          </a:prstGeom>
          <a:solidFill>
            <a:srgbClr val="FFFFFF"/>
          </a:solidFill>
          <a:ln w="19050">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457200" y="5852160"/>
            <a:ext cx="11274552" cy="219456"/>
          </a:xfrm>
          <a:prstGeom prst="rect">
            <a:avLst/>
          </a:prstGeom>
          <a:noFill/>
        </p:spPr>
        <p:txBody>
          <a:bodyPr wrap="square" lIns="0" rIns="0" tIns="0" bIns="0" anchor="ctr">
            <a:spAutoFit/>
          </a:bodyPr>
          <a:lstStyle/>
          <a:p>
            <a:pPr algn="ctr"/>
            <a:r>
              <a:rPr sz="1150" b="1">
                <a:solidFill>
                  <a:srgbClr val="1F2E35"/>
                </a:solidFill>
                <a:latin typeface="Yu Gothic"/>
                <a:ea typeface="Yu Gothic"/>
                <a:cs typeface="Yu Gothic"/>
              </a:rPr>
              <a:t>調達基盤（Support / Foundation）</a:t>
            </a:r>
          </a:p>
        </p:txBody>
      </p:sp>
      <p:sp>
        <p:nvSpPr>
          <p:cNvPr id="70" name="TextBox 69"/>
          <p:cNvSpPr txBox="1"/>
          <p:nvPr/>
        </p:nvSpPr>
        <p:spPr>
          <a:xfrm>
            <a:off x="457200" y="6089904"/>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調達マスタ・データ管理</a:t>
            </a:r>
          </a:p>
        </p:txBody>
      </p:sp>
      <p:sp>
        <p:nvSpPr>
          <p:cNvPr id="71" name="Rectangle 70"/>
          <p:cNvSpPr/>
          <p:nvPr/>
        </p:nvSpPr>
        <p:spPr>
          <a:xfrm>
            <a:off x="1467612" y="6272784"/>
            <a:ext cx="1737360" cy="182880"/>
          </a:xfrm>
          <a:prstGeom prst="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1495044" y="6272784"/>
            <a:ext cx="168249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品目マスタ</a:t>
            </a:r>
          </a:p>
        </p:txBody>
      </p:sp>
      <p:sp>
        <p:nvSpPr>
          <p:cNvPr id="73" name="TextBox 72"/>
          <p:cNvSpPr txBox="1"/>
          <p:nvPr/>
        </p:nvSpPr>
        <p:spPr>
          <a:xfrm>
            <a:off x="4215384" y="6089904"/>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調達分析・レポーティング</a:t>
            </a:r>
          </a:p>
        </p:txBody>
      </p:sp>
      <p:sp>
        <p:nvSpPr>
          <p:cNvPr id="74" name="Rounded Rectangle 73"/>
          <p:cNvSpPr/>
          <p:nvPr/>
        </p:nvSpPr>
        <p:spPr>
          <a:xfrm>
            <a:off x="5225796" y="6272784"/>
            <a:ext cx="173736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253228" y="6272784"/>
            <a:ext cx="168249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調達実績レポート</a:t>
            </a:r>
          </a:p>
        </p:txBody>
      </p:sp>
      <p:sp>
        <p:nvSpPr>
          <p:cNvPr id="76" name="TextBox 75"/>
          <p:cNvSpPr txBox="1"/>
          <p:nvPr/>
        </p:nvSpPr>
        <p:spPr>
          <a:xfrm>
            <a:off x="7973568" y="6089904"/>
            <a:ext cx="3758184" cy="164592"/>
          </a:xfrm>
          <a:prstGeom prst="rect">
            <a:avLst/>
          </a:prstGeom>
          <a:noFill/>
        </p:spPr>
        <p:txBody>
          <a:bodyPr wrap="square" lIns="0" rIns="0" tIns="0" bIns="0" anchor="ctr">
            <a:spAutoFit/>
          </a:bodyPr>
          <a:lstStyle/>
          <a:p>
            <a:pPr algn="ctr"/>
            <a:r>
              <a:rPr sz="750" b="1">
                <a:solidFill>
                  <a:srgbClr val="2F4F5A"/>
                </a:solidFill>
                <a:latin typeface="Yu Gothic"/>
                <a:ea typeface="Yu Gothic"/>
                <a:cs typeface="Yu Gothic"/>
              </a:rPr>
              <a:t>内部統制・監査対応</a:t>
            </a:r>
          </a:p>
        </p:txBody>
      </p:sp>
      <p:sp>
        <p:nvSpPr>
          <p:cNvPr id="77" name="Rounded Rectangle 76"/>
          <p:cNvSpPr/>
          <p:nvPr/>
        </p:nvSpPr>
        <p:spPr>
          <a:xfrm>
            <a:off x="8983980" y="6272784"/>
            <a:ext cx="1737360" cy="182880"/>
          </a:xfrm>
          <a:prstGeom prst="roundRect">
            <a:avLst/>
          </a:prstGeom>
          <a:solidFill>
            <a:srgbClr val="FFFFFF"/>
          </a:solidFill>
          <a:ln w="952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9011412" y="6272784"/>
            <a:ext cx="1682495" cy="182880"/>
          </a:xfrm>
          <a:prstGeom prst="rect">
            <a:avLst/>
          </a:prstGeom>
          <a:noFill/>
        </p:spPr>
        <p:txBody>
          <a:bodyPr wrap="square" lIns="0" rIns="0" tIns="0" bIns="0" anchor="ctr">
            <a:spAutoFit/>
          </a:bodyPr>
          <a:lstStyle/>
          <a:p>
            <a:pPr algn="ctr"/>
            <a:r>
              <a:rPr sz="750" b="0">
                <a:solidFill>
                  <a:srgbClr val="1F2E35"/>
                </a:solidFill>
                <a:latin typeface="Yu Gothic"/>
                <a:ea typeface="Yu Gothic"/>
                <a:cs typeface="Yu Gothic"/>
              </a:rPr>
              <a:t>職務分掌・権限設定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示唆</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ビジネス・アプリケーション・データの3つの視点から読み取れること</a:t>
            </a:r>
          </a:p>
        </p:txBody>
      </p:sp>
      <p:sp>
        <p:nvSpPr>
          <p:cNvPr id="4" name="Rounded Rectangle 3"/>
          <p:cNvSpPr/>
          <p:nvPr/>
        </p:nvSpPr>
        <p:spPr>
          <a:xfrm>
            <a:off x="457200" y="1371600"/>
            <a:ext cx="3639312" cy="4800600"/>
          </a:xfrm>
          <a:prstGeom prst="roundRect">
            <a:avLst>
              <a:gd name="adj" fmla="val 3000"/>
            </a:avLst>
          </a:prstGeom>
          <a:solidFill>
            <a:srgbClr val="FFFFFF"/>
          </a:solidFill>
          <a:ln w="19050">
            <a:solidFill>
              <a:srgbClr val="2E7D8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ounded Rectangle 4"/>
          <p:cNvSpPr/>
          <p:nvPr/>
        </p:nvSpPr>
        <p:spPr>
          <a:xfrm>
            <a:off x="457200" y="1371600"/>
            <a:ext cx="3639312" cy="566928"/>
          </a:xfrm>
          <a:prstGeom prst="roundRect">
            <a:avLst>
              <a:gd name="adj" fmla="val 20000"/>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457200" y="1737360"/>
            <a:ext cx="3639312" cy="201168"/>
          </a:xfrm>
          <a:prstGeom prst="rect">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0080"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ビジネス</a:t>
            </a:r>
          </a:p>
        </p:txBody>
      </p:sp>
      <p:sp>
        <p:nvSpPr>
          <p:cNvPr id="8" name="TextBox 7"/>
          <p:cNvSpPr txBox="1"/>
          <p:nvPr/>
        </p:nvSpPr>
        <p:spPr>
          <a:xfrm>
            <a:off x="640080"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Value Stream × Capability</a:t>
            </a:r>
          </a:p>
        </p:txBody>
      </p:sp>
      <p:sp>
        <p:nvSpPr>
          <p:cNvPr id="9" name="Oval 8"/>
          <p:cNvSpPr/>
          <p:nvPr/>
        </p:nvSpPr>
        <p:spPr>
          <a:xfrm>
            <a:off x="640080" y="2139696"/>
            <a:ext cx="274320" cy="274320"/>
          </a:xfrm>
          <a:prstGeom prst="ellipse">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0080"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11" name="TextBox 10"/>
          <p:cNvSpPr txBox="1"/>
          <p:nvPr/>
        </p:nvSpPr>
        <p:spPr>
          <a:xfrm>
            <a:off x="1024128"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前半は調達、後半は経理</a:t>
            </a:r>
          </a:p>
        </p:txBody>
      </p:sp>
      <p:sp>
        <p:nvSpPr>
          <p:cNvPr id="12" name="TextBox 11"/>
          <p:cNvSpPr txBox="1"/>
          <p:nvPr/>
        </p:nvSpPr>
        <p:spPr>
          <a:xfrm>
            <a:off x="1024128"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段階1〜3の「主」は調達・購買管理が中心（申請7件、ソーシング5件、契約・発注各4件）。段階4は受入・ロジスティクス（8件）、段階5は財務・債務管理（12件）。部門の引継ぎ点は発注書と検収記録</a:t>
            </a:r>
          </a:p>
        </p:txBody>
      </p:sp>
      <p:cxnSp>
        <p:nvCxnSpPr>
          <p:cNvPr id="13" name="Connector 12"/>
          <p:cNvCxnSpPr/>
          <p:nvPr/>
        </p:nvCxnSpPr>
        <p:spPr>
          <a:xfrm>
            <a:off x="640080" y="3355848"/>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40080" y="3447287"/>
            <a:ext cx="274320" cy="274320"/>
          </a:xfrm>
          <a:prstGeom prst="ellipse">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0080"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16" name="TextBox 15"/>
          <p:cNvSpPr txBox="1"/>
          <p:nvPr/>
        </p:nvSpPr>
        <p:spPr>
          <a:xfrm>
            <a:off x="1024128"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取引適正化は全段階を貫く</a:t>
            </a:r>
          </a:p>
        </p:txBody>
      </p:sp>
      <p:sp>
        <p:nvSpPr>
          <p:cNvPr id="17" name="TextBox 16"/>
          <p:cNvSpPr txBox="1"/>
          <p:nvPr/>
        </p:nvSpPr>
        <p:spPr>
          <a:xfrm>
            <a:off x="1024128"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取引適正化は5段階すべてに関与（主3件＋支援7件）。発注時の明示、検収、支払期日、返品・減額、価格協議が別々の段階で起きるため、段階を横断した点検の役割を置く</a:t>
            </a:r>
          </a:p>
        </p:txBody>
      </p:sp>
      <p:cxnSp>
        <p:nvCxnSpPr>
          <p:cNvPr id="18" name="Connector 17"/>
          <p:cNvCxnSpPr/>
          <p:nvPr/>
        </p:nvCxnSpPr>
        <p:spPr>
          <a:xfrm>
            <a:off x="640080" y="4663440"/>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40080" y="4754879"/>
            <a:ext cx="274320" cy="274320"/>
          </a:xfrm>
          <a:prstGeom prst="ellipse">
            <a:avLst/>
          </a:prstGeom>
          <a:solidFill>
            <a:srgbClr val="2E7D8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0080"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21" name="TextBox 20"/>
          <p:cNvSpPr txBox="1"/>
          <p:nvPr/>
        </p:nvSpPr>
        <p:spPr>
          <a:xfrm>
            <a:off x="1024128"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支払の後に次の調達が始まる</a:t>
            </a:r>
          </a:p>
        </p:txBody>
      </p:sp>
      <p:sp>
        <p:nvSpPr>
          <p:cNvPr id="22" name="TextBox 21"/>
          <p:cNvSpPr txBox="1"/>
          <p:nvPr/>
        </p:nvSpPr>
        <p:spPr>
          <a:xfrm>
            <a:off x="1024128"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段階5は11の能力を使い最多。サプライヤー評価・リスク監視・支出分析・統制の振り返りが、次の購買計画とカテゴリ戦略の入力になる</a:t>
            </a:r>
          </a:p>
        </p:txBody>
      </p:sp>
      <p:sp>
        <p:nvSpPr>
          <p:cNvPr id="23" name="Rounded Rectangle 22"/>
          <p:cNvSpPr/>
          <p:nvPr/>
        </p:nvSpPr>
        <p:spPr>
          <a:xfrm>
            <a:off x="4279392" y="1371600"/>
            <a:ext cx="3639312" cy="4800600"/>
          </a:xfrm>
          <a:prstGeom prst="roundRect">
            <a:avLst>
              <a:gd name="adj" fmla="val 3000"/>
            </a:avLst>
          </a:prstGeom>
          <a:solidFill>
            <a:srgbClr val="FFFFFF"/>
          </a:solidFill>
          <a:ln w="19050">
            <a:solidFill>
              <a:srgbClr val="2F4F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279392" y="1371600"/>
            <a:ext cx="3639312" cy="566928"/>
          </a:xfrm>
          <a:prstGeom prst="roundRect">
            <a:avLst>
              <a:gd name="adj" fmla="val 20000"/>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4279392" y="1737360"/>
            <a:ext cx="3639312" cy="201168"/>
          </a:xfrm>
          <a:prstGeom prst="rect">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462272"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アプリケーション</a:t>
            </a:r>
          </a:p>
        </p:txBody>
      </p:sp>
      <p:sp>
        <p:nvSpPr>
          <p:cNvPr id="27" name="TextBox 26"/>
          <p:cNvSpPr txBox="1"/>
          <p:nvPr/>
        </p:nvSpPr>
        <p:spPr>
          <a:xfrm>
            <a:off x="4462272"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Capability × Application</a:t>
            </a:r>
          </a:p>
        </p:txBody>
      </p:sp>
      <p:sp>
        <p:nvSpPr>
          <p:cNvPr id="28" name="Oval 27"/>
          <p:cNvSpPr/>
          <p:nvPr/>
        </p:nvSpPr>
        <p:spPr>
          <a:xfrm>
            <a:off x="4462272" y="2139696"/>
            <a:ext cx="274320" cy="274320"/>
          </a:xfrm>
          <a:prstGeom prst="ellips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462272"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30" name="TextBox 29"/>
          <p:cNvSpPr txBox="1"/>
          <p:nvPr/>
        </p:nvSpPr>
        <p:spPr>
          <a:xfrm>
            <a:off x="4846320"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購買と会計がバックボーン</a:t>
            </a:r>
          </a:p>
        </p:txBody>
      </p:sp>
      <p:sp>
        <p:nvSpPr>
          <p:cNvPr id="31" name="TextBox 30"/>
          <p:cNvSpPr txBox="1"/>
          <p:nvPr/>
        </p:nvSpPr>
        <p:spPr>
          <a:xfrm>
            <a:off x="4846320"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財務会計・債務管理（9件）と購買管理（8件）が作成・更新する情報オブジェクトの上位2つ。3-Wayマッチングは、両者が同じ発注番号と検収データでつながることが前提</a:t>
            </a:r>
          </a:p>
        </p:txBody>
      </p:sp>
      <p:cxnSp>
        <p:nvCxnSpPr>
          <p:cNvPr id="32" name="Connector 31"/>
          <p:cNvCxnSpPr/>
          <p:nvPr/>
        </p:nvCxnSpPr>
        <p:spPr>
          <a:xfrm>
            <a:off x="4462272" y="3355848"/>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4462272" y="3447287"/>
            <a:ext cx="274320" cy="274320"/>
          </a:xfrm>
          <a:prstGeom prst="ellips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35" name="TextBox 34"/>
          <p:cNvSpPr txBox="1"/>
          <p:nvPr/>
        </p:nvSpPr>
        <p:spPr>
          <a:xfrm>
            <a:off x="4846320"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4種類のアプリが領域をまたぐ</a:t>
            </a:r>
          </a:p>
        </p:txBody>
      </p:sp>
      <p:sp>
        <p:nvSpPr>
          <p:cNvPr id="36" name="TextBox 35"/>
          <p:cNvSpPr txBox="1"/>
          <p:nvPr/>
        </p:nvSpPr>
        <p:spPr>
          <a:xfrm>
            <a:off x="4846320"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購買管理（調達・受入）、SRM（調達・サプライヤー）、MDM（サプライヤー・基盤）、調達分析（戦略・基盤）。サプライヤーマスタは取引先審査とMDMの両方で作成・更新され、正本の置き場を決める必要がある</a:t>
            </a:r>
          </a:p>
        </p:txBody>
      </p:sp>
      <p:cxnSp>
        <p:nvCxnSpPr>
          <p:cNvPr id="37" name="Connector 36"/>
          <p:cNvCxnSpPr/>
          <p:nvPr/>
        </p:nvCxnSpPr>
        <p:spPr>
          <a:xfrm>
            <a:off x="4462272" y="4663440"/>
            <a:ext cx="3273551"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462272" y="4754879"/>
            <a:ext cx="274320" cy="274320"/>
          </a:xfrm>
          <a:prstGeom prst="ellipse">
            <a:avLst/>
          </a:prstGeom>
          <a:solidFill>
            <a:srgbClr val="2F4F5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462272"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40" name="TextBox 39"/>
          <p:cNvSpPr txBox="1"/>
          <p:nvPr/>
        </p:nvSpPr>
        <p:spPr>
          <a:xfrm>
            <a:off x="4846320"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取引適正化を支える専用アプリがない</a:t>
            </a:r>
          </a:p>
        </p:txBody>
      </p:sp>
      <p:sp>
        <p:nvSpPr>
          <p:cNvPr id="41" name="TextBox 40"/>
          <p:cNvSpPr txBox="1"/>
          <p:nvPr/>
        </p:nvSpPr>
        <p:spPr>
          <a:xfrm>
            <a:off x="4846320"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調達ガバナンス・取引適正化を主に支えるアプリはなく、明示・支払期日・協議の記録は購買管理・会計・SRMに分散。点検が手作業になりやすい</a:t>
            </a:r>
          </a:p>
        </p:txBody>
      </p:sp>
      <p:sp>
        <p:nvSpPr>
          <p:cNvPr id="42" name="Rounded Rectangle 41"/>
          <p:cNvSpPr/>
          <p:nvPr/>
        </p:nvSpPr>
        <p:spPr>
          <a:xfrm>
            <a:off x="8101583" y="1371600"/>
            <a:ext cx="3639312" cy="4800600"/>
          </a:xfrm>
          <a:prstGeom prst="roundRect">
            <a:avLst>
              <a:gd name="adj" fmla="val 3000"/>
            </a:avLst>
          </a:prstGeom>
          <a:solidFill>
            <a:srgbClr val="FFFFFF"/>
          </a:solidFill>
          <a:ln w="19050">
            <a:solidFill>
              <a:srgbClr val="9C7C4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8101583" y="1371600"/>
            <a:ext cx="3639312" cy="566928"/>
          </a:xfrm>
          <a:prstGeom prst="roundRect">
            <a:avLst>
              <a:gd name="adj" fmla="val 20000"/>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8101583" y="1737360"/>
            <a:ext cx="3639312" cy="201168"/>
          </a:xfrm>
          <a:prstGeom prst="rect">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8284463" y="1426464"/>
            <a:ext cx="3273552" cy="274320"/>
          </a:xfrm>
          <a:prstGeom prst="rect">
            <a:avLst/>
          </a:prstGeom>
          <a:noFill/>
        </p:spPr>
        <p:txBody>
          <a:bodyPr wrap="square" lIns="0" rIns="0" tIns="0" bIns="0" anchor="ctr">
            <a:spAutoFit/>
          </a:bodyPr>
          <a:lstStyle/>
          <a:p>
            <a:pPr algn="l"/>
            <a:r>
              <a:rPr sz="1500" b="1">
                <a:solidFill>
                  <a:srgbClr val="FFFFFF"/>
                </a:solidFill>
                <a:latin typeface="Yu Gothic"/>
                <a:ea typeface="Yu Gothic"/>
                <a:cs typeface="Yu Gothic"/>
              </a:rPr>
              <a:t>データ</a:t>
            </a:r>
          </a:p>
        </p:txBody>
      </p:sp>
      <p:sp>
        <p:nvSpPr>
          <p:cNvPr id="46" name="TextBox 45"/>
          <p:cNvSpPr txBox="1"/>
          <p:nvPr/>
        </p:nvSpPr>
        <p:spPr>
          <a:xfrm>
            <a:off x="8284463" y="1700784"/>
            <a:ext cx="3273552" cy="182880"/>
          </a:xfrm>
          <a:prstGeom prst="rect">
            <a:avLst/>
          </a:prstGeom>
          <a:noFill/>
        </p:spPr>
        <p:txBody>
          <a:bodyPr wrap="square" lIns="0" rIns="0" tIns="0" bIns="0" anchor="ctr">
            <a:spAutoFit/>
          </a:bodyPr>
          <a:lstStyle/>
          <a:p>
            <a:pPr algn="l"/>
            <a:r>
              <a:rPr sz="850" b="0">
                <a:solidFill>
                  <a:srgbClr val="DDE6E8"/>
                </a:solidFill>
                <a:latin typeface="Yu Gothic"/>
                <a:ea typeface="Yu Gothic"/>
                <a:cs typeface="Yu Gothic"/>
              </a:rPr>
              <a:t>Information Object × Application</a:t>
            </a:r>
          </a:p>
        </p:txBody>
      </p:sp>
      <p:sp>
        <p:nvSpPr>
          <p:cNvPr id="47" name="Oval 46"/>
          <p:cNvSpPr/>
          <p:nvPr/>
        </p:nvSpPr>
        <p:spPr>
          <a:xfrm>
            <a:off x="8284463" y="2139696"/>
            <a:ext cx="274320" cy="274320"/>
          </a:xfrm>
          <a:prstGeom prst="ellipse">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284463" y="213969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49" name="TextBox 48"/>
          <p:cNvSpPr txBox="1"/>
          <p:nvPr/>
        </p:nvSpPr>
        <p:spPr>
          <a:xfrm>
            <a:off x="8668511" y="2121408"/>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申請の入口が複数ある</a:t>
            </a:r>
          </a:p>
        </p:txBody>
      </p:sp>
      <p:sp>
        <p:nvSpPr>
          <p:cNvPr id="50" name="TextBox 49"/>
          <p:cNvSpPr txBox="1"/>
          <p:nvPr/>
        </p:nvSpPr>
        <p:spPr>
          <a:xfrm>
            <a:off x="8668511" y="2487168"/>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3つ以上のアプリで作成・更新される4件はすべて段階1のもの（購買計画・予算4、所要量・購買仕様書・購買申請各3）。カタログ購買・ワークフロー・購買管理の入口を一本化する</a:t>
            </a:r>
          </a:p>
        </p:txBody>
      </p:sp>
      <p:cxnSp>
        <p:nvCxnSpPr>
          <p:cNvPr id="51" name="Connector 50"/>
          <p:cNvCxnSpPr/>
          <p:nvPr/>
        </p:nvCxnSpPr>
        <p:spPr>
          <a:xfrm>
            <a:off x="8284463" y="3355848"/>
            <a:ext cx="3273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8284463" y="3447287"/>
            <a:ext cx="274320" cy="274320"/>
          </a:xfrm>
          <a:prstGeom prst="ellipse">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8284463" y="3447287"/>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54" name="TextBox 53"/>
          <p:cNvSpPr txBox="1"/>
          <p:nvPr/>
        </p:nvSpPr>
        <p:spPr>
          <a:xfrm>
            <a:off x="8668511" y="3428999"/>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3-Wayの3点は別々に生まれる</a:t>
            </a:r>
          </a:p>
        </p:txBody>
      </p:sp>
      <p:sp>
        <p:nvSpPr>
          <p:cNvPr id="55" name="TextBox 54"/>
          <p:cNvSpPr txBox="1"/>
          <p:nvPr/>
        </p:nvSpPr>
        <p:spPr>
          <a:xfrm>
            <a:off x="8668511" y="3794759"/>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発注書は購買管理・サプライヤーポータル、検収記録は購買管理（受入側の入力）、請求書は請求書受領・会計で作られる。発注番号で3点をつなぐデータ設計が照合の自動化率を決める</a:t>
            </a:r>
          </a:p>
        </p:txBody>
      </p:sp>
      <p:cxnSp>
        <p:nvCxnSpPr>
          <p:cNvPr id="56" name="Connector 55"/>
          <p:cNvCxnSpPr/>
          <p:nvPr/>
        </p:nvCxnSpPr>
        <p:spPr>
          <a:xfrm>
            <a:off x="8284463" y="4663440"/>
            <a:ext cx="3273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8284463" y="4754879"/>
            <a:ext cx="274320" cy="274320"/>
          </a:xfrm>
          <a:prstGeom prst="ellipse">
            <a:avLst/>
          </a:prstGeom>
          <a:solidFill>
            <a:srgbClr val="9C7C4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284463" y="47548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59" name="TextBox 58"/>
          <p:cNvSpPr txBox="1"/>
          <p:nvPr/>
        </p:nvSpPr>
        <p:spPr>
          <a:xfrm>
            <a:off x="8668511" y="4736592"/>
            <a:ext cx="2907792" cy="310896"/>
          </a:xfrm>
          <a:prstGeom prst="rect">
            <a:avLst/>
          </a:prstGeom>
          <a:noFill/>
        </p:spPr>
        <p:txBody>
          <a:bodyPr wrap="square" lIns="0" rIns="0" tIns="0" bIns="0" anchor="ctr">
            <a:spAutoFit/>
          </a:bodyPr>
          <a:lstStyle/>
          <a:p>
            <a:pPr algn="l"/>
            <a:r>
              <a:rPr sz="1150" b="1">
                <a:solidFill>
                  <a:srgbClr val="1F2E35"/>
                </a:solidFill>
                <a:latin typeface="Yu Gothic"/>
                <a:ea typeface="Yu Gothic"/>
                <a:cs typeface="Yu Gothic"/>
              </a:rPr>
              <a:t>取適法の証跡が5つの領域に分散</a:t>
            </a:r>
          </a:p>
        </p:txBody>
      </p:sp>
      <p:sp>
        <p:nvSpPr>
          <p:cNvPr id="60" name="TextBox 59"/>
          <p:cNvSpPr txBox="1"/>
          <p:nvPr/>
        </p:nvSpPr>
        <p:spPr>
          <a:xfrm>
            <a:off x="8668511" y="5102351"/>
            <a:ext cx="2907792" cy="868680"/>
          </a:xfrm>
          <a:prstGeom prst="rect">
            <a:avLst/>
          </a:prstGeom>
          <a:noFill/>
        </p:spPr>
        <p:txBody>
          <a:bodyPr wrap="square" lIns="0" rIns="0" tIns="0" bIns="0" anchor="t">
            <a:spAutoFit/>
          </a:bodyPr>
          <a:lstStyle/>
          <a:p>
            <a:pPr algn="l"/>
            <a:r>
              <a:rPr sz="950" b="0">
                <a:solidFill>
                  <a:srgbClr val="1F2E35"/>
                </a:solidFill>
                <a:latin typeface="Yu Gothic"/>
                <a:ea typeface="Yu Gothic"/>
                <a:cs typeface="Yu Gothic"/>
              </a:rPr>
              <a:t>取適法・フリーランス法に関わる情報オブジェクトは8件で、オーナーは5つの領域にまたがる（発注書・検収記録・支払予定・価格交渉記録など）。点検記録に集める仕組みが要る</a:t>
            </a:r>
          </a:p>
        </p:txBody>
      </p:sp>
      <p:sp>
        <p:nvSpPr>
          <p:cNvPr id="61" name="TextBox 60"/>
          <p:cNvSpPr txBox="1"/>
          <p:nvPr/>
        </p:nvSpPr>
        <p:spPr>
          <a:xfrm>
            <a:off x="457200" y="6263640"/>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出典：vs_capability_map.xlsx（VS×ケイパビリティ関係、アプリケーション×情報オブジェクト、情報オブジェクト）。アプリケーション×情報オブジェクトはケイパビリティ経由で機械的に割り当てたもので、実際の作成・更新より多めに出る。アプリの現状とのマッピングで絞り込む前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考察：重要なケイパビリティ領域</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申請・発注・検収・債務・取引先登録が「統合の要」。ソーシング・契約・マスタ管理は、生んだデータが広く使われる「データの源泉」</a:t>
            </a:r>
          </a:p>
        </p:txBody>
      </p:sp>
      <p:sp>
        <p:nvSpPr>
          <p:cNvPr id="4" name="Rectangle 3"/>
          <p:cNvSpPr/>
          <p:nvPr/>
        </p:nvSpPr>
        <p:spPr>
          <a:xfrm>
            <a:off x="960120" y="1371600"/>
            <a:ext cx="5385816" cy="2148840"/>
          </a:xfrm>
          <a:prstGeom prst="rect">
            <a:avLst/>
          </a:prstGeom>
          <a:solidFill>
            <a:srgbClr val="E8F1FB"/>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097280" y="146304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データの源泉（3）</a:t>
            </a:r>
          </a:p>
        </p:txBody>
      </p:sp>
      <p:sp>
        <p:nvSpPr>
          <p:cNvPr id="6" name="TextBox 5"/>
          <p:cNvSpPr txBox="1"/>
          <p:nvPr/>
        </p:nvSpPr>
        <p:spPr>
          <a:xfrm>
            <a:off x="1097280" y="175564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専用アプリの正本を定め、連携を設計</a:t>
            </a:r>
          </a:p>
        </p:txBody>
      </p:sp>
      <p:sp>
        <p:nvSpPr>
          <p:cNvPr id="7" name="Rounded Rectangle 6"/>
          <p:cNvSpPr/>
          <p:nvPr/>
        </p:nvSpPr>
        <p:spPr>
          <a:xfrm>
            <a:off x="1097280" y="2057400"/>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1188720" y="2135124"/>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35024" y="205740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ソーシング</a:t>
            </a:r>
          </a:p>
        </p:txBody>
      </p:sp>
      <p:sp>
        <p:nvSpPr>
          <p:cNvPr id="10" name="Rounded Rectangle 9"/>
          <p:cNvSpPr/>
          <p:nvPr/>
        </p:nvSpPr>
        <p:spPr>
          <a:xfrm>
            <a:off x="3698748" y="2057400"/>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3790187" y="2135124"/>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36491" y="205740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調達マスタ・データ管理</a:t>
            </a:r>
          </a:p>
        </p:txBody>
      </p:sp>
      <p:sp>
        <p:nvSpPr>
          <p:cNvPr id="13" name="Rounded Rectangle 12"/>
          <p:cNvSpPr/>
          <p:nvPr/>
        </p:nvSpPr>
        <p:spPr>
          <a:xfrm>
            <a:off x="1097280" y="2359152"/>
            <a:ext cx="2510028"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1188720" y="2436876"/>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335024" y="2359152"/>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契約管理★</a:t>
            </a:r>
          </a:p>
        </p:txBody>
      </p:sp>
      <p:sp>
        <p:nvSpPr>
          <p:cNvPr id="16" name="Rectangle 15"/>
          <p:cNvSpPr/>
          <p:nvPr/>
        </p:nvSpPr>
        <p:spPr>
          <a:xfrm>
            <a:off x="6345936" y="1371600"/>
            <a:ext cx="5385816" cy="2148840"/>
          </a:xfrm>
          <a:prstGeom prst="rect">
            <a:avLst/>
          </a:prstGeom>
          <a:solidFill>
            <a:srgbClr val="CCFFFF"/>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83096" y="146304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統合の要（6）</a:t>
            </a:r>
          </a:p>
        </p:txBody>
      </p:sp>
      <p:sp>
        <p:nvSpPr>
          <p:cNvPr id="18" name="TextBox 17"/>
          <p:cNvSpPr txBox="1"/>
          <p:nvPr/>
        </p:nvSpPr>
        <p:spPr>
          <a:xfrm>
            <a:off x="6483096" y="175564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共通アプリとデータ標準を最優先で整備</a:t>
            </a:r>
          </a:p>
        </p:txBody>
      </p:sp>
      <p:sp>
        <p:nvSpPr>
          <p:cNvPr id="19" name="Rounded Rectangle 18"/>
          <p:cNvSpPr/>
          <p:nvPr/>
        </p:nvSpPr>
        <p:spPr>
          <a:xfrm>
            <a:off x="6483096" y="2057400"/>
            <a:ext cx="2510027"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6574536" y="2135124"/>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720840" y="2057400"/>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需要・購買申請管理</a:t>
            </a:r>
          </a:p>
        </p:txBody>
      </p:sp>
      <p:sp>
        <p:nvSpPr>
          <p:cNvPr id="22" name="Rounded Rectangle 21"/>
          <p:cNvSpPr/>
          <p:nvPr/>
        </p:nvSpPr>
        <p:spPr>
          <a:xfrm>
            <a:off x="9084564" y="2057400"/>
            <a:ext cx="2510027" cy="246888"/>
          </a:xfrm>
          <a:prstGeom prst="roundRect">
            <a:avLst>
              <a:gd name="adj" fmla="val 50000"/>
            </a:avLst>
          </a:prstGeom>
          <a:solidFill>
            <a:srgbClr val="FFFFFF"/>
          </a:solidFill>
          <a:ln w="1587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9176004" y="2135124"/>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322308" y="2057400"/>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サプライヤー登録・審査★</a:t>
            </a:r>
          </a:p>
        </p:txBody>
      </p:sp>
      <p:sp>
        <p:nvSpPr>
          <p:cNvPr id="25" name="Rounded Rectangle 24"/>
          <p:cNvSpPr/>
          <p:nvPr/>
        </p:nvSpPr>
        <p:spPr>
          <a:xfrm>
            <a:off x="6483096" y="2359152"/>
            <a:ext cx="2510027" cy="246888"/>
          </a:xfrm>
          <a:prstGeom prst="roundRect">
            <a:avLst>
              <a:gd name="adj" fmla="val 50000"/>
            </a:avLst>
          </a:prstGeom>
          <a:solidFill>
            <a:srgbClr val="FFFFFF"/>
          </a:solidFill>
          <a:ln w="15875">
            <a:solidFill>
              <a:srgbClr val="2A78D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6574536" y="2436876"/>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720840" y="2359152"/>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発注管理★</a:t>
            </a:r>
          </a:p>
        </p:txBody>
      </p:sp>
      <p:sp>
        <p:nvSpPr>
          <p:cNvPr id="28" name="Rounded Rectangle 27"/>
          <p:cNvSpPr/>
          <p:nvPr/>
        </p:nvSpPr>
        <p:spPr>
          <a:xfrm>
            <a:off x="9084564" y="2359152"/>
            <a:ext cx="2510027"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9176004" y="2436876"/>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9322308" y="2359152"/>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検収管理★</a:t>
            </a:r>
          </a:p>
        </p:txBody>
      </p:sp>
      <p:sp>
        <p:nvSpPr>
          <p:cNvPr id="31" name="Rounded Rectangle 30"/>
          <p:cNvSpPr/>
          <p:nvPr/>
        </p:nvSpPr>
        <p:spPr>
          <a:xfrm>
            <a:off x="6483096" y="2660904"/>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p:cNvSpPr/>
          <p:nvPr/>
        </p:nvSpPr>
        <p:spPr>
          <a:xfrm>
            <a:off x="6574536" y="2738628"/>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720840" y="2660904"/>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債務会計・税務★</a:t>
            </a:r>
          </a:p>
        </p:txBody>
      </p:sp>
      <p:sp>
        <p:nvSpPr>
          <p:cNvPr id="34" name="Rounded Rectangle 33"/>
          <p:cNvSpPr/>
          <p:nvPr/>
        </p:nvSpPr>
        <p:spPr>
          <a:xfrm>
            <a:off x="9084564" y="2660904"/>
            <a:ext cx="2510027"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9176004" y="2738628"/>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322308" y="2660904"/>
            <a:ext cx="2208275" cy="246888"/>
          </a:xfrm>
          <a:prstGeom prst="rect">
            <a:avLst/>
          </a:prstGeom>
          <a:noFill/>
        </p:spPr>
        <p:txBody>
          <a:bodyPr wrap="square" lIns="0" rIns="0" tIns="0" bIns="0" anchor="ctr">
            <a:spAutoFit/>
          </a:bodyPr>
          <a:lstStyle/>
          <a:p>
            <a:pPr algn="l"/>
            <a:r>
              <a:rPr sz="900" b="1">
                <a:solidFill>
                  <a:srgbClr val="000000"/>
                </a:solidFill>
                <a:latin typeface="Yu Gothic"/>
                <a:ea typeface="Yu Gothic"/>
                <a:cs typeface="Yu Gothic"/>
              </a:rPr>
              <a:t>入荷・受入管理</a:t>
            </a:r>
          </a:p>
        </p:txBody>
      </p:sp>
      <p:sp>
        <p:nvSpPr>
          <p:cNvPr id="37" name="Rectangle 36"/>
          <p:cNvSpPr/>
          <p:nvPr/>
        </p:nvSpPr>
        <p:spPr>
          <a:xfrm>
            <a:off x="960120" y="3520440"/>
            <a:ext cx="5385816" cy="2148840"/>
          </a:xfrm>
          <a:prstGeom prst="rect">
            <a:avLst/>
          </a:prstGeom>
          <a:solidFill>
            <a:srgbClr val="FFFFFF"/>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1097280" y="361188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個別最適（6）</a:t>
            </a:r>
          </a:p>
        </p:txBody>
      </p:sp>
      <p:sp>
        <p:nvSpPr>
          <p:cNvPr id="39" name="TextBox 38"/>
          <p:cNvSpPr txBox="1"/>
          <p:nvPr/>
        </p:nvSpPr>
        <p:spPr>
          <a:xfrm>
            <a:off x="1097280" y="390448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個別に最適化してよい</a:t>
            </a:r>
          </a:p>
        </p:txBody>
      </p:sp>
      <p:sp>
        <p:nvSpPr>
          <p:cNvPr id="40" name="Rounded Rectangle 39"/>
          <p:cNvSpPr/>
          <p:nvPr/>
        </p:nvSpPr>
        <p:spPr>
          <a:xfrm>
            <a:off x="1097280" y="4206240"/>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1188720" y="4283964"/>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1335024" y="420624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調達戦略・カテゴリ管理</a:t>
            </a:r>
          </a:p>
        </p:txBody>
      </p:sp>
      <p:sp>
        <p:nvSpPr>
          <p:cNvPr id="43" name="Rounded Rectangle 42"/>
          <p:cNvSpPr/>
          <p:nvPr/>
        </p:nvSpPr>
        <p:spPr>
          <a:xfrm>
            <a:off x="3698748" y="4206240"/>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3790187" y="4283964"/>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936491" y="4206240"/>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調達ガバナンス・取引適正化★</a:t>
            </a:r>
          </a:p>
        </p:txBody>
      </p:sp>
      <p:sp>
        <p:nvSpPr>
          <p:cNvPr id="46" name="Rounded Rectangle 45"/>
          <p:cNvSpPr/>
          <p:nvPr/>
        </p:nvSpPr>
        <p:spPr>
          <a:xfrm>
            <a:off x="1097280" y="4507992"/>
            <a:ext cx="2510028" cy="246888"/>
          </a:xfrm>
          <a:prstGeom prst="roundRect">
            <a:avLst>
              <a:gd name="adj" fmla="val 50000"/>
            </a:avLst>
          </a:prstGeom>
          <a:solidFill>
            <a:srgbClr val="FFFFFF"/>
          </a:solidFill>
          <a:ln w="1587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1188720" y="4585716"/>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1335024" y="4507992"/>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サプライヤー評価・関係管理</a:t>
            </a:r>
          </a:p>
        </p:txBody>
      </p:sp>
      <p:sp>
        <p:nvSpPr>
          <p:cNvPr id="49" name="Rounded Rectangle 48"/>
          <p:cNvSpPr/>
          <p:nvPr/>
        </p:nvSpPr>
        <p:spPr>
          <a:xfrm>
            <a:off x="3698748" y="4507992"/>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3790187" y="4585716"/>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3936491" y="4507992"/>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調達分析・レポーティング</a:t>
            </a:r>
          </a:p>
        </p:txBody>
      </p:sp>
      <p:sp>
        <p:nvSpPr>
          <p:cNvPr id="52" name="Rounded Rectangle 51"/>
          <p:cNvSpPr/>
          <p:nvPr/>
        </p:nvSpPr>
        <p:spPr>
          <a:xfrm>
            <a:off x="1097280" y="4809744"/>
            <a:ext cx="2510028" cy="246888"/>
          </a:xfrm>
          <a:prstGeom prst="roundRect">
            <a:avLst>
              <a:gd name="adj" fmla="val 50000"/>
            </a:avLst>
          </a:prstGeom>
          <a:solidFill>
            <a:srgbClr val="FFFFFF"/>
          </a:solidFill>
          <a:ln w="15875">
            <a:solidFill>
              <a:srgbClr val="EB683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1188720" y="4887468"/>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1335024" y="4809744"/>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サプライヤーリスク管理</a:t>
            </a:r>
          </a:p>
        </p:txBody>
      </p:sp>
      <p:sp>
        <p:nvSpPr>
          <p:cNvPr id="55" name="Rounded Rectangle 54"/>
          <p:cNvSpPr/>
          <p:nvPr/>
        </p:nvSpPr>
        <p:spPr>
          <a:xfrm>
            <a:off x="3698748" y="4809744"/>
            <a:ext cx="2510028" cy="246888"/>
          </a:xfrm>
          <a:prstGeom prst="roundRect">
            <a:avLst>
              <a:gd name="adj" fmla="val 50000"/>
            </a:avLst>
          </a:prstGeom>
          <a:solidFill>
            <a:srgbClr val="FFFFFF"/>
          </a:solidFill>
          <a:ln w="15875">
            <a:solidFill>
              <a:srgbClr val="1F2E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Oval 55"/>
          <p:cNvSpPr/>
          <p:nvPr/>
        </p:nvSpPr>
        <p:spPr>
          <a:xfrm>
            <a:off x="3790187" y="4887468"/>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3936491" y="4809744"/>
            <a:ext cx="2208276"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内部統制・監査対応</a:t>
            </a:r>
          </a:p>
        </p:txBody>
      </p:sp>
      <p:sp>
        <p:nvSpPr>
          <p:cNvPr id="58" name="Rectangle 57"/>
          <p:cNvSpPr/>
          <p:nvPr/>
        </p:nvSpPr>
        <p:spPr>
          <a:xfrm>
            <a:off x="6345936" y="3520440"/>
            <a:ext cx="5385816" cy="2148840"/>
          </a:xfrm>
          <a:prstGeom prst="rect">
            <a:avLst/>
          </a:prstGeom>
          <a:solidFill>
            <a:srgbClr val="EEF2F2"/>
          </a:solidFill>
          <a:ln w="12700">
            <a:solidFill>
              <a:srgbClr val="C3CFD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6483096" y="3611880"/>
            <a:ext cx="5111496" cy="274320"/>
          </a:xfrm>
          <a:prstGeom prst="rect">
            <a:avLst/>
          </a:prstGeom>
          <a:noFill/>
        </p:spPr>
        <p:txBody>
          <a:bodyPr wrap="square" lIns="0" rIns="0" tIns="0" bIns="0" anchor="ctr">
            <a:spAutoFit/>
          </a:bodyPr>
          <a:lstStyle/>
          <a:p>
            <a:pPr algn="l"/>
            <a:r>
              <a:rPr sz="1300" b="1">
                <a:solidFill>
                  <a:srgbClr val="000000"/>
                </a:solidFill>
                <a:latin typeface="Yu Gothic"/>
                <a:ea typeface="Yu Gothic"/>
                <a:cs typeface="Yu Gothic"/>
              </a:rPr>
              <a:t>共通アプリの利用者（3）</a:t>
            </a:r>
          </a:p>
        </p:txBody>
      </p:sp>
      <p:sp>
        <p:nvSpPr>
          <p:cNvPr id="60" name="TextBox 59"/>
          <p:cNvSpPr txBox="1"/>
          <p:nvPr/>
        </p:nvSpPr>
        <p:spPr>
          <a:xfrm>
            <a:off x="6483096" y="3904488"/>
            <a:ext cx="5111496" cy="201168"/>
          </a:xfrm>
          <a:prstGeom prst="rect">
            <a:avLst/>
          </a:prstGeom>
          <a:noFill/>
        </p:spPr>
        <p:txBody>
          <a:bodyPr wrap="square" lIns="0" rIns="0" tIns="0" bIns="0" anchor="ctr">
            <a:spAutoFit/>
          </a:bodyPr>
          <a:lstStyle/>
          <a:p>
            <a:pPr algn="l"/>
            <a:r>
              <a:rPr sz="900" b="0">
                <a:solidFill>
                  <a:srgbClr val="5B6B70"/>
                </a:solidFill>
                <a:latin typeface="Yu Gothic"/>
                <a:ea typeface="Yu Gothic"/>
                <a:cs typeface="Yu Gothic"/>
              </a:rPr>
              <a:t>共通アプリの標準に合わせる</a:t>
            </a:r>
          </a:p>
        </p:txBody>
      </p:sp>
      <p:sp>
        <p:nvSpPr>
          <p:cNvPr id="61" name="Rounded Rectangle 60"/>
          <p:cNvSpPr/>
          <p:nvPr/>
        </p:nvSpPr>
        <p:spPr>
          <a:xfrm>
            <a:off x="6483096" y="4206240"/>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6574536" y="4283964"/>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6720840" y="4206240"/>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請求書受領・照合★</a:t>
            </a:r>
          </a:p>
        </p:txBody>
      </p:sp>
      <p:sp>
        <p:nvSpPr>
          <p:cNvPr id="64" name="Rounded Rectangle 63"/>
          <p:cNvSpPr/>
          <p:nvPr/>
        </p:nvSpPr>
        <p:spPr>
          <a:xfrm>
            <a:off x="9084564" y="4206240"/>
            <a:ext cx="2510027" cy="246888"/>
          </a:xfrm>
          <a:prstGeom prst="roundRect">
            <a:avLst>
              <a:gd name="adj" fmla="val 50000"/>
            </a:avLst>
          </a:prstGeom>
          <a:solidFill>
            <a:srgbClr val="FFFFFF"/>
          </a:solidFill>
          <a:ln w="15875">
            <a:solidFill>
              <a:srgbClr val="4A3AA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9176004" y="4283964"/>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9322308" y="4206240"/>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支払管理★</a:t>
            </a:r>
          </a:p>
        </p:txBody>
      </p:sp>
      <p:sp>
        <p:nvSpPr>
          <p:cNvPr id="67" name="Rounded Rectangle 66"/>
          <p:cNvSpPr/>
          <p:nvPr/>
        </p:nvSpPr>
        <p:spPr>
          <a:xfrm>
            <a:off x="6483096" y="4507992"/>
            <a:ext cx="2510027" cy="246888"/>
          </a:xfrm>
          <a:prstGeom prst="roundRect">
            <a:avLst>
              <a:gd name="adj" fmla="val 50000"/>
            </a:avLst>
          </a:prstGeom>
          <a:solidFill>
            <a:srgbClr val="FFFFFF"/>
          </a:solidFill>
          <a:ln w="15875">
            <a:solidFill>
              <a:srgbClr val="1BAF7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574536" y="4585716"/>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6720840" y="4507992"/>
            <a:ext cx="2208275" cy="246888"/>
          </a:xfrm>
          <a:prstGeom prst="rect">
            <a:avLst/>
          </a:prstGeom>
          <a:noFill/>
        </p:spPr>
        <p:txBody>
          <a:bodyPr wrap="square" lIns="0" rIns="0" tIns="0" bIns="0" anchor="ctr">
            <a:spAutoFit/>
          </a:bodyPr>
          <a:lstStyle/>
          <a:p>
            <a:pPr algn="l"/>
            <a:r>
              <a:rPr sz="900" b="0">
                <a:solidFill>
                  <a:srgbClr val="000000"/>
                </a:solidFill>
                <a:latin typeface="Yu Gothic"/>
                <a:ea typeface="Yu Gothic"/>
                <a:cs typeface="Yu Gothic"/>
              </a:rPr>
              <a:t>在庫・資産計上</a:t>
            </a:r>
          </a:p>
        </p:txBody>
      </p:sp>
      <p:cxnSp>
        <p:nvCxnSpPr>
          <p:cNvPr id="70" name="Connector 69"/>
          <p:cNvCxnSpPr/>
          <p:nvPr/>
        </p:nvCxnSpPr>
        <p:spPr>
          <a:xfrm>
            <a:off x="868680" y="5806440"/>
            <a:ext cx="10863072" cy="0"/>
          </a:xfrm>
          <a:prstGeom prst="line">
            <a:avLst/>
          </a:prstGeom>
          <a:ln w="19050">
            <a:solidFill>
              <a:srgbClr val="1F2E35"/>
            </a:solidFill>
            <a:tailEnd type="triangle"/>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68680" y="1325880"/>
            <a:ext cx="0" cy="4480560"/>
          </a:xfrm>
          <a:prstGeom prst="line">
            <a:avLst/>
          </a:prstGeom>
          <a:ln w="19050">
            <a:solidFill>
              <a:srgbClr val="1F2E35"/>
            </a:solidFill>
            <a:tailEnd type="triangle"/>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960120" y="5870448"/>
            <a:ext cx="10771632"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アプリ軸：共通アプリへの依存度　低 → 高</a:t>
            </a:r>
          </a:p>
        </p:txBody>
      </p:sp>
      <p:sp>
        <p:nvSpPr>
          <p:cNvPr id="73" name="TextBox 72"/>
          <p:cNvSpPr txBox="1"/>
          <p:nvPr/>
        </p:nvSpPr>
        <p:spPr>
          <a:xfrm rot="16200000">
            <a:off x="-1417320" y="3406140"/>
            <a:ext cx="4297680" cy="228600"/>
          </a:xfrm>
          <a:prstGeom prst="rect">
            <a:avLst/>
          </a:prstGeom>
          <a:noFill/>
        </p:spPr>
        <p:txBody>
          <a:bodyPr wrap="square" lIns="0" rIns="0" tIns="0" bIns="0" anchor="ctr">
            <a:spAutoFit/>
          </a:bodyPr>
          <a:lstStyle/>
          <a:p>
            <a:pPr algn="ctr"/>
            <a:r>
              <a:rPr sz="950" b="1">
                <a:solidFill>
                  <a:srgbClr val="1F2E35"/>
                </a:solidFill>
                <a:latin typeface="Yu Gothic"/>
                <a:ea typeface="Yu Gothic"/>
                <a:cs typeface="Yu Gothic"/>
              </a:rPr>
              <a:t>データ軸：データの波及度　低 → 高</a:t>
            </a:r>
          </a:p>
        </p:txBody>
      </p:sp>
      <p:sp>
        <p:nvSpPr>
          <p:cNvPr id="74" name="Oval 73"/>
          <p:cNvSpPr/>
          <p:nvPr/>
        </p:nvSpPr>
        <p:spPr>
          <a:xfrm>
            <a:off x="457200" y="6245352"/>
            <a:ext cx="91440" cy="9144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9436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Strategy / Foundation</a:t>
            </a:r>
          </a:p>
        </p:txBody>
      </p:sp>
      <p:sp>
        <p:nvSpPr>
          <p:cNvPr id="76" name="Oval 75"/>
          <p:cNvSpPr/>
          <p:nvPr/>
        </p:nvSpPr>
        <p:spPr>
          <a:xfrm>
            <a:off x="2560320" y="6245352"/>
            <a:ext cx="91440" cy="91440"/>
          </a:xfrm>
          <a:prstGeom prst="ellipse">
            <a:avLst/>
          </a:prstGeom>
          <a:solidFill>
            <a:srgbClr val="2A78D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2697479"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Procurement</a:t>
            </a:r>
          </a:p>
        </p:txBody>
      </p:sp>
      <p:sp>
        <p:nvSpPr>
          <p:cNvPr id="78" name="Oval 77"/>
          <p:cNvSpPr/>
          <p:nvPr/>
        </p:nvSpPr>
        <p:spPr>
          <a:xfrm>
            <a:off x="4663440" y="6245352"/>
            <a:ext cx="91440" cy="91440"/>
          </a:xfrm>
          <a:prstGeom prst="ellipse">
            <a:avLst/>
          </a:prstGeom>
          <a:solidFill>
            <a:srgbClr val="1BAF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480060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Receiving &amp; Logistics</a:t>
            </a:r>
          </a:p>
        </p:txBody>
      </p:sp>
      <p:sp>
        <p:nvSpPr>
          <p:cNvPr id="80" name="Oval 79"/>
          <p:cNvSpPr/>
          <p:nvPr/>
        </p:nvSpPr>
        <p:spPr>
          <a:xfrm>
            <a:off x="6766559" y="6245352"/>
            <a:ext cx="91440" cy="91440"/>
          </a:xfrm>
          <a:prstGeom prst="ellipse">
            <a:avLst/>
          </a:prstGeom>
          <a:solidFill>
            <a:srgbClr val="4A3A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690372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Accounts Payable</a:t>
            </a:r>
          </a:p>
        </p:txBody>
      </p:sp>
      <p:sp>
        <p:nvSpPr>
          <p:cNvPr id="82" name="Oval 81"/>
          <p:cNvSpPr/>
          <p:nvPr/>
        </p:nvSpPr>
        <p:spPr>
          <a:xfrm>
            <a:off x="8869680" y="6245352"/>
            <a:ext cx="91440" cy="91440"/>
          </a:xfrm>
          <a:prstGeom prst="ellipse">
            <a:avLst/>
          </a:prstGeom>
          <a:solidFill>
            <a:srgbClr val="EB683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006840" y="6181344"/>
            <a:ext cx="1828800" cy="219456"/>
          </a:xfrm>
          <a:prstGeom prst="rect">
            <a:avLst/>
          </a:prstGeom>
          <a:noFill/>
        </p:spPr>
        <p:txBody>
          <a:bodyPr wrap="square" lIns="0" rIns="0" tIns="0" bIns="0" anchor="ctr">
            <a:spAutoFit/>
          </a:bodyPr>
          <a:lstStyle/>
          <a:p>
            <a:pPr algn="l"/>
            <a:r>
              <a:rPr sz="800" b="0">
                <a:solidFill>
                  <a:srgbClr val="5B6B70"/>
                </a:solidFill>
                <a:latin typeface="Yu Gothic"/>
                <a:ea typeface="Yu Gothic"/>
                <a:cs typeface="Yu Gothic"/>
              </a:rPr>
              <a:t>Supplier Management</a:t>
            </a:r>
          </a:p>
        </p:txBody>
      </p:sp>
      <p:sp>
        <p:nvSpPr>
          <p:cNvPr id="84" name="TextBox 83"/>
          <p:cNvSpPr txBox="1"/>
          <p:nvPr/>
        </p:nvSpPr>
        <p:spPr>
          <a:xfrm>
            <a:off x="457200" y="6419088"/>
            <a:ext cx="11247120" cy="365760"/>
          </a:xfrm>
          <a:prstGeom prst="rect">
            <a:avLst/>
          </a:prstGeom>
          <a:noFill/>
        </p:spPr>
        <p:txBody>
          <a:bodyPr wrap="square" lIns="0" rIns="0" tIns="0" bIns="0" anchor="t">
            <a:spAutoFit/>
          </a:bodyPr>
          <a:lstStyle/>
          <a:p>
            <a:pPr algn="l"/>
            <a:r>
              <a:rPr sz="800" b="0">
                <a:solidFill>
                  <a:srgbClr val="5B6B70"/>
                </a:solidFill>
                <a:latin typeface="Yu Gothic"/>
                <a:ea typeface="Yu Gothic"/>
                <a:cs typeface="Yu Gothic"/>
              </a:rPr>
              <a:t>対象はケイパビリティL2（18件）。アプリ軸＝そのL2を主に支える（●）アプリが、それぞれ何件のL2を支えているかの合計（高いほど、多くの能力と同じアプリを共有）。データ軸＝そのL2が作成・更新（C）する情報を、利用（R）する他のL2の数の合計（高いほど、生んだデータが広く使われる）。境界はそれぞれの中央値（アプリ2.5、データ4.5）で、中央値より大きいものを「高」とし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9144000" cy="640080"/>
          </a:xfrm>
          <a:prstGeom prst="rect">
            <a:avLst/>
          </a:prstGeom>
          <a:noFill/>
        </p:spPr>
        <p:txBody>
          <a:bodyPr wrap="square" lIns="0" rIns="0" tIns="0" bIns="0" anchor="ctr">
            <a:spAutoFit/>
          </a:bodyPr>
          <a:lstStyle/>
          <a:p>
            <a:pPr algn="l"/>
            <a:r>
              <a:rPr sz="3000" b="1">
                <a:solidFill>
                  <a:srgbClr val="1F2E35"/>
                </a:solidFill>
                <a:latin typeface="Yu Gothic"/>
                <a:ea typeface="Yu Gothic"/>
                <a:cs typeface="Yu Gothic"/>
              </a:rPr>
              <a:t>免責事項</a:t>
            </a:r>
          </a:p>
        </p:txBody>
      </p:sp>
      <p:sp>
        <p:nvSpPr>
          <p:cNvPr id="3" name="TextBox 2"/>
          <p:cNvSpPr txBox="1"/>
          <p:nvPr/>
        </p:nvSpPr>
        <p:spPr>
          <a:xfrm>
            <a:off x="457200" y="960120"/>
            <a:ext cx="11247120" cy="365760"/>
          </a:xfrm>
          <a:prstGeom prst="rect">
            <a:avLst/>
          </a:prstGeom>
          <a:noFill/>
        </p:spPr>
        <p:txBody>
          <a:bodyPr wrap="square" lIns="0" rIns="0" tIns="0" bIns="0" anchor="ctr">
            <a:spAutoFit/>
          </a:bodyPr>
          <a:lstStyle/>
          <a:p>
            <a:pPr algn="l"/>
            <a:r>
              <a:rPr sz="1400" b="0">
                <a:solidFill>
                  <a:srgbClr val="5B6B70"/>
                </a:solidFill>
                <a:latin typeface="Yu Gothic"/>
                <a:ea typeface="Yu Gothic"/>
                <a:cs typeface="Yu Gothic"/>
              </a:rPr>
              <a:t>本資料は、一般に公開され入手可能な情報をもとに、生成AIを用いて作成したものです。ご利用にあたっては、次の点にご留意ください。</a:t>
            </a:r>
          </a:p>
        </p:txBody>
      </p:sp>
      <p:sp>
        <p:nvSpPr>
          <p:cNvPr id="4" name="Oval 3"/>
          <p:cNvSpPr/>
          <p:nvPr/>
        </p:nvSpPr>
        <p:spPr>
          <a:xfrm>
            <a:off x="457200" y="1609344"/>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457200" y="1609344"/>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1</a:t>
            </a:r>
          </a:p>
        </p:txBody>
      </p:sp>
      <p:sp>
        <p:nvSpPr>
          <p:cNvPr id="6" name="TextBox 5"/>
          <p:cNvSpPr txBox="1"/>
          <p:nvPr/>
        </p:nvSpPr>
        <p:spPr>
          <a:xfrm>
            <a:off x="868680" y="1591056"/>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情報源</a:t>
            </a:r>
          </a:p>
        </p:txBody>
      </p:sp>
      <p:sp>
        <p:nvSpPr>
          <p:cNvPr id="7" name="TextBox 6"/>
          <p:cNvSpPr txBox="1"/>
          <p:nvPr/>
        </p:nvSpPr>
        <p:spPr>
          <a:xfrm>
            <a:off x="3108960" y="1481328"/>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は、一般に公開されている情報（官公庁の公表資料、法律・会計事務所等の解説記事、標準フレームワークの公開情報など）のみに基づいて作成しています。特定の企業・組織の非公開情報、内部資料は含みません。</a:t>
            </a:r>
          </a:p>
        </p:txBody>
      </p:sp>
      <p:cxnSp>
        <p:nvCxnSpPr>
          <p:cNvPr id="8" name="Connector 7"/>
          <p:cNvCxnSpPr/>
          <p:nvPr/>
        </p:nvCxnSpPr>
        <p:spPr>
          <a:xfrm>
            <a:off x="457200" y="2176272"/>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 y="2286000"/>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57200" y="2286000"/>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2</a:t>
            </a:r>
          </a:p>
        </p:txBody>
      </p:sp>
      <p:sp>
        <p:nvSpPr>
          <p:cNvPr id="11" name="TextBox 10"/>
          <p:cNvSpPr txBox="1"/>
          <p:nvPr/>
        </p:nvSpPr>
        <p:spPr>
          <a:xfrm>
            <a:off x="868680" y="2267712"/>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生成AIの利用</a:t>
            </a:r>
          </a:p>
        </p:txBody>
      </p:sp>
      <p:sp>
        <p:nvSpPr>
          <p:cNvPr id="12" name="TextBox 11"/>
          <p:cNvSpPr txBox="1"/>
          <p:nvPr/>
        </p:nvSpPr>
        <p:spPr>
          <a:xfrm>
            <a:off x="3108960" y="2157984"/>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構成・分析・図表の作成に生成AIを使用しています。生成AIの出力には、事実誤認、不正確な記述、情報の欠落が含まれる可能性があります。</a:t>
            </a:r>
          </a:p>
        </p:txBody>
      </p:sp>
      <p:cxnSp>
        <p:nvCxnSpPr>
          <p:cNvPr id="13" name="Connector 12"/>
          <p:cNvCxnSpPr/>
          <p:nvPr/>
        </p:nvCxnSpPr>
        <p:spPr>
          <a:xfrm>
            <a:off x="457200" y="2852928"/>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7200" y="2962656"/>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7200" y="2962656"/>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3</a:t>
            </a:r>
          </a:p>
        </p:txBody>
      </p:sp>
      <p:sp>
        <p:nvSpPr>
          <p:cNvPr id="16" name="TextBox 15"/>
          <p:cNvSpPr txBox="1"/>
          <p:nvPr/>
        </p:nvSpPr>
        <p:spPr>
          <a:xfrm>
            <a:off x="868680" y="2944368"/>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正確性・完全性</a:t>
            </a:r>
          </a:p>
        </p:txBody>
      </p:sp>
      <p:sp>
        <p:nvSpPr>
          <p:cNvPr id="17" name="TextBox 16"/>
          <p:cNvSpPr txBox="1"/>
          <p:nvPr/>
        </p:nvSpPr>
        <p:spPr>
          <a:xfrm>
            <a:off x="3108960" y="2834640"/>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記載内容の正確性、完全性、最新性、特定目的への適合性について、いかなる保証もいたしません。法令・税制の状況は作成時点（2026年9月）のものであり、その後変更される可能性があります（インボイスの経過措置など）。</a:t>
            </a:r>
          </a:p>
        </p:txBody>
      </p:sp>
      <p:cxnSp>
        <p:nvCxnSpPr>
          <p:cNvPr id="18" name="Connector 17"/>
          <p:cNvCxnSpPr/>
          <p:nvPr/>
        </p:nvCxnSpPr>
        <p:spPr>
          <a:xfrm>
            <a:off x="457200" y="3529584"/>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57200" y="3639311"/>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639311"/>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4</a:t>
            </a:r>
          </a:p>
        </p:txBody>
      </p:sp>
      <p:sp>
        <p:nvSpPr>
          <p:cNvPr id="21" name="TextBox 20"/>
          <p:cNvSpPr txBox="1"/>
          <p:nvPr/>
        </p:nvSpPr>
        <p:spPr>
          <a:xfrm>
            <a:off x="868680" y="3621023"/>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仮定に基づくモデル</a:t>
            </a:r>
          </a:p>
        </p:txBody>
      </p:sp>
      <p:sp>
        <p:nvSpPr>
          <p:cNvPr id="22" name="TextBox 21"/>
          <p:cNvSpPr txBox="1"/>
          <p:nvPr/>
        </p:nvSpPr>
        <p:spPr>
          <a:xfrm>
            <a:off x="3108960" y="3511295"/>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バリューストリーム、ケイパビリティ、アプリケーション、データの各マップと考察は、「日本の事業会社が直接材・間接材・役務を調達し、支払う」という仮定に基づく参照モデルです。特定の企業の実態を表すものではありません。</a:t>
            </a:r>
          </a:p>
        </p:txBody>
      </p:sp>
      <p:cxnSp>
        <p:nvCxnSpPr>
          <p:cNvPr id="23" name="Connector 22"/>
          <p:cNvCxnSpPr/>
          <p:nvPr/>
        </p:nvCxnSpPr>
        <p:spPr>
          <a:xfrm>
            <a:off x="457200" y="4206240"/>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57200" y="4315968"/>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7200" y="4315968"/>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5</a:t>
            </a:r>
          </a:p>
        </p:txBody>
      </p:sp>
      <p:sp>
        <p:nvSpPr>
          <p:cNvPr id="26" name="TextBox 25"/>
          <p:cNvSpPr txBox="1"/>
          <p:nvPr/>
        </p:nvSpPr>
        <p:spPr>
          <a:xfrm>
            <a:off x="868680" y="4297680"/>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専門的助言ではない</a:t>
            </a:r>
          </a:p>
        </p:txBody>
      </p:sp>
      <p:sp>
        <p:nvSpPr>
          <p:cNvPr id="27" name="TextBox 26"/>
          <p:cNvSpPr txBox="1"/>
          <p:nvPr/>
        </p:nvSpPr>
        <p:spPr>
          <a:xfrm>
            <a:off x="3108960" y="4187952"/>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本資料は、法務、税務、会計、その他の専門的助言を提供するものではありません。意思決定にあたっては、一次情報の確認と、必要に応じた専門家への相談を行ってください。</a:t>
            </a:r>
          </a:p>
        </p:txBody>
      </p:sp>
      <p:cxnSp>
        <p:nvCxnSpPr>
          <p:cNvPr id="28" name="Connector 27"/>
          <p:cNvCxnSpPr/>
          <p:nvPr/>
        </p:nvCxnSpPr>
        <p:spPr>
          <a:xfrm>
            <a:off x="457200" y="4882896"/>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57200" y="4992624"/>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57200" y="4992624"/>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6</a:t>
            </a:r>
          </a:p>
        </p:txBody>
      </p:sp>
      <p:sp>
        <p:nvSpPr>
          <p:cNvPr id="31" name="TextBox 30"/>
          <p:cNvSpPr txBox="1"/>
          <p:nvPr/>
        </p:nvSpPr>
        <p:spPr>
          <a:xfrm>
            <a:off x="868680" y="4974336"/>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責任の限定</a:t>
            </a:r>
          </a:p>
        </p:txBody>
      </p:sp>
      <p:sp>
        <p:nvSpPr>
          <p:cNvPr id="32" name="TextBox 31"/>
          <p:cNvSpPr txBox="1"/>
          <p:nvPr/>
        </p:nvSpPr>
        <p:spPr>
          <a:xfrm>
            <a:off x="3108960" y="4864608"/>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本資料の利用、または利用できなかったことにより生じたいかなる損害についても、作成者は責任を負いません。</a:t>
            </a:r>
          </a:p>
        </p:txBody>
      </p:sp>
      <p:cxnSp>
        <p:nvCxnSpPr>
          <p:cNvPr id="33" name="Connector 32"/>
          <p:cNvCxnSpPr/>
          <p:nvPr/>
        </p:nvCxnSpPr>
        <p:spPr>
          <a:xfrm>
            <a:off x="457200" y="5559552"/>
            <a:ext cx="11274552" cy="0"/>
          </a:xfrm>
          <a:prstGeom prst="line">
            <a:avLst/>
          </a:prstGeom>
          <a:ln w="9525">
            <a:solidFill>
              <a:srgbClr val="D5DDDF"/>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57200" y="5669279"/>
            <a:ext cx="274320" cy="274320"/>
          </a:xfrm>
          <a:prstGeom prst="ellipse">
            <a:avLst/>
          </a:prstGeom>
          <a:solidFill>
            <a:srgbClr val="1F2E3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57200" y="5669279"/>
            <a:ext cx="274320" cy="274320"/>
          </a:xfrm>
          <a:prstGeom prst="rect">
            <a:avLst/>
          </a:prstGeom>
          <a:noFill/>
        </p:spPr>
        <p:txBody>
          <a:bodyPr wrap="square" lIns="0" rIns="0" tIns="0" bIns="0" anchor="ctr">
            <a:spAutoFit/>
          </a:bodyPr>
          <a:lstStyle/>
          <a:p>
            <a:pPr algn="ctr"/>
            <a:r>
              <a:rPr sz="1000" b="1">
                <a:solidFill>
                  <a:srgbClr val="FFFFFF"/>
                </a:solidFill>
                <a:latin typeface="Yu Gothic"/>
                <a:ea typeface="Yu Gothic"/>
                <a:cs typeface="Yu Gothic"/>
              </a:rPr>
              <a:t>7</a:t>
            </a:r>
          </a:p>
        </p:txBody>
      </p:sp>
      <p:sp>
        <p:nvSpPr>
          <p:cNvPr id="36" name="TextBox 35"/>
          <p:cNvSpPr txBox="1"/>
          <p:nvPr/>
        </p:nvSpPr>
        <p:spPr>
          <a:xfrm>
            <a:off x="868680" y="5650992"/>
            <a:ext cx="2194560" cy="310896"/>
          </a:xfrm>
          <a:prstGeom prst="rect">
            <a:avLst/>
          </a:prstGeom>
          <a:noFill/>
        </p:spPr>
        <p:txBody>
          <a:bodyPr wrap="square" lIns="0" rIns="0" tIns="0" bIns="0" anchor="ctr">
            <a:spAutoFit/>
          </a:bodyPr>
          <a:lstStyle/>
          <a:p>
            <a:pPr algn="l"/>
            <a:r>
              <a:rPr sz="1200" b="1">
                <a:solidFill>
                  <a:srgbClr val="1F2E35"/>
                </a:solidFill>
                <a:latin typeface="Yu Gothic"/>
                <a:ea typeface="Yu Gothic"/>
                <a:cs typeface="Yu Gothic"/>
              </a:rPr>
              <a:t>名称の扱い</a:t>
            </a:r>
          </a:p>
        </p:txBody>
      </p:sp>
      <p:sp>
        <p:nvSpPr>
          <p:cNvPr id="37" name="TextBox 36"/>
          <p:cNvSpPr txBox="1"/>
          <p:nvPr/>
        </p:nvSpPr>
        <p:spPr>
          <a:xfrm>
            <a:off x="3108960" y="5541264"/>
            <a:ext cx="8622792" cy="512064"/>
          </a:xfrm>
          <a:prstGeom prst="rect">
            <a:avLst/>
          </a:prstGeom>
          <a:noFill/>
        </p:spPr>
        <p:txBody>
          <a:bodyPr wrap="square" lIns="0" rIns="0" tIns="0" bIns="0" anchor="ctr">
            <a:spAutoFit/>
          </a:bodyPr>
          <a:lstStyle/>
          <a:p>
            <a:pPr algn="l"/>
            <a:r>
              <a:rPr sz="1050" b="0">
                <a:solidFill>
                  <a:srgbClr val="1F2E35"/>
                </a:solidFill>
                <a:latin typeface="Yu Gothic"/>
                <a:ea typeface="Yu Gothic"/>
                <a:cs typeface="Yu Gothic"/>
              </a:rPr>
              <a:t>本資料に記載したシステムの種類の名称や略称（ERP、SRM、CLM、WMSなど）は一般名称として使用しており、特定の製品やベンダーを推奨・評価するものではありません。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Target-to-Patient バリューチェーン</dc:title>
  <dc:subject>PptxGenJS Presentation</dc:subject>
  <dc:creator>PptxGenJS</dc:creator>
  <cp:lastModifiedBy>PptxGenJS</cp:lastModifiedBy>
  <cp:revision>1</cp:revision>
  <dcterms:created xsi:type="dcterms:W3CDTF">2026-09-19T08:44:48Z</dcterms:created>
  <dcterms:modified xsi:type="dcterms:W3CDTF">2026-09-19T08:44:48Z</dcterms:modified>
</cp:coreProperties>
</file>