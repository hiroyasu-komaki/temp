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s.opengroup.org/it4it/3.0/snapshot/Digital_Management.html" TargetMode="External"/><Relationship Id="rId3" Type="http://schemas.openxmlformats.org/officeDocument/2006/relationships/hyperlink" Target="https://www.mhlw.go.jp/web/t_doc?dataId=00tb6573&amp;dataType=1&amp;pageNo=1" TargetMode="External"/><Relationship Id="rId4" Type="http://schemas.openxmlformats.org/officeDocument/2006/relationships/hyperlink" Target="https://www.jpma.or.jp/information/evaluation/results/allotment/eo4se30000009jop-att/EI_20250421_ereshb.pdf" TargetMode="External"/><Relationship Id="rId5" Type="http://schemas.openxmlformats.org/officeDocument/2006/relationships/hyperlink" Target="https://www.ispe.gr.jp/ISPE/07_public/07_01_19.htm" TargetMode="External"/><Relationship Id="rId6" Type="http://schemas.openxmlformats.org/officeDocument/2006/relationships/hyperlink" Target="https://www.gov-online.go.jp/article/202511/entry-9983.html" TargetMode="External"/><Relationship Id="rId7" Type="http://schemas.openxmlformats.org/officeDocument/2006/relationships/hyperlink" Target="https://houkaisei.jp/laws/kojin-joho-minaoshi-2026/" TargetMode="External"/><Relationship Id="rId8" Type="http://schemas.openxmlformats.org/officeDocument/2006/relationships/hyperlink" Target="https://www.ipa.go.jp/disc/committee/begoj90000002xuk-att/legacy-system-modernization-committee-20250528-report.pd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E35"/>
        </a:solidFill>
        <a:effectLst/>
      </p:bgPr>
    </p:bg>
    <p:spTree>
      <p:nvGrpSpPr>
        <p:cNvPr id="1" name=""/>
        <p:cNvGrpSpPr/>
        <p:nvPr/>
      </p:nvGrpSpPr>
      <p:grpSpPr/>
      <p:sp>
        <p:nvSpPr>
          <p:cNvPr id="2" name="TextBox 1"/>
          <p:cNvSpPr txBox="1"/>
          <p:nvPr/>
        </p:nvSpPr>
        <p:spPr>
          <a:xfrm>
            <a:off x="731520" y="1783080"/>
            <a:ext cx="10789920" cy="1005840"/>
          </a:xfrm>
          <a:prstGeom prst="rect">
            <a:avLst/>
          </a:prstGeom>
          <a:noFill/>
        </p:spPr>
        <p:txBody>
          <a:bodyPr wrap="square" lIns="0" rIns="0" tIns="0" bIns="0" anchor="t">
            <a:spAutoFit/>
          </a:bodyPr>
          <a:lstStyle/>
          <a:p>
            <a:pPr algn="l"/>
            <a:r>
              <a:rPr sz="4400" b="1">
                <a:solidFill>
                  <a:srgbClr val="FFFFFF"/>
                </a:solidFill>
                <a:latin typeface="Yu Gothic"/>
                <a:ea typeface="Yu Gothic"/>
                <a:cs typeface="Yu Gothic"/>
              </a:rPr>
              <a:t>Manage IT / Digital Solutions</a:t>
            </a:r>
          </a:p>
        </p:txBody>
      </p:sp>
      <p:sp>
        <p:nvSpPr>
          <p:cNvPr id="3" name="TextBox 2"/>
          <p:cNvSpPr txBox="1"/>
          <p:nvPr/>
        </p:nvSpPr>
        <p:spPr>
          <a:xfrm>
            <a:off x="731520" y="2880360"/>
            <a:ext cx="9875520" cy="822960"/>
          </a:xfrm>
          <a:prstGeom prst="rect">
            <a:avLst/>
          </a:prstGeom>
          <a:noFill/>
        </p:spPr>
        <p:txBody>
          <a:bodyPr wrap="square" lIns="0" rIns="0" tIns="0" bIns="0" anchor="t">
            <a:spAutoFit/>
          </a:bodyPr>
          <a:lstStyle/>
          <a:p>
            <a:pPr algn="l"/>
            <a:r>
              <a:rPr sz="1800" b="0">
                <a:solidFill>
                  <a:srgbClr val="D5DEE0"/>
                </a:solidFill>
                <a:latin typeface="Yu Gothic"/>
                <a:ea typeface="Yu Gothic"/>
                <a:cs typeface="Yu Gothic"/>
              </a:rPr>
              <a:t>事業戦略をIT投資とポートフォリオに変換し、要件からデジタルソリューションを開発・配備して利用者に提供し、運用の中で障害を検知・是正するまで</a:t>
            </a:r>
          </a:p>
        </p:txBody>
      </p:sp>
      <p:sp>
        <p:nvSpPr>
          <p:cNvPr id="4" name="TextBox 3"/>
          <p:cNvSpPr txBox="1"/>
          <p:nvPr/>
        </p:nvSpPr>
        <p:spPr>
          <a:xfrm>
            <a:off x="731520" y="3931920"/>
            <a:ext cx="10515600" cy="365760"/>
          </a:xfrm>
          <a:prstGeom prst="rect">
            <a:avLst/>
          </a:prstGeom>
          <a:noFill/>
        </p:spPr>
        <p:txBody>
          <a:bodyPr wrap="square" lIns="0" rIns="0" tIns="0" bIns="0" anchor="t">
            <a:spAutoFit/>
          </a:bodyPr>
          <a:lstStyle/>
          <a:p>
            <a:pPr algn="l"/>
            <a:r>
              <a:rPr sz="1300" b="0">
                <a:solidFill>
                  <a:srgbClr val="A9BCC1"/>
                </a:solidFill>
                <a:latin typeface="Yu Gothic"/>
                <a:ea typeface="Yu Gothic"/>
                <a:cs typeface="Yu Gothic"/>
              </a:rPr>
              <a:t>日本の製薬会社（GxP・内製と外部委託の併用）／IT4ITの4つのバリューストリーム／日本の規制・法令基準</a:t>
            </a:r>
          </a:p>
        </p:txBody>
      </p:sp>
      <p:sp>
        <p:nvSpPr>
          <p:cNvPr id="5" name="Pentagon 4"/>
          <p:cNvSpPr/>
          <p:nvPr/>
        </p:nvSpPr>
        <p:spPr>
          <a:xfrm>
            <a:off x="731520" y="5120640"/>
            <a:ext cx="530352" cy="237744"/>
          </a:xfrm>
          <a:prstGeom prst="homePlate">
            <a:avLst/>
          </a:prstGeom>
          <a:solidFill>
            <a:srgbClr val="4B6A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entagon 5"/>
          <p:cNvSpPr/>
          <p:nvPr/>
        </p:nvSpPr>
        <p:spPr>
          <a:xfrm>
            <a:off x="1298448" y="5120640"/>
            <a:ext cx="530352" cy="237744"/>
          </a:xfrm>
          <a:prstGeom prst="homePlate">
            <a:avLst/>
          </a:prstGeom>
          <a:solidFill>
            <a:srgbClr val="4B6A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Pentagon 6"/>
          <p:cNvSpPr/>
          <p:nvPr/>
        </p:nvSpPr>
        <p:spPr>
          <a:xfrm>
            <a:off x="1865376" y="5120640"/>
            <a:ext cx="530352" cy="237744"/>
          </a:xfrm>
          <a:prstGeom prst="homePlate">
            <a:avLst/>
          </a:prstGeom>
          <a:solidFill>
            <a:srgbClr val="6E8B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Pentagon 7"/>
          <p:cNvSpPr/>
          <p:nvPr/>
        </p:nvSpPr>
        <p:spPr>
          <a:xfrm>
            <a:off x="2432304" y="5120640"/>
            <a:ext cx="530352" cy="237744"/>
          </a:xfrm>
          <a:prstGeom prst="homePlate">
            <a:avLst/>
          </a:prstGeom>
          <a:solidFill>
            <a:srgbClr val="6E8B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t">
            <a:spAutoFit/>
          </a:bodyPr>
          <a:lstStyle/>
          <a:p>
            <a:pPr algn="l"/>
            <a:r>
              <a:rPr sz="3000" b="1">
                <a:solidFill>
                  <a:srgbClr val="1F2E35"/>
                </a:solidFill>
                <a:latin typeface="Yu Gothic"/>
                <a:ea typeface="Yu Gothic"/>
                <a:cs typeface="Yu Gothic"/>
              </a:rPr>
              <a:t>前提条件とデータソース</a:t>
            </a:r>
          </a:p>
        </p:txBody>
      </p:sp>
      <p:sp>
        <p:nvSpPr>
          <p:cNvPr id="3" name="TextBox 2"/>
          <p:cNvSpPr txBox="1"/>
          <p:nvPr/>
        </p:nvSpPr>
        <p:spPr>
          <a:xfrm>
            <a:off x="457200" y="960120"/>
            <a:ext cx="11247120" cy="365760"/>
          </a:xfrm>
          <a:prstGeom prst="rect">
            <a:avLst/>
          </a:prstGeom>
          <a:noFill/>
        </p:spPr>
        <p:txBody>
          <a:bodyPr wrap="square" lIns="0" rIns="0" tIns="0" bIns="0" anchor="t">
            <a:spAutoFit/>
          </a:bodyPr>
          <a:lstStyle/>
          <a:p>
            <a:pPr algn="l"/>
            <a:r>
              <a:rPr sz="1400" b="0">
                <a:solidFill>
                  <a:srgbClr val="5B6B70"/>
                </a:solidFill>
                <a:latin typeface="Yu Gothic"/>
                <a:ea typeface="Yu Gothic"/>
                <a:cs typeface="Yu Gothic"/>
              </a:rPr>
              <a:t>本資料は、次の前提で定義したマップ一式の全体像を図示したものです。</a:t>
            </a:r>
          </a:p>
        </p:txBody>
      </p:sp>
      <p:sp>
        <p:nvSpPr>
          <p:cNvPr id="4" name="TextBox 3"/>
          <p:cNvSpPr txBox="1"/>
          <p:nvPr/>
        </p:nvSpPr>
        <p:spPr>
          <a:xfrm>
            <a:off x="457200" y="1600200"/>
            <a:ext cx="5486400" cy="320040"/>
          </a:xfrm>
          <a:prstGeom prst="rect">
            <a:avLst/>
          </a:prstGeom>
          <a:noFill/>
        </p:spPr>
        <p:txBody>
          <a:bodyPr wrap="square" lIns="0" rIns="0" tIns="0" bIns="0" anchor="t">
            <a:spAutoFit/>
          </a:bodyPr>
          <a:lstStyle/>
          <a:p>
            <a:pPr algn="l"/>
            <a:r>
              <a:rPr sz="1600" b="1">
                <a:solidFill>
                  <a:srgbClr val="2F4F5A"/>
                </a:solidFill>
                <a:latin typeface="Yu Gothic"/>
                <a:ea typeface="Yu Gothic"/>
                <a:cs typeface="Yu Gothic"/>
              </a:rPr>
              <a:t>前提条件</a:t>
            </a:r>
          </a:p>
        </p:txBody>
      </p:sp>
      <p:sp>
        <p:nvSpPr>
          <p:cNvPr id="5" name="Rectangle 4"/>
          <p:cNvSpPr/>
          <p:nvPr/>
        </p:nvSpPr>
        <p:spPr>
          <a:xfrm>
            <a:off x="457200" y="2011680"/>
            <a:ext cx="6035040" cy="822960"/>
          </a:xfrm>
          <a:prstGeom prst="rect">
            <a:avLst/>
          </a:prstGeom>
          <a:solidFill>
            <a:srgbClr val="EEF2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201168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対象企業</a:t>
            </a:r>
          </a:p>
        </p:txBody>
      </p:sp>
      <p:sp>
        <p:nvSpPr>
          <p:cNvPr id="7" name="TextBox 6"/>
          <p:cNvSpPr txBox="1"/>
          <p:nvPr/>
        </p:nvSpPr>
        <p:spPr>
          <a:xfrm>
            <a:off x="2148840" y="201168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日本の製薬会社（研究開発型。GxP規制下のコンピュータ化システムを持つ）</a:t>
            </a:r>
          </a:p>
        </p:txBody>
      </p:sp>
      <p:sp>
        <p:nvSpPr>
          <p:cNvPr id="8" name="Rectangle 7"/>
          <p:cNvSpPr/>
          <p:nvPr/>
        </p:nvSpPr>
        <p:spPr>
          <a:xfrm>
            <a:off x="457200" y="2971800"/>
            <a:ext cx="6035040" cy="822960"/>
          </a:xfrm>
          <a:prstGeom prst="rect">
            <a:avLst/>
          </a:prstGeom>
          <a:solidFill>
            <a:srgbClr val="EEF2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0080" y="297180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ITの実行形態</a:t>
            </a:r>
          </a:p>
        </p:txBody>
      </p:sp>
      <p:sp>
        <p:nvSpPr>
          <p:cNvPr id="10" name="TextBox 9"/>
          <p:cNvSpPr txBox="1"/>
          <p:nvPr/>
        </p:nvSpPr>
        <p:spPr>
          <a:xfrm>
            <a:off x="2148840" y="297180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内製と外部委託の併用。企画・アーキテクチャ・委託先管理は社内、開発・運用の一部をSIer等に委託</a:t>
            </a:r>
          </a:p>
        </p:txBody>
      </p:sp>
      <p:sp>
        <p:nvSpPr>
          <p:cNvPr id="11" name="Rectangle 10"/>
          <p:cNvSpPr/>
          <p:nvPr/>
        </p:nvSpPr>
        <p:spPr>
          <a:xfrm>
            <a:off x="457200" y="3931920"/>
            <a:ext cx="6035040" cy="822960"/>
          </a:xfrm>
          <a:prstGeom prst="rect">
            <a:avLst/>
          </a:prstGeom>
          <a:solidFill>
            <a:srgbClr val="EEF2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0080" y="393192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参照モデル</a:t>
            </a:r>
          </a:p>
        </p:txBody>
      </p:sp>
      <p:sp>
        <p:nvSpPr>
          <p:cNvPr id="13" name="TextBox 12"/>
          <p:cNvSpPr txBox="1"/>
          <p:nvPr/>
        </p:nvSpPr>
        <p:spPr>
          <a:xfrm>
            <a:off x="2148840" y="3931920"/>
            <a:ext cx="4206240" cy="822960"/>
          </a:xfrm>
          <a:prstGeom prst="rect">
            <a:avLst/>
          </a:prstGeom>
          <a:noFill/>
        </p:spPr>
        <p:txBody>
          <a:bodyPr wrap="square" lIns="0" rIns="0" tIns="0" bIns="0" anchor="ctr">
            <a:spAutoFit/>
          </a:bodyPr>
          <a:lstStyle/>
          <a:p>
            <a:pPr algn="l"/>
            <a:r>
              <a:rPr sz="1200" b="0">
                <a:solidFill>
                  <a:srgbClr val="1F2E35"/>
                </a:solidFill>
                <a:latin typeface="Yu Gothic"/>
                <a:ea typeface="Yu Gothic"/>
                <a:cs typeface="Yu Gothic"/>
              </a:rPr>
              <a:t>IT4IT（The Open Group）の4つのバリューストリーム（S2P・R2D・R2F・D2C）をL2とする</a:t>
            </a:r>
          </a:p>
        </p:txBody>
      </p:sp>
      <p:sp>
        <p:nvSpPr>
          <p:cNvPr id="14" name="Rectangle 13"/>
          <p:cNvSpPr/>
          <p:nvPr/>
        </p:nvSpPr>
        <p:spPr>
          <a:xfrm>
            <a:off x="457200" y="4892040"/>
            <a:ext cx="6035040" cy="822960"/>
          </a:xfrm>
          <a:prstGeom prst="rect">
            <a:avLst/>
          </a:prstGeom>
          <a:solidFill>
            <a:srgbClr val="EEF2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0080" y="489204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制度の基準</a:t>
            </a:r>
          </a:p>
        </p:txBody>
      </p:sp>
      <p:sp>
        <p:nvSpPr>
          <p:cNvPr id="16" name="TextBox 15"/>
          <p:cNvSpPr txBox="1"/>
          <p:nvPr/>
        </p:nvSpPr>
        <p:spPr>
          <a:xfrm>
            <a:off x="2148840" y="4892040"/>
            <a:ext cx="4206240" cy="822960"/>
          </a:xfrm>
          <a:prstGeom prst="rect">
            <a:avLst/>
          </a:prstGeom>
          <a:noFill/>
        </p:spPr>
        <p:txBody>
          <a:bodyPr wrap="square" lIns="0" rIns="0" tIns="0" bIns="0" anchor="ctr">
            <a:spAutoFit/>
          </a:bodyPr>
          <a:lstStyle/>
          <a:p>
            <a:pPr algn="l"/>
            <a:r>
              <a:rPr sz="1200" b="0">
                <a:solidFill>
                  <a:srgbClr val="1F2E35"/>
                </a:solidFill>
                <a:latin typeface="Yu Gothic"/>
                <a:ea typeface="Yu Gothic"/>
                <a:cs typeface="Yu Gothic"/>
              </a:rPr>
              <a:t>日本（GMP省令・ER/ES指針・コンピュータ化システム適正管理ガイドライン・個人情報保護法・金商法〔J-SOX〕・取適法・派遣法ほか）</a:t>
            </a:r>
          </a:p>
        </p:txBody>
      </p:sp>
      <p:sp>
        <p:nvSpPr>
          <p:cNvPr id="17" name="TextBox 16"/>
          <p:cNvSpPr txBox="1"/>
          <p:nvPr/>
        </p:nvSpPr>
        <p:spPr>
          <a:xfrm>
            <a:off x="6949440" y="1600200"/>
            <a:ext cx="4846320" cy="320040"/>
          </a:xfrm>
          <a:prstGeom prst="rect">
            <a:avLst/>
          </a:prstGeom>
          <a:noFill/>
        </p:spPr>
        <p:txBody>
          <a:bodyPr wrap="square" lIns="0" rIns="0" tIns="0" bIns="0" anchor="t">
            <a:spAutoFit/>
          </a:bodyPr>
          <a:lstStyle/>
          <a:p>
            <a:pPr algn="l"/>
            <a:r>
              <a:rPr sz="1600" b="1">
                <a:solidFill>
                  <a:srgbClr val="2F4F5A"/>
                </a:solidFill>
                <a:latin typeface="Yu Gothic"/>
                <a:ea typeface="Yu Gothic"/>
                <a:cs typeface="Yu Gothic"/>
              </a:rPr>
              <a:t>データソース（2026年9月時点）</a:t>
            </a:r>
          </a:p>
        </p:txBody>
      </p:sp>
      <p:sp>
        <p:nvSpPr>
          <p:cNvPr id="18" name="TextBox 17"/>
          <p:cNvSpPr txBox="1"/>
          <p:nvPr/>
        </p:nvSpPr>
        <p:spPr>
          <a:xfrm>
            <a:off x="6949440" y="2011680"/>
            <a:ext cx="4846320" cy="2468880"/>
          </a:xfrm>
          <a:prstGeom prst="rect">
            <a:avLst/>
          </a:prstGeom>
          <a:noFill/>
        </p:spPr>
        <p:txBody>
          <a:bodyPr wrap="square" lIns="0" rIns="0" tIns="0" bIns="0" anchor="t">
            <a:spAutoFit/>
          </a:bodyPr>
          <a:lstStyle/>
          <a:p>
            <a:pPr algn="l" marL="118872" indent="-118872">
              <a:spcAft>
                <a:spcPts val="300"/>
              </a:spcAft>
              <a:buFont typeface="Yu Gothic"/>
              <a:buChar char="・"/>
            </a:pPr>
            <a:r>
              <a:rPr sz="1000" b="0" u="sng">
                <a:solidFill>
                  <a:srgbClr val="2A78D6"/>
                </a:solidFill>
                <a:latin typeface="Yu Gothic"/>
                <a:ea typeface="Yu Gothic"/>
                <a:cs typeface="Yu Gothic"/>
                <a:hlinkClick r:id="rId2"/>
              </a:rPr>
              <a:t>The Open Group – IT4IT Standard, Version 3.0</a:t>
            </a:r>
          </a:p>
          <a:p>
            <a:pPr algn="l" marL="118872" indent="-118872">
              <a:spcAft>
                <a:spcPts val="300"/>
              </a:spcAft>
              <a:buFont typeface="Yu Gothic"/>
              <a:buChar char="・"/>
            </a:pPr>
            <a:r>
              <a:rPr sz="1000" b="0" u="sng">
                <a:solidFill>
                  <a:srgbClr val="2A78D6"/>
                </a:solidFill>
                <a:latin typeface="Yu Gothic"/>
                <a:ea typeface="Yu Gothic"/>
                <a:cs typeface="Yu Gothic"/>
                <a:hlinkClick r:id="rId3"/>
              </a:rPr>
              <a:t>厚生労働省 – コンピュータ化システム適正管理ガイドライン</a:t>
            </a:r>
          </a:p>
          <a:p>
            <a:pPr algn="l" marL="118872" indent="-118872">
              <a:spcAft>
                <a:spcPts val="300"/>
              </a:spcAft>
              <a:buFont typeface="Yu Gothic"/>
              <a:buChar char="・"/>
            </a:pPr>
            <a:r>
              <a:rPr sz="1000" b="0" u="sng">
                <a:solidFill>
                  <a:srgbClr val="2A78D6"/>
                </a:solidFill>
                <a:latin typeface="Yu Gothic"/>
                <a:ea typeface="Yu Gothic"/>
                <a:cs typeface="Yu Gothic"/>
                <a:hlinkClick r:id="rId4"/>
              </a:rPr>
              <a:t>日本製薬工業協会 – 電子化情報の規制要件ハンドブック（2025年4月）</a:t>
            </a:r>
          </a:p>
          <a:p>
            <a:pPr algn="l" marL="118872" indent="-118872">
              <a:spcAft>
                <a:spcPts val="300"/>
              </a:spcAft>
              <a:buFont typeface="Yu Gothic"/>
              <a:buChar char="・"/>
            </a:pPr>
            <a:r>
              <a:rPr sz="1000" b="0" u="sng">
                <a:solidFill>
                  <a:srgbClr val="2A78D6"/>
                </a:solidFill>
                <a:latin typeface="Yu Gothic"/>
                <a:ea typeface="Yu Gothic"/>
                <a:cs typeface="Yu Gothic"/>
                <a:hlinkClick r:id="rId5"/>
              </a:rPr>
              <a:t>ISPE日本本部 – GAMP 5 第2版</a:t>
            </a:r>
          </a:p>
          <a:p>
            <a:pPr algn="l" marL="118872" indent="-118872">
              <a:spcAft>
                <a:spcPts val="300"/>
              </a:spcAft>
              <a:buFont typeface="Yu Gothic"/>
              <a:buChar char="・"/>
            </a:pPr>
            <a:r>
              <a:rPr sz="1000" b="0" u="sng">
                <a:solidFill>
                  <a:srgbClr val="2A78D6"/>
                </a:solidFill>
                <a:latin typeface="Yu Gothic"/>
                <a:ea typeface="Yu Gothic"/>
                <a:cs typeface="Yu Gothic"/>
                <a:hlinkClick r:id="rId6"/>
              </a:rPr>
              <a:t>政府広報オンライン – 下請法が「取適法」に（2026年1月施行）</a:t>
            </a:r>
          </a:p>
          <a:p>
            <a:pPr algn="l" marL="118872" indent="-118872">
              <a:spcAft>
                <a:spcPts val="300"/>
              </a:spcAft>
              <a:buFont typeface="Yu Gothic"/>
              <a:buChar char="・"/>
            </a:pPr>
            <a:r>
              <a:rPr sz="1000" b="0" u="sng">
                <a:solidFill>
                  <a:srgbClr val="2A78D6"/>
                </a:solidFill>
                <a:latin typeface="Yu Gothic"/>
                <a:ea typeface="Yu Gothic"/>
                <a:cs typeface="Yu Gothic"/>
                <a:hlinkClick r:id="rId7"/>
              </a:rPr>
              <a:t>法改正ナビ – 個人情報保護法の2026年改正</a:t>
            </a:r>
          </a:p>
          <a:p>
            <a:pPr algn="l" marL="118872" indent="-118872">
              <a:spcAft>
                <a:spcPts val="300"/>
              </a:spcAft>
              <a:buFont typeface="Yu Gothic"/>
              <a:buChar char="・"/>
            </a:pPr>
            <a:r>
              <a:rPr sz="1000" b="0" u="sng">
                <a:solidFill>
                  <a:srgbClr val="2A78D6"/>
                </a:solidFill>
                <a:latin typeface="Yu Gothic"/>
                <a:ea typeface="Yu Gothic"/>
                <a:cs typeface="Yu Gothic"/>
                <a:hlinkClick r:id="rId8"/>
              </a:rPr>
              <a:t>IPA／経済産業省 – レガシーシステムモダン化委員会 総括レポート</a:t>
            </a:r>
          </a:p>
        </p:txBody>
      </p:sp>
      <p:sp>
        <p:nvSpPr>
          <p:cNvPr id="19" name="TextBox 18"/>
          <p:cNvSpPr txBox="1"/>
          <p:nvPr/>
        </p:nvSpPr>
        <p:spPr>
          <a:xfrm>
            <a:off x="6949440" y="4572000"/>
            <a:ext cx="4572000" cy="320040"/>
          </a:xfrm>
          <a:prstGeom prst="rect">
            <a:avLst/>
          </a:prstGeom>
          <a:noFill/>
        </p:spPr>
        <p:txBody>
          <a:bodyPr wrap="square" lIns="0" rIns="0" tIns="0" bIns="0" anchor="t">
            <a:spAutoFit/>
          </a:bodyPr>
          <a:lstStyle/>
          <a:p>
            <a:pPr algn="l"/>
            <a:r>
              <a:rPr sz="1600" b="1">
                <a:solidFill>
                  <a:srgbClr val="2F4F5A"/>
                </a:solidFill>
                <a:latin typeface="Yu Gothic"/>
                <a:ea typeface="Yu Gothic"/>
                <a:cs typeface="Yu Gothic"/>
              </a:rPr>
              <a:t>読み方</a:t>
            </a:r>
          </a:p>
        </p:txBody>
      </p:sp>
      <p:sp>
        <p:nvSpPr>
          <p:cNvPr id="20" name="TextBox 19"/>
          <p:cNvSpPr txBox="1"/>
          <p:nvPr/>
        </p:nvSpPr>
        <p:spPr>
          <a:xfrm>
            <a:off x="6949440" y="4983480"/>
            <a:ext cx="4782312" cy="1463040"/>
          </a:xfrm>
          <a:prstGeom prst="rect">
            <a:avLst/>
          </a:prstGeom>
          <a:noFill/>
        </p:spPr>
        <p:txBody>
          <a:bodyPr wrap="square" lIns="0" rIns="0" tIns="0" bIns="0" anchor="t">
            <a:spAutoFit/>
          </a:bodyPr>
          <a:lstStyle/>
          <a:p>
            <a:pPr algn="l" marL="118872" indent="-118872">
              <a:buFont typeface="Yu Gothic"/>
              <a:buChar char="・"/>
            </a:pPr>
            <a:r>
              <a:rPr sz="1200" b="0">
                <a:solidFill>
                  <a:srgbClr val="1F2E35"/>
                </a:solidFill>
                <a:latin typeface="Yu Gothic"/>
                <a:ea typeface="Yu Gothic"/>
                <a:cs typeface="Yu Gothic"/>
              </a:rPr>
              <a:t>バリューストリームは段階（L2）とその内訳（L3）、ケイパビリティは領域（L1）・能力（L2）・内訳（L3）まで、すべての項目を載せています。</a:t>
            </a:r>
          </a:p>
          <a:p>
            <a:pPr algn="l" marL="118872" indent="-118872">
              <a:buFont typeface="Yu Gothic"/>
              <a:buChar char="・"/>
            </a:pPr>
            <a:r>
              <a:rPr sz="1200" b="0">
                <a:solidFill>
                  <a:srgbClr val="1F2E35"/>
                </a:solidFill>
                <a:latin typeface="Yu Gothic"/>
                <a:ea typeface="Yu Gothic"/>
                <a:cs typeface="Yu Gothic"/>
              </a:rPr>
              <a:t>出口（ゲート）は、次の段階へ進む判断の節目です。</a:t>
            </a:r>
          </a:p>
          <a:p>
            <a:pPr algn="l" marL="118872" indent="-118872">
              <a:buFont typeface="Yu Gothic"/>
              <a:buChar char="・"/>
            </a:pPr>
            <a:r>
              <a:rPr sz="1200" b="0">
                <a:solidFill>
                  <a:srgbClr val="1F2E35"/>
                </a:solidFill>
                <a:latin typeface="Yu Gothic"/>
                <a:ea typeface="Yu Gothic"/>
                <a:cs typeface="Yu Gothic"/>
              </a:rPr>
              <a:t>より細かい内容（VSのL4、各関係の正本）は vs_capability_map.xlsx にあります。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t">
            <a:spAutoFit/>
          </a:bodyPr>
          <a:lstStyle/>
          <a:p>
            <a:pPr algn="l"/>
            <a:r>
              <a:rPr sz="3000" b="1">
                <a:solidFill>
                  <a:srgbClr val="1F2E35"/>
                </a:solidFill>
                <a:latin typeface="Yu Gothic"/>
                <a:ea typeface="Yu Gothic"/>
                <a:cs typeface="Yu Gothic"/>
              </a:rPr>
              <a:t>バリューチェーン全体像</a:t>
            </a:r>
          </a:p>
        </p:txBody>
      </p:sp>
      <p:sp>
        <p:nvSpPr>
          <p:cNvPr id="3" name="TextBox 2"/>
          <p:cNvSpPr txBox="1"/>
          <p:nvPr/>
        </p:nvSpPr>
        <p:spPr>
          <a:xfrm>
            <a:off x="457200" y="960120"/>
            <a:ext cx="11247120" cy="365760"/>
          </a:xfrm>
          <a:prstGeom prst="rect">
            <a:avLst/>
          </a:prstGeom>
          <a:noFill/>
        </p:spPr>
        <p:txBody>
          <a:bodyPr wrap="square" lIns="0" rIns="0" tIns="0" bIns="0" anchor="t">
            <a:spAutoFit/>
          </a:bodyPr>
          <a:lstStyle/>
          <a:p>
            <a:pPr algn="l"/>
            <a:r>
              <a:rPr sz="1400" b="0">
                <a:solidFill>
                  <a:srgbClr val="5B6B70"/>
                </a:solidFill>
                <a:latin typeface="Yu Gothic"/>
                <a:ea typeface="Yu Gothic"/>
                <a:cs typeface="Yu Gothic"/>
              </a:rPr>
              <a:t>段階（L2）と、その内訳（L3）・出口（◆）。★は製薬のGxP規制または日本のIT外部委託・J-SOXに固有の項目を含む段階</a:t>
            </a:r>
          </a:p>
        </p:txBody>
      </p:sp>
      <p:sp>
        <p:nvSpPr>
          <p:cNvPr id="4" name="Rectangle 3"/>
          <p:cNvSpPr/>
          <p:nvPr/>
        </p:nvSpPr>
        <p:spPr>
          <a:xfrm>
            <a:off x="457200" y="1417320"/>
            <a:ext cx="11274552" cy="4983480"/>
          </a:xfrm>
          <a:prstGeom prst="rect">
            <a:avLst/>
          </a:prstGeom>
          <a:noFill/>
          <a:ln w="9525">
            <a:solidFill>
              <a:srgbClr val="C3CFD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57200" y="1417320"/>
            <a:ext cx="502920" cy="2514600"/>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rot="16200000">
            <a:off x="-548640" y="2423160"/>
            <a:ext cx="2514600" cy="502920"/>
          </a:xfrm>
          <a:prstGeom prst="rect">
            <a:avLst/>
          </a:prstGeom>
          <a:noFill/>
        </p:spPr>
        <p:txBody>
          <a:bodyPr wrap="square" lIns="0" rIns="0" tIns="0" bIns="0" anchor="ctr">
            <a:spAutoFit/>
          </a:bodyPr>
          <a:lstStyle/>
          <a:p>
            <a:pPr algn="ctr"/>
            <a:r>
              <a:rPr sz="1200" b="1">
                <a:solidFill>
                  <a:srgbClr val="FFFFFF"/>
                </a:solidFill>
                <a:latin typeface="Yu Gothic"/>
                <a:ea typeface="Yu Gothic"/>
                <a:cs typeface="Yu Gothic"/>
              </a:rPr>
              <a:t>Phase 1：計画・構築</a:t>
            </a:r>
          </a:p>
          <a:p>
            <a:pPr algn="ctr"/>
            <a:r>
              <a:rPr sz="800" b="0">
                <a:solidFill>
                  <a:srgbClr val="FFFFFF"/>
                </a:solidFill>
                <a:latin typeface="Yu Gothic"/>
                <a:ea typeface="Yu Gothic"/>
                <a:cs typeface="Yu Gothic"/>
              </a:rPr>
              <a:t>(Plan &amp; Build)</a:t>
            </a:r>
          </a:p>
        </p:txBody>
      </p:sp>
      <p:sp>
        <p:nvSpPr>
          <p:cNvPr id="7" name="Rectangle 6"/>
          <p:cNvSpPr/>
          <p:nvPr/>
        </p:nvSpPr>
        <p:spPr>
          <a:xfrm>
            <a:off x="457200" y="3931920"/>
            <a:ext cx="502920" cy="2468880"/>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rot="16200000">
            <a:off x="-525780" y="4914900"/>
            <a:ext cx="2468880" cy="502920"/>
          </a:xfrm>
          <a:prstGeom prst="rect">
            <a:avLst/>
          </a:prstGeom>
          <a:noFill/>
        </p:spPr>
        <p:txBody>
          <a:bodyPr wrap="square" lIns="0" rIns="0" tIns="0" bIns="0" anchor="ctr">
            <a:spAutoFit/>
          </a:bodyPr>
          <a:lstStyle/>
          <a:p>
            <a:pPr algn="ctr"/>
            <a:r>
              <a:rPr sz="1200" b="1">
                <a:solidFill>
                  <a:srgbClr val="FFFFFF"/>
                </a:solidFill>
                <a:latin typeface="Yu Gothic"/>
                <a:ea typeface="Yu Gothic"/>
                <a:cs typeface="Yu Gothic"/>
              </a:rPr>
              <a:t>Phase 2：提供・運用</a:t>
            </a:r>
          </a:p>
          <a:p>
            <a:pPr algn="ctr"/>
            <a:r>
              <a:rPr sz="800" b="0">
                <a:solidFill>
                  <a:srgbClr val="FFFFFF"/>
                </a:solidFill>
                <a:latin typeface="Yu Gothic"/>
                <a:ea typeface="Yu Gothic"/>
                <a:cs typeface="Yu Gothic"/>
              </a:rPr>
              <a:t>(Deliver &amp; Run)</a:t>
            </a:r>
          </a:p>
        </p:txBody>
      </p:sp>
      <p:cxnSp>
        <p:nvCxnSpPr>
          <p:cNvPr id="9" name="Connector 8"/>
          <p:cNvCxnSpPr/>
          <p:nvPr/>
        </p:nvCxnSpPr>
        <p:spPr>
          <a:xfrm>
            <a:off x="960120" y="3931920"/>
            <a:ext cx="10771632" cy="0"/>
          </a:xfrm>
          <a:prstGeom prst="line">
            <a:avLst/>
          </a:prstGeom>
          <a:ln w="19050">
            <a:solidFill>
              <a:srgbClr val="1F2E35"/>
            </a:solidFill>
            <a:prstDash val="dash"/>
          </a:ln>
        </p:spPr>
      </p:cxnSp>
      <p:sp>
        <p:nvSpPr>
          <p:cNvPr id="10" name="Right Arrow 9"/>
          <p:cNvSpPr/>
          <p:nvPr/>
        </p:nvSpPr>
        <p:spPr>
          <a:xfrm>
            <a:off x="1234440" y="1645920"/>
            <a:ext cx="4983480" cy="1417320"/>
          </a:xfrm>
          <a:prstGeom prst="rightArrow">
            <a:avLst>
              <a:gd name="adj1" fmla="val 80000"/>
              <a:gd name="adj2" fmla="val 3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371600" y="1847088"/>
            <a:ext cx="429768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戦略・ポートフォリオ（S2P）</a:t>
            </a:r>
          </a:p>
        </p:txBody>
      </p:sp>
      <p:sp>
        <p:nvSpPr>
          <p:cNvPr id="12" name="TextBox 11"/>
          <p:cNvSpPr txBox="1"/>
          <p:nvPr/>
        </p:nvSpPr>
        <p:spPr>
          <a:xfrm>
            <a:off x="1371600" y="2157984"/>
            <a:ext cx="429768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IT戦略・アーキテクチャの策定</a:t>
            </a:r>
          </a:p>
          <a:p>
            <a:pPr algn="l" marL="118872" indent="-118872">
              <a:buFont typeface="Yu Gothic"/>
              <a:buChar char="・"/>
            </a:pPr>
            <a:r>
              <a:rPr sz="900" b="0">
                <a:solidFill>
                  <a:srgbClr val="FFFFFF"/>
                </a:solidFill>
                <a:latin typeface="Yu Gothic"/>
                <a:ea typeface="Yu Gothic"/>
                <a:cs typeface="Yu Gothic"/>
              </a:rPr>
              <a:t>需要管理・構想</a:t>
            </a:r>
          </a:p>
          <a:p>
            <a:pPr algn="l" marL="118872" indent="-118872">
              <a:buFont typeface="Yu Gothic"/>
              <a:buChar char="・"/>
            </a:pPr>
            <a:r>
              <a:rPr sz="900" b="0">
                <a:solidFill>
                  <a:srgbClr val="FFFFFF"/>
                </a:solidFill>
                <a:latin typeface="Yu Gothic"/>
                <a:ea typeface="Yu Gothic"/>
                <a:cs typeface="Yu Gothic"/>
              </a:rPr>
              <a:t>ポートフォリオ・投資判断</a:t>
            </a:r>
          </a:p>
        </p:txBody>
      </p:sp>
      <p:sp>
        <p:nvSpPr>
          <p:cNvPr id="13" name="Diamond 12"/>
          <p:cNvSpPr/>
          <p:nvPr/>
        </p:nvSpPr>
        <p:spPr>
          <a:xfrm>
            <a:off x="6062472" y="2212848"/>
            <a:ext cx="274320" cy="274320"/>
          </a:xfrm>
          <a:prstGeom prst="diamond">
            <a:avLst/>
          </a:prstGeom>
          <a:solidFill>
            <a:srgbClr val="9C7C45"/>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840480" y="3108960"/>
            <a:ext cx="2514600" cy="274320"/>
          </a:xfrm>
          <a:prstGeom prst="rect">
            <a:avLst/>
          </a:prstGeom>
          <a:noFill/>
        </p:spPr>
        <p:txBody>
          <a:bodyPr wrap="square" lIns="0" rIns="0" tIns="0" bIns="0" anchor="ctr">
            <a:spAutoFit/>
          </a:bodyPr>
          <a:lstStyle/>
          <a:p>
            <a:pPr algn="r"/>
            <a:r>
              <a:rPr sz="850" b="1">
                <a:solidFill>
                  <a:srgbClr val="1F2E35"/>
                </a:solidFill>
                <a:latin typeface="Yu Gothic"/>
                <a:ea typeface="Yu Gothic"/>
                <a:cs typeface="Yu Gothic"/>
              </a:rPr>
              <a:t>投資の承認（ポートフォリオへの組入れ）</a:t>
            </a:r>
          </a:p>
        </p:txBody>
      </p:sp>
      <p:sp>
        <p:nvSpPr>
          <p:cNvPr id="15" name="Right Arrow 14"/>
          <p:cNvSpPr/>
          <p:nvPr/>
        </p:nvSpPr>
        <p:spPr>
          <a:xfrm>
            <a:off x="6400800" y="1645920"/>
            <a:ext cx="4983480" cy="1417320"/>
          </a:xfrm>
          <a:prstGeom prst="rightArrow">
            <a:avLst>
              <a:gd name="adj1" fmla="val 80000"/>
              <a:gd name="adj2" fmla="val 3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37960" y="1847088"/>
            <a:ext cx="429768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要件定義・開発・配備（R2D）</a:t>
            </a:r>
          </a:p>
        </p:txBody>
      </p:sp>
      <p:sp>
        <p:nvSpPr>
          <p:cNvPr id="17" name="TextBox 16"/>
          <p:cNvSpPr txBox="1"/>
          <p:nvPr/>
        </p:nvSpPr>
        <p:spPr>
          <a:xfrm>
            <a:off x="6537960" y="2157984"/>
            <a:ext cx="429768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プロジェクト立上げ・委託</a:t>
            </a:r>
          </a:p>
          <a:p>
            <a:pPr algn="l" marL="118872" indent="-118872">
              <a:buFont typeface="Yu Gothic"/>
              <a:buChar char="・"/>
            </a:pPr>
            <a:r>
              <a:rPr sz="900" b="0">
                <a:solidFill>
                  <a:srgbClr val="FFFFFF"/>
                </a:solidFill>
                <a:latin typeface="Yu Gothic"/>
                <a:ea typeface="Yu Gothic"/>
                <a:cs typeface="Yu Gothic"/>
              </a:rPr>
              <a:t>要件定義・設計</a:t>
            </a:r>
          </a:p>
          <a:p>
            <a:pPr algn="l" marL="118872" indent="-118872">
              <a:buFont typeface="Yu Gothic"/>
              <a:buChar char="・"/>
            </a:pPr>
            <a:r>
              <a:rPr sz="900" b="0">
                <a:solidFill>
                  <a:srgbClr val="FFFFFF"/>
                </a:solidFill>
                <a:latin typeface="Yu Gothic"/>
                <a:ea typeface="Yu Gothic"/>
                <a:cs typeface="Yu Gothic"/>
              </a:rPr>
              <a:t>開発・構成・テスト</a:t>
            </a:r>
          </a:p>
          <a:p>
            <a:pPr algn="l" marL="118872" indent="-118872">
              <a:buFont typeface="Yu Gothic"/>
              <a:buChar char="・"/>
            </a:pPr>
            <a:r>
              <a:rPr sz="900" b="0">
                <a:solidFill>
                  <a:srgbClr val="FFFFFF"/>
                </a:solidFill>
                <a:latin typeface="Yu Gothic"/>
                <a:ea typeface="Yu Gothic"/>
                <a:cs typeface="Yu Gothic"/>
              </a:rPr>
              <a:t>バリデーション・リリース</a:t>
            </a:r>
          </a:p>
        </p:txBody>
      </p:sp>
      <p:sp>
        <p:nvSpPr>
          <p:cNvPr id="18" name="Diamond 17"/>
          <p:cNvSpPr/>
          <p:nvPr/>
        </p:nvSpPr>
        <p:spPr>
          <a:xfrm>
            <a:off x="11228832" y="2212848"/>
            <a:ext cx="274320" cy="274320"/>
          </a:xfrm>
          <a:prstGeom prst="diamond">
            <a:avLst/>
          </a:prstGeom>
          <a:solidFill>
            <a:srgbClr val="9C7C45"/>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006840" y="3108960"/>
            <a:ext cx="2514600" cy="274320"/>
          </a:xfrm>
          <a:prstGeom prst="rect">
            <a:avLst/>
          </a:prstGeom>
          <a:noFill/>
        </p:spPr>
        <p:txBody>
          <a:bodyPr wrap="square" lIns="0" rIns="0" tIns="0" bIns="0" anchor="ctr">
            <a:spAutoFit/>
          </a:bodyPr>
          <a:lstStyle/>
          <a:p>
            <a:pPr algn="r"/>
            <a:r>
              <a:rPr sz="850" b="1">
                <a:solidFill>
                  <a:srgbClr val="1F2E35"/>
                </a:solidFill>
                <a:latin typeface="Yu Gothic"/>
                <a:ea typeface="Yu Gothic"/>
                <a:cs typeface="Yu Gothic"/>
              </a:rPr>
              <a:t>本番稼働の承認（リリース判定）</a:t>
            </a:r>
          </a:p>
        </p:txBody>
      </p:sp>
      <p:sp>
        <p:nvSpPr>
          <p:cNvPr id="20" name="Right Arrow 19"/>
          <p:cNvSpPr/>
          <p:nvPr/>
        </p:nvSpPr>
        <p:spPr>
          <a:xfrm>
            <a:off x="1234440" y="4160520"/>
            <a:ext cx="3566160" cy="1417320"/>
          </a:xfrm>
          <a:prstGeom prst="rightArrow">
            <a:avLst>
              <a:gd name="adj1" fmla="val 80000"/>
              <a:gd name="adj2" fmla="val 3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371600" y="4361688"/>
            <a:ext cx="288036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利用申請・提供（R2F）</a:t>
            </a:r>
          </a:p>
        </p:txBody>
      </p:sp>
      <p:sp>
        <p:nvSpPr>
          <p:cNvPr id="22" name="TextBox 21"/>
          <p:cNvSpPr txBox="1"/>
          <p:nvPr/>
        </p:nvSpPr>
        <p:spPr>
          <a:xfrm>
            <a:off x="1371600" y="4672583"/>
            <a:ext cx="288036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サービスカタログの公開</a:t>
            </a:r>
          </a:p>
          <a:p>
            <a:pPr algn="l" marL="118872" indent="-118872">
              <a:buFont typeface="Yu Gothic"/>
              <a:buChar char="・"/>
            </a:pPr>
            <a:r>
              <a:rPr sz="900" b="0">
                <a:solidFill>
                  <a:srgbClr val="FFFFFF"/>
                </a:solidFill>
                <a:latin typeface="Yu Gothic"/>
                <a:ea typeface="Yu Gothic"/>
                <a:cs typeface="Yu Gothic"/>
              </a:rPr>
              <a:t>申請・承認</a:t>
            </a:r>
          </a:p>
          <a:p>
            <a:pPr algn="l" marL="118872" indent="-118872">
              <a:buFont typeface="Yu Gothic"/>
              <a:buChar char="・"/>
            </a:pPr>
            <a:r>
              <a:rPr sz="900" b="0">
                <a:solidFill>
                  <a:srgbClr val="FFFFFF"/>
                </a:solidFill>
                <a:latin typeface="Yu Gothic"/>
                <a:ea typeface="Yu Gothic"/>
                <a:cs typeface="Yu Gothic"/>
              </a:rPr>
              <a:t>提供</a:t>
            </a:r>
          </a:p>
          <a:p>
            <a:pPr algn="l" marL="118872" indent="-118872">
              <a:buFont typeface="Yu Gothic"/>
              <a:buChar char="・"/>
            </a:pPr>
            <a:r>
              <a:rPr sz="900" b="0">
                <a:solidFill>
                  <a:srgbClr val="FFFFFF"/>
                </a:solidFill>
                <a:latin typeface="Yu Gothic"/>
                <a:ea typeface="Yu Gothic"/>
                <a:cs typeface="Yu Gothic"/>
              </a:rPr>
              <a:t>利用・費用管理</a:t>
            </a:r>
          </a:p>
        </p:txBody>
      </p:sp>
      <p:sp>
        <p:nvSpPr>
          <p:cNvPr id="23" name="Diamond 22"/>
          <p:cNvSpPr/>
          <p:nvPr/>
        </p:nvSpPr>
        <p:spPr>
          <a:xfrm>
            <a:off x="4645152" y="4727448"/>
            <a:ext cx="274320" cy="274320"/>
          </a:xfrm>
          <a:prstGeom prst="diamond">
            <a:avLst/>
          </a:prstGeom>
          <a:solidFill>
            <a:srgbClr val="9C7C45"/>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423160" y="5623560"/>
            <a:ext cx="2514600" cy="274320"/>
          </a:xfrm>
          <a:prstGeom prst="rect">
            <a:avLst/>
          </a:prstGeom>
          <a:noFill/>
        </p:spPr>
        <p:txBody>
          <a:bodyPr wrap="square" lIns="0" rIns="0" tIns="0" bIns="0" anchor="ctr">
            <a:spAutoFit/>
          </a:bodyPr>
          <a:lstStyle/>
          <a:p>
            <a:pPr algn="r"/>
            <a:r>
              <a:rPr sz="850" b="1">
                <a:solidFill>
                  <a:srgbClr val="1F2E35"/>
                </a:solidFill>
                <a:latin typeface="Yu Gothic"/>
                <a:ea typeface="Yu Gothic"/>
                <a:cs typeface="Yu Gothic"/>
              </a:rPr>
              <a:t>提供の完了（利用開始）</a:t>
            </a:r>
          </a:p>
        </p:txBody>
      </p:sp>
      <p:sp>
        <p:nvSpPr>
          <p:cNvPr id="25" name="Right Arrow 24"/>
          <p:cNvSpPr/>
          <p:nvPr/>
        </p:nvSpPr>
        <p:spPr>
          <a:xfrm>
            <a:off x="4983480" y="4160520"/>
            <a:ext cx="3566160" cy="1417320"/>
          </a:xfrm>
          <a:prstGeom prst="rightArrow">
            <a:avLst>
              <a:gd name="adj1" fmla="val 80000"/>
              <a:gd name="adj2" fmla="val 3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120640" y="4361688"/>
            <a:ext cx="288036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検知・是正（D2C）</a:t>
            </a:r>
          </a:p>
        </p:txBody>
      </p:sp>
      <p:sp>
        <p:nvSpPr>
          <p:cNvPr id="27" name="TextBox 26"/>
          <p:cNvSpPr txBox="1"/>
          <p:nvPr/>
        </p:nvSpPr>
        <p:spPr>
          <a:xfrm>
            <a:off x="5120640" y="4672583"/>
            <a:ext cx="288036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監視・検知</a:t>
            </a:r>
          </a:p>
          <a:p>
            <a:pPr algn="l" marL="118872" indent="-118872">
              <a:buFont typeface="Yu Gothic"/>
              <a:buChar char="・"/>
            </a:pPr>
            <a:r>
              <a:rPr sz="900" b="0">
                <a:solidFill>
                  <a:srgbClr val="FFFFFF"/>
                </a:solidFill>
                <a:latin typeface="Yu Gothic"/>
                <a:ea typeface="Yu Gothic"/>
                <a:cs typeface="Yu Gothic"/>
              </a:rPr>
              <a:t>インシデント対応</a:t>
            </a:r>
          </a:p>
          <a:p>
            <a:pPr algn="l" marL="118872" indent="-118872">
              <a:buFont typeface="Yu Gothic"/>
              <a:buChar char="・"/>
            </a:pPr>
            <a:r>
              <a:rPr sz="900" b="0">
                <a:solidFill>
                  <a:srgbClr val="FFFFFF"/>
                </a:solidFill>
                <a:latin typeface="Yu Gothic"/>
                <a:ea typeface="Yu Gothic"/>
                <a:cs typeface="Yu Gothic"/>
              </a:rPr>
              <a:t>問題・変更管理</a:t>
            </a:r>
          </a:p>
          <a:p>
            <a:pPr algn="l" marL="118872" indent="-118872">
              <a:buFont typeface="Yu Gothic"/>
              <a:buChar char="・"/>
            </a:pPr>
            <a:r>
              <a:rPr sz="900" b="0">
                <a:solidFill>
                  <a:srgbClr val="FFFFFF"/>
                </a:solidFill>
                <a:latin typeface="Yu Gothic"/>
                <a:ea typeface="Yu Gothic"/>
                <a:cs typeface="Yu Gothic"/>
              </a:rPr>
              <a:t>定期評価・継続的改善</a:t>
            </a:r>
          </a:p>
        </p:txBody>
      </p:sp>
      <p:sp>
        <p:nvSpPr>
          <p:cNvPr id="28" name="Diamond 27"/>
          <p:cNvSpPr/>
          <p:nvPr/>
        </p:nvSpPr>
        <p:spPr>
          <a:xfrm>
            <a:off x="8394192" y="4727448"/>
            <a:ext cx="274320" cy="274320"/>
          </a:xfrm>
          <a:prstGeom prst="diamond">
            <a:avLst/>
          </a:prstGeom>
          <a:solidFill>
            <a:srgbClr val="9C7C45"/>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172200" y="5623560"/>
            <a:ext cx="2514600" cy="274320"/>
          </a:xfrm>
          <a:prstGeom prst="rect">
            <a:avLst/>
          </a:prstGeom>
          <a:noFill/>
        </p:spPr>
        <p:txBody>
          <a:bodyPr wrap="square" lIns="0" rIns="0" tIns="0" bIns="0" anchor="ctr">
            <a:spAutoFit/>
          </a:bodyPr>
          <a:lstStyle/>
          <a:p>
            <a:pPr algn="r"/>
            <a:r>
              <a:rPr sz="850" b="1">
                <a:solidFill>
                  <a:srgbClr val="1F2E35"/>
                </a:solidFill>
                <a:latin typeface="Yu Gothic"/>
                <a:ea typeface="Yu Gothic"/>
                <a:cs typeface="Yu Gothic"/>
              </a:rPr>
              <a:t>是正の完了（問題のクローズ）</a:t>
            </a:r>
          </a:p>
        </p:txBody>
      </p:sp>
      <p:sp>
        <p:nvSpPr>
          <p:cNvPr id="30" name="TextBox 29"/>
          <p:cNvSpPr txBox="1"/>
          <p:nvPr/>
        </p:nvSpPr>
        <p:spPr>
          <a:xfrm>
            <a:off x="960120" y="2103120"/>
            <a:ext cx="27432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A</a:t>
            </a:r>
          </a:p>
        </p:txBody>
      </p:sp>
      <p:sp>
        <p:nvSpPr>
          <p:cNvPr id="31" name="TextBox 30"/>
          <p:cNvSpPr txBox="1"/>
          <p:nvPr/>
        </p:nvSpPr>
        <p:spPr>
          <a:xfrm>
            <a:off x="960120" y="4617720"/>
            <a:ext cx="27432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A</a:t>
            </a:r>
          </a:p>
        </p:txBody>
      </p:sp>
      <p:sp>
        <p:nvSpPr>
          <p:cNvPr id="32" name="Donut 31"/>
          <p:cNvSpPr/>
          <p:nvPr/>
        </p:nvSpPr>
        <p:spPr>
          <a:xfrm>
            <a:off x="9555480" y="4114800"/>
            <a:ext cx="1737360" cy="1737360"/>
          </a:xfrm>
          <a:prstGeom prst="donut">
            <a:avLst>
              <a:gd name="adj" fmla="val 13000"/>
            </a:avLst>
          </a:prstGeom>
          <a:solidFill>
            <a:srgbClr val="2F4F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Isosceles Triangle 32"/>
          <p:cNvSpPr/>
          <p:nvPr/>
        </p:nvSpPr>
        <p:spPr>
          <a:xfrm rot="5400000">
            <a:off x="10277855" y="4069080"/>
            <a:ext cx="292608" cy="246888"/>
          </a:xfrm>
          <a:prstGeom prst="triangle">
            <a:avLst/>
          </a:prstGeom>
          <a:solidFill>
            <a:srgbClr val="2F4F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56648" y="4443984"/>
            <a:ext cx="1335024" cy="1097280"/>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定期評価・改善</a:t>
            </a:r>
          </a:p>
          <a:p>
            <a:pPr algn="ctr"/>
            <a:r>
              <a:rPr sz="750" b="0">
                <a:solidFill>
                  <a:srgbClr val="1F2E35"/>
                </a:solidFill>
                <a:latin typeface="Yu Gothic"/>
                <a:ea typeface="Yu Gothic"/>
                <a:cs typeface="Yu Gothic"/>
              </a:rPr>
              <a:t>サービスレベルの評価</a:t>
            </a:r>
          </a:p>
          <a:p>
            <a:pPr algn="ctr"/>
            <a:r>
              <a:rPr sz="750" b="0">
                <a:solidFill>
                  <a:srgbClr val="1F2E35"/>
                </a:solidFill>
                <a:latin typeface="Yu Gothic"/>
                <a:ea typeface="Yu Gothic"/>
                <a:cs typeface="Yu Gothic"/>
              </a:rPr>
              <a:t>GxPの定期レビュー</a:t>
            </a:r>
          </a:p>
          <a:p>
            <a:pPr algn="ctr"/>
            <a:r>
              <a:rPr sz="750" b="0">
                <a:solidFill>
                  <a:srgbClr val="1F2E35"/>
                </a:solidFill>
                <a:latin typeface="Yu Gothic"/>
                <a:ea typeface="Yu Gothic"/>
                <a:cs typeface="Yu Gothic"/>
              </a:rPr>
              <a:t>委託先の評価・監督</a:t>
            </a:r>
          </a:p>
          <a:p>
            <a:pPr algn="ctr"/>
            <a:r>
              <a:rPr sz="750" b="0">
                <a:solidFill>
                  <a:srgbClr val="1F2E35"/>
                </a:solidFill>
                <a:latin typeface="Yu Gothic"/>
                <a:ea typeface="Yu Gothic"/>
                <a:cs typeface="Yu Gothic"/>
              </a:rPr>
              <a:t>IT全般統制の評価</a:t>
            </a:r>
          </a:p>
          <a:p>
            <a:pPr algn="ctr"/>
            <a:r>
              <a:rPr sz="750" b="0">
                <a:solidFill>
                  <a:srgbClr val="1F2E35"/>
                </a:solidFill>
                <a:latin typeface="Yu Gothic"/>
                <a:ea typeface="Yu Gothic"/>
                <a:cs typeface="Yu Gothic"/>
              </a:rPr>
              <a:t>廃止・アーカイブ</a:t>
            </a:r>
          </a:p>
        </p:txBody>
      </p:sp>
      <p:sp>
        <p:nvSpPr>
          <p:cNvPr id="35" name="TextBox 34"/>
          <p:cNvSpPr txBox="1"/>
          <p:nvPr/>
        </p:nvSpPr>
        <p:spPr>
          <a:xfrm>
            <a:off x="8732520" y="4526280"/>
            <a:ext cx="54864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B</a:t>
            </a:r>
          </a:p>
        </p:txBody>
      </p:sp>
      <p:sp>
        <p:nvSpPr>
          <p:cNvPr id="36" name="TextBox 35"/>
          <p:cNvSpPr txBox="1"/>
          <p:nvPr/>
        </p:nvSpPr>
        <p:spPr>
          <a:xfrm>
            <a:off x="8641080" y="4892040"/>
            <a:ext cx="731520" cy="365760"/>
          </a:xfrm>
          <a:prstGeom prst="rect">
            <a:avLst/>
          </a:prstGeom>
          <a:noFill/>
        </p:spPr>
        <p:txBody>
          <a:bodyPr wrap="square" lIns="0" rIns="0" tIns="0" bIns="0" anchor="t">
            <a:spAutoFit/>
          </a:bodyPr>
          <a:lstStyle/>
          <a:p>
            <a:pPr algn="ctr"/>
            <a:r>
              <a:rPr sz="850" b="1">
                <a:solidFill>
                  <a:srgbClr val="9C7C45"/>
                </a:solidFill>
                <a:latin typeface="Yu Gothic"/>
                <a:ea typeface="Yu Gothic"/>
                <a:cs typeface="Yu Gothic"/>
              </a:rPr>
              <a:t>継続</a:t>
            </a:r>
          </a:p>
          <a:p>
            <a:pPr algn="ctr"/>
            <a:r>
              <a:rPr sz="700" b="0">
                <a:solidFill>
                  <a:srgbClr val="9C7C45"/>
                </a:solidFill>
                <a:latin typeface="Yu Gothic"/>
                <a:ea typeface="Yu Gothic"/>
                <a:cs typeface="Yu Gothic"/>
              </a:rPr>
              <a:t>(Continuous)</a:t>
            </a:r>
          </a:p>
        </p:txBody>
      </p:sp>
      <p:sp>
        <p:nvSpPr>
          <p:cNvPr id="37" name="TextBox 36"/>
          <p:cNvSpPr txBox="1"/>
          <p:nvPr/>
        </p:nvSpPr>
        <p:spPr>
          <a:xfrm>
            <a:off x="11338560" y="4572000"/>
            <a:ext cx="384048" cy="1097280"/>
          </a:xfrm>
          <a:prstGeom prst="rect">
            <a:avLst/>
          </a:prstGeom>
          <a:noFill/>
        </p:spPr>
        <p:txBody>
          <a:bodyPr wrap="square" lIns="0" rIns="0" tIns="0" bIns="0" anchor="t">
            <a:spAutoFit/>
          </a:bodyPr>
          <a:lstStyle/>
          <a:p>
            <a:pPr algn="l"/>
            <a:r>
              <a:rPr sz="800" b="0">
                <a:solidFill>
                  <a:srgbClr val="1F2E35"/>
                </a:solidFill>
                <a:latin typeface="Yu Gothic"/>
                <a:ea typeface="Yu Gothic"/>
                <a:cs typeface="Yu Gothic"/>
              </a:rPr>
              <a:t/>
            </a:r>
          </a:p>
        </p:txBody>
      </p:sp>
      <p:sp>
        <p:nvSpPr>
          <p:cNvPr id="38" name="TextBox 37"/>
          <p:cNvSpPr txBox="1"/>
          <p:nvPr/>
        </p:nvSpPr>
        <p:spPr>
          <a:xfrm>
            <a:off x="10058400" y="5897880"/>
            <a:ext cx="1645920" cy="457200"/>
          </a:xfrm>
          <a:prstGeom prst="rect">
            <a:avLst/>
          </a:prstGeom>
          <a:noFill/>
        </p:spPr>
        <p:txBody>
          <a:bodyPr wrap="square" lIns="0" rIns="0" tIns="0" bIns="0" anchor="t">
            <a:spAutoFit/>
          </a:bodyPr>
          <a:lstStyle/>
          <a:p>
            <a:pPr algn="l"/>
            <a:r>
              <a:rPr sz="850" b="1">
                <a:solidFill>
                  <a:srgbClr val="1F2E35"/>
                </a:solidFill>
                <a:latin typeface="Yu Gothic"/>
                <a:ea typeface="Yu Gothic"/>
                <a:cs typeface="Yu Gothic"/>
              </a:rPr>
              <a:t>次の投資判断へ</a:t>
            </a:r>
          </a:p>
          <a:p>
            <a:pPr algn="l"/>
            <a:r>
              <a:rPr sz="750" b="0">
                <a:solidFill>
                  <a:srgbClr val="1F2E35"/>
                </a:solidFill>
                <a:latin typeface="Yu Gothic"/>
                <a:ea typeface="Yu Gothic"/>
                <a:cs typeface="Yu Gothic"/>
              </a:rPr>
              <a:t>改善・廃止の要求を需要管理とポートフォリオの見直し（段階1）に反映</a:t>
            </a:r>
          </a:p>
        </p:txBody>
      </p:sp>
      <p:sp>
        <p:nvSpPr>
          <p:cNvPr id="39" name="TextBox 38"/>
          <p:cNvSpPr txBox="1"/>
          <p:nvPr/>
        </p:nvSpPr>
        <p:spPr>
          <a:xfrm>
            <a:off x="457200" y="6464808"/>
            <a:ext cx="11274552" cy="32004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◆は次の段階へ進む判断の節目（出口）。「定期評価・継続的改善」は段階4のL3（04-04）で、インシデントごとではなく継続的に行い、次の投資判断（段階1）に戻る。IT4IT 3.0は7つのバリューストリーム（Evaluate〜Operate）に再編されたが、全社のレベル感に合わせて2.x系の4区分をL2とした。L4はxlsxの「バリューストリーム」シート。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t">
            <a:spAutoFit/>
          </a:bodyPr>
          <a:lstStyle/>
          <a:p>
            <a:pPr algn="l"/>
            <a:r>
              <a:rPr sz="2800" b="1">
                <a:solidFill>
                  <a:srgbClr val="1F2E35"/>
                </a:solidFill>
                <a:latin typeface="Yu Gothic"/>
                <a:ea typeface="Yu Gothic"/>
                <a:cs typeface="Yu Gothic"/>
              </a:rPr>
              <a:t>ケイパビリティマップ全体像</a:t>
            </a:r>
          </a:p>
        </p:txBody>
      </p:sp>
      <p:sp>
        <p:nvSpPr>
          <p:cNvPr id="3" name="TextBox 2"/>
          <p:cNvSpPr txBox="1"/>
          <p:nvPr/>
        </p:nvSpPr>
        <p:spPr>
          <a:xfrm>
            <a:off x="457200" y="841247"/>
            <a:ext cx="11247120" cy="365760"/>
          </a:xfrm>
          <a:prstGeom prst="rect">
            <a:avLst/>
          </a:prstGeom>
          <a:noFill/>
        </p:spPr>
        <p:txBody>
          <a:bodyPr wrap="square" lIns="0" rIns="0" tIns="0" bIns="0" anchor="t">
            <a:spAutoFit/>
          </a:bodyPr>
          <a:lstStyle/>
          <a:p>
            <a:pPr algn="l"/>
            <a:r>
              <a:rPr sz="1250" b="0">
                <a:solidFill>
                  <a:srgbClr val="5B6B70"/>
                </a:solidFill>
                <a:latin typeface="Yu Gothic"/>
                <a:ea typeface="Yu Gothic"/>
                <a:cs typeface="Yu Gothic"/>
              </a:rPr>
              <a:t>領域（L1）・能力（L2）・内訳（L3）。上段＝戦略、中段＝コア、下段＝支援。★はGxP・IT外部委託・J-SOXに固有、または特に強調する能力</a:t>
            </a:r>
          </a:p>
        </p:txBody>
      </p:sp>
      <p:sp>
        <p:nvSpPr>
          <p:cNvPr id="4" name="Rounded Rectangle 3"/>
          <p:cNvSpPr/>
          <p:nvPr/>
        </p:nvSpPr>
        <p:spPr>
          <a:xfrm>
            <a:off x="457200" y="1243584"/>
            <a:ext cx="11274552" cy="914400"/>
          </a:xfrm>
          <a:prstGeom prst="roundRect">
            <a:avLst>
              <a:gd name="adj" fmla="val 8000"/>
            </a:avLst>
          </a:prstGeom>
          <a:solidFill>
            <a:srgbClr val="FFFFFF"/>
          </a:solidFill>
          <a:ln w="1905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57200" y="1280160"/>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IT戦略・ガバナンス（Strategy &amp; Governance）</a:t>
            </a:r>
          </a:p>
        </p:txBody>
      </p:sp>
      <p:sp>
        <p:nvSpPr>
          <p:cNvPr id="6" name="TextBox 5"/>
          <p:cNvSpPr txBox="1"/>
          <p:nvPr/>
        </p:nvSpPr>
        <p:spPr>
          <a:xfrm>
            <a:off x="566928" y="1508760"/>
            <a:ext cx="1381887"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IT戦略・DX企画</a:t>
            </a:r>
          </a:p>
        </p:txBody>
      </p:sp>
      <p:sp>
        <p:nvSpPr>
          <p:cNvPr id="7" name="Rounded Rectangle 6"/>
          <p:cNvSpPr/>
          <p:nvPr/>
        </p:nvSpPr>
        <p:spPr>
          <a:xfrm>
            <a:off x="630936" y="1700784"/>
            <a:ext cx="123558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58368" y="1700784"/>
            <a:ext cx="1180718" cy="182880"/>
          </a:xfrm>
          <a:prstGeom prst="rect">
            <a:avLst/>
          </a:prstGeom>
          <a:noFill/>
        </p:spPr>
        <p:txBody>
          <a:bodyPr wrap="square" lIns="0" rIns="0" tIns="0" bIns="0" anchor="ctr">
            <a:spAutoFit/>
          </a:bodyPr>
          <a:lstStyle/>
          <a:p>
            <a:pPr algn="ctr"/>
            <a:r>
              <a:rPr sz="725" b="0">
                <a:solidFill>
                  <a:srgbClr val="1F2E35"/>
                </a:solidFill>
                <a:latin typeface="Yu Gothic"/>
                <a:ea typeface="Yu Gothic"/>
                <a:cs typeface="Yu Gothic"/>
              </a:rPr>
              <a:t>IT戦略・ロードマップ策定</a:t>
            </a:r>
          </a:p>
        </p:txBody>
      </p:sp>
      <p:sp>
        <p:nvSpPr>
          <p:cNvPr id="9" name="Rounded Rectangle 8"/>
          <p:cNvSpPr/>
          <p:nvPr/>
        </p:nvSpPr>
        <p:spPr>
          <a:xfrm>
            <a:off x="630936" y="1920240"/>
            <a:ext cx="123558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58368" y="1920240"/>
            <a:ext cx="118071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DX・デジタル企画</a:t>
            </a:r>
          </a:p>
        </p:txBody>
      </p:sp>
      <p:sp>
        <p:nvSpPr>
          <p:cNvPr id="11" name="TextBox 10"/>
          <p:cNvSpPr txBox="1"/>
          <p:nvPr/>
        </p:nvSpPr>
        <p:spPr>
          <a:xfrm>
            <a:off x="1948815" y="1508760"/>
            <a:ext cx="276377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エンタープライズアーキテクチャ</a:t>
            </a:r>
          </a:p>
        </p:txBody>
      </p:sp>
      <p:sp>
        <p:nvSpPr>
          <p:cNvPr id="12" name="Rounded Rectangle 11"/>
          <p:cNvSpPr/>
          <p:nvPr/>
        </p:nvSpPr>
        <p:spPr>
          <a:xfrm>
            <a:off x="2012823" y="1700784"/>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2040254" y="1700784"/>
            <a:ext cx="1226438" cy="182880"/>
          </a:xfrm>
          <a:prstGeom prst="rect">
            <a:avLst/>
          </a:prstGeom>
          <a:noFill/>
        </p:spPr>
        <p:txBody>
          <a:bodyPr wrap="square" lIns="0" rIns="0" tIns="0" bIns="0" anchor="ctr">
            <a:spAutoFit/>
          </a:bodyPr>
          <a:lstStyle/>
          <a:p>
            <a:pPr algn="ctr"/>
            <a:r>
              <a:rPr sz="525" b="0">
                <a:solidFill>
                  <a:srgbClr val="1F2E35"/>
                </a:solidFill>
                <a:latin typeface="Yu Gothic"/>
                <a:ea typeface="Yu Gothic"/>
                <a:cs typeface="Yu Gothic"/>
              </a:rPr>
              <a:t>アーキテクチャ設計（現状・将来像）</a:t>
            </a:r>
          </a:p>
        </p:txBody>
      </p:sp>
      <p:sp>
        <p:nvSpPr>
          <p:cNvPr id="14" name="Rounded Rectangle 13"/>
          <p:cNvSpPr/>
          <p:nvPr/>
        </p:nvSpPr>
        <p:spPr>
          <a:xfrm>
            <a:off x="3348990" y="1700784"/>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376422" y="1700784"/>
            <a:ext cx="1226438" cy="182880"/>
          </a:xfrm>
          <a:prstGeom prst="rect">
            <a:avLst/>
          </a:prstGeom>
          <a:noFill/>
        </p:spPr>
        <p:txBody>
          <a:bodyPr wrap="square" lIns="0" rIns="0" tIns="0" bIns="0" anchor="ctr">
            <a:spAutoFit/>
          </a:bodyPr>
          <a:lstStyle/>
          <a:p>
            <a:pPr algn="ctr"/>
            <a:r>
              <a:rPr sz="575" b="0">
                <a:solidFill>
                  <a:srgbClr val="1F2E35"/>
                </a:solidFill>
                <a:latin typeface="Yu Gothic"/>
                <a:ea typeface="Yu Gothic"/>
                <a:cs typeface="Yu Gothic"/>
              </a:rPr>
              <a:t>技術標準・アーキテクチャレビュー</a:t>
            </a:r>
          </a:p>
        </p:txBody>
      </p:sp>
      <p:sp>
        <p:nvSpPr>
          <p:cNvPr id="16" name="Rounded Rectangle 15"/>
          <p:cNvSpPr/>
          <p:nvPr/>
        </p:nvSpPr>
        <p:spPr>
          <a:xfrm>
            <a:off x="2012823" y="1920240"/>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040254" y="1920240"/>
            <a:ext cx="1226438" cy="182880"/>
          </a:xfrm>
          <a:prstGeom prst="rect">
            <a:avLst/>
          </a:prstGeom>
          <a:noFill/>
        </p:spPr>
        <p:txBody>
          <a:bodyPr wrap="square" lIns="0" rIns="0" tIns="0" bIns="0" anchor="ctr">
            <a:spAutoFit/>
          </a:bodyPr>
          <a:lstStyle/>
          <a:p>
            <a:pPr algn="ctr"/>
            <a:r>
              <a:rPr sz="525" b="0">
                <a:solidFill>
                  <a:srgbClr val="1F2E35"/>
                </a:solidFill>
                <a:latin typeface="Yu Gothic"/>
                <a:ea typeface="Yu Gothic"/>
                <a:cs typeface="Yu Gothic"/>
              </a:rPr>
              <a:t>アプリケーションポートフォリオ管理</a:t>
            </a:r>
          </a:p>
        </p:txBody>
      </p:sp>
      <p:sp>
        <p:nvSpPr>
          <p:cNvPr id="18" name="TextBox 17"/>
          <p:cNvSpPr txBox="1"/>
          <p:nvPr/>
        </p:nvSpPr>
        <p:spPr>
          <a:xfrm>
            <a:off x="4712589" y="1508760"/>
            <a:ext cx="276377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ITポートフォリオ・需要管理</a:t>
            </a:r>
          </a:p>
        </p:txBody>
      </p:sp>
      <p:sp>
        <p:nvSpPr>
          <p:cNvPr id="19" name="Rounded Rectangle 18"/>
          <p:cNvSpPr/>
          <p:nvPr/>
        </p:nvSpPr>
        <p:spPr>
          <a:xfrm>
            <a:off x="4776597" y="1700784"/>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804029" y="1700784"/>
            <a:ext cx="122643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需要管理</a:t>
            </a:r>
          </a:p>
        </p:txBody>
      </p:sp>
      <p:sp>
        <p:nvSpPr>
          <p:cNvPr id="21" name="Rounded Rectangle 20"/>
          <p:cNvSpPr/>
          <p:nvPr/>
        </p:nvSpPr>
        <p:spPr>
          <a:xfrm>
            <a:off x="6112764" y="1700784"/>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140196" y="1700784"/>
            <a:ext cx="122643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投資評価・優先順位付け</a:t>
            </a:r>
          </a:p>
        </p:txBody>
      </p:sp>
      <p:sp>
        <p:nvSpPr>
          <p:cNvPr id="23" name="Rounded Rectangle 22"/>
          <p:cNvSpPr/>
          <p:nvPr/>
        </p:nvSpPr>
        <p:spPr>
          <a:xfrm>
            <a:off x="4776597" y="1920240"/>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804029" y="1920240"/>
            <a:ext cx="1226438" cy="182880"/>
          </a:xfrm>
          <a:prstGeom prst="rect">
            <a:avLst/>
          </a:prstGeom>
          <a:noFill/>
        </p:spPr>
        <p:txBody>
          <a:bodyPr wrap="square" lIns="0" rIns="0" tIns="0" bIns="0" anchor="ctr">
            <a:spAutoFit/>
          </a:bodyPr>
          <a:lstStyle/>
          <a:p>
            <a:pPr algn="ctr"/>
            <a:r>
              <a:rPr sz="650" b="0">
                <a:solidFill>
                  <a:srgbClr val="1F2E35"/>
                </a:solidFill>
                <a:latin typeface="Yu Gothic"/>
                <a:ea typeface="Yu Gothic"/>
                <a:cs typeface="Yu Gothic"/>
              </a:rPr>
              <a:t>ポートフォリオの監視・見直し</a:t>
            </a:r>
          </a:p>
        </p:txBody>
      </p:sp>
      <p:sp>
        <p:nvSpPr>
          <p:cNvPr id="25" name="TextBox 24"/>
          <p:cNvSpPr txBox="1"/>
          <p:nvPr/>
        </p:nvSpPr>
        <p:spPr>
          <a:xfrm>
            <a:off x="7476363" y="1508760"/>
            <a:ext cx="276377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ITガバナンス・リスク管理★</a:t>
            </a:r>
          </a:p>
        </p:txBody>
      </p:sp>
      <p:sp>
        <p:nvSpPr>
          <p:cNvPr id="26" name="Rounded Rectangle 25"/>
          <p:cNvSpPr/>
          <p:nvPr/>
        </p:nvSpPr>
        <p:spPr>
          <a:xfrm>
            <a:off x="7540371" y="1700784"/>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567802" y="1700784"/>
            <a:ext cx="122643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IT規程・標準手順★</a:t>
            </a:r>
          </a:p>
        </p:txBody>
      </p:sp>
      <p:sp>
        <p:nvSpPr>
          <p:cNvPr id="28" name="Rounded Rectangle 27"/>
          <p:cNvSpPr/>
          <p:nvPr/>
        </p:nvSpPr>
        <p:spPr>
          <a:xfrm>
            <a:off x="8876538" y="1700784"/>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903969" y="1700784"/>
            <a:ext cx="122643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テクノロジーリスク管理</a:t>
            </a:r>
          </a:p>
        </p:txBody>
      </p:sp>
      <p:sp>
        <p:nvSpPr>
          <p:cNvPr id="30" name="Rounded Rectangle 29"/>
          <p:cNvSpPr/>
          <p:nvPr/>
        </p:nvSpPr>
        <p:spPr>
          <a:xfrm>
            <a:off x="7540371" y="1920240"/>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567802" y="1920240"/>
            <a:ext cx="122643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IT全般統制・監査対応★</a:t>
            </a:r>
          </a:p>
        </p:txBody>
      </p:sp>
      <p:sp>
        <p:nvSpPr>
          <p:cNvPr id="32" name="TextBox 31"/>
          <p:cNvSpPr txBox="1"/>
          <p:nvPr/>
        </p:nvSpPr>
        <p:spPr>
          <a:xfrm>
            <a:off x="10240137" y="1508760"/>
            <a:ext cx="1381887"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IT財務管理</a:t>
            </a:r>
          </a:p>
        </p:txBody>
      </p:sp>
      <p:sp>
        <p:nvSpPr>
          <p:cNvPr id="33" name="Rounded Rectangle 32"/>
          <p:cNvSpPr/>
          <p:nvPr/>
        </p:nvSpPr>
        <p:spPr>
          <a:xfrm>
            <a:off x="10304145" y="1700784"/>
            <a:ext cx="123558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0331577" y="1700784"/>
            <a:ext cx="118071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IT予算管理</a:t>
            </a:r>
          </a:p>
        </p:txBody>
      </p:sp>
      <p:sp>
        <p:nvSpPr>
          <p:cNvPr id="35" name="Rounded Rectangle 34"/>
          <p:cNvSpPr/>
          <p:nvPr/>
        </p:nvSpPr>
        <p:spPr>
          <a:xfrm>
            <a:off x="10304145" y="1920240"/>
            <a:ext cx="123558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31577" y="1920240"/>
            <a:ext cx="118071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IT費用の配賦・分析</a:t>
            </a:r>
          </a:p>
        </p:txBody>
      </p:sp>
      <p:sp>
        <p:nvSpPr>
          <p:cNvPr id="37" name="Rounded Rectangle 36"/>
          <p:cNvSpPr/>
          <p:nvPr/>
        </p:nvSpPr>
        <p:spPr>
          <a:xfrm>
            <a:off x="457200" y="2304288"/>
            <a:ext cx="2487168" cy="3474720"/>
          </a:xfrm>
          <a:prstGeom prst="roundRect">
            <a:avLst>
              <a:gd name="adj" fmla="val 5000"/>
            </a:avLst>
          </a:prstGeom>
          <a:solidFill>
            <a:srgbClr val="E8F1FB"/>
          </a:solidFill>
          <a:ln w="19050">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57200" y="2340864"/>
            <a:ext cx="2487168" cy="256032"/>
          </a:xfrm>
          <a:prstGeom prst="rect">
            <a:avLst/>
          </a:prstGeom>
          <a:noFill/>
        </p:spPr>
        <p:txBody>
          <a:bodyPr wrap="square" lIns="0" rIns="0" tIns="0" bIns="0" anchor="ctr">
            <a:spAutoFit/>
          </a:bodyPr>
          <a:lstStyle/>
          <a:p>
            <a:pPr algn="ctr"/>
            <a:r>
              <a:rPr sz="1200" b="1">
                <a:solidFill>
                  <a:srgbClr val="1F62B8"/>
                </a:solidFill>
                <a:latin typeface="Yu Gothic"/>
                <a:ea typeface="Yu Gothic"/>
                <a:cs typeface="Yu Gothic"/>
              </a:rPr>
              <a:t>Solution Delivery</a:t>
            </a:r>
          </a:p>
        </p:txBody>
      </p:sp>
      <p:sp>
        <p:nvSpPr>
          <p:cNvPr id="39" name="Rounded Rectangle 38"/>
          <p:cNvSpPr/>
          <p:nvPr/>
        </p:nvSpPr>
        <p:spPr>
          <a:xfrm>
            <a:off x="521208" y="2615184"/>
            <a:ext cx="2359152" cy="502920"/>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21208" y="2633472"/>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プロジェクト管理★</a:t>
            </a:r>
          </a:p>
        </p:txBody>
      </p:sp>
      <p:sp>
        <p:nvSpPr>
          <p:cNvPr id="41" name="Rounded Rectangle 40"/>
          <p:cNvSpPr/>
          <p:nvPr/>
        </p:nvSpPr>
        <p:spPr>
          <a:xfrm>
            <a:off x="585216" y="2871216"/>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12648" y="2871216"/>
            <a:ext cx="1033271" cy="182880"/>
          </a:xfrm>
          <a:prstGeom prst="rect">
            <a:avLst/>
          </a:prstGeom>
          <a:noFill/>
        </p:spPr>
        <p:txBody>
          <a:bodyPr wrap="square" lIns="0" rIns="0" tIns="0" bIns="0" anchor="ctr">
            <a:spAutoFit/>
          </a:bodyPr>
          <a:lstStyle/>
          <a:p>
            <a:pPr algn="ctr"/>
            <a:r>
              <a:rPr sz="600" b="0">
                <a:solidFill>
                  <a:srgbClr val="1F2E35"/>
                </a:solidFill>
                <a:latin typeface="Yu Gothic"/>
                <a:ea typeface="Yu Gothic"/>
                <a:cs typeface="Yu Gothic"/>
              </a:rPr>
              <a:t>プロジェクト計画・進捗管理</a:t>
            </a:r>
          </a:p>
        </p:txBody>
      </p:sp>
      <p:sp>
        <p:nvSpPr>
          <p:cNvPr id="43" name="Rounded Rectangle 42"/>
          <p:cNvSpPr/>
          <p:nvPr/>
        </p:nvSpPr>
        <p:spPr>
          <a:xfrm>
            <a:off x="1728216" y="2871216"/>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755648" y="2871216"/>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委託先の開発管理★</a:t>
            </a:r>
          </a:p>
        </p:txBody>
      </p:sp>
      <p:sp>
        <p:nvSpPr>
          <p:cNvPr id="45" name="Rounded Rectangle 44"/>
          <p:cNvSpPr/>
          <p:nvPr/>
        </p:nvSpPr>
        <p:spPr>
          <a:xfrm>
            <a:off x="521208" y="3172968"/>
            <a:ext cx="2359152" cy="502920"/>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521208" y="3191256"/>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要件定義・設計</a:t>
            </a:r>
          </a:p>
        </p:txBody>
      </p:sp>
      <p:sp>
        <p:nvSpPr>
          <p:cNvPr id="47" name="Rounded Rectangle 46"/>
          <p:cNvSpPr/>
          <p:nvPr/>
        </p:nvSpPr>
        <p:spPr>
          <a:xfrm>
            <a:off x="585216" y="3428999"/>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12648" y="3428999"/>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要件定義</a:t>
            </a:r>
          </a:p>
        </p:txBody>
      </p:sp>
      <p:sp>
        <p:nvSpPr>
          <p:cNvPr id="49" name="Rounded Rectangle 48"/>
          <p:cNvSpPr/>
          <p:nvPr/>
        </p:nvSpPr>
        <p:spPr>
          <a:xfrm>
            <a:off x="1728216" y="3428999"/>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1755648" y="3428999"/>
            <a:ext cx="1033271" cy="182880"/>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設計（機能・設計仕様）</a:t>
            </a:r>
          </a:p>
        </p:txBody>
      </p:sp>
      <p:sp>
        <p:nvSpPr>
          <p:cNvPr id="51" name="Rounded Rectangle 50"/>
          <p:cNvSpPr/>
          <p:nvPr/>
        </p:nvSpPr>
        <p:spPr>
          <a:xfrm>
            <a:off x="521208" y="3730752"/>
            <a:ext cx="2359152"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21208" y="3749039"/>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開発・構成</a:t>
            </a:r>
          </a:p>
        </p:txBody>
      </p:sp>
      <p:sp>
        <p:nvSpPr>
          <p:cNvPr id="53" name="Rounded Rectangle 52"/>
          <p:cNvSpPr/>
          <p:nvPr/>
        </p:nvSpPr>
        <p:spPr>
          <a:xfrm>
            <a:off x="585216" y="3986783"/>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612648" y="3986783"/>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アプリケーション開発</a:t>
            </a:r>
          </a:p>
        </p:txBody>
      </p:sp>
      <p:sp>
        <p:nvSpPr>
          <p:cNvPr id="55" name="Rounded Rectangle 54"/>
          <p:cNvSpPr/>
          <p:nvPr/>
        </p:nvSpPr>
        <p:spPr>
          <a:xfrm>
            <a:off x="1728216" y="3986783"/>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755648" y="3986783"/>
            <a:ext cx="1033271" cy="182880"/>
          </a:xfrm>
          <a:prstGeom prst="rect">
            <a:avLst/>
          </a:prstGeom>
          <a:noFill/>
        </p:spPr>
        <p:txBody>
          <a:bodyPr wrap="square" lIns="0" rIns="0" tIns="0" bIns="0" anchor="ctr">
            <a:spAutoFit/>
          </a:bodyPr>
          <a:lstStyle/>
          <a:p>
            <a:pPr algn="ctr"/>
            <a:r>
              <a:rPr sz="675" b="0">
                <a:solidFill>
                  <a:srgbClr val="1F2E35"/>
                </a:solidFill>
                <a:latin typeface="Yu Gothic"/>
                <a:ea typeface="Yu Gothic"/>
                <a:cs typeface="Yu Gothic"/>
              </a:rPr>
              <a:t>パッケージ・SaaSの設定</a:t>
            </a:r>
          </a:p>
        </p:txBody>
      </p:sp>
      <p:sp>
        <p:nvSpPr>
          <p:cNvPr id="57" name="Rounded Rectangle 56"/>
          <p:cNvSpPr/>
          <p:nvPr/>
        </p:nvSpPr>
        <p:spPr>
          <a:xfrm>
            <a:off x="585216" y="4197096"/>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612648" y="4197096"/>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システム連携</a:t>
            </a:r>
          </a:p>
        </p:txBody>
      </p:sp>
      <p:sp>
        <p:nvSpPr>
          <p:cNvPr id="59" name="Rounded Rectangle 58"/>
          <p:cNvSpPr/>
          <p:nvPr/>
        </p:nvSpPr>
        <p:spPr>
          <a:xfrm>
            <a:off x="521208" y="4498848"/>
            <a:ext cx="2359152"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21208" y="4517136"/>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テスト・リリース</a:t>
            </a:r>
          </a:p>
        </p:txBody>
      </p:sp>
      <p:sp>
        <p:nvSpPr>
          <p:cNvPr id="61" name="Rounded Rectangle 60"/>
          <p:cNvSpPr/>
          <p:nvPr/>
        </p:nvSpPr>
        <p:spPr>
          <a:xfrm>
            <a:off x="585216" y="4754879"/>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612648" y="4754879"/>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テスト管理</a:t>
            </a:r>
          </a:p>
        </p:txBody>
      </p:sp>
      <p:sp>
        <p:nvSpPr>
          <p:cNvPr id="63" name="Rounded Rectangle 62"/>
          <p:cNvSpPr/>
          <p:nvPr/>
        </p:nvSpPr>
        <p:spPr>
          <a:xfrm>
            <a:off x="1728216" y="4754879"/>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755648" y="4754879"/>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データ移行</a:t>
            </a:r>
          </a:p>
        </p:txBody>
      </p:sp>
      <p:sp>
        <p:nvSpPr>
          <p:cNvPr id="65" name="Rounded Rectangle 64"/>
          <p:cNvSpPr/>
          <p:nvPr/>
        </p:nvSpPr>
        <p:spPr>
          <a:xfrm>
            <a:off x="585216" y="4965192"/>
            <a:ext cx="1088136" cy="182880"/>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12648" y="4965192"/>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リリース・配備</a:t>
            </a:r>
          </a:p>
        </p:txBody>
      </p:sp>
      <p:sp>
        <p:nvSpPr>
          <p:cNvPr id="67" name="Chevron 66"/>
          <p:cNvSpPr/>
          <p:nvPr/>
        </p:nvSpPr>
        <p:spPr>
          <a:xfrm rot="5400000">
            <a:off x="1641348" y="2084831"/>
            <a:ext cx="118872" cy="310896"/>
          </a:xfrm>
          <a:prstGeom prst="chevron">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Chevron 67"/>
          <p:cNvSpPr/>
          <p:nvPr/>
        </p:nvSpPr>
        <p:spPr>
          <a:xfrm rot="5400000">
            <a:off x="1641348" y="5705856"/>
            <a:ext cx="118872" cy="310896"/>
          </a:xfrm>
          <a:prstGeom prst="chevron">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3028950" y="2304288"/>
            <a:ext cx="2487168" cy="3474720"/>
          </a:xfrm>
          <a:prstGeom prst="roundRect">
            <a:avLst>
              <a:gd name="adj" fmla="val 5000"/>
            </a:avLst>
          </a:prstGeom>
          <a:solidFill>
            <a:srgbClr val="E6F6F0"/>
          </a:solidFill>
          <a:ln w="19050">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3028950" y="2340864"/>
            <a:ext cx="2487168" cy="256032"/>
          </a:xfrm>
          <a:prstGeom prst="rect">
            <a:avLst/>
          </a:prstGeom>
          <a:noFill/>
        </p:spPr>
        <p:txBody>
          <a:bodyPr wrap="square" lIns="0" rIns="0" tIns="0" bIns="0" anchor="ctr">
            <a:spAutoFit/>
          </a:bodyPr>
          <a:lstStyle/>
          <a:p>
            <a:pPr algn="ctr"/>
            <a:r>
              <a:rPr sz="900" b="1">
                <a:solidFill>
                  <a:srgbClr val="0E7A52"/>
                </a:solidFill>
                <a:latin typeface="Yu Gothic"/>
                <a:ea typeface="Yu Gothic"/>
                <a:cs typeface="Yu Gothic"/>
              </a:rPr>
              <a:t>Service Management &amp; Operations</a:t>
            </a:r>
          </a:p>
        </p:txBody>
      </p:sp>
      <p:sp>
        <p:nvSpPr>
          <p:cNvPr id="71" name="Rounded Rectangle 70"/>
          <p:cNvSpPr/>
          <p:nvPr/>
        </p:nvSpPr>
        <p:spPr>
          <a:xfrm>
            <a:off x="3092958" y="2615184"/>
            <a:ext cx="2359152" cy="502920"/>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3092958" y="2633472"/>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サービスカタログ・サービスレベル管理</a:t>
            </a:r>
          </a:p>
        </p:txBody>
      </p:sp>
      <p:sp>
        <p:nvSpPr>
          <p:cNvPr id="73" name="Rounded Rectangle 72"/>
          <p:cNvSpPr/>
          <p:nvPr/>
        </p:nvSpPr>
        <p:spPr>
          <a:xfrm>
            <a:off x="3156966" y="2871216"/>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3184398" y="2871216"/>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サービスカタログ管理</a:t>
            </a:r>
          </a:p>
        </p:txBody>
      </p:sp>
      <p:sp>
        <p:nvSpPr>
          <p:cNvPr id="75" name="Rounded Rectangle 74"/>
          <p:cNvSpPr/>
          <p:nvPr/>
        </p:nvSpPr>
        <p:spPr>
          <a:xfrm>
            <a:off x="4299966" y="2871216"/>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4327398" y="2871216"/>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サービスレベル管理</a:t>
            </a:r>
          </a:p>
        </p:txBody>
      </p:sp>
      <p:sp>
        <p:nvSpPr>
          <p:cNvPr id="77" name="Rounded Rectangle 76"/>
          <p:cNvSpPr/>
          <p:nvPr/>
        </p:nvSpPr>
        <p:spPr>
          <a:xfrm>
            <a:off x="3092958" y="3172968"/>
            <a:ext cx="2359152" cy="502920"/>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3092958" y="3191256"/>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サービスデスク・要求実現</a:t>
            </a:r>
          </a:p>
        </p:txBody>
      </p:sp>
      <p:sp>
        <p:nvSpPr>
          <p:cNvPr id="79" name="Rounded Rectangle 78"/>
          <p:cNvSpPr/>
          <p:nvPr/>
        </p:nvSpPr>
        <p:spPr>
          <a:xfrm>
            <a:off x="3156966" y="3428999"/>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3184398" y="3428999"/>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サービスデスク</a:t>
            </a:r>
          </a:p>
        </p:txBody>
      </p:sp>
      <p:sp>
        <p:nvSpPr>
          <p:cNvPr id="81" name="Rounded Rectangle 80"/>
          <p:cNvSpPr/>
          <p:nvPr/>
        </p:nvSpPr>
        <p:spPr>
          <a:xfrm>
            <a:off x="4299966" y="3428999"/>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4327398" y="3428999"/>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要求実現</a:t>
            </a:r>
          </a:p>
        </p:txBody>
      </p:sp>
      <p:sp>
        <p:nvSpPr>
          <p:cNvPr id="83" name="Rounded Rectangle 82"/>
          <p:cNvSpPr/>
          <p:nvPr/>
        </p:nvSpPr>
        <p:spPr>
          <a:xfrm>
            <a:off x="3092958" y="3730752"/>
            <a:ext cx="2359152"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3092958" y="3749039"/>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IT運用・監視</a:t>
            </a:r>
          </a:p>
        </p:txBody>
      </p:sp>
      <p:sp>
        <p:nvSpPr>
          <p:cNvPr id="85" name="Rounded Rectangle 84"/>
          <p:cNvSpPr/>
          <p:nvPr/>
        </p:nvSpPr>
        <p:spPr>
          <a:xfrm>
            <a:off x="3156966" y="3986783"/>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3184398" y="3986783"/>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監視・イベント管理</a:t>
            </a:r>
          </a:p>
        </p:txBody>
      </p:sp>
      <p:sp>
        <p:nvSpPr>
          <p:cNvPr id="87" name="Rounded Rectangle 86"/>
          <p:cNvSpPr/>
          <p:nvPr/>
        </p:nvSpPr>
        <p:spPr>
          <a:xfrm>
            <a:off x="4299966" y="3986783"/>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4327398" y="3986783"/>
            <a:ext cx="1033271" cy="182880"/>
          </a:xfrm>
          <a:prstGeom prst="rect">
            <a:avLst/>
          </a:prstGeom>
          <a:noFill/>
        </p:spPr>
        <p:txBody>
          <a:bodyPr wrap="square" lIns="0" rIns="0" tIns="0" bIns="0" anchor="ctr">
            <a:spAutoFit/>
          </a:bodyPr>
          <a:lstStyle/>
          <a:p>
            <a:pPr algn="ctr"/>
            <a:r>
              <a:rPr sz="650" b="0">
                <a:solidFill>
                  <a:srgbClr val="1F2E35"/>
                </a:solidFill>
                <a:latin typeface="Yu Gothic"/>
                <a:ea typeface="Yu Gothic"/>
                <a:cs typeface="Yu Gothic"/>
              </a:rPr>
              <a:t>ジョブ・バックアップ運用</a:t>
            </a:r>
          </a:p>
        </p:txBody>
      </p:sp>
      <p:sp>
        <p:nvSpPr>
          <p:cNvPr id="89" name="Rounded Rectangle 88"/>
          <p:cNvSpPr/>
          <p:nvPr/>
        </p:nvSpPr>
        <p:spPr>
          <a:xfrm>
            <a:off x="3156966" y="4197096"/>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3184398" y="4197096"/>
            <a:ext cx="1033271" cy="182880"/>
          </a:xfrm>
          <a:prstGeom prst="rect">
            <a:avLst/>
          </a:prstGeom>
          <a:noFill/>
        </p:spPr>
        <p:txBody>
          <a:bodyPr wrap="square" lIns="0" rIns="0" tIns="0" bIns="0" anchor="ctr">
            <a:spAutoFit/>
          </a:bodyPr>
          <a:lstStyle/>
          <a:p>
            <a:pPr algn="ctr"/>
            <a:r>
              <a:rPr sz="650" b="0">
                <a:solidFill>
                  <a:srgbClr val="1F2E35"/>
                </a:solidFill>
                <a:latin typeface="Yu Gothic"/>
                <a:ea typeface="Yu Gothic"/>
                <a:cs typeface="Yu Gothic"/>
              </a:rPr>
              <a:t>キャパシティ・可用性管理</a:t>
            </a:r>
          </a:p>
        </p:txBody>
      </p:sp>
      <p:sp>
        <p:nvSpPr>
          <p:cNvPr id="91" name="Rounded Rectangle 90"/>
          <p:cNvSpPr/>
          <p:nvPr/>
        </p:nvSpPr>
        <p:spPr>
          <a:xfrm>
            <a:off x="3092958" y="4498848"/>
            <a:ext cx="2359152"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3092958" y="4517136"/>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インシデント・問題管理</a:t>
            </a:r>
          </a:p>
        </p:txBody>
      </p:sp>
      <p:sp>
        <p:nvSpPr>
          <p:cNvPr id="93" name="Rounded Rectangle 92"/>
          <p:cNvSpPr/>
          <p:nvPr/>
        </p:nvSpPr>
        <p:spPr>
          <a:xfrm>
            <a:off x="3156966" y="4754879"/>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TextBox 93"/>
          <p:cNvSpPr txBox="1"/>
          <p:nvPr/>
        </p:nvSpPr>
        <p:spPr>
          <a:xfrm>
            <a:off x="3184398" y="4754879"/>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インシデント管理</a:t>
            </a:r>
          </a:p>
        </p:txBody>
      </p:sp>
      <p:sp>
        <p:nvSpPr>
          <p:cNvPr id="95" name="Rounded Rectangle 94"/>
          <p:cNvSpPr/>
          <p:nvPr/>
        </p:nvSpPr>
        <p:spPr>
          <a:xfrm>
            <a:off x="4299966" y="4754879"/>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4327398" y="4754879"/>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問題管理</a:t>
            </a:r>
          </a:p>
        </p:txBody>
      </p:sp>
      <p:sp>
        <p:nvSpPr>
          <p:cNvPr id="97" name="Rounded Rectangle 96"/>
          <p:cNvSpPr/>
          <p:nvPr/>
        </p:nvSpPr>
        <p:spPr>
          <a:xfrm>
            <a:off x="3156966" y="4965192"/>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TextBox 97"/>
          <p:cNvSpPr txBox="1"/>
          <p:nvPr/>
        </p:nvSpPr>
        <p:spPr>
          <a:xfrm>
            <a:off x="3184398" y="4965192"/>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IT事業継続・災害復旧</a:t>
            </a:r>
          </a:p>
        </p:txBody>
      </p:sp>
      <p:sp>
        <p:nvSpPr>
          <p:cNvPr id="99" name="Rounded Rectangle 98"/>
          <p:cNvSpPr/>
          <p:nvPr/>
        </p:nvSpPr>
        <p:spPr>
          <a:xfrm>
            <a:off x="3092958" y="5266944"/>
            <a:ext cx="2359152" cy="502920"/>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3092958" y="5285231"/>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変更・構成管理★</a:t>
            </a:r>
          </a:p>
        </p:txBody>
      </p:sp>
      <p:sp>
        <p:nvSpPr>
          <p:cNvPr id="101" name="Rounded Rectangle 100"/>
          <p:cNvSpPr/>
          <p:nvPr/>
        </p:nvSpPr>
        <p:spPr>
          <a:xfrm>
            <a:off x="3156966" y="5522975"/>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TextBox 101"/>
          <p:cNvSpPr txBox="1"/>
          <p:nvPr/>
        </p:nvSpPr>
        <p:spPr>
          <a:xfrm>
            <a:off x="3184398" y="5522975"/>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変更管理★</a:t>
            </a:r>
          </a:p>
        </p:txBody>
      </p:sp>
      <p:sp>
        <p:nvSpPr>
          <p:cNvPr id="103" name="Rounded Rectangle 102"/>
          <p:cNvSpPr/>
          <p:nvPr/>
        </p:nvSpPr>
        <p:spPr>
          <a:xfrm>
            <a:off x="4299966" y="5522975"/>
            <a:ext cx="1088136" cy="182880"/>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4327398" y="5522975"/>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構成管理</a:t>
            </a:r>
          </a:p>
        </p:txBody>
      </p:sp>
      <p:sp>
        <p:nvSpPr>
          <p:cNvPr id="105" name="Chevron 104"/>
          <p:cNvSpPr/>
          <p:nvPr/>
        </p:nvSpPr>
        <p:spPr>
          <a:xfrm rot="5400000">
            <a:off x="4213098" y="2084831"/>
            <a:ext cx="118872" cy="310896"/>
          </a:xfrm>
          <a:prstGeom prst="chevron">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Chevron 105"/>
          <p:cNvSpPr/>
          <p:nvPr/>
        </p:nvSpPr>
        <p:spPr>
          <a:xfrm rot="5400000">
            <a:off x="4213098" y="5705856"/>
            <a:ext cx="118872" cy="310896"/>
          </a:xfrm>
          <a:prstGeom prst="chevron">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ounded Rectangle 106"/>
          <p:cNvSpPr/>
          <p:nvPr/>
        </p:nvSpPr>
        <p:spPr>
          <a:xfrm>
            <a:off x="5600700" y="2304288"/>
            <a:ext cx="1737360" cy="3474720"/>
          </a:xfrm>
          <a:prstGeom prst="roundRect">
            <a:avLst>
              <a:gd name="adj" fmla="val 5000"/>
            </a:avLst>
          </a:prstGeom>
          <a:solidFill>
            <a:srgbClr val="EEECF7"/>
          </a:solidFill>
          <a:ln w="19050">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5600700" y="2340864"/>
            <a:ext cx="1737360" cy="256032"/>
          </a:xfrm>
          <a:prstGeom prst="rect">
            <a:avLst/>
          </a:prstGeom>
          <a:noFill/>
        </p:spPr>
        <p:txBody>
          <a:bodyPr wrap="square" lIns="0" rIns="0" tIns="0" bIns="0" anchor="ctr">
            <a:spAutoFit/>
          </a:bodyPr>
          <a:lstStyle/>
          <a:p>
            <a:pPr algn="ctr"/>
            <a:r>
              <a:rPr sz="700" b="1">
                <a:solidFill>
                  <a:srgbClr val="4A3AA7"/>
                </a:solidFill>
                <a:latin typeface="Yu Gothic"/>
                <a:ea typeface="Yu Gothic"/>
                <a:cs typeface="Yu Gothic"/>
              </a:rPr>
              <a:t>Platform &amp; Infrastructure</a:t>
            </a:r>
          </a:p>
        </p:txBody>
      </p:sp>
      <p:sp>
        <p:nvSpPr>
          <p:cNvPr id="109" name="Rounded Rectangle 108"/>
          <p:cNvSpPr/>
          <p:nvPr/>
        </p:nvSpPr>
        <p:spPr>
          <a:xfrm>
            <a:off x="5664708" y="2615184"/>
            <a:ext cx="1609343"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5664708" y="2633472"/>
            <a:ext cx="1609343"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クラウド・データセンター</a:t>
            </a:r>
          </a:p>
        </p:txBody>
      </p:sp>
      <p:sp>
        <p:nvSpPr>
          <p:cNvPr id="111" name="Rounded Rectangle 110"/>
          <p:cNvSpPr/>
          <p:nvPr/>
        </p:nvSpPr>
        <p:spPr>
          <a:xfrm>
            <a:off x="5728716" y="2871216"/>
            <a:ext cx="1481327" cy="182880"/>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5756148" y="2871216"/>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クラウド基盤管理</a:t>
            </a:r>
          </a:p>
        </p:txBody>
      </p:sp>
      <p:sp>
        <p:nvSpPr>
          <p:cNvPr id="113" name="Rounded Rectangle 112"/>
          <p:cNvSpPr/>
          <p:nvPr/>
        </p:nvSpPr>
        <p:spPr>
          <a:xfrm>
            <a:off x="5728716" y="3081528"/>
            <a:ext cx="1481327" cy="182880"/>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TextBox 113"/>
          <p:cNvSpPr txBox="1"/>
          <p:nvPr/>
        </p:nvSpPr>
        <p:spPr>
          <a:xfrm>
            <a:off x="5756148" y="3081528"/>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サーバー・ストレージ管理</a:t>
            </a:r>
          </a:p>
        </p:txBody>
      </p:sp>
      <p:sp>
        <p:nvSpPr>
          <p:cNvPr id="115" name="Rounded Rectangle 114"/>
          <p:cNvSpPr/>
          <p:nvPr/>
        </p:nvSpPr>
        <p:spPr>
          <a:xfrm>
            <a:off x="5664708" y="3383280"/>
            <a:ext cx="1609343"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TextBox 115"/>
          <p:cNvSpPr txBox="1"/>
          <p:nvPr/>
        </p:nvSpPr>
        <p:spPr>
          <a:xfrm>
            <a:off x="5664708" y="3401568"/>
            <a:ext cx="1609343"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ネットワーク</a:t>
            </a:r>
          </a:p>
        </p:txBody>
      </p:sp>
      <p:sp>
        <p:nvSpPr>
          <p:cNvPr id="117" name="Rounded Rectangle 116"/>
          <p:cNvSpPr/>
          <p:nvPr/>
        </p:nvSpPr>
        <p:spPr>
          <a:xfrm>
            <a:off x="5728716" y="3639312"/>
            <a:ext cx="1481327" cy="182880"/>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TextBox 117"/>
          <p:cNvSpPr txBox="1"/>
          <p:nvPr/>
        </p:nvSpPr>
        <p:spPr>
          <a:xfrm>
            <a:off x="5756148" y="3639312"/>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社内・拠点ネットワーク</a:t>
            </a:r>
          </a:p>
        </p:txBody>
      </p:sp>
      <p:sp>
        <p:nvSpPr>
          <p:cNvPr id="119" name="Rounded Rectangle 118"/>
          <p:cNvSpPr/>
          <p:nvPr/>
        </p:nvSpPr>
        <p:spPr>
          <a:xfrm>
            <a:off x="5728716" y="3849624"/>
            <a:ext cx="1481327" cy="182880"/>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5756148" y="3849624"/>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リモートアクセス・外部接続</a:t>
            </a:r>
          </a:p>
        </p:txBody>
      </p:sp>
      <p:sp>
        <p:nvSpPr>
          <p:cNvPr id="121" name="Rounded Rectangle 120"/>
          <p:cNvSpPr/>
          <p:nvPr/>
        </p:nvSpPr>
        <p:spPr>
          <a:xfrm>
            <a:off x="5664708" y="4151376"/>
            <a:ext cx="1609343"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TextBox 121"/>
          <p:cNvSpPr txBox="1"/>
          <p:nvPr/>
        </p:nvSpPr>
        <p:spPr>
          <a:xfrm>
            <a:off x="5664708" y="4169663"/>
            <a:ext cx="1609343"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エンドユーザー環境</a:t>
            </a:r>
          </a:p>
        </p:txBody>
      </p:sp>
      <p:sp>
        <p:nvSpPr>
          <p:cNvPr id="123" name="Rounded Rectangle 122"/>
          <p:cNvSpPr/>
          <p:nvPr/>
        </p:nvSpPr>
        <p:spPr>
          <a:xfrm>
            <a:off x="5728716" y="4407407"/>
            <a:ext cx="1481327" cy="182880"/>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TextBox 123"/>
          <p:cNvSpPr txBox="1"/>
          <p:nvPr/>
        </p:nvSpPr>
        <p:spPr>
          <a:xfrm>
            <a:off x="5756148" y="4407407"/>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端末管理</a:t>
            </a:r>
          </a:p>
        </p:txBody>
      </p:sp>
      <p:sp>
        <p:nvSpPr>
          <p:cNvPr id="125" name="Rounded Rectangle 124"/>
          <p:cNvSpPr/>
          <p:nvPr/>
        </p:nvSpPr>
        <p:spPr>
          <a:xfrm>
            <a:off x="5728716" y="4617720"/>
            <a:ext cx="1481327" cy="182880"/>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extBox 125"/>
          <p:cNvSpPr txBox="1"/>
          <p:nvPr/>
        </p:nvSpPr>
        <p:spPr>
          <a:xfrm>
            <a:off x="5756148" y="4617720"/>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コラボレーション環境</a:t>
            </a:r>
          </a:p>
        </p:txBody>
      </p:sp>
      <p:sp>
        <p:nvSpPr>
          <p:cNvPr id="127" name="Rounded Rectangle 126"/>
          <p:cNvSpPr/>
          <p:nvPr/>
        </p:nvSpPr>
        <p:spPr>
          <a:xfrm>
            <a:off x="5664708" y="4919472"/>
            <a:ext cx="1609343"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TextBox 127"/>
          <p:cNvSpPr txBox="1"/>
          <p:nvPr/>
        </p:nvSpPr>
        <p:spPr>
          <a:xfrm>
            <a:off x="5664708" y="4937759"/>
            <a:ext cx="1609343"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IT資産・ライセンス管理</a:t>
            </a:r>
          </a:p>
        </p:txBody>
      </p:sp>
      <p:sp>
        <p:nvSpPr>
          <p:cNvPr id="129" name="Rounded Rectangle 128"/>
          <p:cNvSpPr/>
          <p:nvPr/>
        </p:nvSpPr>
        <p:spPr>
          <a:xfrm>
            <a:off x="5728716" y="5175503"/>
            <a:ext cx="1481327" cy="182880"/>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5756148" y="5175503"/>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ハードウェア資産管理</a:t>
            </a:r>
          </a:p>
        </p:txBody>
      </p:sp>
      <p:sp>
        <p:nvSpPr>
          <p:cNvPr id="131" name="Rounded Rectangle 130"/>
          <p:cNvSpPr/>
          <p:nvPr/>
        </p:nvSpPr>
        <p:spPr>
          <a:xfrm>
            <a:off x="5728716" y="5385816"/>
            <a:ext cx="1481327" cy="182880"/>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5756148" y="5385816"/>
            <a:ext cx="1426463" cy="182880"/>
          </a:xfrm>
          <a:prstGeom prst="rect">
            <a:avLst/>
          </a:prstGeom>
          <a:noFill/>
        </p:spPr>
        <p:txBody>
          <a:bodyPr wrap="square" lIns="0" rIns="0" tIns="0" bIns="0" anchor="ctr">
            <a:spAutoFit/>
          </a:bodyPr>
          <a:lstStyle/>
          <a:p>
            <a:pPr algn="ctr"/>
            <a:r>
              <a:rPr sz="650" b="0">
                <a:solidFill>
                  <a:srgbClr val="1F2E35"/>
                </a:solidFill>
                <a:latin typeface="Yu Gothic"/>
                <a:ea typeface="Yu Gothic"/>
                <a:cs typeface="Yu Gothic"/>
              </a:rPr>
              <a:t>ソフトウェアライセンス・SaaS管理</a:t>
            </a:r>
          </a:p>
        </p:txBody>
      </p:sp>
      <p:sp>
        <p:nvSpPr>
          <p:cNvPr id="133" name="Chevron 132"/>
          <p:cNvSpPr/>
          <p:nvPr/>
        </p:nvSpPr>
        <p:spPr>
          <a:xfrm rot="5400000">
            <a:off x="6409944" y="2084831"/>
            <a:ext cx="118872" cy="310896"/>
          </a:xfrm>
          <a:prstGeom prst="chevron">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Chevron 133"/>
          <p:cNvSpPr/>
          <p:nvPr/>
        </p:nvSpPr>
        <p:spPr>
          <a:xfrm rot="5400000">
            <a:off x="6409944" y="5705856"/>
            <a:ext cx="118872" cy="310896"/>
          </a:xfrm>
          <a:prstGeom prst="chevron">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Rounded Rectangle 134"/>
          <p:cNvSpPr/>
          <p:nvPr/>
        </p:nvSpPr>
        <p:spPr>
          <a:xfrm>
            <a:off x="7422642" y="2304288"/>
            <a:ext cx="1737360" cy="3474720"/>
          </a:xfrm>
          <a:prstGeom prst="roundRect">
            <a:avLst>
              <a:gd name="adj" fmla="val 5000"/>
            </a:avLst>
          </a:prstGeom>
          <a:solidFill>
            <a:srgbClr val="FDEEE7"/>
          </a:solidFill>
          <a:ln w="19050">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7422642" y="2340864"/>
            <a:ext cx="1737360" cy="256032"/>
          </a:xfrm>
          <a:prstGeom prst="rect">
            <a:avLst/>
          </a:prstGeom>
          <a:noFill/>
        </p:spPr>
        <p:txBody>
          <a:bodyPr wrap="square" lIns="0" rIns="0" tIns="0" bIns="0" anchor="ctr">
            <a:spAutoFit/>
          </a:bodyPr>
          <a:lstStyle/>
          <a:p>
            <a:pPr algn="ctr"/>
            <a:r>
              <a:rPr sz="1200" b="1">
                <a:solidFill>
                  <a:srgbClr val="C24E1C"/>
                </a:solidFill>
                <a:latin typeface="Yu Gothic"/>
                <a:ea typeface="Yu Gothic"/>
                <a:cs typeface="Yu Gothic"/>
              </a:rPr>
              <a:t>Cybersecurity</a:t>
            </a:r>
          </a:p>
        </p:txBody>
      </p:sp>
      <p:sp>
        <p:nvSpPr>
          <p:cNvPr id="137" name="Rounded Rectangle 136"/>
          <p:cNvSpPr/>
          <p:nvPr/>
        </p:nvSpPr>
        <p:spPr>
          <a:xfrm>
            <a:off x="7486650" y="2615184"/>
            <a:ext cx="1609343"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TextBox 137"/>
          <p:cNvSpPr txBox="1"/>
          <p:nvPr/>
        </p:nvSpPr>
        <p:spPr>
          <a:xfrm>
            <a:off x="7486650" y="2633472"/>
            <a:ext cx="1609343"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セキュリティガバナンス</a:t>
            </a:r>
          </a:p>
        </p:txBody>
      </p:sp>
      <p:sp>
        <p:nvSpPr>
          <p:cNvPr id="139" name="Rounded Rectangle 138"/>
          <p:cNvSpPr/>
          <p:nvPr/>
        </p:nvSpPr>
        <p:spPr>
          <a:xfrm>
            <a:off x="7550658" y="2871216"/>
            <a:ext cx="1481327" cy="182880"/>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TextBox 139"/>
          <p:cNvSpPr txBox="1"/>
          <p:nvPr/>
        </p:nvSpPr>
        <p:spPr>
          <a:xfrm>
            <a:off x="7578090" y="2871216"/>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セキュリティ方針・リスク評価</a:t>
            </a:r>
          </a:p>
        </p:txBody>
      </p:sp>
      <p:sp>
        <p:nvSpPr>
          <p:cNvPr id="141" name="Rounded Rectangle 140"/>
          <p:cNvSpPr/>
          <p:nvPr/>
        </p:nvSpPr>
        <p:spPr>
          <a:xfrm>
            <a:off x="7550658" y="3081528"/>
            <a:ext cx="1481327" cy="182880"/>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TextBox 141"/>
          <p:cNvSpPr txBox="1"/>
          <p:nvPr/>
        </p:nvSpPr>
        <p:spPr>
          <a:xfrm>
            <a:off x="7578090" y="3081528"/>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セキュリティ教育・訓練</a:t>
            </a:r>
          </a:p>
        </p:txBody>
      </p:sp>
      <p:sp>
        <p:nvSpPr>
          <p:cNvPr id="143" name="Rounded Rectangle 142"/>
          <p:cNvSpPr/>
          <p:nvPr/>
        </p:nvSpPr>
        <p:spPr>
          <a:xfrm>
            <a:off x="7486650" y="3383280"/>
            <a:ext cx="1609343" cy="923544"/>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TextBox 143"/>
          <p:cNvSpPr txBox="1"/>
          <p:nvPr/>
        </p:nvSpPr>
        <p:spPr>
          <a:xfrm>
            <a:off x="7486650" y="3401568"/>
            <a:ext cx="1609343"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ID・アクセス管理★</a:t>
            </a:r>
          </a:p>
        </p:txBody>
      </p:sp>
      <p:sp>
        <p:nvSpPr>
          <p:cNvPr id="145" name="Rounded Rectangle 144"/>
          <p:cNvSpPr/>
          <p:nvPr/>
        </p:nvSpPr>
        <p:spPr>
          <a:xfrm>
            <a:off x="7550658" y="3639312"/>
            <a:ext cx="1481327" cy="182880"/>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TextBox 145"/>
          <p:cNvSpPr txBox="1"/>
          <p:nvPr/>
        </p:nvSpPr>
        <p:spPr>
          <a:xfrm>
            <a:off x="7578090" y="3639312"/>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ID管理（入社・異動・退職）</a:t>
            </a:r>
          </a:p>
        </p:txBody>
      </p:sp>
      <p:sp>
        <p:nvSpPr>
          <p:cNvPr id="147" name="Rounded Rectangle 146"/>
          <p:cNvSpPr/>
          <p:nvPr/>
        </p:nvSpPr>
        <p:spPr>
          <a:xfrm>
            <a:off x="7550658" y="3849624"/>
            <a:ext cx="1481327" cy="182880"/>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TextBox 147"/>
          <p:cNvSpPr txBox="1"/>
          <p:nvPr/>
        </p:nvSpPr>
        <p:spPr>
          <a:xfrm>
            <a:off x="7578090" y="3849624"/>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アクセス権管理・定期棚卸★</a:t>
            </a:r>
          </a:p>
        </p:txBody>
      </p:sp>
      <p:sp>
        <p:nvSpPr>
          <p:cNvPr id="149" name="Rounded Rectangle 148"/>
          <p:cNvSpPr/>
          <p:nvPr/>
        </p:nvSpPr>
        <p:spPr>
          <a:xfrm>
            <a:off x="7550658" y="4059936"/>
            <a:ext cx="1481327" cy="182880"/>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TextBox 149"/>
          <p:cNvSpPr txBox="1"/>
          <p:nvPr/>
        </p:nvSpPr>
        <p:spPr>
          <a:xfrm>
            <a:off x="7578090" y="4059936"/>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特権ID管理</a:t>
            </a:r>
          </a:p>
        </p:txBody>
      </p:sp>
      <p:sp>
        <p:nvSpPr>
          <p:cNvPr id="151" name="Rounded Rectangle 150"/>
          <p:cNvSpPr/>
          <p:nvPr/>
        </p:nvSpPr>
        <p:spPr>
          <a:xfrm>
            <a:off x="7486650" y="4361688"/>
            <a:ext cx="1609343" cy="923544"/>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TextBox 151"/>
          <p:cNvSpPr txBox="1"/>
          <p:nvPr/>
        </p:nvSpPr>
        <p:spPr>
          <a:xfrm>
            <a:off x="7486650" y="4379976"/>
            <a:ext cx="1609343"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セキュリティ運用</a:t>
            </a:r>
          </a:p>
        </p:txBody>
      </p:sp>
      <p:sp>
        <p:nvSpPr>
          <p:cNvPr id="153" name="Rounded Rectangle 152"/>
          <p:cNvSpPr/>
          <p:nvPr/>
        </p:nvSpPr>
        <p:spPr>
          <a:xfrm>
            <a:off x="7550658" y="4617720"/>
            <a:ext cx="1481327" cy="182880"/>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TextBox 153"/>
          <p:cNvSpPr txBox="1"/>
          <p:nvPr/>
        </p:nvSpPr>
        <p:spPr>
          <a:xfrm>
            <a:off x="7578090" y="4617720"/>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脆弱性管理</a:t>
            </a:r>
          </a:p>
        </p:txBody>
      </p:sp>
      <p:sp>
        <p:nvSpPr>
          <p:cNvPr id="155" name="Rounded Rectangle 154"/>
          <p:cNvSpPr/>
          <p:nvPr/>
        </p:nvSpPr>
        <p:spPr>
          <a:xfrm>
            <a:off x="7550658" y="4828032"/>
            <a:ext cx="1481327" cy="182880"/>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TextBox 155"/>
          <p:cNvSpPr txBox="1"/>
          <p:nvPr/>
        </p:nvSpPr>
        <p:spPr>
          <a:xfrm>
            <a:off x="7578090" y="4828032"/>
            <a:ext cx="142646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脅威監視（SOC）</a:t>
            </a:r>
          </a:p>
        </p:txBody>
      </p:sp>
      <p:sp>
        <p:nvSpPr>
          <p:cNvPr id="157" name="Rounded Rectangle 156"/>
          <p:cNvSpPr/>
          <p:nvPr/>
        </p:nvSpPr>
        <p:spPr>
          <a:xfrm>
            <a:off x="7550658" y="5038344"/>
            <a:ext cx="1481327" cy="182880"/>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TextBox 157"/>
          <p:cNvSpPr txBox="1"/>
          <p:nvPr/>
        </p:nvSpPr>
        <p:spPr>
          <a:xfrm>
            <a:off x="7578090" y="5038344"/>
            <a:ext cx="1426463" cy="182880"/>
          </a:xfrm>
          <a:prstGeom prst="rect">
            <a:avLst/>
          </a:prstGeom>
          <a:noFill/>
        </p:spPr>
        <p:txBody>
          <a:bodyPr wrap="square" lIns="0" rIns="0" tIns="0" bIns="0" anchor="ctr">
            <a:spAutoFit/>
          </a:bodyPr>
          <a:lstStyle/>
          <a:p>
            <a:pPr algn="ctr"/>
            <a:r>
              <a:rPr sz="550" b="0">
                <a:solidFill>
                  <a:srgbClr val="1F2E35"/>
                </a:solidFill>
                <a:latin typeface="Yu Gothic"/>
                <a:ea typeface="Yu Gothic"/>
                <a:cs typeface="Yu Gothic"/>
              </a:rPr>
              <a:t>セキュリティインシデント対応（CSIRT）</a:t>
            </a:r>
          </a:p>
        </p:txBody>
      </p:sp>
      <p:sp>
        <p:nvSpPr>
          <p:cNvPr id="159" name="Chevron 158"/>
          <p:cNvSpPr/>
          <p:nvPr/>
        </p:nvSpPr>
        <p:spPr>
          <a:xfrm rot="5400000">
            <a:off x="8231886" y="2084831"/>
            <a:ext cx="118872" cy="310896"/>
          </a:xfrm>
          <a:prstGeom prst="chevron">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Chevron 159"/>
          <p:cNvSpPr/>
          <p:nvPr/>
        </p:nvSpPr>
        <p:spPr>
          <a:xfrm rot="5400000">
            <a:off x="8231886" y="5705856"/>
            <a:ext cx="118872" cy="310896"/>
          </a:xfrm>
          <a:prstGeom prst="chevron">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1" name="Rounded Rectangle 160"/>
          <p:cNvSpPr/>
          <p:nvPr/>
        </p:nvSpPr>
        <p:spPr>
          <a:xfrm>
            <a:off x="9244584" y="2304288"/>
            <a:ext cx="2487168" cy="3474720"/>
          </a:xfrm>
          <a:prstGeom prst="roundRect">
            <a:avLst>
              <a:gd name="adj" fmla="val 5000"/>
            </a:avLst>
          </a:prstGeom>
          <a:solidFill>
            <a:srgbClr val="FBEAF1"/>
          </a:solidFill>
          <a:ln w="19050">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TextBox 161"/>
          <p:cNvSpPr txBox="1"/>
          <p:nvPr/>
        </p:nvSpPr>
        <p:spPr>
          <a:xfrm>
            <a:off x="9244584" y="2340864"/>
            <a:ext cx="2487168" cy="256032"/>
          </a:xfrm>
          <a:prstGeom prst="rect">
            <a:avLst/>
          </a:prstGeom>
          <a:noFill/>
        </p:spPr>
        <p:txBody>
          <a:bodyPr wrap="square" lIns="0" rIns="0" tIns="0" bIns="0" anchor="ctr">
            <a:spAutoFit/>
          </a:bodyPr>
          <a:lstStyle/>
          <a:p>
            <a:pPr algn="ctr"/>
            <a:r>
              <a:rPr sz="1200" b="1">
                <a:solidFill>
                  <a:srgbClr val="9A2553"/>
                </a:solidFill>
                <a:latin typeface="Yu Gothic"/>
                <a:ea typeface="Yu Gothic"/>
                <a:cs typeface="Yu Gothic"/>
              </a:rPr>
              <a:t>Data &amp; GxP Compliance</a:t>
            </a:r>
          </a:p>
        </p:txBody>
      </p:sp>
      <p:sp>
        <p:nvSpPr>
          <p:cNvPr id="163" name="Rounded Rectangle 162"/>
          <p:cNvSpPr/>
          <p:nvPr/>
        </p:nvSpPr>
        <p:spPr>
          <a:xfrm>
            <a:off x="9308592" y="2615184"/>
            <a:ext cx="2359152"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TextBox 163"/>
          <p:cNvSpPr txBox="1"/>
          <p:nvPr/>
        </p:nvSpPr>
        <p:spPr>
          <a:xfrm>
            <a:off x="9308592" y="2633472"/>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GxPシステム管理（CSV）★</a:t>
            </a:r>
          </a:p>
        </p:txBody>
      </p:sp>
      <p:sp>
        <p:nvSpPr>
          <p:cNvPr id="165" name="Rounded Rectangle 164"/>
          <p:cNvSpPr/>
          <p:nvPr/>
        </p:nvSpPr>
        <p:spPr>
          <a:xfrm>
            <a:off x="9372600" y="2871216"/>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TextBox 165"/>
          <p:cNvSpPr txBox="1"/>
          <p:nvPr/>
        </p:nvSpPr>
        <p:spPr>
          <a:xfrm>
            <a:off x="9400032" y="2871216"/>
            <a:ext cx="1033271" cy="182880"/>
          </a:xfrm>
          <a:prstGeom prst="rect">
            <a:avLst/>
          </a:prstGeom>
          <a:noFill/>
        </p:spPr>
        <p:txBody>
          <a:bodyPr wrap="square" lIns="0" rIns="0" tIns="0" bIns="0" anchor="ctr">
            <a:spAutoFit/>
          </a:bodyPr>
          <a:lstStyle/>
          <a:p>
            <a:pPr algn="ctr"/>
            <a:r>
              <a:rPr sz="525" b="0">
                <a:solidFill>
                  <a:srgbClr val="1F2E35"/>
                </a:solidFill>
                <a:latin typeface="Yu Gothic"/>
                <a:ea typeface="Yu Gothic"/>
                <a:cs typeface="Yu Gothic"/>
              </a:rPr>
              <a:t>GxP該当性評価・システム分類★</a:t>
            </a:r>
          </a:p>
        </p:txBody>
      </p:sp>
      <p:sp>
        <p:nvSpPr>
          <p:cNvPr id="167" name="Rounded Rectangle 166"/>
          <p:cNvSpPr/>
          <p:nvPr/>
        </p:nvSpPr>
        <p:spPr>
          <a:xfrm>
            <a:off x="10515600" y="2871216"/>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10543032" y="2871216"/>
            <a:ext cx="1033271" cy="182880"/>
          </a:xfrm>
          <a:prstGeom prst="rect">
            <a:avLst/>
          </a:prstGeom>
          <a:noFill/>
        </p:spPr>
        <p:txBody>
          <a:bodyPr wrap="square" lIns="0" rIns="0" tIns="0" bIns="0" anchor="ctr">
            <a:spAutoFit/>
          </a:bodyPr>
          <a:lstStyle/>
          <a:p>
            <a:pPr algn="ctr"/>
            <a:r>
              <a:rPr sz="650" b="0">
                <a:solidFill>
                  <a:srgbClr val="1F2E35"/>
                </a:solidFill>
                <a:latin typeface="Yu Gothic"/>
                <a:ea typeface="Yu Gothic"/>
                <a:cs typeface="Yu Gothic"/>
              </a:rPr>
              <a:t>バリデーション（CSV）★</a:t>
            </a:r>
          </a:p>
        </p:txBody>
      </p:sp>
      <p:sp>
        <p:nvSpPr>
          <p:cNvPr id="169" name="Rounded Rectangle 168"/>
          <p:cNvSpPr/>
          <p:nvPr/>
        </p:nvSpPr>
        <p:spPr>
          <a:xfrm>
            <a:off x="9372600" y="3081528"/>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TextBox 169"/>
          <p:cNvSpPr txBox="1"/>
          <p:nvPr/>
        </p:nvSpPr>
        <p:spPr>
          <a:xfrm>
            <a:off x="9400032" y="3081528"/>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定期レビュー★</a:t>
            </a:r>
          </a:p>
        </p:txBody>
      </p:sp>
      <p:sp>
        <p:nvSpPr>
          <p:cNvPr id="171" name="Rounded Rectangle 170"/>
          <p:cNvSpPr/>
          <p:nvPr/>
        </p:nvSpPr>
        <p:spPr>
          <a:xfrm>
            <a:off x="9308592" y="3383280"/>
            <a:ext cx="2359152"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TextBox 171"/>
          <p:cNvSpPr txBox="1"/>
          <p:nvPr/>
        </p:nvSpPr>
        <p:spPr>
          <a:xfrm>
            <a:off x="9308592" y="3401568"/>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データインテグリティ★</a:t>
            </a:r>
          </a:p>
        </p:txBody>
      </p:sp>
      <p:sp>
        <p:nvSpPr>
          <p:cNvPr id="173" name="Rounded Rectangle 172"/>
          <p:cNvSpPr/>
          <p:nvPr/>
        </p:nvSpPr>
        <p:spPr>
          <a:xfrm>
            <a:off x="9372600" y="3639312"/>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TextBox 173"/>
          <p:cNvSpPr txBox="1"/>
          <p:nvPr/>
        </p:nvSpPr>
        <p:spPr>
          <a:xfrm>
            <a:off x="9400032" y="3639312"/>
            <a:ext cx="1033271" cy="182880"/>
          </a:xfrm>
          <a:prstGeom prst="rect">
            <a:avLst/>
          </a:prstGeom>
          <a:noFill/>
        </p:spPr>
        <p:txBody>
          <a:bodyPr wrap="square" lIns="0" rIns="0" tIns="0" bIns="0" anchor="ctr">
            <a:spAutoFit/>
          </a:bodyPr>
          <a:lstStyle/>
          <a:p>
            <a:pPr algn="ctr"/>
            <a:r>
              <a:rPr sz="500" b="0">
                <a:solidFill>
                  <a:srgbClr val="1F2E35"/>
                </a:solidFill>
                <a:latin typeface="Yu Gothic"/>
                <a:ea typeface="Yu Gothic"/>
                <a:cs typeface="Yu Gothic"/>
              </a:rPr>
              <a:t>データインテグリティ管理（ALCOA+）★</a:t>
            </a:r>
          </a:p>
        </p:txBody>
      </p:sp>
      <p:sp>
        <p:nvSpPr>
          <p:cNvPr id="175" name="Rounded Rectangle 174"/>
          <p:cNvSpPr/>
          <p:nvPr/>
        </p:nvSpPr>
        <p:spPr>
          <a:xfrm>
            <a:off x="10515600" y="3639312"/>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TextBox 175"/>
          <p:cNvSpPr txBox="1"/>
          <p:nvPr/>
        </p:nvSpPr>
        <p:spPr>
          <a:xfrm>
            <a:off x="10543032" y="3639312"/>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監査証跡・電子署名★</a:t>
            </a:r>
          </a:p>
        </p:txBody>
      </p:sp>
      <p:sp>
        <p:nvSpPr>
          <p:cNvPr id="177" name="Rounded Rectangle 176"/>
          <p:cNvSpPr/>
          <p:nvPr/>
        </p:nvSpPr>
        <p:spPr>
          <a:xfrm>
            <a:off x="9372600" y="3849624"/>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TextBox 177"/>
          <p:cNvSpPr txBox="1"/>
          <p:nvPr/>
        </p:nvSpPr>
        <p:spPr>
          <a:xfrm>
            <a:off x="9400032" y="3849624"/>
            <a:ext cx="1033271" cy="182880"/>
          </a:xfrm>
          <a:prstGeom prst="rect">
            <a:avLst/>
          </a:prstGeom>
          <a:noFill/>
        </p:spPr>
        <p:txBody>
          <a:bodyPr wrap="square" lIns="0" rIns="0" tIns="0" bIns="0" anchor="ctr">
            <a:spAutoFit/>
          </a:bodyPr>
          <a:lstStyle/>
          <a:p>
            <a:pPr algn="ctr"/>
            <a:r>
              <a:rPr sz="650" b="0">
                <a:solidFill>
                  <a:srgbClr val="1F2E35"/>
                </a:solidFill>
                <a:latin typeface="Yu Gothic"/>
                <a:ea typeface="Yu Gothic"/>
                <a:cs typeface="Yu Gothic"/>
              </a:rPr>
              <a:t>記録の保存・アーカイブ★</a:t>
            </a:r>
          </a:p>
        </p:txBody>
      </p:sp>
      <p:sp>
        <p:nvSpPr>
          <p:cNvPr id="179" name="Rounded Rectangle 178"/>
          <p:cNvSpPr/>
          <p:nvPr/>
        </p:nvSpPr>
        <p:spPr>
          <a:xfrm>
            <a:off x="9308592" y="4151376"/>
            <a:ext cx="2359152" cy="7132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TextBox 179"/>
          <p:cNvSpPr txBox="1"/>
          <p:nvPr/>
        </p:nvSpPr>
        <p:spPr>
          <a:xfrm>
            <a:off x="9308592" y="4169663"/>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データ管理</a:t>
            </a:r>
          </a:p>
        </p:txBody>
      </p:sp>
      <p:sp>
        <p:nvSpPr>
          <p:cNvPr id="181" name="Rounded Rectangle 180"/>
          <p:cNvSpPr/>
          <p:nvPr/>
        </p:nvSpPr>
        <p:spPr>
          <a:xfrm>
            <a:off x="9372600" y="4407407"/>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TextBox 181"/>
          <p:cNvSpPr txBox="1"/>
          <p:nvPr/>
        </p:nvSpPr>
        <p:spPr>
          <a:xfrm>
            <a:off x="9400032" y="4407407"/>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マスタデータ管理</a:t>
            </a:r>
          </a:p>
        </p:txBody>
      </p:sp>
      <p:sp>
        <p:nvSpPr>
          <p:cNvPr id="183" name="Rounded Rectangle 182"/>
          <p:cNvSpPr/>
          <p:nvPr/>
        </p:nvSpPr>
        <p:spPr>
          <a:xfrm>
            <a:off x="10515600" y="4407407"/>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TextBox 183"/>
          <p:cNvSpPr txBox="1"/>
          <p:nvPr/>
        </p:nvSpPr>
        <p:spPr>
          <a:xfrm>
            <a:off x="10543032" y="4407407"/>
            <a:ext cx="1033271" cy="182880"/>
          </a:xfrm>
          <a:prstGeom prst="rect">
            <a:avLst/>
          </a:prstGeom>
          <a:noFill/>
        </p:spPr>
        <p:txBody>
          <a:bodyPr wrap="square" lIns="0" rIns="0" tIns="0" bIns="0" anchor="ctr">
            <a:spAutoFit/>
          </a:bodyPr>
          <a:lstStyle/>
          <a:p>
            <a:pPr algn="ctr"/>
            <a:r>
              <a:rPr sz="600" b="0">
                <a:solidFill>
                  <a:srgbClr val="1F2E35"/>
                </a:solidFill>
                <a:latin typeface="Yu Gothic"/>
                <a:ea typeface="Yu Gothic"/>
                <a:cs typeface="Yu Gothic"/>
              </a:rPr>
              <a:t>データ品質・データカタログ</a:t>
            </a:r>
          </a:p>
        </p:txBody>
      </p:sp>
      <p:sp>
        <p:nvSpPr>
          <p:cNvPr id="185" name="Rounded Rectangle 184"/>
          <p:cNvSpPr/>
          <p:nvPr/>
        </p:nvSpPr>
        <p:spPr>
          <a:xfrm>
            <a:off x="9372600" y="4617720"/>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TextBox 185"/>
          <p:cNvSpPr txBox="1"/>
          <p:nvPr/>
        </p:nvSpPr>
        <p:spPr>
          <a:xfrm>
            <a:off x="9400032" y="4617720"/>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データ・分析基盤</a:t>
            </a:r>
          </a:p>
        </p:txBody>
      </p:sp>
      <p:sp>
        <p:nvSpPr>
          <p:cNvPr id="187" name="Rounded Rectangle 186"/>
          <p:cNvSpPr/>
          <p:nvPr/>
        </p:nvSpPr>
        <p:spPr>
          <a:xfrm>
            <a:off x="9308592" y="4919472"/>
            <a:ext cx="2359152" cy="502920"/>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TextBox 187"/>
          <p:cNvSpPr txBox="1"/>
          <p:nvPr/>
        </p:nvSpPr>
        <p:spPr>
          <a:xfrm>
            <a:off x="9308592" y="4937759"/>
            <a:ext cx="2359152" cy="237744"/>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個人情報・データ保護</a:t>
            </a:r>
          </a:p>
        </p:txBody>
      </p:sp>
      <p:sp>
        <p:nvSpPr>
          <p:cNvPr id="189" name="Rounded Rectangle 188"/>
          <p:cNvSpPr/>
          <p:nvPr/>
        </p:nvSpPr>
        <p:spPr>
          <a:xfrm>
            <a:off x="9372600" y="5175503"/>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TextBox 189"/>
          <p:cNvSpPr txBox="1"/>
          <p:nvPr/>
        </p:nvSpPr>
        <p:spPr>
          <a:xfrm>
            <a:off x="9400032" y="5175503"/>
            <a:ext cx="103327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個人情報保護</a:t>
            </a:r>
          </a:p>
        </p:txBody>
      </p:sp>
      <p:sp>
        <p:nvSpPr>
          <p:cNvPr id="191" name="Rounded Rectangle 190"/>
          <p:cNvSpPr/>
          <p:nvPr/>
        </p:nvSpPr>
        <p:spPr>
          <a:xfrm>
            <a:off x="10515600" y="5175503"/>
            <a:ext cx="1088136" cy="182880"/>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2" name="TextBox 191"/>
          <p:cNvSpPr txBox="1"/>
          <p:nvPr/>
        </p:nvSpPr>
        <p:spPr>
          <a:xfrm>
            <a:off x="10543032" y="5175503"/>
            <a:ext cx="1033271" cy="182880"/>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情報の分類・持出し管理</a:t>
            </a:r>
          </a:p>
        </p:txBody>
      </p:sp>
      <p:sp>
        <p:nvSpPr>
          <p:cNvPr id="193" name="Chevron 192"/>
          <p:cNvSpPr/>
          <p:nvPr/>
        </p:nvSpPr>
        <p:spPr>
          <a:xfrm rot="5400000">
            <a:off x="10428732" y="2084831"/>
            <a:ext cx="118872" cy="310896"/>
          </a:xfrm>
          <a:prstGeom prst="chevron">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Chevron 193"/>
          <p:cNvSpPr/>
          <p:nvPr/>
        </p:nvSpPr>
        <p:spPr>
          <a:xfrm rot="5400000">
            <a:off x="10428732" y="5705856"/>
            <a:ext cx="118872" cy="310896"/>
          </a:xfrm>
          <a:prstGeom prst="chevron">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Rounded Rectangle 194"/>
          <p:cNvSpPr/>
          <p:nvPr/>
        </p:nvSpPr>
        <p:spPr>
          <a:xfrm>
            <a:off x="457200" y="5888736"/>
            <a:ext cx="11274552" cy="749808"/>
          </a:xfrm>
          <a:prstGeom prst="roundRect">
            <a:avLst>
              <a:gd name="adj" fmla="val 8000"/>
            </a:avLst>
          </a:prstGeom>
          <a:solidFill>
            <a:srgbClr val="FFFFFF"/>
          </a:solidFill>
          <a:ln w="1905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6" name="TextBox 195"/>
          <p:cNvSpPr txBox="1"/>
          <p:nvPr/>
        </p:nvSpPr>
        <p:spPr>
          <a:xfrm>
            <a:off x="457200" y="5925312"/>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IT組織・ソーシング基盤（Support / Foundation）</a:t>
            </a:r>
          </a:p>
        </p:txBody>
      </p:sp>
      <p:sp>
        <p:nvSpPr>
          <p:cNvPr id="197" name="TextBox 196"/>
          <p:cNvSpPr txBox="1"/>
          <p:nvPr/>
        </p:nvSpPr>
        <p:spPr>
          <a:xfrm>
            <a:off x="566928" y="6153912"/>
            <a:ext cx="4145660"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ITソーシング・ベンダー管理★</a:t>
            </a:r>
          </a:p>
        </p:txBody>
      </p:sp>
      <p:sp>
        <p:nvSpPr>
          <p:cNvPr id="198" name="Rounded Rectangle 197"/>
          <p:cNvSpPr/>
          <p:nvPr/>
        </p:nvSpPr>
        <p:spPr>
          <a:xfrm>
            <a:off x="630936" y="6345936"/>
            <a:ext cx="129654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TextBox 198"/>
          <p:cNvSpPr txBox="1"/>
          <p:nvPr/>
        </p:nvSpPr>
        <p:spPr>
          <a:xfrm>
            <a:off x="658368" y="6345936"/>
            <a:ext cx="1241678" cy="182880"/>
          </a:xfrm>
          <a:prstGeom prst="rect">
            <a:avLst/>
          </a:prstGeom>
          <a:noFill/>
        </p:spPr>
        <p:txBody>
          <a:bodyPr wrap="square" lIns="0" rIns="0" tIns="0" bIns="0" anchor="ctr">
            <a:spAutoFit/>
          </a:bodyPr>
          <a:lstStyle/>
          <a:p>
            <a:pPr algn="ctr"/>
            <a:r>
              <a:rPr sz="625" b="0">
                <a:solidFill>
                  <a:srgbClr val="1F2E35"/>
                </a:solidFill>
                <a:latin typeface="Yu Gothic"/>
                <a:ea typeface="Yu Gothic"/>
                <a:cs typeface="Yu Gothic"/>
              </a:rPr>
              <a:t>ソーシング方針（内製・委託）★</a:t>
            </a:r>
          </a:p>
        </p:txBody>
      </p:sp>
      <p:sp>
        <p:nvSpPr>
          <p:cNvPr id="200" name="Rounded Rectangle 199"/>
          <p:cNvSpPr/>
          <p:nvPr/>
        </p:nvSpPr>
        <p:spPr>
          <a:xfrm>
            <a:off x="1982343" y="6345936"/>
            <a:ext cx="129654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TextBox 200"/>
          <p:cNvSpPr txBox="1"/>
          <p:nvPr/>
        </p:nvSpPr>
        <p:spPr>
          <a:xfrm>
            <a:off x="2009774" y="6345936"/>
            <a:ext cx="124167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委託先の選定・契約★</a:t>
            </a:r>
          </a:p>
        </p:txBody>
      </p:sp>
      <p:sp>
        <p:nvSpPr>
          <p:cNvPr id="202" name="Rounded Rectangle 201"/>
          <p:cNvSpPr/>
          <p:nvPr/>
        </p:nvSpPr>
        <p:spPr>
          <a:xfrm>
            <a:off x="3333749" y="6345936"/>
            <a:ext cx="129654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TextBox 202"/>
          <p:cNvSpPr txBox="1"/>
          <p:nvPr/>
        </p:nvSpPr>
        <p:spPr>
          <a:xfrm>
            <a:off x="3361181" y="6345936"/>
            <a:ext cx="124167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委託先の評価・監督★</a:t>
            </a:r>
          </a:p>
        </p:txBody>
      </p:sp>
      <p:sp>
        <p:nvSpPr>
          <p:cNvPr id="204" name="TextBox 203"/>
          <p:cNvSpPr txBox="1"/>
          <p:nvPr/>
        </p:nvSpPr>
        <p:spPr>
          <a:xfrm>
            <a:off x="4712589" y="6153912"/>
            <a:ext cx="4145660"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IT人材・組織★</a:t>
            </a:r>
          </a:p>
        </p:txBody>
      </p:sp>
      <p:sp>
        <p:nvSpPr>
          <p:cNvPr id="205" name="Rounded Rectangle 204"/>
          <p:cNvSpPr/>
          <p:nvPr/>
        </p:nvSpPr>
        <p:spPr>
          <a:xfrm>
            <a:off x="4776596" y="6345936"/>
            <a:ext cx="129654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 name="TextBox 205"/>
          <p:cNvSpPr txBox="1"/>
          <p:nvPr/>
        </p:nvSpPr>
        <p:spPr>
          <a:xfrm>
            <a:off x="4804028" y="6345936"/>
            <a:ext cx="1241678" cy="182880"/>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IT人材の育成・スキル管理★</a:t>
            </a:r>
          </a:p>
        </p:txBody>
      </p:sp>
      <p:sp>
        <p:nvSpPr>
          <p:cNvPr id="207" name="Rounded Rectangle 206"/>
          <p:cNvSpPr/>
          <p:nvPr/>
        </p:nvSpPr>
        <p:spPr>
          <a:xfrm>
            <a:off x="6128003" y="6345936"/>
            <a:ext cx="129654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8" name="TextBox 207"/>
          <p:cNvSpPr txBox="1"/>
          <p:nvPr/>
        </p:nvSpPr>
        <p:spPr>
          <a:xfrm>
            <a:off x="6155435" y="6345936"/>
            <a:ext cx="124167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IT組織・役割の設計</a:t>
            </a:r>
          </a:p>
        </p:txBody>
      </p:sp>
      <p:sp>
        <p:nvSpPr>
          <p:cNvPr id="209" name="Rounded Rectangle 208"/>
          <p:cNvSpPr/>
          <p:nvPr/>
        </p:nvSpPr>
        <p:spPr>
          <a:xfrm>
            <a:off x="7479410" y="6345936"/>
            <a:ext cx="1296542"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0" name="TextBox 209"/>
          <p:cNvSpPr txBox="1"/>
          <p:nvPr/>
        </p:nvSpPr>
        <p:spPr>
          <a:xfrm>
            <a:off x="7506842" y="6345936"/>
            <a:ext cx="124167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教育・資格の記録★</a:t>
            </a:r>
          </a:p>
        </p:txBody>
      </p:sp>
      <p:sp>
        <p:nvSpPr>
          <p:cNvPr id="211" name="TextBox 210"/>
          <p:cNvSpPr txBox="1"/>
          <p:nvPr/>
        </p:nvSpPr>
        <p:spPr>
          <a:xfrm>
            <a:off x="8858250" y="6153912"/>
            <a:ext cx="276377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ITナレッジ・文書管理</a:t>
            </a:r>
          </a:p>
        </p:txBody>
      </p:sp>
      <p:sp>
        <p:nvSpPr>
          <p:cNvPr id="212" name="Rounded Rectangle 211"/>
          <p:cNvSpPr/>
          <p:nvPr/>
        </p:nvSpPr>
        <p:spPr>
          <a:xfrm>
            <a:off x="8922258" y="6345936"/>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TextBox 212"/>
          <p:cNvSpPr txBox="1"/>
          <p:nvPr/>
        </p:nvSpPr>
        <p:spPr>
          <a:xfrm>
            <a:off x="8949690" y="6345936"/>
            <a:ext cx="122643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IT文書管理</a:t>
            </a:r>
          </a:p>
        </p:txBody>
      </p:sp>
      <p:sp>
        <p:nvSpPr>
          <p:cNvPr id="214" name="Rounded Rectangle 213"/>
          <p:cNvSpPr/>
          <p:nvPr/>
        </p:nvSpPr>
        <p:spPr>
          <a:xfrm>
            <a:off x="10258425" y="6345936"/>
            <a:ext cx="1281303"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5" name="TextBox 214"/>
          <p:cNvSpPr txBox="1"/>
          <p:nvPr/>
        </p:nvSpPr>
        <p:spPr>
          <a:xfrm>
            <a:off x="10285857" y="6345936"/>
            <a:ext cx="1226438"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ナレッジ管理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t">
            <a:spAutoFit/>
          </a:bodyPr>
          <a:lstStyle/>
          <a:p>
            <a:pPr algn="l"/>
            <a:r>
              <a:rPr sz="2800" b="1">
                <a:solidFill>
                  <a:srgbClr val="1F2E35"/>
                </a:solidFill>
                <a:latin typeface="Yu Gothic"/>
                <a:ea typeface="Yu Gothic"/>
                <a:cs typeface="Yu Gothic"/>
              </a:rPr>
              <a:t>VS×ケイパビリティマップ全体像</a:t>
            </a:r>
          </a:p>
        </p:txBody>
      </p:sp>
      <p:sp>
        <p:nvSpPr>
          <p:cNvPr id="3" name="TextBox 2"/>
          <p:cNvSpPr txBox="1"/>
          <p:nvPr/>
        </p:nvSpPr>
        <p:spPr>
          <a:xfrm>
            <a:off x="457200" y="841247"/>
            <a:ext cx="11247120" cy="365760"/>
          </a:xfrm>
          <a:prstGeom prst="rect">
            <a:avLst/>
          </a:prstGeom>
          <a:noFill/>
        </p:spPr>
        <p:txBody>
          <a:bodyPr wrap="square" lIns="0" rIns="0" tIns="0" bIns="0" anchor="t">
            <a:spAutoFit/>
          </a:bodyPr>
          <a:lstStyle/>
          <a:p>
            <a:pPr algn="l"/>
            <a:r>
              <a:rPr sz="1300" b="0">
                <a:solidFill>
                  <a:srgbClr val="5B6B70"/>
                </a:solidFill>
                <a:latin typeface="Yu Gothic"/>
                <a:ea typeface="Yu Gothic"/>
                <a:cs typeface="Yu Gothic"/>
              </a:rPr>
              <a:t>各段階（VS L2）が、どの能力（ケイパビリティL2）を中核として使うか。円の大きさ＝「主」の関係の件数</a:t>
            </a:r>
          </a:p>
        </p:txBody>
      </p:sp>
      <p:sp>
        <p:nvSpPr>
          <p:cNvPr id="4" name="Rectangle 3"/>
          <p:cNvSpPr/>
          <p:nvPr/>
        </p:nvSpPr>
        <p:spPr>
          <a:xfrm>
            <a:off x="4572000" y="1261872"/>
            <a:ext cx="3520440" cy="237744"/>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572000" y="1261872"/>
            <a:ext cx="3520440" cy="237744"/>
          </a:xfrm>
          <a:prstGeom prst="rect">
            <a:avLst/>
          </a:prstGeom>
          <a:noFill/>
        </p:spPr>
        <p:txBody>
          <a:bodyPr wrap="square" lIns="0" rIns="0" tIns="0" bIns="0" anchor="ctr">
            <a:spAutoFit/>
          </a:bodyPr>
          <a:lstStyle/>
          <a:p>
            <a:pPr algn="ctr"/>
            <a:r>
              <a:rPr sz="950" b="1">
                <a:solidFill>
                  <a:srgbClr val="FFFFFF"/>
                </a:solidFill>
                <a:latin typeface="Yu Gothic"/>
                <a:ea typeface="Yu Gothic"/>
                <a:cs typeface="Yu Gothic"/>
              </a:rPr>
              <a:t>Phase 1：計画・構築（Plan &amp; Build）</a:t>
            </a:r>
          </a:p>
        </p:txBody>
      </p:sp>
      <p:sp>
        <p:nvSpPr>
          <p:cNvPr id="6" name="Rectangle 5"/>
          <p:cNvSpPr/>
          <p:nvPr/>
        </p:nvSpPr>
        <p:spPr>
          <a:xfrm>
            <a:off x="8183880" y="1261872"/>
            <a:ext cx="3520440" cy="237744"/>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183880" y="1261872"/>
            <a:ext cx="3520440" cy="237744"/>
          </a:xfrm>
          <a:prstGeom prst="rect">
            <a:avLst/>
          </a:prstGeom>
          <a:noFill/>
        </p:spPr>
        <p:txBody>
          <a:bodyPr wrap="square" lIns="0" rIns="0" tIns="0" bIns="0" anchor="ctr">
            <a:spAutoFit/>
          </a:bodyPr>
          <a:lstStyle/>
          <a:p>
            <a:pPr algn="ctr"/>
            <a:r>
              <a:rPr sz="950" b="1">
                <a:solidFill>
                  <a:srgbClr val="FFFFFF"/>
                </a:solidFill>
                <a:latin typeface="Yu Gothic"/>
                <a:ea typeface="Yu Gothic"/>
                <a:cs typeface="Yu Gothic"/>
              </a:rPr>
              <a:t>Phase 2：提供・運用（Deliver &amp; Run）</a:t>
            </a:r>
          </a:p>
        </p:txBody>
      </p:sp>
      <p:sp>
        <p:nvSpPr>
          <p:cNvPr id="8" name="Right Arrow 7"/>
          <p:cNvSpPr/>
          <p:nvPr/>
        </p:nvSpPr>
        <p:spPr>
          <a:xfrm>
            <a:off x="5189220"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572000" y="1975104"/>
            <a:ext cx="1783080"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戦略・ポートフォリオ（S2P）</a:t>
            </a:r>
          </a:p>
        </p:txBody>
      </p:sp>
      <p:sp>
        <p:nvSpPr>
          <p:cNvPr id="10" name="Right Arrow 9"/>
          <p:cNvSpPr/>
          <p:nvPr/>
        </p:nvSpPr>
        <p:spPr>
          <a:xfrm>
            <a:off x="6972300"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55080" y="1975104"/>
            <a:ext cx="1783080"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要件定義・開発・配備（R2D）</a:t>
            </a:r>
          </a:p>
        </p:txBody>
      </p:sp>
      <p:sp>
        <p:nvSpPr>
          <p:cNvPr id="12" name="Right Arrow 11"/>
          <p:cNvSpPr/>
          <p:nvPr/>
        </p:nvSpPr>
        <p:spPr>
          <a:xfrm>
            <a:off x="8755380"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138160" y="1975104"/>
            <a:ext cx="1783080"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利用申請・提供（R2F）</a:t>
            </a:r>
          </a:p>
        </p:txBody>
      </p:sp>
      <p:sp>
        <p:nvSpPr>
          <p:cNvPr id="14" name="Right Arrow 13"/>
          <p:cNvSpPr/>
          <p:nvPr/>
        </p:nvSpPr>
        <p:spPr>
          <a:xfrm>
            <a:off x="10538459"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921240" y="1975104"/>
            <a:ext cx="1783080"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検知・是正（D2C）</a:t>
            </a:r>
          </a:p>
        </p:txBody>
      </p:sp>
      <p:sp>
        <p:nvSpPr>
          <p:cNvPr id="16" name="Rectangle 15"/>
          <p:cNvSpPr/>
          <p:nvPr/>
        </p:nvSpPr>
        <p:spPr>
          <a:xfrm>
            <a:off x="2103120" y="2331720"/>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194560" y="2331720"/>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IT戦略・DX企画</a:t>
            </a:r>
          </a:p>
        </p:txBody>
      </p:sp>
      <p:sp>
        <p:nvSpPr>
          <p:cNvPr id="18" name="TextBox 17"/>
          <p:cNvSpPr txBox="1"/>
          <p:nvPr/>
        </p:nvSpPr>
        <p:spPr>
          <a:xfrm>
            <a:off x="2194560" y="2467051"/>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エンタープライズアーキテクチャ</a:t>
            </a:r>
          </a:p>
        </p:txBody>
      </p:sp>
      <p:sp>
        <p:nvSpPr>
          <p:cNvPr id="19" name="Rectangle 18"/>
          <p:cNvSpPr/>
          <p:nvPr/>
        </p:nvSpPr>
        <p:spPr>
          <a:xfrm>
            <a:off x="2103120" y="2602382"/>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2194560" y="2602382"/>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ITポートフォリオ・需要管理</a:t>
            </a:r>
          </a:p>
        </p:txBody>
      </p:sp>
      <p:sp>
        <p:nvSpPr>
          <p:cNvPr id="21" name="TextBox 20"/>
          <p:cNvSpPr txBox="1"/>
          <p:nvPr/>
        </p:nvSpPr>
        <p:spPr>
          <a:xfrm>
            <a:off x="2194560" y="2737713"/>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ITガバナンス・リスク管理★</a:t>
            </a:r>
          </a:p>
        </p:txBody>
      </p:sp>
      <p:sp>
        <p:nvSpPr>
          <p:cNvPr id="22" name="Rectangle 21"/>
          <p:cNvSpPr/>
          <p:nvPr/>
        </p:nvSpPr>
        <p:spPr>
          <a:xfrm>
            <a:off x="2103120" y="2873044"/>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194560" y="2873044"/>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IT財務管理</a:t>
            </a:r>
          </a:p>
        </p:txBody>
      </p:sp>
      <p:sp>
        <p:nvSpPr>
          <p:cNvPr id="24" name="Rectangle 23"/>
          <p:cNvSpPr/>
          <p:nvPr/>
        </p:nvSpPr>
        <p:spPr>
          <a:xfrm>
            <a:off x="2011679" y="2350008"/>
            <a:ext cx="54864" cy="640080"/>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274320" y="2331720"/>
            <a:ext cx="1645919" cy="676656"/>
          </a:xfrm>
          <a:prstGeom prst="rect">
            <a:avLst/>
          </a:prstGeom>
          <a:noFill/>
        </p:spPr>
        <p:txBody>
          <a:bodyPr wrap="square" lIns="0" rIns="0" tIns="0" bIns="0" anchor="ctr">
            <a:spAutoFit/>
          </a:bodyPr>
          <a:lstStyle/>
          <a:p>
            <a:pPr algn="r"/>
            <a:r>
              <a:rPr sz="850" b="1">
                <a:solidFill>
                  <a:srgbClr val="1F2E35"/>
                </a:solidFill>
                <a:latin typeface="Yu Gothic"/>
                <a:ea typeface="Yu Gothic"/>
                <a:cs typeface="Yu Gothic"/>
              </a:rPr>
              <a:t>Strategy</a:t>
            </a:r>
          </a:p>
        </p:txBody>
      </p:sp>
      <p:cxnSp>
        <p:nvCxnSpPr>
          <p:cNvPr id="26" name="Connector 25"/>
          <p:cNvCxnSpPr/>
          <p:nvPr/>
        </p:nvCxnSpPr>
        <p:spPr>
          <a:xfrm>
            <a:off x="2103120" y="3008376"/>
            <a:ext cx="9628632" cy="0"/>
          </a:xfrm>
          <a:prstGeom prst="line">
            <a:avLst/>
          </a:prstGeom>
          <a:ln w="6350">
            <a:solidFill>
              <a:srgbClr val="C3CFD1"/>
            </a:solidFill>
          </a:ln>
        </p:spPr>
      </p:cxnSp>
      <p:sp>
        <p:nvSpPr>
          <p:cNvPr id="27" name="TextBox 26"/>
          <p:cNvSpPr txBox="1"/>
          <p:nvPr/>
        </p:nvSpPr>
        <p:spPr>
          <a:xfrm>
            <a:off x="2194560" y="3008376"/>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プロジェクト管理★</a:t>
            </a:r>
          </a:p>
        </p:txBody>
      </p:sp>
      <p:sp>
        <p:nvSpPr>
          <p:cNvPr id="28" name="Rectangle 27"/>
          <p:cNvSpPr/>
          <p:nvPr/>
        </p:nvSpPr>
        <p:spPr>
          <a:xfrm>
            <a:off x="2103120" y="3143707"/>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2194560" y="3143707"/>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要件定義・設計</a:t>
            </a:r>
          </a:p>
        </p:txBody>
      </p:sp>
      <p:sp>
        <p:nvSpPr>
          <p:cNvPr id="30" name="TextBox 29"/>
          <p:cNvSpPr txBox="1"/>
          <p:nvPr/>
        </p:nvSpPr>
        <p:spPr>
          <a:xfrm>
            <a:off x="2194560" y="3279038"/>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開発・構成</a:t>
            </a:r>
          </a:p>
        </p:txBody>
      </p:sp>
      <p:sp>
        <p:nvSpPr>
          <p:cNvPr id="31" name="Rectangle 30"/>
          <p:cNvSpPr/>
          <p:nvPr/>
        </p:nvSpPr>
        <p:spPr>
          <a:xfrm>
            <a:off x="2103120" y="3414369"/>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194560" y="3414369"/>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テスト・リリース</a:t>
            </a:r>
          </a:p>
        </p:txBody>
      </p:sp>
      <p:sp>
        <p:nvSpPr>
          <p:cNvPr id="33" name="Rectangle 32"/>
          <p:cNvSpPr/>
          <p:nvPr/>
        </p:nvSpPr>
        <p:spPr>
          <a:xfrm>
            <a:off x="2011679" y="3026664"/>
            <a:ext cx="54864" cy="504748"/>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274320" y="3008376"/>
            <a:ext cx="1645919" cy="541324"/>
          </a:xfrm>
          <a:prstGeom prst="rect">
            <a:avLst/>
          </a:prstGeom>
          <a:noFill/>
        </p:spPr>
        <p:txBody>
          <a:bodyPr wrap="square" lIns="0" rIns="0" tIns="0" bIns="0" anchor="ctr">
            <a:spAutoFit/>
          </a:bodyPr>
          <a:lstStyle/>
          <a:p>
            <a:pPr algn="r"/>
            <a:r>
              <a:rPr sz="850" b="1">
                <a:solidFill>
                  <a:srgbClr val="1F62B8"/>
                </a:solidFill>
                <a:latin typeface="Yu Gothic"/>
                <a:ea typeface="Yu Gothic"/>
                <a:cs typeface="Yu Gothic"/>
              </a:rPr>
              <a:t>Solution Delivery</a:t>
            </a:r>
          </a:p>
        </p:txBody>
      </p:sp>
      <p:cxnSp>
        <p:nvCxnSpPr>
          <p:cNvPr id="35" name="Connector 34"/>
          <p:cNvCxnSpPr/>
          <p:nvPr/>
        </p:nvCxnSpPr>
        <p:spPr>
          <a:xfrm>
            <a:off x="2103120" y="3549700"/>
            <a:ext cx="9628632" cy="0"/>
          </a:xfrm>
          <a:prstGeom prst="line">
            <a:avLst/>
          </a:prstGeom>
          <a:ln w="6350">
            <a:solidFill>
              <a:srgbClr val="C3CFD1"/>
            </a:solidFill>
          </a:ln>
        </p:spPr>
      </p:cxnSp>
      <p:sp>
        <p:nvSpPr>
          <p:cNvPr id="36" name="TextBox 35"/>
          <p:cNvSpPr txBox="1"/>
          <p:nvPr/>
        </p:nvSpPr>
        <p:spPr>
          <a:xfrm>
            <a:off x="2194560" y="3549700"/>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サービスカタログ・サービスレベル管理</a:t>
            </a:r>
          </a:p>
        </p:txBody>
      </p:sp>
      <p:sp>
        <p:nvSpPr>
          <p:cNvPr id="37" name="Rectangle 36"/>
          <p:cNvSpPr/>
          <p:nvPr/>
        </p:nvSpPr>
        <p:spPr>
          <a:xfrm>
            <a:off x="2103120" y="3685032"/>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2194560" y="3685032"/>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サービスデスク・要求実現</a:t>
            </a:r>
          </a:p>
        </p:txBody>
      </p:sp>
      <p:sp>
        <p:nvSpPr>
          <p:cNvPr id="39" name="TextBox 38"/>
          <p:cNvSpPr txBox="1"/>
          <p:nvPr/>
        </p:nvSpPr>
        <p:spPr>
          <a:xfrm>
            <a:off x="2194560" y="3820363"/>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IT運用・監視</a:t>
            </a:r>
          </a:p>
        </p:txBody>
      </p:sp>
      <p:sp>
        <p:nvSpPr>
          <p:cNvPr id="40" name="Rectangle 39"/>
          <p:cNvSpPr/>
          <p:nvPr/>
        </p:nvSpPr>
        <p:spPr>
          <a:xfrm>
            <a:off x="2103120" y="3955694"/>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2194560" y="3955694"/>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インシデント・問題管理</a:t>
            </a:r>
          </a:p>
        </p:txBody>
      </p:sp>
      <p:sp>
        <p:nvSpPr>
          <p:cNvPr id="42" name="TextBox 41"/>
          <p:cNvSpPr txBox="1"/>
          <p:nvPr/>
        </p:nvSpPr>
        <p:spPr>
          <a:xfrm>
            <a:off x="2194560" y="4091025"/>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変更・構成管理★</a:t>
            </a:r>
          </a:p>
        </p:txBody>
      </p:sp>
      <p:sp>
        <p:nvSpPr>
          <p:cNvPr id="43" name="Rectangle 42"/>
          <p:cNvSpPr/>
          <p:nvPr/>
        </p:nvSpPr>
        <p:spPr>
          <a:xfrm>
            <a:off x="2011679" y="3567988"/>
            <a:ext cx="54864" cy="640079"/>
          </a:xfrm>
          <a:prstGeom prst="rect">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274320" y="3549700"/>
            <a:ext cx="1645919" cy="676655"/>
          </a:xfrm>
          <a:prstGeom prst="rect">
            <a:avLst/>
          </a:prstGeom>
          <a:noFill/>
        </p:spPr>
        <p:txBody>
          <a:bodyPr wrap="square" lIns="0" rIns="0" tIns="0" bIns="0" anchor="ctr">
            <a:spAutoFit/>
          </a:bodyPr>
          <a:lstStyle/>
          <a:p>
            <a:pPr algn="r"/>
            <a:r>
              <a:rPr sz="850" b="1">
                <a:solidFill>
                  <a:srgbClr val="0E7A52"/>
                </a:solidFill>
                <a:latin typeface="Yu Gothic"/>
                <a:ea typeface="Yu Gothic"/>
                <a:cs typeface="Yu Gothic"/>
              </a:rPr>
              <a:t>Service Management &amp; Operations</a:t>
            </a:r>
          </a:p>
        </p:txBody>
      </p:sp>
      <p:cxnSp>
        <p:nvCxnSpPr>
          <p:cNvPr id="45" name="Connector 44"/>
          <p:cNvCxnSpPr/>
          <p:nvPr/>
        </p:nvCxnSpPr>
        <p:spPr>
          <a:xfrm>
            <a:off x="2103120" y="4226356"/>
            <a:ext cx="9628632" cy="0"/>
          </a:xfrm>
          <a:prstGeom prst="line">
            <a:avLst/>
          </a:prstGeom>
          <a:ln w="6350">
            <a:solidFill>
              <a:srgbClr val="C3CFD1"/>
            </a:solidFill>
          </a:ln>
        </p:spPr>
      </p:cxnSp>
      <p:sp>
        <p:nvSpPr>
          <p:cNvPr id="46" name="Rectangle 45"/>
          <p:cNvSpPr/>
          <p:nvPr/>
        </p:nvSpPr>
        <p:spPr>
          <a:xfrm>
            <a:off x="2103120" y="4226356"/>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2194560" y="4226356"/>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クラウド・データセンター</a:t>
            </a:r>
          </a:p>
        </p:txBody>
      </p:sp>
      <p:sp>
        <p:nvSpPr>
          <p:cNvPr id="48" name="TextBox 47"/>
          <p:cNvSpPr txBox="1"/>
          <p:nvPr/>
        </p:nvSpPr>
        <p:spPr>
          <a:xfrm>
            <a:off x="2194560" y="4361688"/>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ネットワーク</a:t>
            </a:r>
          </a:p>
        </p:txBody>
      </p:sp>
      <p:sp>
        <p:nvSpPr>
          <p:cNvPr id="49" name="Rectangle 48"/>
          <p:cNvSpPr/>
          <p:nvPr/>
        </p:nvSpPr>
        <p:spPr>
          <a:xfrm>
            <a:off x="2103120" y="4497019"/>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2194560" y="4497019"/>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エンドユーザー環境</a:t>
            </a:r>
          </a:p>
        </p:txBody>
      </p:sp>
      <p:sp>
        <p:nvSpPr>
          <p:cNvPr id="51" name="TextBox 50"/>
          <p:cNvSpPr txBox="1"/>
          <p:nvPr/>
        </p:nvSpPr>
        <p:spPr>
          <a:xfrm>
            <a:off x="2194560" y="4632350"/>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IT資産・ライセンス管理</a:t>
            </a:r>
          </a:p>
        </p:txBody>
      </p:sp>
      <p:sp>
        <p:nvSpPr>
          <p:cNvPr id="52" name="Rectangle 51"/>
          <p:cNvSpPr/>
          <p:nvPr/>
        </p:nvSpPr>
        <p:spPr>
          <a:xfrm>
            <a:off x="2011679" y="4244644"/>
            <a:ext cx="54864" cy="504748"/>
          </a:xfrm>
          <a:prstGeom prst="rect">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274320" y="4226356"/>
            <a:ext cx="1645919" cy="541324"/>
          </a:xfrm>
          <a:prstGeom prst="rect">
            <a:avLst/>
          </a:prstGeom>
          <a:noFill/>
        </p:spPr>
        <p:txBody>
          <a:bodyPr wrap="square" lIns="0" rIns="0" tIns="0" bIns="0" anchor="ctr">
            <a:spAutoFit/>
          </a:bodyPr>
          <a:lstStyle/>
          <a:p>
            <a:pPr algn="r"/>
            <a:r>
              <a:rPr sz="850" b="1">
                <a:solidFill>
                  <a:srgbClr val="4A3AA7"/>
                </a:solidFill>
                <a:latin typeface="Yu Gothic"/>
                <a:ea typeface="Yu Gothic"/>
                <a:cs typeface="Yu Gothic"/>
              </a:rPr>
              <a:t>Platform &amp; Infrastructure</a:t>
            </a:r>
          </a:p>
        </p:txBody>
      </p:sp>
      <p:cxnSp>
        <p:nvCxnSpPr>
          <p:cNvPr id="54" name="Connector 53"/>
          <p:cNvCxnSpPr/>
          <p:nvPr/>
        </p:nvCxnSpPr>
        <p:spPr>
          <a:xfrm>
            <a:off x="2103120" y="4767681"/>
            <a:ext cx="9628632" cy="0"/>
          </a:xfrm>
          <a:prstGeom prst="line">
            <a:avLst/>
          </a:prstGeom>
          <a:ln w="6350">
            <a:solidFill>
              <a:srgbClr val="C3CFD1"/>
            </a:solidFill>
          </a:ln>
        </p:spPr>
      </p:cxnSp>
      <p:sp>
        <p:nvSpPr>
          <p:cNvPr id="55" name="Rectangle 54"/>
          <p:cNvSpPr/>
          <p:nvPr/>
        </p:nvSpPr>
        <p:spPr>
          <a:xfrm>
            <a:off x="2103120" y="4767681"/>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2194560" y="4767681"/>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セキュリティガバナンス</a:t>
            </a:r>
          </a:p>
        </p:txBody>
      </p:sp>
      <p:sp>
        <p:nvSpPr>
          <p:cNvPr id="57" name="TextBox 56"/>
          <p:cNvSpPr txBox="1"/>
          <p:nvPr/>
        </p:nvSpPr>
        <p:spPr>
          <a:xfrm>
            <a:off x="2194560" y="4903012"/>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ID・アクセス管理★</a:t>
            </a:r>
          </a:p>
        </p:txBody>
      </p:sp>
      <p:sp>
        <p:nvSpPr>
          <p:cNvPr id="58" name="Rectangle 57"/>
          <p:cNvSpPr/>
          <p:nvPr/>
        </p:nvSpPr>
        <p:spPr>
          <a:xfrm>
            <a:off x="2103120" y="5038343"/>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2194560" y="5038343"/>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セキュリティ運用</a:t>
            </a:r>
          </a:p>
        </p:txBody>
      </p:sp>
      <p:sp>
        <p:nvSpPr>
          <p:cNvPr id="60" name="Rectangle 59"/>
          <p:cNvSpPr/>
          <p:nvPr/>
        </p:nvSpPr>
        <p:spPr>
          <a:xfrm>
            <a:off x="2011679" y="4785969"/>
            <a:ext cx="54864" cy="369417"/>
          </a:xfrm>
          <a:prstGeom prst="rect">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274320" y="4767681"/>
            <a:ext cx="1645919" cy="405993"/>
          </a:xfrm>
          <a:prstGeom prst="rect">
            <a:avLst/>
          </a:prstGeom>
          <a:noFill/>
        </p:spPr>
        <p:txBody>
          <a:bodyPr wrap="square" lIns="0" rIns="0" tIns="0" bIns="0" anchor="ctr">
            <a:spAutoFit/>
          </a:bodyPr>
          <a:lstStyle/>
          <a:p>
            <a:pPr algn="r"/>
            <a:r>
              <a:rPr sz="850" b="1">
                <a:solidFill>
                  <a:srgbClr val="C24E1C"/>
                </a:solidFill>
                <a:latin typeface="Yu Gothic"/>
                <a:ea typeface="Yu Gothic"/>
                <a:cs typeface="Yu Gothic"/>
              </a:rPr>
              <a:t>Cybersecurity</a:t>
            </a:r>
          </a:p>
        </p:txBody>
      </p:sp>
      <p:cxnSp>
        <p:nvCxnSpPr>
          <p:cNvPr id="62" name="Connector 61"/>
          <p:cNvCxnSpPr/>
          <p:nvPr/>
        </p:nvCxnSpPr>
        <p:spPr>
          <a:xfrm>
            <a:off x="2103120" y="5173675"/>
            <a:ext cx="9628632" cy="0"/>
          </a:xfrm>
          <a:prstGeom prst="line">
            <a:avLst/>
          </a:prstGeom>
          <a:ln w="6350">
            <a:solidFill>
              <a:srgbClr val="C3CFD1"/>
            </a:solidFill>
          </a:ln>
        </p:spPr>
      </p:cxnSp>
      <p:sp>
        <p:nvSpPr>
          <p:cNvPr id="63" name="TextBox 62"/>
          <p:cNvSpPr txBox="1"/>
          <p:nvPr/>
        </p:nvSpPr>
        <p:spPr>
          <a:xfrm>
            <a:off x="2194560" y="5173675"/>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GxPシステム管理（CSV）★</a:t>
            </a:r>
          </a:p>
        </p:txBody>
      </p:sp>
      <p:sp>
        <p:nvSpPr>
          <p:cNvPr id="64" name="Rectangle 63"/>
          <p:cNvSpPr/>
          <p:nvPr/>
        </p:nvSpPr>
        <p:spPr>
          <a:xfrm>
            <a:off x="2103120" y="5309006"/>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2194560" y="5309006"/>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データインテグリティ★</a:t>
            </a:r>
          </a:p>
        </p:txBody>
      </p:sp>
      <p:sp>
        <p:nvSpPr>
          <p:cNvPr id="66" name="TextBox 65"/>
          <p:cNvSpPr txBox="1"/>
          <p:nvPr/>
        </p:nvSpPr>
        <p:spPr>
          <a:xfrm>
            <a:off x="2194560" y="5444337"/>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データ管理</a:t>
            </a:r>
          </a:p>
        </p:txBody>
      </p:sp>
      <p:sp>
        <p:nvSpPr>
          <p:cNvPr id="67" name="Rectangle 66"/>
          <p:cNvSpPr/>
          <p:nvPr/>
        </p:nvSpPr>
        <p:spPr>
          <a:xfrm>
            <a:off x="2103120" y="5579668"/>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2194560" y="5579668"/>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個人情報・データ保護</a:t>
            </a:r>
          </a:p>
        </p:txBody>
      </p:sp>
      <p:sp>
        <p:nvSpPr>
          <p:cNvPr id="69" name="Rectangle 68"/>
          <p:cNvSpPr/>
          <p:nvPr/>
        </p:nvSpPr>
        <p:spPr>
          <a:xfrm>
            <a:off x="2011679" y="5191963"/>
            <a:ext cx="54864" cy="504748"/>
          </a:xfrm>
          <a:prstGeom prst="rect">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274320" y="5173675"/>
            <a:ext cx="1645919" cy="541324"/>
          </a:xfrm>
          <a:prstGeom prst="rect">
            <a:avLst/>
          </a:prstGeom>
          <a:noFill/>
        </p:spPr>
        <p:txBody>
          <a:bodyPr wrap="square" lIns="0" rIns="0" tIns="0" bIns="0" anchor="ctr">
            <a:spAutoFit/>
          </a:bodyPr>
          <a:lstStyle/>
          <a:p>
            <a:pPr algn="r"/>
            <a:r>
              <a:rPr sz="850" b="1">
                <a:solidFill>
                  <a:srgbClr val="9A2553"/>
                </a:solidFill>
                <a:latin typeface="Yu Gothic"/>
                <a:ea typeface="Yu Gothic"/>
                <a:cs typeface="Yu Gothic"/>
              </a:rPr>
              <a:t>Data &amp; GxP Compliance</a:t>
            </a:r>
          </a:p>
        </p:txBody>
      </p:sp>
      <p:cxnSp>
        <p:nvCxnSpPr>
          <p:cNvPr id="71" name="Connector 70"/>
          <p:cNvCxnSpPr/>
          <p:nvPr/>
        </p:nvCxnSpPr>
        <p:spPr>
          <a:xfrm>
            <a:off x="2103120" y="5714999"/>
            <a:ext cx="9628632" cy="0"/>
          </a:xfrm>
          <a:prstGeom prst="line">
            <a:avLst/>
          </a:prstGeom>
          <a:ln w="6350">
            <a:solidFill>
              <a:srgbClr val="C3CFD1"/>
            </a:solidFill>
          </a:ln>
        </p:spPr>
      </p:cxnSp>
      <p:sp>
        <p:nvSpPr>
          <p:cNvPr id="72" name="TextBox 71"/>
          <p:cNvSpPr txBox="1"/>
          <p:nvPr/>
        </p:nvSpPr>
        <p:spPr>
          <a:xfrm>
            <a:off x="2194560" y="5714999"/>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ITソーシング・ベンダー管理★</a:t>
            </a:r>
          </a:p>
        </p:txBody>
      </p:sp>
      <p:sp>
        <p:nvSpPr>
          <p:cNvPr id="73" name="Rectangle 72"/>
          <p:cNvSpPr/>
          <p:nvPr/>
        </p:nvSpPr>
        <p:spPr>
          <a:xfrm>
            <a:off x="2103120" y="5850331"/>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2194560" y="5850331"/>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IT人材・組織★</a:t>
            </a:r>
          </a:p>
        </p:txBody>
      </p:sp>
      <p:sp>
        <p:nvSpPr>
          <p:cNvPr id="75" name="TextBox 74"/>
          <p:cNvSpPr txBox="1"/>
          <p:nvPr/>
        </p:nvSpPr>
        <p:spPr>
          <a:xfrm>
            <a:off x="2194560" y="5985662"/>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ITナレッジ・文書管理</a:t>
            </a:r>
          </a:p>
        </p:txBody>
      </p:sp>
      <p:sp>
        <p:nvSpPr>
          <p:cNvPr id="76" name="Rectangle 75"/>
          <p:cNvSpPr/>
          <p:nvPr/>
        </p:nvSpPr>
        <p:spPr>
          <a:xfrm>
            <a:off x="2011679" y="5733287"/>
            <a:ext cx="54864" cy="369417"/>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274320" y="5714999"/>
            <a:ext cx="1645919" cy="405993"/>
          </a:xfrm>
          <a:prstGeom prst="rect">
            <a:avLst/>
          </a:prstGeom>
          <a:noFill/>
        </p:spPr>
        <p:txBody>
          <a:bodyPr wrap="square" lIns="0" rIns="0" tIns="0" bIns="0" anchor="ctr">
            <a:spAutoFit/>
          </a:bodyPr>
          <a:lstStyle/>
          <a:p>
            <a:pPr algn="r"/>
            <a:r>
              <a:rPr sz="850" b="1">
                <a:solidFill>
                  <a:srgbClr val="1F2E35"/>
                </a:solidFill>
                <a:latin typeface="Yu Gothic"/>
                <a:ea typeface="Yu Gothic"/>
                <a:cs typeface="Yu Gothic"/>
              </a:rPr>
              <a:t>Foundation</a:t>
            </a:r>
          </a:p>
        </p:txBody>
      </p:sp>
      <p:cxnSp>
        <p:nvCxnSpPr>
          <p:cNvPr id="78" name="Connector 77"/>
          <p:cNvCxnSpPr/>
          <p:nvPr/>
        </p:nvCxnSpPr>
        <p:spPr>
          <a:xfrm>
            <a:off x="2103120" y="6120993"/>
            <a:ext cx="9628632" cy="0"/>
          </a:xfrm>
          <a:prstGeom prst="line">
            <a:avLst/>
          </a:prstGeom>
          <a:ln w="6350">
            <a:solidFill>
              <a:srgbClr val="C3CFD1"/>
            </a:solidFill>
          </a:ln>
        </p:spPr>
      </p:cxnSp>
      <p:cxnSp>
        <p:nvCxnSpPr>
          <p:cNvPr id="79" name="Connector 78"/>
          <p:cNvCxnSpPr/>
          <p:nvPr/>
        </p:nvCxnSpPr>
        <p:spPr>
          <a:xfrm>
            <a:off x="8138160" y="1572768"/>
            <a:ext cx="0" cy="4548225"/>
          </a:xfrm>
          <a:prstGeom prst="line">
            <a:avLst/>
          </a:prstGeom>
          <a:ln w="12700">
            <a:solidFill>
              <a:srgbClr val="1F2E35"/>
            </a:solidFill>
            <a:prstDash val="dash"/>
          </a:ln>
        </p:spPr>
      </p:cxnSp>
      <p:sp>
        <p:nvSpPr>
          <p:cNvPr id="80" name="Oval 79"/>
          <p:cNvSpPr/>
          <p:nvPr/>
        </p:nvSpPr>
        <p:spPr>
          <a:xfrm>
            <a:off x="5405932" y="2341778"/>
            <a:ext cx="115214" cy="115214"/>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Oval 80"/>
          <p:cNvSpPr/>
          <p:nvPr/>
        </p:nvSpPr>
        <p:spPr>
          <a:xfrm>
            <a:off x="5405932" y="2477109"/>
            <a:ext cx="115214" cy="115214"/>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Oval 81"/>
          <p:cNvSpPr/>
          <p:nvPr/>
        </p:nvSpPr>
        <p:spPr>
          <a:xfrm>
            <a:off x="7212330" y="2500426"/>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p:cNvSpPr/>
          <p:nvPr/>
        </p:nvSpPr>
        <p:spPr>
          <a:xfrm>
            <a:off x="10778490" y="2500426"/>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Oval 83"/>
          <p:cNvSpPr/>
          <p:nvPr/>
        </p:nvSpPr>
        <p:spPr>
          <a:xfrm>
            <a:off x="5395874" y="2602382"/>
            <a:ext cx="135331" cy="135331"/>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Oval 84"/>
          <p:cNvSpPr/>
          <p:nvPr/>
        </p:nvSpPr>
        <p:spPr>
          <a:xfrm>
            <a:off x="10775289" y="2632557"/>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Oval 85"/>
          <p:cNvSpPr/>
          <p:nvPr/>
        </p:nvSpPr>
        <p:spPr>
          <a:xfrm>
            <a:off x="5426049" y="2767888"/>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Oval 86"/>
          <p:cNvSpPr/>
          <p:nvPr/>
        </p:nvSpPr>
        <p:spPr>
          <a:xfrm>
            <a:off x="8995410" y="2771089"/>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Oval 87"/>
          <p:cNvSpPr/>
          <p:nvPr/>
        </p:nvSpPr>
        <p:spPr>
          <a:xfrm>
            <a:off x="10775289" y="2767888"/>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Oval 88"/>
          <p:cNvSpPr/>
          <p:nvPr/>
        </p:nvSpPr>
        <p:spPr>
          <a:xfrm>
            <a:off x="5426049" y="2903220"/>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Oval 89"/>
          <p:cNvSpPr/>
          <p:nvPr/>
        </p:nvSpPr>
        <p:spPr>
          <a:xfrm>
            <a:off x="8992209" y="2903220"/>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Oval 90"/>
          <p:cNvSpPr/>
          <p:nvPr/>
        </p:nvSpPr>
        <p:spPr>
          <a:xfrm>
            <a:off x="7199071" y="3028492"/>
            <a:ext cx="95097" cy="95097"/>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Oval 91"/>
          <p:cNvSpPr/>
          <p:nvPr/>
        </p:nvSpPr>
        <p:spPr>
          <a:xfrm>
            <a:off x="7199071" y="3163824"/>
            <a:ext cx="95097" cy="95097"/>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Oval 92"/>
          <p:cNvSpPr/>
          <p:nvPr/>
        </p:nvSpPr>
        <p:spPr>
          <a:xfrm>
            <a:off x="7189012" y="3289096"/>
            <a:ext cx="115214" cy="115214"/>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Oval 93"/>
          <p:cNvSpPr/>
          <p:nvPr/>
        </p:nvSpPr>
        <p:spPr>
          <a:xfrm>
            <a:off x="7189012" y="3424428"/>
            <a:ext cx="115214" cy="115214"/>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Oval 94"/>
          <p:cNvSpPr/>
          <p:nvPr/>
        </p:nvSpPr>
        <p:spPr>
          <a:xfrm>
            <a:off x="8982151" y="3569817"/>
            <a:ext cx="95097" cy="95097"/>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Oval 95"/>
          <p:cNvSpPr/>
          <p:nvPr/>
        </p:nvSpPr>
        <p:spPr>
          <a:xfrm>
            <a:off x="10775289" y="3579876"/>
            <a:ext cx="74980" cy="7498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Oval 96"/>
          <p:cNvSpPr/>
          <p:nvPr/>
        </p:nvSpPr>
        <p:spPr>
          <a:xfrm>
            <a:off x="8972092" y="3695090"/>
            <a:ext cx="115214" cy="115214"/>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Oval 97"/>
          <p:cNvSpPr/>
          <p:nvPr/>
        </p:nvSpPr>
        <p:spPr>
          <a:xfrm>
            <a:off x="10775289" y="3715207"/>
            <a:ext cx="74980" cy="7498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Oval 98"/>
          <p:cNvSpPr/>
          <p:nvPr/>
        </p:nvSpPr>
        <p:spPr>
          <a:xfrm>
            <a:off x="10765231" y="3840480"/>
            <a:ext cx="95097" cy="95097"/>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Oval 99"/>
          <p:cNvSpPr/>
          <p:nvPr/>
        </p:nvSpPr>
        <p:spPr>
          <a:xfrm>
            <a:off x="10745114" y="3955694"/>
            <a:ext cx="135331" cy="135331"/>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Oval 100"/>
          <p:cNvSpPr/>
          <p:nvPr/>
        </p:nvSpPr>
        <p:spPr>
          <a:xfrm>
            <a:off x="7209129" y="4121200"/>
            <a:ext cx="74980" cy="7498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Oval 101"/>
          <p:cNvSpPr/>
          <p:nvPr/>
        </p:nvSpPr>
        <p:spPr>
          <a:xfrm>
            <a:off x="8995410" y="4124401"/>
            <a:ext cx="68580" cy="68580"/>
          </a:xfrm>
          <a:prstGeom prst="ellipse">
            <a:avLst/>
          </a:prstGeom>
          <a:solidFill>
            <a:srgbClr val="FFFFFF"/>
          </a:solidFill>
          <a:ln w="12700">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Oval 102"/>
          <p:cNvSpPr/>
          <p:nvPr/>
        </p:nvSpPr>
        <p:spPr>
          <a:xfrm>
            <a:off x="10765231" y="4111142"/>
            <a:ext cx="95097" cy="95097"/>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Oval 103"/>
          <p:cNvSpPr/>
          <p:nvPr/>
        </p:nvSpPr>
        <p:spPr>
          <a:xfrm>
            <a:off x="7212330" y="4259732"/>
            <a:ext cx="68580" cy="68580"/>
          </a:xfrm>
          <a:prstGeom prst="ellipse">
            <a:avLst/>
          </a:prstGeom>
          <a:solidFill>
            <a:srgbClr val="FFFFFF"/>
          </a:solidFill>
          <a:ln w="12700">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Oval 104"/>
          <p:cNvSpPr/>
          <p:nvPr/>
        </p:nvSpPr>
        <p:spPr>
          <a:xfrm>
            <a:off x="8992209" y="4256531"/>
            <a:ext cx="74980" cy="74980"/>
          </a:xfrm>
          <a:prstGeom prst="ellipse">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Oval 105"/>
          <p:cNvSpPr/>
          <p:nvPr/>
        </p:nvSpPr>
        <p:spPr>
          <a:xfrm>
            <a:off x="10778490" y="4259732"/>
            <a:ext cx="68580" cy="68580"/>
          </a:xfrm>
          <a:prstGeom prst="ellipse">
            <a:avLst/>
          </a:prstGeom>
          <a:solidFill>
            <a:srgbClr val="FFFFFF"/>
          </a:solidFill>
          <a:ln w="12700">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Oval 106"/>
          <p:cNvSpPr/>
          <p:nvPr/>
        </p:nvSpPr>
        <p:spPr>
          <a:xfrm>
            <a:off x="8995410" y="4395063"/>
            <a:ext cx="68580" cy="68580"/>
          </a:xfrm>
          <a:prstGeom prst="ellipse">
            <a:avLst/>
          </a:prstGeom>
          <a:solidFill>
            <a:srgbClr val="FFFFFF"/>
          </a:solidFill>
          <a:ln w="12700">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Oval 107"/>
          <p:cNvSpPr/>
          <p:nvPr/>
        </p:nvSpPr>
        <p:spPr>
          <a:xfrm>
            <a:off x="10778490" y="4395063"/>
            <a:ext cx="68580" cy="68580"/>
          </a:xfrm>
          <a:prstGeom prst="ellipse">
            <a:avLst/>
          </a:prstGeom>
          <a:solidFill>
            <a:srgbClr val="FFFFFF"/>
          </a:solidFill>
          <a:ln w="12700">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Oval 108"/>
          <p:cNvSpPr/>
          <p:nvPr/>
        </p:nvSpPr>
        <p:spPr>
          <a:xfrm>
            <a:off x="8992209" y="4527194"/>
            <a:ext cx="74980" cy="74980"/>
          </a:xfrm>
          <a:prstGeom prst="ellipse">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Oval 109"/>
          <p:cNvSpPr/>
          <p:nvPr/>
        </p:nvSpPr>
        <p:spPr>
          <a:xfrm>
            <a:off x="10778490" y="4530394"/>
            <a:ext cx="68580" cy="68580"/>
          </a:xfrm>
          <a:prstGeom prst="ellipse">
            <a:avLst/>
          </a:prstGeom>
          <a:solidFill>
            <a:srgbClr val="FFFFFF"/>
          </a:solidFill>
          <a:ln w="12700">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Oval 110"/>
          <p:cNvSpPr/>
          <p:nvPr/>
        </p:nvSpPr>
        <p:spPr>
          <a:xfrm>
            <a:off x="8992209" y="4662525"/>
            <a:ext cx="74980" cy="74980"/>
          </a:xfrm>
          <a:prstGeom prst="ellipse">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Oval 111"/>
          <p:cNvSpPr/>
          <p:nvPr/>
        </p:nvSpPr>
        <p:spPr>
          <a:xfrm>
            <a:off x="5429250" y="4801057"/>
            <a:ext cx="68580" cy="68580"/>
          </a:xfrm>
          <a:prstGeom prst="ellipse">
            <a:avLst/>
          </a:prstGeom>
          <a:solidFill>
            <a:srgbClr val="FFFFFF"/>
          </a:solidFill>
          <a:ln w="12700">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Oval 112"/>
          <p:cNvSpPr/>
          <p:nvPr/>
        </p:nvSpPr>
        <p:spPr>
          <a:xfrm>
            <a:off x="7212330" y="4801057"/>
            <a:ext cx="68580" cy="68580"/>
          </a:xfrm>
          <a:prstGeom prst="ellipse">
            <a:avLst/>
          </a:prstGeom>
          <a:solidFill>
            <a:srgbClr val="FFFFFF"/>
          </a:solidFill>
          <a:ln w="12700">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Oval 113"/>
          <p:cNvSpPr/>
          <p:nvPr/>
        </p:nvSpPr>
        <p:spPr>
          <a:xfrm>
            <a:off x="8972092" y="4913071"/>
            <a:ext cx="115214" cy="115214"/>
          </a:xfrm>
          <a:prstGeom prst="ellipse">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Oval 114"/>
          <p:cNvSpPr/>
          <p:nvPr/>
        </p:nvSpPr>
        <p:spPr>
          <a:xfrm>
            <a:off x="10778490" y="4936388"/>
            <a:ext cx="68580" cy="68580"/>
          </a:xfrm>
          <a:prstGeom prst="ellipse">
            <a:avLst/>
          </a:prstGeom>
          <a:solidFill>
            <a:srgbClr val="FFFFFF"/>
          </a:solidFill>
          <a:ln w="12700">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Oval 115"/>
          <p:cNvSpPr/>
          <p:nvPr/>
        </p:nvSpPr>
        <p:spPr>
          <a:xfrm>
            <a:off x="10755172" y="5048402"/>
            <a:ext cx="115214" cy="115214"/>
          </a:xfrm>
          <a:prstGeom prst="ellipse">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Oval 116"/>
          <p:cNvSpPr/>
          <p:nvPr/>
        </p:nvSpPr>
        <p:spPr>
          <a:xfrm>
            <a:off x="5426049" y="5203850"/>
            <a:ext cx="74980" cy="74980"/>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Oval 117"/>
          <p:cNvSpPr/>
          <p:nvPr/>
        </p:nvSpPr>
        <p:spPr>
          <a:xfrm>
            <a:off x="7178954" y="5173675"/>
            <a:ext cx="135331" cy="135331"/>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Oval 118"/>
          <p:cNvSpPr/>
          <p:nvPr/>
        </p:nvSpPr>
        <p:spPr>
          <a:xfrm>
            <a:off x="10765231" y="5193791"/>
            <a:ext cx="95097" cy="95097"/>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Oval 119"/>
          <p:cNvSpPr/>
          <p:nvPr/>
        </p:nvSpPr>
        <p:spPr>
          <a:xfrm>
            <a:off x="7209129" y="5339181"/>
            <a:ext cx="74980" cy="74980"/>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Oval 120"/>
          <p:cNvSpPr/>
          <p:nvPr/>
        </p:nvSpPr>
        <p:spPr>
          <a:xfrm>
            <a:off x="10765231" y="5329123"/>
            <a:ext cx="95097" cy="95097"/>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Oval 121"/>
          <p:cNvSpPr/>
          <p:nvPr/>
        </p:nvSpPr>
        <p:spPr>
          <a:xfrm>
            <a:off x="5429250" y="5477713"/>
            <a:ext cx="68580" cy="68580"/>
          </a:xfrm>
          <a:prstGeom prst="ellipse">
            <a:avLst/>
          </a:prstGeom>
          <a:solidFill>
            <a:srgbClr val="FFFFFF"/>
          </a:solidFill>
          <a:ln w="12700">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Oval 122"/>
          <p:cNvSpPr/>
          <p:nvPr/>
        </p:nvSpPr>
        <p:spPr>
          <a:xfrm>
            <a:off x="7212330" y="5477713"/>
            <a:ext cx="68580" cy="68580"/>
          </a:xfrm>
          <a:prstGeom prst="ellipse">
            <a:avLst/>
          </a:prstGeom>
          <a:solidFill>
            <a:srgbClr val="FFFFFF"/>
          </a:solidFill>
          <a:ln w="12700">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Oval 123"/>
          <p:cNvSpPr/>
          <p:nvPr/>
        </p:nvSpPr>
        <p:spPr>
          <a:xfrm>
            <a:off x="10778490" y="5477713"/>
            <a:ext cx="68580" cy="68580"/>
          </a:xfrm>
          <a:prstGeom prst="ellipse">
            <a:avLst/>
          </a:prstGeom>
          <a:solidFill>
            <a:srgbClr val="FFFFFF"/>
          </a:solidFill>
          <a:ln w="12700">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Oval 124"/>
          <p:cNvSpPr/>
          <p:nvPr/>
        </p:nvSpPr>
        <p:spPr>
          <a:xfrm>
            <a:off x="7212330" y="5613044"/>
            <a:ext cx="68580" cy="68580"/>
          </a:xfrm>
          <a:prstGeom prst="ellipse">
            <a:avLst/>
          </a:prstGeom>
          <a:solidFill>
            <a:srgbClr val="FFFFFF"/>
          </a:solidFill>
          <a:ln w="12700">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Oval 125"/>
          <p:cNvSpPr/>
          <p:nvPr/>
        </p:nvSpPr>
        <p:spPr>
          <a:xfrm>
            <a:off x="10775289" y="5609843"/>
            <a:ext cx="74980" cy="74980"/>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Oval 126"/>
          <p:cNvSpPr/>
          <p:nvPr/>
        </p:nvSpPr>
        <p:spPr>
          <a:xfrm>
            <a:off x="5426049" y="5745175"/>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Oval 127"/>
          <p:cNvSpPr/>
          <p:nvPr/>
        </p:nvSpPr>
        <p:spPr>
          <a:xfrm>
            <a:off x="7209129" y="5745175"/>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Oval 128"/>
          <p:cNvSpPr/>
          <p:nvPr/>
        </p:nvSpPr>
        <p:spPr>
          <a:xfrm>
            <a:off x="8995410" y="5748375"/>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Oval 129"/>
          <p:cNvSpPr/>
          <p:nvPr/>
        </p:nvSpPr>
        <p:spPr>
          <a:xfrm>
            <a:off x="10775289" y="5745175"/>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Oval 130"/>
          <p:cNvSpPr/>
          <p:nvPr/>
        </p:nvSpPr>
        <p:spPr>
          <a:xfrm>
            <a:off x="5429250" y="5883706"/>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Oval 131"/>
          <p:cNvSpPr/>
          <p:nvPr/>
        </p:nvSpPr>
        <p:spPr>
          <a:xfrm>
            <a:off x="7209129" y="5880506"/>
            <a:ext cx="74980" cy="7498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Oval 132"/>
          <p:cNvSpPr/>
          <p:nvPr/>
        </p:nvSpPr>
        <p:spPr>
          <a:xfrm>
            <a:off x="5429250" y="6019037"/>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Oval 133"/>
          <p:cNvSpPr/>
          <p:nvPr/>
        </p:nvSpPr>
        <p:spPr>
          <a:xfrm>
            <a:off x="7212330" y="6019037"/>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Oval 134"/>
          <p:cNvSpPr/>
          <p:nvPr/>
        </p:nvSpPr>
        <p:spPr>
          <a:xfrm>
            <a:off x="10778490" y="6019037"/>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457200" y="6230721"/>
            <a:ext cx="2011680" cy="201168"/>
          </a:xfrm>
          <a:prstGeom prst="rect">
            <a:avLst/>
          </a:prstGeom>
          <a:noFill/>
        </p:spPr>
        <p:txBody>
          <a:bodyPr wrap="square" lIns="0" rIns="0" tIns="0" bIns="0" anchor="ctr">
            <a:spAutoFit/>
          </a:bodyPr>
          <a:lstStyle/>
          <a:p>
            <a:pPr algn="l"/>
            <a:r>
              <a:rPr sz="800" b="1">
                <a:solidFill>
                  <a:srgbClr val="1F2E35"/>
                </a:solidFill>
                <a:latin typeface="Yu Gothic"/>
                <a:ea typeface="Yu Gothic"/>
                <a:cs typeface="Yu Gothic"/>
              </a:rPr>
              <a:t>円の大きさ＝「主」の関係の件数</a:t>
            </a:r>
          </a:p>
        </p:txBody>
      </p:sp>
      <p:sp>
        <p:nvSpPr>
          <p:cNvPr id="137" name="Oval 136"/>
          <p:cNvSpPr/>
          <p:nvPr/>
        </p:nvSpPr>
        <p:spPr>
          <a:xfrm>
            <a:off x="2743200" y="6293815"/>
            <a:ext cx="74980" cy="74980"/>
          </a:xfrm>
          <a:prstGeom prst="ellipse">
            <a:avLst/>
          </a:prstGeom>
          <a:solidFill>
            <a:srgbClr val="5B6B7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TextBox 137"/>
          <p:cNvSpPr txBox="1"/>
          <p:nvPr/>
        </p:nvSpPr>
        <p:spPr>
          <a:xfrm>
            <a:off x="2863900" y="6230721"/>
            <a:ext cx="36576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1</a:t>
            </a:r>
          </a:p>
        </p:txBody>
      </p:sp>
      <p:sp>
        <p:nvSpPr>
          <p:cNvPr id="139" name="Oval 138"/>
          <p:cNvSpPr/>
          <p:nvPr/>
        </p:nvSpPr>
        <p:spPr>
          <a:xfrm>
            <a:off x="3474720" y="6283756"/>
            <a:ext cx="95097" cy="95097"/>
          </a:xfrm>
          <a:prstGeom prst="ellipse">
            <a:avLst/>
          </a:prstGeom>
          <a:solidFill>
            <a:srgbClr val="5B6B7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TextBox 139"/>
          <p:cNvSpPr txBox="1"/>
          <p:nvPr/>
        </p:nvSpPr>
        <p:spPr>
          <a:xfrm>
            <a:off x="3615537" y="6230721"/>
            <a:ext cx="36576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2</a:t>
            </a:r>
          </a:p>
        </p:txBody>
      </p:sp>
      <p:sp>
        <p:nvSpPr>
          <p:cNvPr id="141" name="Oval 140"/>
          <p:cNvSpPr/>
          <p:nvPr/>
        </p:nvSpPr>
        <p:spPr>
          <a:xfrm>
            <a:off x="4206240" y="6263639"/>
            <a:ext cx="135331" cy="135331"/>
          </a:xfrm>
          <a:prstGeom prst="ellipse">
            <a:avLst/>
          </a:prstGeom>
          <a:solidFill>
            <a:srgbClr val="5B6B7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TextBox 141"/>
          <p:cNvSpPr txBox="1"/>
          <p:nvPr/>
        </p:nvSpPr>
        <p:spPr>
          <a:xfrm>
            <a:off x="4387291" y="6230721"/>
            <a:ext cx="36576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4</a:t>
            </a:r>
          </a:p>
        </p:txBody>
      </p:sp>
      <p:sp>
        <p:nvSpPr>
          <p:cNvPr id="143" name="Oval 142"/>
          <p:cNvSpPr/>
          <p:nvPr/>
        </p:nvSpPr>
        <p:spPr>
          <a:xfrm>
            <a:off x="4937759" y="6243523"/>
            <a:ext cx="175564" cy="175564"/>
          </a:xfrm>
          <a:prstGeom prst="ellipse">
            <a:avLst/>
          </a:prstGeom>
          <a:solidFill>
            <a:srgbClr val="5B6B7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TextBox 143"/>
          <p:cNvSpPr txBox="1"/>
          <p:nvPr/>
        </p:nvSpPr>
        <p:spPr>
          <a:xfrm>
            <a:off x="5159044" y="6230721"/>
            <a:ext cx="36576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6以上</a:t>
            </a:r>
          </a:p>
        </p:txBody>
      </p:sp>
      <p:sp>
        <p:nvSpPr>
          <p:cNvPr id="145" name="Oval 144"/>
          <p:cNvSpPr/>
          <p:nvPr/>
        </p:nvSpPr>
        <p:spPr>
          <a:xfrm>
            <a:off x="5669279" y="6297015"/>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TextBox 145"/>
          <p:cNvSpPr txBox="1"/>
          <p:nvPr/>
        </p:nvSpPr>
        <p:spPr>
          <a:xfrm>
            <a:off x="5779007" y="6230721"/>
            <a:ext cx="118872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支援の関係のみ</a:t>
            </a:r>
          </a:p>
        </p:txBody>
      </p:sp>
      <p:sp>
        <p:nvSpPr>
          <p:cNvPr id="147" name="TextBox 146"/>
          <p:cNvSpPr txBox="1"/>
          <p:nvPr/>
        </p:nvSpPr>
        <p:spPr>
          <a:xfrm>
            <a:off x="457200" y="6477609"/>
            <a:ext cx="11274552" cy="365760"/>
          </a:xfrm>
          <a:prstGeom prst="rect">
            <a:avLst/>
          </a:prstGeom>
          <a:noFill/>
        </p:spPr>
        <p:txBody>
          <a:bodyPr wrap="square" lIns="0" rIns="0" tIns="0" bIns="0" anchor="t">
            <a:spAutoFit/>
          </a:bodyPr>
          <a:lstStyle/>
          <a:p>
            <a:pPr algn="l"/>
            <a:r>
              <a:rPr sz="750" b="0">
                <a:solidFill>
                  <a:srgbClr val="5B6B70"/>
                </a:solidFill>
                <a:latin typeface="Yu Gothic"/>
                <a:ea typeface="Yu Gothic"/>
                <a:cs typeface="Yu Gothic"/>
              </a:rPr>
              <a:t>件数は、配下の仕事（VS L4）と能力（ケイパビリティL3）の間の「主」の関係の数。段階ごとに中核の領域が入れ替わる（S2P＝戦略・ガバナンス、R2D＝開発・導入、R2F・D2C＝サービス管理・運用）。データ・GxPコンプライアンスはR2DとD2Cの両方で中核になる。詳細（VS L3×ケイパビリティL2）はxlsxの「VS×ケイパビリティ」シート。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t">
            <a:spAutoFit/>
          </a:bodyPr>
          <a:lstStyle/>
          <a:p>
            <a:pPr algn="l"/>
            <a:r>
              <a:rPr sz="2800" b="1">
                <a:solidFill>
                  <a:srgbClr val="1F2E35"/>
                </a:solidFill>
                <a:latin typeface="Yu Gothic"/>
                <a:ea typeface="Yu Gothic"/>
                <a:cs typeface="Yu Gothic"/>
              </a:rPr>
              <a:t>アプリケーションマップ全体像</a:t>
            </a:r>
          </a:p>
        </p:txBody>
      </p:sp>
      <p:sp>
        <p:nvSpPr>
          <p:cNvPr id="3" name="TextBox 2"/>
          <p:cNvSpPr txBox="1"/>
          <p:nvPr/>
        </p:nvSpPr>
        <p:spPr>
          <a:xfrm>
            <a:off x="457200" y="841247"/>
            <a:ext cx="11247120" cy="365760"/>
          </a:xfrm>
          <a:prstGeom prst="rect">
            <a:avLst/>
          </a:prstGeom>
          <a:noFill/>
        </p:spPr>
        <p:txBody>
          <a:bodyPr wrap="square" lIns="0" rIns="0" tIns="0" bIns="0" anchor="t">
            <a:spAutoFit/>
          </a:bodyPr>
          <a:lstStyle/>
          <a:p>
            <a:pPr algn="l"/>
            <a:r>
              <a:rPr sz="1300" b="0">
                <a:solidFill>
                  <a:srgbClr val="5B6B70"/>
                </a:solidFill>
                <a:latin typeface="Yu Gothic"/>
                <a:ea typeface="Yu Gothic"/>
                <a:cs typeface="Yu Gothic"/>
              </a:rPr>
              <a:t>各能力（ケイパビリティL2）を主に支えるアプリケーション（種類の単位、●のみ。括弧内は略称）</a:t>
            </a:r>
          </a:p>
        </p:txBody>
      </p:sp>
      <p:sp>
        <p:nvSpPr>
          <p:cNvPr id="4" name="Rounded Rectangle 3"/>
          <p:cNvSpPr/>
          <p:nvPr/>
        </p:nvSpPr>
        <p:spPr>
          <a:xfrm>
            <a:off x="9189720" y="457200"/>
            <a:ext cx="384048" cy="155448"/>
          </a:xfrm>
          <a:prstGeom prst="roundRect">
            <a:avLst/>
          </a:prstGeom>
          <a:solidFill>
            <a:srgbClr val="E4EAEC"/>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46920" y="420624"/>
            <a:ext cx="210312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複数の領域で使うアプリケーション</a:t>
            </a:r>
          </a:p>
        </p:txBody>
      </p:sp>
      <p:sp>
        <p:nvSpPr>
          <p:cNvPr id="6" name="Rounded Rectangle 5"/>
          <p:cNvSpPr/>
          <p:nvPr/>
        </p:nvSpPr>
        <p:spPr>
          <a:xfrm>
            <a:off x="457200" y="1243584"/>
            <a:ext cx="11274552" cy="914400"/>
          </a:xfrm>
          <a:prstGeom prst="roundRect">
            <a:avLst>
              <a:gd name="adj" fmla="val 8000"/>
            </a:avLst>
          </a:prstGeom>
          <a:solidFill>
            <a:srgbClr val="FFFFFF"/>
          </a:solidFill>
          <a:ln w="1905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57200" y="1280160"/>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IT戦略・ガバナンス（Strategy &amp; Governance）</a:t>
            </a:r>
          </a:p>
        </p:txBody>
      </p:sp>
      <p:sp>
        <p:nvSpPr>
          <p:cNvPr id="8" name="TextBox 7"/>
          <p:cNvSpPr txBox="1"/>
          <p:nvPr/>
        </p:nvSpPr>
        <p:spPr>
          <a:xfrm>
            <a:off x="566928" y="1508760"/>
            <a:ext cx="2211019"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IT戦略・DX企画</a:t>
            </a:r>
          </a:p>
        </p:txBody>
      </p:sp>
      <p:sp>
        <p:nvSpPr>
          <p:cNvPr id="9" name="TextBox 8"/>
          <p:cNvSpPr txBox="1"/>
          <p:nvPr/>
        </p:nvSpPr>
        <p:spPr>
          <a:xfrm>
            <a:off x="566928" y="1700784"/>
            <a:ext cx="2211019" cy="310896"/>
          </a:xfrm>
          <a:prstGeom prst="rect">
            <a:avLst/>
          </a:prstGeom>
          <a:noFill/>
        </p:spPr>
        <p:txBody>
          <a:bodyPr wrap="square" lIns="0" rIns="0" tIns="0" bIns="0" anchor="ctr">
            <a:spAutoFit/>
          </a:bodyPr>
          <a:lstStyle/>
          <a:p>
            <a:pPr algn="ctr"/>
            <a:r>
              <a:rPr sz="650" b="0">
                <a:solidFill>
                  <a:srgbClr val="5B6B70"/>
                </a:solidFill>
                <a:latin typeface="Yu Gothic"/>
                <a:ea typeface="Yu Gothic"/>
                <a:cs typeface="Yu Gothic"/>
              </a:rPr>
              <a:t>（主に支えるアプリケーションなし）</a:t>
            </a:r>
          </a:p>
        </p:txBody>
      </p:sp>
      <p:sp>
        <p:nvSpPr>
          <p:cNvPr id="10" name="TextBox 9"/>
          <p:cNvSpPr txBox="1"/>
          <p:nvPr/>
        </p:nvSpPr>
        <p:spPr>
          <a:xfrm>
            <a:off x="2777947" y="1508760"/>
            <a:ext cx="2211019"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エンタープライズアーキテクチャ</a:t>
            </a:r>
          </a:p>
        </p:txBody>
      </p:sp>
      <p:sp>
        <p:nvSpPr>
          <p:cNvPr id="11" name="Rounded Rectangle 10"/>
          <p:cNvSpPr/>
          <p:nvPr/>
        </p:nvSpPr>
        <p:spPr>
          <a:xfrm>
            <a:off x="2841955" y="1700784"/>
            <a:ext cx="2064715" cy="310896"/>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69387" y="1709928"/>
            <a:ext cx="2009851" cy="292608"/>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EA・アプリケーションポートフォリオ管理</a:t>
            </a:r>
          </a:p>
          <a:p>
            <a:pPr algn="ctr"/>
            <a:r>
              <a:rPr sz="550" b="0">
                <a:solidFill>
                  <a:srgbClr val="5B6B70"/>
                </a:solidFill>
                <a:latin typeface="Yu Gothic"/>
                <a:ea typeface="Yu Gothic"/>
                <a:cs typeface="Yu Gothic"/>
              </a:rPr>
              <a:t>（EAツール／APM）</a:t>
            </a:r>
          </a:p>
        </p:txBody>
      </p:sp>
      <p:sp>
        <p:nvSpPr>
          <p:cNvPr id="13" name="TextBox 12"/>
          <p:cNvSpPr txBox="1"/>
          <p:nvPr/>
        </p:nvSpPr>
        <p:spPr>
          <a:xfrm>
            <a:off x="4988966" y="1508760"/>
            <a:ext cx="2211019"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ITポートフォリオ・需要管理</a:t>
            </a:r>
          </a:p>
        </p:txBody>
      </p:sp>
      <p:sp>
        <p:nvSpPr>
          <p:cNvPr id="14" name="Rounded Rectangle 13"/>
          <p:cNvSpPr/>
          <p:nvPr/>
        </p:nvSpPr>
        <p:spPr>
          <a:xfrm>
            <a:off x="5052974" y="1700784"/>
            <a:ext cx="2064715" cy="310896"/>
          </a:xfrm>
          <a:prstGeom prst="roundRect">
            <a:avLst/>
          </a:prstGeom>
          <a:solidFill>
            <a:srgbClr val="E4EAEC"/>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080406" y="1709928"/>
            <a:ext cx="2009851" cy="292608"/>
          </a:xfrm>
          <a:prstGeom prst="rect">
            <a:avLst/>
          </a:prstGeom>
          <a:noFill/>
        </p:spPr>
        <p:txBody>
          <a:bodyPr wrap="square" lIns="0" rIns="0" tIns="0" bIns="0" anchor="ctr">
            <a:spAutoFit/>
          </a:bodyPr>
          <a:lstStyle/>
          <a:p>
            <a:pPr algn="ctr"/>
            <a:r>
              <a:rPr sz="700" b="1">
                <a:solidFill>
                  <a:srgbClr val="1F2E35"/>
                </a:solidFill>
                <a:latin typeface="Yu Gothic"/>
                <a:ea typeface="Yu Gothic"/>
                <a:cs typeface="Yu Gothic"/>
              </a:rPr>
              <a:t>ITポートフォリオ・プロジェクト管理</a:t>
            </a:r>
          </a:p>
          <a:p>
            <a:pPr algn="ctr"/>
            <a:r>
              <a:rPr sz="550" b="0">
                <a:solidFill>
                  <a:srgbClr val="5B6B70"/>
                </a:solidFill>
                <a:latin typeface="Yu Gothic"/>
                <a:ea typeface="Yu Gothic"/>
                <a:cs typeface="Yu Gothic"/>
              </a:rPr>
              <a:t>（PPM／SPM）</a:t>
            </a:r>
          </a:p>
        </p:txBody>
      </p:sp>
      <p:sp>
        <p:nvSpPr>
          <p:cNvPr id="16" name="TextBox 15"/>
          <p:cNvSpPr txBox="1"/>
          <p:nvPr/>
        </p:nvSpPr>
        <p:spPr>
          <a:xfrm>
            <a:off x="7199985" y="1508760"/>
            <a:ext cx="2211019"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ITガバナンス・リスク管理★</a:t>
            </a:r>
          </a:p>
        </p:txBody>
      </p:sp>
      <p:sp>
        <p:nvSpPr>
          <p:cNvPr id="17" name="Rounded Rectangle 16"/>
          <p:cNvSpPr/>
          <p:nvPr/>
        </p:nvSpPr>
        <p:spPr>
          <a:xfrm>
            <a:off x="7263993" y="1700784"/>
            <a:ext cx="2064715" cy="310896"/>
          </a:xfrm>
          <a:prstGeom prst="roundRect">
            <a:avLst/>
          </a:prstGeom>
          <a:solidFill>
            <a:srgbClr val="E4EAEC"/>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291425" y="1709928"/>
            <a:ext cx="2009851" cy="292608"/>
          </a:xfrm>
          <a:prstGeom prst="rect">
            <a:avLst/>
          </a:prstGeom>
          <a:noFill/>
        </p:spPr>
        <p:txBody>
          <a:bodyPr wrap="square" lIns="0" rIns="0" tIns="0" bIns="0" anchor="ctr">
            <a:spAutoFit/>
          </a:bodyPr>
          <a:lstStyle/>
          <a:p>
            <a:pPr algn="ctr"/>
            <a:r>
              <a:rPr sz="700" b="1">
                <a:solidFill>
                  <a:srgbClr val="1F2E35"/>
                </a:solidFill>
                <a:latin typeface="Yu Gothic"/>
                <a:ea typeface="Yu Gothic"/>
                <a:cs typeface="Yu Gothic"/>
              </a:rPr>
              <a:t>GRC・IT統制管理</a:t>
            </a:r>
          </a:p>
          <a:p>
            <a:pPr algn="ctr"/>
            <a:r>
              <a:rPr sz="550" b="0">
                <a:solidFill>
                  <a:srgbClr val="5B6B70"/>
                </a:solidFill>
                <a:latin typeface="Yu Gothic"/>
                <a:ea typeface="Yu Gothic"/>
                <a:cs typeface="Yu Gothic"/>
              </a:rPr>
              <a:t>（GRC）</a:t>
            </a:r>
          </a:p>
        </p:txBody>
      </p:sp>
      <p:sp>
        <p:nvSpPr>
          <p:cNvPr id="19" name="TextBox 18"/>
          <p:cNvSpPr txBox="1"/>
          <p:nvPr/>
        </p:nvSpPr>
        <p:spPr>
          <a:xfrm>
            <a:off x="9411004" y="1508760"/>
            <a:ext cx="2211019"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IT財務管理</a:t>
            </a:r>
          </a:p>
        </p:txBody>
      </p:sp>
      <p:sp>
        <p:nvSpPr>
          <p:cNvPr id="20" name="Rounded Rectangle 19"/>
          <p:cNvSpPr/>
          <p:nvPr/>
        </p:nvSpPr>
        <p:spPr>
          <a:xfrm>
            <a:off x="9475012" y="1700784"/>
            <a:ext cx="2064715" cy="310896"/>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502444" y="1709928"/>
            <a:ext cx="2009851" cy="292608"/>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IT財務管理</a:t>
            </a:r>
          </a:p>
          <a:p>
            <a:pPr algn="ctr"/>
            <a:r>
              <a:rPr sz="550" b="0">
                <a:solidFill>
                  <a:srgbClr val="5B6B70"/>
                </a:solidFill>
                <a:latin typeface="Yu Gothic"/>
                <a:ea typeface="Yu Gothic"/>
                <a:cs typeface="Yu Gothic"/>
              </a:rPr>
              <a:t>（ITFM／TBM）</a:t>
            </a:r>
          </a:p>
        </p:txBody>
      </p:sp>
      <p:sp>
        <p:nvSpPr>
          <p:cNvPr id="22" name="Rounded Rectangle 21"/>
          <p:cNvSpPr/>
          <p:nvPr/>
        </p:nvSpPr>
        <p:spPr>
          <a:xfrm>
            <a:off x="457200" y="2304288"/>
            <a:ext cx="2057400" cy="3474720"/>
          </a:xfrm>
          <a:prstGeom prst="roundRect">
            <a:avLst>
              <a:gd name="adj" fmla="val 5000"/>
            </a:avLst>
          </a:prstGeom>
          <a:solidFill>
            <a:srgbClr val="E8F1FB"/>
          </a:solidFill>
          <a:ln w="19050">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2340864"/>
            <a:ext cx="2057400" cy="256032"/>
          </a:xfrm>
          <a:prstGeom prst="rect">
            <a:avLst/>
          </a:prstGeom>
          <a:noFill/>
        </p:spPr>
        <p:txBody>
          <a:bodyPr wrap="square" lIns="0" rIns="0" tIns="0" bIns="0" anchor="ctr">
            <a:spAutoFit/>
          </a:bodyPr>
          <a:lstStyle/>
          <a:p>
            <a:pPr algn="ctr"/>
            <a:r>
              <a:rPr sz="1200" b="1">
                <a:solidFill>
                  <a:srgbClr val="1F62B8"/>
                </a:solidFill>
                <a:latin typeface="Yu Gothic"/>
                <a:ea typeface="Yu Gothic"/>
                <a:cs typeface="Yu Gothic"/>
              </a:rPr>
              <a:t>Solution Delivery</a:t>
            </a:r>
          </a:p>
        </p:txBody>
      </p:sp>
      <p:sp>
        <p:nvSpPr>
          <p:cNvPr id="24" name="Rounded Rectangle 23"/>
          <p:cNvSpPr/>
          <p:nvPr/>
        </p:nvSpPr>
        <p:spPr>
          <a:xfrm>
            <a:off x="521208" y="2615184"/>
            <a:ext cx="192938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21208" y="2633472"/>
            <a:ext cx="192938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プロジェクト管理★</a:t>
            </a:r>
          </a:p>
        </p:txBody>
      </p:sp>
      <p:sp>
        <p:nvSpPr>
          <p:cNvPr id="26" name="Rounded Rectangle 25"/>
          <p:cNvSpPr/>
          <p:nvPr/>
        </p:nvSpPr>
        <p:spPr>
          <a:xfrm>
            <a:off x="585216" y="2862072"/>
            <a:ext cx="1801367" cy="301752"/>
          </a:xfrm>
          <a:prstGeom prst="roundRect">
            <a:avLst/>
          </a:prstGeom>
          <a:solidFill>
            <a:srgbClr val="E4EAEC"/>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12648" y="2871215"/>
            <a:ext cx="1746503" cy="283464"/>
          </a:xfrm>
          <a:prstGeom prst="rect">
            <a:avLst/>
          </a:prstGeom>
          <a:noFill/>
        </p:spPr>
        <p:txBody>
          <a:bodyPr wrap="square" lIns="0" rIns="0" tIns="0" bIns="0" anchor="ctr">
            <a:spAutoFit/>
          </a:bodyPr>
          <a:lstStyle/>
          <a:p>
            <a:pPr algn="ctr"/>
            <a:r>
              <a:rPr sz="700" b="1">
                <a:solidFill>
                  <a:srgbClr val="1F2E35"/>
                </a:solidFill>
                <a:latin typeface="Yu Gothic"/>
                <a:ea typeface="Yu Gothic"/>
                <a:cs typeface="Yu Gothic"/>
              </a:rPr>
              <a:t>ITポートフォリオ・プロジェクト管理</a:t>
            </a:r>
          </a:p>
          <a:p>
            <a:pPr algn="ctr"/>
            <a:r>
              <a:rPr sz="550" b="0">
                <a:solidFill>
                  <a:srgbClr val="5B6B70"/>
                </a:solidFill>
                <a:latin typeface="Yu Gothic"/>
                <a:ea typeface="Yu Gothic"/>
                <a:cs typeface="Yu Gothic"/>
              </a:rPr>
              <a:t>（PPM／SPM）</a:t>
            </a:r>
          </a:p>
        </p:txBody>
      </p:sp>
      <p:sp>
        <p:nvSpPr>
          <p:cNvPr id="28" name="Rounded Rectangle 27"/>
          <p:cNvSpPr/>
          <p:nvPr/>
        </p:nvSpPr>
        <p:spPr>
          <a:xfrm>
            <a:off x="521208" y="3273552"/>
            <a:ext cx="192938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21208" y="3291840"/>
            <a:ext cx="192938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要件定義・設計</a:t>
            </a:r>
          </a:p>
        </p:txBody>
      </p:sp>
      <p:sp>
        <p:nvSpPr>
          <p:cNvPr id="30" name="Rounded Rectangle 29"/>
          <p:cNvSpPr/>
          <p:nvPr/>
        </p:nvSpPr>
        <p:spPr>
          <a:xfrm>
            <a:off x="585216" y="3520440"/>
            <a:ext cx="1801367" cy="301752"/>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12648" y="3529584"/>
            <a:ext cx="174650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要件・テスト管理</a:t>
            </a:r>
          </a:p>
          <a:p>
            <a:pPr algn="ctr"/>
            <a:r>
              <a:rPr sz="550" b="0">
                <a:solidFill>
                  <a:srgbClr val="5B6B70"/>
                </a:solidFill>
                <a:latin typeface="Yu Gothic"/>
                <a:ea typeface="Yu Gothic"/>
                <a:cs typeface="Yu Gothic"/>
              </a:rPr>
              <a:t>（ALM）</a:t>
            </a:r>
          </a:p>
        </p:txBody>
      </p:sp>
      <p:sp>
        <p:nvSpPr>
          <p:cNvPr id="32" name="Rounded Rectangle 31"/>
          <p:cNvSpPr/>
          <p:nvPr/>
        </p:nvSpPr>
        <p:spPr>
          <a:xfrm>
            <a:off x="521208" y="3931920"/>
            <a:ext cx="192938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21208" y="3950207"/>
            <a:ext cx="192938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開発・構成</a:t>
            </a:r>
          </a:p>
        </p:txBody>
      </p:sp>
      <p:sp>
        <p:nvSpPr>
          <p:cNvPr id="34" name="Rounded Rectangle 33"/>
          <p:cNvSpPr/>
          <p:nvPr/>
        </p:nvSpPr>
        <p:spPr>
          <a:xfrm>
            <a:off x="585216" y="4178807"/>
            <a:ext cx="1801367" cy="301752"/>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12648" y="4187951"/>
            <a:ext cx="174650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ソースコード管理・CI/CD</a:t>
            </a:r>
          </a:p>
          <a:p>
            <a:pPr algn="ctr"/>
            <a:r>
              <a:rPr sz="550" b="0">
                <a:solidFill>
                  <a:srgbClr val="5B6B70"/>
                </a:solidFill>
                <a:latin typeface="Yu Gothic"/>
                <a:ea typeface="Yu Gothic"/>
                <a:cs typeface="Yu Gothic"/>
              </a:rPr>
              <a:t>（コードリポジトリ／CI/CDパイプライン）</a:t>
            </a:r>
          </a:p>
        </p:txBody>
      </p:sp>
      <p:sp>
        <p:nvSpPr>
          <p:cNvPr id="36" name="Rounded Rectangle 35"/>
          <p:cNvSpPr/>
          <p:nvPr/>
        </p:nvSpPr>
        <p:spPr>
          <a:xfrm>
            <a:off x="521208" y="4590288"/>
            <a:ext cx="192938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521208" y="4608575"/>
            <a:ext cx="192938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テスト・リリース</a:t>
            </a:r>
          </a:p>
        </p:txBody>
      </p:sp>
      <p:sp>
        <p:nvSpPr>
          <p:cNvPr id="38" name="Rounded Rectangle 37"/>
          <p:cNvSpPr/>
          <p:nvPr/>
        </p:nvSpPr>
        <p:spPr>
          <a:xfrm>
            <a:off x="585216" y="4837175"/>
            <a:ext cx="1801367" cy="301752"/>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12648" y="4846319"/>
            <a:ext cx="174650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要件・テスト管理</a:t>
            </a:r>
          </a:p>
          <a:p>
            <a:pPr algn="ctr"/>
            <a:r>
              <a:rPr sz="550" b="0">
                <a:solidFill>
                  <a:srgbClr val="5B6B70"/>
                </a:solidFill>
                <a:latin typeface="Yu Gothic"/>
                <a:ea typeface="Yu Gothic"/>
                <a:cs typeface="Yu Gothic"/>
              </a:rPr>
              <a:t>（ALM）</a:t>
            </a:r>
          </a:p>
        </p:txBody>
      </p:sp>
      <p:sp>
        <p:nvSpPr>
          <p:cNvPr id="40" name="Chevron 39"/>
          <p:cNvSpPr/>
          <p:nvPr/>
        </p:nvSpPr>
        <p:spPr>
          <a:xfrm rot="5400000">
            <a:off x="1426464" y="2084831"/>
            <a:ext cx="118872" cy="310896"/>
          </a:xfrm>
          <a:prstGeom prst="chevron">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rot="5400000">
            <a:off x="1426464" y="5705856"/>
            <a:ext cx="118872" cy="310896"/>
          </a:xfrm>
          <a:prstGeom prst="chevron">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2578608" y="2304288"/>
            <a:ext cx="3063240" cy="3474720"/>
          </a:xfrm>
          <a:prstGeom prst="roundRect">
            <a:avLst>
              <a:gd name="adj" fmla="val 5000"/>
            </a:avLst>
          </a:prstGeom>
          <a:solidFill>
            <a:srgbClr val="E6F6F0"/>
          </a:solidFill>
          <a:ln w="19050">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2578608" y="2340864"/>
            <a:ext cx="3063240" cy="256032"/>
          </a:xfrm>
          <a:prstGeom prst="rect">
            <a:avLst/>
          </a:prstGeom>
          <a:noFill/>
        </p:spPr>
        <p:txBody>
          <a:bodyPr wrap="square" lIns="0" rIns="0" tIns="0" bIns="0" anchor="ctr">
            <a:spAutoFit/>
          </a:bodyPr>
          <a:lstStyle/>
          <a:p>
            <a:pPr algn="ctr"/>
            <a:r>
              <a:rPr sz="1150" b="1">
                <a:solidFill>
                  <a:srgbClr val="0E7A52"/>
                </a:solidFill>
                <a:latin typeface="Yu Gothic"/>
                <a:ea typeface="Yu Gothic"/>
                <a:cs typeface="Yu Gothic"/>
              </a:rPr>
              <a:t>Service Management &amp; Operations</a:t>
            </a:r>
          </a:p>
        </p:txBody>
      </p:sp>
      <p:sp>
        <p:nvSpPr>
          <p:cNvPr id="44" name="Rounded Rectangle 43"/>
          <p:cNvSpPr/>
          <p:nvPr/>
        </p:nvSpPr>
        <p:spPr>
          <a:xfrm>
            <a:off x="2642616" y="2615184"/>
            <a:ext cx="2935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2642616" y="2633472"/>
            <a:ext cx="2935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サービスカタログ・サービスレベル管理</a:t>
            </a:r>
          </a:p>
        </p:txBody>
      </p:sp>
      <p:sp>
        <p:nvSpPr>
          <p:cNvPr id="46" name="Rounded Rectangle 45"/>
          <p:cNvSpPr/>
          <p:nvPr/>
        </p:nvSpPr>
        <p:spPr>
          <a:xfrm>
            <a:off x="2706624" y="2862072"/>
            <a:ext cx="1376172" cy="301752"/>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2734056" y="2871215"/>
            <a:ext cx="1321307"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ITサービス管理</a:t>
            </a:r>
          </a:p>
          <a:p>
            <a:pPr algn="ctr"/>
            <a:r>
              <a:rPr sz="550" b="0">
                <a:solidFill>
                  <a:srgbClr val="5B6B70"/>
                </a:solidFill>
                <a:latin typeface="Yu Gothic"/>
                <a:ea typeface="Yu Gothic"/>
                <a:cs typeface="Yu Gothic"/>
              </a:rPr>
              <a:t>（ITSM）</a:t>
            </a:r>
          </a:p>
        </p:txBody>
      </p:sp>
      <p:sp>
        <p:nvSpPr>
          <p:cNvPr id="48" name="Rounded Rectangle 47"/>
          <p:cNvSpPr/>
          <p:nvPr/>
        </p:nvSpPr>
        <p:spPr>
          <a:xfrm>
            <a:off x="2642616" y="3273552"/>
            <a:ext cx="2935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2642616" y="3291840"/>
            <a:ext cx="2935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サービスデスク・要求実現</a:t>
            </a:r>
          </a:p>
        </p:txBody>
      </p:sp>
      <p:sp>
        <p:nvSpPr>
          <p:cNvPr id="50" name="Rounded Rectangle 49"/>
          <p:cNvSpPr/>
          <p:nvPr/>
        </p:nvSpPr>
        <p:spPr>
          <a:xfrm>
            <a:off x="2706624" y="3520440"/>
            <a:ext cx="1376172" cy="301752"/>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2734056" y="3529584"/>
            <a:ext cx="1321307"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ITサービス管理</a:t>
            </a:r>
          </a:p>
          <a:p>
            <a:pPr algn="ctr"/>
            <a:r>
              <a:rPr sz="550" b="0">
                <a:solidFill>
                  <a:srgbClr val="5B6B70"/>
                </a:solidFill>
                <a:latin typeface="Yu Gothic"/>
                <a:ea typeface="Yu Gothic"/>
                <a:cs typeface="Yu Gothic"/>
              </a:rPr>
              <a:t>（ITSM）</a:t>
            </a:r>
          </a:p>
        </p:txBody>
      </p:sp>
      <p:sp>
        <p:nvSpPr>
          <p:cNvPr id="52" name="Rounded Rectangle 51"/>
          <p:cNvSpPr/>
          <p:nvPr/>
        </p:nvSpPr>
        <p:spPr>
          <a:xfrm>
            <a:off x="2642616" y="3931920"/>
            <a:ext cx="2935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2642616" y="3950207"/>
            <a:ext cx="2935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IT運用・監視</a:t>
            </a:r>
          </a:p>
        </p:txBody>
      </p:sp>
      <p:sp>
        <p:nvSpPr>
          <p:cNvPr id="54" name="Rounded Rectangle 53"/>
          <p:cNvSpPr/>
          <p:nvPr/>
        </p:nvSpPr>
        <p:spPr>
          <a:xfrm>
            <a:off x="2706624" y="4178807"/>
            <a:ext cx="1376172" cy="301752"/>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2734056" y="4187951"/>
            <a:ext cx="1321307"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統合監視</a:t>
            </a:r>
          </a:p>
          <a:p>
            <a:pPr algn="ctr"/>
            <a:r>
              <a:rPr sz="550" b="0">
                <a:solidFill>
                  <a:srgbClr val="5B6B70"/>
                </a:solidFill>
                <a:latin typeface="Yu Gothic"/>
                <a:ea typeface="Yu Gothic"/>
                <a:cs typeface="Yu Gothic"/>
              </a:rPr>
              <a:t>（監視ツール／オブザーバビリティ）</a:t>
            </a:r>
          </a:p>
        </p:txBody>
      </p:sp>
      <p:sp>
        <p:nvSpPr>
          <p:cNvPr id="56" name="Rounded Rectangle 55"/>
          <p:cNvSpPr/>
          <p:nvPr/>
        </p:nvSpPr>
        <p:spPr>
          <a:xfrm>
            <a:off x="4137660" y="4178807"/>
            <a:ext cx="1376172" cy="301752"/>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4165092" y="4187951"/>
            <a:ext cx="1321307"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ジョブ管理・バックアップ</a:t>
            </a:r>
          </a:p>
          <a:p>
            <a:pPr algn="ctr"/>
            <a:r>
              <a:rPr sz="525" b="0">
                <a:solidFill>
                  <a:srgbClr val="5B6B70"/>
                </a:solidFill>
                <a:latin typeface="Yu Gothic"/>
                <a:ea typeface="Yu Gothic"/>
                <a:cs typeface="Yu Gothic"/>
              </a:rPr>
              <a:t>（ジョブスケジューラ／バックアップ）</a:t>
            </a:r>
          </a:p>
        </p:txBody>
      </p:sp>
      <p:sp>
        <p:nvSpPr>
          <p:cNvPr id="58" name="Rounded Rectangle 57"/>
          <p:cNvSpPr/>
          <p:nvPr/>
        </p:nvSpPr>
        <p:spPr>
          <a:xfrm>
            <a:off x="2642616" y="4590288"/>
            <a:ext cx="2935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2642616" y="4608575"/>
            <a:ext cx="2935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インシデント・問題管理</a:t>
            </a:r>
          </a:p>
        </p:txBody>
      </p:sp>
      <p:sp>
        <p:nvSpPr>
          <p:cNvPr id="60" name="Rounded Rectangle 59"/>
          <p:cNvSpPr/>
          <p:nvPr/>
        </p:nvSpPr>
        <p:spPr>
          <a:xfrm>
            <a:off x="2706624" y="4837175"/>
            <a:ext cx="1376172" cy="301752"/>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2734056" y="4846319"/>
            <a:ext cx="1321307"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ITサービス管理</a:t>
            </a:r>
          </a:p>
          <a:p>
            <a:pPr algn="ctr"/>
            <a:r>
              <a:rPr sz="550" b="0">
                <a:solidFill>
                  <a:srgbClr val="5B6B70"/>
                </a:solidFill>
                <a:latin typeface="Yu Gothic"/>
                <a:ea typeface="Yu Gothic"/>
                <a:cs typeface="Yu Gothic"/>
              </a:rPr>
              <a:t>（ITSM）</a:t>
            </a:r>
          </a:p>
        </p:txBody>
      </p:sp>
      <p:sp>
        <p:nvSpPr>
          <p:cNvPr id="62" name="Rounded Rectangle 61"/>
          <p:cNvSpPr/>
          <p:nvPr/>
        </p:nvSpPr>
        <p:spPr>
          <a:xfrm>
            <a:off x="2642616" y="5248655"/>
            <a:ext cx="2935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2642616" y="5266943"/>
            <a:ext cx="2935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変更・構成管理★</a:t>
            </a:r>
          </a:p>
        </p:txBody>
      </p:sp>
      <p:sp>
        <p:nvSpPr>
          <p:cNvPr id="64" name="Rounded Rectangle 63"/>
          <p:cNvSpPr/>
          <p:nvPr/>
        </p:nvSpPr>
        <p:spPr>
          <a:xfrm>
            <a:off x="2706624" y="5495543"/>
            <a:ext cx="1376172" cy="301752"/>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2734056" y="5504687"/>
            <a:ext cx="1321307"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構成管理データベース</a:t>
            </a:r>
          </a:p>
          <a:p>
            <a:pPr algn="ctr"/>
            <a:r>
              <a:rPr sz="550" b="0">
                <a:solidFill>
                  <a:srgbClr val="5B6B70"/>
                </a:solidFill>
                <a:latin typeface="Yu Gothic"/>
                <a:ea typeface="Yu Gothic"/>
                <a:cs typeface="Yu Gothic"/>
              </a:rPr>
              <a:t>（CMDB）</a:t>
            </a:r>
          </a:p>
        </p:txBody>
      </p:sp>
      <p:sp>
        <p:nvSpPr>
          <p:cNvPr id="66" name="Rounded Rectangle 65"/>
          <p:cNvSpPr/>
          <p:nvPr/>
        </p:nvSpPr>
        <p:spPr>
          <a:xfrm>
            <a:off x="4137660" y="5495543"/>
            <a:ext cx="1376172" cy="301752"/>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4165092" y="5504687"/>
            <a:ext cx="1321307"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ITサービス管理</a:t>
            </a:r>
          </a:p>
          <a:p>
            <a:pPr algn="ctr"/>
            <a:r>
              <a:rPr sz="550" b="0">
                <a:solidFill>
                  <a:srgbClr val="5B6B70"/>
                </a:solidFill>
                <a:latin typeface="Yu Gothic"/>
                <a:ea typeface="Yu Gothic"/>
                <a:cs typeface="Yu Gothic"/>
              </a:rPr>
              <a:t>（ITSM）</a:t>
            </a:r>
          </a:p>
        </p:txBody>
      </p:sp>
      <p:sp>
        <p:nvSpPr>
          <p:cNvPr id="68" name="Chevron 67"/>
          <p:cNvSpPr/>
          <p:nvPr/>
        </p:nvSpPr>
        <p:spPr>
          <a:xfrm rot="5400000">
            <a:off x="4050791" y="2084831"/>
            <a:ext cx="118872" cy="310896"/>
          </a:xfrm>
          <a:prstGeom prst="chevron">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Chevron 68"/>
          <p:cNvSpPr/>
          <p:nvPr/>
        </p:nvSpPr>
        <p:spPr>
          <a:xfrm rot="5400000">
            <a:off x="4050791" y="5705856"/>
            <a:ext cx="118872" cy="310896"/>
          </a:xfrm>
          <a:prstGeom prst="chevron">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5705856" y="2304288"/>
            <a:ext cx="1920240" cy="3474720"/>
          </a:xfrm>
          <a:prstGeom prst="roundRect">
            <a:avLst>
              <a:gd name="adj" fmla="val 5000"/>
            </a:avLst>
          </a:prstGeom>
          <a:solidFill>
            <a:srgbClr val="EEECF7"/>
          </a:solidFill>
          <a:ln w="19050">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5705856" y="2340864"/>
            <a:ext cx="1920240" cy="256032"/>
          </a:xfrm>
          <a:prstGeom prst="rect">
            <a:avLst/>
          </a:prstGeom>
          <a:noFill/>
        </p:spPr>
        <p:txBody>
          <a:bodyPr wrap="square" lIns="0" rIns="0" tIns="0" bIns="0" anchor="ctr">
            <a:spAutoFit/>
          </a:bodyPr>
          <a:lstStyle/>
          <a:p>
            <a:pPr algn="ctr"/>
            <a:r>
              <a:rPr sz="800" b="1">
                <a:solidFill>
                  <a:srgbClr val="4A3AA7"/>
                </a:solidFill>
                <a:latin typeface="Yu Gothic"/>
                <a:ea typeface="Yu Gothic"/>
                <a:cs typeface="Yu Gothic"/>
              </a:rPr>
              <a:t>Platform &amp; Infrastructure</a:t>
            </a:r>
          </a:p>
        </p:txBody>
      </p:sp>
      <p:sp>
        <p:nvSpPr>
          <p:cNvPr id="72" name="Rounded Rectangle 71"/>
          <p:cNvSpPr/>
          <p:nvPr/>
        </p:nvSpPr>
        <p:spPr>
          <a:xfrm>
            <a:off x="5769864" y="2615184"/>
            <a:ext cx="1792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769864" y="2633472"/>
            <a:ext cx="1792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クラウド・データセンター</a:t>
            </a:r>
          </a:p>
        </p:txBody>
      </p:sp>
      <p:sp>
        <p:nvSpPr>
          <p:cNvPr id="74" name="Rounded Rectangle 73"/>
          <p:cNvSpPr/>
          <p:nvPr/>
        </p:nvSpPr>
        <p:spPr>
          <a:xfrm>
            <a:off x="5833872" y="2862072"/>
            <a:ext cx="1664207" cy="301752"/>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861304" y="2871215"/>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クラウド管理</a:t>
            </a:r>
          </a:p>
          <a:p>
            <a:pPr algn="ctr"/>
            <a:r>
              <a:rPr sz="550" b="0">
                <a:solidFill>
                  <a:srgbClr val="5B6B70"/>
                </a:solidFill>
                <a:latin typeface="Yu Gothic"/>
                <a:ea typeface="Yu Gothic"/>
                <a:cs typeface="Yu Gothic"/>
              </a:rPr>
              <a:t>（クラウド管理ポータル／FinOps）</a:t>
            </a:r>
          </a:p>
        </p:txBody>
      </p:sp>
      <p:sp>
        <p:nvSpPr>
          <p:cNvPr id="76" name="Rounded Rectangle 75"/>
          <p:cNvSpPr/>
          <p:nvPr/>
        </p:nvSpPr>
        <p:spPr>
          <a:xfrm>
            <a:off x="5769864" y="3273552"/>
            <a:ext cx="1792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5769864" y="3291840"/>
            <a:ext cx="1792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ネットワーク</a:t>
            </a:r>
          </a:p>
        </p:txBody>
      </p:sp>
      <p:sp>
        <p:nvSpPr>
          <p:cNvPr id="78" name="Rounded Rectangle 77"/>
          <p:cNvSpPr/>
          <p:nvPr/>
        </p:nvSpPr>
        <p:spPr>
          <a:xfrm>
            <a:off x="5833872" y="3520440"/>
            <a:ext cx="1664207" cy="301752"/>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5861304" y="3529584"/>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ネットワーク管理</a:t>
            </a:r>
          </a:p>
          <a:p>
            <a:pPr algn="ctr"/>
            <a:r>
              <a:rPr sz="550" b="0">
                <a:solidFill>
                  <a:srgbClr val="5B6B70"/>
                </a:solidFill>
                <a:latin typeface="Yu Gothic"/>
                <a:ea typeface="Yu Gothic"/>
                <a:cs typeface="Yu Gothic"/>
              </a:rPr>
              <a:t>（NMS／SASE）</a:t>
            </a:r>
          </a:p>
        </p:txBody>
      </p:sp>
      <p:sp>
        <p:nvSpPr>
          <p:cNvPr id="80" name="Rounded Rectangle 79"/>
          <p:cNvSpPr/>
          <p:nvPr/>
        </p:nvSpPr>
        <p:spPr>
          <a:xfrm>
            <a:off x="5769864" y="3931920"/>
            <a:ext cx="1792224" cy="950976"/>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769864" y="3950207"/>
            <a:ext cx="1792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エンドユーザー環境</a:t>
            </a:r>
          </a:p>
        </p:txBody>
      </p:sp>
      <p:sp>
        <p:nvSpPr>
          <p:cNvPr id="82" name="Rounded Rectangle 81"/>
          <p:cNvSpPr/>
          <p:nvPr/>
        </p:nvSpPr>
        <p:spPr>
          <a:xfrm>
            <a:off x="5833872" y="4178807"/>
            <a:ext cx="1664207" cy="301752"/>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5861304" y="4187951"/>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エンドポイント管理</a:t>
            </a:r>
          </a:p>
          <a:p>
            <a:pPr algn="ctr"/>
            <a:r>
              <a:rPr sz="550" b="0">
                <a:solidFill>
                  <a:srgbClr val="5B6B70"/>
                </a:solidFill>
                <a:latin typeface="Yu Gothic"/>
                <a:ea typeface="Yu Gothic"/>
                <a:cs typeface="Yu Gothic"/>
              </a:rPr>
              <a:t>（UEM（MDM））</a:t>
            </a:r>
          </a:p>
        </p:txBody>
      </p:sp>
      <p:sp>
        <p:nvSpPr>
          <p:cNvPr id="84" name="Rounded Rectangle 83"/>
          <p:cNvSpPr/>
          <p:nvPr/>
        </p:nvSpPr>
        <p:spPr>
          <a:xfrm>
            <a:off x="5833872" y="4517136"/>
            <a:ext cx="1664207" cy="301752"/>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5861304" y="4526279"/>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コラボレーション基盤</a:t>
            </a:r>
          </a:p>
          <a:p>
            <a:pPr algn="ctr"/>
            <a:r>
              <a:rPr sz="550" b="0">
                <a:solidFill>
                  <a:srgbClr val="5B6B70"/>
                </a:solidFill>
                <a:latin typeface="Yu Gothic"/>
                <a:ea typeface="Yu Gothic"/>
                <a:cs typeface="Yu Gothic"/>
              </a:rPr>
              <a:t>（メール・会議・ファイル共有）</a:t>
            </a:r>
          </a:p>
        </p:txBody>
      </p:sp>
      <p:sp>
        <p:nvSpPr>
          <p:cNvPr id="86" name="Rounded Rectangle 85"/>
          <p:cNvSpPr/>
          <p:nvPr/>
        </p:nvSpPr>
        <p:spPr>
          <a:xfrm>
            <a:off x="5769864" y="4928616"/>
            <a:ext cx="1792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5769864" y="4946903"/>
            <a:ext cx="1792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IT資産・ライセンス管理</a:t>
            </a:r>
          </a:p>
        </p:txBody>
      </p:sp>
      <p:sp>
        <p:nvSpPr>
          <p:cNvPr id="88" name="Rounded Rectangle 87"/>
          <p:cNvSpPr/>
          <p:nvPr/>
        </p:nvSpPr>
        <p:spPr>
          <a:xfrm>
            <a:off x="5833872" y="5175503"/>
            <a:ext cx="1664207" cy="301752"/>
          </a:xfrm>
          <a:prstGeom prst="roundRect">
            <a:avLst/>
          </a:prstGeom>
          <a:solidFill>
            <a:srgbClr val="FF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5861304" y="5184647"/>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IT資産・ライセンス管理</a:t>
            </a:r>
          </a:p>
          <a:p>
            <a:pPr algn="ctr"/>
            <a:r>
              <a:rPr sz="550" b="0">
                <a:solidFill>
                  <a:srgbClr val="5B6B70"/>
                </a:solidFill>
                <a:latin typeface="Yu Gothic"/>
                <a:ea typeface="Yu Gothic"/>
                <a:cs typeface="Yu Gothic"/>
              </a:rPr>
              <a:t>（ITAM／SAM）</a:t>
            </a:r>
          </a:p>
        </p:txBody>
      </p:sp>
      <p:sp>
        <p:nvSpPr>
          <p:cNvPr id="90" name="Chevron 89"/>
          <p:cNvSpPr/>
          <p:nvPr/>
        </p:nvSpPr>
        <p:spPr>
          <a:xfrm rot="5400000">
            <a:off x="6606540" y="2084831"/>
            <a:ext cx="118872" cy="310896"/>
          </a:xfrm>
          <a:prstGeom prst="chevron">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Chevron 90"/>
          <p:cNvSpPr/>
          <p:nvPr/>
        </p:nvSpPr>
        <p:spPr>
          <a:xfrm rot="5400000">
            <a:off x="6606540" y="5705856"/>
            <a:ext cx="118872" cy="310896"/>
          </a:xfrm>
          <a:prstGeom prst="chevron">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7690104" y="2304288"/>
            <a:ext cx="1920240" cy="3474720"/>
          </a:xfrm>
          <a:prstGeom prst="roundRect">
            <a:avLst>
              <a:gd name="adj" fmla="val 5000"/>
            </a:avLst>
          </a:prstGeom>
          <a:solidFill>
            <a:srgbClr val="FDEEE7"/>
          </a:solidFill>
          <a:ln w="19050">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7690104" y="2340864"/>
            <a:ext cx="1920240" cy="256032"/>
          </a:xfrm>
          <a:prstGeom prst="rect">
            <a:avLst/>
          </a:prstGeom>
          <a:noFill/>
        </p:spPr>
        <p:txBody>
          <a:bodyPr wrap="square" lIns="0" rIns="0" tIns="0" bIns="0" anchor="ctr">
            <a:spAutoFit/>
          </a:bodyPr>
          <a:lstStyle/>
          <a:p>
            <a:pPr algn="ctr"/>
            <a:r>
              <a:rPr sz="1200" b="1">
                <a:solidFill>
                  <a:srgbClr val="C24E1C"/>
                </a:solidFill>
                <a:latin typeface="Yu Gothic"/>
                <a:ea typeface="Yu Gothic"/>
                <a:cs typeface="Yu Gothic"/>
              </a:rPr>
              <a:t>Cybersecurity</a:t>
            </a:r>
          </a:p>
        </p:txBody>
      </p:sp>
      <p:sp>
        <p:nvSpPr>
          <p:cNvPr id="94" name="Rounded Rectangle 93"/>
          <p:cNvSpPr/>
          <p:nvPr/>
        </p:nvSpPr>
        <p:spPr>
          <a:xfrm>
            <a:off x="7754112" y="2615184"/>
            <a:ext cx="179222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TextBox 94"/>
          <p:cNvSpPr txBox="1"/>
          <p:nvPr/>
        </p:nvSpPr>
        <p:spPr>
          <a:xfrm>
            <a:off x="7754112" y="2633472"/>
            <a:ext cx="1792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セキュリティガバナンス</a:t>
            </a:r>
          </a:p>
        </p:txBody>
      </p:sp>
      <p:sp>
        <p:nvSpPr>
          <p:cNvPr id="96" name="Rounded Rectangle 95"/>
          <p:cNvSpPr/>
          <p:nvPr/>
        </p:nvSpPr>
        <p:spPr>
          <a:xfrm>
            <a:off x="7818120" y="2862072"/>
            <a:ext cx="1664207" cy="301752"/>
          </a:xfrm>
          <a:prstGeom prst="roundRect">
            <a:avLst/>
          </a:prstGeom>
          <a:solidFill>
            <a:srgbClr val="E4EAEC"/>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TextBox 96"/>
          <p:cNvSpPr txBox="1"/>
          <p:nvPr/>
        </p:nvSpPr>
        <p:spPr>
          <a:xfrm>
            <a:off x="7845552" y="2871215"/>
            <a:ext cx="1609343" cy="283464"/>
          </a:xfrm>
          <a:prstGeom prst="rect">
            <a:avLst/>
          </a:prstGeom>
          <a:noFill/>
        </p:spPr>
        <p:txBody>
          <a:bodyPr wrap="square" lIns="0" rIns="0" tIns="0" bIns="0" anchor="ctr">
            <a:spAutoFit/>
          </a:bodyPr>
          <a:lstStyle/>
          <a:p>
            <a:pPr algn="ctr"/>
            <a:r>
              <a:rPr sz="700" b="1">
                <a:solidFill>
                  <a:srgbClr val="1F2E35"/>
                </a:solidFill>
                <a:latin typeface="Yu Gothic"/>
                <a:ea typeface="Yu Gothic"/>
                <a:cs typeface="Yu Gothic"/>
              </a:rPr>
              <a:t>GRC・IT統制管理</a:t>
            </a:r>
          </a:p>
          <a:p>
            <a:pPr algn="ctr"/>
            <a:r>
              <a:rPr sz="550" b="0">
                <a:solidFill>
                  <a:srgbClr val="5B6B70"/>
                </a:solidFill>
                <a:latin typeface="Yu Gothic"/>
                <a:ea typeface="Yu Gothic"/>
                <a:cs typeface="Yu Gothic"/>
              </a:rPr>
              <a:t>（GRC）</a:t>
            </a:r>
          </a:p>
        </p:txBody>
      </p:sp>
      <p:sp>
        <p:nvSpPr>
          <p:cNvPr id="98" name="Rounded Rectangle 97"/>
          <p:cNvSpPr/>
          <p:nvPr/>
        </p:nvSpPr>
        <p:spPr>
          <a:xfrm>
            <a:off x="7754112" y="3273552"/>
            <a:ext cx="1792224" cy="950976"/>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7754112" y="3291840"/>
            <a:ext cx="1792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ID・アクセス管理★</a:t>
            </a:r>
          </a:p>
        </p:txBody>
      </p:sp>
      <p:sp>
        <p:nvSpPr>
          <p:cNvPr id="100" name="Rounded Rectangle 99"/>
          <p:cNvSpPr/>
          <p:nvPr/>
        </p:nvSpPr>
        <p:spPr>
          <a:xfrm>
            <a:off x="7818120" y="3520440"/>
            <a:ext cx="1664207" cy="301752"/>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extBox 100"/>
          <p:cNvSpPr txBox="1"/>
          <p:nvPr/>
        </p:nvSpPr>
        <p:spPr>
          <a:xfrm>
            <a:off x="7845552" y="3529584"/>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ID・アクセス管理</a:t>
            </a:r>
          </a:p>
          <a:p>
            <a:pPr algn="ctr"/>
            <a:r>
              <a:rPr sz="550" b="0">
                <a:solidFill>
                  <a:srgbClr val="5B6B70"/>
                </a:solidFill>
                <a:latin typeface="Yu Gothic"/>
                <a:ea typeface="Yu Gothic"/>
                <a:cs typeface="Yu Gothic"/>
              </a:rPr>
              <a:t>（IAM／IGA・SSO）</a:t>
            </a:r>
          </a:p>
        </p:txBody>
      </p:sp>
      <p:sp>
        <p:nvSpPr>
          <p:cNvPr id="102" name="Rounded Rectangle 101"/>
          <p:cNvSpPr/>
          <p:nvPr/>
        </p:nvSpPr>
        <p:spPr>
          <a:xfrm>
            <a:off x="7818120" y="3858768"/>
            <a:ext cx="1664207" cy="301752"/>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7845552" y="3867911"/>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特権ID管理</a:t>
            </a:r>
          </a:p>
          <a:p>
            <a:pPr algn="ctr"/>
            <a:r>
              <a:rPr sz="550" b="0">
                <a:solidFill>
                  <a:srgbClr val="5B6B70"/>
                </a:solidFill>
                <a:latin typeface="Yu Gothic"/>
                <a:ea typeface="Yu Gothic"/>
                <a:cs typeface="Yu Gothic"/>
              </a:rPr>
              <a:t>（PAM）</a:t>
            </a:r>
          </a:p>
        </p:txBody>
      </p:sp>
      <p:sp>
        <p:nvSpPr>
          <p:cNvPr id="104" name="Rounded Rectangle 103"/>
          <p:cNvSpPr/>
          <p:nvPr/>
        </p:nvSpPr>
        <p:spPr>
          <a:xfrm>
            <a:off x="7754112" y="4270248"/>
            <a:ext cx="1792224" cy="950976"/>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7754112" y="4288536"/>
            <a:ext cx="179222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セキュリティ運用</a:t>
            </a:r>
          </a:p>
        </p:txBody>
      </p:sp>
      <p:sp>
        <p:nvSpPr>
          <p:cNvPr id="106" name="Rounded Rectangle 105"/>
          <p:cNvSpPr/>
          <p:nvPr/>
        </p:nvSpPr>
        <p:spPr>
          <a:xfrm>
            <a:off x="7818120" y="4517136"/>
            <a:ext cx="1664207" cy="301752"/>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7845552" y="4526279"/>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セキュリティ監視</a:t>
            </a:r>
          </a:p>
          <a:p>
            <a:pPr algn="ctr"/>
            <a:r>
              <a:rPr sz="550" b="0">
                <a:solidFill>
                  <a:srgbClr val="5B6B70"/>
                </a:solidFill>
                <a:latin typeface="Yu Gothic"/>
                <a:ea typeface="Yu Gothic"/>
                <a:cs typeface="Yu Gothic"/>
              </a:rPr>
              <a:t>（SIEM／EDR）</a:t>
            </a:r>
          </a:p>
        </p:txBody>
      </p:sp>
      <p:sp>
        <p:nvSpPr>
          <p:cNvPr id="108" name="Rounded Rectangle 107"/>
          <p:cNvSpPr/>
          <p:nvPr/>
        </p:nvSpPr>
        <p:spPr>
          <a:xfrm>
            <a:off x="7818120" y="4855464"/>
            <a:ext cx="1664207" cy="301752"/>
          </a:xfrm>
          <a:prstGeom prst="roundRect">
            <a:avLst/>
          </a:prstGeom>
          <a:solidFill>
            <a:srgbClr val="FF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7845552" y="4864607"/>
            <a:ext cx="160934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脆弱性管理</a:t>
            </a:r>
          </a:p>
          <a:p>
            <a:pPr algn="ctr"/>
            <a:r>
              <a:rPr sz="550" b="0">
                <a:solidFill>
                  <a:srgbClr val="5B6B70"/>
                </a:solidFill>
                <a:latin typeface="Yu Gothic"/>
                <a:ea typeface="Yu Gothic"/>
                <a:cs typeface="Yu Gothic"/>
              </a:rPr>
              <a:t>（脆弱性スキャナ／ASM）</a:t>
            </a:r>
          </a:p>
        </p:txBody>
      </p:sp>
      <p:sp>
        <p:nvSpPr>
          <p:cNvPr id="110" name="Chevron 109"/>
          <p:cNvSpPr/>
          <p:nvPr/>
        </p:nvSpPr>
        <p:spPr>
          <a:xfrm rot="5400000">
            <a:off x="8590788" y="2084831"/>
            <a:ext cx="118872" cy="310896"/>
          </a:xfrm>
          <a:prstGeom prst="chevron">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Chevron 110"/>
          <p:cNvSpPr/>
          <p:nvPr/>
        </p:nvSpPr>
        <p:spPr>
          <a:xfrm rot="5400000">
            <a:off x="8590788" y="5705856"/>
            <a:ext cx="118872" cy="310896"/>
          </a:xfrm>
          <a:prstGeom prst="chevron">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Rounded Rectangle 111"/>
          <p:cNvSpPr/>
          <p:nvPr/>
        </p:nvSpPr>
        <p:spPr>
          <a:xfrm>
            <a:off x="9674352" y="2304288"/>
            <a:ext cx="2057400" cy="3474720"/>
          </a:xfrm>
          <a:prstGeom prst="roundRect">
            <a:avLst>
              <a:gd name="adj" fmla="val 5000"/>
            </a:avLst>
          </a:prstGeom>
          <a:solidFill>
            <a:srgbClr val="FBEAF1"/>
          </a:solidFill>
          <a:ln w="19050">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TextBox 112"/>
          <p:cNvSpPr txBox="1"/>
          <p:nvPr/>
        </p:nvSpPr>
        <p:spPr>
          <a:xfrm>
            <a:off x="9674352" y="2340864"/>
            <a:ext cx="2057400" cy="256032"/>
          </a:xfrm>
          <a:prstGeom prst="rect">
            <a:avLst/>
          </a:prstGeom>
          <a:noFill/>
        </p:spPr>
        <p:txBody>
          <a:bodyPr wrap="square" lIns="0" rIns="0" tIns="0" bIns="0" anchor="ctr">
            <a:spAutoFit/>
          </a:bodyPr>
          <a:lstStyle/>
          <a:p>
            <a:pPr algn="ctr"/>
            <a:r>
              <a:rPr sz="1050" b="1">
                <a:solidFill>
                  <a:srgbClr val="9A2553"/>
                </a:solidFill>
                <a:latin typeface="Yu Gothic"/>
                <a:ea typeface="Yu Gothic"/>
                <a:cs typeface="Yu Gothic"/>
              </a:rPr>
              <a:t>Data &amp; GxP Compliance</a:t>
            </a:r>
          </a:p>
        </p:txBody>
      </p:sp>
      <p:sp>
        <p:nvSpPr>
          <p:cNvPr id="114" name="Rounded Rectangle 113"/>
          <p:cNvSpPr/>
          <p:nvPr/>
        </p:nvSpPr>
        <p:spPr>
          <a:xfrm>
            <a:off x="9738360" y="2615184"/>
            <a:ext cx="192938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9738360" y="2633472"/>
            <a:ext cx="192938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GxPシステム管理（CSV）★</a:t>
            </a:r>
          </a:p>
        </p:txBody>
      </p:sp>
      <p:sp>
        <p:nvSpPr>
          <p:cNvPr id="116" name="Rounded Rectangle 115"/>
          <p:cNvSpPr/>
          <p:nvPr/>
        </p:nvSpPr>
        <p:spPr>
          <a:xfrm>
            <a:off x="9802368" y="2862072"/>
            <a:ext cx="1801367" cy="301752"/>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9829800" y="2871215"/>
            <a:ext cx="174650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バリデーション管理</a:t>
            </a:r>
          </a:p>
          <a:p>
            <a:pPr algn="ctr"/>
            <a:r>
              <a:rPr sz="550" b="0">
                <a:solidFill>
                  <a:srgbClr val="5B6B70"/>
                </a:solidFill>
                <a:latin typeface="Yu Gothic"/>
                <a:ea typeface="Yu Gothic"/>
                <a:cs typeface="Yu Gothic"/>
              </a:rPr>
              <a:t>（VLMS（ペーパーレスバリデーション））</a:t>
            </a:r>
          </a:p>
        </p:txBody>
      </p:sp>
      <p:sp>
        <p:nvSpPr>
          <p:cNvPr id="118" name="Rounded Rectangle 117"/>
          <p:cNvSpPr/>
          <p:nvPr/>
        </p:nvSpPr>
        <p:spPr>
          <a:xfrm>
            <a:off x="9738360" y="3273552"/>
            <a:ext cx="192938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TextBox 118"/>
          <p:cNvSpPr txBox="1"/>
          <p:nvPr/>
        </p:nvSpPr>
        <p:spPr>
          <a:xfrm>
            <a:off x="9738360" y="3291840"/>
            <a:ext cx="192938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データインテグリティ★</a:t>
            </a:r>
          </a:p>
        </p:txBody>
      </p:sp>
      <p:sp>
        <p:nvSpPr>
          <p:cNvPr id="120" name="Rounded Rectangle 119"/>
          <p:cNvSpPr/>
          <p:nvPr/>
        </p:nvSpPr>
        <p:spPr>
          <a:xfrm>
            <a:off x="9802368" y="3520440"/>
            <a:ext cx="1801367" cy="301752"/>
          </a:xfrm>
          <a:prstGeom prst="roundRect">
            <a:avLst/>
          </a:prstGeom>
          <a:solidFill>
            <a:srgbClr val="E4EAEC"/>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TextBox 120"/>
          <p:cNvSpPr txBox="1"/>
          <p:nvPr/>
        </p:nvSpPr>
        <p:spPr>
          <a:xfrm>
            <a:off x="9829800" y="3529584"/>
            <a:ext cx="1746503" cy="283464"/>
          </a:xfrm>
          <a:prstGeom prst="rect">
            <a:avLst/>
          </a:prstGeom>
          <a:noFill/>
        </p:spPr>
        <p:txBody>
          <a:bodyPr wrap="square" lIns="0" rIns="0" tIns="0" bIns="0" anchor="ctr">
            <a:spAutoFit/>
          </a:bodyPr>
          <a:lstStyle/>
          <a:p>
            <a:pPr algn="ctr"/>
            <a:r>
              <a:rPr sz="700" b="1">
                <a:solidFill>
                  <a:srgbClr val="1F2E35"/>
                </a:solidFill>
                <a:latin typeface="Yu Gothic"/>
                <a:ea typeface="Yu Gothic"/>
                <a:cs typeface="Yu Gothic"/>
              </a:rPr>
              <a:t>文書管理</a:t>
            </a:r>
          </a:p>
          <a:p>
            <a:pPr algn="ctr"/>
            <a:r>
              <a:rPr sz="550" b="0">
                <a:solidFill>
                  <a:srgbClr val="5B6B70"/>
                </a:solidFill>
                <a:latin typeface="Yu Gothic"/>
                <a:ea typeface="Yu Gothic"/>
                <a:cs typeface="Yu Gothic"/>
              </a:rPr>
              <a:t>（eDMS）</a:t>
            </a:r>
          </a:p>
        </p:txBody>
      </p:sp>
      <p:sp>
        <p:nvSpPr>
          <p:cNvPr id="122" name="Rounded Rectangle 121"/>
          <p:cNvSpPr/>
          <p:nvPr/>
        </p:nvSpPr>
        <p:spPr>
          <a:xfrm>
            <a:off x="9738360" y="3931920"/>
            <a:ext cx="1929384" cy="950976"/>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TextBox 122"/>
          <p:cNvSpPr txBox="1"/>
          <p:nvPr/>
        </p:nvSpPr>
        <p:spPr>
          <a:xfrm>
            <a:off x="9738360" y="3950207"/>
            <a:ext cx="192938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データ管理</a:t>
            </a:r>
          </a:p>
        </p:txBody>
      </p:sp>
      <p:sp>
        <p:nvSpPr>
          <p:cNvPr id="124" name="Rounded Rectangle 123"/>
          <p:cNvSpPr/>
          <p:nvPr/>
        </p:nvSpPr>
        <p:spPr>
          <a:xfrm>
            <a:off x="9802368" y="4178807"/>
            <a:ext cx="1801367" cy="301752"/>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TextBox 124"/>
          <p:cNvSpPr txBox="1"/>
          <p:nvPr/>
        </p:nvSpPr>
        <p:spPr>
          <a:xfrm>
            <a:off x="9829800" y="4187951"/>
            <a:ext cx="174650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マスタデータ管理・データカタログ</a:t>
            </a:r>
          </a:p>
          <a:p>
            <a:pPr algn="ctr"/>
            <a:r>
              <a:rPr sz="550" b="0">
                <a:solidFill>
                  <a:srgbClr val="5B6B70"/>
                </a:solidFill>
                <a:latin typeface="Yu Gothic"/>
                <a:ea typeface="Yu Gothic"/>
                <a:cs typeface="Yu Gothic"/>
              </a:rPr>
              <a:t>（MDM／データカタログ）</a:t>
            </a:r>
          </a:p>
        </p:txBody>
      </p:sp>
      <p:sp>
        <p:nvSpPr>
          <p:cNvPr id="126" name="Rounded Rectangle 125"/>
          <p:cNvSpPr/>
          <p:nvPr/>
        </p:nvSpPr>
        <p:spPr>
          <a:xfrm>
            <a:off x="9802368" y="4517136"/>
            <a:ext cx="1801367" cy="301752"/>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TextBox 126"/>
          <p:cNvSpPr txBox="1"/>
          <p:nvPr/>
        </p:nvSpPr>
        <p:spPr>
          <a:xfrm>
            <a:off x="9829800" y="4526279"/>
            <a:ext cx="174650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データ・分析基盤</a:t>
            </a:r>
          </a:p>
          <a:p>
            <a:pPr algn="ctr"/>
            <a:r>
              <a:rPr sz="550" b="0">
                <a:solidFill>
                  <a:srgbClr val="5B6B70"/>
                </a:solidFill>
                <a:latin typeface="Yu Gothic"/>
                <a:ea typeface="Yu Gothic"/>
                <a:cs typeface="Yu Gothic"/>
              </a:rPr>
              <a:t>（データレイク／DWH／BI）</a:t>
            </a:r>
          </a:p>
        </p:txBody>
      </p:sp>
      <p:sp>
        <p:nvSpPr>
          <p:cNvPr id="128" name="Rounded Rectangle 127"/>
          <p:cNvSpPr/>
          <p:nvPr/>
        </p:nvSpPr>
        <p:spPr>
          <a:xfrm>
            <a:off x="9738360" y="4928616"/>
            <a:ext cx="1929384" cy="612648"/>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p:cNvSpPr txBox="1"/>
          <p:nvPr/>
        </p:nvSpPr>
        <p:spPr>
          <a:xfrm>
            <a:off x="9738360" y="4946903"/>
            <a:ext cx="1929384"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個人情報・データ保護</a:t>
            </a:r>
          </a:p>
        </p:txBody>
      </p:sp>
      <p:sp>
        <p:nvSpPr>
          <p:cNvPr id="130" name="Rounded Rectangle 129"/>
          <p:cNvSpPr/>
          <p:nvPr/>
        </p:nvSpPr>
        <p:spPr>
          <a:xfrm>
            <a:off x="9802368" y="5175503"/>
            <a:ext cx="1801367" cy="301752"/>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p:cNvSpPr txBox="1"/>
          <p:nvPr/>
        </p:nvSpPr>
        <p:spPr>
          <a:xfrm>
            <a:off x="9829800" y="5184647"/>
            <a:ext cx="1746503" cy="283464"/>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個人情報管理</a:t>
            </a:r>
          </a:p>
          <a:p>
            <a:pPr algn="ctr"/>
            <a:r>
              <a:rPr sz="550" b="0">
                <a:solidFill>
                  <a:srgbClr val="5B6B70"/>
                </a:solidFill>
                <a:latin typeface="Yu Gothic"/>
                <a:ea typeface="Yu Gothic"/>
                <a:cs typeface="Yu Gothic"/>
              </a:rPr>
              <a:t>（プライバシー管理ツール）</a:t>
            </a:r>
          </a:p>
        </p:txBody>
      </p:sp>
      <p:sp>
        <p:nvSpPr>
          <p:cNvPr id="132" name="Chevron 131"/>
          <p:cNvSpPr/>
          <p:nvPr/>
        </p:nvSpPr>
        <p:spPr>
          <a:xfrm rot="5400000">
            <a:off x="10643616" y="2084831"/>
            <a:ext cx="118872" cy="310896"/>
          </a:xfrm>
          <a:prstGeom prst="chevron">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Chevron 132"/>
          <p:cNvSpPr/>
          <p:nvPr/>
        </p:nvSpPr>
        <p:spPr>
          <a:xfrm rot="5400000">
            <a:off x="10643616" y="5705856"/>
            <a:ext cx="118872" cy="310896"/>
          </a:xfrm>
          <a:prstGeom prst="chevron">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Rounded Rectangle 133"/>
          <p:cNvSpPr/>
          <p:nvPr/>
        </p:nvSpPr>
        <p:spPr>
          <a:xfrm>
            <a:off x="457200" y="5888736"/>
            <a:ext cx="11274552" cy="868680"/>
          </a:xfrm>
          <a:prstGeom prst="roundRect">
            <a:avLst>
              <a:gd name="adj" fmla="val 8000"/>
            </a:avLst>
          </a:prstGeom>
          <a:solidFill>
            <a:srgbClr val="FFFFFF"/>
          </a:solidFill>
          <a:ln w="1905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p:cNvSpPr txBox="1"/>
          <p:nvPr/>
        </p:nvSpPr>
        <p:spPr>
          <a:xfrm>
            <a:off x="457200" y="5925312"/>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IT組織・ソーシング基盤（Support / Foundation）</a:t>
            </a:r>
          </a:p>
        </p:txBody>
      </p:sp>
      <p:sp>
        <p:nvSpPr>
          <p:cNvPr id="136" name="TextBox 135"/>
          <p:cNvSpPr txBox="1"/>
          <p:nvPr/>
        </p:nvSpPr>
        <p:spPr>
          <a:xfrm>
            <a:off x="566928" y="6153912"/>
            <a:ext cx="3685032"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ITソーシング・ベンダー管理★</a:t>
            </a:r>
          </a:p>
        </p:txBody>
      </p:sp>
      <p:sp>
        <p:nvSpPr>
          <p:cNvPr id="137" name="Rounded Rectangle 136"/>
          <p:cNvSpPr/>
          <p:nvPr/>
        </p:nvSpPr>
        <p:spPr>
          <a:xfrm>
            <a:off x="630936" y="6345936"/>
            <a:ext cx="3538728" cy="310896"/>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TextBox 137"/>
          <p:cNvSpPr txBox="1"/>
          <p:nvPr/>
        </p:nvSpPr>
        <p:spPr>
          <a:xfrm>
            <a:off x="658368" y="6355080"/>
            <a:ext cx="3483864" cy="292608"/>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ベンダー・契約管理</a:t>
            </a:r>
          </a:p>
          <a:p>
            <a:pPr algn="ctr"/>
            <a:r>
              <a:rPr sz="550" b="0">
                <a:solidFill>
                  <a:srgbClr val="5B6B70"/>
                </a:solidFill>
                <a:latin typeface="Yu Gothic"/>
                <a:ea typeface="Yu Gothic"/>
                <a:cs typeface="Yu Gothic"/>
              </a:rPr>
              <a:t>（CLM／購買システム）</a:t>
            </a:r>
          </a:p>
        </p:txBody>
      </p:sp>
      <p:sp>
        <p:nvSpPr>
          <p:cNvPr id="139" name="TextBox 138"/>
          <p:cNvSpPr txBox="1"/>
          <p:nvPr/>
        </p:nvSpPr>
        <p:spPr>
          <a:xfrm>
            <a:off x="4251960" y="6153912"/>
            <a:ext cx="3685032"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IT人材・組織★</a:t>
            </a:r>
          </a:p>
        </p:txBody>
      </p:sp>
      <p:sp>
        <p:nvSpPr>
          <p:cNvPr id="140" name="Rounded Rectangle 139"/>
          <p:cNvSpPr/>
          <p:nvPr/>
        </p:nvSpPr>
        <p:spPr>
          <a:xfrm>
            <a:off x="4315968" y="6345936"/>
            <a:ext cx="3538728" cy="310896"/>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p:cNvSpPr txBox="1"/>
          <p:nvPr/>
        </p:nvSpPr>
        <p:spPr>
          <a:xfrm>
            <a:off x="4343400" y="6355080"/>
            <a:ext cx="3483864" cy="292608"/>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教育管理</a:t>
            </a:r>
          </a:p>
          <a:p>
            <a:pPr algn="ctr"/>
            <a:r>
              <a:rPr sz="550" b="0">
                <a:solidFill>
                  <a:srgbClr val="5B6B70"/>
                </a:solidFill>
                <a:latin typeface="Yu Gothic"/>
                <a:ea typeface="Yu Gothic"/>
                <a:cs typeface="Yu Gothic"/>
              </a:rPr>
              <a:t>（LMS）</a:t>
            </a:r>
          </a:p>
        </p:txBody>
      </p:sp>
      <p:sp>
        <p:nvSpPr>
          <p:cNvPr id="142" name="TextBox 141"/>
          <p:cNvSpPr txBox="1"/>
          <p:nvPr/>
        </p:nvSpPr>
        <p:spPr>
          <a:xfrm>
            <a:off x="7936992" y="6153912"/>
            <a:ext cx="3685032"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ITナレッジ・文書管理</a:t>
            </a:r>
          </a:p>
        </p:txBody>
      </p:sp>
      <p:sp>
        <p:nvSpPr>
          <p:cNvPr id="143" name="Rounded Rectangle 142"/>
          <p:cNvSpPr/>
          <p:nvPr/>
        </p:nvSpPr>
        <p:spPr>
          <a:xfrm>
            <a:off x="8001000" y="6345936"/>
            <a:ext cx="3538728" cy="310896"/>
          </a:xfrm>
          <a:prstGeom prst="roundRect">
            <a:avLst/>
          </a:prstGeom>
          <a:solidFill>
            <a:srgbClr val="E4EAEC"/>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TextBox 143"/>
          <p:cNvSpPr txBox="1"/>
          <p:nvPr/>
        </p:nvSpPr>
        <p:spPr>
          <a:xfrm>
            <a:off x="8028431" y="6355080"/>
            <a:ext cx="3483864" cy="292608"/>
          </a:xfrm>
          <a:prstGeom prst="rect">
            <a:avLst/>
          </a:prstGeom>
          <a:noFill/>
        </p:spPr>
        <p:txBody>
          <a:bodyPr wrap="square" lIns="0" rIns="0" tIns="0" bIns="0" anchor="ctr">
            <a:spAutoFit/>
          </a:bodyPr>
          <a:lstStyle/>
          <a:p>
            <a:pPr algn="ctr"/>
            <a:r>
              <a:rPr sz="700" b="1">
                <a:solidFill>
                  <a:srgbClr val="1F2E35"/>
                </a:solidFill>
                <a:latin typeface="Yu Gothic"/>
                <a:ea typeface="Yu Gothic"/>
                <a:cs typeface="Yu Gothic"/>
              </a:rPr>
              <a:t>文書管理</a:t>
            </a:r>
          </a:p>
          <a:p>
            <a:pPr algn="ctr"/>
            <a:r>
              <a:rPr sz="550" b="0">
                <a:solidFill>
                  <a:srgbClr val="5B6B70"/>
                </a:solidFill>
                <a:latin typeface="Yu Gothic"/>
                <a:ea typeface="Yu Gothic"/>
                <a:cs typeface="Yu Gothic"/>
              </a:rPr>
              <a:t>（eDMS）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t">
            <a:spAutoFit/>
          </a:bodyPr>
          <a:lstStyle/>
          <a:p>
            <a:pPr algn="l"/>
            <a:r>
              <a:rPr sz="2800" b="1">
                <a:solidFill>
                  <a:srgbClr val="1F2E35"/>
                </a:solidFill>
                <a:latin typeface="Yu Gothic"/>
                <a:ea typeface="Yu Gothic"/>
                <a:cs typeface="Yu Gothic"/>
              </a:rPr>
              <a:t>複数の領域で使うアプリケーション</a:t>
            </a:r>
          </a:p>
        </p:txBody>
      </p:sp>
      <p:sp>
        <p:nvSpPr>
          <p:cNvPr id="3" name="TextBox 2"/>
          <p:cNvSpPr txBox="1"/>
          <p:nvPr/>
        </p:nvSpPr>
        <p:spPr>
          <a:xfrm>
            <a:off x="457200" y="841247"/>
            <a:ext cx="11247120" cy="365760"/>
          </a:xfrm>
          <a:prstGeom prst="rect">
            <a:avLst/>
          </a:prstGeom>
          <a:noFill/>
        </p:spPr>
        <p:txBody>
          <a:bodyPr wrap="square" lIns="0" rIns="0" tIns="0" bIns="0" anchor="t">
            <a:spAutoFit/>
          </a:bodyPr>
          <a:lstStyle/>
          <a:p>
            <a:pPr algn="l"/>
            <a:r>
              <a:rPr sz="1300" b="0">
                <a:solidFill>
                  <a:srgbClr val="5B6B70"/>
                </a:solidFill>
                <a:latin typeface="Yu Gothic"/>
                <a:ea typeface="Yu Gothic"/>
                <a:cs typeface="Yu Gothic"/>
              </a:rPr>
              <a:t>3種類のアプリケーションが、複数の領域（ケイパビリティL1）の能力を支え、複数の段階（VS L2）にまたがって使われる</a:t>
            </a:r>
          </a:p>
        </p:txBody>
      </p:sp>
      <p:sp>
        <p:nvSpPr>
          <p:cNvPr id="4" name="Rectangle 3"/>
          <p:cNvSpPr/>
          <p:nvPr/>
        </p:nvSpPr>
        <p:spPr>
          <a:xfrm>
            <a:off x="5577840" y="1261872"/>
            <a:ext cx="3026664" cy="237744"/>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577840" y="1261872"/>
            <a:ext cx="3026664" cy="237744"/>
          </a:xfrm>
          <a:prstGeom prst="rect">
            <a:avLst/>
          </a:prstGeom>
          <a:noFill/>
        </p:spPr>
        <p:txBody>
          <a:bodyPr wrap="square" lIns="0" rIns="0" tIns="0" bIns="0" anchor="ctr">
            <a:spAutoFit/>
          </a:bodyPr>
          <a:lstStyle/>
          <a:p>
            <a:pPr algn="ctr"/>
            <a:r>
              <a:rPr sz="950" b="1">
                <a:solidFill>
                  <a:srgbClr val="FFFFFF"/>
                </a:solidFill>
                <a:latin typeface="Yu Gothic"/>
                <a:ea typeface="Yu Gothic"/>
                <a:cs typeface="Yu Gothic"/>
              </a:rPr>
              <a:t>Phase 1：計画・構築（Plan &amp; Build）</a:t>
            </a:r>
          </a:p>
        </p:txBody>
      </p:sp>
      <p:sp>
        <p:nvSpPr>
          <p:cNvPr id="6" name="Rectangle 5"/>
          <p:cNvSpPr/>
          <p:nvPr/>
        </p:nvSpPr>
        <p:spPr>
          <a:xfrm>
            <a:off x="8695944" y="1261872"/>
            <a:ext cx="3026664" cy="237744"/>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695944" y="1261872"/>
            <a:ext cx="3026664" cy="237744"/>
          </a:xfrm>
          <a:prstGeom prst="rect">
            <a:avLst/>
          </a:prstGeom>
          <a:noFill/>
        </p:spPr>
        <p:txBody>
          <a:bodyPr wrap="square" lIns="0" rIns="0" tIns="0" bIns="0" anchor="ctr">
            <a:spAutoFit/>
          </a:bodyPr>
          <a:lstStyle/>
          <a:p>
            <a:pPr algn="ctr"/>
            <a:r>
              <a:rPr sz="950" b="1">
                <a:solidFill>
                  <a:srgbClr val="FFFFFF"/>
                </a:solidFill>
                <a:latin typeface="Yu Gothic"/>
                <a:ea typeface="Yu Gothic"/>
                <a:cs typeface="Yu Gothic"/>
              </a:rPr>
              <a:t>Phase 2：提供・運用（Deliver &amp; Run）</a:t>
            </a:r>
          </a:p>
        </p:txBody>
      </p:sp>
      <p:sp>
        <p:nvSpPr>
          <p:cNvPr id="8" name="Right Arrow 7"/>
          <p:cNvSpPr/>
          <p:nvPr/>
        </p:nvSpPr>
        <p:spPr>
          <a:xfrm>
            <a:off x="6071616"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577840" y="1975104"/>
            <a:ext cx="153619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戦略・ポートフォリオ（S2P）</a:t>
            </a:r>
          </a:p>
        </p:txBody>
      </p:sp>
      <p:sp>
        <p:nvSpPr>
          <p:cNvPr id="10" name="Right Arrow 9"/>
          <p:cNvSpPr/>
          <p:nvPr/>
        </p:nvSpPr>
        <p:spPr>
          <a:xfrm>
            <a:off x="7607807"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114031" y="1975104"/>
            <a:ext cx="153619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要件定義・開発・配備（R2D）</a:t>
            </a:r>
          </a:p>
        </p:txBody>
      </p:sp>
      <p:sp>
        <p:nvSpPr>
          <p:cNvPr id="12" name="Right Arrow 11"/>
          <p:cNvSpPr/>
          <p:nvPr/>
        </p:nvSpPr>
        <p:spPr>
          <a:xfrm>
            <a:off x="9143999"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50224" y="1975104"/>
            <a:ext cx="153619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利用申請・提供（R2F）</a:t>
            </a:r>
          </a:p>
        </p:txBody>
      </p:sp>
      <p:sp>
        <p:nvSpPr>
          <p:cNvPr id="14" name="Right Arrow 13"/>
          <p:cNvSpPr/>
          <p:nvPr/>
        </p:nvSpPr>
        <p:spPr>
          <a:xfrm>
            <a:off x="10680192"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186416" y="1975104"/>
            <a:ext cx="1536192"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検知・是正（D2C）</a:t>
            </a:r>
          </a:p>
        </p:txBody>
      </p:sp>
      <p:sp>
        <p:nvSpPr>
          <p:cNvPr id="16" name="TextBox 15"/>
          <p:cNvSpPr txBox="1"/>
          <p:nvPr/>
        </p:nvSpPr>
        <p:spPr>
          <a:xfrm>
            <a:off x="4526280" y="1737360"/>
            <a:ext cx="914400" cy="365760"/>
          </a:xfrm>
          <a:prstGeom prst="rect">
            <a:avLst/>
          </a:prstGeom>
          <a:noFill/>
        </p:spPr>
        <p:txBody>
          <a:bodyPr wrap="square" lIns="0" rIns="0" tIns="0" bIns="0" anchor="b">
            <a:spAutoFit/>
          </a:bodyPr>
          <a:lstStyle/>
          <a:p>
            <a:pPr algn="ctr"/>
            <a:r>
              <a:rPr sz="750" b="1">
                <a:solidFill>
                  <a:srgbClr val="1F2E35"/>
                </a:solidFill>
                <a:latin typeface="Yu Gothic"/>
                <a:ea typeface="Yu Gothic"/>
                <a:cs typeface="Yu Gothic"/>
              </a:rPr>
              <a:t>複数の領域で使う</a:t>
            </a:r>
          </a:p>
          <a:p>
            <a:pPr algn="ctr"/>
            <a:r>
              <a:rPr sz="750" b="1">
                <a:solidFill>
                  <a:srgbClr val="1F2E35"/>
                </a:solidFill>
                <a:latin typeface="Yu Gothic"/>
                <a:ea typeface="Yu Gothic"/>
                <a:cs typeface="Yu Gothic"/>
              </a:rPr>
              <a:t>アプリケーション</a:t>
            </a:r>
          </a:p>
        </p:txBody>
      </p:sp>
      <p:sp>
        <p:nvSpPr>
          <p:cNvPr id="17" name="Rectangle 16"/>
          <p:cNvSpPr/>
          <p:nvPr/>
        </p:nvSpPr>
        <p:spPr>
          <a:xfrm>
            <a:off x="2103120" y="2331720"/>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194560" y="2331720"/>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IT戦略・DX企画</a:t>
            </a:r>
          </a:p>
        </p:txBody>
      </p:sp>
      <p:sp>
        <p:nvSpPr>
          <p:cNvPr id="19" name="TextBox 18"/>
          <p:cNvSpPr txBox="1"/>
          <p:nvPr/>
        </p:nvSpPr>
        <p:spPr>
          <a:xfrm>
            <a:off x="2194560" y="2467051"/>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エンタープライズアーキテクチャ</a:t>
            </a:r>
          </a:p>
        </p:txBody>
      </p:sp>
      <p:sp>
        <p:nvSpPr>
          <p:cNvPr id="20" name="Rectangle 19"/>
          <p:cNvSpPr/>
          <p:nvPr/>
        </p:nvSpPr>
        <p:spPr>
          <a:xfrm>
            <a:off x="2103120" y="2602382"/>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194560" y="2602382"/>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ITポートフォリオ・需要管理</a:t>
            </a:r>
          </a:p>
        </p:txBody>
      </p:sp>
      <p:sp>
        <p:nvSpPr>
          <p:cNvPr id="22" name="TextBox 21"/>
          <p:cNvSpPr txBox="1"/>
          <p:nvPr/>
        </p:nvSpPr>
        <p:spPr>
          <a:xfrm>
            <a:off x="2194560" y="2737713"/>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ITガバナンス・リスク管理★</a:t>
            </a:r>
          </a:p>
        </p:txBody>
      </p:sp>
      <p:sp>
        <p:nvSpPr>
          <p:cNvPr id="23" name="Rectangle 22"/>
          <p:cNvSpPr/>
          <p:nvPr/>
        </p:nvSpPr>
        <p:spPr>
          <a:xfrm>
            <a:off x="2103120" y="2873044"/>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194560" y="2873044"/>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IT財務管理</a:t>
            </a:r>
          </a:p>
        </p:txBody>
      </p:sp>
      <p:sp>
        <p:nvSpPr>
          <p:cNvPr id="25" name="Rectangle 24"/>
          <p:cNvSpPr/>
          <p:nvPr/>
        </p:nvSpPr>
        <p:spPr>
          <a:xfrm>
            <a:off x="2011679" y="2350008"/>
            <a:ext cx="54864" cy="640080"/>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74320" y="2331720"/>
            <a:ext cx="1645919" cy="676656"/>
          </a:xfrm>
          <a:prstGeom prst="rect">
            <a:avLst/>
          </a:prstGeom>
          <a:noFill/>
        </p:spPr>
        <p:txBody>
          <a:bodyPr wrap="square" lIns="0" rIns="0" tIns="0" bIns="0" anchor="ctr">
            <a:spAutoFit/>
          </a:bodyPr>
          <a:lstStyle/>
          <a:p>
            <a:pPr algn="r"/>
            <a:r>
              <a:rPr sz="850" b="1">
                <a:solidFill>
                  <a:srgbClr val="1F2E35"/>
                </a:solidFill>
                <a:latin typeface="Yu Gothic"/>
                <a:ea typeface="Yu Gothic"/>
                <a:cs typeface="Yu Gothic"/>
              </a:rPr>
              <a:t>Strategy</a:t>
            </a:r>
          </a:p>
        </p:txBody>
      </p:sp>
      <p:cxnSp>
        <p:nvCxnSpPr>
          <p:cNvPr id="27" name="Connector 26"/>
          <p:cNvCxnSpPr/>
          <p:nvPr/>
        </p:nvCxnSpPr>
        <p:spPr>
          <a:xfrm>
            <a:off x="2103120" y="3008376"/>
            <a:ext cx="9628632" cy="0"/>
          </a:xfrm>
          <a:prstGeom prst="line">
            <a:avLst/>
          </a:prstGeom>
          <a:ln w="6350">
            <a:solidFill>
              <a:srgbClr val="C3CFD1"/>
            </a:solidFill>
          </a:ln>
        </p:spPr>
      </p:cxnSp>
      <p:sp>
        <p:nvSpPr>
          <p:cNvPr id="28" name="TextBox 27"/>
          <p:cNvSpPr txBox="1"/>
          <p:nvPr/>
        </p:nvSpPr>
        <p:spPr>
          <a:xfrm>
            <a:off x="2194560" y="3008376"/>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プロジェクト管理★</a:t>
            </a:r>
          </a:p>
        </p:txBody>
      </p:sp>
      <p:sp>
        <p:nvSpPr>
          <p:cNvPr id="29" name="Rectangle 28"/>
          <p:cNvSpPr/>
          <p:nvPr/>
        </p:nvSpPr>
        <p:spPr>
          <a:xfrm>
            <a:off x="2103120" y="3143707"/>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2194560" y="3143707"/>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要件定義・設計</a:t>
            </a:r>
          </a:p>
        </p:txBody>
      </p:sp>
      <p:sp>
        <p:nvSpPr>
          <p:cNvPr id="31" name="TextBox 30"/>
          <p:cNvSpPr txBox="1"/>
          <p:nvPr/>
        </p:nvSpPr>
        <p:spPr>
          <a:xfrm>
            <a:off x="2194560" y="3279038"/>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開発・構成</a:t>
            </a:r>
          </a:p>
        </p:txBody>
      </p:sp>
      <p:sp>
        <p:nvSpPr>
          <p:cNvPr id="32" name="Rectangle 31"/>
          <p:cNvSpPr/>
          <p:nvPr/>
        </p:nvSpPr>
        <p:spPr>
          <a:xfrm>
            <a:off x="2103120" y="3414369"/>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2194560" y="3414369"/>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テスト・リリース</a:t>
            </a:r>
          </a:p>
        </p:txBody>
      </p:sp>
      <p:sp>
        <p:nvSpPr>
          <p:cNvPr id="34" name="Rectangle 33"/>
          <p:cNvSpPr/>
          <p:nvPr/>
        </p:nvSpPr>
        <p:spPr>
          <a:xfrm>
            <a:off x="2011679" y="3026664"/>
            <a:ext cx="54864" cy="504748"/>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274320" y="3008376"/>
            <a:ext cx="1645919" cy="541324"/>
          </a:xfrm>
          <a:prstGeom prst="rect">
            <a:avLst/>
          </a:prstGeom>
          <a:noFill/>
        </p:spPr>
        <p:txBody>
          <a:bodyPr wrap="square" lIns="0" rIns="0" tIns="0" bIns="0" anchor="ctr">
            <a:spAutoFit/>
          </a:bodyPr>
          <a:lstStyle/>
          <a:p>
            <a:pPr algn="r"/>
            <a:r>
              <a:rPr sz="850" b="1">
                <a:solidFill>
                  <a:srgbClr val="1F62B8"/>
                </a:solidFill>
                <a:latin typeface="Yu Gothic"/>
                <a:ea typeface="Yu Gothic"/>
                <a:cs typeface="Yu Gothic"/>
              </a:rPr>
              <a:t>Solution Delivery</a:t>
            </a:r>
          </a:p>
        </p:txBody>
      </p:sp>
      <p:cxnSp>
        <p:nvCxnSpPr>
          <p:cNvPr id="36" name="Connector 35"/>
          <p:cNvCxnSpPr/>
          <p:nvPr/>
        </p:nvCxnSpPr>
        <p:spPr>
          <a:xfrm>
            <a:off x="2103120" y="3549700"/>
            <a:ext cx="9628632" cy="0"/>
          </a:xfrm>
          <a:prstGeom prst="line">
            <a:avLst/>
          </a:prstGeom>
          <a:ln w="6350">
            <a:solidFill>
              <a:srgbClr val="C3CFD1"/>
            </a:solidFill>
          </a:ln>
        </p:spPr>
      </p:cxnSp>
      <p:sp>
        <p:nvSpPr>
          <p:cNvPr id="37" name="TextBox 36"/>
          <p:cNvSpPr txBox="1"/>
          <p:nvPr/>
        </p:nvSpPr>
        <p:spPr>
          <a:xfrm>
            <a:off x="2194560" y="3549700"/>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サービスカタログ・サービスレベル管理</a:t>
            </a:r>
          </a:p>
        </p:txBody>
      </p:sp>
      <p:sp>
        <p:nvSpPr>
          <p:cNvPr id="38" name="Rectangle 37"/>
          <p:cNvSpPr/>
          <p:nvPr/>
        </p:nvSpPr>
        <p:spPr>
          <a:xfrm>
            <a:off x="2103120" y="3685032"/>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2194560" y="3685032"/>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サービスデスク・要求実現</a:t>
            </a:r>
          </a:p>
        </p:txBody>
      </p:sp>
      <p:sp>
        <p:nvSpPr>
          <p:cNvPr id="40" name="TextBox 39"/>
          <p:cNvSpPr txBox="1"/>
          <p:nvPr/>
        </p:nvSpPr>
        <p:spPr>
          <a:xfrm>
            <a:off x="2194560" y="3820363"/>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IT運用・監視</a:t>
            </a:r>
          </a:p>
        </p:txBody>
      </p:sp>
      <p:sp>
        <p:nvSpPr>
          <p:cNvPr id="41" name="Rectangle 40"/>
          <p:cNvSpPr/>
          <p:nvPr/>
        </p:nvSpPr>
        <p:spPr>
          <a:xfrm>
            <a:off x="2103120" y="3955694"/>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2194560" y="3955694"/>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インシデント・問題管理</a:t>
            </a:r>
          </a:p>
        </p:txBody>
      </p:sp>
      <p:sp>
        <p:nvSpPr>
          <p:cNvPr id="43" name="TextBox 42"/>
          <p:cNvSpPr txBox="1"/>
          <p:nvPr/>
        </p:nvSpPr>
        <p:spPr>
          <a:xfrm>
            <a:off x="2194560" y="4091025"/>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変更・構成管理★</a:t>
            </a:r>
          </a:p>
        </p:txBody>
      </p:sp>
      <p:sp>
        <p:nvSpPr>
          <p:cNvPr id="44" name="Rectangle 43"/>
          <p:cNvSpPr/>
          <p:nvPr/>
        </p:nvSpPr>
        <p:spPr>
          <a:xfrm>
            <a:off x="2011679" y="3567988"/>
            <a:ext cx="54864" cy="640079"/>
          </a:xfrm>
          <a:prstGeom prst="rect">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274320" y="3549700"/>
            <a:ext cx="1645919" cy="676655"/>
          </a:xfrm>
          <a:prstGeom prst="rect">
            <a:avLst/>
          </a:prstGeom>
          <a:noFill/>
        </p:spPr>
        <p:txBody>
          <a:bodyPr wrap="square" lIns="0" rIns="0" tIns="0" bIns="0" anchor="ctr">
            <a:spAutoFit/>
          </a:bodyPr>
          <a:lstStyle/>
          <a:p>
            <a:pPr algn="r"/>
            <a:r>
              <a:rPr sz="850" b="1">
                <a:solidFill>
                  <a:srgbClr val="0E7A52"/>
                </a:solidFill>
                <a:latin typeface="Yu Gothic"/>
                <a:ea typeface="Yu Gothic"/>
                <a:cs typeface="Yu Gothic"/>
              </a:rPr>
              <a:t>Service Management &amp; Operations</a:t>
            </a:r>
          </a:p>
        </p:txBody>
      </p:sp>
      <p:cxnSp>
        <p:nvCxnSpPr>
          <p:cNvPr id="46" name="Connector 45"/>
          <p:cNvCxnSpPr/>
          <p:nvPr/>
        </p:nvCxnSpPr>
        <p:spPr>
          <a:xfrm>
            <a:off x="2103120" y="4226356"/>
            <a:ext cx="9628632" cy="0"/>
          </a:xfrm>
          <a:prstGeom prst="line">
            <a:avLst/>
          </a:prstGeom>
          <a:ln w="6350">
            <a:solidFill>
              <a:srgbClr val="C3CFD1"/>
            </a:solidFill>
          </a:ln>
        </p:spPr>
      </p:cxnSp>
      <p:sp>
        <p:nvSpPr>
          <p:cNvPr id="47" name="Rectangle 46"/>
          <p:cNvSpPr/>
          <p:nvPr/>
        </p:nvSpPr>
        <p:spPr>
          <a:xfrm>
            <a:off x="2103120" y="4226356"/>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194560" y="4226356"/>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クラウド・データセンター</a:t>
            </a:r>
          </a:p>
        </p:txBody>
      </p:sp>
      <p:sp>
        <p:nvSpPr>
          <p:cNvPr id="49" name="TextBox 48"/>
          <p:cNvSpPr txBox="1"/>
          <p:nvPr/>
        </p:nvSpPr>
        <p:spPr>
          <a:xfrm>
            <a:off x="2194560" y="4361688"/>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ネットワーク</a:t>
            </a:r>
          </a:p>
        </p:txBody>
      </p:sp>
      <p:sp>
        <p:nvSpPr>
          <p:cNvPr id="50" name="Rectangle 49"/>
          <p:cNvSpPr/>
          <p:nvPr/>
        </p:nvSpPr>
        <p:spPr>
          <a:xfrm>
            <a:off x="2103120" y="4497019"/>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2194560" y="4497019"/>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エンドユーザー環境</a:t>
            </a:r>
          </a:p>
        </p:txBody>
      </p:sp>
      <p:sp>
        <p:nvSpPr>
          <p:cNvPr id="52" name="TextBox 51"/>
          <p:cNvSpPr txBox="1"/>
          <p:nvPr/>
        </p:nvSpPr>
        <p:spPr>
          <a:xfrm>
            <a:off x="2194560" y="4632350"/>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IT資産・ライセンス管理</a:t>
            </a:r>
          </a:p>
        </p:txBody>
      </p:sp>
      <p:sp>
        <p:nvSpPr>
          <p:cNvPr id="53" name="Rectangle 52"/>
          <p:cNvSpPr/>
          <p:nvPr/>
        </p:nvSpPr>
        <p:spPr>
          <a:xfrm>
            <a:off x="2011679" y="4244644"/>
            <a:ext cx="54864" cy="504748"/>
          </a:xfrm>
          <a:prstGeom prst="rect">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274320" y="4226356"/>
            <a:ext cx="1645919" cy="541324"/>
          </a:xfrm>
          <a:prstGeom prst="rect">
            <a:avLst/>
          </a:prstGeom>
          <a:noFill/>
        </p:spPr>
        <p:txBody>
          <a:bodyPr wrap="square" lIns="0" rIns="0" tIns="0" bIns="0" anchor="ctr">
            <a:spAutoFit/>
          </a:bodyPr>
          <a:lstStyle/>
          <a:p>
            <a:pPr algn="r"/>
            <a:r>
              <a:rPr sz="850" b="1">
                <a:solidFill>
                  <a:srgbClr val="4A3AA7"/>
                </a:solidFill>
                <a:latin typeface="Yu Gothic"/>
                <a:ea typeface="Yu Gothic"/>
                <a:cs typeface="Yu Gothic"/>
              </a:rPr>
              <a:t>Platform &amp; Infrastructure</a:t>
            </a:r>
          </a:p>
        </p:txBody>
      </p:sp>
      <p:cxnSp>
        <p:nvCxnSpPr>
          <p:cNvPr id="55" name="Connector 54"/>
          <p:cNvCxnSpPr/>
          <p:nvPr/>
        </p:nvCxnSpPr>
        <p:spPr>
          <a:xfrm>
            <a:off x="2103120" y="4767681"/>
            <a:ext cx="9628632" cy="0"/>
          </a:xfrm>
          <a:prstGeom prst="line">
            <a:avLst/>
          </a:prstGeom>
          <a:ln w="6350">
            <a:solidFill>
              <a:srgbClr val="C3CFD1"/>
            </a:solidFill>
          </a:ln>
        </p:spPr>
      </p:cxnSp>
      <p:sp>
        <p:nvSpPr>
          <p:cNvPr id="56" name="Rectangle 55"/>
          <p:cNvSpPr/>
          <p:nvPr/>
        </p:nvSpPr>
        <p:spPr>
          <a:xfrm>
            <a:off x="2103120" y="4767681"/>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2194560" y="4767681"/>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セキュリティガバナンス</a:t>
            </a:r>
          </a:p>
        </p:txBody>
      </p:sp>
      <p:sp>
        <p:nvSpPr>
          <p:cNvPr id="58" name="TextBox 57"/>
          <p:cNvSpPr txBox="1"/>
          <p:nvPr/>
        </p:nvSpPr>
        <p:spPr>
          <a:xfrm>
            <a:off x="2194560" y="4903012"/>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ID・アクセス管理★</a:t>
            </a:r>
          </a:p>
        </p:txBody>
      </p:sp>
      <p:sp>
        <p:nvSpPr>
          <p:cNvPr id="59" name="Rectangle 58"/>
          <p:cNvSpPr/>
          <p:nvPr/>
        </p:nvSpPr>
        <p:spPr>
          <a:xfrm>
            <a:off x="2103120" y="5038343"/>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2194560" y="5038343"/>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セキュリティ運用</a:t>
            </a:r>
          </a:p>
        </p:txBody>
      </p:sp>
      <p:sp>
        <p:nvSpPr>
          <p:cNvPr id="61" name="Rectangle 60"/>
          <p:cNvSpPr/>
          <p:nvPr/>
        </p:nvSpPr>
        <p:spPr>
          <a:xfrm>
            <a:off x="2011679" y="4785969"/>
            <a:ext cx="54864" cy="369417"/>
          </a:xfrm>
          <a:prstGeom prst="rect">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274320" y="4767681"/>
            <a:ext cx="1645919" cy="405993"/>
          </a:xfrm>
          <a:prstGeom prst="rect">
            <a:avLst/>
          </a:prstGeom>
          <a:noFill/>
        </p:spPr>
        <p:txBody>
          <a:bodyPr wrap="square" lIns="0" rIns="0" tIns="0" bIns="0" anchor="ctr">
            <a:spAutoFit/>
          </a:bodyPr>
          <a:lstStyle/>
          <a:p>
            <a:pPr algn="r"/>
            <a:r>
              <a:rPr sz="850" b="1">
                <a:solidFill>
                  <a:srgbClr val="C24E1C"/>
                </a:solidFill>
                <a:latin typeface="Yu Gothic"/>
                <a:ea typeface="Yu Gothic"/>
                <a:cs typeface="Yu Gothic"/>
              </a:rPr>
              <a:t>Cybersecurity</a:t>
            </a:r>
          </a:p>
        </p:txBody>
      </p:sp>
      <p:cxnSp>
        <p:nvCxnSpPr>
          <p:cNvPr id="63" name="Connector 62"/>
          <p:cNvCxnSpPr/>
          <p:nvPr/>
        </p:nvCxnSpPr>
        <p:spPr>
          <a:xfrm>
            <a:off x="2103120" y="5173675"/>
            <a:ext cx="9628632" cy="0"/>
          </a:xfrm>
          <a:prstGeom prst="line">
            <a:avLst/>
          </a:prstGeom>
          <a:ln w="6350">
            <a:solidFill>
              <a:srgbClr val="C3CFD1"/>
            </a:solidFill>
          </a:ln>
        </p:spPr>
      </p:cxnSp>
      <p:sp>
        <p:nvSpPr>
          <p:cNvPr id="64" name="TextBox 63"/>
          <p:cNvSpPr txBox="1"/>
          <p:nvPr/>
        </p:nvSpPr>
        <p:spPr>
          <a:xfrm>
            <a:off x="2194560" y="5173675"/>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GxPシステム管理（CSV）★</a:t>
            </a:r>
          </a:p>
        </p:txBody>
      </p:sp>
      <p:sp>
        <p:nvSpPr>
          <p:cNvPr id="65" name="Rectangle 64"/>
          <p:cNvSpPr/>
          <p:nvPr/>
        </p:nvSpPr>
        <p:spPr>
          <a:xfrm>
            <a:off x="2103120" y="5309006"/>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2194560" y="5309006"/>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データインテグリティ★</a:t>
            </a:r>
          </a:p>
        </p:txBody>
      </p:sp>
      <p:sp>
        <p:nvSpPr>
          <p:cNvPr id="67" name="TextBox 66"/>
          <p:cNvSpPr txBox="1"/>
          <p:nvPr/>
        </p:nvSpPr>
        <p:spPr>
          <a:xfrm>
            <a:off x="2194560" y="5444337"/>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データ管理</a:t>
            </a:r>
          </a:p>
        </p:txBody>
      </p:sp>
      <p:sp>
        <p:nvSpPr>
          <p:cNvPr id="68" name="Rectangle 67"/>
          <p:cNvSpPr/>
          <p:nvPr/>
        </p:nvSpPr>
        <p:spPr>
          <a:xfrm>
            <a:off x="2103120" y="5579668"/>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2194560" y="5579668"/>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個人情報・データ保護</a:t>
            </a:r>
          </a:p>
        </p:txBody>
      </p:sp>
      <p:sp>
        <p:nvSpPr>
          <p:cNvPr id="70" name="Rectangle 69"/>
          <p:cNvSpPr/>
          <p:nvPr/>
        </p:nvSpPr>
        <p:spPr>
          <a:xfrm>
            <a:off x="2011679" y="5191963"/>
            <a:ext cx="54864" cy="504748"/>
          </a:xfrm>
          <a:prstGeom prst="rect">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274320" y="5173675"/>
            <a:ext cx="1645919" cy="541324"/>
          </a:xfrm>
          <a:prstGeom prst="rect">
            <a:avLst/>
          </a:prstGeom>
          <a:noFill/>
        </p:spPr>
        <p:txBody>
          <a:bodyPr wrap="square" lIns="0" rIns="0" tIns="0" bIns="0" anchor="ctr">
            <a:spAutoFit/>
          </a:bodyPr>
          <a:lstStyle/>
          <a:p>
            <a:pPr algn="r"/>
            <a:r>
              <a:rPr sz="850" b="1">
                <a:solidFill>
                  <a:srgbClr val="9A2553"/>
                </a:solidFill>
                <a:latin typeface="Yu Gothic"/>
                <a:ea typeface="Yu Gothic"/>
                <a:cs typeface="Yu Gothic"/>
              </a:rPr>
              <a:t>Data &amp; GxP Compliance</a:t>
            </a:r>
          </a:p>
        </p:txBody>
      </p:sp>
      <p:cxnSp>
        <p:nvCxnSpPr>
          <p:cNvPr id="72" name="Connector 71"/>
          <p:cNvCxnSpPr/>
          <p:nvPr/>
        </p:nvCxnSpPr>
        <p:spPr>
          <a:xfrm>
            <a:off x="2103120" y="5714999"/>
            <a:ext cx="9628632" cy="0"/>
          </a:xfrm>
          <a:prstGeom prst="line">
            <a:avLst/>
          </a:prstGeom>
          <a:ln w="6350">
            <a:solidFill>
              <a:srgbClr val="C3CFD1"/>
            </a:solidFill>
          </a:ln>
        </p:spPr>
      </p:cxnSp>
      <p:sp>
        <p:nvSpPr>
          <p:cNvPr id="73" name="TextBox 72"/>
          <p:cNvSpPr txBox="1"/>
          <p:nvPr/>
        </p:nvSpPr>
        <p:spPr>
          <a:xfrm>
            <a:off x="2194560" y="5714999"/>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ITソーシング・ベンダー管理★</a:t>
            </a:r>
          </a:p>
        </p:txBody>
      </p:sp>
      <p:sp>
        <p:nvSpPr>
          <p:cNvPr id="74" name="Rectangle 73"/>
          <p:cNvSpPr/>
          <p:nvPr/>
        </p:nvSpPr>
        <p:spPr>
          <a:xfrm>
            <a:off x="2103120" y="5850331"/>
            <a:ext cx="9628632" cy="135331"/>
          </a:xfrm>
          <a:prstGeom prst="rect">
            <a:avLst/>
          </a:prstGeom>
          <a:solidFill>
            <a:srgbClr val="F3F6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2194560" y="5850331"/>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IT人材・組織★</a:t>
            </a:r>
          </a:p>
        </p:txBody>
      </p:sp>
      <p:sp>
        <p:nvSpPr>
          <p:cNvPr id="76" name="TextBox 75"/>
          <p:cNvSpPr txBox="1"/>
          <p:nvPr/>
        </p:nvSpPr>
        <p:spPr>
          <a:xfrm>
            <a:off x="2194560" y="5985662"/>
            <a:ext cx="2377440" cy="135331"/>
          </a:xfrm>
          <a:prstGeom prst="rect">
            <a:avLst/>
          </a:prstGeom>
          <a:noFill/>
        </p:spPr>
        <p:txBody>
          <a:bodyPr wrap="square" lIns="0" rIns="0" tIns="0" bIns="0" anchor="ctr">
            <a:spAutoFit/>
          </a:bodyPr>
          <a:lstStyle/>
          <a:p>
            <a:pPr algn="l"/>
            <a:r>
              <a:rPr sz="750" b="1">
                <a:solidFill>
                  <a:srgbClr val="1F2E35"/>
                </a:solidFill>
                <a:latin typeface="Yu Gothic"/>
                <a:ea typeface="Yu Gothic"/>
                <a:cs typeface="Yu Gothic"/>
              </a:rPr>
              <a:t>ITナレッジ・文書管理</a:t>
            </a:r>
          </a:p>
        </p:txBody>
      </p:sp>
      <p:sp>
        <p:nvSpPr>
          <p:cNvPr id="77" name="Rectangle 76"/>
          <p:cNvSpPr/>
          <p:nvPr/>
        </p:nvSpPr>
        <p:spPr>
          <a:xfrm>
            <a:off x="2011679" y="5733287"/>
            <a:ext cx="54864" cy="369417"/>
          </a:xfrm>
          <a:prstGeom prst="rect">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274320" y="5714999"/>
            <a:ext cx="1645919" cy="405993"/>
          </a:xfrm>
          <a:prstGeom prst="rect">
            <a:avLst/>
          </a:prstGeom>
          <a:noFill/>
        </p:spPr>
        <p:txBody>
          <a:bodyPr wrap="square" lIns="0" rIns="0" tIns="0" bIns="0" anchor="ctr">
            <a:spAutoFit/>
          </a:bodyPr>
          <a:lstStyle/>
          <a:p>
            <a:pPr algn="r"/>
            <a:r>
              <a:rPr sz="850" b="1">
                <a:solidFill>
                  <a:srgbClr val="1F2E35"/>
                </a:solidFill>
                <a:latin typeface="Yu Gothic"/>
                <a:ea typeface="Yu Gothic"/>
                <a:cs typeface="Yu Gothic"/>
              </a:rPr>
              <a:t>Foundation</a:t>
            </a:r>
          </a:p>
        </p:txBody>
      </p:sp>
      <p:cxnSp>
        <p:nvCxnSpPr>
          <p:cNvPr id="79" name="Connector 78"/>
          <p:cNvCxnSpPr/>
          <p:nvPr/>
        </p:nvCxnSpPr>
        <p:spPr>
          <a:xfrm>
            <a:off x="2103120" y="6120993"/>
            <a:ext cx="9628632" cy="0"/>
          </a:xfrm>
          <a:prstGeom prst="line">
            <a:avLst/>
          </a:prstGeom>
          <a:ln w="6350">
            <a:solidFill>
              <a:srgbClr val="C3CFD1"/>
            </a:solidFill>
          </a:ln>
        </p:spPr>
      </p:cxnSp>
      <p:cxnSp>
        <p:nvCxnSpPr>
          <p:cNvPr id="80" name="Connector 79"/>
          <p:cNvCxnSpPr/>
          <p:nvPr/>
        </p:nvCxnSpPr>
        <p:spPr>
          <a:xfrm>
            <a:off x="8650224" y="1572768"/>
            <a:ext cx="0" cy="4548225"/>
          </a:xfrm>
          <a:prstGeom prst="line">
            <a:avLst/>
          </a:prstGeom>
          <a:ln w="12700">
            <a:solidFill>
              <a:srgbClr val="1F2E35"/>
            </a:solidFill>
            <a:prstDash val="dash"/>
          </a:ln>
        </p:spPr>
      </p:cxnSp>
      <p:sp>
        <p:nvSpPr>
          <p:cNvPr id="81" name="Oval 80"/>
          <p:cNvSpPr/>
          <p:nvPr/>
        </p:nvSpPr>
        <p:spPr>
          <a:xfrm>
            <a:off x="6288328" y="2341778"/>
            <a:ext cx="115214" cy="115214"/>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Oval 81"/>
          <p:cNvSpPr/>
          <p:nvPr/>
        </p:nvSpPr>
        <p:spPr>
          <a:xfrm>
            <a:off x="6288328" y="2477109"/>
            <a:ext cx="115214" cy="115214"/>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p:cNvSpPr/>
          <p:nvPr/>
        </p:nvSpPr>
        <p:spPr>
          <a:xfrm>
            <a:off x="7847838" y="2500426"/>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Oval 83"/>
          <p:cNvSpPr/>
          <p:nvPr/>
        </p:nvSpPr>
        <p:spPr>
          <a:xfrm>
            <a:off x="10920222" y="2500426"/>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Oval 84"/>
          <p:cNvSpPr/>
          <p:nvPr/>
        </p:nvSpPr>
        <p:spPr>
          <a:xfrm>
            <a:off x="6278270" y="2602382"/>
            <a:ext cx="135331" cy="135331"/>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Oval 85"/>
          <p:cNvSpPr/>
          <p:nvPr/>
        </p:nvSpPr>
        <p:spPr>
          <a:xfrm>
            <a:off x="10917021" y="2632557"/>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4663440" y="2619756"/>
            <a:ext cx="640080" cy="100584"/>
          </a:xfrm>
          <a:prstGeom prst="roundRect">
            <a:avLst>
              <a:gd name="adj" fmla="val 50000"/>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4663440" y="2619756"/>
            <a:ext cx="640080" cy="100584"/>
          </a:xfrm>
          <a:prstGeom prst="rect">
            <a:avLst/>
          </a:prstGeom>
          <a:noFill/>
        </p:spPr>
        <p:txBody>
          <a:bodyPr wrap="square" lIns="0" rIns="0" tIns="0" bIns="0" anchor="ctr">
            <a:spAutoFit/>
          </a:bodyPr>
          <a:lstStyle/>
          <a:p>
            <a:pPr algn="ctr"/>
            <a:r>
              <a:rPr sz="600" b="1">
                <a:solidFill>
                  <a:srgbClr val="FFFFFF"/>
                </a:solidFill>
                <a:latin typeface="Yu Gothic"/>
                <a:ea typeface="Yu Gothic"/>
                <a:cs typeface="Yu Gothic"/>
              </a:rPr>
              <a:t>PPM</a:t>
            </a:r>
          </a:p>
        </p:txBody>
      </p:sp>
      <p:sp>
        <p:nvSpPr>
          <p:cNvPr id="89" name="Rounded Rectangle 88"/>
          <p:cNvSpPr/>
          <p:nvPr/>
        </p:nvSpPr>
        <p:spPr>
          <a:xfrm>
            <a:off x="5650992" y="2607868"/>
            <a:ext cx="5998464" cy="124358"/>
          </a:xfrm>
          <a:prstGeom prst="roundRect">
            <a:avLst>
              <a:gd name="adj" fmla="val 50000"/>
            </a:avLst>
          </a:prstGeom>
          <a:solidFill>
            <a:srgbClr val="DCE9F9"/>
          </a:solidFill>
          <a:ln w="1587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Oval 89"/>
          <p:cNvSpPr/>
          <p:nvPr/>
        </p:nvSpPr>
        <p:spPr>
          <a:xfrm>
            <a:off x="6278270" y="2602382"/>
            <a:ext cx="135331" cy="135331"/>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Oval 90"/>
          <p:cNvSpPr/>
          <p:nvPr/>
        </p:nvSpPr>
        <p:spPr>
          <a:xfrm>
            <a:off x="10917021" y="2632557"/>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Oval 91"/>
          <p:cNvSpPr/>
          <p:nvPr/>
        </p:nvSpPr>
        <p:spPr>
          <a:xfrm>
            <a:off x="6308445" y="2767888"/>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Oval 92"/>
          <p:cNvSpPr/>
          <p:nvPr/>
        </p:nvSpPr>
        <p:spPr>
          <a:xfrm>
            <a:off x="9384030" y="2771089"/>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Oval 93"/>
          <p:cNvSpPr/>
          <p:nvPr/>
        </p:nvSpPr>
        <p:spPr>
          <a:xfrm>
            <a:off x="10917021" y="2767888"/>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4663440" y="2755087"/>
            <a:ext cx="640080" cy="100584"/>
          </a:xfrm>
          <a:prstGeom prst="roundRect">
            <a:avLst>
              <a:gd name="adj" fmla="val 50000"/>
            </a:avLst>
          </a:prstGeom>
          <a:solidFill>
            <a:srgbClr val="E89A0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4663440" y="2755087"/>
            <a:ext cx="640080" cy="100584"/>
          </a:xfrm>
          <a:prstGeom prst="rect">
            <a:avLst/>
          </a:prstGeom>
          <a:noFill/>
        </p:spPr>
        <p:txBody>
          <a:bodyPr wrap="square" lIns="0" rIns="0" tIns="0" bIns="0" anchor="ctr">
            <a:spAutoFit/>
          </a:bodyPr>
          <a:lstStyle/>
          <a:p>
            <a:pPr algn="ctr"/>
            <a:r>
              <a:rPr sz="600" b="1">
                <a:solidFill>
                  <a:srgbClr val="FFFFFF"/>
                </a:solidFill>
                <a:latin typeface="Yu Gothic"/>
                <a:ea typeface="Yu Gothic"/>
                <a:cs typeface="Yu Gothic"/>
              </a:rPr>
              <a:t>GRC</a:t>
            </a:r>
          </a:p>
        </p:txBody>
      </p:sp>
      <p:sp>
        <p:nvSpPr>
          <p:cNvPr id="97" name="Rounded Rectangle 96"/>
          <p:cNvSpPr/>
          <p:nvPr/>
        </p:nvSpPr>
        <p:spPr>
          <a:xfrm>
            <a:off x="5650992" y="2743200"/>
            <a:ext cx="5998464" cy="124358"/>
          </a:xfrm>
          <a:prstGeom prst="roundRect">
            <a:avLst>
              <a:gd name="adj" fmla="val 50000"/>
            </a:avLst>
          </a:prstGeom>
          <a:solidFill>
            <a:srgbClr val="FCEFD6"/>
          </a:solidFill>
          <a:ln w="15875">
            <a:solidFill>
              <a:srgbClr val="E89A0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Oval 97"/>
          <p:cNvSpPr/>
          <p:nvPr/>
        </p:nvSpPr>
        <p:spPr>
          <a:xfrm>
            <a:off x="6308445" y="2767888"/>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Oval 98"/>
          <p:cNvSpPr/>
          <p:nvPr/>
        </p:nvSpPr>
        <p:spPr>
          <a:xfrm>
            <a:off x="10917021" y="2767888"/>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Oval 99"/>
          <p:cNvSpPr/>
          <p:nvPr/>
        </p:nvSpPr>
        <p:spPr>
          <a:xfrm>
            <a:off x="6308445" y="2903220"/>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Oval 100"/>
          <p:cNvSpPr/>
          <p:nvPr/>
        </p:nvSpPr>
        <p:spPr>
          <a:xfrm>
            <a:off x="9380829" y="2903220"/>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Oval 101"/>
          <p:cNvSpPr/>
          <p:nvPr/>
        </p:nvSpPr>
        <p:spPr>
          <a:xfrm>
            <a:off x="7834579" y="3028492"/>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ounded Rectangle 102"/>
          <p:cNvSpPr/>
          <p:nvPr/>
        </p:nvSpPr>
        <p:spPr>
          <a:xfrm>
            <a:off x="4663440" y="3025749"/>
            <a:ext cx="640080" cy="100584"/>
          </a:xfrm>
          <a:prstGeom prst="roundRect">
            <a:avLst>
              <a:gd name="adj" fmla="val 50000"/>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4663440" y="3025749"/>
            <a:ext cx="640080" cy="100584"/>
          </a:xfrm>
          <a:prstGeom prst="rect">
            <a:avLst/>
          </a:prstGeom>
          <a:noFill/>
        </p:spPr>
        <p:txBody>
          <a:bodyPr wrap="square" lIns="0" rIns="0" tIns="0" bIns="0" anchor="ctr">
            <a:spAutoFit/>
          </a:bodyPr>
          <a:lstStyle/>
          <a:p>
            <a:pPr algn="ctr"/>
            <a:r>
              <a:rPr sz="600" b="1">
                <a:solidFill>
                  <a:srgbClr val="FFFFFF"/>
                </a:solidFill>
                <a:latin typeface="Yu Gothic"/>
                <a:ea typeface="Yu Gothic"/>
                <a:cs typeface="Yu Gothic"/>
              </a:rPr>
              <a:t>PPM</a:t>
            </a:r>
          </a:p>
        </p:txBody>
      </p:sp>
      <p:sp>
        <p:nvSpPr>
          <p:cNvPr id="105" name="Rounded Rectangle 104"/>
          <p:cNvSpPr/>
          <p:nvPr/>
        </p:nvSpPr>
        <p:spPr>
          <a:xfrm>
            <a:off x="7187183" y="3013862"/>
            <a:ext cx="1389887" cy="124358"/>
          </a:xfrm>
          <a:prstGeom prst="roundRect">
            <a:avLst>
              <a:gd name="adj" fmla="val 50000"/>
            </a:avLst>
          </a:prstGeom>
          <a:solidFill>
            <a:srgbClr val="DCE9F9"/>
          </a:solidFill>
          <a:ln w="1587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Oval 105"/>
          <p:cNvSpPr/>
          <p:nvPr/>
        </p:nvSpPr>
        <p:spPr>
          <a:xfrm>
            <a:off x="7834579" y="3028492"/>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Oval 106"/>
          <p:cNvSpPr/>
          <p:nvPr/>
        </p:nvSpPr>
        <p:spPr>
          <a:xfrm>
            <a:off x="7834579" y="3163824"/>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Oval 107"/>
          <p:cNvSpPr/>
          <p:nvPr/>
        </p:nvSpPr>
        <p:spPr>
          <a:xfrm>
            <a:off x="7824520" y="3289096"/>
            <a:ext cx="115214" cy="115214"/>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Oval 108"/>
          <p:cNvSpPr/>
          <p:nvPr/>
        </p:nvSpPr>
        <p:spPr>
          <a:xfrm>
            <a:off x="7824520" y="3424428"/>
            <a:ext cx="115214" cy="115214"/>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Oval 109"/>
          <p:cNvSpPr/>
          <p:nvPr/>
        </p:nvSpPr>
        <p:spPr>
          <a:xfrm>
            <a:off x="9370771" y="3569817"/>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Oval 110"/>
          <p:cNvSpPr/>
          <p:nvPr/>
        </p:nvSpPr>
        <p:spPr>
          <a:xfrm>
            <a:off x="10917021" y="3579876"/>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Oval 111"/>
          <p:cNvSpPr/>
          <p:nvPr/>
        </p:nvSpPr>
        <p:spPr>
          <a:xfrm>
            <a:off x="9360712" y="3695090"/>
            <a:ext cx="115214" cy="115214"/>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Oval 112"/>
          <p:cNvSpPr/>
          <p:nvPr/>
        </p:nvSpPr>
        <p:spPr>
          <a:xfrm>
            <a:off x="10917021" y="3715207"/>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Oval 113"/>
          <p:cNvSpPr/>
          <p:nvPr/>
        </p:nvSpPr>
        <p:spPr>
          <a:xfrm>
            <a:off x="10906963" y="3840480"/>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Oval 114"/>
          <p:cNvSpPr/>
          <p:nvPr/>
        </p:nvSpPr>
        <p:spPr>
          <a:xfrm>
            <a:off x="10886846" y="3955694"/>
            <a:ext cx="135331" cy="135331"/>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Oval 115"/>
          <p:cNvSpPr/>
          <p:nvPr/>
        </p:nvSpPr>
        <p:spPr>
          <a:xfrm>
            <a:off x="7844637" y="4121200"/>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Oval 116"/>
          <p:cNvSpPr/>
          <p:nvPr/>
        </p:nvSpPr>
        <p:spPr>
          <a:xfrm>
            <a:off x="9384030" y="4124401"/>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Oval 117"/>
          <p:cNvSpPr/>
          <p:nvPr/>
        </p:nvSpPr>
        <p:spPr>
          <a:xfrm>
            <a:off x="10906963" y="4111142"/>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Oval 118"/>
          <p:cNvSpPr/>
          <p:nvPr/>
        </p:nvSpPr>
        <p:spPr>
          <a:xfrm>
            <a:off x="7847838" y="4259732"/>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Oval 119"/>
          <p:cNvSpPr/>
          <p:nvPr/>
        </p:nvSpPr>
        <p:spPr>
          <a:xfrm>
            <a:off x="9380829" y="4256531"/>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Oval 120"/>
          <p:cNvSpPr/>
          <p:nvPr/>
        </p:nvSpPr>
        <p:spPr>
          <a:xfrm>
            <a:off x="10920222" y="4259732"/>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Oval 121"/>
          <p:cNvSpPr/>
          <p:nvPr/>
        </p:nvSpPr>
        <p:spPr>
          <a:xfrm>
            <a:off x="9384030" y="4395063"/>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Oval 122"/>
          <p:cNvSpPr/>
          <p:nvPr/>
        </p:nvSpPr>
        <p:spPr>
          <a:xfrm>
            <a:off x="10920222" y="4395063"/>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Oval 123"/>
          <p:cNvSpPr/>
          <p:nvPr/>
        </p:nvSpPr>
        <p:spPr>
          <a:xfrm>
            <a:off x="9380829" y="4527194"/>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Oval 124"/>
          <p:cNvSpPr/>
          <p:nvPr/>
        </p:nvSpPr>
        <p:spPr>
          <a:xfrm>
            <a:off x="10920222" y="4530394"/>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Oval 125"/>
          <p:cNvSpPr/>
          <p:nvPr/>
        </p:nvSpPr>
        <p:spPr>
          <a:xfrm>
            <a:off x="9380829" y="4662525"/>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Oval 126"/>
          <p:cNvSpPr/>
          <p:nvPr/>
        </p:nvSpPr>
        <p:spPr>
          <a:xfrm>
            <a:off x="6311646" y="4801057"/>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Oval 127"/>
          <p:cNvSpPr/>
          <p:nvPr/>
        </p:nvSpPr>
        <p:spPr>
          <a:xfrm>
            <a:off x="7847838" y="4801057"/>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Rounded Rectangle 128"/>
          <p:cNvSpPr/>
          <p:nvPr/>
        </p:nvSpPr>
        <p:spPr>
          <a:xfrm>
            <a:off x="4663440" y="4785055"/>
            <a:ext cx="640080" cy="100584"/>
          </a:xfrm>
          <a:prstGeom prst="roundRect">
            <a:avLst>
              <a:gd name="adj" fmla="val 50000"/>
            </a:avLst>
          </a:prstGeom>
          <a:solidFill>
            <a:srgbClr val="E89A0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4663440" y="4785055"/>
            <a:ext cx="640080" cy="100584"/>
          </a:xfrm>
          <a:prstGeom prst="rect">
            <a:avLst/>
          </a:prstGeom>
          <a:noFill/>
        </p:spPr>
        <p:txBody>
          <a:bodyPr wrap="square" lIns="0" rIns="0" tIns="0" bIns="0" anchor="ctr">
            <a:spAutoFit/>
          </a:bodyPr>
          <a:lstStyle/>
          <a:p>
            <a:pPr algn="ctr"/>
            <a:r>
              <a:rPr sz="600" b="1">
                <a:solidFill>
                  <a:srgbClr val="FFFFFF"/>
                </a:solidFill>
                <a:latin typeface="Yu Gothic"/>
                <a:ea typeface="Yu Gothic"/>
                <a:cs typeface="Yu Gothic"/>
              </a:rPr>
              <a:t>GRC</a:t>
            </a:r>
          </a:p>
        </p:txBody>
      </p:sp>
      <p:sp>
        <p:nvSpPr>
          <p:cNvPr id="131" name="Oval 130"/>
          <p:cNvSpPr/>
          <p:nvPr/>
        </p:nvSpPr>
        <p:spPr>
          <a:xfrm>
            <a:off x="9360712" y="4913071"/>
            <a:ext cx="115214" cy="115214"/>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Oval 131"/>
          <p:cNvSpPr/>
          <p:nvPr/>
        </p:nvSpPr>
        <p:spPr>
          <a:xfrm>
            <a:off x="10920222" y="4936388"/>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Oval 132"/>
          <p:cNvSpPr/>
          <p:nvPr/>
        </p:nvSpPr>
        <p:spPr>
          <a:xfrm>
            <a:off x="10896904" y="5048402"/>
            <a:ext cx="115214" cy="115214"/>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Oval 133"/>
          <p:cNvSpPr/>
          <p:nvPr/>
        </p:nvSpPr>
        <p:spPr>
          <a:xfrm>
            <a:off x="6308445" y="5203850"/>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Oval 134"/>
          <p:cNvSpPr/>
          <p:nvPr/>
        </p:nvSpPr>
        <p:spPr>
          <a:xfrm>
            <a:off x="7814462" y="5173675"/>
            <a:ext cx="135331" cy="135331"/>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Oval 135"/>
          <p:cNvSpPr/>
          <p:nvPr/>
        </p:nvSpPr>
        <p:spPr>
          <a:xfrm>
            <a:off x="10906963" y="5193791"/>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Oval 136"/>
          <p:cNvSpPr/>
          <p:nvPr/>
        </p:nvSpPr>
        <p:spPr>
          <a:xfrm>
            <a:off x="7844637" y="5339181"/>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Oval 137"/>
          <p:cNvSpPr/>
          <p:nvPr/>
        </p:nvSpPr>
        <p:spPr>
          <a:xfrm>
            <a:off x="10906963" y="5329123"/>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Rounded Rectangle 138"/>
          <p:cNvSpPr/>
          <p:nvPr/>
        </p:nvSpPr>
        <p:spPr>
          <a:xfrm>
            <a:off x="4663440" y="5326379"/>
            <a:ext cx="640080" cy="100584"/>
          </a:xfrm>
          <a:prstGeom prst="roundRect">
            <a:avLst>
              <a:gd name="adj" fmla="val 50000"/>
            </a:avLst>
          </a:prstGeom>
          <a:solidFill>
            <a:srgbClr val="1E8C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TextBox 139"/>
          <p:cNvSpPr txBox="1"/>
          <p:nvPr/>
        </p:nvSpPr>
        <p:spPr>
          <a:xfrm>
            <a:off x="4663440" y="5326379"/>
            <a:ext cx="640080" cy="100584"/>
          </a:xfrm>
          <a:prstGeom prst="rect">
            <a:avLst/>
          </a:prstGeom>
          <a:noFill/>
        </p:spPr>
        <p:txBody>
          <a:bodyPr wrap="square" lIns="0" rIns="0" tIns="0" bIns="0" anchor="ctr">
            <a:spAutoFit/>
          </a:bodyPr>
          <a:lstStyle/>
          <a:p>
            <a:pPr algn="ctr"/>
            <a:r>
              <a:rPr sz="600" b="1">
                <a:solidFill>
                  <a:srgbClr val="FFFFFF"/>
                </a:solidFill>
                <a:latin typeface="Yu Gothic"/>
                <a:ea typeface="Yu Gothic"/>
                <a:cs typeface="Yu Gothic"/>
              </a:rPr>
              <a:t>eDMS</a:t>
            </a:r>
          </a:p>
        </p:txBody>
      </p:sp>
      <p:sp>
        <p:nvSpPr>
          <p:cNvPr id="141" name="Rounded Rectangle 140"/>
          <p:cNvSpPr/>
          <p:nvPr/>
        </p:nvSpPr>
        <p:spPr>
          <a:xfrm>
            <a:off x="7187183" y="5314492"/>
            <a:ext cx="4462272" cy="124358"/>
          </a:xfrm>
          <a:prstGeom prst="roundRect">
            <a:avLst>
              <a:gd name="adj" fmla="val 50000"/>
            </a:avLst>
          </a:prstGeom>
          <a:solidFill>
            <a:srgbClr val="DDF1E2"/>
          </a:solidFill>
          <a:ln w="15875">
            <a:solidFill>
              <a:srgbClr val="1E8C3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Oval 141"/>
          <p:cNvSpPr/>
          <p:nvPr/>
        </p:nvSpPr>
        <p:spPr>
          <a:xfrm>
            <a:off x="7844637" y="5339181"/>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Oval 142"/>
          <p:cNvSpPr/>
          <p:nvPr/>
        </p:nvSpPr>
        <p:spPr>
          <a:xfrm>
            <a:off x="10906963" y="5329123"/>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Oval 143"/>
          <p:cNvSpPr/>
          <p:nvPr/>
        </p:nvSpPr>
        <p:spPr>
          <a:xfrm>
            <a:off x="6311646" y="5477713"/>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5" name="Oval 144"/>
          <p:cNvSpPr/>
          <p:nvPr/>
        </p:nvSpPr>
        <p:spPr>
          <a:xfrm>
            <a:off x="7847838" y="5477713"/>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Oval 145"/>
          <p:cNvSpPr/>
          <p:nvPr/>
        </p:nvSpPr>
        <p:spPr>
          <a:xfrm>
            <a:off x="10920222" y="5477713"/>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Oval 146"/>
          <p:cNvSpPr/>
          <p:nvPr/>
        </p:nvSpPr>
        <p:spPr>
          <a:xfrm>
            <a:off x="7847838" y="5613044"/>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Oval 147"/>
          <p:cNvSpPr/>
          <p:nvPr/>
        </p:nvSpPr>
        <p:spPr>
          <a:xfrm>
            <a:off x="10917021" y="5609843"/>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9" name="Oval 148"/>
          <p:cNvSpPr/>
          <p:nvPr/>
        </p:nvSpPr>
        <p:spPr>
          <a:xfrm>
            <a:off x="6308445" y="5745175"/>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Oval 149"/>
          <p:cNvSpPr/>
          <p:nvPr/>
        </p:nvSpPr>
        <p:spPr>
          <a:xfrm>
            <a:off x="7844637" y="5745175"/>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Oval 150"/>
          <p:cNvSpPr/>
          <p:nvPr/>
        </p:nvSpPr>
        <p:spPr>
          <a:xfrm>
            <a:off x="9384030" y="5748375"/>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Oval 151"/>
          <p:cNvSpPr/>
          <p:nvPr/>
        </p:nvSpPr>
        <p:spPr>
          <a:xfrm>
            <a:off x="10917021" y="5745175"/>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Oval 152"/>
          <p:cNvSpPr/>
          <p:nvPr/>
        </p:nvSpPr>
        <p:spPr>
          <a:xfrm>
            <a:off x="6311646" y="5883706"/>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Oval 153"/>
          <p:cNvSpPr/>
          <p:nvPr/>
        </p:nvSpPr>
        <p:spPr>
          <a:xfrm>
            <a:off x="7844637" y="5880506"/>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Oval 154"/>
          <p:cNvSpPr/>
          <p:nvPr/>
        </p:nvSpPr>
        <p:spPr>
          <a:xfrm>
            <a:off x="6311646" y="6019037"/>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Oval 155"/>
          <p:cNvSpPr/>
          <p:nvPr/>
        </p:nvSpPr>
        <p:spPr>
          <a:xfrm>
            <a:off x="7847838" y="6019037"/>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Oval 156"/>
          <p:cNvSpPr/>
          <p:nvPr/>
        </p:nvSpPr>
        <p:spPr>
          <a:xfrm>
            <a:off x="10920222" y="6019037"/>
            <a:ext cx="68580" cy="68580"/>
          </a:xfrm>
          <a:prstGeom prst="ellipse">
            <a:avLst/>
          </a:prstGeom>
          <a:solidFill>
            <a:srgbClr val="FFFFFF"/>
          </a:solidFill>
          <a:ln w="12700">
            <a:solidFill>
              <a:srgbClr val="8A96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Rounded Rectangle 157"/>
          <p:cNvSpPr/>
          <p:nvPr/>
        </p:nvSpPr>
        <p:spPr>
          <a:xfrm>
            <a:off x="4663440" y="6003035"/>
            <a:ext cx="640080" cy="100584"/>
          </a:xfrm>
          <a:prstGeom prst="roundRect">
            <a:avLst>
              <a:gd name="adj" fmla="val 50000"/>
            </a:avLst>
          </a:prstGeom>
          <a:solidFill>
            <a:srgbClr val="1E8C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9" name="TextBox 158"/>
          <p:cNvSpPr txBox="1"/>
          <p:nvPr/>
        </p:nvSpPr>
        <p:spPr>
          <a:xfrm>
            <a:off x="4663440" y="6003035"/>
            <a:ext cx="640080" cy="100584"/>
          </a:xfrm>
          <a:prstGeom prst="rect">
            <a:avLst/>
          </a:prstGeom>
          <a:noFill/>
        </p:spPr>
        <p:txBody>
          <a:bodyPr wrap="square" lIns="0" rIns="0" tIns="0" bIns="0" anchor="ctr">
            <a:spAutoFit/>
          </a:bodyPr>
          <a:lstStyle/>
          <a:p>
            <a:pPr algn="ctr"/>
            <a:r>
              <a:rPr sz="600" b="1">
                <a:solidFill>
                  <a:srgbClr val="FFFFFF"/>
                </a:solidFill>
                <a:latin typeface="Yu Gothic"/>
                <a:ea typeface="Yu Gothic"/>
                <a:cs typeface="Yu Gothic"/>
              </a:rPr>
              <a:t>eDMS</a:t>
            </a:r>
          </a:p>
        </p:txBody>
      </p:sp>
      <p:sp>
        <p:nvSpPr>
          <p:cNvPr id="160" name="TextBox 159"/>
          <p:cNvSpPr txBox="1"/>
          <p:nvPr/>
        </p:nvSpPr>
        <p:spPr>
          <a:xfrm>
            <a:off x="457200" y="6230721"/>
            <a:ext cx="2011680" cy="201168"/>
          </a:xfrm>
          <a:prstGeom prst="rect">
            <a:avLst/>
          </a:prstGeom>
          <a:noFill/>
        </p:spPr>
        <p:txBody>
          <a:bodyPr wrap="square" lIns="0" rIns="0" tIns="0" bIns="0" anchor="ctr">
            <a:spAutoFit/>
          </a:bodyPr>
          <a:lstStyle/>
          <a:p>
            <a:pPr algn="l"/>
            <a:r>
              <a:rPr sz="800" b="1">
                <a:solidFill>
                  <a:srgbClr val="1F2E35"/>
                </a:solidFill>
                <a:latin typeface="Yu Gothic"/>
                <a:ea typeface="Yu Gothic"/>
                <a:cs typeface="Yu Gothic"/>
              </a:rPr>
              <a:t>円の大きさ＝「主」の関係の件数</a:t>
            </a:r>
          </a:p>
        </p:txBody>
      </p:sp>
      <p:sp>
        <p:nvSpPr>
          <p:cNvPr id="161" name="Oval 160"/>
          <p:cNvSpPr/>
          <p:nvPr/>
        </p:nvSpPr>
        <p:spPr>
          <a:xfrm>
            <a:off x="2743200" y="6293815"/>
            <a:ext cx="74980" cy="74980"/>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TextBox 161"/>
          <p:cNvSpPr txBox="1"/>
          <p:nvPr/>
        </p:nvSpPr>
        <p:spPr>
          <a:xfrm>
            <a:off x="2863900" y="6230721"/>
            <a:ext cx="36576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1</a:t>
            </a:r>
          </a:p>
        </p:txBody>
      </p:sp>
      <p:sp>
        <p:nvSpPr>
          <p:cNvPr id="163" name="Oval 162"/>
          <p:cNvSpPr/>
          <p:nvPr/>
        </p:nvSpPr>
        <p:spPr>
          <a:xfrm>
            <a:off x="3429000" y="6283756"/>
            <a:ext cx="95097" cy="95097"/>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TextBox 163"/>
          <p:cNvSpPr txBox="1"/>
          <p:nvPr/>
        </p:nvSpPr>
        <p:spPr>
          <a:xfrm>
            <a:off x="3569817" y="6230721"/>
            <a:ext cx="36576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2</a:t>
            </a:r>
          </a:p>
        </p:txBody>
      </p:sp>
      <p:sp>
        <p:nvSpPr>
          <p:cNvPr id="165" name="Oval 164"/>
          <p:cNvSpPr/>
          <p:nvPr/>
        </p:nvSpPr>
        <p:spPr>
          <a:xfrm>
            <a:off x="4114800" y="6263639"/>
            <a:ext cx="135331" cy="135331"/>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TextBox 165"/>
          <p:cNvSpPr txBox="1"/>
          <p:nvPr/>
        </p:nvSpPr>
        <p:spPr>
          <a:xfrm>
            <a:off x="4295851" y="6230721"/>
            <a:ext cx="36576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4</a:t>
            </a:r>
          </a:p>
        </p:txBody>
      </p:sp>
      <p:sp>
        <p:nvSpPr>
          <p:cNvPr id="167" name="Oval 166"/>
          <p:cNvSpPr/>
          <p:nvPr/>
        </p:nvSpPr>
        <p:spPr>
          <a:xfrm>
            <a:off x="4800600" y="6243523"/>
            <a:ext cx="175564" cy="175564"/>
          </a:xfrm>
          <a:prstGeom prst="ellipse">
            <a:avLst/>
          </a:prstGeom>
          <a:solidFill>
            <a:srgbClr val="8A96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5021884" y="6230721"/>
            <a:ext cx="36576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6以上</a:t>
            </a:r>
          </a:p>
        </p:txBody>
      </p:sp>
      <p:sp>
        <p:nvSpPr>
          <p:cNvPr id="169" name="Oval 168"/>
          <p:cNvSpPr/>
          <p:nvPr/>
        </p:nvSpPr>
        <p:spPr>
          <a:xfrm>
            <a:off x="5486400" y="6297015"/>
            <a:ext cx="68580" cy="68580"/>
          </a:xfrm>
          <a:prstGeom prst="ellipse">
            <a:avLst/>
          </a:prstGeom>
          <a:solidFill>
            <a:srgbClr val="FFFFFF"/>
          </a:solidFill>
          <a:ln w="1270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TextBox 169"/>
          <p:cNvSpPr txBox="1"/>
          <p:nvPr/>
        </p:nvSpPr>
        <p:spPr>
          <a:xfrm>
            <a:off x="5596128" y="6230721"/>
            <a:ext cx="109728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支援の関係のみ</a:t>
            </a:r>
          </a:p>
        </p:txBody>
      </p:sp>
      <p:sp>
        <p:nvSpPr>
          <p:cNvPr id="171" name="Rounded Rectangle 170"/>
          <p:cNvSpPr/>
          <p:nvPr/>
        </p:nvSpPr>
        <p:spPr>
          <a:xfrm>
            <a:off x="6766560" y="6267297"/>
            <a:ext cx="457200" cy="128016"/>
          </a:xfrm>
          <a:prstGeom prst="roundRect">
            <a:avLst>
              <a:gd name="adj" fmla="val 50000"/>
            </a:avLst>
          </a:prstGeom>
          <a:solidFill>
            <a:srgbClr val="E4EAEC"/>
          </a:solidFill>
          <a:ln w="12700">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TextBox 171"/>
          <p:cNvSpPr txBox="1"/>
          <p:nvPr/>
        </p:nvSpPr>
        <p:spPr>
          <a:xfrm>
            <a:off x="7315200" y="6230721"/>
            <a:ext cx="4572000" cy="201168"/>
          </a:xfrm>
          <a:prstGeom prst="rect">
            <a:avLst/>
          </a:prstGeom>
          <a:noFill/>
        </p:spPr>
        <p:txBody>
          <a:bodyPr wrap="square" lIns="0" rIns="0" tIns="0" bIns="0" anchor="ctr">
            <a:spAutoFit/>
          </a:bodyPr>
          <a:lstStyle/>
          <a:p>
            <a:pPr algn="l"/>
            <a:r>
              <a:rPr sz="750" b="0">
                <a:solidFill>
                  <a:srgbClr val="1F2E35"/>
                </a:solidFill>
                <a:latin typeface="Yu Gothic"/>
                <a:ea typeface="Yu Gothic"/>
                <a:cs typeface="Yu Gothic"/>
              </a:rPr>
              <a:t>色の枠＝その能力で、そのアプリケーションが「主」として使われる段階の範囲</a:t>
            </a:r>
          </a:p>
        </p:txBody>
      </p:sp>
      <p:sp>
        <p:nvSpPr>
          <p:cNvPr id="173" name="TextBox 172"/>
          <p:cNvSpPr txBox="1"/>
          <p:nvPr/>
        </p:nvSpPr>
        <p:spPr>
          <a:xfrm>
            <a:off x="457200" y="6477609"/>
            <a:ext cx="11274552" cy="365760"/>
          </a:xfrm>
          <a:prstGeom prst="rect">
            <a:avLst/>
          </a:prstGeom>
          <a:noFill/>
        </p:spPr>
        <p:txBody>
          <a:bodyPr wrap="square" lIns="0" rIns="0" tIns="0" bIns="0" anchor="t">
            <a:spAutoFit/>
          </a:bodyPr>
          <a:lstStyle/>
          <a:p>
            <a:pPr algn="l"/>
            <a:r>
              <a:rPr sz="750" b="0">
                <a:solidFill>
                  <a:srgbClr val="5B6B70"/>
                </a:solidFill>
                <a:latin typeface="Yu Gothic"/>
                <a:ea typeface="Yu Gothic"/>
                <a:cs typeface="Yu Gothic"/>
              </a:rPr>
              <a:t>アプリケーションは「ケイパビリティ×アプリケーション」シートの●（主に支える）のうち、2つ以上の領域（L1）で●のもの。段階は「VS×ケイパビリティ関係」シートの「主」の関係から求めた。範囲は最初と最後の段階を結んだもので、間の段階で使わない場合も含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t">
            <a:spAutoFit/>
          </a:bodyPr>
          <a:lstStyle/>
          <a:p>
            <a:pPr algn="l"/>
            <a:r>
              <a:rPr sz="2800" b="1">
                <a:solidFill>
                  <a:srgbClr val="1F2E35"/>
                </a:solidFill>
                <a:latin typeface="Yu Gothic"/>
                <a:ea typeface="Yu Gothic"/>
                <a:cs typeface="Yu Gothic"/>
              </a:rPr>
              <a:t>データマップ全体像（1/2）</a:t>
            </a:r>
          </a:p>
        </p:txBody>
      </p:sp>
      <p:sp>
        <p:nvSpPr>
          <p:cNvPr id="3" name="TextBox 2"/>
          <p:cNvSpPr txBox="1"/>
          <p:nvPr/>
        </p:nvSpPr>
        <p:spPr>
          <a:xfrm>
            <a:off x="457200" y="841247"/>
            <a:ext cx="11247120" cy="365760"/>
          </a:xfrm>
          <a:prstGeom prst="rect">
            <a:avLst/>
          </a:prstGeom>
          <a:noFill/>
        </p:spPr>
        <p:txBody>
          <a:bodyPr wrap="square" lIns="0" rIns="0" tIns="0" bIns="0" anchor="t">
            <a:spAutoFit/>
          </a:bodyPr>
          <a:lstStyle/>
          <a:p>
            <a:pPr algn="l"/>
            <a:r>
              <a:rPr sz="1300" b="0">
                <a:solidFill>
                  <a:srgbClr val="5B6B70"/>
                </a:solidFill>
                <a:latin typeface="Yu Gothic"/>
                <a:ea typeface="Yu Gothic"/>
                <a:cs typeface="Yu Gothic"/>
              </a:rPr>
              <a:t>オーナーの領域（ケイパビリティL1）ごとの情報オブジェクト（50件中27件）</a:t>
            </a:r>
          </a:p>
        </p:txBody>
      </p:sp>
      <p:sp>
        <p:nvSpPr>
          <p:cNvPr id="4" name="Rectangle 3"/>
          <p:cNvSpPr/>
          <p:nvPr/>
        </p:nvSpPr>
        <p:spPr>
          <a:xfrm>
            <a:off x="7269480" y="384048"/>
            <a:ext cx="384048" cy="155448"/>
          </a:xfrm>
          <a:prstGeom prst="rect">
            <a:avLst/>
          </a:prstGeom>
          <a:solidFill>
            <a:srgbClr val="FFFFFF"/>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726679" y="347472"/>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データ（マスタ・トランザクション・測定データ）</a:t>
            </a:r>
          </a:p>
        </p:txBody>
      </p:sp>
      <p:sp>
        <p:nvSpPr>
          <p:cNvPr id="6" name="Rounded Rectangle 5"/>
          <p:cNvSpPr/>
          <p:nvPr/>
        </p:nvSpPr>
        <p:spPr>
          <a:xfrm>
            <a:off x="7269480" y="585216"/>
            <a:ext cx="384048" cy="155448"/>
          </a:xfrm>
          <a:prstGeom prst="roundRect">
            <a:avLst/>
          </a:prstGeom>
          <a:solidFill>
            <a:srgbClr val="FFFFFF"/>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26679" y="548640"/>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文書・記録（定義・仕様、分析・評価、文書）</a:t>
            </a:r>
          </a:p>
        </p:txBody>
      </p:sp>
      <p:sp>
        <p:nvSpPr>
          <p:cNvPr id="8" name="Rounded Rectangle 7"/>
          <p:cNvSpPr/>
          <p:nvPr/>
        </p:nvSpPr>
        <p:spPr>
          <a:xfrm>
            <a:off x="7269480" y="786384"/>
            <a:ext cx="384048" cy="155448"/>
          </a:xfrm>
          <a:prstGeom prst="roundRect">
            <a:avLst/>
          </a:prstGeom>
          <a:solidFill>
            <a:srgbClr val="E4EAEC"/>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26679" y="749808"/>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2つのアプリで作成・更新（C）</a:t>
            </a:r>
          </a:p>
        </p:txBody>
      </p:sp>
      <p:sp>
        <p:nvSpPr>
          <p:cNvPr id="10" name="Rounded Rectangle 9"/>
          <p:cNvSpPr/>
          <p:nvPr/>
        </p:nvSpPr>
        <p:spPr>
          <a:xfrm>
            <a:off x="7269480" y="987552"/>
            <a:ext cx="384048" cy="155448"/>
          </a:xfrm>
          <a:prstGeom prst="roundRect">
            <a:avLst/>
          </a:prstGeom>
          <a:solidFill>
            <a:srgbClr val="00FFFF"/>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26679" y="950976"/>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3つ以上のアプリで作成・更新（C）。数字＝アプリ数</a:t>
            </a:r>
          </a:p>
        </p:txBody>
      </p:sp>
      <p:sp>
        <p:nvSpPr>
          <p:cNvPr id="12" name="Rectangle 11"/>
          <p:cNvSpPr/>
          <p:nvPr/>
        </p:nvSpPr>
        <p:spPr>
          <a:xfrm>
            <a:off x="10561320" y="384048"/>
            <a:ext cx="1143000" cy="82296"/>
          </a:xfrm>
          <a:prstGeom prst="rect">
            <a:avLst/>
          </a:prstGeom>
          <a:solidFill>
            <a:srgbClr val="1F2E35"/>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0561320" y="493776"/>
            <a:ext cx="201168" cy="502920"/>
          </a:xfrm>
          <a:prstGeom prst="rect">
            <a:avLst/>
          </a:prstGeom>
          <a:solidFill>
            <a:srgbClr val="2A78D6"/>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0789920" y="493776"/>
            <a:ext cx="201168" cy="502920"/>
          </a:xfrm>
          <a:prstGeom prst="rect">
            <a:avLst/>
          </a:prstGeom>
          <a:solidFill>
            <a:srgbClr val="E3E8E9"/>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1018520" y="493776"/>
            <a:ext cx="201168" cy="502920"/>
          </a:xfrm>
          <a:prstGeom prst="rect">
            <a:avLst/>
          </a:prstGeom>
          <a:solidFill>
            <a:srgbClr val="E3E8E9"/>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11247120" y="493776"/>
            <a:ext cx="201168" cy="502920"/>
          </a:xfrm>
          <a:prstGeom prst="rect">
            <a:avLst/>
          </a:prstGeom>
          <a:solidFill>
            <a:srgbClr val="E3E8E9"/>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1475720" y="493776"/>
            <a:ext cx="201168" cy="502920"/>
          </a:xfrm>
          <a:prstGeom prst="rect">
            <a:avLst/>
          </a:prstGeom>
          <a:solidFill>
            <a:srgbClr val="B8336A"/>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10561320" y="1024127"/>
            <a:ext cx="1143000" cy="82296"/>
          </a:xfrm>
          <a:prstGeom prst="rect">
            <a:avLst/>
          </a:prstGeom>
          <a:solidFill>
            <a:srgbClr val="E3E8E9"/>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561320" y="1133856"/>
            <a:ext cx="1143000" cy="201168"/>
          </a:xfrm>
          <a:prstGeom prst="rect">
            <a:avLst/>
          </a:prstGeom>
          <a:noFill/>
        </p:spPr>
        <p:txBody>
          <a:bodyPr wrap="square" lIns="0" rIns="0" tIns="0" bIns="0" anchor="t">
            <a:spAutoFit/>
          </a:bodyPr>
          <a:lstStyle/>
          <a:p>
            <a:pPr algn="ctr"/>
            <a:r>
              <a:rPr sz="900" b="1">
                <a:solidFill>
                  <a:srgbClr val="5B6B70"/>
                </a:solidFill>
                <a:latin typeface="Yu Gothic"/>
                <a:ea typeface="Yu Gothic"/>
                <a:cs typeface="Yu Gothic"/>
              </a:rPr>
              <a:t>1 / 2</a:t>
            </a:r>
          </a:p>
        </p:txBody>
      </p:sp>
      <p:sp>
        <p:nvSpPr>
          <p:cNvPr id="20" name="Rounded Rectangle 19"/>
          <p:cNvSpPr/>
          <p:nvPr/>
        </p:nvSpPr>
        <p:spPr>
          <a:xfrm>
            <a:off x="457200" y="1417320"/>
            <a:ext cx="11274552" cy="960120"/>
          </a:xfrm>
          <a:prstGeom prst="roundRect">
            <a:avLst>
              <a:gd name="adj" fmla="val 8000"/>
            </a:avLst>
          </a:prstGeom>
          <a:solidFill>
            <a:srgbClr val="FFFFFF"/>
          </a:solidFill>
          <a:ln w="1905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57200" y="145389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IT戦略・ガバナンス（Strategy &amp; Governance）</a:t>
            </a:r>
          </a:p>
        </p:txBody>
      </p:sp>
      <p:sp>
        <p:nvSpPr>
          <p:cNvPr id="22" name="TextBox 21"/>
          <p:cNvSpPr txBox="1"/>
          <p:nvPr/>
        </p:nvSpPr>
        <p:spPr>
          <a:xfrm>
            <a:off x="566928" y="1682496"/>
            <a:ext cx="1579299"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IT戦略・DX企画</a:t>
            </a:r>
          </a:p>
        </p:txBody>
      </p:sp>
      <p:sp>
        <p:nvSpPr>
          <p:cNvPr id="23" name="Rounded Rectangle 22"/>
          <p:cNvSpPr/>
          <p:nvPr/>
        </p:nvSpPr>
        <p:spPr>
          <a:xfrm>
            <a:off x="630936" y="1874519"/>
            <a:ext cx="1432995"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58368" y="1874519"/>
            <a:ext cx="137813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事業戦略・DX方針</a:t>
            </a:r>
          </a:p>
        </p:txBody>
      </p:sp>
      <p:sp>
        <p:nvSpPr>
          <p:cNvPr id="25" name="Rounded Rectangle 24"/>
          <p:cNvSpPr/>
          <p:nvPr/>
        </p:nvSpPr>
        <p:spPr>
          <a:xfrm>
            <a:off x="630936" y="2093976"/>
            <a:ext cx="1432995"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58368" y="2093976"/>
            <a:ext cx="137813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IT戦略・ロードマップ</a:t>
            </a:r>
          </a:p>
        </p:txBody>
      </p:sp>
      <p:sp>
        <p:nvSpPr>
          <p:cNvPr id="27" name="TextBox 26"/>
          <p:cNvSpPr txBox="1"/>
          <p:nvPr/>
        </p:nvSpPr>
        <p:spPr>
          <a:xfrm>
            <a:off x="2146227" y="1682496"/>
            <a:ext cx="3158598"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エンタープライズアーキテクチャ</a:t>
            </a:r>
          </a:p>
        </p:txBody>
      </p:sp>
      <p:sp>
        <p:nvSpPr>
          <p:cNvPr id="28" name="Rectangle 27"/>
          <p:cNvSpPr/>
          <p:nvPr/>
        </p:nvSpPr>
        <p:spPr>
          <a:xfrm>
            <a:off x="2210235" y="1874519"/>
            <a:ext cx="1478715" cy="182880"/>
          </a:xfrm>
          <a:prstGeom prst="rect">
            <a:avLst/>
          </a:prstGeom>
          <a:solidFill>
            <a:srgbClr val="00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2237667" y="1874519"/>
            <a:ext cx="1423851" cy="182880"/>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アプリケーション台帳（6）</a:t>
            </a:r>
          </a:p>
        </p:txBody>
      </p:sp>
      <p:sp>
        <p:nvSpPr>
          <p:cNvPr id="30" name="Rounded Rectangle 29"/>
          <p:cNvSpPr/>
          <p:nvPr/>
        </p:nvSpPr>
        <p:spPr>
          <a:xfrm>
            <a:off x="3743814" y="1874519"/>
            <a:ext cx="1478715"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3771246" y="1874519"/>
            <a:ext cx="1423851" cy="182880"/>
          </a:xfrm>
          <a:prstGeom prst="rect">
            <a:avLst/>
          </a:prstGeom>
          <a:noFill/>
        </p:spPr>
        <p:txBody>
          <a:bodyPr wrap="square" lIns="0" rIns="0" tIns="0" bIns="0" anchor="ctr">
            <a:spAutoFit/>
          </a:bodyPr>
          <a:lstStyle/>
          <a:p>
            <a:pPr algn="ctr"/>
            <a:r>
              <a:rPr sz="700" b="0">
                <a:solidFill>
                  <a:srgbClr val="1F2E35"/>
                </a:solidFill>
                <a:latin typeface="Yu Gothic"/>
                <a:ea typeface="Yu Gothic"/>
                <a:cs typeface="Yu Gothic"/>
              </a:rPr>
              <a:t>エンタープライズアーキテクチャ</a:t>
            </a:r>
          </a:p>
        </p:txBody>
      </p:sp>
      <p:sp>
        <p:nvSpPr>
          <p:cNvPr id="32" name="Rounded Rectangle 31"/>
          <p:cNvSpPr/>
          <p:nvPr/>
        </p:nvSpPr>
        <p:spPr>
          <a:xfrm>
            <a:off x="2210235" y="2093976"/>
            <a:ext cx="1478715"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2237667" y="2093976"/>
            <a:ext cx="14238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技術標準</a:t>
            </a:r>
          </a:p>
        </p:txBody>
      </p:sp>
      <p:sp>
        <p:nvSpPr>
          <p:cNvPr id="34" name="TextBox 33"/>
          <p:cNvSpPr txBox="1"/>
          <p:nvPr/>
        </p:nvSpPr>
        <p:spPr>
          <a:xfrm>
            <a:off x="5304826" y="1682496"/>
            <a:ext cx="3158598"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ITポートフォリオ・需要管理</a:t>
            </a:r>
          </a:p>
        </p:txBody>
      </p:sp>
      <p:sp>
        <p:nvSpPr>
          <p:cNvPr id="35" name="Rectangle 34"/>
          <p:cNvSpPr/>
          <p:nvPr/>
        </p:nvSpPr>
        <p:spPr>
          <a:xfrm>
            <a:off x="5368834" y="1874519"/>
            <a:ext cx="1478715" cy="182880"/>
          </a:xfrm>
          <a:prstGeom prst="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396266" y="1874519"/>
            <a:ext cx="14238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IT投資要求</a:t>
            </a:r>
          </a:p>
        </p:txBody>
      </p:sp>
      <p:sp>
        <p:nvSpPr>
          <p:cNvPr id="37" name="Rounded Rectangle 36"/>
          <p:cNvSpPr/>
          <p:nvPr/>
        </p:nvSpPr>
        <p:spPr>
          <a:xfrm>
            <a:off x="6902413" y="1874519"/>
            <a:ext cx="1478715" cy="182880"/>
          </a:xfrm>
          <a:prstGeom prst="roundRect">
            <a:avLst/>
          </a:prstGeom>
          <a:solidFill>
            <a:srgbClr val="E4EAEC"/>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929845" y="1874519"/>
            <a:ext cx="14238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ビジネスケース（2）</a:t>
            </a:r>
          </a:p>
        </p:txBody>
      </p:sp>
      <p:sp>
        <p:nvSpPr>
          <p:cNvPr id="39" name="Rounded Rectangle 38"/>
          <p:cNvSpPr/>
          <p:nvPr/>
        </p:nvSpPr>
        <p:spPr>
          <a:xfrm>
            <a:off x="5368834" y="2093976"/>
            <a:ext cx="1478715" cy="182880"/>
          </a:xfrm>
          <a:prstGeom prst="roundRect">
            <a:avLst/>
          </a:prstGeom>
          <a:solidFill>
            <a:srgbClr val="E4EAEC"/>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396266" y="2093976"/>
            <a:ext cx="142385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ITポートフォリオ（2）</a:t>
            </a:r>
          </a:p>
        </p:txBody>
      </p:sp>
      <p:sp>
        <p:nvSpPr>
          <p:cNvPr id="41" name="TextBox 40"/>
          <p:cNvSpPr txBox="1"/>
          <p:nvPr/>
        </p:nvSpPr>
        <p:spPr>
          <a:xfrm>
            <a:off x="8463425" y="1682496"/>
            <a:ext cx="1579299"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ITガバナンス・リスク管理★</a:t>
            </a:r>
          </a:p>
        </p:txBody>
      </p:sp>
      <p:sp>
        <p:nvSpPr>
          <p:cNvPr id="42" name="Rounded Rectangle 41"/>
          <p:cNvSpPr/>
          <p:nvPr/>
        </p:nvSpPr>
        <p:spPr>
          <a:xfrm>
            <a:off x="8527433" y="1874519"/>
            <a:ext cx="1432995"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8554865" y="1874519"/>
            <a:ext cx="137813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IT規程・手順書</a:t>
            </a:r>
          </a:p>
        </p:txBody>
      </p:sp>
      <p:sp>
        <p:nvSpPr>
          <p:cNvPr id="44" name="Rounded Rectangle 43"/>
          <p:cNvSpPr/>
          <p:nvPr/>
        </p:nvSpPr>
        <p:spPr>
          <a:xfrm>
            <a:off x="8527433" y="2093976"/>
            <a:ext cx="1432995"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8554865" y="2093976"/>
            <a:ext cx="137813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ITリスク登録簿</a:t>
            </a:r>
          </a:p>
        </p:txBody>
      </p:sp>
      <p:sp>
        <p:nvSpPr>
          <p:cNvPr id="46" name="TextBox 45"/>
          <p:cNvSpPr txBox="1"/>
          <p:nvPr/>
        </p:nvSpPr>
        <p:spPr>
          <a:xfrm>
            <a:off x="10042724" y="1682496"/>
            <a:ext cx="1579299"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IT財務管理</a:t>
            </a:r>
          </a:p>
        </p:txBody>
      </p:sp>
      <p:sp>
        <p:nvSpPr>
          <p:cNvPr id="47" name="Rectangle 46"/>
          <p:cNvSpPr/>
          <p:nvPr/>
        </p:nvSpPr>
        <p:spPr>
          <a:xfrm>
            <a:off x="10106732" y="1874519"/>
            <a:ext cx="1432995" cy="182880"/>
          </a:xfrm>
          <a:prstGeom prst="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10134164" y="1874519"/>
            <a:ext cx="137813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IT予算・費用実績</a:t>
            </a:r>
          </a:p>
        </p:txBody>
      </p:sp>
      <p:sp>
        <p:nvSpPr>
          <p:cNvPr id="49" name="Rounded Rectangle 48"/>
          <p:cNvSpPr/>
          <p:nvPr/>
        </p:nvSpPr>
        <p:spPr>
          <a:xfrm>
            <a:off x="10106732" y="2093976"/>
            <a:ext cx="1432995" cy="182880"/>
          </a:xfrm>
          <a:prstGeom prst="roundRect">
            <a:avLst/>
          </a:prstGeom>
          <a:solidFill>
            <a:srgbClr val="E4EAEC"/>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10134164" y="2093976"/>
            <a:ext cx="1378131"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利用実績・費用配賦（2）</a:t>
            </a:r>
          </a:p>
        </p:txBody>
      </p:sp>
      <p:sp>
        <p:nvSpPr>
          <p:cNvPr id="51" name="Chevron 50"/>
          <p:cNvSpPr/>
          <p:nvPr/>
        </p:nvSpPr>
        <p:spPr>
          <a:xfrm rot="5400000">
            <a:off x="6035040" y="2395728"/>
            <a:ext cx="118872" cy="310896"/>
          </a:xfrm>
          <a:prstGeom prst="chevron">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457200" y="2606040"/>
            <a:ext cx="11274552" cy="1463040"/>
          </a:xfrm>
          <a:prstGeom prst="roundRect">
            <a:avLst>
              <a:gd name="adj" fmla="val 4000"/>
            </a:avLst>
          </a:prstGeom>
          <a:solidFill>
            <a:srgbClr val="E8F1FB"/>
          </a:solidFill>
          <a:ln w="19050">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457200" y="2651760"/>
            <a:ext cx="11274552" cy="274320"/>
          </a:xfrm>
          <a:prstGeom prst="rect">
            <a:avLst/>
          </a:prstGeom>
          <a:noFill/>
        </p:spPr>
        <p:txBody>
          <a:bodyPr wrap="square" lIns="0" rIns="0" tIns="0" bIns="0" anchor="ctr">
            <a:spAutoFit/>
          </a:bodyPr>
          <a:lstStyle/>
          <a:p>
            <a:pPr algn="ctr"/>
            <a:r>
              <a:rPr sz="1250" b="1">
                <a:solidFill>
                  <a:srgbClr val="1F62B8"/>
                </a:solidFill>
                <a:latin typeface="Yu Gothic"/>
                <a:ea typeface="Yu Gothic"/>
                <a:cs typeface="Yu Gothic"/>
              </a:rPr>
              <a:t>Solution Delivery</a:t>
            </a:r>
          </a:p>
        </p:txBody>
      </p:sp>
      <p:sp>
        <p:nvSpPr>
          <p:cNvPr id="54" name="Rounded Rectangle 53"/>
          <p:cNvSpPr/>
          <p:nvPr/>
        </p:nvSpPr>
        <p:spPr>
          <a:xfrm>
            <a:off x="530352" y="2971800"/>
            <a:ext cx="2727198" cy="102412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30352" y="3008376"/>
            <a:ext cx="272719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プロジェクト管理★</a:t>
            </a:r>
          </a:p>
        </p:txBody>
      </p:sp>
      <p:sp>
        <p:nvSpPr>
          <p:cNvPr id="56" name="Rounded Rectangle 55"/>
          <p:cNvSpPr/>
          <p:nvPr/>
        </p:nvSpPr>
        <p:spPr>
          <a:xfrm>
            <a:off x="621792" y="3337560"/>
            <a:ext cx="2544318" cy="201168"/>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649224" y="3337560"/>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プロジェクト計画</a:t>
            </a:r>
          </a:p>
        </p:txBody>
      </p:sp>
      <p:sp>
        <p:nvSpPr>
          <p:cNvPr id="58" name="Rounded Rectangle 57"/>
          <p:cNvSpPr/>
          <p:nvPr/>
        </p:nvSpPr>
        <p:spPr>
          <a:xfrm>
            <a:off x="3330702" y="2971800"/>
            <a:ext cx="2727198" cy="102412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330702" y="3008376"/>
            <a:ext cx="272719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要件定義・設計</a:t>
            </a:r>
          </a:p>
        </p:txBody>
      </p:sp>
      <p:sp>
        <p:nvSpPr>
          <p:cNvPr id="60" name="Rounded Rectangle 59"/>
          <p:cNvSpPr/>
          <p:nvPr/>
        </p:nvSpPr>
        <p:spPr>
          <a:xfrm>
            <a:off x="3422142" y="3337560"/>
            <a:ext cx="2544318" cy="201168"/>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3449574" y="3337560"/>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要求仕様書（URS）</a:t>
            </a:r>
          </a:p>
        </p:txBody>
      </p:sp>
      <p:sp>
        <p:nvSpPr>
          <p:cNvPr id="62" name="Rounded Rectangle 61"/>
          <p:cNvSpPr/>
          <p:nvPr/>
        </p:nvSpPr>
        <p:spPr>
          <a:xfrm>
            <a:off x="3422142" y="3584448"/>
            <a:ext cx="2544318" cy="201168"/>
          </a:xfrm>
          <a:prstGeom prst="roundRect">
            <a:avLst/>
          </a:prstGeom>
          <a:solidFill>
            <a:srgbClr val="E4EAEC"/>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3449574" y="3584448"/>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設計書（機能・設計仕様）（2）</a:t>
            </a:r>
          </a:p>
        </p:txBody>
      </p:sp>
      <p:sp>
        <p:nvSpPr>
          <p:cNvPr id="64" name="Rounded Rectangle 63"/>
          <p:cNvSpPr/>
          <p:nvPr/>
        </p:nvSpPr>
        <p:spPr>
          <a:xfrm>
            <a:off x="6131052" y="2971800"/>
            <a:ext cx="2727198" cy="102412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131052" y="3008376"/>
            <a:ext cx="272719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開発・構成</a:t>
            </a:r>
          </a:p>
        </p:txBody>
      </p:sp>
      <p:sp>
        <p:nvSpPr>
          <p:cNvPr id="66" name="Rounded Rectangle 65"/>
          <p:cNvSpPr/>
          <p:nvPr/>
        </p:nvSpPr>
        <p:spPr>
          <a:xfrm>
            <a:off x="6222492" y="3337560"/>
            <a:ext cx="2544318" cy="201168"/>
          </a:xfrm>
          <a:prstGeom prst="roundRect">
            <a:avLst/>
          </a:prstGeom>
          <a:solidFill>
            <a:srgbClr val="FF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6249924" y="3337560"/>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ソースコード・構成設定</a:t>
            </a:r>
          </a:p>
        </p:txBody>
      </p:sp>
      <p:sp>
        <p:nvSpPr>
          <p:cNvPr id="68" name="Rounded Rectangle 67"/>
          <p:cNvSpPr/>
          <p:nvPr/>
        </p:nvSpPr>
        <p:spPr>
          <a:xfrm>
            <a:off x="8931402" y="2971800"/>
            <a:ext cx="2727198" cy="102412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8931402" y="3008376"/>
            <a:ext cx="272719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テスト・リリース</a:t>
            </a:r>
          </a:p>
        </p:txBody>
      </p:sp>
      <p:sp>
        <p:nvSpPr>
          <p:cNvPr id="70" name="Rectangle 69"/>
          <p:cNvSpPr/>
          <p:nvPr/>
        </p:nvSpPr>
        <p:spPr>
          <a:xfrm>
            <a:off x="9022842" y="3337560"/>
            <a:ext cx="2544318" cy="201168"/>
          </a:xfrm>
          <a:prstGeom prst="rect">
            <a:avLst/>
          </a:prstGeom>
          <a:solidFill>
            <a:srgbClr val="00FFFF"/>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050274" y="3337560"/>
            <a:ext cx="2489453" cy="201168"/>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テスト記録（4）</a:t>
            </a:r>
          </a:p>
        </p:txBody>
      </p:sp>
      <p:sp>
        <p:nvSpPr>
          <p:cNvPr id="72" name="Rounded Rectangle 71"/>
          <p:cNvSpPr/>
          <p:nvPr/>
        </p:nvSpPr>
        <p:spPr>
          <a:xfrm>
            <a:off x="9022842" y="3584448"/>
            <a:ext cx="2544318" cy="201168"/>
          </a:xfrm>
          <a:prstGeom prst="roundRect">
            <a:avLst/>
          </a:prstGeom>
          <a:solidFill>
            <a:srgbClr val="E4EAEC"/>
          </a:solidFill>
          <a:ln w="952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9050274" y="3584448"/>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リリース・移行計画（2）</a:t>
            </a:r>
          </a:p>
        </p:txBody>
      </p:sp>
      <p:sp>
        <p:nvSpPr>
          <p:cNvPr id="74" name="Rounded Rectangle 73"/>
          <p:cNvSpPr/>
          <p:nvPr/>
        </p:nvSpPr>
        <p:spPr>
          <a:xfrm>
            <a:off x="457200" y="4160520"/>
            <a:ext cx="11274552" cy="2103120"/>
          </a:xfrm>
          <a:prstGeom prst="roundRect">
            <a:avLst>
              <a:gd name="adj" fmla="val 4000"/>
            </a:avLst>
          </a:prstGeom>
          <a:solidFill>
            <a:srgbClr val="FBEAF1"/>
          </a:solidFill>
          <a:ln w="19050">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457200" y="4206240"/>
            <a:ext cx="11274552" cy="274320"/>
          </a:xfrm>
          <a:prstGeom prst="rect">
            <a:avLst/>
          </a:prstGeom>
          <a:noFill/>
        </p:spPr>
        <p:txBody>
          <a:bodyPr wrap="square" lIns="0" rIns="0" tIns="0" bIns="0" anchor="ctr">
            <a:spAutoFit/>
          </a:bodyPr>
          <a:lstStyle/>
          <a:p>
            <a:pPr algn="ctr"/>
            <a:r>
              <a:rPr sz="1250" b="1">
                <a:solidFill>
                  <a:srgbClr val="9A2553"/>
                </a:solidFill>
                <a:latin typeface="Yu Gothic"/>
                <a:ea typeface="Yu Gothic"/>
                <a:cs typeface="Yu Gothic"/>
              </a:rPr>
              <a:t>Data &amp; GxP Compliance</a:t>
            </a:r>
          </a:p>
        </p:txBody>
      </p:sp>
      <p:sp>
        <p:nvSpPr>
          <p:cNvPr id="76" name="Rounded Rectangle 75"/>
          <p:cNvSpPr/>
          <p:nvPr/>
        </p:nvSpPr>
        <p:spPr>
          <a:xfrm>
            <a:off x="530352" y="4526280"/>
            <a:ext cx="2727198" cy="1664207"/>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530352" y="4562856"/>
            <a:ext cx="272719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GxPシステム管理（CSV）★</a:t>
            </a:r>
          </a:p>
        </p:txBody>
      </p:sp>
      <p:sp>
        <p:nvSpPr>
          <p:cNvPr id="78" name="Rounded Rectangle 77"/>
          <p:cNvSpPr/>
          <p:nvPr/>
        </p:nvSpPr>
        <p:spPr>
          <a:xfrm>
            <a:off x="621792" y="4892040"/>
            <a:ext cx="2544318" cy="201168"/>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649224" y="4892040"/>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GxP該当性評価</a:t>
            </a:r>
          </a:p>
        </p:txBody>
      </p:sp>
      <p:sp>
        <p:nvSpPr>
          <p:cNvPr id="80" name="Rounded Rectangle 79"/>
          <p:cNvSpPr/>
          <p:nvPr/>
        </p:nvSpPr>
        <p:spPr>
          <a:xfrm>
            <a:off x="621792" y="5129783"/>
            <a:ext cx="2544318" cy="201168"/>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649224" y="5129783"/>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リスクアセスメント</a:t>
            </a:r>
          </a:p>
        </p:txBody>
      </p:sp>
      <p:sp>
        <p:nvSpPr>
          <p:cNvPr id="82" name="Rounded Rectangle 81"/>
          <p:cNvSpPr/>
          <p:nvPr/>
        </p:nvSpPr>
        <p:spPr>
          <a:xfrm>
            <a:off x="621792" y="5367527"/>
            <a:ext cx="2544318" cy="201168"/>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649224" y="5367527"/>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バリデーション計画書</a:t>
            </a:r>
          </a:p>
        </p:txBody>
      </p:sp>
      <p:sp>
        <p:nvSpPr>
          <p:cNvPr id="84" name="Rounded Rectangle 83"/>
          <p:cNvSpPr/>
          <p:nvPr/>
        </p:nvSpPr>
        <p:spPr>
          <a:xfrm>
            <a:off x="621792" y="5605272"/>
            <a:ext cx="2544318" cy="201168"/>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649224" y="5605272"/>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バリデーション報告書</a:t>
            </a:r>
          </a:p>
        </p:txBody>
      </p:sp>
      <p:sp>
        <p:nvSpPr>
          <p:cNvPr id="86" name="Rounded Rectangle 85"/>
          <p:cNvSpPr/>
          <p:nvPr/>
        </p:nvSpPr>
        <p:spPr>
          <a:xfrm>
            <a:off x="621792" y="5843016"/>
            <a:ext cx="2544318" cy="201168"/>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649224" y="5843016"/>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定期レビュー記録</a:t>
            </a:r>
          </a:p>
        </p:txBody>
      </p:sp>
      <p:sp>
        <p:nvSpPr>
          <p:cNvPr id="88" name="Rounded Rectangle 87"/>
          <p:cNvSpPr/>
          <p:nvPr/>
        </p:nvSpPr>
        <p:spPr>
          <a:xfrm>
            <a:off x="3330702" y="4526280"/>
            <a:ext cx="2727198" cy="1664207"/>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3330702" y="4562856"/>
            <a:ext cx="272719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データインテグリティ★</a:t>
            </a:r>
          </a:p>
        </p:txBody>
      </p:sp>
      <p:sp>
        <p:nvSpPr>
          <p:cNvPr id="90" name="Rectangle 89"/>
          <p:cNvSpPr/>
          <p:nvPr/>
        </p:nvSpPr>
        <p:spPr>
          <a:xfrm>
            <a:off x="3422142" y="4892040"/>
            <a:ext cx="2544318" cy="201168"/>
          </a:xfrm>
          <a:prstGeom prst="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3449574" y="4892040"/>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監査証跡・電子署名記録</a:t>
            </a:r>
          </a:p>
        </p:txBody>
      </p:sp>
      <p:sp>
        <p:nvSpPr>
          <p:cNvPr id="92" name="Rounded Rectangle 91"/>
          <p:cNvSpPr/>
          <p:nvPr/>
        </p:nvSpPr>
        <p:spPr>
          <a:xfrm>
            <a:off x="3422142" y="5129783"/>
            <a:ext cx="2544318" cy="201168"/>
          </a:xfrm>
          <a:prstGeom prst="roundRect">
            <a:avLst/>
          </a:prstGeom>
          <a:solidFill>
            <a:srgbClr val="FF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3449574" y="5129783"/>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記録保存・アーカイブ記録</a:t>
            </a:r>
          </a:p>
        </p:txBody>
      </p:sp>
      <p:sp>
        <p:nvSpPr>
          <p:cNvPr id="94" name="Rounded Rectangle 93"/>
          <p:cNvSpPr/>
          <p:nvPr/>
        </p:nvSpPr>
        <p:spPr>
          <a:xfrm>
            <a:off x="6131052" y="4526280"/>
            <a:ext cx="2727198" cy="1664207"/>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TextBox 94"/>
          <p:cNvSpPr txBox="1"/>
          <p:nvPr/>
        </p:nvSpPr>
        <p:spPr>
          <a:xfrm>
            <a:off x="6131052" y="4562856"/>
            <a:ext cx="272719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データ管理</a:t>
            </a:r>
          </a:p>
        </p:txBody>
      </p:sp>
      <p:sp>
        <p:nvSpPr>
          <p:cNvPr id="96" name="Rounded Rectangle 95"/>
          <p:cNvSpPr/>
          <p:nvPr/>
        </p:nvSpPr>
        <p:spPr>
          <a:xfrm>
            <a:off x="6222492" y="4892040"/>
            <a:ext cx="2544318" cy="201168"/>
          </a:xfrm>
          <a:prstGeom prst="roundRect">
            <a:avLst/>
          </a:prstGeom>
          <a:solidFill>
            <a:srgbClr val="00FFFF"/>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TextBox 96"/>
          <p:cNvSpPr txBox="1"/>
          <p:nvPr/>
        </p:nvSpPr>
        <p:spPr>
          <a:xfrm>
            <a:off x="6249924" y="4892040"/>
            <a:ext cx="2489453" cy="201168"/>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データ定義・データカタログ（3）</a:t>
            </a:r>
          </a:p>
        </p:txBody>
      </p:sp>
      <p:sp>
        <p:nvSpPr>
          <p:cNvPr id="98" name="Rounded Rectangle 97"/>
          <p:cNvSpPr/>
          <p:nvPr/>
        </p:nvSpPr>
        <p:spPr>
          <a:xfrm>
            <a:off x="8931402" y="4526280"/>
            <a:ext cx="2727198" cy="1664207"/>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8931402" y="4562856"/>
            <a:ext cx="272719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個人情報・データ保護</a:t>
            </a:r>
          </a:p>
        </p:txBody>
      </p:sp>
      <p:sp>
        <p:nvSpPr>
          <p:cNvPr id="100" name="Rounded Rectangle 99"/>
          <p:cNvSpPr/>
          <p:nvPr/>
        </p:nvSpPr>
        <p:spPr>
          <a:xfrm>
            <a:off x="9022842" y="4892040"/>
            <a:ext cx="2544318" cy="201168"/>
          </a:xfrm>
          <a:prstGeom prst="roundRect">
            <a:avLst/>
          </a:prstGeom>
          <a:solidFill>
            <a:srgbClr val="E4EAEC"/>
          </a:solidFill>
          <a:ln w="952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extBox 100"/>
          <p:cNvSpPr txBox="1"/>
          <p:nvPr/>
        </p:nvSpPr>
        <p:spPr>
          <a:xfrm>
            <a:off x="9050274" y="4892040"/>
            <a:ext cx="2489453"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個人情報取扱台帳（2）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t">
            <a:spAutoFit/>
          </a:bodyPr>
          <a:lstStyle/>
          <a:p>
            <a:pPr algn="l"/>
            <a:r>
              <a:rPr sz="2800" b="1">
                <a:solidFill>
                  <a:srgbClr val="1F2E35"/>
                </a:solidFill>
                <a:latin typeface="Yu Gothic"/>
                <a:ea typeface="Yu Gothic"/>
                <a:cs typeface="Yu Gothic"/>
              </a:rPr>
              <a:t>データマップ全体像（2/2）</a:t>
            </a:r>
          </a:p>
        </p:txBody>
      </p:sp>
      <p:sp>
        <p:nvSpPr>
          <p:cNvPr id="3" name="TextBox 2"/>
          <p:cNvSpPr txBox="1"/>
          <p:nvPr/>
        </p:nvSpPr>
        <p:spPr>
          <a:xfrm>
            <a:off x="457200" y="841247"/>
            <a:ext cx="11247120" cy="365760"/>
          </a:xfrm>
          <a:prstGeom prst="rect">
            <a:avLst/>
          </a:prstGeom>
          <a:noFill/>
        </p:spPr>
        <p:txBody>
          <a:bodyPr wrap="square" lIns="0" rIns="0" tIns="0" bIns="0" anchor="t">
            <a:spAutoFit/>
          </a:bodyPr>
          <a:lstStyle/>
          <a:p>
            <a:pPr algn="l"/>
            <a:r>
              <a:rPr sz="1300" b="0">
                <a:solidFill>
                  <a:srgbClr val="5B6B70"/>
                </a:solidFill>
                <a:latin typeface="Yu Gothic"/>
                <a:ea typeface="Yu Gothic"/>
                <a:cs typeface="Yu Gothic"/>
              </a:rPr>
              <a:t>オーナーの領域（ケイパビリティL1）ごとの情報オブジェクト（50件中23件）</a:t>
            </a:r>
          </a:p>
        </p:txBody>
      </p:sp>
      <p:sp>
        <p:nvSpPr>
          <p:cNvPr id="4" name="Rectangle 3"/>
          <p:cNvSpPr/>
          <p:nvPr/>
        </p:nvSpPr>
        <p:spPr>
          <a:xfrm>
            <a:off x="7269480" y="384048"/>
            <a:ext cx="384048" cy="155448"/>
          </a:xfrm>
          <a:prstGeom prst="rect">
            <a:avLst/>
          </a:prstGeom>
          <a:solidFill>
            <a:srgbClr val="FFFFFF"/>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726679" y="347472"/>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データ（マスタ・トランザクション・測定データ）</a:t>
            </a:r>
          </a:p>
        </p:txBody>
      </p:sp>
      <p:sp>
        <p:nvSpPr>
          <p:cNvPr id="6" name="Rounded Rectangle 5"/>
          <p:cNvSpPr/>
          <p:nvPr/>
        </p:nvSpPr>
        <p:spPr>
          <a:xfrm>
            <a:off x="7269480" y="585216"/>
            <a:ext cx="384048" cy="155448"/>
          </a:xfrm>
          <a:prstGeom prst="roundRect">
            <a:avLst/>
          </a:prstGeom>
          <a:solidFill>
            <a:srgbClr val="FFFFFF"/>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26679" y="548640"/>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文書・記録（定義・仕様、分析・評価、文書）</a:t>
            </a:r>
          </a:p>
        </p:txBody>
      </p:sp>
      <p:sp>
        <p:nvSpPr>
          <p:cNvPr id="8" name="Rounded Rectangle 7"/>
          <p:cNvSpPr/>
          <p:nvPr/>
        </p:nvSpPr>
        <p:spPr>
          <a:xfrm>
            <a:off x="7269480" y="786384"/>
            <a:ext cx="384048" cy="155448"/>
          </a:xfrm>
          <a:prstGeom prst="roundRect">
            <a:avLst/>
          </a:prstGeom>
          <a:solidFill>
            <a:srgbClr val="E4EAEC"/>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26679" y="749808"/>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2つのアプリで作成・更新（C）</a:t>
            </a:r>
          </a:p>
        </p:txBody>
      </p:sp>
      <p:sp>
        <p:nvSpPr>
          <p:cNvPr id="10" name="Rounded Rectangle 9"/>
          <p:cNvSpPr/>
          <p:nvPr/>
        </p:nvSpPr>
        <p:spPr>
          <a:xfrm>
            <a:off x="7269480" y="987552"/>
            <a:ext cx="384048" cy="155448"/>
          </a:xfrm>
          <a:prstGeom prst="roundRect">
            <a:avLst/>
          </a:prstGeom>
          <a:solidFill>
            <a:srgbClr val="00FFFF"/>
          </a:solidFill>
          <a:ln w="9525">
            <a:solidFill>
              <a:srgbClr val="5B6B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26679" y="950976"/>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3つ以上のアプリで作成・更新（C）。数字＝アプリ数</a:t>
            </a:r>
          </a:p>
        </p:txBody>
      </p:sp>
      <p:sp>
        <p:nvSpPr>
          <p:cNvPr id="12" name="Rectangle 11"/>
          <p:cNvSpPr/>
          <p:nvPr/>
        </p:nvSpPr>
        <p:spPr>
          <a:xfrm>
            <a:off x="10561320" y="384048"/>
            <a:ext cx="1143000" cy="82296"/>
          </a:xfrm>
          <a:prstGeom prst="rect">
            <a:avLst/>
          </a:prstGeom>
          <a:solidFill>
            <a:srgbClr val="E3E8E9"/>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0561320" y="493776"/>
            <a:ext cx="201168" cy="502920"/>
          </a:xfrm>
          <a:prstGeom prst="rect">
            <a:avLst/>
          </a:prstGeom>
          <a:solidFill>
            <a:srgbClr val="E3E8E9"/>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0789920" y="493776"/>
            <a:ext cx="201168" cy="502920"/>
          </a:xfrm>
          <a:prstGeom prst="rect">
            <a:avLst/>
          </a:prstGeom>
          <a:solidFill>
            <a:srgbClr val="1BAF7A"/>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1018520" y="493776"/>
            <a:ext cx="201168" cy="502920"/>
          </a:xfrm>
          <a:prstGeom prst="rect">
            <a:avLst/>
          </a:prstGeom>
          <a:solidFill>
            <a:srgbClr val="4A3AA7"/>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11247120" y="493776"/>
            <a:ext cx="201168" cy="502920"/>
          </a:xfrm>
          <a:prstGeom prst="rect">
            <a:avLst/>
          </a:prstGeom>
          <a:solidFill>
            <a:srgbClr val="EB6834"/>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1475720" y="493776"/>
            <a:ext cx="201168" cy="502920"/>
          </a:xfrm>
          <a:prstGeom prst="rect">
            <a:avLst/>
          </a:prstGeom>
          <a:solidFill>
            <a:srgbClr val="E3E8E9"/>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10561320" y="1024127"/>
            <a:ext cx="1143000" cy="82296"/>
          </a:xfrm>
          <a:prstGeom prst="rect">
            <a:avLst/>
          </a:prstGeom>
          <a:solidFill>
            <a:srgbClr val="1F2E35"/>
          </a:solidFill>
          <a:ln w="952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561320" y="1133856"/>
            <a:ext cx="1143000" cy="201168"/>
          </a:xfrm>
          <a:prstGeom prst="rect">
            <a:avLst/>
          </a:prstGeom>
          <a:noFill/>
        </p:spPr>
        <p:txBody>
          <a:bodyPr wrap="square" lIns="0" rIns="0" tIns="0" bIns="0" anchor="t">
            <a:spAutoFit/>
          </a:bodyPr>
          <a:lstStyle/>
          <a:p>
            <a:pPr algn="ctr"/>
            <a:r>
              <a:rPr sz="900" b="1">
                <a:solidFill>
                  <a:srgbClr val="5B6B70"/>
                </a:solidFill>
                <a:latin typeface="Yu Gothic"/>
                <a:ea typeface="Yu Gothic"/>
                <a:cs typeface="Yu Gothic"/>
              </a:rPr>
              <a:t>2 / 2</a:t>
            </a:r>
          </a:p>
        </p:txBody>
      </p:sp>
      <p:sp>
        <p:nvSpPr>
          <p:cNvPr id="20" name="Rounded Rectangle 19"/>
          <p:cNvSpPr/>
          <p:nvPr/>
        </p:nvSpPr>
        <p:spPr>
          <a:xfrm>
            <a:off x="457200" y="1371600"/>
            <a:ext cx="11274552" cy="1783080"/>
          </a:xfrm>
          <a:prstGeom prst="roundRect">
            <a:avLst>
              <a:gd name="adj" fmla="val 4000"/>
            </a:avLst>
          </a:prstGeom>
          <a:solidFill>
            <a:srgbClr val="E6F6F0"/>
          </a:solidFill>
          <a:ln w="19050">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57200" y="1417320"/>
            <a:ext cx="11274552" cy="274320"/>
          </a:xfrm>
          <a:prstGeom prst="rect">
            <a:avLst/>
          </a:prstGeom>
          <a:noFill/>
        </p:spPr>
        <p:txBody>
          <a:bodyPr wrap="square" lIns="0" rIns="0" tIns="0" bIns="0" anchor="ctr">
            <a:spAutoFit/>
          </a:bodyPr>
          <a:lstStyle/>
          <a:p>
            <a:pPr algn="ctr"/>
            <a:r>
              <a:rPr sz="1250" b="1">
                <a:solidFill>
                  <a:srgbClr val="0E7A52"/>
                </a:solidFill>
                <a:latin typeface="Yu Gothic"/>
                <a:ea typeface="Yu Gothic"/>
                <a:cs typeface="Yu Gothic"/>
              </a:rPr>
              <a:t>Service Management &amp; Operations</a:t>
            </a:r>
          </a:p>
        </p:txBody>
      </p:sp>
      <p:sp>
        <p:nvSpPr>
          <p:cNvPr id="22" name="Rounded Rectangle 21"/>
          <p:cNvSpPr/>
          <p:nvPr/>
        </p:nvSpPr>
        <p:spPr>
          <a:xfrm>
            <a:off x="530352" y="1737360"/>
            <a:ext cx="2167128" cy="134416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30352" y="1773936"/>
            <a:ext cx="2167128" cy="256032"/>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サービスカタログ・サービスレベル管理</a:t>
            </a:r>
          </a:p>
        </p:txBody>
      </p:sp>
      <p:sp>
        <p:nvSpPr>
          <p:cNvPr id="24" name="Rounded Rectangle 23"/>
          <p:cNvSpPr/>
          <p:nvPr/>
        </p:nvSpPr>
        <p:spPr>
          <a:xfrm>
            <a:off x="621792" y="2103120"/>
            <a:ext cx="1984248" cy="201168"/>
          </a:xfrm>
          <a:prstGeom prst="roundRect">
            <a:avLst/>
          </a:prstGeom>
          <a:solidFill>
            <a:srgbClr val="00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49224" y="2103120"/>
            <a:ext cx="1929384" cy="201168"/>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ITサービスカタログ（3）</a:t>
            </a:r>
          </a:p>
        </p:txBody>
      </p:sp>
      <p:sp>
        <p:nvSpPr>
          <p:cNvPr id="26" name="Rounded Rectangle 25"/>
          <p:cNvSpPr/>
          <p:nvPr/>
        </p:nvSpPr>
        <p:spPr>
          <a:xfrm>
            <a:off x="621792" y="2350008"/>
            <a:ext cx="1984248" cy="201168"/>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9224" y="2350008"/>
            <a:ext cx="1929384"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サービスレベル合意（SLA）</a:t>
            </a:r>
          </a:p>
        </p:txBody>
      </p:sp>
      <p:sp>
        <p:nvSpPr>
          <p:cNvPr id="28" name="Rounded Rectangle 27"/>
          <p:cNvSpPr/>
          <p:nvPr/>
        </p:nvSpPr>
        <p:spPr>
          <a:xfrm>
            <a:off x="621792" y="2596896"/>
            <a:ext cx="1984248" cy="201168"/>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49224" y="2596896"/>
            <a:ext cx="1929384"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サービスレベル実績</a:t>
            </a:r>
          </a:p>
        </p:txBody>
      </p:sp>
      <p:sp>
        <p:nvSpPr>
          <p:cNvPr id="30" name="Rounded Rectangle 29"/>
          <p:cNvSpPr/>
          <p:nvPr/>
        </p:nvSpPr>
        <p:spPr>
          <a:xfrm>
            <a:off x="2770632" y="1737360"/>
            <a:ext cx="2167128" cy="134416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2770632" y="1773936"/>
            <a:ext cx="216712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サービスデスク・要求実現</a:t>
            </a:r>
          </a:p>
        </p:txBody>
      </p:sp>
      <p:sp>
        <p:nvSpPr>
          <p:cNvPr id="32" name="Rectangle 31"/>
          <p:cNvSpPr/>
          <p:nvPr/>
        </p:nvSpPr>
        <p:spPr>
          <a:xfrm>
            <a:off x="2862072" y="2103120"/>
            <a:ext cx="1984248" cy="201168"/>
          </a:xfrm>
          <a:prstGeom prst="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2889504" y="2103120"/>
            <a:ext cx="1929384"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サービス要求</a:t>
            </a:r>
          </a:p>
        </p:txBody>
      </p:sp>
      <p:sp>
        <p:nvSpPr>
          <p:cNvPr id="34" name="Rounded Rectangle 33"/>
          <p:cNvSpPr/>
          <p:nvPr/>
        </p:nvSpPr>
        <p:spPr>
          <a:xfrm>
            <a:off x="5010912" y="1737360"/>
            <a:ext cx="2167128" cy="134416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10912" y="1773936"/>
            <a:ext cx="216712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IT運用・監視</a:t>
            </a:r>
          </a:p>
        </p:txBody>
      </p:sp>
      <p:sp>
        <p:nvSpPr>
          <p:cNvPr id="36" name="Rectangle 35"/>
          <p:cNvSpPr/>
          <p:nvPr/>
        </p:nvSpPr>
        <p:spPr>
          <a:xfrm>
            <a:off x="5102352" y="2103120"/>
            <a:ext cx="1984248" cy="201168"/>
          </a:xfrm>
          <a:prstGeom prst="rect">
            <a:avLst/>
          </a:prstGeom>
          <a:solidFill>
            <a:srgbClr val="00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5129784" y="2103120"/>
            <a:ext cx="1929384" cy="201168"/>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監視イベント（4）</a:t>
            </a:r>
          </a:p>
        </p:txBody>
      </p:sp>
      <p:sp>
        <p:nvSpPr>
          <p:cNvPr id="38" name="Rectangle 37"/>
          <p:cNvSpPr/>
          <p:nvPr/>
        </p:nvSpPr>
        <p:spPr>
          <a:xfrm>
            <a:off x="5102352" y="2350008"/>
            <a:ext cx="1984248" cy="201168"/>
          </a:xfrm>
          <a:prstGeom prst="rect">
            <a:avLst/>
          </a:prstGeom>
          <a:solidFill>
            <a:srgbClr val="E4EAEC"/>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129784" y="2350008"/>
            <a:ext cx="1929384"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運用記録（2）</a:t>
            </a:r>
          </a:p>
        </p:txBody>
      </p:sp>
      <p:sp>
        <p:nvSpPr>
          <p:cNvPr id="40" name="Rounded Rectangle 39"/>
          <p:cNvSpPr/>
          <p:nvPr/>
        </p:nvSpPr>
        <p:spPr>
          <a:xfrm>
            <a:off x="7251192" y="1737360"/>
            <a:ext cx="2167128" cy="134416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251192" y="1773936"/>
            <a:ext cx="216712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インシデント・問題管理</a:t>
            </a:r>
          </a:p>
        </p:txBody>
      </p:sp>
      <p:sp>
        <p:nvSpPr>
          <p:cNvPr id="42" name="Rectangle 41"/>
          <p:cNvSpPr/>
          <p:nvPr/>
        </p:nvSpPr>
        <p:spPr>
          <a:xfrm>
            <a:off x="7342632" y="2103120"/>
            <a:ext cx="1984248" cy="201168"/>
          </a:xfrm>
          <a:prstGeom prst="rect">
            <a:avLst/>
          </a:prstGeom>
          <a:solidFill>
            <a:srgbClr val="E4EAEC"/>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7370064" y="2103120"/>
            <a:ext cx="1929384"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インシデント記録（2）</a:t>
            </a:r>
          </a:p>
        </p:txBody>
      </p:sp>
      <p:sp>
        <p:nvSpPr>
          <p:cNvPr id="44" name="Rectangle 43"/>
          <p:cNvSpPr/>
          <p:nvPr/>
        </p:nvSpPr>
        <p:spPr>
          <a:xfrm>
            <a:off x="7342632" y="2350008"/>
            <a:ext cx="1984248" cy="201168"/>
          </a:xfrm>
          <a:prstGeom prst="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370064" y="2350008"/>
            <a:ext cx="1929384"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問題記録</a:t>
            </a:r>
          </a:p>
        </p:txBody>
      </p:sp>
      <p:sp>
        <p:nvSpPr>
          <p:cNvPr id="46" name="Rounded Rectangle 45"/>
          <p:cNvSpPr/>
          <p:nvPr/>
        </p:nvSpPr>
        <p:spPr>
          <a:xfrm>
            <a:off x="7342632" y="2596896"/>
            <a:ext cx="1984248" cy="201168"/>
          </a:xfrm>
          <a:prstGeom prst="roundRect">
            <a:avLst/>
          </a:prstGeom>
          <a:solidFill>
            <a:srgbClr val="FF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370064" y="2596896"/>
            <a:ext cx="1929384"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IT事業継続計画</a:t>
            </a:r>
          </a:p>
        </p:txBody>
      </p:sp>
      <p:sp>
        <p:nvSpPr>
          <p:cNvPr id="48" name="Rounded Rectangle 47"/>
          <p:cNvSpPr/>
          <p:nvPr/>
        </p:nvSpPr>
        <p:spPr>
          <a:xfrm>
            <a:off x="9491472" y="1737360"/>
            <a:ext cx="2167128" cy="134416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491472" y="1773936"/>
            <a:ext cx="2167128"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変更・構成管理★</a:t>
            </a:r>
          </a:p>
        </p:txBody>
      </p:sp>
      <p:sp>
        <p:nvSpPr>
          <p:cNvPr id="50" name="Rectangle 49"/>
          <p:cNvSpPr/>
          <p:nvPr/>
        </p:nvSpPr>
        <p:spPr>
          <a:xfrm>
            <a:off x="9582912" y="2103120"/>
            <a:ext cx="1984248" cy="201168"/>
          </a:xfrm>
          <a:prstGeom prst="rect">
            <a:avLst/>
          </a:prstGeom>
          <a:solidFill>
            <a:srgbClr val="00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9610344" y="2103120"/>
            <a:ext cx="1929384" cy="201168"/>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構成情報（5）</a:t>
            </a:r>
          </a:p>
        </p:txBody>
      </p:sp>
      <p:sp>
        <p:nvSpPr>
          <p:cNvPr id="52" name="Rectangle 51"/>
          <p:cNvSpPr/>
          <p:nvPr/>
        </p:nvSpPr>
        <p:spPr>
          <a:xfrm>
            <a:off x="9582912" y="2350008"/>
            <a:ext cx="1984248" cy="201168"/>
          </a:xfrm>
          <a:prstGeom prst="rect">
            <a:avLst/>
          </a:prstGeom>
          <a:solidFill>
            <a:srgbClr val="00FFFF"/>
          </a:solidFill>
          <a:ln w="952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10344" y="2350008"/>
            <a:ext cx="1929384" cy="201168"/>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変更記録（5）</a:t>
            </a:r>
          </a:p>
        </p:txBody>
      </p:sp>
      <p:sp>
        <p:nvSpPr>
          <p:cNvPr id="54" name="Rounded Rectangle 53"/>
          <p:cNvSpPr/>
          <p:nvPr/>
        </p:nvSpPr>
        <p:spPr>
          <a:xfrm>
            <a:off x="457200" y="3246120"/>
            <a:ext cx="4023360" cy="1463040"/>
          </a:xfrm>
          <a:prstGeom prst="roundRect">
            <a:avLst>
              <a:gd name="adj" fmla="val 4000"/>
            </a:avLst>
          </a:prstGeom>
          <a:solidFill>
            <a:srgbClr val="EEECF7"/>
          </a:solidFill>
          <a:ln w="19050">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457200" y="3291839"/>
            <a:ext cx="4023360" cy="274320"/>
          </a:xfrm>
          <a:prstGeom prst="rect">
            <a:avLst/>
          </a:prstGeom>
          <a:noFill/>
        </p:spPr>
        <p:txBody>
          <a:bodyPr wrap="square" lIns="0" rIns="0" tIns="0" bIns="0" anchor="ctr">
            <a:spAutoFit/>
          </a:bodyPr>
          <a:lstStyle/>
          <a:p>
            <a:pPr algn="ctr"/>
            <a:r>
              <a:rPr sz="1250" b="1">
                <a:solidFill>
                  <a:srgbClr val="4A3AA7"/>
                </a:solidFill>
                <a:latin typeface="Yu Gothic"/>
                <a:ea typeface="Yu Gothic"/>
                <a:cs typeface="Yu Gothic"/>
              </a:rPr>
              <a:t>Platform &amp; Infrastructure</a:t>
            </a:r>
          </a:p>
        </p:txBody>
      </p:sp>
      <p:sp>
        <p:nvSpPr>
          <p:cNvPr id="56" name="Rounded Rectangle 55"/>
          <p:cNvSpPr/>
          <p:nvPr/>
        </p:nvSpPr>
        <p:spPr>
          <a:xfrm>
            <a:off x="530352" y="3611879"/>
            <a:ext cx="1901952" cy="4846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530352" y="3639311"/>
            <a:ext cx="1901952" cy="219456"/>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クラウド・データセンター</a:t>
            </a:r>
          </a:p>
        </p:txBody>
      </p:sp>
      <p:sp>
        <p:nvSpPr>
          <p:cNvPr id="58" name="Rounded Rectangle 57"/>
          <p:cNvSpPr/>
          <p:nvPr/>
        </p:nvSpPr>
        <p:spPr>
          <a:xfrm>
            <a:off x="2505456" y="3611879"/>
            <a:ext cx="1901952" cy="4846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2505456" y="3639311"/>
            <a:ext cx="1901952" cy="219456"/>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ネットワーク</a:t>
            </a:r>
          </a:p>
        </p:txBody>
      </p:sp>
      <p:sp>
        <p:nvSpPr>
          <p:cNvPr id="60" name="Rounded Rectangle 59"/>
          <p:cNvSpPr/>
          <p:nvPr/>
        </p:nvSpPr>
        <p:spPr>
          <a:xfrm>
            <a:off x="530352" y="4151376"/>
            <a:ext cx="1901952" cy="4846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530352" y="4178808"/>
            <a:ext cx="1901952" cy="219456"/>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エンドユーザー環境</a:t>
            </a:r>
          </a:p>
        </p:txBody>
      </p:sp>
      <p:sp>
        <p:nvSpPr>
          <p:cNvPr id="62" name="Rounded Rectangle 61"/>
          <p:cNvSpPr/>
          <p:nvPr/>
        </p:nvSpPr>
        <p:spPr>
          <a:xfrm>
            <a:off x="2505456" y="4151376"/>
            <a:ext cx="1901952" cy="484632"/>
          </a:xfrm>
          <a:prstGeom prst="roundRect">
            <a:avLst>
              <a:gd name="adj" fmla="val 6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2505456" y="4178808"/>
            <a:ext cx="1901952" cy="219456"/>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IT資産・ライセンス管理</a:t>
            </a:r>
          </a:p>
        </p:txBody>
      </p:sp>
      <p:sp>
        <p:nvSpPr>
          <p:cNvPr id="64" name="Rectangle 63"/>
          <p:cNvSpPr/>
          <p:nvPr/>
        </p:nvSpPr>
        <p:spPr>
          <a:xfrm>
            <a:off x="2596896" y="4425696"/>
            <a:ext cx="1719072" cy="182880"/>
          </a:xfrm>
          <a:prstGeom prst="rect">
            <a:avLst/>
          </a:prstGeom>
          <a:solidFill>
            <a:srgbClr val="00FFFF"/>
          </a:solidFill>
          <a:ln w="952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2624328" y="4425696"/>
            <a:ext cx="1664208" cy="182880"/>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IT資産・ライセンス台帳（3）</a:t>
            </a:r>
          </a:p>
        </p:txBody>
      </p:sp>
      <p:sp>
        <p:nvSpPr>
          <p:cNvPr id="66" name="Rounded Rectangle 65"/>
          <p:cNvSpPr/>
          <p:nvPr/>
        </p:nvSpPr>
        <p:spPr>
          <a:xfrm>
            <a:off x="4590288" y="3246120"/>
            <a:ext cx="7141464" cy="1463040"/>
          </a:xfrm>
          <a:prstGeom prst="roundRect">
            <a:avLst>
              <a:gd name="adj" fmla="val 4000"/>
            </a:avLst>
          </a:prstGeom>
          <a:solidFill>
            <a:srgbClr val="FDEEE7"/>
          </a:solidFill>
          <a:ln w="19050">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4590288" y="3291839"/>
            <a:ext cx="7141464" cy="274320"/>
          </a:xfrm>
          <a:prstGeom prst="rect">
            <a:avLst/>
          </a:prstGeom>
          <a:noFill/>
        </p:spPr>
        <p:txBody>
          <a:bodyPr wrap="square" lIns="0" rIns="0" tIns="0" bIns="0" anchor="ctr">
            <a:spAutoFit/>
          </a:bodyPr>
          <a:lstStyle/>
          <a:p>
            <a:pPr algn="ctr"/>
            <a:r>
              <a:rPr sz="1250" b="1">
                <a:solidFill>
                  <a:srgbClr val="C24E1C"/>
                </a:solidFill>
                <a:latin typeface="Yu Gothic"/>
                <a:ea typeface="Yu Gothic"/>
                <a:cs typeface="Yu Gothic"/>
              </a:rPr>
              <a:t>Cybersecurity</a:t>
            </a:r>
          </a:p>
        </p:txBody>
      </p:sp>
      <p:sp>
        <p:nvSpPr>
          <p:cNvPr id="68" name="Rounded Rectangle 67"/>
          <p:cNvSpPr/>
          <p:nvPr/>
        </p:nvSpPr>
        <p:spPr>
          <a:xfrm>
            <a:off x="4663440" y="3611879"/>
            <a:ext cx="2282952" cy="102412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4663440" y="3648456"/>
            <a:ext cx="2282952"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セキュリティガバナンス</a:t>
            </a:r>
          </a:p>
        </p:txBody>
      </p:sp>
      <p:sp>
        <p:nvSpPr>
          <p:cNvPr id="70" name="Rounded Rectangle 69"/>
          <p:cNvSpPr/>
          <p:nvPr/>
        </p:nvSpPr>
        <p:spPr>
          <a:xfrm>
            <a:off x="7019543" y="3611879"/>
            <a:ext cx="2282952" cy="102412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7019543" y="3648456"/>
            <a:ext cx="2282952"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ID・アクセス管理★</a:t>
            </a:r>
          </a:p>
        </p:txBody>
      </p:sp>
      <p:sp>
        <p:nvSpPr>
          <p:cNvPr id="72" name="Rectangle 71"/>
          <p:cNvSpPr/>
          <p:nvPr/>
        </p:nvSpPr>
        <p:spPr>
          <a:xfrm>
            <a:off x="7110983" y="3977639"/>
            <a:ext cx="2100072" cy="201168"/>
          </a:xfrm>
          <a:prstGeom prst="rect">
            <a:avLst/>
          </a:prstGeom>
          <a:solidFill>
            <a:srgbClr val="E4EAEC"/>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7138415" y="3977639"/>
            <a:ext cx="2045207"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ID・アカウント情報（2）</a:t>
            </a:r>
          </a:p>
        </p:txBody>
      </p:sp>
      <p:sp>
        <p:nvSpPr>
          <p:cNvPr id="74" name="Rectangle 73"/>
          <p:cNvSpPr/>
          <p:nvPr/>
        </p:nvSpPr>
        <p:spPr>
          <a:xfrm>
            <a:off x="7110983" y="4224527"/>
            <a:ext cx="2100072" cy="201168"/>
          </a:xfrm>
          <a:prstGeom prst="rect">
            <a:avLst/>
          </a:prstGeom>
          <a:solidFill>
            <a:srgbClr val="E4EAEC"/>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7138415" y="4224527"/>
            <a:ext cx="2045207"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アクセス権記録（2）</a:t>
            </a:r>
          </a:p>
        </p:txBody>
      </p:sp>
      <p:sp>
        <p:nvSpPr>
          <p:cNvPr id="76" name="Rounded Rectangle 75"/>
          <p:cNvSpPr/>
          <p:nvPr/>
        </p:nvSpPr>
        <p:spPr>
          <a:xfrm>
            <a:off x="9375648" y="3611879"/>
            <a:ext cx="2282952" cy="1024128"/>
          </a:xfrm>
          <a:prstGeom prst="roundRect">
            <a:avLst>
              <a:gd name="adj" fmla="val 4000"/>
            </a:avLst>
          </a:prstGeom>
          <a:solidFill>
            <a:srgbClr val="FFFFFF"/>
          </a:solidFill>
          <a:ln w="9525">
            <a:solidFill>
              <a:srgbClr val="D5DD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9375648" y="3648456"/>
            <a:ext cx="2282952" cy="256032"/>
          </a:xfrm>
          <a:prstGeom prst="rect">
            <a:avLst/>
          </a:prstGeom>
          <a:noFill/>
        </p:spPr>
        <p:txBody>
          <a:bodyPr wrap="square" lIns="0" rIns="0" tIns="0" bIns="0" anchor="ctr">
            <a:spAutoFit/>
          </a:bodyPr>
          <a:lstStyle/>
          <a:p>
            <a:pPr algn="ctr"/>
            <a:r>
              <a:rPr sz="1000" b="1">
                <a:solidFill>
                  <a:srgbClr val="1F2E35"/>
                </a:solidFill>
                <a:latin typeface="Yu Gothic"/>
                <a:ea typeface="Yu Gothic"/>
                <a:cs typeface="Yu Gothic"/>
              </a:rPr>
              <a:t>セキュリティ運用</a:t>
            </a:r>
          </a:p>
        </p:txBody>
      </p:sp>
      <p:sp>
        <p:nvSpPr>
          <p:cNvPr id="78" name="Rectangle 77"/>
          <p:cNvSpPr/>
          <p:nvPr/>
        </p:nvSpPr>
        <p:spPr>
          <a:xfrm>
            <a:off x="9467088" y="3977639"/>
            <a:ext cx="2100072" cy="201168"/>
          </a:xfrm>
          <a:prstGeom prst="rect">
            <a:avLst/>
          </a:prstGeom>
          <a:solidFill>
            <a:srgbClr val="E4EAEC"/>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9494520" y="3977639"/>
            <a:ext cx="2045207" cy="201168"/>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脆弱性情報（2）</a:t>
            </a:r>
          </a:p>
        </p:txBody>
      </p:sp>
      <p:sp>
        <p:nvSpPr>
          <p:cNvPr id="80" name="Rectangle 79"/>
          <p:cNvSpPr/>
          <p:nvPr/>
        </p:nvSpPr>
        <p:spPr>
          <a:xfrm>
            <a:off x="9467088" y="4224527"/>
            <a:ext cx="2100072" cy="201168"/>
          </a:xfrm>
          <a:prstGeom prst="rect">
            <a:avLst/>
          </a:prstGeom>
          <a:solidFill>
            <a:srgbClr val="00FFFF"/>
          </a:solidFill>
          <a:ln w="952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9494520" y="4224527"/>
            <a:ext cx="2045207" cy="201168"/>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セキュリティインシデント記録（3）</a:t>
            </a:r>
          </a:p>
        </p:txBody>
      </p:sp>
      <p:sp>
        <p:nvSpPr>
          <p:cNvPr id="82" name="Chevron 81"/>
          <p:cNvSpPr/>
          <p:nvPr/>
        </p:nvSpPr>
        <p:spPr>
          <a:xfrm rot="5400000">
            <a:off x="6035040" y="4690872"/>
            <a:ext cx="118872" cy="310896"/>
          </a:xfrm>
          <a:prstGeom prst="chevron">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457200" y="4983480"/>
            <a:ext cx="11274552" cy="1325880"/>
          </a:xfrm>
          <a:prstGeom prst="roundRect">
            <a:avLst>
              <a:gd name="adj" fmla="val 8000"/>
            </a:avLst>
          </a:prstGeom>
          <a:solidFill>
            <a:srgbClr val="FFFFFF"/>
          </a:solidFill>
          <a:ln w="19050">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457200" y="502005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IT組織・ソーシング基盤（Support / Foundation）</a:t>
            </a:r>
          </a:p>
        </p:txBody>
      </p:sp>
      <p:sp>
        <p:nvSpPr>
          <p:cNvPr id="85" name="TextBox 84"/>
          <p:cNvSpPr txBox="1"/>
          <p:nvPr/>
        </p:nvSpPr>
        <p:spPr>
          <a:xfrm>
            <a:off x="566928" y="5248656"/>
            <a:ext cx="3685032"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ITソーシング・ベンダー管理★</a:t>
            </a:r>
          </a:p>
        </p:txBody>
      </p:sp>
      <p:sp>
        <p:nvSpPr>
          <p:cNvPr id="86" name="Rectangle 85"/>
          <p:cNvSpPr/>
          <p:nvPr/>
        </p:nvSpPr>
        <p:spPr>
          <a:xfrm>
            <a:off x="630936" y="5440680"/>
            <a:ext cx="3538728" cy="182880"/>
          </a:xfrm>
          <a:prstGeom prst="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658368" y="5440680"/>
            <a:ext cx="3483864"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ベンダー情報</a:t>
            </a:r>
          </a:p>
        </p:txBody>
      </p:sp>
      <p:sp>
        <p:nvSpPr>
          <p:cNvPr id="88" name="Rounded Rectangle 87"/>
          <p:cNvSpPr/>
          <p:nvPr/>
        </p:nvSpPr>
        <p:spPr>
          <a:xfrm>
            <a:off x="630936" y="5660136"/>
            <a:ext cx="3538728"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58368" y="5660136"/>
            <a:ext cx="3483864"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委託契約・発注書</a:t>
            </a:r>
          </a:p>
        </p:txBody>
      </p:sp>
      <p:sp>
        <p:nvSpPr>
          <p:cNvPr id="90" name="Rectangle 89"/>
          <p:cNvSpPr/>
          <p:nvPr/>
        </p:nvSpPr>
        <p:spPr>
          <a:xfrm>
            <a:off x="630936" y="5879592"/>
            <a:ext cx="3538728" cy="182880"/>
          </a:xfrm>
          <a:prstGeom prst="rect">
            <a:avLst/>
          </a:prstGeom>
          <a:solidFill>
            <a:srgbClr val="E4EAEC"/>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658368" y="5879592"/>
            <a:ext cx="3483864"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検収記録（2）</a:t>
            </a:r>
          </a:p>
        </p:txBody>
      </p:sp>
      <p:sp>
        <p:nvSpPr>
          <p:cNvPr id="92" name="Rounded Rectangle 91"/>
          <p:cNvSpPr/>
          <p:nvPr/>
        </p:nvSpPr>
        <p:spPr>
          <a:xfrm>
            <a:off x="630936" y="6099048"/>
            <a:ext cx="3538728" cy="182880"/>
          </a:xfrm>
          <a:prstGeom prst="round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658368" y="6099048"/>
            <a:ext cx="3483864"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ベンダー評価記録</a:t>
            </a:r>
          </a:p>
        </p:txBody>
      </p:sp>
      <p:sp>
        <p:nvSpPr>
          <p:cNvPr id="94" name="TextBox 93"/>
          <p:cNvSpPr txBox="1"/>
          <p:nvPr/>
        </p:nvSpPr>
        <p:spPr>
          <a:xfrm>
            <a:off x="4251960" y="5248656"/>
            <a:ext cx="3685032"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IT人材・組織★</a:t>
            </a:r>
          </a:p>
        </p:txBody>
      </p:sp>
      <p:sp>
        <p:nvSpPr>
          <p:cNvPr id="95" name="Rectangle 94"/>
          <p:cNvSpPr/>
          <p:nvPr/>
        </p:nvSpPr>
        <p:spPr>
          <a:xfrm>
            <a:off x="4315968" y="5440680"/>
            <a:ext cx="3538728" cy="182880"/>
          </a:xfrm>
          <a:prstGeom prst="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4343400" y="5440680"/>
            <a:ext cx="3483864"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IT人材・スキル情報</a:t>
            </a:r>
          </a:p>
        </p:txBody>
      </p:sp>
      <p:sp>
        <p:nvSpPr>
          <p:cNvPr id="97" name="Rectangle 96"/>
          <p:cNvSpPr/>
          <p:nvPr/>
        </p:nvSpPr>
        <p:spPr>
          <a:xfrm>
            <a:off x="4315968" y="5660136"/>
            <a:ext cx="3538728" cy="182880"/>
          </a:xfrm>
          <a:prstGeom prst="rect">
            <a:avLst/>
          </a:prstGeom>
          <a:solidFill>
            <a:srgbClr val="FFFFFF"/>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TextBox 97"/>
          <p:cNvSpPr txBox="1"/>
          <p:nvPr/>
        </p:nvSpPr>
        <p:spPr>
          <a:xfrm>
            <a:off x="4343400" y="5660136"/>
            <a:ext cx="3483864"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教育記録</a:t>
            </a:r>
          </a:p>
        </p:txBody>
      </p:sp>
      <p:sp>
        <p:nvSpPr>
          <p:cNvPr id="99" name="TextBox 98"/>
          <p:cNvSpPr txBox="1"/>
          <p:nvPr/>
        </p:nvSpPr>
        <p:spPr>
          <a:xfrm>
            <a:off x="7936992" y="5248656"/>
            <a:ext cx="3685032"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ITナレッジ・文書管理</a:t>
            </a:r>
          </a:p>
        </p:txBody>
      </p:sp>
      <p:sp>
        <p:nvSpPr>
          <p:cNvPr id="100" name="Rounded Rectangle 99"/>
          <p:cNvSpPr/>
          <p:nvPr/>
        </p:nvSpPr>
        <p:spPr>
          <a:xfrm>
            <a:off x="8001000" y="5440680"/>
            <a:ext cx="3538728" cy="182880"/>
          </a:xfrm>
          <a:prstGeom prst="roundRect">
            <a:avLst/>
          </a:prstGeom>
          <a:solidFill>
            <a:srgbClr val="E4EAEC"/>
          </a:solidFill>
          <a:ln w="952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extBox 100"/>
          <p:cNvSpPr txBox="1"/>
          <p:nvPr/>
        </p:nvSpPr>
        <p:spPr>
          <a:xfrm>
            <a:off x="8028431" y="5440680"/>
            <a:ext cx="3483864"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ナレッジ記事（2）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t">
            <a:spAutoFit/>
          </a:bodyPr>
          <a:lstStyle/>
          <a:p>
            <a:pPr algn="l"/>
            <a:r>
              <a:rPr sz="3000" b="1">
                <a:solidFill>
                  <a:srgbClr val="1F2E35"/>
                </a:solidFill>
                <a:latin typeface="Yu Gothic"/>
                <a:ea typeface="Yu Gothic"/>
                <a:cs typeface="Yu Gothic"/>
              </a:rPr>
              <a:t>示唆</a:t>
            </a:r>
          </a:p>
        </p:txBody>
      </p:sp>
      <p:sp>
        <p:nvSpPr>
          <p:cNvPr id="3" name="TextBox 2"/>
          <p:cNvSpPr txBox="1"/>
          <p:nvPr/>
        </p:nvSpPr>
        <p:spPr>
          <a:xfrm>
            <a:off x="457200" y="960120"/>
            <a:ext cx="11247120" cy="365760"/>
          </a:xfrm>
          <a:prstGeom prst="rect">
            <a:avLst/>
          </a:prstGeom>
          <a:noFill/>
        </p:spPr>
        <p:txBody>
          <a:bodyPr wrap="square" lIns="0" rIns="0" tIns="0" bIns="0" anchor="t">
            <a:spAutoFit/>
          </a:bodyPr>
          <a:lstStyle/>
          <a:p>
            <a:pPr algn="l"/>
            <a:r>
              <a:rPr sz="1400" b="0">
                <a:solidFill>
                  <a:srgbClr val="5B6B70"/>
                </a:solidFill>
                <a:latin typeface="Yu Gothic"/>
                <a:ea typeface="Yu Gothic"/>
                <a:cs typeface="Yu Gothic"/>
              </a:rPr>
              <a:t>ビジネス・アプリケーション・データの3つの視点から読み取れること</a:t>
            </a:r>
          </a:p>
        </p:txBody>
      </p:sp>
      <p:sp>
        <p:nvSpPr>
          <p:cNvPr id="4" name="Rounded Rectangle 3"/>
          <p:cNvSpPr/>
          <p:nvPr/>
        </p:nvSpPr>
        <p:spPr>
          <a:xfrm>
            <a:off x="457200" y="1371600"/>
            <a:ext cx="3639312" cy="4800600"/>
          </a:xfrm>
          <a:prstGeom prst="roundRect">
            <a:avLst>
              <a:gd name="adj" fmla="val 3000"/>
            </a:avLst>
          </a:prstGeom>
          <a:solidFill>
            <a:srgbClr val="FFFFFF"/>
          </a:solidFill>
          <a:ln w="19050">
            <a:solidFill>
              <a:srgbClr val="2E7D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ounded Rectangle 4"/>
          <p:cNvSpPr/>
          <p:nvPr/>
        </p:nvSpPr>
        <p:spPr>
          <a:xfrm>
            <a:off x="457200" y="1371600"/>
            <a:ext cx="3639312" cy="566928"/>
          </a:xfrm>
          <a:prstGeom prst="roundRect">
            <a:avLst>
              <a:gd name="adj" fmla="val 10000"/>
            </a:avLst>
          </a:prstGeom>
          <a:solidFill>
            <a:srgbClr val="2E7D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457200" y="1737360"/>
            <a:ext cx="3639312" cy="201168"/>
          </a:xfrm>
          <a:prstGeom prst="rect">
            <a:avLst/>
          </a:prstGeom>
          <a:solidFill>
            <a:srgbClr val="2E7D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0080"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ビジネス</a:t>
            </a:r>
          </a:p>
        </p:txBody>
      </p:sp>
      <p:sp>
        <p:nvSpPr>
          <p:cNvPr id="8" name="TextBox 7"/>
          <p:cNvSpPr txBox="1"/>
          <p:nvPr/>
        </p:nvSpPr>
        <p:spPr>
          <a:xfrm>
            <a:off x="640080"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Value Stream × Capability</a:t>
            </a:r>
          </a:p>
        </p:txBody>
      </p:sp>
      <p:sp>
        <p:nvSpPr>
          <p:cNvPr id="9" name="Oval 8"/>
          <p:cNvSpPr/>
          <p:nvPr/>
        </p:nvSpPr>
        <p:spPr>
          <a:xfrm>
            <a:off x="640080" y="2139696"/>
            <a:ext cx="274320" cy="274320"/>
          </a:xfrm>
          <a:prstGeom prst="ellipse">
            <a:avLst/>
          </a:prstGeom>
          <a:solidFill>
            <a:srgbClr val="2E7D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0080"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11" name="TextBox 10"/>
          <p:cNvSpPr txBox="1"/>
          <p:nvPr/>
        </p:nvSpPr>
        <p:spPr>
          <a:xfrm>
            <a:off x="1024128"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段階ごとに主役の領域が入れ替わる</a:t>
            </a:r>
          </a:p>
        </p:txBody>
      </p:sp>
      <p:sp>
        <p:nvSpPr>
          <p:cNvPr id="12" name="TextBox 11"/>
          <p:cNvSpPr txBox="1"/>
          <p:nvPr/>
        </p:nvSpPr>
        <p:spPr>
          <a:xfrm>
            <a:off x="1024128"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S2Pの「主」は戦略・ガバナンス（12件）、R2Dは開発・導入（10件）、R2F・D2Cはサービス管理・運用（5件・10件）。段階の引継ぎ点はビジネスケース・バリデーション報告書・構成情報</a:t>
            </a:r>
          </a:p>
        </p:txBody>
      </p:sp>
      <p:cxnSp>
        <p:nvCxnSpPr>
          <p:cNvPr id="13" name="Connector 12"/>
          <p:cNvCxnSpPr/>
          <p:nvPr/>
        </p:nvCxnSpPr>
        <p:spPr>
          <a:xfrm>
            <a:off x="640080" y="3355848"/>
            <a:ext cx="3273551" cy="0"/>
          </a:xfrm>
          <a:prstGeom prst="line">
            <a:avLst/>
          </a:prstGeom>
          <a:ln w="9525">
            <a:solidFill>
              <a:srgbClr val="D5DDDF"/>
            </a:solidFill>
          </a:ln>
        </p:spPr>
      </p:cxnSp>
      <p:sp>
        <p:nvSpPr>
          <p:cNvPr id="14" name="Oval 13"/>
          <p:cNvSpPr/>
          <p:nvPr/>
        </p:nvSpPr>
        <p:spPr>
          <a:xfrm>
            <a:off x="640080" y="3447287"/>
            <a:ext cx="274320" cy="274320"/>
          </a:xfrm>
          <a:prstGeom prst="ellipse">
            <a:avLst/>
          </a:prstGeom>
          <a:solidFill>
            <a:srgbClr val="2E7D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0080"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16" name="TextBox 15"/>
          <p:cNvSpPr txBox="1"/>
          <p:nvPr/>
        </p:nvSpPr>
        <p:spPr>
          <a:xfrm>
            <a:off x="1024128"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GxPは開発から廃止までを貫く</a:t>
            </a:r>
          </a:p>
        </p:txBody>
      </p:sp>
      <p:sp>
        <p:nvSpPr>
          <p:cNvPr id="17" name="TextBox 16"/>
          <p:cNvSpPr txBox="1"/>
          <p:nvPr/>
        </p:nvSpPr>
        <p:spPr>
          <a:xfrm>
            <a:off x="1024128"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データ・GxPコンプライアンスはR2D（主5件）とD2C（主5件）で中核になり、S2Pの該当性判定でも主。CSVは開発の最後の関門ではなく、変更・定期レビュー・廃止まで続く</a:t>
            </a:r>
          </a:p>
        </p:txBody>
      </p:sp>
      <p:cxnSp>
        <p:nvCxnSpPr>
          <p:cNvPr id="18" name="Connector 17"/>
          <p:cNvCxnSpPr/>
          <p:nvPr/>
        </p:nvCxnSpPr>
        <p:spPr>
          <a:xfrm>
            <a:off x="640080" y="4663440"/>
            <a:ext cx="3273551" cy="0"/>
          </a:xfrm>
          <a:prstGeom prst="line">
            <a:avLst/>
          </a:prstGeom>
          <a:ln w="9525">
            <a:solidFill>
              <a:srgbClr val="D5DDDF"/>
            </a:solidFill>
          </a:ln>
        </p:spPr>
      </p:cxnSp>
      <p:sp>
        <p:nvSpPr>
          <p:cNvPr id="19" name="Oval 18"/>
          <p:cNvSpPr/>
          <p:nvPr/>
        </p:nvSpPr>
        <p:spPr>
          <a:xfrm>
            <a:off x="640080" y="4754879"/>
            <a:ext cx="274320" cy="274320"/>
          </a:xfrm>
          <a:prstGeom prst="ellipse">
            <a:avLst/>
          </a:prstGeom>
          <a:solidFill>
            <a:srgbClr val="2E7D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0080"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21" name="TextBox 20"/>
          <p:cNvSpPr txBox="1"/>
          <p:nvPr/>
        </p:nvSpPr>
        <p:spPr>
          <a:xfrm>
            <a:off x="1024128"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検知・是正が次の投資判断を生む</a:t>
            </a:r>
          </a:p>
        </p:txBody>
      </p:sp>
      <p:sp>
        <p:nvSpPr>
          <p:cNvPr id="22" name="TextBox 21"/>
          <p:cNvSpPr txBox="1"/>
          <p:nvPr/>
        </p:nvSpPr>
        <p:spPr>
          <a:xfrm>
            <a:off x="1024128"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D2Cは19の能力（L2）を使い最多。定期レビュー・IT全般統制・委託先の評価・廃止の判断が、S2Pの需要管理とポートフォリオの見直しの入力になる</a:t>
            </a:r>
          </a:p>
        </p:txBody>
      </p:sp>
      <p:sp>
        <p:nvSpPr>
          <p:cNvPr id="23" name="Rounded Rectangle 22"/>
          <p:cNvSpPr/>
          <p:nvPr/>
        </p:nvSpPr>
        <p:spPr>
          <a:xfrm>
            <a:off x="4279392" y="1371600"/>
            <a:ext cx="3639312" cy="4800600"/>
          </a:xfrm>
          <a:prstGeom prst="roundRect">
            <a:avLst>
              <a:gd name="adj" fmla="val 3000"/>
            </a:avLst>
          </a:prstGeom>
          <a:solidFill>
            <a:srgbClr val="FFFFFF"/>
          </a:solidFill>
          <a:ln w="19050">
            <a:solidFill>
              <a:srgbClr val="2F4F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279392" y="1371600"/>
            <a:ext cx="3639312" cy="566928"/>
          </a:xfrm>
          <a:prstGeom prst="roundRect">
            <a:avLst>
              <a:gd name="adj" fmla="val 10000"/>
            </a:avLst>
          </a:prstGeom>
          <a:solidFill>
            <a:srgbClr val="2F4F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4279392" y="1737360"/>
            <a:ext cx="3639312" cy="201168"/>
          </a:xfrm>
          <a:prstGeom prst="rect">
            <a:avLst/>
          </a:prstGeom>
          <a:solidFill>
            <a:srgbClr val="2F4F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462272"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アプリケーション</a:t>
            </a:r>
          </a:p>
        </p:txBody>
      </p:sp>
      <p:sp>
        <p:nvSpPr>
          <p:cNvPr id="27" name="TextBox 26"/>
          <p:cNvSpPr txBox="1"/>
          <p:nvPr/>
        </p:nvSpPr>
        <p:spPr>
          <a:xfrm>
            <a:off x="4462272"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Capability × Application</a:t>
            </a:r>
          </a:p>
        </p:txBody>
      </p:sp>
      <p:sp>
        <p:nvSpPr>
          <p:cNvPr id="28" name="Oval 27"/>
          <p:cNvSpPr/>
          <p:nvPr/>
        </p:nvSpPr>
        <p:spPr>
          <a:xfrm>
            <a:off x="4462272" y="2139696"/>
            <a:ext cx="274320" cy="274320"/>
          </a:xfrm>
          <a:prstGeom prst="ellipse">
            <a:avLst/>
          </a:prstGeom>
          <a:solidFill>
            <a:srgbClr val="2F4F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462272"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30" name="TextBox 29"/>
          <p:cNvSpPr txBox="1"/>
          <p:nvPr/>
        </p:nvSpPr>
        <p:spPr>
          <a:xfrm>
            <a:off x="4846320"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ITSMが運用の背骨</a:t>
            </a:r>
          </a:p>
        </p:txBody>
      </p:sp>
      <p:sp>
        <p:nvSpPr>
          <p:cNvPr id="31" name="TextBox 30"/>
          <p:cNvSpPr txBox="1"/>
          <p:nvPr/>
        </p:nvSpPr>
        <p:spPr>
          <a:xfrm>
            <a:off x="4846320"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ITサービス管理（ITSM）はサービス管理・運用の4つの能力を主に支え、サービス要求・インシデント記録・変更記録を作る。ID・アクセス管理とセキュリティ運用でも使われる</a:t>
            </a:r>
          </a:p>
        </p:txBody>
      </p:sp>
      <p:cxnSp>
        <p:nvCxnSpPr>
          <p:cNvPr id="32" name="Connector 31"/>
          <p:cNvCxnSpPr/>
          <p:nvPr/>
        </p:nvCxnSpPr>
        <p:spPr>
          <a:xfrm>
            <a:off x="4462272" y="3355848"/>
            <a:ext cx="3273551" cy="0"/>
          </a:xfrm>
          <a:prstGeom prst="line">
            <a:avLst/>
          </a:prstGeom>
          <a:ln w="9525">
            <a:solidFill>
              <a:srgbClr val="D5DDDF"/>
            </a:solidFill>
          </a:ln>
        </p:spPr>
      </p:cxnSp>
      <p:sp>
        <p:nvSpPr>
          <p:cNvPr id="33" name="Oval 32"/>
          <p:cNvSpPr/>
          <p:nvPr/>
        </p:nvSpPr>
        <p:spPr>
          <a:xfrm>
            <a:off x="4462272" y="3447287"/>
            <a:ext cx="274320" cy="274320"/>
          </a:xfrm>
          <a:prstGeom prst="ellipse">
            <a:avLst/>
          </a:prstGeom>
          <a:solidFill>
            <a:srgbClr val="2F4F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35" name="TextBox 34"/>
          <p:cNvSpPr txBox="1"/>
          <p:nvPr/>
        </p:nvSpPr>
        <p:spPr>
          <a:xfrm>
            <a:off x="4846320"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3種類のアプリが領域をまたぐ</a:t>
            </a:r>
          </a:p>
        </p:txBody>
      </p:sp>
      <p:sp>
        <p:nvSpPr>
          <p:cNvPr id="36" name="TextBox 35"/>
          <p:cNvSpPr txBox="1"/>
          <p:nvPr/>
        </p:nvSpPr>
        <p:spPr>
          <a:xfrm>
            <a:off x="4846320"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PPM（戦略・開発）、文書管理（GxP・組織基盤）、GRC（戦略・セキュリティ）。需要から計画、規程から手順書・バリデーション文書までを同じアプリでつなげる</a:t>
            </a:r>
          </a:p>
        </p:txBody>
      </p:sp>
      <p:cxnSp>
        <p:nvCxnSpPr>
          <p:cNvPr id="37" name="Connector 36"/>
          <p:cNvCxnSpPr/>
          <p:nvPr/>
        </p:nvCxnSpPr>
        <p:spPr>
          <a:xfrm>
            <a:off x="4462272" y="4663440"/>
            <a:ext cx="3273551" cy="0"/>
          </a:xfrm>
          <a:prstGeom prst="line">
            <a:avLst/>
          </a:prstGeom>
          <a:ln w="9525">
            <a:solidFill>
              <a:srgbClr val="D5DDDF"/>
            </a:solidFill>
          </a:ln>
        </p:spPr>
      </p:cxnSp>
      <p:sp>
        <p:nvSpPr>
          <p:cNvPr id="38" name="Oval 37"/>
          <p:cNvSpPr/>
          <p:nvPr/>
        </p:nvSpPr>
        <p:spPr>
          <a:xfrm>
            <a:off x="4462272" y="4754879"/>
            <a:ext cx="274320" cy="274320"/>
          </a:xfrm>
          <a:prstGeom prst="ellipse">
            <a:avLst/>
          </a:prstGeom>
          <a:solidFill>
            <a:srgbClr val="2F4F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462272"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40" name="TextBox 39"/>
          <p:cNvSpPr txBox="1"/>
          <p:nvPr/>
        </p:nvSpPr>
        <p:spPr>
          <a:xfrm>
            <a:off x="4846320"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ツールが能力ごとに分かれる</a:t>
            </a:r>
          </a:p>
        </p:txBody>
      </p:sp>
      <p:sp>
        <p:nvSpPr>
          <p:cNvPr id="41" name="TextBox 40"/>
          <p:cNvSpPr txBox="1"/>
          <p:nvPr/>
        </p:nvSpPr>
        <p:spPr>
          <a:xfrm>
            <a:off x="4846320"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26種類のうち21種類は1つの能力だけを主に支える。アプリ間の連携を設計しないと、同じ情報を複数のツールに入力し、正本が分からなくなる</a:t>
            </a:r>
          </a:p>
        </p:txBody>
      </p:sp>
      <p:sp>
        <p:nvSpPr>
          <p:cNvPr id="42" name="Rounded Rectangle 41"/>
          <p:cNvSpPr/>
          <p:nvPr/>
        </p:nvSpPr>
        <p:spPr>
          <a:xfrm>
            <a:off x="8101583" y="1371600"/>
            <a:ext cx="3639312" cy="4800600"/>
          </a:xfrm>
          <a:prstGeom prst="roundRect">
            <a:avLst>
              <a:gd name="adj" fmla="val 3000"/>
            </a:avLst>
          </a:prstGeom>
          <a:solidFill>
            <a:srgbClr val="FFFFFF"/>
          </a:solidFill>
          <a:ln w="19050">
            <a:solidFill>
              <a:srgbClr val="9C7C4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8101583" y="1371600"/>
            <a:ext cx="3639312" cy="566928"/>
          </a:xfrm>
          <a:prstGeom prst="roundRect">
            <a:avLst>
              <a:gd name="adj" fmla="val 10000"/>
            </a:avLst>
          </a:prstGeom>
          <a:solidFill>
            <a:srgbClr val="9C7C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8101583" y="1737360"/>
            <a:ext cx="3639312" cy="201168"/>
          </a:xfrm>
          <a:prstGeom prst="rect">
            <a:avLst/>
          </a:prstGeom>
          <a:solidFill>
            <a:srgbClr val="9C7C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8284463"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データ</a:t>
            </a:r>
          </a:p>
        </p:txBody>
      </p:sp>
      <p:sp>
        <p:nvSpPr>
          <p:cNvPr id="46" name="TextBox 45"/>
          <p:cNvSpPr txBox="1"/>
          <p:nvPr/>
        </p:nvSpPr>
        <p:spPr>
          <a:xfrm>
            <a:off x="8284463"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Information Object × Application</a:t>
            </a:r>
          </a:p>
        </p:txBody>
      </p:sp>
      <p:sp>
        <p:nvSpPr>
          <p:cNvPr id="47" name="Oval 46"/>
          <p:cNvSpPr/>
          <p:nvPr/>
        </p:nvSpPr>
        <p:spPr>
          <a:xfrm>
            <a:off x="8284463" y="2139696"/>
            <a:ext cx="274320" cy="274320"/>
          </a:xfrm>
          <a:prstGeom prst="ellipse">
            <a:avLst/>
          </a:prstGeom>
          <a:solidFill>
            <a:srgbClr val="9C7C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284463"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49" name="TextBox 48"/>
          <p:cNvSpPr txBox="1"/>
          <p:nvPr/>
        </p:nvSpPr>
        <p:spPr>
          <a:xfrm>
            <a:off x="8668511"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台帳の正本が決まっていない</a:t>
            </a:r>
          </a:p>
        </p:txBody>
      </p:sp>
      <p:sp>
        <p:nvSpPr>
          <p:cNvPr id="50" name="TextBox 49"/>
          <p:cNvSpPr txBox="1"/>
          <p:nvPr/>
        </p:nvSpPr>
        <p:spPr>
          <a:xfrm>
            <a:off x="8668511"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アプリケーション台帳は6種類、構成情報と変更記録は5種類のアプリで作成・更新される。EA／APMとCMDB・ITSMの役割分担と、正本の置き場を決める必要がある</a:t>
            </a:r>
          </a:p>
        </p:txBody>
      </p:sp>
      <p:cxnSp>
        <p:nvCxnSpPr>
          <p:cNvPr id="51" name="Connector 50"/>
          <p:cNvCxnSpPr/>
          <p:nvPr/>
        </p:nvCxnSpPr>
        <p:spPr>
          <a:xfrm>
            <a:off x="8284463" y="3355848"/>
            <a:ext cx="3273552" cy="0"/>
          </a:xfrm>
          <a:prstGeom prst="line">
            <a:avLst/>
          </a:prstGeom>
          <a:ln w="9525">
            <a:solidFill>
              <a:srgbClr val="D5DDDF"/>
            </a:solidFill>
          </a:ln>
        </p:spPr>
      </p:cxnSp>
      <p:sp>
        <p:nvSpPr>
          <p:cNvPr id="52" name="Oval 51"/>
          <p:cNvSpPr/>
          <p:nvPr/>
        </p:nvSpPr>
        <p:spPr>
          <a:xfrm>
            <a:off x="8284463" y="3447287"/>
            <a:ext cx="274320" cy="274320"/>
          </a:xfrm>
          <a:prstGeom prst="ellipse">
            <a:avLst/>
          </a:prstGeom>
          <a:solidFill>
            <a:srgbClr val="9C7C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8284463"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54" name="TextBox 53"/>
          <p:cNvSpPr txBox="1"/>
          <p:nvPr/>
        </p:nvSpPr>
        <p:spPr>
          <a:xfrm>
            <a:off x="8668511"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IT自身の記録もGxPの対象</a:t>
            </a:r>
          </a:p>
        </p:txBody>
      </p:sp>
      <p:sp>
        <p:nvSpPr>
          <p:cNvPr id="55" name="TextBox 54"/>
          <p:cNvSpPr txBox="1"/>
          <p:nvPr/>
        </p:nvSpPr>
        <p:spPr>
          <a:xfrm>
            <a:off x="8668511"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50件中20件がGxP記録の対象候補。変更・インシデント・アクセス権・運用・テストの記録を持つITSMやALMも、バリデーションの対象候補になる</a:t>
            </a:r>
          </a:p>
        </p:txBody>
      </p:sp>
      <p:cxnSp>
        <p:nvCxnSpPr>
          <p:cNvPr id="56" name="Connector 55"/>
          <p:cNvCxnSpPr/>
          <p:nvPr/>
        </p:nvCxnSpPr>
        <p:spPr>
          <a:xfrm>
            <a:off x="8284463" y="4663440"/>
            <a:ext cx="3273552" cy="0"/>
          </a:xfrm>
          <a:prstGeom prst="line">
            <a:avLst/>
          </a:prstGeom>
          <a:ln w="9525">
            <a:solidFill>
              <a:srgbClr val="D5DDDF"/>
            </a:solidFill>
          </a:ln>
        </p:spPr>
      </p:cxnSp>
      <p:sp>
        <p:nvSpPr>
          <p:cNvPr id="57" name="Oval 56"/>
          <p:cNvSpPr/>
          <p:nvPr/>
        </p:nvSpPr>
        <p:spPr>
          <a:xfrm>
            <a:off x="8284463" y="4754879"/>
            <a:ext cx="274320" cy="274320"/>
          </a:xfrm>
          <a:prstGeom prst="ellipse">
            <a:avLst/>
          </a:prstGeom>
          <a:solidFill>
            <a:srgbClr val="9C7C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8284463"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59" name="TextBox 58"/>
          <p:cNvSpPr txBox="1"/>
          <p:nvPr/>
        </p:nvSpPr>
        <p:spPr>
          <a:xfrm>
            <a:off x="8668511"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委託先との境界に証跡が集まる</a:t>
            </a:r>
          </a:p>
        </p:txBody>
      </p:sp>
      <p:sp>
        <p:nvSpPr>
          <p:cNvPr id="60" name="TextBox 59"/>
          <p:cNvSpPr txBox="1"/>
          <p:nvPr/>
        </p:nvSpPr>
        <p:spPr>
          <a:xfrm>
            <a:off x="8668511"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委託契約・発注書・検収記録・ベンダー評価記録は、取適法の書面・検収と、GxPの供給者評価の両方の証跡。委託先が作るテスト記録も自社の責任で保管する</a:t>
            </a:r>
          </a:p>
        </p:txBody>
      </p:sp>
      <p:sp>
        <p:nvSpPr>
          <p:cNvPr id="61" name="TextBox 60"/>
          <p:cNvSpPr txBox="1"/>
          <p:nvPr/>
        </p:nvSpPr>
        <p:spPr>
          <a:xfrm>
            <a:off x="457200" y="6263640"/>
            <a:ext cx="11274552" cy="365760"/>
          </a:xfrm>
          <a:prstGeom prst="rect">
            <a:avLst/>
          </a:prstGeom>
          <a:noFill/>
        </p:spPr>
        <p:txBody>
          <a:bodyPr wrap="square" lIns="0" rIns="0" tIns="0" bIns="0" anchor="t">
            <a:spAutoFit/>
          </a:bodyPr>
          <a:lstStyle/>
          <a:p>
            <a:pPr algn="l"/>
            <a:r>
              <a:rPr sz="750" b="0">
                <a:solidFill>
                  <a:srgbClr val="5B6B70"/>
                </a:solidFill>
                <a:latin typeface="Yu Gothic"/>
                <a:ea typeface="Yu Gothic"/>
                <a:cs typeface="Yu Gothic"/>
              </a:rPr>
              <a:t>出典：vs_capability_map.xlsx（VS×ケイパビリティ関係、ケイパビリティ×アプリケーション、アプリケーション×情報オブジェクト、情報オブジェクト）。アプリケーション×情報オブジェクトはケイパビリティ経由で機械的に割り当てたもので、実際の作成・更新より多めに出る。現状のシステムとのマッピングで絞り込む前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t">
            <a:spAutoFit/>
          </a:bodyPr>
          <a:lstStyle/>
          <a:p>
            <a:pPr algn="l"/>
            <a:r>
              <a:rPr sz="3000" b="1">
                <a:solidFill>
                  <a:srgbClr val="1F2E35"/>
                </a:solidFill>
                <a:latin typeface="Yu Gothic"/>
                <a:ea typeface="Yu Gothic"/>
                <a:cs typeface="Yu Gothic"/>
              </a:rPr>
              <a:t>考察：重要なケイパビリティ領域</a:t>
            </a:r>
          </a:p>
        </p:txBody>
      </p:sp>
      <p:sp>
        <p:nvSpPr>
          <p:cNvPr id="3" name="TextBox 2"/>
          <p:cNvSpPr txBox="1"/>
          <p:nvPr/>
        </p:nvSpPr>
        <p:spPr>
          <a:xfrm>
            <a:off x="457200" y="960120"/>
            <a:ext cx="11247120" cy="365760"/>
          </a:xfrm>
          <a:prstGeom prst="rect">
            <a:avLst/>
          </a:prstGeom>
          <a:noFill/>
        </p:spPr>
        <p:txBody>
          <a:bodyPr wrap="square" lIns="0" rIns="0" tIns="0" bIns="0" anchor="t">
            <a:spAutoFit/>
          </a:bodyPr>
          <a:lstStyle/>
          <a:p>
            <a:pPr algn="l"/>
            <a:r>
              <a:rPr sz="1250" b="0">
                <a:solidFill>
                  <a:srgbClr val="5B6B70"/>
                </a:solidFill>
                <a:latin typeface="Yu Gothic"/>
                <a:ea typeface="Yu Gothic"/>
                <a:cs typeface="Yu Gothic"/>
              </a:rPr>
              <a:t>ITSMでつながるサービス管理・運用が「統合の要」。EA・ポートフォリオ・CSV・データインテグリティ・委託先管理が「データの源泉」</a:t>
            </a:r>
          </a:p>
        </p:txBody>
      </p:sp>
      <p:sp>
        <p:nvSpPr>
          <p:cNvPr id="4" name="Rectangle 3"/>
          <p:cNvSpPr/>
          <p:nvPr/>
        </p:nvSpPr>
        <p:spPr>
          <a:xfrm>
            <a:off x="960120" y="1371600"/>
            <a:ext cx="5385816" cy="2148840"/>
          </a:xfrm>
          <a:prstGeom prst="rect">
            <a:avLst/>
          </a:prstGeom>
          <a:solidFill>
            <a:srgbClr val="E8F1FB"/>
          </a:solidFill>
          <a:ln w="12700">
            <a:solidFill>
              <a:srgbClr val="C3CFD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097280" y="146304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データの源泉（10）</a:t>
            </a:r>
          </a:p>
        </p:txBody>
      </p:sp>
      <p:sp>
        <p:nvSpPr>
          <p:cNvPr id="6" name="TextBox 5"/>
          <p:cNvSpPr txBox="1"/>
          <p:nvPr/>
        </p:nvSpPr>
        <p:spPr>
          <a:xfrm>
            <a:off x="1097280" y="175564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専用アプリの正本を定め、連携を設計</a:t>
            </a:r>
          </a:p>
        </p:txBody>
      </p:sp>
      <p:sp>
        <p:nvSpPr>
          <p:cNvPr id="7" name="Rounded Rectangle 6"/>
          <p:cNvSpPr/>
          <p:nvPr/>
        </p:nvSpPr>
        <p:spPr>
          <a:xfrm>
            <a:off x="1097280" y="2057400"/>
            <a:ext cx="2514600" cy="237744"/>
          </a:xfrm>
          <a:prstGeom prst="roundRect">
            <a:avLst>
              <a:gd name="adj" fmla="val 50000"/>
            </a:avLst>
          </a:prstGeom>
          <a:solidFill>
            <a:srgbClr val="FFFFFF"/>
          </a:solidFill>
          <a:ln w="1587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1188720" y="2130552"/>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35024" y="205740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エンタープライズアーキテクチャ</a:t>
            </a:r>
          </a:p>
        </p:txBody>
      </p:sp>
      <p:sp>
        <p:nvSpPr>
          <p:cNvPr id="10" name="Rounded Rectangle 9"/>
          <p:cNvSpPr/>
          <p:nvPr/>
        </p:nvSpPr>
        <p:spPr>
          <a:xfrm>
            <a:off x="3694176" y="2057400"/>
            <a:ext cx="2514600" cy="237744"/>
          </a:xfrm>
          <a:prstGeom prst="roundRect">
            <a:avLst>
              <a:gd name="adj" fmla="val 50000"/>
            </a:avLst>
          </a:prstGeom>
          <a:solidFill>
            <a:srgbClr val="FFFFFF"/>
          </a:solidFill>
          <a:ln w="1587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3785615" y="2130552"/>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31920" y="205740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ITポートフォリオ・需要管理</a:t>
            </a:r>
          </a:p>
        </p:txBody>
      </p:sp>
      <p:sp>
        <p:nvSpPr>
          <p:cNvPr id="13" name="Rounded Rectangle 12"/>
          <p:cNvSpPr/>
          <p:nvPr/>
        </p:nvSpPr>
        <p:spPr>
          <a:xfrm>
            <a:off x="1097280" y="2331720"/>
            <a:ext cx="2514600" cy="237744"/>
          </a:xfrm>
          <a:prstGeom prst="roundRect">
            <a:avLst>
              <a:gd name="adj" fmla="val 50000"/>
            </a:avLst>
          </a:prstGeom>
          <a:solidFill>
            <a:srgbClr val="FFFFFF"/>
          </a:solidFill>
          <a:ln w="1587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1188720" y="2404872"/>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335024" y="233172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ITガバナンス・リスク管理★</a:t>
            </a:r>
          </a:p>
        </p:txBody>
      </p:sp>
      <p:sp>
        <p:nvSpPr>
          <p:cNvPr id="16" name="Rounded Rectangle 15"/>
          <p:cNvSpPr/>
          <p:nvPr/>
        </p:nvSpPr>
        <p:spPr>
          <a:xfrm>
            <a:off x="3694176" y="2331720"/>
            <a:ext cx="2514600" cy="237744"/>
          </a:xfrm>
          <a:prstGeom prst="roundRect">
            <a:avLst>
              <a:gd name="adj" fmla="val 50000"/>
            </a:avLst>
          </a:prstGeom>
          <a:solidFill>
            <a:srgbClr val="FFFFFF"/>
          </a:solidFill>
          <a:ln w="1587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3785615" y="2404872"/>
            <a:ext cx="91440" cy="91440"/>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931920" y="233172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要件定義・設計</a:t>
            </a:r>
          </a:p>
        </p:txBody>
      </p:sp>
      <p:sp>
        <p:nvSpPr>
          <p:cNvPr id="19" name="Rounded Rectangle 18"/>
          <p:cNvSpPr/>
          <p:nvPr/>
        </p:nvSpPr>
        <p:spPr>
          <a:xfrm>
            <a:off x="1097280" y="2606040"/>
            <a:ext cx="2514600" cy="237744"/>
          </a:xfrm>
          <a:prstGeom prst="roundRect">
            <a:avLst>
              <a:gd name="adj" fmla="val 50000"/>
            </a:avLst>
          </a:prstGeom>
          <a:solidFill>
            <a:srgbClr val="FFFFFF"/>
          </a:solidFill>
          <a:ln w="1587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1188720" y="2679192"/>
            <a:ext cx="91440" cy="91440"/>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335024" y="260604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テスト・リリース</a:t>
            </a:r>
          </a:p>
        </p:txBody>
      </p:sp>
      <p:sp>
        <p:nvSpPr>
          <p:cNvPr id="22" name="Rounded Rectangle 21"/>
          <p:cNvSpPr/>
          <p:nvPr/>
        </p:nvSpPr>
        <p:spPr>
          <a:xfrm>
            <a:off x="3694176" y="2606040"/>
            <a:ext cx="2514600" cy="237744"/>
          </a:xfrm>
          <a:prstGeom prst="roundRect">
            <a:avLst>
              <a:gd name="adj" fmla="val 50000"/>
            </a:avLst>
          </a:prstGeom>
          <a:solidFill>
            <a:srgbClr val="FFFFFF"/>
          </a:solidFill>
          <a:ln w="1587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3785615" y="2679192"/>
            <a:ext cx="91440" cy="91440"/>
          </a:xfrm>
          <a:prstGeom prst="ellipse">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931920" y="260604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クラウド・データセンター</a:t>
            </a:r>
          </a:p>
        </p:txBody>
      </p:sp>
      <p:sp>
        <p:nvSpPr>
          <p:cNvPr id="25" name="Rounded Rectangle 24"/>
          <p:cNvSpPr/>
          <p:nvPr/>
        </p:nvSpPr>
        <p:spPr>
          <a:xfrm>
            <a:off x="1097280" y="2880360"/>
            <a:ext cx="2514600" cy="237744"/>
          </a:xfrm>
          <a:prstGeom prst="roundRect">
            <a:avLst>
              <a:gd name="adj" fmla="val 50000"/>
            </a:avLst>
          </a:prstGeom>
          <a:solidFill>
            <a:srgbClr val="FFFFFF"/>
          </a:solidFill>
          <a:ln w="1587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1188720" y="2953512"/>
            <a:ext cx="91440" cy="91440"/>
          </a:xfrm>
          <a:prstGeom prst="ellipse">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335024" y="288036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セキュリティ運用</a:t>
            </a:r>
          </a:p>
        </p:txBody>
      </p:sp>
      <p:sp>
        <p:nvSpPr>
          <p:cNvPr id="28" name="Rounded Rectangle 27"/>
          <p:cNvSpPr/>
          <p:nvPr/>
        </p:nvSpPr>
        <p:spPr>
          <a:xfrm>
            <a:off x="3694176" y="2880360"/>
            <a:ext cx="2514600" cy="237744"/>
          </a:xfrm>
          <a:prstGeom prst="roundRect">
            <a:avLst>
              <a:gd name="adj" fmla="val 50000"/>
            </a:avLst>
          </a:prstGeom>
          <a:solidFill>
            <a:srgbClr val="FFFFFF"/>
          </a:solidFill>
          <a:ln w="1587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3785615" y="2953512"/>
            <a:ext cx="91440" cy="91440"/>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931920" y="288036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GxPシステム管理（CSV）★</a:t>
            </a:r>
          </a:p>
        </p:txBody>
      </p:sp>
      <p:sp>
        <p:nvSpPr>
          <p:cNvPr id="31" name="Rounded Rectangle 30"/>
          <p:cNvSpPr/>
          <p:nvPr/>
        </p:nvSpPr>
        <p:spPr>
          <a:xfrm>
            <a:off x="1097280" y="3154680"/>
            <a:ext cx="2514600" cy="237744"/>
          </a:xfrm>
          <a:prstGeom prst="roundRect">
            <a:avLst>
              <a:gd name="adj" fmla="val 50000"/>
            </a:avLst>
          </a:prstGeom>
          <a:solidFill>
            <a:srgbClr val="FFFFFF"/>
          </a:solidFill>
          <a:ln w="1587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val 31"/>
          <p:cNvSpPr/>
          <p:nvPr/>
        </p:nvSpPr>
        <p:spPr>
          <a:xfrm>
            <a:off x="1188720" y="3227832"/>
            <a:ext cx="91440" cy="91440"/>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335024" y="315468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データインテグリティ★</a:t>
            </a:r>
          </a:p>
        </p:txBody>
      </p:sp>
      <p:sp>
        <p:nvSpPr>
          <p:cNvPr id="34" name="Rounded Rectangle 33"/>
          <p:cNvSpPr/>
          <p:nvPr/>
        </p:nvSpPr>
        <p:spPr>
          <a:xfrm>
            <a:off x="3694176" y="3154680"/>
            <a:ext cx="2514600" cy="237744"/>
          </a:xfrm>
          <a:prstGeom prst="roundRect">
            <a:avLst>
              <a:gd name="adj" fmla="val 50000"/>
            </a:avLst>
          </a:prstGeom>
          <a:solidFill>
            <a:srgbClr val="FFFFFF"/>
          </a:solidFill>
          <a:ln w="1587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3785615" y="3227832"/>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931920" y="3154680"/>
            <a:ext cx="2240280" cy="237744"/>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ITソーシング・ベンダー管理★</a:t>
            </a:r>
          </a:p>
        </p:txBody>
      </p:sp>
      <p:sp>
        <p:nvSpPr>
          <p:cNvPr id="37" name="Rectangle 36"/>
          <p:cNvSpPr/>
          <p:nvPr/>
        </p:nvSpPr>
        <p:spPr>
          <a:xfrm>
            <a:off x="6345936" y="1371600"/>
            <a:ext cx="5385816" cy="2148840"/>
          </a:xfrm>
          <a:prstGeom prst="rect">
            <a:avLst/>
          </a:prstGeom>
          <a:solidFill>
            <a:srgbClr val="CCFFFF"/>
          </a:solidFill>
          <a:ln w="12700">
            <a:solidFill>
              <a:srgbClr val="C3CFD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483096" y="146304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統合の要（4）</a:t>
            </a:r>
          </a:p>
        </p:txBody>
      </p:sp>
      <p:sp>
        <p:nvSpPr>
          <p:cNvPr id="39" name="TextBox 38"/>
          <p:cNvSpPr txBox="1"/>
          <p:nvPr/>
        </p:nvSpPr>
        <p:spPr>
          <a:xfrm>
            <a:off x="6483096" y="175564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共通アプリとデータ標準を最優先で整備</a:t>
            </a:r>
          </a:p>
        </p:txBody>
      </p:sp>
      <p:sp>
        <p:nvSpPr>
          <p:cNvPr id="40" name="Rounded Rectangle 39"/>
          <p:cNvSpPr/>
          <p:nvPr/>
        </p:nvSpPr>
        <p:spPr>
          <a:xfrm>
            <a:off x="6483096" y="2057400"/>
            <a:ext cx="2514600" cy="237744"/>
          </a:xfrm>
          <a:prstGeom prst="roundRect">
            <a:avLst>
              <a:gd name="adj" fmla="val 50000"/>
            </a:avLst>
          </a:prstGeom>
          <a:solidFill>
            <a:srgbClr val="FFFFFF"/>
          </a:solidFill>
          <a:ln w="1587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6574536" y="2130552"/>
            <a:ext cx="91440" cy="9144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720840" y="2057400"/>
            <a:ext cx="2240280" cy="237744"/>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サービスカタログ・サービスレベル管理</a:t>
            </a:r>
          </a:p>
        </p:txBody>
      </p:sp>
      <p:sp>
        <p:nvSpPr>
          <p:cNvPr id="43" name="Rounded Rectangle 42"/>
          <p:cNvSpPr/>
          <p:nvPr/>
        </p:nvSpPr>
        <p:spPr>
          <a:xfrm>
            <a:off x="9079992" y="2057400"/>
            <a:ext cx="2514600" cy="237744"/>
          </a:xfrm>
          <a:prstGeom prst="roundRect">
            <a:avLst>
              <a:gd name="adj" fmla="val 50000"/>
            </a:avLst>
          </a:prstGeom>
          <a:solidFill>
            <a:srgbClr val="FFFFFF"/>
          </a:solidFill>
          <a:ln w="1587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val 43"/>
          <p:cNvSpPr/>
          <p:nvPr/>
        </p:nvSpPr>
        <p:spPr>
          <a:xfrm>
            <a:off x="9171432" y="2130552"/>
            <a:ext cx="91440" cy="9144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317736" y="2057400"/>
            <a:ext cx="2240280" cy="237744"/>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サービスデスク・要求実現</a:t>
            </a:r>
          </a:p>
        </p:txBody>
      </p:sp>
      <p:sp>
        <p:nvSpPr>
          <p:cNvPr id="46" name="Rounded Rectangle 45"/>
          <p:cNvSpPr/>
          <p:nvPr/>
        </p:nvSpPr>
        <p:spPr>
          <a:xfrm>
            <a:off x="6483096" y="2331720"/>
            <a:ext cx="2514600" cy="237744"/>
          </a:xfrm>
          <a:prstGeom prst="roundRect">
            <a:avLst>
              <a:gd name="adj" fmla="val 50000"/>
            </a:avLst>
          </a:prstGeom>
          <a:solidFill>
            <a:srgbClr val="FFFFFF"/>
          </a:solidFill>
          <a:ln w="1587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6574536" y="2404872"/>
            <a:ext cx="91440" cy="9144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720840" y="2331720"/>
            <a:ext cx="2240280" cy="237744"/>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インシデント・問題管理</a:t>
            </a:r>
          </a:p>
        </p:txBody>
      </p:sp>
      <p:sp>
        <p:nvSpPr>
          <p:cNvPr id="49" name="Rounded Rectangle 48"/>
          <p:cNvSpPr/>
          <p:nvPr/>
        </p:nvSpPr>
        <p:spPr>
          <a:xfrm>
            <a:off x="9079992" y="2331720"/>
            <a:ext cx="2514600" cy="237744"/>
          </a:xfrm>
          <a:prstGeom prst="roundRect">
            <a:avLst>
              <a:gd name="adj" fmla="val 50000"/>
            </a:avLst>
          </a:prstGeom>
          <a:solidFill>
            <a:srgbClr val="FFFFFF"/>
          </a:solidFill>
          <a:ln w="1587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9171432" y="2404872"/>
            <a:ext cx="91440" cy="9144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9317736" y="2331720"/>
            <a:ext cx="2240280" cy="237744"/>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変更・構成管理★</a:t>
            </a:r>
          </a:p>
        </p:txBody>
      </p:sp>
      <p:sp>
        <p:nvSpPr>
          <p:cNvPr id="52" name="Rectangle 51"/>
          <p:cNvSpPr/>
          <p:nvPr/>
        </p:nvSpPr>
        <p:spPr>
          <a:xfrm>
            <a:off x="960120" y="3520440"/>
            <a:ext cx="5385816" cy="2148840"/>
          </a:xfrm>
          <a:prstGeom prst="rect">
            <a:avLst/>
          </a:prstGeom>
          <a:solidFill>
            <a:srgbClr val="FFFFFF"/>
          </a:solidFill>
          <a:ln w="12700">
            <a:solidFill>
              <a:srgbClr val="C3CFD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1097280" y="361188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個別最適（14）</a:t>
            </a:r>
          </a:p>
        </p:txBody>
      </p:sp>
      <p:sp>
        <p:nvSpPr>
          <p:cNvPr id="54" name="TextBox 53"/>
          <p:cNvSpPr txBox="1"/>
          <p:nvPr/>
        </p:nvSpPr>
        <p:spPr>
          <a:xfrm>
            <a:off x="1097280" y="390448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個別に最適化してよい</a:t>
            </a:r>
          </a:p>
        </p:txBody>
      </p:sp>
      <p:sp>
        <p:nvSpPr>
          <p:cNvPr id="55" name="Rounded Rectangle 54"/>
          <p:cNvSpPr/>
          <p:nvPr/>
        </p:nvSpPr>
        <p:spPr>
          <a:xfrm>
            <a:off x="1097280" y="4206240"/>
            <a:ext cx="1648968" cy="210312"/>
          </a:xfrm>
          <a:prstGeom prst="roundRect">
            <a:avLst>
              <a:gd name="adj" fmla="val 50000"/>
            </a:avLst>
          </a:prstGeom>
          <a:solidFill>
            <a:srgbClr val="FFFFFF"/>
          </a:solidFill>
          <a:ln w="1587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Oval 55"/>
          <p:cNvSpPr/>
          <p:nvPr/>
        </p:nvSpPr>
        <p:spPr>
          <a:xfrm>
            <a:off x="1188720" y="4265676"/>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1335024" y="4206240"/>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IT戦略・DX企画</a:t>
            </a:r>
          </a:p>
        </p:txBody>
      </p:sp>
      <p:sp>
        <p:nvSpPr>
          <p:cNvPr id="58" name="Rounded Rectangle 57"/>
          <p:cNvSpPr/>
          <p:nvPr/>
        </p:nvSpPr>
        <p:spPr>
          <a:xfrm>
            <a:off x="2828544" y="4206240"/>
            <a:ext cx="1648968" cy="210312"/>
          </a:xfrm>
          <a:prstGeom prst="roundRect">
            <a:avLst>
              <a:gd name="adj" fmla="val 50000"/>
            </a:avLst>
          </a:prstGeom>
          <a:solidFill>
            <a:srgbClr val="FFFFFF"/>
          </a:solidFill>
          <a:ln w="1587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Oval 58"/>
          <p:cNvSpPr/>
          <p:nvPr/>
        </p:nvSpPr>
        <p:spPr>
          <a:xfrm>
            <a:off x="2919984" y="4265676"/>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3066288" y="4206240"/>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IT財務管理</a:t>
            </a:r>
          </a:p>
        </p:txBody>
      </p:sp>
      <p:sp>
        <p:nvSpPr>
          <p:cNvPr id="61" name="Rounded Rectangle 60"/>
          <p:cNvSpPr/>
          <p:nvPr/>
        </p:nvSpPr>
        <p:spPr>
          <a:xfrm>
            <a:off x="4559808" y="4206240"/>
            <a:ext cx="1648968" cy="210312"/>
          </a:xfrm>
          <a:prstGeom prst="roundRect">
            <a:avLst>
              <a:gd name="adj" fmla="val 50000"/>
            </a:avLst>
          </a:prstGeom>
          <a:solidFill>
            <a:srgbClr val="FFFFFF"/>
          </a:solidFill>
          <a:ln w="1587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Oval 61"/>
          <p:cNvSpPr/>
          <p:nvPr/>
        </p:nvSpPr>
        <p:spPr>
          <a:xfrm>
            <a:off x="4651248" y="4265676"/>
            <a:ext cx="91440" cy="91440"/>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4797552" y="4206240"/>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プロジェクト管理★</a:t>
            </a:r>
          </a:p>
        </p:txBody>
      </p:sp>
      <p:sp>
        <p:nvSpPr>
          <p:cNvPr id="64" name="Rounded Rectangle 63"/>
          <p:cNvSpPr/>
          <p:nvPr/>
        </p:nvSpPr>
        <p:spPr>
          <a:xfrm>
            <a:off x="1097280" y="4453127"/>
            <a:ext cx="1648968" cy="210312"/>
          </a:xfrm>
          <a:prstGeom prst="roundRect">
            <a:avLst>
              <a:gd name="adj" fmla="val 50000"/>
            </a:avLst>
          </a:prstGeom>
          <a:solidFill>
            <a:srgbClr val="FFFFFF"/>
          </a:solidFill>
          <a:ln w="15875">
            <a:solidFill>
              <a:srgbClr val="2A78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1188720" y="4512564"/>
            <a:ext cx="91440" cy="91440"/>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1335024" y="4453127"/>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開発・構成</a:t>
            </a:r>
          </a:p>
        </p:txBody>
      </p:sp>
      <p:sp>
        <p:nvSpPr>
          <p:cNvPr id="67" name="Rounded Rectangle 66"/>
          <p:cNvSpPr/>
          <p:nvPr/>
        </p:nvSpPr>
        <p:spPr>
          <a:xfrm>
            <a:off x="2828544" y="4453127"/>
            <a:ext cx="1648968" cy="210312"/>
          </a:xfrm>
          <a:prstGeom prst="roundRect">
            <a:avLst>
              <a:gd name="adj" fmla="val 50000"/>
            </a:avLst>
          </a:prstGeom>
          <a:solidFill>
            <a:srgbClr val="FFFFFF"/>
          </a:solidFill>
          <a:ln w="15875">
            <a:solidFill>
              <a:srgbClr val="1BAF7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2919984" y="4512564"/>
            <a:ext cx="91440" cy="9144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3066288" y="4453127"/>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IT運用・監視</a:t>
            </a:r>
          </a:p>
        </p:txBody>
      </p:sp>
      <p:sp>
        <p:nvSpPr>
          <p:cNvPr id="70" name="Rounded Rectangle 69"/>
          <p:cNvSpPr/>
          <p:nvPr/>
        </p:nvSpPr>
        <p:spPr>
          <a:xfrm>
            <a:off x="4559808" y="4453127"/>
            <a:ext cx="1648968" cy="210312"/>
          </a:xfrm>
          <a:prstGeom prst="roundRect">
            <a:avLst>
              <a:gd name="adj" fmla="val 50000"/>
            </a:avLst>
          </a:prstGeom>
          <a:solidFill>
            <a:srgbClr val="FFFFFF"/>
          </a:solidFill>
          <a:ln w="1587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p:cNvSpPr/>
          <p:nvPr/>
        </p:nvSpPr>
        <p:spPr>
          <a:xfrm>
            <a:off x="4651248" y="4512564"/>
            <a:ext cx="91440" cy="91440"/>
          </a:xfrm>
          <a:prstGeom prst="ellipse">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4797552" y="4453127"/>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ネットワーク</a:t>
            </a:r>
          </a:p>
        </p:txBody>
      </p:sp>
      <p:sp>
        <p:nvSpPr>
          <p:cNvPr id="73" name="Rounded Rectangle 72"/>
          <p:cNvSpPr/>
          <p:nvPr/>
        </p:nvSpPr>
        <p:spPr>
          <a:xfrm>
            <a:off x="1097280" y="4700016"/>
            <a:ext cx="1648968" cy="210312"/>
          </a:xfrm>
          <a:prstGeom prst="roundRect">
            <a:avLst>
              <a:gd name="adj" fmla="val 50000"/>
            </a:avLst>
          </a:prstGeom>
          <a:solidFill>
            <a:srgbClr val="FFFFFF"/>
          </a:solidFill>
          <a:ln w="1587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Oval 73"/>
          <p:cNvSpPr/>
          <p:nvPr/>
        </p:nvSpPr>
        <p:spPr>
          <a:xfrm>
            <a:off x="1188720" y="4759452"/>
            <a:ext cx="91440" cy="91440"/>
          </a:xfrm>
          <a:prstGeom prst="ellipse">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1335024" y="4700016"/>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エンドユーザー環境</a:t>
            </a:r>
          </a:p>
        </p:txBody>
      </p:sp>
      <p:sp>
        <p:nvSpPr>
          <p:cNvPr id="76" name="Rounded Rectangle 75"/>
          <p:cNvSpPr/>
          <p:nvPr/>
        </p:nvSpPr>
        <p:spPr>
          <a:xfrm>
            <a:off x="2828544" y="4700016"/>
            <a:ext cx="1648968" cy="210312"/>
          </a:xfrm>
          <a:prstGeom prst="roundRect">
            <a:avLst>
              <a:gd name="adj" fmla="val 50000"/>
            </a:avLst>
          </a:prstGeom>
          <a:solidFill>
            <a:srgbClr val="FFFFFF"/>
          </a:solidFill>
          <a:ln w="15875">
            <a:solidFill>
              <a:srgbClr val="4A3AA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Oval 76"/>
          <p:cNvSpPr/>
          <p:nvPr/>
        </p:nvSpPr>
        <p:spPr>
          <a:xfrm>
            <a:off x="2919984" y="4759452"/>
            <a:ext cx="91440" cy="91440"/>
          </a:xfrm>
          <a:prstGeom prst="ellipse">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3066288" y="4700016"/>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IT資産・ライセンス管理</a:t>
            </a:r>
          </a:p>
        </p:txBody>
      </p:sp>
      <p:sp>
        <p:nvSpPr>
          <p:cNvPr id="79" name="Rounded Rectangle 78"/>
          <p:cNvSpPr/>
          <p:nvPr/>
        </p:nvSpPr>
        <p:spPr>
          <a:xfrm>
            <a:off x="4559808" y="4700016"/>
            <a:ext cx="1648968" cy="210312"/>
          </a:xfrm>
          <a:prstGeom prst="roundRect">
            <a:avLst>
              <a:gd name="adj" fmla="val 50000"/>
            </a:avLst>
          </a:prstGeom>
          <a:solidFill>
            <a:srgbClr val="FFFFFF"/>
          </a:solidFill>
          <a:ln w="1587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Oval 79"/>
          <p:cNvSpPr/>
          <p:nvPr/>
        </p:nvSpPr>
        <p:spPr>
          <a:xfrm>
            <a:off x="4651248" y="4759452"/>
            <a:ext cx="91440" cy="91440"/>
          </a:xfrm>
          <a:prstGeom prst="ellipse">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4797552" y="4700016"/>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セキュリティガバナンス</a:t>
            </a:r>
          </a:p>
        </p:txBody>
      </p:sp>
      <p:sp>
        <p:nvSpPr>
          <p:cNvPr id="82" name="Rounded Rectangle 81"/>
          <p:cNvSpPr/>
          <p:nvPr/>
        </p:nvSpPr>
        <p:spPr>
          <a:xfrm>
            <a:off x="1097280" y="4946904"/>
            <a:ext cx="1648968" cy="210312"/>
          </a:xfrm>
          <a:prstGeom prst="roundRect">
            <a:avLst>
              <a:gd name="adj" fmla="val 50000"/>
            </a:avLst>
          </a:prstGeom>
          <a:solidFill>
            <a:srgbClr val="FFFFFF"/>
          </a:solidFill>
          <a:ln w="15875">
            <a:solidFill>
              <a:srgbClr val="EB683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p:cNvSpPr/>
          <p:nvPr/>
        </p:nvSpPr>
        <p:spPr>
          <a:xfrm>
            <a:off x="1188720" y="5006340"/>
            <a:ext cx="91440" cy="91440"/>
          </a:xfrm>
          <a:prstGeom prst="ellipse">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1335024" y="4946904"/>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ID・アクセス管理★</a:t>
            </a:r>
          </a:p>
        </p:txBody>
      </p:sp>
      <p:sp>
        <p:nvSpPr>
          <p:cNvPr id="85" name="Rounded Rectangle 84"/>
          <p:cNvSpPr/>
          <p:nvPr/>
        </p:nvSpPr>
        <p:spPr>
          <a:xfrm>
            <a:off x="2828544" y="4946904"/>
            <a:ext cx="1648968" cy="210312"/>
          </a:xfrm>
          <a:prstGeom prst="roundRect">
            <a:avLst>
              <a:gd name="adj" fmla="val 50000"/>
            </a:avLst>
          </a:prstGeom>
          <a:solidFill>
            <a:srgbClr val="FFFFFF"/>
          </a:solidFill>
          <a:ln w="1587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Oval 85"/>
          <p:cNvSpPr/>
          <p:nvPr/>
        </p:nvSpPr>
        <p:spPr>
          <a:xfrm>
            <a:off x="2919984" y="5006340"/>
            <a:ext cx="91440" cy="91440"/>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3066288" y="4946904"/>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データ管理</a:t>
            </a:r>
          </a:p>
        </p:txBody>
      </p:sp>
      <p:sp>
        <p:nvSpPr>
          <p:cNvPr id="88" name="Rounded Rectangle 87"/>
          <p:cNvSpPr/>
          <p:nvPr/>
        </p:nvSpPr>
        <p:spPr>
          <a:xfrm>
            <a:off x="4559808" y="4946904"/>
            <a:ext cx="1648968" cy="210312"/>
          </a:xfrm>
          <a:prstGeom prst="roundRect">
            <a:avLst>
              <a:gd name="adj" fmla="val 50000"/>
            </a:avLst>
          </a:prstGeom>
          <a:solidFill>
            <a:srgbClr val="FFFFFF"/>
          </a:solidFill>
          <a:ln w="15875">
            <a:solidFill>
              <a:srgbClr val="B833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Oval 88"/>
          <p:cNvSpPr/>
          <p:nvPr/>
        </p:nvSpPr>
        <p:spPr>
          <a:xfrm>
            <a:off x="4651248" y="5006340"/>
            <a:ext cx="91440" cy="91440"/>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4797552" y="4946904"/>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個人情報・データ保護</a:t>
            </a:r>
          </a:p>
        </p:txBody>
      </p:sp>
      <p:sp>
        <p:nvSpPr>
          <p:cNvPr id="91" name="Rounded Rectangle 90"/>
          <p:cNvSpPr/>
          <p:nvPr/>
        </p:nvSpPr>
        <p:spPr>
          <a:xfrm>
            <a:off x="1097280" y="5193792"/>
            <a:ext cx="1648968" cy="210312"/>
          </a:xfrm>
          <a:prstGeom prst="roundRect">
            <a:avLst>
              <a:gd name="adj" fmla="val 50000"/>
            </a:avLst>
          </a:prstGeom>
          <a:solidFill>
            <a:srgbClr val="FFFFFF"/>
          </a:solidFill>
          <a:ln w="1587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Oval 91"/>
          <p:cNvSpPr/>
          <p:nvPr/>
        </p:nvSpPr>
        <p:spPr>
          <a:xfrm>
            <a:off x="1188720" y="5253228"/>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1335024" y="5193792"/>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IT人材・組織★</a:t>
            </a:r>
          </a:p>
        </p:txBody>
      </p:sp>
      <p:sp>
        <p:nvSpPr>
          <p:cNvPr id="94" name="Rounded Rectangle 93"/>
          <p:cNvSpPr/>
          <p:nvPr/>
        </p:nvSpPr>
        <p:spPr>
          <a:xfrm>
            <a:off x="2828544" y="5193792"/>
            <a:ext cx="1648968" cy="210312"/>
          </a:xfrm>
          <a:prstGeom prst="roundRect">
            <a:avLst>
              <a:gd name="adj" fmla="val 50000"/>
            </a:avLst>
          </a:prstGeom>
          <a:solidFill>
            <a:srgbClr val="FFFFFF"/>
          </a:solidFill>
          <a:ln w="15875">
            <a:solidFill>
              <a:srgbClr val="1F2E3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Oval 94"/>
          <p:cNvSpPr/>
          <p:nvPr/>
        </p:nvSpPr>
        <p:spPr>
          <a:xfrm>
            <a:off x="2919984" y="5253228"/>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3066288" y="5193792"/>
            <a:ext cx="1374648" cy="210312"/>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ITナレッジ・文書管理</a:t>
            </a:r>
          </a:p>
        </p:txBody>
      </p:sp>
      <p:sp>
        <p:nvSpPr>
          <p:cNvPr id="97" name="Rectangle 96"/>
          <p:cNvSpPr/>
          <p:nvPr/>
        </p:nvSpPr>
        <p:spPr>
          <a:xfrm>
            <a:off x="6345936" y="3520440"/>
            <a:ext cx="5385816" cy="2148840"/>
          </a:xfrm>
          <a:prstGeom prst="rect">
            <a:avLst/>
          </a:prstGeom>
          <a:solidFill>
            <a:srgbClr val="EEF2F7"/>
          </a:solidFill>
          <a:ln w="12700">
            <a:solidFill>
              <a:srgbClr val="C3CFD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TextBox 97"/>
          <p:cNvSpPr txBox="1"/>
          <p:nvPr/>
        </p:nvSpPr>
        <p:spPr>
          <a:xfrm>
            <a:off x="6483096" y="361188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共通アプリの利用者（0）</a:t>
            </a:r>
          </a:p>
        </p:txBody>
      </p:sp>
      <p:sp>
        <p:nvSpPr>
          <p:cNvPr id="99" name="TextBox 98"/>
          <p:cNvSpPr txBox="1"/>
          <p:nvPr/>
        </p:nvSpPr>
        <p:spPr>
          <a:xfrm>
            <a:off x="6483096" y="390448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共通アプリの標準に合わせる</a:t>
            </a:r>
          </a:p>
        </p:txBody>
      </p:sp>
      <p:cxnSp>
        <p:nvCxnSpPr>
          <p:cNvPr id="100" name="Connector 99"/>
          <p:cNvCxnSpPr/>
          <p:nvPr/>
        </p:nvCxnSpPr>
        <p:spPr>
          <a:xfrm>
            <a:off x="868680" y="5715000"/>
            <a:ext cx="10927080" cy="0"/>
          </a:xfrm>
          <a:prstGeom prst="line">
            <a:avLst/>
          </a:prstGeom>
          <a:ln w="15875">
            <a:solidFill>
              <a:srgbClr val="1F2E35"/>
            </a:solidFill>
          </a:ln>
        </p:spPr>
      </p:cxnSp>
      <p:cxnSp>
        <p:nvCxnSpPr>
          <p:cNvPr id="101" name="Connector 100"/>
          <p:cNvCxnSpPr/>
          <p:nvPr/>
        </p:nvCxnSpPr>
        <p:spPr>
          <a:xfrm flipV="1">
            <a:off x="868680" y="1280160"/>
            <a:ext cx="0" cy="4434840"/>
          </a:xfrm>
          <a:prstGeom prst="line">
            <a:avLst/>
          </a:prstGeom>
          <a:ln w="15875">
            <a:solidFill>
              <a:srgbClr val="1F2E35"/>
            </a:solidFill>
          </a:ln>
        </p:spPr>
      </p:cxnSp>
      <p:sp>
        <p:nvSpPr>
          <p:cNvPr id="102" name="Isosceles Triangle 101"/>
          <p:cNvSpPr/>
          <p:nvPr/>
        </p:nvSpPr>
        <p:spPr>
          <a:xfrm rot="5400000">
            <a:off x="11750040" y="5669280"/>
            <a:ext cx="109728" cy="91440"/>
          </a:xfrm>
          <a:prstGeom prst="triangl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Isosceles Triangle 102"/>
          <p:cNvSpPr/>
          <p:nvPr/>
        </p:nvSpPr>
        <p:spPr>
          <a:xfrm>
            <a:off x="822960" y="1234440"/>
            <a:ext cx="91440" cy="109728"/>
          </a:xfrm>
          <a:prstGeom prst="triangl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4572000" y="5760720"/>
            <a:ext cx="3657600" cy="228600"/>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アプリ軸：共通アプリへの依存度　低 → 高</a:t>
            </a:r>
          </a:p>
        </p:txBody>
      </p:sp>
      <p:sp>
        <p:nvSpPr>
          <p:cNvPr id="105" name="TextBox 104"/>
          <p:cNvSpPr txBox="1"/>
          <p:nvPr/>
        </p:nvSpPr>
        <p:spPr>
          <a:xfrm rot="16200000">
            <a:off x="-1005840" y="3429000"/>
            <a:ext cx="3291840" cy="228600"/>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データ軸：データの波及度　低 → 高</a:t>
            </a:r>
          </a:p>
        </p:txBody>
      </p:sp>
      <p:sp>
        <p:nvSpPr>
          <p:cNvPr id="106" name="Oval 105"/>
          <p:cNvSpPr/>
          <p:nvPr/>
        </p:nvSpPr>
        <p:spPr>
          <a:xfrm>
            <a:off x="457200" y="6089904"/>
            <a:ext cx="91440" cy="9144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594360" y="6035040"/>
            <a:ext cx="1828800" cy="201168"/>
          </a:xfrm>
          <a:prstGeom prst="rect">
            <a:avLst/>
          </a:prstGeom>
          <a:noFill/>
        </p:spPr>
        <p:txBody>
          <a:bodyPr wrap="square" lIns="0" rIns="0" tIns="0" bIns="0" anchor="ctr">
            <a:spAutoFit/>
          </a:bodyPr>
          <a:lstStyle/>
          <a:p>
            <a:pPr algn="l"/>
            <a:r>
              <a:rPr sz="700" b="0">
                <a:solidFill>
                  <a:srgbClr val="1F2E35"/>
                </a:solidFill>
                <a:latin typeface="Yu Gothic"/>
                <a:ea typeface="Yu Gothic"/>
                <a:cs typeface="Yu Gothic"/>
              </a:rPr>
              <a:t>Strategy / Foundation</a:t>
            </a:r>
          </a:p>
        </p:txBody>
      </p:sp>
      <p:sp>
        <p:nvSpPr>
          <p:cNvPr id="108" name="Oval 107"/>
          <p:cNvSpPr/>
          <p:nvPr/>
        </p:nvSpPr>
        <p:spPr>
          <a:xfrm>
            <a:off x="2005584" y="6089904"/>
            <a:ext cx="91440" cy="91440"/>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2142744" y="6035040"/>
            <a:ext cx="1828800" cy="201168"/>
          </a:xfrm>
          <a:prstGeom prst="rect">
            <a:avLst/>
          </a:prstGeom>
          <a:noFill/>
        </p:spPr>
        <p:txBody>
          <a:bodyPr wrap="square" lIns="0" rIns="0" tIns="0" bIns="0" anchor="ctr">
            <a:spAutoFit/>
          </a:bodyPr>
          <a:lstStyle/>
          <a:p>
            <a:pPr algn="l"/>
            <a:r>
              <a:rPr sz="700" b="0">
                <a:solidFill>
                  <a:srgbClr val="1F2E35"/>
                </a:solidFill>
                <a:latin typeface="Yu Gothic"/>
                <a:ea typeface="Yu Gothic"/>
                <a:cs typeface="Yu Gothic"/>
              </a:rPr>
              <a:t>Solution Delivery</a:t>
            </a:r>
          </a:p>
        </p:txBody>
      </p:sp>
      <p:sp>
        <p:nvSpPr>
          <p:cNvPr id="110" name="Oval 109"/>
          <p:cNvSpPr/>
          <p:nvPr/>
        </p:nvSpPr>
        <p:spPr>
          <a:xfrm>
            <a:off x="3354832" y="6089904"/>
            <a:ext cx="91440" cy="91440"/>
          </a:xfrm>
          <a:prstGeom prst="ellipse">
            <a:avLst/>
          </a:prstGeom>
          <a:solidFill>
            <a:srgbClr val="1BAF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TextBox 110"/>
          <p:cNvSpPr txBox="1"/>
          <p:nvPr/>
        </p:nvSpPr>
        <p:spPr>
          <a:xfrm>
            <a:off x="3491992" y="6035040"/>
            <a:ext cx="1828800" cy="201168"/>
          </a:xfrm>
          <a:prstGeom prst="rect">
            <a:avLst/>
          </a:prstGeom>
          <a:noFill/>
        </p:spPr>
        <p:txBody>
          <a:bodyPr wrap="square" lIns="0" rIns="0" tIns="0" bIns="0" anchor="ctr">
            <a:spAutoFit/>
          </a:bodyPr>
          <a:lstStyle/>
          <a:p>
            <a:pPr algn="l"/>
            <a:r>
              <a:rPr sz="700" b="0">
                <a:solidFill>
                  <a:srgbClr val="1F2E35"/>
                </a:solidFill>
                <a:latin typeface="Yu Gothic"/>
                <a:ea typeface="Yu Gothic"/>
                <a:cs typeface="Yu Gothic"/>
              </a:rPr>
              <a:t>Service Management &amp; Operations</a:t>
            </a:r>
          </a:p>
        </p:txBody>
      </p:sp>
      <p:sp>
        <p:nvSpPr>
          <p:cNvPr id="112" name="Oval 111"/>
          <p:cNvSpPr/>
          <p:nvPr/>
        </p:nvSpPr>
        <p:spPr>
          <a:xfrm>
            <a:off x="5401056" y="6089904"/>
            <a:ext cx="91440" cy="91440"/>
          </a:xfrm>
          <a:prstGeom prst="ellipse">
            <a:avLst/>
          </a:prstGeom>
          <a:solidFill>
            <a:srgbClr val="4A3A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TextBox 112"/>
          <p:cNvSpPr txBox="1"/>
          <p:nvPr/>
        </p:nvSpPr>
        <p:spPr>
          <a:xfrm>
            <a:off x="5538216" y="6035040"/>
            <a:ext cx="1828800" cy="201168"/>
          </a:xfrm>
          <a:prstGeom prst="rect">
            <a:avLst/>
          </a:prstGeom>
          <a:noFill/>
        </p:spPr>
        <p:txBody>
          <a:bodyPr wrap="square" lIns="0" rIns="0" tIns="0" bIns="0" anchor="ctr">
            <a:spAutoFit/>
          </a:bodyPr>
          <a:lstStyle/>
          <a:p>
            <a:pPr algn="l"/>
            <a:r>
              <a:rPr sz="700" b="0">
                <a:solidFill>
                  <a:srgbClr val="1F2E35"/>
                </a:solidFill>
                <a:latin typeface="Yu Gothic"/>
                <a:ea typeface="Yu Gothic"/>
                <a:cs typeface="Yu Gothic"/>
              </a:rPr>
              <a:t>Platform &amp; Infrastructure</a:t>
            </a:r>
          </a:p>
        </p:txBody>
      </p:sp>
      <p:sp>
        <p:nvSpPr>
          <p:cNvPr id="114" name="Oval 113"/>
          <p:cNvSpPr/>
          <p:nvPr/>
        </p:nvSpPr>
        <p:spPr>
          <a:xfrm>
            <a:off x="7148576" y="6089904"/>
            <a:ext cx="91440" cy="91440"/>
          </a:xfrm>
          <a:prstGeom prst="ellipse">
            <a:avLst/>
          </a:prstGeom>
          <a:solidFill>
            <a:srgbClr val="EB68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7285736" y="6035040"/>
            <a:ext cx="1828800" cy="201168"/>
          </a:xfrm>
          <a:prstGeom prst="rect">
            <a:avLst/>
          </a:prstGeom>
          <a:noFill/>
        </p:spPr>
        <p:txBody>
          <a:bodyPr wrap="square" lIns="0" rIns="0" tIns="0" bIns="0" anchor="ctr">
            <a:spAutoFit/>
          </a:bodyPr>
          <a:lstStyle/>
          <a:p>
            <a:pPr algn="l"/>
            <a:r>
              <a:rPr sz="700" b="0">
                <a:solidFill>
                  <a:srgbClr val="1F2E35"/>
                </a:solidFill>
                <a:latin typeface="Yu Gothic"/>
                <a:ea typeface="Yu Gothic"/>
                <a:cs typeface="Yu Gothic"/>
              </a:rPr>
              <a:t>Cybersecurity</a:t>
            </a:r>
          </a:p>
        </p:txBody>
      </p:sp>
      <p:sp>
        <p:nvSpPr>
          <p:cNvPr id="116" name="Oval 115"/>
          <p:cNvSpPr/>
          <p:nvPr/>
        </p:nvSpPr>
        <p:spPr>
          <a:xfrm>
            <a:off x="8298688" y="6089904"/>
            <a:ext cx="91440" cy="91440"/>
          </a:xfrm>
          <a:prstGeom prst="ellipse">
            <a:avLst/>
          </a:prstGeom>
          <a:solidFill>
            <a:srgbClr val="B83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8435848" y="6035040"/>
            <a:ext cx="1828800" cy="201168"/>
          </a:xfrm>
          <a:prstGeom prst="rect">
            <a:avLst/>
          </a:prstGeom>
          <a:noFill/>
        </p:spPr>
        <p:txBody>
          <a:bodyPr wrap="square" lIns="0" rIns="0" tIns="0" bIns="0" anchor="ctr">
            <a:spAutoFit/>
          </a:bodyPr>
          <a:lstStyle/>
          <a:p>
            <a:pPr algn="l"/>
            <a:r>
              <a:rPr sz="700" b="0">
                <a:solidFill>
                  <a:srgbClr val="1F2E35"/>
                </a:solidFill>
                <a:latin typeface="Yu Gothic"/>
                <a:ea typeface="Yu Gothic"/>
                <a:cs typeface="Yu Gothic"/>
              </a:rPr>
              <a:t>Data &amp; GxP Compliance</a:t>
            </a:r>
          </a:p>
        </p:txBody>
      </p:sp>
      <p:sp>
        <p:nvSpPr>
          <p:cNvPr id="118" name="TextBox 117"/>
          <p:cNvSpPr txBox="1"/>
          <p:nvPr/>
        </p:nvSpPr>
        <p:spPr>
          <a:xfrm>
            <a:off x="457200" y="6291072"/>
            <a:ext cx="11274552" cy="411480"/>
          </a:xfrm>
          <a:prstGeom prst="rect">
            <a:avLst/>
          </a:prstGeom>
          <a:noFill/>
        </p:spPr>
        <p:txBody>
          <a:bodyPr wrap="square" lIns="0" rIns="0" tIns="0" bIns="0" anchor="t">
            <a:spAutoFit/>
          </a:bodyPr>
          <a:lstStyle/>
          <a:p>
            <a:pPr algn="l"/>
            <a:r>
              <a:rPr sz="750" b="0">
                <a:solidFill>
                  <a:srgbClr val="5B6B70"/>
                </a:solidFill>
                <a:latin typeface="Yu Gothic"/>
                <a:ea typeface="Yu Gothic"/>
                <a:cs typeface="Yu Gothic"/>
              </a:rPr>
              <a:t>対象はケイパビリティL2（28件）。アプリ軸＝そのL2を主に支える（●）アプリが、それぞれ何件のL2を支えているかの合計（高いほど、多くの能力と同じアプリを共有）。データ軸＝そのL2が作成・更新（C）する情報を、利用（R）する他のL2の数の合計（高いほど、生んだデータが広く使われる）。境界はそれぞれの中央値（アプリ2、データ10.5）で、中央値より大きいものを「高」とし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t">
            <a:spAutoFit/>
          </a:bodyPr>
          <a:lstStyle/>
          <a:p>
            <a:pPr algn="l"/>
            <a:r>
              <a:rPr sz="3000" b="1">
                <a:solidFill>
                  <a:srgbClr val="1F2E35"/>
                </a:solidFill>
                <a:latin typeface="Yu Gothic"/>
                <a:ea typeface="Yu Gothic"/>
                <a:cs typeface="Yu Gothic"/>
              </a:rPr>
              <a:t>免責事項</a:t>
            </a:r>
          </a:p>
        </p:txBody>
      </p:sp>
      <p:sp>
        <p:nvSpPr>
          <p:cNvPr id="3" name="TextBox 2"/>
          <p:cNvSpPr txBox="1"/>
          <p:nvPr/>
        </p:nvSpPr>
        <p:spPr>
          <a:xfrm>
            <a:off x="457200" y="960120"/>
            <a:ext cx="11247120" cy="365760"/>
          </a:xfrm>
          <a:prstGeom prst="rect">
            <a:avLst/>
          </a:prstGeom>
          <a:noFill/>
        </p:spPr>
        <p:txBody>
          <a:bodyPr wrap="square" lIns="0" rIns="0" tIns="0" bIns="0" anchor="t">
            <a:spAutoFit/>
          </a:bodyPr>
          <a:lstStyle/>
          <a:p>
            <a:pPr algn="l"/>
            <a:r>
              <a:rPr sz="1400" b="0">
                <a:solidFill>
                  <a:srgbClr val="5B6B70"/>
                </a:solidFill>
                <a:latin typeface="Yu Gothic"/>
                <a:ea typeface="Yu Gothic"/>
                <a:cs typeface="Yu Gothic"/>
              </a:rPr>
              <a:t>本資料は、一般に公開され入手可能な情報をもとに、生成AIを用いて作成したものです。ご利用にあたっては、次の点にご留意ください。</a:t>
            </a:r>
          </a:p>
        </p:txBody>
      </p:sp>
      <p:sp>
        <p:nvSpPr>
          <p:cNvPr id="4" name="Oval 3"/>
          <p:cNvSpPr/>
          <p:nvPr/>
        </p:nvSpPr>
        <p:spPr>
          <a:xfrm>
            <a:off x="457200" y="1609344"/>
            <a:ext cx="274320" cy="27432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57200" y="1609344"/>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6" name="TextBox 5"/>
          <p:cNvSpPr txBox="1"/>
          <p:nvPr/>
        </p:nvSpPr>
        <p:spPr>
          <a:xfrm>
            <a:off x="868680" y="1591056"/>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情報源</a:t>
            </a:r>
          </a:p>
        </p:txBody>
      </p:sp>
      <p:sp>
        <p:nvSpPr>
          <p:cNvPr id="7" name="TextBox 6"/>
          <p:cNvSpPr txBox="1"/>
          <p:nvPr/>
        </p:nvSpPr>
        <p:spPr>
          <a:xfrm>
            <a:off x="3108960" y="1481328"/>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は、一般に公開されている情報（官公庁・業界団体の公表資料、標準フレームワーク〔IT4IT・GAMP〕の公開情報、法律事務所等の解説記事など）のみに基づいて作成しています。特定の企業・組織の非公開情報、内部資料は含みません。</a:t>
            </a:r>
          </a:p>
        </p:txBody>
      </p:sp>
      <p:cxnSp>
        <p:nvCxnSpPr>
          <p:cNvPr id="8" name="Connector 7"/>
          <p:cNvCxnSpPr/>
          <p:nvPr/>
        </p:nvCxnSpPr>
        <p:spPr>
          <a:xfrm>
            <a:off x="457200" y="2176272"/>
            <a:ext cx="11274552" cy="0"/>
          </a:xfrm>
          <a:prstGeom prst="line">
            <a:avLst/>
          </a:prstGeom>
          <a:ln w="9525">
            <a:solidFill>
              <a:srgbClr val="D5DDDF"/>
            </a:solidFill>
          </a:ln>
        </p:spPr>
      </p:cxnSp>
      <p:sp>
        <p:nvSpPr>
          <p:cNvPr id="9" name="Oval 8"/>
          <p:cNvSpPr/>
          <p:nvPr/>
        </p:nvSpPr>
        <p:spPr>
          <a:xfrm>
            <a:off x="457200" y="2286000"/>
            <a:ext cx="274320" cy="27432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57200" y="2286000"/>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11" name="TextBox 10"/>
          <p:cNvSpPr txBox="1"/>
          <p:nvPr/>
        </p:nvSpPr>
        <p:spPr>
          <a:xfrm>
            <a:off x="868680" y="2267712"/>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生成AIの利用</a:t>
            </a:r>
          </a:p>
        </p:txBody>
      </p:sp>
      <p:sp>
        <p:nvSpPr>
          <p:cNvPr id="12" name="TextBox 11"/>
          <p:cNvSpPr txBox="1"/>
          <p:nvPr/>
        </p:nvSpPr>
        <p:spPr>
          <a:xfrm>
            <a:off x="3108960" y="2157984"/>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構成・分析・図表の作成に生成AIを使用しています。生成AIの出力には、事実誤認、不正確な記述、情報の欠落が含まれる可能性があります。</a:t>
            </a:r>
          </a:p>
        </p:txBody>
      </p:sp>
      <p:cxnSp>
        <p:nvCxnSpPr>
          <p:cNvPr id="13" name="Connector 12"/>
          <p:cNvCxnSpPr/>
          <p:nvPr/>
        </p:nvCxnSpPr>
        <p:spPr>
          <a:xfrm>
            <a:off x="457200" y="2852928"/>
            <a:ext cx="11274552" cy="0"/>
          </a:xfrm>
          <a:prstGeom prst="line">
            <a:avLst/>
          </a:prstGeom>
          <a:ln w="9525">
            <a:solidFill>
              <a:srgbClr val="D5DDDF"/>
            </a:solidFill>
          </a:ln>
        </p:spPr>
      </p:cxnSp>
      <p:sp>
        <p:nvSpPr>
          <p:cNvPr id="14" name="Oval 13"/>
          <p:cNvSpPr/>
          <p:nvPr/>
        </p:nvSpPr>
        <p:spPr>
          <a:xfrm>
            <a:off x="457200" y="2962656"/>
            <a:ext cx="274320" cy="27432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7200" y="296265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16" name="TextBox 15"/>
          <p:cNvSpPr txBox="1"/>
          <p:nvPr/>
        </p:nvSpPr>
        <p:spPr>
          <a:xfrm>
            <a:off x="868680" y="2944368"/>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正確性・完全性</a:t>
            </a:r>
          </a:p>
        </p:txBody>
      </p:sp>
      <p:sp>
        <p:nvSpPr>
          <p:cNvPr id="17" name="TextBox 16"/>
          <p:cNvSpPr txBox="1"/>
          <p:nvPr/>
        </p:nvSpPr>
        <p:spPr>
          <a:xfrm>
            <a:off x="3108960" y="2834640"/>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記載内容の正確性、完全性、最新性、特定目的への適合性について、いかなる保証もいたしません。規制・法令の状況は作成時点（2026年9月）のものであり、その後変更される可能性があります（改正個人情報保護法の施行など）。</a:t>
            </a:r>
          </a:p>
        </p:txBody>
      </p:sp>
      <p:cxnSp>
        <p:nvCxnSpPr>
          <p:cNvPr id="18" name="Connector 17"/>
          <p:cNvCxnSpPr/>
          <p:nvPr/>
        </p:nvCxnSpPr>
        <p:spPr>
          <a:xfrm>
            <a:off x="457200" y="3529584"/>
            <a:ext cx="11274552" cy="0"/>
          </a:xfrm>
          <a:prstGeom prst="line">
            <a:avLst/>
          </a:prstGeom>
          <a:ln w="9525">
            <a:solidFill>
              <a:srgbClr val="D5DDDF"/>
            </a:solidFill>
          </a:ln>
        </p:spPr>
      </p:cxnSp>
      <p:sp>
        <p:nvSpPr>
          <p:cNvPr id="19" name="Oval 18"/>
          <p:cNvSpPr/>
          <p:nvPr/>
        </p:nvSpPr>
        <p:spPr>
          <a:xfrm>
            <a:off x="457200" y="3639311"/>
            <a:ext cx="274320" cy="27432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639311"/>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4</a:t>
            </a:r>
          </a:p>
        </p:txBody>
      </p:sp>
      <p:sp>
        <p:nvSpPr>
          <p:cNvPr id="21" name="TextBox 20"/>
          <p:cNvSpPr txBox="1"/>
          <p:nvPr/>
        </p:nvSpPr>
        <p:spPr>
          <a:xfrm>
            <a:off x="868680" y="3621023"/>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仮定に基づくモデル</a:t>
            </a:r>
          </a:p>
        </p:txBody>
      </p:sp>
      <p:sp>
        <p:nvSpPr>
          <p:cNvPr id="22" name="TextBox 21"/>
          <p:cNvSpPr txBox="1"/>
          <p:nvPr/>
        </p:nvSpPr>
        <p:spPr>
          <a:xfrm>
            <a:off x="3108960" y="3511295"/>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バリューストリーム、ケイパビリティ、アプリケーション、データの各マップと考察は、「日本の製薬会社が、内製と外部委託を併用してITを管理する」という仮定に基づく参照モデルです。特定の企業の実態を表すものではありません。</a:t>
            </a:r>
          </a:p>
        </p:txBody>
      </p:sp>
      <p:cxnSp>
        <p:nvCxnSpPr>
          <p:cNvPr id="23" name="Connector 22"/>
          <p:cNvCxnSpPr/>
          <p:nvPr/>
        </p:nvCxnSpPr>
        <p:spPr>
          <a:xfrm>
            <a:off x="457200" y="4206240"/>
            <a:ext cx="11274552" cy="0"/>
          </a:xfrm>
          <a:prstGeom prst="line">
            <a:avLst/>
          </a:prstGeom>
          <a:ln w="9525">
            <a:solidFill>
              <a:srgbClr val="D5DDDF"/>
            </a:solidFill>
          </a:ln>
        </p:spPr>
      </p:cxnSp>
      <p:sp>
        <p:nvSpPr>
          <p:cNvPr id="24" name="Oval 23"/>
          <p:cNvSpPr/>
          <p:nvPr/>
        </p:nvSpPr>
        <p:spPr>
          <a:xfrm>
            <a:off x="457200" y="4315968"/>
            <a:ext cx="274320" cy="27432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7200" y="4315968"/>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5</a:t>
            </a:r>
          </a:p>
        </p:txBody>
      </p:sp>
      <p:sp>
        <p:nvSpPr>
          <p:cNvPr id="26" name="TextBox 25"/>
          <p:cNvSpPr txBox="1"/>
          <p:nvPr/>
        </p:nvSpPr>
        <p:spPr>
          <a:xfrm>
            <a:off x="868680" y="4297680"/>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専門的助言ではない</a:t>
            </a:r>
          </a:p>
        </p:txBody>
      </p:sp>
      <p:sp>
        <p:nvSpPr>
          <p:cNvPr id="27" name="TextBox 26"/>
          <p:cNvSpPr txBox="1"/>
          <p:nvPr/>
        </p:nvSpPr>
        <p:spPr>
          <a:xfrm>
            <a:off x="3108960" y="4187952"/>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本資料は、法務、薬事・品質保証、会計・監査、その他の専門的助言を提供するものではありません。意思決定にあたっては、一次情報の確認と、必要に応じた専門家への相談を行ってください。</a:t>
            </a:r>
          </a:p>
        </p:txBody>
      </p:sp>
      <p:cxnSp>
        <p:nvCxnSpPr>
          <p:cNvPr id="28" name="Connector 27"/>
          <p:cNvCxnSpPr/>
          <p:nvPr/>
        </p:nvCxnSpPr>
        <p:spPr>
          <a:xfrm>
            <a:off x="457200" y="4882896"/>
            <a:ext cx="11274552" cy="0"/>
          </a:xfrm>
          <a:prstGeom prst="line">
            <a:avLst/>
          </a:prstGeom>
          <a:ln w="9525">
            <a:solidFill>
              <a:srgbClr val="D5DDDF"/>
            </a:solidFill>
          </a:ln>
        </p:spPr>
      </p:cxnSp>
      <p:sp>
        <p:nvSpPr>
          <p:cNvPr id="29" name="Oval 28"/>
          <p:cNvSpPr/>
          <p:nvPr/>
        </p:nvSpPr>
        <p:spPr>
          <a:xfrm>
            <a:off x="457200" y="4992624"/>
            <a:ext cx="274320" cy="27432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57200" y="4992624"/>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6</a:t>
            </a:r>
          </a:p>
        </p:txBody>
      </p:sp>
      <p:sp>
        <p:nvSpPr>
          <p:cNvPr id="31" name="TextBox 30"/>
          <p:cNvSpPr txBox="1"/>
          <p:nvPr/>
        </p:nvSpPr>
        <p:spPr>
          <a:xfrm>
            <a:off x="868680" y="4974336"/>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責任の限定</a:t>
            </a:r>
          </a:p>
        </p:txBody>
      </p:sp>
      <p:sp>
        <p:nvSpPr>
          <p:cNvPr id="32" name="TextBox 31"/>
          <p:cNvSpPr txBox="1"/>
          <p:nvPr/>
        </p:nvSpPr>
        <p:spPr>
          <a:xfrm>
            <a:off x="3108960" y="4864608"/>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本資料の利用、または利用できなかったことにより生じたいかなる損害についても、作成者は責任を負いません。</a:t>
            </a:r>
          </a:p>
        </p:txBody>
      </p:sp>
      <p:cxnSp>
        <p:nvCxnSpPr>
          <p:cNvPr id="33" name="Connector 32"/>
          <p:cNvCxnSpPr/>
          <p:nvPr/>
        </p:nvCxnSpPr>
        <p:spPr>
          <a:xfrm>
            <a:off x="457200" y="5559552"/>
            <a:ext cx="11274552" cy="0"/>
          </a:xfrm>
          <a:prstGeom prst="line">
            <a:avLst/>
          </a:prstGeom>
          <a:ln w="9525">
            <a:solidFill>
              <a:srgbClr val="D5DDDF"/>
            </a:solidFill>
          </a:ln>
        </p:spPr>
      </p:cxnSp>
      <p:sp>
        <p:nvSpPr>
          <p:cNvPr id="34" name="Oval 33"/>
          <p:cNvSpPr/>
          <p:nvPr/>
        </p:nvSpPr>
        <p:spPr>
          <a:xfrm>
            <a:off x="457200" y="5669279"/>
            <a:ext cx="274320" cy="274320"/>
          </a:xfrm>
          <a:prstGeom prst="ellipse">
            <a:avLst/>
          </a:prstGeom>
          <a:solidFill>
            <a:srgbClr val="1F2E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57200" y="56692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7</a:t>
            </a:r>
          </a:p>
        </p:txBody>
      </p:sp>
      <p:sp>
        <p:nvSpPr>
          <p:cNvPr id="36" name="TextBox 35"/>
          <p:cNvSpPr txBox="1"/>
          <p:nvPr/>
        </p:nvSpPr>
        <p:spPr>
          <a:xfrm>
            <a:off x="868680" y="5650992"/>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名称の扱い</a:t>
            </a:r>
          </a:p>
        </p:txBody>
      </p:sp>
      <p:sp>
        <p:nvSpPr>
          <p:cNvPr id="37" name="TextBox 36"/>
          <p:cNvSpPr txBox="1"/>
          <p:nvPr/>
        </p:nvSpPr>
        <p:spPr>
          <a:xfrm>
            <a:off x="3108960" y="5541264"/>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本資料に記載したシステムの種類の名称や略称（ITSM、CMDB、PPM、eDMSなど）は一般名称として使用しており、特定の製品やベンダーを推奨・評価するものではありません。IT4IT™はThe Open Groupの商標です。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