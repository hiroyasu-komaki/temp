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前提とデータソースを確認したうえで、第1部でバリューストリーム、第2部でケイパビリティマップ、第3部でアプリケーションとデータのマップを示す。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前提が変わる場合（海外拠点、職務型の人事制度など）は、日本の制度・雇用慣行に固有の項目（★）と法令名を見直す必要がある。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人員計画・採用：事業計画から必要な人材を見定め、候補者を集めて公正に選考し、内定の承諾を得るまでの段階</a:t>
            </a:r>
          </a:p>
          <a:p>
            <a:r>
              <a:t>入社・オンボーディング：雇用契約と入社手続きを完了し、受入れ・研修・定着支援を経て本採用に至るまでの段階</a:t>
            </a:r>
          </a:p>
          <a:p>
            <a:r>
              <a:t>人材育成・能力開発：求める人材像に向けて育成を計画し、研修・学習とスキル・資格の習得、キャリア開発を進める段階</a:t>
            </a:r>
          </a:p>
          <a:p>
            <a:r>
              <a:t>評価・処遇：目標と評価で成果に報い、給与・社会保険・福利厚生を提供し、労働時間・健康・職場環境を管理する段階（在籍中は毎年繰り返す）</a:t>
            </a:r>
          </a:p>
          <a:p>
            <a:r>
              <a:t>キャリア・配置：人材を見極め、異動・昇格・後継者育成を通じて最適に配置し、多様な人材の活躍を進める段階</a:t>
            </a:r>
          </a:p>
          <a:p>
            <a:r>
              <a:t>退職・オフボーディング：退職の申出・定年・契約満了などから、手続き・精算・引継ぎを行い、雇用関係を円満に終えるまでの段階</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人事戦略・組織設計（戦略）：経営戦略を人と組織の方針に落とし込み、要員・人件費・組織・等級の枠組みを定める能力</a:t>
            </a:r>
          </a:p>
          <a:p>
            <a:r>
              <a:t>タレント獲得（コア）：必要な人材を惹きつけ、公正に選考して採用する能力</a:t>
            </a:r>
          </a:p>
          <a:p>
            <a:r>
              <a:t>入社・雇用管理（コア）：雇用契約を結び、入社手続きを行い、従業員の情報を正確に管理する能力</a:t>
            </a:r>
          </a:p>
          <a:p>
            <a:r>
              <a:t>人材育成・能力開発（コア）：従業員が必要な知識・スキルを身につけ、自律的にキャリアを築けるよう支援する能力</a:t>
            </a:r>
          </a:p>
          <a:p>
            <a:r>
              <a:t>パフォーマンス・報酬管理（コア）：成果と行動を評価し、公正に報い、給与と社会保険・福利厚生を確実に提供する能力</a:t>
            </a:r>
          </a:p>
          <a:p>
            <a:r>
              <a:t>就業・労務管理（コア）：労働時間・休暇・健康・安全・労使関係を適切に管理し、安心して働ける環境を整える能力</a:t>
            </a:r>
          </a:p>
          <a:p>
            <a:r>
              <a:t>タレントマネジメント・配置（コア）：人材を見極めて最適に配置し、次の担い手と多様な人材の活躍を実現する能力</a:t>
            </a:r>
          </a:p>
          <a:p>
            <a:r>
              <a:t>退職・雇用終了（コア）：退職の手続きを確実に行い、定年後の雇用とオフボーディングを管理する能力</a:t>
            </a:r>
          </a:p>
          <a:p>
            <a:r>
              <a:t>人事基盤（支援）：人事データ・人事サービス・人事情報の保護の基盤を提供する能力</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ケイパビリティL1（9件）×VS L2（6段階）。●の大きさは主の関係の件数、○は支援のみ。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人事管理（コアHR）（HRIS／人事マスタ）：従業員・組織・職務・発令の履歴を一元管理する人事の基幹システム</a:t>
            </a:r>
          </a:p>
          <a:p>
            <a:r>
              <a:t>採用管理（ATS）：求人の公開、応募者の管理、選考の進捗・評価、内定までを管理する</a:t>
            </a:r>
          </a:p>
          <a:p>
            <a:r>
              <a:t>適性検査・オンライン面接（アセスメントツール）：適性検査・Web面接・録画面接を行い、結果を採用管理へ渡す</a:t>
            </a:r>
          </a:p>
          <a:p>
            <a:r>
              <a:t>労務手続き（労務管理クラウド（電子申請））：入退社・社会保険・雇用保険の手続きと、行政への電子申請を行う</a:t>
            </a:r>
          </a:p>
          <a:p>
            <a:r>
              <a:t>電子契約（電子契約サービス）：雇用契約・労働条件通知書・誓約書などを電子で締結・交付・保管する</a:t>
            </a:r>
          </a:p>
          <a:p>
            <a:r>
              <a:t>マイナンバー管理（マイナンバー管理）：マイナンバーの収集・本人確認・保管・利用・廃棄を管理する</a:t>
            </a:r>
          </a:p>
          <a:p>
            <a:r>
              <a:t>学習管理（LMS）：研修・eラーニングの計画・受講・修了の記録を管理する</a:t>
            </a:r>
          </a:p>
          <a:p>
            <a:r>
              <a:t>タレントマネジメント（TMS）：スキル・キャリア希望・タレントレビュー・後継者計画・昇格を管理する</a:t>
            </a:r>
          </a:p>
          <a:p>
            <a:r>
              <a:t>目標・評価管理（パフォーマンス管理）：目標設定・1on1・評価・調整・フィードバックを管理する</a:t>
            </a:r>
          </a:p>
          <a:p>
            <a:r>
              <a:t>勤怠管理（勤怠管理システム）：打刻・シフト・労働時間・時間外労働の上限・休暇を管理する</a:t>
            </a:r>
          </a:p>
          <a:p>
            <a:r>
              <a:t>給与計算（給与計算システム（年末調整を含む））：給与・賞与の計算、明細、賃金台帳、年末調整・住民税を管理する</a:t>
            </a:r>
          </a:p>
          <a:p>
            <a:r>
              <a:t>健康管理（健康管理システム）：健康診断・ストレスチェック・面接指導・就業判定を管理する</a:t>
            </a:r>
          </a:p>
          <a:p>
            <a:r>
              <a:t>福利厚生（福利厚生プラットフォーム）：福利厚生メニューの提供と利用を管理する</a:t>
            </a:r>
          </a:p>
          <a:p>
            <a:r>
              <a:t>エンゲージメントサーベイ（サーベイツール）：エンゲージメント・パルスサーベイを実施し、結果を分析する</a:t>
            </a:r>
          </a:p>
          <a:p>
            <a:r>
              <a:t>人事ポータル・問い合わせ管理（HRサービスデスク）：人事情報の提供、FAQ、問い合わせ・各種申請の受付を行う</a:t>
            </a:r>
          </a:p>
          <a:p>
            <a:r>
              <a:t>内部通報・相談管理（通報・相談窓口システム）：相談・通報の受付、調査、対応の記録を秘密を守って管理する</a:t>
            </a:r>
          </a:p>
          <a:p>
            <a:r>
              <a:t>要員計画・人件費シミュレーション（ワークフォースプランニング）：要員計画・人件費予算を立て、シナリオを比較する</a:t>
            </a:r>
          </a:p>
          <a:p>
            <a:r>
              <a:t>ピープルアナリティクス（人事DWH／BI）：人事データを集約し、分析・可視化・定型レポートを提供する</a:t>
            </a:r>
          </a:p>
          <a:p>
            <a:r>
              <a:t>ID・アカウント管理（IAM）：人事の発令に連動して、アカウントと権限を発行・変更・停止する</a:t>
            </a:r>
          </a:p>
          <a:p>
            <a:r>
              <a:t>会計（ERP）（ERP）：人件費の会計計上、予算と実績の管理を行う</a:t>
            </a:r>
          </a:p>
          <a:p>
            <a:r>
              <a:t>規程・文書管理（規程管理システム）：就業規則・人事規程の版と、承認・周知の記録を管理する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人事管理（コアHR）（HRIS／人事マスタ）：人事戦略・組織設計、入社・雇用管理、退職・雇用終了</a:t>
            </a:r>
          </a:p>
          <a:p>
            <a:r>
              <a:t>労務手続き（労務管理クラウド（電子申請））：入社・雇用管理、パフォーマンス・報酬管理、退職・雇用終了</a:t>
            </a:r>
          </a:p>
          <a:p>
            <a:r>
              <a:t>タレントマネジメント（TMS）：人材育成・能力開発、タレントマネジメント・配置</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組織マスタ：組織コード・組織名・階層・責任者。組織改編の履歴を含む</a:t>
            </a:r>
          </a:p>
          <a:p>
            <a:r>
              <a:t>職務・ポジション：職務記述書（役割・責任・要件）とポジション（定員・空席）</a:t>
            </a:r>
          </a:p>
          <a:p>
            <a:r>
              <a:t>等級制度：等級の定義と、等級ごとの期待役割・報酬・評価との対応</a:t>
            </a:r>
          </a:p>
          <a:p>
            <a:r>
              <a:t>就業規則・人事規程：就業規則・賃金規程・育児介護休業規程などの規程と、届出・周知の記録</a:t>
            </a:r>
          </a:p>
          <a:p>
            <a:r>
              <a:t>人事戦略・人的資本KPI：人事戦略、重点施策、人的資本の指標と目標</a:t>
            </a:r>
          </a:p>
          <a:p>
            <a:r>
              <a:t>人的資本開示情報：有価証券報告書などで開示する人的資本の方針・指標・実績</a:t>
            </a:r>
          </a:p>
          <a:p>
            <a:r>
              <a:t>要員計画：職種・等級・雇用形態別の必要人員と過不足、充足方針</a:t>
            </a:r>
          </a:p>
          <a:p>
            <a:r>
              <a:t>人件費予算：部門別・費目別の人件費の予算</a:t>
            </a:r>
          </a:p>
          <a:p>
            <a:r>
              <a:t>人件費実績：給与計算の結果を会計に計上した人件費の実績</a:t>
            </a:r>
          </a:p>
          <a:p>
            <a:r>
              <a:t>目標：期初に合意した目標と、期中の進捗・フィードバック</a:t>
            </a:r>
          </a:p>
          <a:p>
            <a:r>
              <a:t>人事評価結果：自己評価・一次／二次評価・調整後の確定評価とフィードバック</a:t>
            </a:r>
          </a:p>
          <a:p>
            <a:r>
              <a:t>報酬テーブル：賃金テーブル、手当・賞与・退職金の算定方式</a:t>
            </a:r>
          </a:p>
          <a:p>
            <a:r>
              <a:t>報酬市場データ：報酬サーベイ、地域別最低賃金などの外部データ</a:t>
            </a:r>
          </a:p>
          <a:p>
            <a:r>
              <a:t>昇給・賞与決定：昇給・賞与の原資と、個人別の決定額</a:t>
            </a:r>
          </a:p>
          <a:p>
            <a:r>
              <a:t>給与・賞与計算結果：支給・控除の明細と振込データ（最終給与・退職金を含む）</a:t>
            </a:r>
          </a:p>
          <a:p>
            <a:r>
              <a:t>賃金台帳：法定の賃金台帳（賃金計算期間・労働日数・労働時間・各支給控除額）</a:t>
            </a:r>
          </a:p>
          <a:p>
            <a:r>
              <a:t>源泉徴収・年末調整情報：扶養控除等申告書・保険料控除申告書、年末調整の結果、源泉徴収票・法定調書</a:t>
            </a:r>
          </a:p>
          <a:p>
            <a:r>
              <a:t>住民税特別徴収情報：市区町村からの特別徴収税額の通知と、納付・異動届</a:t>
            </a:r>
          </a:p>
          <a:p>
            <a:r>
              <a:t>社会保険・労働保険の届出：算定基礎届・月額変更届・賞与支払届・労働保険の年度更新</a:t>
            </a:r>
          </a:p>
          <a:p>
            <a:r>
              <a:t>福利厚生利用情報：福利厚生制度の加入・利用の記録</a:t>
            </a:r>
          </a:p>
          <a:p>
            <a:r>
              <a:t>退職給付情報：退職金の算定基礎、企業年金の加入・掛金・給付</a:t>
            </a:r>
          </a:p>
          <a:p>
            <a:r>
              <a:t>勤務予定・勤怠記録：勤務予定・シフト、出退勤、労働時間・時間外労働（出勤簿）</a:t>
            </a:r>
          </a:p>
          <a:p>
            <a:r>
              <a:t>休暇・休業記録：年次有給休暇の付与・取得（管理簿）、育児・介護休業、休職</a:t>
            </a:r>
          </a:p>
          <a:p>
            <a:r>
              <a:t>労使協定・労使協議記録：36協定などの労使協定、労働協約、労使協議の記録</a:t>
            </a:r>
          </a:p>
          <a:p>
            <a:r>
              <a:t>健康診断・面接指導記録：健康診断の結果、医師の意見、長時間労働者などの面接指導の記録</a:t>
            </a:r>
          </a:p>
          <a:p>
            <a:r>
              <a:t>ストレスチェック結果：ストレスチェックの個人結果（本人の同意なく会社は見られない）と集団分析</a:t>
            </a:r>
          </a:p>
          <a:p>
            <a:r>
              <a:t>労働災害記録：労働災害の内容・原因・再発防止策、労働者死傷病報告</a:t>
            </a:r>
          </a:p>
          <a:p>
            <a:r>
              <a:t>相談・ハラスメント事案記録：相談・通報の内容、調査、措置、再発防止（懲戒の記録を含む）</a:t>
            </a:r>
          </a:p>
          <a:p>
            <a:r>
              <a:t>エンゲージメント調査結果：エンゲージメント・入社後サーベイの結果と改善計画</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採用計画：新卒・経験者別の採用人数・時期・チャネル・予算</a:t>
            </a:r>
          </a:p>
          <a:p>
            <a:r>
              <a:t>求人票：募集職種・業務内容・労働条件（業務・就業場所の変更の範囲を含む）</a:t>
            </a:r>
          </a:p>
          <a:p>
            <a:r>
              <a:t>応募者情報：応募者の連絡先・学歴・職歴・選考状況。不採用後は返却・廃棄の対象</a:t>
            </a:r>
          </a:p>
          <a:p>
            <a:r>
              <a:t>選考記録：書類選考・適性検査・面接の評価と採否の判定</a:t>
            </a:r>
          </a:p>
          <a:p>
            <a:r>
              <a:t>内定・オファー：処遇条件・入社日・労働条件の明示内容と、内定の承諾状況</a:t>
            </a:r>
          </a:p>
          <a:p>
            <a:r>
              <a:t>採用チャネル実績：チャネル別の応募数・内定数・入社数・コスト</a:t>
            </a:r>
          </a:p>
          <a:p>
            <a:r>
              <a:t>従業員マスタ：社員番号・氏名・所属・等級・雇用区分・入社日など従業員の基本情報</a:t>
            </a:r>
          </a:p>
          <a:p>
            <a:r>
              <a:t>雇用契約：労働条件通知書・雇用契約書。有期契約の期間・更新、出向契約を含む</a:t>
            </a:r>
          </a:p>
          <a:p>
            <a:r>
              <a:t>入社書類：誓約書・身元保証書・扶養情報・通勤経路・振込口座などの届出</a:t>
            </a:r>
          </a:p>
          <a:p>
            <a:r>
              <a:t>マイナンバー：従業員と扶養家族の個人番号と本人確認の記録</a:t>
            </a:r>
          </a:p>
          <a:p>
            <a:r>
              <a:t>労働者名簿：法定の労働者名簿（氏名・生年月日・履歴・雇入れ・退職等）</a:t>
            </a:r>
          </a:p>
          <a:p>
            <a:r>
              <a:t>社会保険・雇用保険の資格情報：健康保険・厚生年金・雇用保険の資格取得・喪失、標準報酬月額、被扶養者</a:t>
            </a:r>
          </a:p>
          <a:p>
            <a:r>
              <a:t>異動・発令履歴：入社・配属・異動・昇格・出向などの発令とその履歴</a:t>
            </a:r>
          </a:p>
          <a:p>
            <a:r>
              <a:t>オンボーディング計画：入社者ごとの受入れ計画・メンター・面談記録・試用期間の評価</a:t>
            </a:r>
          </a:p>
          <a:p>
            <a:r>
              <a:t>貸与物・アカウント記録：PC・社員証などの貸与物と、システムのアカウント・権限</a:t>
            </a:r>
          </a:p>
          <a:p>
            <a:r>
              <a:t>育成体系・研修カタログ：育成体系、研修の一覧・対象者・内容、年間研修計画</a:t>
            </a:r>
          </a:p>
          <a:p>
            <a:r>
              <a:t>受講記録：研修・eラーニングの受講・修了・テストの記録（法定教育を含む）</a:t>
            </a:r>
          </a:p>
          <a:p>
            <a:r>
              <a:t>スキル・資格情報：スキル体系と従業員のスキル評価、保有資格・有効期限・法定の選任</a:t>
            </a:r>
          </a:p>
          <a:p>
            <a:r>
              <a:t>キャリア面談記録：キャリアの希望、自己申告、個人別育成計画</a:t>
            </a:r>
          </a:p>
          <a:p>
            <a:r>
              <a:t>タレントレビュー結果：人材の見極め（ポテンシャル・準備度）と育成方針</a:t>
            </a:r>
          </a:p>
          <a:p>
            <a:r>
              <a:t>異動計画：定期異動・社内公募・出向の計画と調整の状況</a:t>
            </a:r>
          </a:p>
          <a:p>
            <a:r>
              <a:t>昇格審査記録：昇格候補者、試験・アセスメントの結果、昇格の判定</a:t>
            </a:r>
          </a:p>
          <a:p>
            <a:r>
              <a:t>後継者計画：重要ポストと後継候補、準備度、育成計画</a:t>
            </a:r>
          </a:p>
          <a:p>
            <a:r>
              <a:t>ダイバーシティ行動計画・指標：女性活躍・次世代法の行動計画、障害者雇用状況報告、公表する指標</a:t>
            </a:r>
          </a:p>
          <a:p>
            <a:r>
              <a:t>退職情報：退職届、退職日・最終出社日、退職事由（自己都合・定年・契約満了・解雇等）</a:t>
            </a:r>
          </a:p>
          <a:p>
            <a:r>
              <a:t>資格喪失届・離職票：社会保険・雇用保険の資格喪失届、離職証明書・離職票</a:t>
            </a:r>
          </a:p>
          <a:p>
            <a:r>
              <a:t>退職時交付書類：源泉徴収票・退職所得の源泉徴収票・退職証明書・秘密保持の誓約書</a:t>
            </a:r>
          </a:p>
          <a:p>
            <a:r>
              <a:t>引継ぎ記録：業務・ナレッジの引継ぎ計画と引継ぎ書</a:t>
            </a:r>
          </a:p>
          <a:p>
            <a:r>
              <a:t>退職面談記録：退職理由の聞き取りと、離職傾向の分析</a:t>
            </a:r>
          </a:p>
          <a:p>
            <a:r>
              <a:t>定年・再雇用情報：定年予定者、継続雇用の意向、再雇用の条件、就業確保措置</a:t>
            </a:r>
          </a:p>
          <a:p>
            <a:r>
              <a:t>アルムナイ情報：退職者の連絡先と、再入社・協業の意向（本人の同意に基づく）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件数はxlsxから集計。段階：人員計画・採用、入社・オンボーディング、人材育成・能力開発、評価・処遇、キャリア・配置、退職・オフボーディング。</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人事戦略・人的資本経営★：アプリ1、データ18</a:t>
            </a:r>
          </a:p>
          <a:p>
            <a:r>
              <a:t>要員計画・人件費管理：アプリ2、データ7</a:t>
            </a:r>
          </a:p>
          <a:p>
            <a:r>
              <a:t>組織・職務設計：アプリ3、データ30</a:t>
            </a:r>
          </a:p>
          <a:p>
            <a:r>
              <a:t>採用計画・採用ブランディング：アプリ3、データ9</a:t>
            </a:r>
          </a:p>
          <a:p>
            <a:r>
              <a:t>新卒採用★：アプリ3、データ11</a:t>
            </a:r>
          </a:p>
          <a:p>
            <a:r>
              <a:t>経験者採用：アプリ3、データ13</a:t>
            </a:r>
          </a:p>
          <a:p>
            <a:r>
              <a:t>採用コンプライアンス★：アプリ0、データ11</a:t>
            </a:r>
          </a:p>
          <a:p>
            <a:r>
              <a:t>雇用契約・入社手続き★：アプリ4、データ20</a:t>
            </a:r>
          </a:p>
          <a:p>
            <a:r>
              <a:t>オンボーディング：アプリ0、データ22</a:t>
            </a:r>
          </a:p>
          <a:p>
            <a:r>
              <a:t>従業員情報管理★：アプリ3、データ25</a:t>
            </a:r>
          </a:p>
          <a:p>
            <a:r>
              <a:t>育成体系・研修管理：アプリ2、データ8</a:t>
            </a:r>
          </a:p>
          <a:p>
            <a:r>
              <a:t>スキル・資格管理：アプリ5、データ7</a:t>
            </a:r>
          </a:p>
          <a:p>
            <a:r>
              <a:t>キャリア開発支援：アプリ5、データ5</a:t>
            </a:r>
          </a:p>
          <a:p>
            <a:r>
              <a:t>法定・コンプライアンス教育：アプリ2、データ2</a:t>
            </a:r>
          </a:p>
          <a:p>
            <a:r>
              <a:t>目標・評価管理：アプリ1、データ11</a:t>
            </a:r>
          </a:p>
          <a:p>
            <a:r>
              <a:t>報酬制度・報酬決定：アプリ0、データ16</a:t>
            </a:r>
          </a:p>
          <a:p>
            <a:r>
              <a:t>給与計算・支払★：アプリ1、データ32</a:t>
            </a:r>
          </a:p>
          <a:p>
            <a:r>
              <a:t>社会保険・福利厚生：アプリ4、データ2</a:t>
            </a:r>
          </a:p>
          <a:p>
            <a:r>
              <a:t>勤怠・休暇管理★：アプリ1、データ11</a:t>
            </a:r>
          </a:p>
          <a:p>
            <a:r>
              <a:t>健康・安全管理★：アプリ1、データ3</a:t>
            </a:r>
          </a:p>
          <a:p>
            <a:r>
              <a:t>労使関係・従業員対応：アプリ1、データ7</a:t>
            </a:r>
          </a:p>
          <a:p>
            <a:r>
              <a:t>エンゲージメント・働き方：アプリ1、データ8</a:t>
            </a:r>
          </a:p>
          <a:p>
            <a:r>
              <a:t>タレントレビュー・配置：アプリ5、データ16</a:t>
            </a:r>
          </a:p>
          <a:p>
            <a:r>
              <a:t>昇格・登用：アプリ5、データ7</a:t>
            </a:r>
          </a:p>
          <a:p>
            <a:r>
              <a:t>後継者・リーダー育成：アプリ5、データ3</a:t>
            </a:r>
          </a:p>
          <a:p>
            <a:r>
              <a:t>多様な人材の活躍推進★：アプリ0、データ12</a:t>
            </a:r>
          </a:p>
          <a:p>
            <a:r>
              <a:t>退職手続き★：アプリ3、データ13</a:t>
            </a:r>
          </a:p>
          <a:p>
            <a:r>
              <a:t>定年・再雇用★：アプリ3、データ5</a:t>
            </a:r>
          </a:p>
          <a:p>
            <a:r>
              <a:t>オフボーディング：アプリ0、データ3</a:t>
            </a:r>
          </a:p>
          <a:p>
            <a:r>
              <a:t>人事データ・分析：アプリ1、データ0</a:t>
            </a:r>
          </a:p>
          <a:p>
            <a:r>
              <a:t>人事サービス提供：アプリ1、データ0</a:t>
            </a:r>
          </a:p>
          <a:p>
            <a:r>
              <a:t>人事情報セキュリティ・個人情報保護★：アプリ1、データ2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作成時点：2026年9月。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learn.microsoft.com/en-us/dynamics365/guidance/business-processes/hire-to-retire-areas" TargetMode="External"/><Relationship Id="rId3" Type="http://schemas.openxmlformats.org/officeDocument/2006/relationships/hyperlink" Target="https://community.sap.com/t5/human-capital-management-blog-posts-by-sap/the-evolution-of-sap-s-intelligent-enterprise-the-recruit-to-retire-process/ba-p/13523645" TargetMode="External"/><Relationship Id="rId4" Type="http://schemas.openxmlformats.org/officeDocument/2006/relationships/hyperlink" Target="https://www.apqc.org/resource-library/resource-listing/70-develop-and-manage-human-resources-definitions-and-key" TargetMode="External"/><Relationship Id="rId5" Type="http://schemas.openxmlformats.org/officeDocument/2006/relationships/hyperlink" Target="https://sr-dsg.or.jp/column/hr-labor/1173/" TargetMode="External"/><Relationship Id="rId6" Type="http://schemas.openxmlformats.org/officeDocument/2006/relationships/hyperlink" Target="https://www.businesslawyers.jp/articles/1442" TargetMode="Externa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E35"/>
        </a:solidFill>
        <a:effectLst/>
      </p:bgPr>
    </p:bg>
    <p:spTree>
      <p:nvGrpSpPr>
        <p:cNvPr id="1" name=""/>
        <p:cNvGrpSpPr/>
        <p:nvPr/>
      </p:nvGrpSpPr>
      <p:grpSpPr/>
      <p:sp>
        <p:nvSpPr>
          <p:cNvPr id="2" name="TextBox 1"/>
          <p:cNvSpPr txBox="1"/>
          <p:nvPr/>
        </p:nvSpPr>
        <p:spPr>
          <a:xfrm>
            <a:off x="731520" y="1783080"/>
            <a:ext cx="10515600" cy="1005840"/>
          </a:xfrm>
          <a:prstGeom prst="rect">
            <a:avLst/>
          </a:prstGeom>
          <a:noFill/>
        </p:spPr>
        <p:txBody>
          <a:bodyPr wrap="square" lIns="0" rIns="0" tIns="0" bIns="0" anchor="ctr">
            <a:spAutoFit/>
          </a:bodyPr>
          <a:lstStyle/>
          <a:p>
            <a:pPr algn="l"/>
            <a:r>
              <a:rPr sz="4800" b="1">
                <a:solidFill>
                  <a:srgbClr val="FFFFFF"/>
                </a:solidFill>
                <a:latin typeface="Yu Gothic"/>
                <a:ea typeface="Yu Gothic"/>
                <a:cs typeface="Yu Gothic"/>
              </a:rPr>
              <a:t>Hire-to-Retire</a:t>
            </a:r>
          </a:p>
        </p:txBody>
      </p:sp>
      <p:sp>
        <p:nvSpPr>
          <p:cNvPr id="3" name="TextBox 2"/>
          <p:cNvSpPr txBox="1"/>
          <p:nvPr/>
        </p:nvSpPr>
        <p:spPr>
          <a:xfrm>
            <a:off x="731520" y="2880360"/>
            <a:ext cx="9601200" cy="822960"/>
          </a:xfrm>
          <a:prstGeom prst="rect">
            <a:avLst/>
          </a:prstGeom>
          <a:noFill/>
        </p:spPr>
        <p:txBody>
          <a:bodyPr wrap="square" lIns="0" rIns="0" tIns="0" bIns="0" anchor="t">
            <a:spAutoFit/>
          </a:bodyPr>
          <a:lstStyle/>
          <a:p>
            <a:pPr algn="l"/>
            <a:r>
              <a:rPr sz="1800" b="0">
                <a:solidFill>
                  <a:srgbClr val="D5DEE0"/>
                </a:solidFill>
                <a:latin typeface="Yu Gothic"/>
                <a:ea typeface="Yu Gothic"/>
                <a:cs typeface="Yu Gothic"/>
              </a:rPr>
              <a:t>事業に必要な人材を計画・採用し、入社から育成・評価・処遇・配置を経て退職まで、組織に能力を供給し、従業員の成長と働きがいを高める</a:t>
            </a:r>
          </a:p>
        </p:txBody>
      </p:sp>
      <p:sp>
        <p:nvSpPr>
          <p:cNvPr id="4" name="TextBox 3"/>
          <p:cNvSpPr txBox="1"/>
          <p:nvPr/>
        </p:nvSpPr>
        <p:spPr>
          <a:xfrm>
            <a:off x="731520" y="3840480"/>
            <a:ext cx="9601200" cy="365760"/>
          </a:xfrm>
          <a:prstGeom prst="rect">
            <a:avLst/>
          </a:prstGeom>
          <a:noFill/>
        </p:spPr>
        <p:txBody>
          <a:bodyPr wrap="square" lIns="0" rIns="0" tIns="0" bIns="0" anchor="t">
            <a:spAutoFit/>
          </a:bodyPr>
          <a:lstStyle/>
          <a:p>
            <a:pPr algn="l"/>
            <a:r>
              <a:rPr sz="1300" b="0">
                <a:solidFill>
                  <a:srgbClr val="A9BCC1"/>
                </a:solidFill>
                <a:latin typeface="Yu Gothic"/>
                <a:ea typeface="Yu Gothic"/>
                <a:cs typeface="Yu Gothic"/>
              </a:rPr>
              <a:t>日本の事業会社（正社員中心、新卒・経験者採用、月給制）／日本の法令・制度基準</a:t>
            </a:r>
          </a:p>
        </p:txBody>
      </p:sp>
      <p:sp>
        <p:nvSpPr>
          <p:cNvPr id="5" name="Pentagon 4"/>
          <p:cNvSpPr/>
          <p:nvPr/>
        </p:nvSpPr>
        <p:spPr>
          <a:xfrm>
            <a:off x="731520" y="5120640"/>
            <a:ext cx="530352" cy="237744"/>
          </a:xfrm>
          <a:prstGeom prst="homePlate">
            <a:avLst/>
          </a:prstGeom>
          <a:solidFill>
            <a:srgbClr val="4B6A7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Pentagon 5"/>
          <p:cNvSpPr/>
          <p:nvPr/>
        </p:nvSpPr>
        <p:spPr>
          <a:xfrm>
            <a:off x="1298448" y="5120640"/>
            <a:ext cx="530352" cy="237744"/>
          </a:xfrm>
          <a:prstGeom prst="homePlate">
            <a:avLst/>
          </a:prstGeom>
          <a:solidFill>
            <a:srgbClr val="4B6A7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Pentagon 6"/>
          <p:cNvSpPr/>
          <p:nvPr/>
        </p:nvSpPr>
        <p:spPr>
          <a:xfrm>
            <a:off x="1865376" y="5120640"/>
            <a:ext cx="530352" cy="237744"/>
          </a:xfrm>
          <a:prstGeom prst="homePlate">
            <a:avLst/>
          </a:prstGeom>
          <a:solidFill>
            <a:srgbClr val="6E8B9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Pentagon 7"/>
          <p:cNvSpPr/>
          <p:nvPr/>
        </p:nvSpPr>
        <p:spPr>
          <a:xfrm>
            <a:off x="2432304" y="5120640"/>
            <a:ext cx="530352" cy="237744"/>
          </a:xfrm>
          <a:prstGeom prst="homePlate">
            <a:avLst/>
          </a:prstGeom>
          <a:solidFill>
            <a:srgbClr val="6E8B9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ntagon 8"/>
          <p:cNvSpPr/>
          <p:nvPr/>
        </p:nvSpPr>
        <p:spPr>
          <a:xfrm>
            <a:off x="2999232" y="5120640"/>
            <a:ext cx="530352" cy="237744"/>
          </a:xfrm>
          <a:prstGeom prst="homePlate">
            <a:avLst/>
          </a:prstGeom>
          <a:solidFill>
            <a:srgbClr val="6E8B9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entagon 9"/>
          <p:cNvSpPr/>
          <p:nvPr/>
        </p:nvSpPr>
        <p:spPr>
          <a:xfrm>
            <a:off x="3566160" y="5120640"/>
            <a:ext cx="530352" cy="237744"/>
          </a:xfrm>
          <a:prstGeom prst="homePlat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ctr">
            <a:spAutoFit/>
          </a:bodyPr>
          <a:lstStyle/>
          <a:p>
            <a:pPr algn="l"/>
            <a:r>
              <a:rPr sz="3000" b="1">
                <a:solidFill>
                  <a:srgbClr val="1F2E35"/>
                </a:solidFill>
                <a:latin typeface="Yu Gothic"/>
                <a:ea typeface="Yu Gothic"/>
                <a:cs typeface="Yu Gothic"/>
              </a:rPr>
              <a:t>前提条件とデータソース</a:t>
            </a:r>
          </a:p>
        </p:txBody>
      </p:sp>
      <p:sp>
        <p:nvSpPr>
          <p:cNvPr id="3" name="TextBox 2"/>
          <p:cNvSpPr txBox="1"/>
          <p:nvPr/>
        </p:nvSpPr>
        <p:spPr>
          <a:xfrm>
            <a:off x="457200" y="960120"/>
            <a:ext cx="9144000" cy="365760"/>
          </a:xfrm>
          <a:prstGeom prst="rect">
            <a:avLst/>
          </a:prstGeom>
          <a:noFill/>
        </p:spPr>
        <p:txBody>
          <a:bodyPr wrap="square" lIns="0" rIns="0" tIns="0" bIns="0" anchor="ctr">
            <a:spAutoFit/>
          </a:bodyPr>
          <a:lstStyle/>
          <a:p>
            <a:pPr algn="l"/>
            <a:r>
              <a:rPr sz="1400" b="0">
                <a:solidFill>
                  <a:srgbClr val="5B6B70"/>
                </a:solidFill>
                <a:latin typeface="Yu Gothic"/>
                <a:ea typeface="Yu Gothic"/>
                <a:cs typeface="Yu Gothic"/>
              </a:rPr>
              <a:t>本資料は、次の前提で定義したマップ一式の全体像を図示したものです。</a:t>
            </a:r>
          </a:p>
        </p:txBody>
      </p:sp>
      <p:sp>
        <p:nvSpPr>
          <p:cNvPr id="4" name="TextBox 3"/>
          <p:cNvSpPr txBox="1"/>
          <p:nvPr/>
        </p:nvSpPr>
        <p:spPr>
          <a:xfrm>
            <a:off x="457200" y="1600200"/>
            <a:ext cx="5486400" cy="320040"/>
          </a:xfrm>
          <a:prstGeom prst="rect">
            <a:avLst/>
          </a:prstGeom>
          <a:noFill/>
        </p:spPr>
        <p:txBody>
          <a:bodyPr wrap="square" lIns="0" rIns="0" tIns="0" bIns="0" anchor="ctr">
            <a:spAutoFit/>
          </a:bodyPr>
          <a:lstStyle/>
          <a:p>
            <a:pPr algn="l"/>
            <a:r>
              <a:rPr sz="1600" b="1">
                <a:solidFill>
                  <a:srgbClr val="2F4F5A"/>
                </a:solidFill>
                <a:latin typeface="Yu Gothic"/>
                <a:ea typeface="Yu Gothic"/>
                <a:cs typeface="Yu Gothic"/>
              </a:rPr>
              <a:t>前提条件</a:t>
            </a:r>
          </a:p>
        </p:txBody>
      </p:sp>
      <p:sp>
        <p:nvSpPr>
          <p:cNvPr id="5" name="Rectangle 4"/>
          <p:cNvSpPr/>
          <p:nvPr/>
        </p:nvSpPr>
        <p:spPr>
          <a:xfrm>
            <a:off x="457200" y="2011680"/>
            <a:ext cx="6035040" cy="822960"/>
          </a:xfrm>
          <a:prstGeom prst="rect">
            <a:avLst/>
          </a:prstGeom>
          <a:solidFill>
            <a:srgbClr val="EE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201168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対象企業</a:t>
            </a:r>
          </a:p>
        </p:txBody>
      </p:sp>
      <p:sp>
        <p:nvSpPr>
          <p:cNvPr id="7" name="TextBox 6"/>
          <p:cNvSpPr txBox="1"/>
          <p:nvPr/>
        </p:nvSpPr>
        <p:spPr>
          <a:xfrm>
            <a:off x="2148840" y="2011680"/>
            <a:ext cx="4206240" cy="822960"/>
          </a:xfrm>
          <a:prstGeom prst="rect">
            <a:avLst/>
          </a:prstGeom>
          <a:noFill/>
        </p:spPr>
        <p:txBody>
          <a:bodyPr wrap="square" lIns="0" rIns="0" tIns="0" bIns="0" anchor="ctr">
            <a:spAutoFit/>
          </a:bodyPr>
          <a:lstStyle/>
          <a:p>
            <a:pPr algn="l"/>
            <a:r>
              <a:rPr sz="1300" b="0">
                <a:solidFill>
                  <a:srgbClr val="1F2E35"/>
                </a:solidFill>
                <a:latin typeface="Yu Gothic"/>
                <a:ea typeface="Yu Gothic"/>
                <a:cs typeface="Yu Gothic"/>
              </a:rPr>
              <a:t>日本の事業会社（業種を限定しない一般的な想定）</a:t>
            </a:r>
          </a:p>
        </p:txBody>
      </p:sp>
      <p:sp>
        <p:nvSpPr>
          <p:cNvPr id="8" name="Rectangle 7"/>
          <p:cNvSpPr/>
          <p:nvPr/>
        </p:nvSpPr>
        <p:spPr>
          <a:xfrm>
            <a:off x="457200" y="2971800"/>
            <a:ext cx="6035040" cy="822960"/>
          </a:xfrm>
          <a:prstGeom prst="rect">
            <a:avLst/>
          </a:prstGeom>
          <a:solidFill>
            <a:srgbClr val="EE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0080" y="297180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雇用形態</a:t>
            </a:r>
          </a:p>
        </p:txBody>
      </p:sp>
      <p:sp>
        <p:nvSpPr>
          <p:cNvPr id="10" name="TextBox 9"/>
          <p:cNvSpPr txBox="1"/>
          <p:nvPr/>
        </p:nvSpPr>
        <p:spPr>
          <a:xfrm>
            <a:off x="2148840" y="2971800"/>
            <a:ext cx="4206240" cy="822960"/>
          </a:xfrm>
          <a:prstGeom prst="rect">
            <a:avLst/>
          </a:prstGeom>
          <a:noFill/>
        </p:spPr>
        <p:txBody>
          <a:bodyPr wrap="square" lIns="0" rIns="0" tIns="0" bIns="0" anchor="ctr">
            <a:spAutoFit/>
          </a:bodyPr>
          <a:lstStyle/>
          <a:p>
            <a:pPr algn="l"/>
            <a:r>
              <a:rPr sz="1300" b="0">
                <a:solidFill>
                  <a:srgbClr val="1F2E35"/>
                </a:solidFill>
                <a:latin typeface="Yu Gothic"/>
                <a:ea typeface="Yu Gothic"/>
                <a:cs typeface="Yu Gothic"/>
              </a:rPr>
              <a:t>正社員が中心。有期契約・パートタイム・定年後の再雇用を含む</a:t>
            </a:r>
          </a:p>
        </p:txBody>
      </p:sp>
      <p:sp>
        <p:nvSpPr>
          <p:cNvPr id="11" name="Rectangle 10"/>
          <p:cNvSpPr/>
          <p:nvPr/>
        </p:nvSpPr>
        <p:spPr>
          <a:xfrm>
            <a:off x="457200" y="3931920"/>
            <a:ext cx="6035040" cy="822960"/>
          </a:xfrm>
          <a:prstGeom prst="rect">
            <a:avLst/>
          </a:prstGeom>
          <a:solidFill>
            <a:srgbClr val="EE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0080" y="393192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採用・処遇</a:t>
            </a:r>
          </a:p>
        </p:txBody>
      </p:sp>
      <p:sp>
        <p:nvSpPr>
          <p:cNvPr id="13" name="TextBox 12"/>
          <p:cNvSpPr txBox="1"/>
          <p:nvPr/>
        </p:nvSpPr>
        <p:spPr>
          <a:xfrm>
            <a:off x="2148840" y="3931920"/>
            <a:ext cx="4206240" cy="822960"/>
          </a:xfrm>
          <a:prstGeom prst="rect">
            <a:avLst/>
          </a:prstGeom>
          <a:noFill/>
        </p:spPr>
        <p:txBody>
          <a:bodyPr wrap="square" lIns="0" rIns="0" tIns="0" bIns="0" anchor="ctr">
            <a:spAutoFit/>
          </a:bodyPr>
          <a:lstStyle/>
          <a:p>
            <a:pPr algn="l"/>
            <a:r>
              <a:rPr sz="1300" b="0">
                <a:solidFill>
                  <a:srgbClr val="1F2E35"/>
                </a:solidFill>
                <a:latin typeface="Yu Gothic"/>
                <a:ea typeface="Yu Gothic"/>
                <a:cs typeface="Yu Gothic"/>
              </a:rPr>
              <a:t>新卒一括採用と経験者採用。月給制、年1回の昇給と年2回の賞与</a:t>
            </a:r>
          </a:p>
        </p:txBody>
      </p:sp>
      <p:sp>
        <p:nvSpPr>
          <p:cNvPr id="14" name="Rectangle 13"/>
          <p:cNvSpPr/>
          <p:nvPr/>
        </p:nvSpPr>
        <p:spPr>
          <a:xfrm>
            <a:off x="457200" y="4892040"/>
            <a:ext cx="6035040" cy="822960"/>
          </a:xfrm>
          <a:prstGeom prst="rect">
            <a:avLst/>
          </a:prstGeom>
          <a:solidFill>
            <a:srgbClr val="EE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0080" y="489204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制度の基準</a:t>
            </a:r>
          </a:p>
        </p:txBody>
      </p:sp>
      <p:sp>
        <p:nvSpPr>
          <p:cNvPr id="16" name="TextBox 15"/>
          <p:cNvSpPr txBox="1"/>
          <p:nvPr/>
        </p:nvSpPr>
        <p:spPr>
          <a:xfrm>
            <a:off x="2148840" y="4892040"/>
            <a:ext cx="4206240" cy="822960"/>
          </a:xfrm>
          <a:prstGeom prst="rect">
            <a:avLst/>
          </a:prstGeom>
          <a:noFill/>
        </p:spPr>
        <p:txBody>
          <a:bodyPr wrap="square" lIns="0" rIns="0" tIns="0" bIns="0" anchor="ctr">
            <a:spAutoFit/>
          </a:bodyPr>
          <a:lstStyle/>
          <a:p>
            <a:pPr algn="l"/>
            <a:r>
              <a:rPr sz="1300" b="0">
                <a:solidFill>
                  <a:srgbClr val="1F2E35"/>
                </a:solidFill>
                <a:latin typeface="Yu Gothic"/>
                <a:ea typeface="Yu Gothic"/>
                <a:cs typeface="Yu Gothic"/>
              </a:rPr>
              <a:t>日本（労基法・安衛法・社会保険・税法・番号法・育介法・高年法・女性活躍推進法ほか）</a:t>
            </a:r>
          </a:p>
        </p:txBody>
      </p:sp>
      <p:sp>
        <p:nvSpPr>
          <p:cNvPr id="17" name="TextBox 16"/>
          <p:cNvSpPr txBox="1"/>
          <p:nvPr/>
        </p:nvSpPr>
        <p:spPr>
          <a:xfrm>
            <a:off x="6949440" y="1600200"/>
            <a:ext cx="4846320" cy="320040"/>
          </a:xfrm>
          <a:prstGeom prst="rect">
            <a:avLst/>
          </a:prstGeom>
          <a:noFill/>
        </p:spPr>
        <p:txBody>
          <a:bodyPr wrap="square" lIns="0" rIns="0" tIns="0" bIns="0" anchor="ctr">
            <a:spAutoFit/>
          </a:bodyPr>
          <a:lstStyle/>
          <a:p>
            <a:pPr algn="l"/>
            <a:r>
              <a:rPr sz="1600" b="1">
                <a:solidFill>
                  <a:srgbClr val="2F4F5A"/>
                </a:solidFill>
                <a:latin typeface="Yu Gothic"/>
                <a:ea typeface="Yu Gothic"/>
                <a:cs typeface="Yu Gothic"/>
              </a:rPr>
              <a:t>データソース（2026年9月時点）</a:t>
            </a:r>
          </a:p>
        </p:txBody>
      </p:sp>
      <p:sp>
        <p:nvSpPr>
          <p:cNvPr id="18" name="TextBox 17"/>
          <p:cNvSpPr txBox="1"/>
          <p:nvPr/>
        </p:nvSpPr>
        <p:spPr>
          <a:xfrm>
            <a:off x="6949440" y="2011680"/>
            <a:ext cx="4782312" cy="2377440"/>
          </a:xfrm>
          <a:prstGeom prst="rect">
            <a:avLst/>
          </a:prstGeom>
          <a:noFill/>
        </p:spPr>
        <p:txBody>
          <a:bodyPr wrap="square" lIns="0" rIns="0" tIns="0" bIns="0" anchor="t">
            <a:spAutoFit/>
          </a:bodyPr>
          <a:lstStyle/>
          <a:p>
            <a:pPr algn="l" marL="118872" indent="-118872">
              <a:spcAft>
                <a:spcPts val="300"/>
              </a:spcAft>
              <a:buFont typeface="Yu Gothic"/>
              <a:buChar char="・"/>
            </a:pPr>
            <a:r>
              <a:rPr sz="1100" b="0" u="sng">
                <a:solidFill>
                  <a:srgbClr val="2A78D6"/>
                </a:solidFill>
                <a:latin typeface="Yu Gothic"/>
                <a:ea typeface="Yu Gothic"/>
                <a:cs typeface="Yu Gothic"/>
                <a:hlinkClick r:id="rId2"/>
              </a:rPr>
              <a:t>Microsoft Learn – Hire to retire business process areas</a:t>
            </a:r>
          </a:p>
          <a:p>
            <a:pPr algn="l" marL="118872" indent="-118872">
              <a:spcAft>
                <a:spcPts val="300"/>
              </a:spcAft>
              <a:buFont typeface="Yu Gothic"/>
              <a:buChar char="・"/>
            </a:pPr>
            <a:r>
              <a:rPr sz="1100" b="0" u="sng">
                <a:solidFill>
                  <a:srgbClr val="2A78D6"/>
                </a:solidFill>
                <a:latin typeface="Yu Gothic"/>
                <a:ea typeface="Yu Gothic"/>
                <a:cs typeface="Yu Gothic"/>
                <a:hlinkClick r:id="rId3"/>
              </a:rPr>
              <a:t>SAP Community – The Recruit-to-Retire Process</a:t>
            </a:r>
          </a:p>
          <a:p>
            <a:pPr algn="l" marL="118872" indent="-118872">
              <a:spcAft>
                <a:spcPts val="300"/>
              </a:spcAft>
              <a:buFont typeface="Yu Gothic"/>
              <a:buChar char="・"/>
            </a:pPr>
            <a:r>
              <a:rPr sz="1100" b="0" u="sng">
                <a:solidFill>
                  <a:srgbClr val="2A78D6"/>
                </a:solidFill>
                <a:latin typeface="Yu Gothic"/>
                <a:ea typeface="Yu Gothic"/>
                <a:cs typeface="Yu Gothic"/>
                <a:hlinkClick r:id="rId4"/>
              </a:rPr>
              <a:t>APQC – 7.0 Develop and Manage Human Resources（PCF 8.0）</a:t>
            </a:r>
          </a:p>
          <a:p>
            <a:pPr algn="l" marL="118872" indent="-118872">
              <a:spcAft>
                <a:spcPts val="300"/>
              </a:spcAft>
              <a:buFont typeface="Yu Gothic"/>
              <a:buChar char="・"/>
            </a:pPr>
            <a:r>
              <a:rPr sz="1100" b="0" u="sng">
                <a:solidFill>
                  <a:srgbClr val="2A78D6"/>
                </a:solidFill>
                <a:latin typeface="Yu Gothic"/>
                <a:ea typeface="Yu Gothic"/>
                <a:cs typeface="Yu Gothic"/>
                <a:hlinkClick r:id="rId5"/>
              </a:rPr>
              <a:t>社労士法人第一綜合事務所 – 障害者法定雇用率2.7%（2026年7月）</a:t>
            </a:r>
          </a:p>
          <a:p>
            <a:pPr algn="l" marL="118872" indent="-118872">
              <a:spcAft>
                <a:spcPts val="300"/>
              </a:spcAft>
              <a:buFont typeface="Yu Gothic"/>
              <a:buChar char="・"/>
            </a:pPr>
            <a:r>
              <a:rPr sz="1100" b="0" u="sng">
                <a:solidFill>
                  <a:srgbClr val="2A78D6"/>
                </a:solidFill>
                <a:latin typeface="Yu Gothic"/>
                <a:ea typeface="Yu Gothic"/>
                <a:cs typeface="Yu Gothic"/>
                <a:hlinkClick r:id="rId6"/>
              </a:rPr>
              <a:t>BUSINESS LAWYERS – 2025年育児・介護休業法改正</a:t>
            </a:r>
          </a:p>
        </p:txBody>
      </p:sp>
      <p:sp>
        <p:nvSpPr>
          <p:cNvPr id="19" name="TextBox 18"/>
          <p:cNvSpPr txBox="1"/>
          <p:nvPr/>
        </p:nvSpPr>
        <p:spPr>
          <a:xfrm>
            <a:off x="6949440" y="4572000"/>
            <a:ext cx="4572000" cy="320040"/>
          </a:xfrm>
          <a:prstGeom prst="rect">
            <a:avLst/>
          </a:prstGeom>
          <a:noFill/>
        </p:spPr>
        <p:txBody>
          <a:bodyPr wrap="square" lIns="0" rIns="0" tIns="0" bIns="0" anchor="ctr">
            <a:spAutoFit/>
          </a:bodyPr>
          <a:lstStyle/>
          <a:p>
            <a:pPr algn="l"/>
            <a:r>
              <a:rPr sz="1600" b="1">
                <a:solidFill>
                  <a:srgbClr val="2F4F5A"/>
                </a:solidFill>
                <a:latin typeface="Yu Gothic"/>
                <a:ea typeface="Yu Gothic"/>
                <a:cs typeface="Yu Gothic"/>
              </a:rPr>
              <a:t>読み方</a:t>
            </a:r>
          </a:p>
        </p:txBody>
      </p:sp>
      <p:sp>
        <p:nvSpPr>
          <p:cNvPr id="20" name="TextBox 19"/>
          <p:cNvSpPr txBox="1"/>
          <p:nvPr/>
        </p:nvSpPr>
        <p:spPr>
          <a:xfrm>
            <a:off x="6949440" y="4983480"/>
            <a:ext cx="4782312" cy="1463040"/>
          </a:xfrm>
          <a:prstGeom prst="rect">
            <a:avLst/>
          </a:prstGeom>
          <a:noFill/>
        </p:spPr>
        <p:txBody>
          <a:bodyPr wrap="square" lIns="0" rIns="0" tIns="0" bIns="0" anchor="t">
            <a:spAutoFit/>
          </a:bodyPr>
          <a:lstStyle/>
          <a:p>
            <a:pPr algn="l" marL="118872" indent="-118872">
              <a:spcAft>
                <a:spcPts val="300"/>
              </a:spcAft>
              <a:buFont typeface="Yu Gothic"/>
              <a:buChar char="・"/>
            </a:pPr>
            <a:r>
              <a:rPr sz="1200" b="0">
                <a:solidFill>
                  <a:srgbClr val="1F2E35"/>
                </a:solidFill>
                <a:latin typeface="Yu Gothic"/>
                <a:ea typeface="Yu Gothic"/>
                <a:cs typeface="Yu Gothic"/>
              </a:rPr>
              <a:t>バリューストリームは段階（L2）とその内訳（L3）、ケイパビリティは領域（L1）と能力（L2）まで、すべての項目を載せています。</a:t>
            </a:r>
          </a:p>
          <a:p>
            <a:pPr algn="l" marL="118872" indent="-118872">
              <a:spcAft>
                <a:spcPts val="300"/>
              </a:spcAft>
              <a:buFont typeface="Yu Gothic"/>
              <a:buChar char="・"/>
            </a:pPr>
            <a:r>
              <a:rPr sz="1200" b="0">
                <a:solidFill>
                  <a:srgbClr val="1F2E35"/>
                </a:solidFill>
                <a:latin typeface="Yu Gothic"/>
                <a:ea typeface="Yu Gothic"/>
                <a:cs typeface="Yu Gothic"/>
              </a:rPr>
              <a:t>出口（ゲート）は、次の段階へ進む判断の節目です。</a:t>
            </a:r>
          </a:p>
          <a:p>
            <a:pPr algn="l" marL="118872" indent="-118872">
              <a:spcAft>
                <a:spcPts val="300"/>
              </a:spcAft>
              <a:buFont typeface="Yu Gothic"/>
              <a:buChar char="・"/>
            </a:pPr>
            <a:r>
              <a:rPr sz="1200" b="0">
                <a:solidFill>
                  <a:srgbClr val="1F2E35"/>
                </a:solidFill>
                <a:latin typeface="Yu Gothic"/>
                <a:ea typeface="Yu Gothic"/>
                <a:cs typeface="Yu Gothic"/>
              </a:rPr>
              <a:t>より細かい内容（VSのL4、ケイパビリティのL3、各関係の正本）は vs_capability_map.xlsx にあります。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640080"/>
          </a:xfrm>
          <a:prstGeom prst="rect">
            <a:avLst/>
          </a:prstGeom>
          <a:noFill/>
        </p:spPr>
        <p:txBody>
          <a:bodyPr wrap="square" lIns="0" rIns="0" tIns="0" bIns="0" anchor="ctr">
            <a:spAutoFit/>
          </a:bodyPr>
          <a:lstStyle/>
          <a:p>
            <a:pPr algn="l"/>
            <a:r>
              <a:rPr sz="3000" b="1">
                <a:solidFill>
                  <a:srgbClr val="1F2E35"/>
                </a:solidFill>
                <a:latin typeface="Yu Gothic"/>
                <a:ea typeface="Yu Gothic"/>
                <a:cs typeface="Yu Gothic"/>
              </a:rPr>
              <a:t>バリューチェーン全体像</a:t>
            </a:r>
          </a:p>
        </p:txBody>
      </p:sp>
      <p:sp>
        <p:nvSpPr>
          <p:cNvPr id="3" name="TextBox 2"/>
          <p:cNvSpPr txBox="1"/>
          <p:nvPr/>
        </p:nvSpPr>
        <p:spPr>
          <a:xfrm>
            <a:off x="457200" y="960120"/>
            <a:ext cx="11247120" cy="365760"/>
          </a:xfrm>
          <a:prstGeom prst="rect">
            <a:avLst/>
          </a:prstGeom>
          <a:noFill/>
        </p:spPr>
        <p:txBody>
          <a:bodyPr wrap="square" lIns="0" rIns="0" tIns="0" bIns="0" anchor="ctr">
            <a:spAutoFit/>
          </a:bodyPr>
          <a:lstStyle/>
          <a:p>
            <a:pPr algn="l"/>
            <a:r>
              <a:rPr sz="1400" b="0">
                <a:solidFill>
                  <a:srgbClr val="5B6B70"/>
                </a:solidFill>
                <a:latin typeface="Yu Gothic"/>
                <a:ea typeface="Yu Gothic"/>
                <a:cs typeface="Yu Gothic"/>
              </a:rPr>
              <a:t>段階（L2）と、その内訳（L3）・出口（◆）。★は日本の制度・雇用慣行に固有の項目を含む段階</a:t>
            </a:r>
          </a:p>
        </p:txBody>
      </p:sp>
      <p:sp>
        <p:nvSpPr>
          <p:cNvPr id="4" name="Rectangle 3"/>
          <p:cNvSpPr/>
          <p:nvPr/>
        </p:nvSpPr>
        <p:spPr>
          <a:xfrm>
            <a:off x="457200" y="1417320"/>
            <a:ext cx="11274552" cy="4983480"/>
          </a:xfrm>
          <a:prstGeom prst="rect">
            <a:avLst/>
          </a:prstGeom>
          <a:noFill/>
          <a:ln w="9525">
            <a:solidFill>
              <a:srgbClr val="C3CFD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57200" y="1417320"/>
            <a:ext cx="502920" cy="2240280"/>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rot="16200000">
            <a:off x="-411480" y="2286000"/>
            <a:ext cx="2240280" cy="502920"/>
          </a:xfrm>
          <a:prstGeom prst="rect">
            <a:avLst/>
          </a:prstGeom>
          <a:noFill/>
        </p:spPr>
        <p:txBody>
          <a:bodyPr wrap="square" lIns="0" rIns="0" tIns="0" bIns="0" anchor="ctr">
            <a:spAutoFit/>
          </a:bodyPr>
          <a:lstStyle/>
          <a:p>
            <a:pPr algn="ctr"/>
            <a:r>
              <a:rPr sz="1200" b="1">
                <a:solidFill>
                  <a:srgbClr val="FFFFFF"/>
                </a:solidFill>
                <a:latin typeface="Yu Gothic"/>
                <a:ea typeface="Yu Gothic"/>
                <a:cs typeface="Yu Gothic"/>
              </a:rPr>
              <a:t>Phase 1：入職</a:t>
            </a:r>
          </a:p>
          <a:p>
            <a:pPr algn="ctr"/>
            <a:r>
              <a:rPr sz="800" b="0">
                <a:solidFill>
                  <a:srgbClr val="FFFFFF"/>
                </a:solidFill>
                <a:latin typeface="Yu Gothic"/>
                <a:ea typeface="Yu Gothic"/>
                <a:cs typeface="Yu Gothic"/>
              </a:rPr>
              <a:t>(Hire)</a:t>
            </a:r>
          </a:p>
        </p:txBody>
      </p:sp>
      <p:sp>
        <p:nvSpPr>
          <p:cNvPr id="7" name="Rectangle 6"/>
          <p:cNvSpPr/>
          <p:nvPr/>
        </p:nvSpPr>
        <p:spPr>
          <a:xfrm>
            <a:off x="457200" y="3657600"/>
            <a:ext cx="502920" cy="2743200"/>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rot="16200000">
            <a:off x="-662940" y="4777740"/>
            <a:ext cx="2743200" cy="502920"/>
          </a:xfrm>
          <a:prstGeom prst="rect">
            <a:avLst/>
          </a:prstGeom>
          <a:noFill/>
        </p:spPr>
        <p:txBody>
          <a:bodyPr wrap="square" lIns="0" rIns="0" tIns="0" bIns="0" anchor="ctr">
            <a:spAutoFit/>
          </a:bodyPr>
          <a:lstStyle/>
          <a:p>
            <a:pPr algn="ctr"/>
            <a:r>
              <a:rPr sz="1200" b="1">
                <a:solidFill>
                  <a:srgbClr val="FFFFFF"/>
                </a:solidFill>
                <a:latin typeface="Yu Gothic"/>
                <a:ea typeface="Yu Gothic"/>
                <a:cs typeface="Yu Gothic"/>
              </a:rPr>
              <a:t>Phase 2・3：在職・退職</a:t>
            </a:r>
          </a:p>
          <a:p>
            <a:pPr algn="ctr"/>
            <a:r>
              <a:rPr sz="800" b="0">
                <a:solidFill>
                  <a:srgbClr val="FFFFFF"/>
                </a:solidFill>
                <a:latin typeface="Yu Gothic"/>
                <a:ea typeface="Yu Gothic"/>
                <a:cs typeface="Yu Gothic"/>
              </a:rPr>
              <a:t>(Develop, Reward &amp; Retire)</a:t>
            </a:r>
          </a:p>
        </p:txBody>
      </p:sp>
      <p:cxnSp>
        <p:nvCxnSpPr>
          <p:cNvPr id="9" name="Connector 8"/>
          <p:cNvCxnSpPr/>
          <p:nvPr/>
        </p:nvCxnSpPr>
        <p:spPr>
          <a:xfrm>
            <a:off x="960120" y="3657600"/>
            <a:ext cx="10771632" cy="0"/>
          </a:xfrm>
          <a:prstGeom prst="line">
            <a:avLst/>
          </a:prstGeom>
          <a:ln w="19050">
            <a:solidFill>
              <a:srgbClr val="1F2E35"/>
            </a:solidFill>
            <a:prstDash val="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24128" y="2103120"/>
            <a:ext cx="274320" cy="365760"/>
          </a:xfrm>
          <a:prstGeom prst="rect">
            <a:avLst/>
          </a:prstGeom>
          <a:noFill/>
        </p:spPr>
        <p:txBody>
          <a:bodyPr wrap="square" lIns="0" rIns="0" tIns="0" bIns="0" anchor="t">
            <a:spAutoFit/>
          </a:bodyPr>
          <a:lstStyle/>
          <a:p>
            <a:pPr algn="ctr"/>
            <a:r>
              <a:rPr sz="1800" b="1">
                <a:solidFill>
                  <a:srgbClr val="1F2E35"/>
                </a:solidFill>
                <a:latin typeface="Yu Gothic"/>
                <a:ea typeface="Yu Gothic"/>
                <a:cs typeface="Yu Gothic"/>
              </a:rPr>
              <a:t>A</a:t>
            </a:r>
          </a:p>
        </p:txBody>
      </p:sp>
      <p:sp>
        <p:nvSpPr>
          <p:cNvPr id="11" name="Right Arrow 10"/>
          <p:cNvSpPr/>
          <p:nvPr/>
        </p:nvSpPr>
        <p:spPr>
          <a:xfrm>
            <a:off x="1371600" y="1600200"/>
            <a:ext cx="4937760" cy="132588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508760" y="1783080"/>
            <a:ext cx="425196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人員計画・採用</a:t>
            </a:r>
          </a:p>
        </p:txBody>
      </p:sp>
      <p:sp>
        <p:nvSpPr>
          <p:cNvPr id="13" name="TextBox 12"/>
          <p:cNvSpPr txBox="1"/>
          <p:nvPr/>
        </p:nvSpPr>
        <p:spPr>
          <a:xfrm>
            <a:off x="4709160" y="1819656"/>
            <a:ext cx="868680" cy="201168"/>
          </a:xfrm>
          <a:prstGeom prst="rect">
            <a:avLst/>
          </a:prstGeom>
          <a:noFill/>
        </p:spPr>
        <p:txBody>
          <a:bodyPr wrap="square" lIns="0" rIns="0" tIns="0" bIns="0" anchor="ctr">
            <a:spAutoFit/>
          </a:bodyPr>
          <a:lstStyle/>
          <a:p>
            <a:pPr algn="r"/>
            <a:r>
              <a:rPr sz="850" b="1">
                <a:solidFill>
                  <a:srgbClr val="DDE6E8"/>
                </a:solidFill>
                <a:latin typeface="Yu Gothic"/>
                <a:ea typeface="Yu Gothic"/>
                <a:cs typeface="Yu Gothic"/>
              </a:rPr>
              <a:t>1人1回</a:t>
            </a:r>
          </a:p>
        </p:txBody>
      </p:sp>
      <p:sp>
        <p:nvSpPr>
          <p:cNvPr id="14" name="TextBox 13"/>
          <p:cNvSpPr txBox="1"/>
          <p:nvPr/>
        </p:nvSpPr>
        <p:spPr>
          <a:xfrm>
            <a:off x="1508760" y="2093976"/>
            <a:ext cx="2103120" cy="77724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人事戦略・要員計画</a:t>
            </a:r>
          </a:p>
          <a:p>
            <a:pPr algn="l" marL="118872" indent="-118872">
              <a:buFont typeface="Yu Gothic"/>
              <a:buChar char="・"/>
            </a:pPr>
            <a:r>
              <a:rPr sz="900" b="0">
                <a:solidFill>
                  <a:srgbClr val="FFFFFF"/>
                </a:solidFill>
                <a:latin typeface="Yu Gothic"/>
                <a:ea typeface="Yu Gothic"/>
                <a:cs typeface="Yu Gothic"/>
              </a:rPr>
              <a:t>母集団形成</a:t>
            </a:r>
          </a:p>
        </p:txBody>
      </p:sp>
      <p:sp>
        <p:nvSpPr>
          <p:cNvPr id="15" name="TextBox 14"/>
          <p:cNvSpPr txBox="1"/>
          <p:nvPr/>
        </p:nvSpPr>
        <p:spPr>
          <a:xfrm>
            <a:off x="3611880" y="2093976"/>
            <a:ext cx="2103120" cy="77724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選考</a:t>
            </a:r>
          </a:p>
          <a:p>
            <a:pPr algn="l" marL="118872" indent="-118872">
              <a:buFont typeface="Yu Gothic"/>
              <a:buChar char="・"/>
            </a:pPr>
            <a:r>
              <a:rPr sz="900" b="0">
                <a:solidFill>
                  <a:srgbClr val="FFFFFF"/>
                </a:solidFill>
                <a:latin typeface="Yu Gothic"/>
                <a:ea typeface="Yu Gothic"/>
                <a:cs typeface="Yu Gothic"/>
              </a:rPr>
              <a:t>内定</a:t>
            </a:r>
          </a:p>
        </p:txBody>
      </p:sp>
      <p:sp>
        <p:nvSpPr>
          <p:cNvPr id="16" name="Diamond 15"/>
          <p:cNvSpPr/>
          <p:nvPr/>
        </p:nvSpPr>
        <p:spPr>
          <a:xfrm>
            <a:off x="6153912" y="2125980"/>
            <a:ext cx="274320" cy="274320"/>
          </a:xfrm>
          <a:prstGeom prst="diamond">
            <a:avLst/>
          </a:prstGeom>
          <a:solidFill>
            <a:srgbClr val="9C7C45"/>
          </a:solidFill>
          <a:ln w="1905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297680" y="2971800"/>
            <a:ext cx="2194560" cy="274320"/>
          </a:xfrm>
          <a:prstGeom prst="rect">
            <a:avLst/>
          </a:prstGeom>
          <a:noFill/>
        </p:spPr>
        <p:txBody>
          <a:bodyPr wrap="square" lIns="0" rIns="0" tIns="0" bIns="0" anchor="t">
            <a:spAutoFit/>
          </a:bodyPr>
          <a:lstStyle/>
          <a:p>
            <a:pPr algn="r"/>
            <a:r>
              <a:rPr sz="850" b="1">
                <a:solidFill>
                  <a:srgbClr val="1F2E35"/>
                </a:solidFill>
                <a:latin typeface="Yu Gothic"/>
                <a:ea typeface="Yu Gothic"/>
                <a:cs typeface="Yu Gothic"/>
              </a:rPr>
              <a:t>内定承諾</a:t>
            </a:r>
          </a:p>
        </p:txBody>
      </p:sp>
      <p:sp>
        <p:nvSpPr>
          <p:cNvPr id="18" name="Right Arrow 17"/>
          <p:cNvSpPr/>
          <p:nvPr/>
        </p:nvSpPr>
        <p:spPr>
          <a:xfrm>
            <a:off x="6583680" y="1600200"/>
            <a:ext cx="4937760" cy="132588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720840" y="1783080"/>
            <a:ext cx="425196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入社・オンボーディング</a:t>
            </a:r>
          </a:p>
        </p:txBody>
      </p:sp>
      <p:sp>
        <p:nvSpPr>
          <p:cNvPr id="20" name="TextBox 19"/>
          <p:cNvSpPr txBox="1"/>
          <p:nvPr/>
        </p:nvSpPr>
        <p:spPr>
          <a:xfrm>
            <a:off x="9921240" y="1819656"/>
            <a:ext cx="868680" cy="201168"/>
          </a:xfrm>
          <a:prstGeom prst="rect">
            <a:avLst/>
          </a:prstGeom>
          <a:noFill/>
        </p:spPr>
        <p:txBody>
          <a:bodyPr wrap="square" lIns="0" rIns="0" tIns="0" bIns="0" anchor="ctr">
            <a:spAutoFit/>
          </a:bodyPr>
          <a:lstStyle/>
          <a:p>
            <a:pPr algn="r"/>
            <a:r>
              <a:rPr sz="850" b="1">
                <a:solidFill>
                  <a:srgbClr val="DDE6E8"/>
                </a:solidFill>
                <a:latin typeface="Yu Gothic"/>
                <a:ea typeface="Yu Gothic"/>
                <a:cs typeface="Yu Gothic"/>
              </a:rPr>
              <a:t>1人1回</a:t>
            </a:r>
          </a:p>
        </p:txBody>
      </p:sp>
      <p:sp>
        <p:nvSpPr>
          <p:cNvPr id="21" name="TextBox 20"/>
          <p:cNvSpPr txBox="1"/>
          <p:nvPr/>
        </p:nvSpPr>
        <p:spPr>
          <a:xfrm>
            <a:off x="6720840" y="2093976"/>
            <a:ext cx="2103120" cy="77724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雇用契約・入社手続き</a:t>
            </a:r>
          </a:p>
          <a:p>
            <a:pPr algn="l" marL="118872" indent="-118872">
              <a:buFont typeface="Yu Gothic"/>
              <a:buChar char="・"/>
            </a:pPr>
            <a:r>
              <a:rPr sz="900" b="0">
                <a:solidFill>
                  <a:srgbClr val="FFFFFF"/>
                </a:solidFill>
                <a:latin typeface="Yu Gothic"/>
                <a:ea typeface="Yu Gothic"/>
                <a:cs typeface="Yu Gothic"/>
              </a:rPr>
              <a:t>受入れ準備</a:t>
            </a:r>
          </a:p>
        </p:txBody>
      </p:sp>
      <p:sp>
        <p:nvSpPr>
          <p:cNvPr id="22" name="TextBox 21"/>
          <p:cNvSpPr txBox="1"/>
          <p:nvPr/>
        </p:nvSpPr>
        <p:spPr>
          <a:xfrm>
            <a:off x="8823960" y="2093976"/>
            <a:ext cx="2103120" cy="77724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オンボーディング・定着</a:t>
            </a:r>
          </a:p>
        </p:txBody>
      </p:sp>
      <p:sp>
        <p:nvSpPr>
          <p:cNvPr id="23" name="Diamond 22"/>
          <p:cNvSpPr/>
          <p:nvPr/>
        </p:nvSpPr>
        <p:spPr>
          <a:xfrm>
            <a:off x="11365992" y="2125980"/>
            <a:ext cx="274320" cy="274320"/>
          </a:xfrm>
          <a:prstGeom prst="diamond">
            <a:avLst/>
          </a:prstGeom>
          <a:solidFill>
            <a:srgbClr val="9C7C45"/>
          </a:solidFill>
          <a:ln w="1905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509760" y="2971800"/>
            <a:ext cx="2194560" cy="274320"/>
          </a:xfrm>
          <a:prstGeom prst="rect">
            <a:avLst/>
          </a:prstGeom>
          <a:noFill/>
        </p:spPr>
        <p:txBody>
          <a:bodyPr wrap="square" lIns="0" rIns="0" tIns="0" bIns="0" anchor="t">
            <a:spAutoFit/>
          </a:bodyPr>
          <a:lstStyle/>
          <a:p>
            <a:pPr algn="r"/>
            <a:r>
              <a:rPr sz="850" b="1">
                <a:solidFill>
                  <a:srgbClr val="1F2E35"/>
                </a:solidFill>
                <a:latin typeface="Yu Gothic"/>
                <a:ea typeface="Yu Gothic"/>
                <a:cs typeface="Yu Gothic"/>
              </a:rPr>
              <a:t>本採用（試用期間終了）</a:t>
            </a:r>
          </a:p>
        </p:txBody>
      </p:sp>
      <p:sp>
        <p:nvSpPr>
          <p:cNvPr id="25" name="TextBox 24"/>
          <p:cNvSpPr txBox="1"/>
          <p:nvPr/>
        </p:nvSpPr>
        <p:spPr>
          <a:xfrm>
            <a:off x="1005840" y="4434840"/>
            <a:ext cx="365760" cy="365760"/>
          </a:xfrm>
          <a:prstGeom prst="rect">
            <a:avLst/>
          </a:prstGeom>
          <a:noFill/>
        </p:spPr>
        <p:txBody>
          <a:bodyPr wrap="square" lIns="0" rIns="0" tIns="0" bIns="0" anchor="t">
            <a:spAutoFit/>
          </a:bodyPr>
          <a:lstStyle/>
          <a:p>
            <a:pPr algn="ctr"/>
            <a:r>
              <a:rPr sz="1800" b="1">
                <a:solidFill>
                  <a:srgbClr val="1F2E35"/>
                </a:solidFill>
                <a:latin typeface="Yu Gothic"/>
                <a:ea typeface="Yu Gothic"/>
                <a:cs typeface="Yu Gothic"/>
              </a:rPr>
              <a:t>B</a:t>
            </a:r>
          </a:p>
        </p:txBody>
      </p:sp>
      <p:sp>
        <p:nvSpPr>
          <p:cNvPr id="26" name="TextBox 25"/>
          <p:cNvSpPr txBox="1"/>
          <p:nvPr/>
        </p:nvSpPr>
        <p:spPr>
          <a:xfrm>
            <a:off x="868680" y="4800600"/>
            <a:ext cx="640080" cy="365760"/>
          </a:xfrm>
          <a:prstGeom prst="rect">
            <a:avLst/>
          </a:prstGeom>
          <a:noFill/>
        </p:spPr>
        <p:txBody>
          <a:bodyPr wrap="square" lIns="0" rIns="0" tIns="0" bIns="0" anchor="t">
            <a:spAutoFit/>
          </a:bodyPr>
          <a:lstStyle/>
          <a:p>
            <a:pPr algn="ctr"/>
            <a:r>
              <a:rPr sz="850" b="1">
                <a:solidFill>
                  <a:srgbClr val="9C7C45"/>
                </a:solidFill>
                <a:latin typeface="Yu Gothic"/>
                <a:ea typeface="Yu Gothic"/>
                <a:cs typeface="Yu Gothic"/>
              </a:rPr>
              <a:t>継続</a:t>
            </a:r>
          </a:p>
          <a:p>
            <a:pPr algn="ctr"/>
            <a:r>
              <a:rPr sz="650" b="0">
                <a:solidFill>
                  <a:srgbClr val="9C7C45"/>
                </a:solidFill>
                <a:latin typeface="Yu Gothic"/>
                <a:ea typeface="Yu Gothic"/>
                <a:cs typeface="Yu Gothic"/>
              </a:rPr>
              <a:t>(Continuous)</a:t>
            </a:r>
          </a:p>
        </p:txBody>
      </p:sp>
      <p:sp>
        <p:nvSpPr>
          <p:cNvPr id="27" name="Block Arc 26"/>
          <p:cNvSpPr/>
          <p:nvPr/>
        </p:nvSpPr>
        <p:spPr>
          <a:xfrm>
            <a:off x="1554480" y="3840480"/>
            <a:ext cx="1828800" cy="1828800"/>
          </a:xfrm>
          <a:prstGeom prst="blockArc">
            <a:avLst>
              <a:gd name="adj1" fmla="val -7200000"/>
              <a:gd name="adj2" fmla="val -11000000"/>
              <a:gd name="adj3" fmla="val 12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Isosceles Triangle 27"/>
          <p:cNvSpPr/>
          <p:nvPr/>
        </p:nvSpPr>
        <p:spPr>
          <a:xfrm rot="5400000">
            <a:off x="2322576" y="3794760"/>
            <a:ext cx="292608" cy="246888"/>
          </a:xfrm>
          <a:prstGeom prst="triangl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1810512" y="4169664"/>
            <a:ext cx="1316736" cy="11887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人材育成・能力開発</a:t>
            </a:r>
          </a:p>
          <a:p>
            <a:pPr algn="ctr"/>
            <a:r>
              <a:rPr sz="750" b="0">
                <a:solidFill>
                  <a:srgbClr val="1F2E35"/>
                </a:solidFill>
                <a:latin typeface="Yu Gothic"/>
                <a:ea typeface="Yu Gothic"/>
                <a:cs typeface="Yu Gothic"/>
              </a:rPr>
              <a:t>育成計画</a:t>
            </a:r>
          </a:p>
          <a:p>
            <a:pPr algn="ctr"/>
            <a:r>
              <a:rPr sz="750" b="0">
                <a:solidFill>
                  <a:srgbClr val="1F2E35"/>
                </a:solidFill>
                <a:latin typeface="Yu Gothic"/>
                <a:ea typeface="Yu Gothic"/>
                <a:cs typeface="Yu Gothic"/>
              </a:rPr>
              <a:t>研修・学習</a:t>
            </a:r>
          </a:p>
          <a:p>
            <a:pPr algn="ctr"/>
            <a:r>
              <a:rPr sz="750" b="0">
                <a:solidFill>
                  <a:srgbClr val="1F2E35"/>
                </a:solidFill>
                <a:latin typeface="Yu Gothic"/>
                <a:ea typeface="Yu Gothic"/>
                <a:cs typeface="Yu Gothic"/>
              </a:rPr>
              <a:t>スキル・資格の習得</a:t>
            </a:r>
          </a:p>
          <a:p>
            <a:pPr algn="ctr"/>
            <a:r>
              <a:rPr sz="750" b="0">
                <a:solidFill>
                  <a:srgbClr val="1F2E35"/>
                </a:solidFill>
                <a:latin typeface="Yu Gothic"/>
                <a:ea typeface="Yu Gothic"/>
                <a:cs typeface="Yu Gothic"/>
              </a:rPr>
              <a:t>キャリア開発</a:t>
            </a:r>
          </a:p>
        </p:txBody>
      </p:sp>
      <p:sp>
        <p:nvSpPr>
          <p:cNvPr id="30" name="Diamond 29"/>
          <p:cNvSpPr/>
          <p:nvPr/>
        </p:nvSpPr>
        <p:spPr>
          <a:xfrm>
            <a:off x="2350008" y="5486400"/>
            <a:ext cx="237744" cy="237744"/>
          </a:xfrm>
          <a:prstGeom prst="diamond">
            <a:avLst/>
          </a:prstGeom>
          <a:solidFill>
            <a:srgbClr val="9C7C45"/>
          </a:solidFill>
          <a:ln w="1905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1371600" y="5742432"/>
            <a:ext cx="2194560" cy="182880"/>
          </a:xfrm>
          <a:prstGeom prst="rect">
            <a:avLst/>
          </a:prstGeom>
          <a:noFill/>
        </p:spPr>
        <p:txBody>
          <a:bodyPr wrap="square" lIns="0" rIns="0" tIns="0" bIns="0" anchor="ctr">
            <a:spAutoFit/>
          </a:bodyPr>
          <a:lstStyle/>
          <a:p>
            <a:pPr algn="ctr"/>
            <a:r>
              <a:rPr sz="800" b="1">
                <a:solidFill>
                  <a:srgbClr val="1F2E35"/>
                </a:solidFill>
                <a:latin typeface="Yu Gothic"/>
                <a:ea typeface="Yu Gothic"/>
                <a:cs typeface="Yu Gothic"/>
              </a:rPr>
              <a:t>必要な能力の習得（スキル・資格の認定）</a:t>
            </a:r>
          </a:p>
        </p:txBody>
      </p:sp>
      <p:sp>
        <p:nvSpPr>
          <p:cNvPr id="32" name="Block Arc 31"/>
          <p:cNvSpPr/>
          <p:nvPr/>
        </p:nvSpPr>
        <p:spPr>
          <a:xfrm>
            <a:off x="3639311" y="3840480"/>
            <a:ext cx="1828800" cy="1828800"/>
          </a:xfrm>
          <a:prstGeom prst="blockArc">
            <a:avLst>
              <a:gd name="adj1" fmla="val -7200000"/>
              <a:gd name="adj2" fmla="val -11000000"/>
              <a:gd name="adj3" fmla="val 12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Isosceles Triangle 32"/>
          <p:cNvSpPr/>
          <p:nvPr/>
        </p:nvSpPr>
        <p:spPr>
          <a:xfrm rot="5400000">
            <a:off x="4407407" y="3794760"/>
            <a:ext cx="292608" cy="246888"/>
          </a:xfrm>
          <a:prstGeom prst="triangl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3895344" y="4169664"/>
            <a:ext cx="1316736" cy="11887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評価・処遇</a:t>
            </a:r>
          </a:p>
          <a:p>
            <a:pPr algn="ctr"/>
            <a:r>
              <a:rPr sz="750" b="0">
                <a:solidFill>
                  <a:srgbClr val="1F2E35"/>
                </a:solidFill>
                <a:latin typeface="Yu Gothic"/>
                <a:ea typeface="Yu Gothic"/>
                <a:cs typeface="Yu Gothic"/>
              </a:rPr>
              <a:t>目標設定・評価</a:t>
            </a:r>
          </a:p>
          <a:p>
            <a:pPr algn="ctr"/>
            <a:r>
              <a:rPr sz="750" b="0">
                <a:solidFill>
                  <a:srgbClr val="1F2E35"/>
                </a:solidFill>
                <a:latin typeface="Yu Gothic"/>
                <a:ea typeface="Yu Gothic"/>
                <a:cs typeface="Yu Gothic"/>
              </a:rPr>
              <a:t>報酬決定</a:t>
            </a:r>
          </a:p>
          <a:p>
            <a:pPr algn="ctr"/>
            <a:r>
              <a:rPr sz="750" b="0">
                <a:solidFill>
                  <a:srgbClr val="1F2E35"/>
                </a:solidFill>
                <a:latin typeface="Yu Gothic"/>
                <a:ea typeface="Yu Gothic"/>
                <a:cs typeface="Yu Gothic"/>
              </a:rPr>
              <a:t>勤怠・休暇管理</a:t>
            </a:r>
          </a:p>
          <a:p>
            <a:pPr algn="ctr"/>
            <a:r>
              <a:rPr sz="750" b="0">
                <a:solidFill>
                  <a:srgbClr val="1F2E35"/>
                </a:solidFill>
                <a:latin typeface="Yu Gothic"/>
                <a:ea typeface="Yu Gothic"/>
                <a:cs typeface="Yu Gothic"/>
              </a:rPr>
              <a:t>給与・社会保険・福利厚生</a:t>
            </a:r>
          </a:p>
          <a:p>
            <a:pPr algn="ctr"/>
            <a:r>
              <a:rPr sz="750" b="0">
                <a:solidFill>
                  <a:srgbClr val="1F2E35"/>
                </a:solidFill>
                <a:latin typeface="Yu Gothic"/>
                <a:ea typeface="Yu Gothic"/>
                <a:cs typeface="Yu Gothic"/>
              </a:rPr>
              <a:t>健康・安全・職場環境</a:t>
            </a:r>
          </a:p>
        </p:txBody>
      </p:sp>
      <p:sp>
        <p:nvSpPr>
          <p:cNvPr id="35" name="Diamond 34"/>
          <p:cNvSpPr/>
          <p:nvPr/>
        </p:nvSpPr>
        <p:spPr>
          <a:xfrm>
            <a:off x="4434840" y="5486400"/>
            <a:ext cx="237744" cy="237744"/>
          </a:xfrm>
          <a:prstGeom prst="diamond">
            <a:avLst/>
          </a:prstGeom>
          <a:solidFill>
            <a:srgbClr val="9C7C45"/>
          </a:solidFill>
          <a:ln w="1905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3456431" y="5742432"/>
            <a:ext cx="2194560" cy="182880"/>
          </a:xfrm>
          <a:prstGeom prst="rect">
            <a:avLst/>
          </a:prstGeom>
          <a:noFill/>
        </p:spPr>
        <p:txBody>
          <a:bodyPr wrap="square" lIns="0" rIns="0" tIns="0" bIns="0" anchor="ctr">
            <a:spAutoFit/>
          </a:bodyPr>
          <a:lstStyle/>
          <a:p>
            <a:pPr algn="ctr"/>
            <a:r>
              <a:rPr sz="800" b="1">
                <a:solidFill>
                  <a:srgbClr val="1F2E35"/>
                </a:solidFill>
                <a:latin typeface="Yu Gothic"/>
                <a:ea typeface="Yu Gothic"/>
                <a:cs typeface="Yu Gothic"/>
              </a:rPr>
              <a:t>評価の確定・報酬の支払</a:t>
            </a:r>
          </a:p>
        </p:txBody>
      </p:sp>
      <p:sp>
        <p:nvSpPr>
          <p:cNvPr id="37" name="Block Arc 36"/>
          <p:cNvSpPr/>
          <p:nvPr/>
        </p:nvSpPr>
        <p:spPr>
          <a:xfrm>
            <a:off x="5724144" y="3840480"/>
            <a:ext cx="1828800" cy="1828800"/>
          </a:xfrm>
          <a:prstGeom prst="blockArc">
            <a:avLst>
              <a:gd name="adj1" fmla="val -7200000"/>
              <a:gd name="adj2" fmla="val -11000000"/>
              <a:gd name="adj3" fmla="val 12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Isosceles Triangle 37"/>
          <p:cNvSpPr/>
          <p:nvPr/>
        </p:nvSpPr>
        <p:spPr>
          <a:xfrm rot="5400000">
            <a:off x="6492240" y="3794760"/>
            <a:ext cx="292608" cy="246888"/>
          </a:xfrm>
          <a:prstGeom prst="triangl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980176" y="4169664"/>
            <a:ext cx="1316736" cy="11887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キャリア・配置</a:t>
            </a:r>
          </a:p>
          <a:p>
            <a:pPr algn="ctr"/>
            <a:r>
              <a:rPr sz="750" b="0">
                <a:solidFill>
                  <a:srgbClr val="1F2E35"/>
                </a:solidFill>
                <a:latin typeface="Yu Gothic"/>
                <a:ea typeface="Yu Gothic"/>
                <a:cs typeface="Yu Gothic"/>
              </a:rPr>
              <a:t>タレントレビュー</a:t>
            </a:r>
          </a:p>
          <a:p>
            <a:pPr algn="ctr"/>
            <a:r>
              <a:rPr sz="750" b="0">
                <a:solidFill>
                  <a:srgbClr val="1F2E35"/>
                </a:solidFill>
                <a:latin typeface="Yu Gothic"/>
                <a:ea typeface="Yu Gothic"/>
                <a:cs typeface="Yu Gothic"/>
              </a:rPr>
              <a:t>異動・配置</a:t>
            </a:r>
          </a:p>
          <a:p>
            <a:pPr algn="ctr"/>
            <a:r>
              <a:rPr sz="750" b="0">
                <a:solidFill>
                  <a:srgbClr val="1F2E35"/>
                </a:solidFill>
                <a:latin typeface="Yu Gothic"/>
                <a:ea typeface="Yu Gothic"/>
                <a:cs typeface="Yu Gothic"/>
              </a:rPr>
              <a:t>昇格・登用</a:t>
            </a:r>
          </a:p>
          <a:p>
            <a:pPr algn="ctr"/>
            <a:r>
              <a:rPr sz="750" b="0">
                <a:solidFill>
                  <a:srgbClr val="1F2E35"/>
                </a:solidFill>
                <a:latin typeface="Yu Gothic"/>
                <a:ea typeface="Yu Gothic"/>
                <a:cs typeface="Yu Gothic"/>
              </a:rPr>
              <a:t>後継者・リーダー育成</a:t>
            </a:r>
          </a:p>
          <a:p>
            <a:pPr algn="ctr"/>
            <a:r>
              <a:rPr sz="750" b="0">
                <a:solidFill>
                  <a:srgbClr val="1F2E35"/>
                </a:solidFill>
                <a:latin typeface="Yu Gothic"/>
                <a:ea typeface="Yu Gothic"/>
                <a:cs typeface="Yu Gothic"/>
              </a:rPr>
              <a:t>多様な人材の活躍</a:t>
            </a:r>
          </a:p>
        </p:txBody>
      </p:sp>
      <p:sp>
        <p:nvSpPr>
          <p:cNvPr id="40" name="Diamond 39"/>
          <p:cNvSpPr/>
          <p:nvPr/>
        </p:nvSpPr>
        <p:spPr>
          <a:xfrm>
            <a:off x="6519672" y="5486400"/>
            <a:ext cx="237744" cy="237744"/>
          </a:xfrm>
          <a:prstGeom prst="diamond">
            <a:avLst/>
          </a:prstGeom>
          <a:solidFill>
            <a:srgbClr val="9C7C45"/>
          </a:solidFill>
          <a:ln w="1905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541264" y="5742432"/>
            <a:ext cx="2194560" cy="182880"/>
          </a:xfrm>
          <a:prstGeom prst="rect">
            <a:avLst/>
          </a:prstGeom>
          <a:noFill/>
        </p:spPr>
        <p:txBody>
          <a:bodyPr wrap="square" lIns="0" rIns="0" tIns="0" bIns="0" anchor="ctr">
            <a:spAutoFit/>
          </a:bodyPr>
          <a:lstStyle/>
          <a:p>
            <a:pPr algn="ctr"/>
            <a:r>
              <a:rPr sz="800" b="1">
                <a:solidFill>
                  <a:srgbClr val="1F2E35"/>
                </a:solidFill>
                <a:latin typeface="Yu Gothic"/>
                <a:ea typeface="Yu Gothic"/>
                <a:cs typeface="Yu Gothic"/>
              </a:rPr>
              <a:t>発令（異動・昇格の確定）</a:t>
            </a:r>
          </a:p>
        </p:txBody>
      </p:sp>
      <p:sp>
        <p:nvSpPr>
          <p:cNvPr id="42" name="TextBox 41"/>
          <p:cNvSpPr txBox="1"/>
          <p:nvPr/>
        </p:nvSpPr>
        <p:spPr>
          <a:xfrm>
            <a:off x="7726679" y="4434840"/>
            <a:ext cx="274320" cy="365760"/>
          </a:xfrm>
          <a:prstGeom prst="rect">
            <a:avLst/>
          </a:prstGeom>
          <a:noFill/>
        </p:spPr>
        <p:txBody>
          <a:bodyPr wrap="square" lIns="0" rIns="0" tIns="0" bIns="0" anchor="t">
            <a:spAutoFit/>
          </a:bodyPr>
          <a:lstStyle/>
          <a:p>
            <a:pPr algn="ctr"/>
            <a:r>
              <a:rPr sz="1800" b="1">
                <a:solidFill>
                  <a:srgbClr val="1F2E35"/>
                </a:solidFill>
                <a:latin typeface="Yu Gothic"/>
                <a:ea typeface="Yu Gothic"/>
                <a:cs typeface="Yu Gothic"/>
              </a:rPr>
              <a:t>A</a:t>
            </a:r>
          </a:p>
        </p:txBody>
      </p:sp>
      <p:sp>
        <p:nvSpPr>
          <p:cNvPr id="43" name="Right Arrow 42"/>
          <p:cNvSpPr/>
          <p:nvPr/>
        </p:nvSpPr>
        <p:spPr>
          <a:xfrm>
            <a:off x="8046720" y="4114800"/>
            <a:ext cx="3611880" cy="137160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183880" y="4297680"/>
            <a:ext cx="292608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退職・オフボーディング</a:t>
            </a:r>
          </a:p>
        </p:txBody>
      </p:sp>
      <p:sp>
        <p:nvSpPr>
          <p:cNvPr id="45" name="TextBox 44"/>
          <p:cNvSpPr txBox="1"/>
          <p:nvPr/>
        </p:nvSpPr>
        <p:spPr>
          <a:xfrm>
            <a:off x="10058400" y="4334256"/>
            <a:ext cx="868680" cy="201168"/>
          </a:xfrm>
          <a:prstGeom prst="rect">
            <a:avLst/>
          </a:prstGeom>
          <a:noFill/>
        </p:spPr>
        <p:txBody>
          <a:bodyPr wrap="square" lIns="0" rIns="0" tIns="0" bIns="0" anchor="ctr">
            <a:spAutoFit/>
          </a:bodyPr>
          <a:lstStyle/>
          <a:p>
            <a:pPr algn="r"/>
            <a:r>
              <a:rPr sz="850" b="1">
                <a:solidFill>
                  <a:srgbClr val="DDE6E8"/>
                </a:solidFill>
                <a:latin typeface="Yu Gothic"/>
                <a:ea typeface="Yu Gothic"/>
                <a:cs typeface="Yu Gothic"/>
              </a:rPr>
              <a:t>1人1回</a:t>
            </a:r>
          </a:p>
        </p:txBody>
      </p:sp>
      <p:sp>
        <p:nvSpPr>
          <p:cNvPr id="46" name="TextBox 45"/>
          <p:cNvSpPr txBox="1"/>
          <p:nvPr/>
        </p:nvSpPr>
        <p:spPr>
          <a:xfrm>
            <a:off x="8183880" y="4608576"/>
            <a:ext cx="2880360" cy="82296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退職の受付</a:t>
            </a:r>
          </a:p>
          <a:p>
            <a:pPr algn="l" marL="118872" indent="-118872">
              <a:buFont typeface="Yu Gothic"/>
              <a:buChar char="・"/>
            </a:pPr>
            <a:r>
              <a:rPr sz="900" b="0">
                <a:solidFill>
                  <a:srgbClr val="FFFFFF"/>
                </a:solidFill>
                <a:latin typeface="Yu Gothic"/>
                <a:ea typeface="Yu Gothic"/>
                <a:cs typeface="Yu Gothic"/>
              </a:rPr>
              <a:t>定年・再雇用</a:t>
            </a:r>
          </a:p>
          <a:p>
            <a:pPr algn="l" marL="118872" indent="-118872">
              <a:buFont typeface="Yu Gothic"/>
              <a:buChar char="・"/>
            </a:pPr>
            <a:r>
              <a:rPr sz="900" b="0">
                <a:solidFill>
                  <a:srgbClr val="FFFFFF"/>
                </a:solidFill>
                <a:latin typeface="Yu Gothic"/>
                <a:ea typeface="Yu Gothic"/>
                <a:cs typeface="Yu Gothic"/>
              </a:rPr>
              <a:t>退職手続き</a:t>
            </a:r>
          </a:p>
          <a:p>
            <a:pPr algn="l" marL="118872" indent="-118872">
              <a:buFont typeface="Yu Gothic"/>
              <a:buChar char="・"/>
            </a:pPr>
            <a:r>
              <a:rPr sz="900" b="0">
                <a:solidFill>
                  <a:srgbClr val="FFFFFF"/>
                </a:solidFill>
                <a:latin typeface="Yu Gothic"/>
                <a:ea typeface="Yu Gothic"/>
                <a:cs typeface="Yu Gothic"/>
              </a:rPr>
              <a:t>オフボーディング</a:t>
            </a:r>
          </a:p>
        </p:txBody>
      </p:sp>
      <p:sp>
        <p:nvSpPr>
          <p:cNvPr id="47" name="Diamond 46"/>
          <p:cNvSpPr/>
          <p:nvPr/>
        </p:nvSpPr>
        <p:spPr>
          <a:xfrm>
            <a:off x="11503152" y="4663440"/>
            <a:ext cx="274320" cy="274320"/>
          </a:xfrm>
          <a:prstGeom prst="diamond">
            <a:avLst/>
          </a:prstGeom>
          <a:solidFill>
            <a:srgbClr val="9C7C45"/>
          </a:solidFill>
          <a:ln w="1905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9646920" y="5532120"/>
            <a:ext cx="2194560" cy="274320"/>
          </a:xfrm>
          <a:prstGeom prst="rect">
            <a:avLst/>
          </a:prstGeom>
          <a:noFill/>
        </p:spPr>
        <p:txBody>
          <a:bodyPr wrap="square" lIns="0" rIns="0" tIns="0" bIns="0" anchor="t">
            <a:spAutoFit/>
          </a:bodyPr>
          <a:lstStyle/>
          <a:p>
            <a:pPr algn="r"/>
            <a:r>
              <a:rPr sz="850" b="1">
                <a:solidFill>
                  <a:srgbClr val="1F2E35"/>
                </a:solidFill>
                <a:latin typeface="Yu Gothic"/>
                <a:ea typeface="Yu Gothic"/>
                <a:cs typeface="Yu Gothic"/>
              </a:rPr>
              <a:t>雇用関係の終了（退職後の手続き完了）</a:t>
            </a:r>
          </a:p>
        </p:txBody>
      </p:sp>
      <p:sp>
        <p:nvSpPr>
          <p:cNvPr id="49" name="TextBox 48"/>
          <p:cNvSpPr txBox="1"/>
          <p:nvPr/>
        </p:nvSpPr>
        <p:spPr>
          <a:xfrm>
            <a:off x="457200" y="6492240"/>
            <a:ext cx="11247120" cy="228600"/>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◆は次の段階へ進む判断の節目（出口）。段階3〜5は在職中に毎年または随時繰り返し、退職（段階6）は1人1回。L4はxlsxの「バリューストリーム」シート。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ケイパビリティマップ全体像</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領域（L1）と能力（L2）。上段＝戦略、中段・右列＝コア、下段＝支援。★は日本の制度・雇用慣行に固有、または特に強調する能力</a:t>
            </a:r>
          </a:p>
        </p:txBody>
      </p:sp>
      <p:sp>
        <p:nvSpPr>
          <p:cNvPr id="4" name="Rounded Rectangle 3"/>
          <p:cNvSpPr/>
          <p:nvPr/>
        </p:nvSpPr>
        <p:spPr>
          <a:xfrm>
            <a:off x="457200" y="1325880"/>
            <a:ext cx="7406640" cy="530352"/>
          </a:xfrm>
          <a:prstGeom prst="roundRect">
            <a:avLst>
              <a:gd name="adj" fmla="val 15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457200" y="1362456"/>
            <a:ext cx="7406640"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人事戦略・組織設計（Strategy &amp; Governance）</a:t>
            </a:r>
          </a:p>
        </p:txBody>
      </p:sp>
      <p:sp>
        <p:nvSpPr>
          <p:cNvPr id="6" name="Rounded Rectangle 5"/>
          <p:cNvSpPr/>
          <p:nvPr/>
        </p:nvSpPr>
        <p:spPr>
          <a:xfrm>
            <a:off x="868680" y="1600199"/>
            <a:ext cx="210312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96112" y="1600199"/>
            <a:ext cx="2048255"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人事戦略・人的資本経営★</a:t>
            </a:r>
          </a:p>
        </p:txBody>
      </p:sp>
      <p:sp>
        <p:nvSpPr>
          <p:cNvPr id="8" name="Rounded Rectangle 7"/>
          <p:cNvSpPr/>
          <p:nvPr/>
        </p:nvSpPr>
        <p:spPr>
          <a:xfrm>
            <a:off x="3108960" y="1600199"/>
            <a:ext cx="210312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3136391" y="1600199"/>
            <a:ext cx="2048255"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要員計画・人件費管理</a:t>
            </a:r>
          </a:p>
        </p:txBody>
      </p:sp>
      <p:sp>
        <p:nvSpPr>
          <p:cNvPr id="10" name="Rounded Rectangle 9"/>
          <p:cNvSpPr/>
          <p:nvPr/>
        </p:nvSpPr>
        <p:spPr>
          <a:xfrm>
            <a:off x="5349240" y="1600199"/>
            <a:ext cx="210312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376672" y="1600199"/>
            <a:ext cx="2048255"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組織・職務設計</a:t>
            </a:r>
          </a:p>
        </p:txBody>
      </p:sp>
      <p:sp>
        <p:nvSpPr>
          <p:cNvPr id="12" name="TextBox 11"/>
          <p:cNvSpPr txBox="1"/>
          <p:nvPr/>
        </p:nvSpPr>
        <p:spPr>
          <a:xfrm>
            <a:off x="7882127" y="1435607"/>
            <a:ext cx="137160" cy="310896"/>
          </a:xfrm>
          <a:prstGeom prst="rect">
            <a:avLst/>
          </a:prstGeom>
          <a:noFill/>
        </p:spPr>
        <p:txBody>
          <a:bodyPr wrap="square" lIns="0" rIns="0" tIns="0" bIns="0" anchor="ctr">
            <a:spAutoFit/>
          </a:bodyPr>
          <a:lstStyle/>
          <a:p>
            <a:pPr algn="l"/>
            <a:r>
              <a:rPr sz="1400" b="1">
                <a:solidFill>
                  <a:srgbClr val="1F2E35"/>
                </a:solidFill>
                <a:latin typeface="Yu Gothic"/>
                <a:ea typeface="Yu Gothic"/>
                <a:cs typeface="Yu Gothic"/>
              </a:rPr>
              <a:t>〉</a:t>
            </a:r>
          </a:p>
        </p:txBody>
      </p:sp>
      <p:sp>
        <p:nvSpPr>
          <p:cNvPr id="13" name="Rounded Rectangle 12"/>
          <p:cNvSpPr/>
          <p:nvPr/>
        </p:nvSpPr>
        <p:spPr>
          <a:xfrm>
            <a:off x="457200" y="1984248"/>
            <a:ext cx="2404872" cy="3867912"/>
          </a:xfrm>
          <a:prstGeom prst="roundRect">
            <a:avLst>
              <a:gd name="adj" fmla="val 3000"/>
            </a:avLst>
          </a:prstGeom>
          <a:solidFill>
            <a:srgbClr val="FDEEE7"/>
          </a:solidFill>
          <a:ln w="19050">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2039112"/>
            <a:ext cx="2404872" cy="274320"/>
          </a:xfrm>
          <a:prstGeom prst="rect">
            <a:avLst/>
          </a:prstGeom>
          <a:noFill/>
        </p:spPr>
        <p:txBody>
          <a:bodyPr wrap="square" lIns="0" rIns="0" tIns="0" bIns="0" anchor="ctr">
            <a:spAutoFit/>
          </a:bodyPr>
          <a:lstStyle/>
          <a:p>
            <a:pPr algn="ctr"/>
            <a:r>
              <a:rPr sz="1250" b="1">
                <a:solidFill>
                  <a:srgbClr val="C24E1C"/>
                </a:solidFill>
                <a:latin typeface="Yu Gothic"/>
                <a:ea typeface="Yu Gothic"/>
                <a:cs typeface="Yu Gothic"/>
              </a:rPr>
              <a:t>Talent Acquisition</a:t>
            </a:r>
          </a:p>
        </p:txBody>
      </p:sp>
      <p:sp>
        <p:nvSpPr>
          <p:cNvPr id="15" name="Rounded Rectangle 14"/>
          <p:cNvSpPr/>
          <p:nvPr/>
        </p:nvSpPr>
        <p:spPr>
          <a:xfrm>
            <a:off x="530352" y="2368296"/>
            <a:ext cx="2258568" cy="3410712"/>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30352" y="3488436"/>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タレント獲得</a:t>
            </a:r>
          </a:p>
        </p:txBody>
      </p:sp>
      <p:sp>
        <p:nvSpPr>
          <p:cNvPr id="17" name="Rounded Rectangle 16"/>
          <p:cNvSpPr/>
          <p:nvPr/>
        </p:nvSpPr>
        <p:spPr>
          <a:xfrm>
            <a:off x="621792" y="3781044"/>
            <a:ext cx="2075687"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9224" y="3781044"/>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採用計画・採用ブランディング</a:t>
            </a:r>
          </a:p>
        </p:txBody>
      </p:sp>
      <p:sp>
        <p:nvSpPr>
          <p:cNvPr id="19" name="Rounded Rectangle 18"/>
          <p:cNvSpPr/>
          <p:nvPr/>
        </p:nvSpPr>
        <p:spPr>
          <a:xfrm>
            <a:off x="621792" y="3995928"/>
            <a:ext cx="2075687"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9224" y="3995928"/>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新卒採用★</a:t>
            </a:r>
          </a:p>
        </p:txBody>
      </p:sp>
      <p:sp>
        <p:nvSpPr>
          <p:cNvPr id="21" name="Rounded Rectangle 20"/>
          <p:cNvSpPr/>
          <p:nvPr/>
        </p:nvSpPr>
        <p:spPr>
          <a:xfrm>
            <a:off x="621792" y="4210812"/>
            <a:ext cx="2075687"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9224" y="4210812"/>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経験者採用</a:t>
            </a:r>
          </a:p>
        </p:txBody>
      </p:sp>
      <p:sp>
        <p:nvSpPr>
          <p:cNvPr id="23" name="Rounded Rectangle 22"/>
          <p:cNvSpPr/>
          <p:nvPr/>
        </p:nvSpPr>
        <p:spPr>
          <a:xfrm>
            <a:off x="621792" y="4425696"/>
            <a:ext cx="2075687"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9224" y="4425696"/>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採用コンプライアンス★</a:t>
            </a:r>
          </a:p>
        </p:txBody>
      </p:sp>
      <p:sp>
        <p:nvSpPr>
          <p:cNvPr id="25" name="Chevron 24"/>
          <p:cNvSpPr/>
          <p:nvPr/>
        </p:nvSpPr>
        <p:spPr>
          <a:xfrm rot="5400000">
            <a:off x="1600200" y="1755648"/>
            <a:ext cx="118872" cy="310896"/>
          </a:xfrm>
          <a:prstGeom prst="chevron">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Chevron 25"/>
          <p:cNvSpPr/>
          <p:nvPr/>
        </p:nvSpPr>
        <p:spPr>
          <a:xfrm rot="5400000">
            <a:off x="1600200" y="5742432"/>
            <a:ext cx="118872" cy="310896"/>
          </a:xfrm>
          <a:prstGeom prst="chevron">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2953512" y="1984248"/>
            <a:ext cx="2404872" cy="3867912"/>
          </a:xfrm>
          <a:prstGeom prst="roundRect">
            <a:avLst>
              <a:gd name="adj" fmla="val 3000"/>
            </a:avLst>
          </a:prstGeom>
          <a:solidFill>
            <a:srgbClr val="EEECF7"/>
          </a:solidFill>
          <a:ln w="1905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2953512" y="2039112"/>
            <a:ext cx="2404872" cy="274320"/>
          </a:xfrm>
          <a:prstGeom prst="rect">
            <a:avLst/>
          </a:prstGeom>
          <a:noFill/>
        </p:spPr>
        <p:txBody>
          <a:bodyPr wrap="square" lIns="0" rIns="0" tIns="0" bIns="0" anchor="ctr">
            <a:spAutoFit/>
          </a:bodyPr>
          <a:lstStyle/>
          <a:p>
            <a:pPr algn="ctr"/>
            <a:r>
              <a:rPr sz="1250" b="1">
                <a:solidFill>
                  <a:srgbClr val="4A3AA7"/>
                </a:solidFill>
                <a:latin typeface="Yu Gothic"/>
                <a:ea typeface="Yu Gothic"/>
                <a:cs typeface="Yu Gothic"/>
              </a:rPr>
              <a:t>Talent Development</a:t>
            </a:r>
          </a:p>
        </p:txBody>
      </p:sp>
      <p:sp>
        <p:nvSpPr>
          <p:cNvPr id="29" name="Rounded Rectangle 28"/>
          <p:cNvSpPr/>
          <p:nvPr/>
        </p:nvSpPr>
        <p:spPr>
          <a:xfrm>
            <a:off x="3026664" y="2368296"/>
            <a:ext cx="2258568" cy="165963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3026664" y="2612898"/>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人材育成・能力開発</a:t>
            </a:r>
          </a:p>
        </p:txBody>
      </p:sp>
      <p:sp>
        <p:nvSpPr>
          <p:cNvPr id="31" name="Rounded Rectangle 30"/>
          <p:cNvSpPr/>
          <p:nvPr/>
        </p:nvSpPr>
        <p:spPr>
          <a:xfrm>
            <a:off x="3118104" y="2905506"/>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3145536" y="2905506"/>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育成体系・研修管理</a:t>
            </a:r>
          </a:p>
        </p:txBody>
      </p:sp>
      <p:sp>
        <p:nvSpPr>
          <p:cNvPr id="33" name="Rounded Rectangle 32"/>
          <p:cNvSpPr/>
          <p:nvPr/>
        </p:nvSpPr>
        <p:spPr>
          <a:xfrm>
            <a:off x="3118104" y="3120389"/>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3145536" y="3120389"/>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スキル・資格管理</a:t>
            </a:r>
          </a:p>
        </p:txBody>
      </p:sp>
      <p:sp>
        <p:nvSpPr>
          <p:cNvPr id="35" name="Rounded Rectangle 34"/>
          <p:cNvSpPr/>
          <p:nvPr/>
        </p:nvSpPr>
        <p:spPr>
          <a:xfrm>
            <a:off x="3118104" y="3335274"/>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3145536" y="3335274"/>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キャリア開発支援</a:t>
            </a:r>
          </a:p>
        </p:txBody>
      </p:sp>
      <p:sp>
        <p:nvSpPr>
          <p:cNvPr id="37" name="Rounded Rectangle 36"/>
          <p:cNvSpPr/>
          <p:nvPr/>
        </p:nvSpPr>
        <p:spPr>
          <a:xfrm>
            <a:off x="3118104" y="3550158"/>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3145536" y="3550158"/>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法定・コンプライアンス教育</a:t>
            </a:r>
          </a:p>
        </p:txBody>
      </p:sp>
      <p:sp>
        <p:nvSpPr>
          <p:cNvPr id="39" name="Rounded Rectangle 38"/>
          <p:cNvSpPr/>
          <p:nvPr/>
        </p:nvSpPr>
        <p:spPr>
          <a:xfrm>
            <a:off x="3026664" y="4119372"/>
            <a:ext cx="2258568" cy="165963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3026664" y="4363974"/>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タレントマネジメント・配置</a:t>
            </a:r>
          </a:p>
        </p:txBody>
      </p:sp>
      <p:sp>
        <p:nvSpPr>
          <p:cNvPr id="41" name="Rounded Rectangle 40"/>
          <p:cNvSpPr/>
          <p:nvPr/>
        </p:nvSpPr>
        <p:spPr>
          <a:xfrm>
            <a:off x="3118104" y="4656582"/>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3145536" y="4656582"/>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タレントレビュー・配置</a:t>
            </a:r>
          </a:p>
        </p:txBody>
      </p:sp>
      <p:sp>
        <p:nvSpPr>
          <p:cNvPr id="43" name="Rounded Rectangle 42"/>
          <p:cNvSpPr/>
          <p:nvPr/>
        </p:nvSpPr>
        <p:spPr>
          <a:xfrm>
            <a:off x="3118104" y="4871466"/>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3145536" y="4871466"/>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昇格・登用</a:t>
            </a:r>
          </a:p>
        </p:txBody>
      </p:sp>
      <p:sp>
        <p:nvSpPr>
          <p:cNvPr id="45" name="Rounded Rectangle 44"/>
          <p:cNvSpPr/>
          <p:nvPr/>
        </p:nvSpPr>
        <p:spPr>
          <a:xfrm>
            <a:off x="3118104" y="5086350"/>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3145536" y="5086350"/>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後継者・リーダー育成</a:t>
            </a:r>
          </a:p>
        </p:txBody>
      </p:sp>
      <p:sp>
        <p:nvSpPr>
          <p:cNvPr id="47" name="Rounded Rectangle 46"/>
          <p:cNvSpPr/>
          <p:nvPr/>
        </p:nvSpPr>
        <p:spPr>
          <a:xfrm>
            <a:off x="3118104" y="5301234"/>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3145536" y="5301234"/>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多様な人材の活躍推進★</a:t>
            </a:r>
          </a:p>
        </p:txBody>
      </p:sp>
      <p:sp>
        <p:nvSpPr>
          <p:cNvPr id="49" name="Chevron 48"/>
          <p:cNvSpPr/>
          <p:nvPr/>
        </p:nvSpPr>
        <p:spPr>
          <a:xfrm rot="5400000">
            <a:off x="4096511" y="1755648"/>
            <a:ext cx="118872" cy="310896"/>
          </a:xfrm>
          <a:prstGeom prst="chevron">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Chevron 49"/>
          <p:cNvSpPr/>
          <p:nvPr/>
        </p:nvSpPr>
        <p:spPr>
          <a:xfrm rot="5400000">
            <a:off x="4096511" y="5742432"/>
            <a:ext cx="118872" cy="310896"/>
          </a:xfrm>
          <a:prstGeom prst="chevron">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5449824" y="1984248"/>
            <a:ext cx="2404872" cy="3867912"/>
          </a:xfrm>
          <a:prstGeom prst="roundRect">
            <a:avLst>
              <a:gd name="adj" fmla="val 3000"/>
            </a:avLst>
          </a:prstGeom>
          <a:solidFill>
            <a:srgbClr val="E6F6F0"/>
          </a:solidFill>
          <a:ln w="19050">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449824" y="2039112"/>
            <a:ext cx="2404872" cy="274320"/>
          </a:xfrm>
          <a:prstGeom prst="rect">
            <a:avLst/>
          </a:prstGeom>
          <a:noFill/>
        </p:spPr>
        <p:txBody>
          <a:bodyPr wrap="square" lIns="0" rIns="0" tIns="0" bIns="0" anchor="ctr">
            <a:spAutoFit/>
          </a:bodyPr>
          <a:lstStyle/>
          <a:p>
            <a:pPr algn="ctr"/>
            <a:r>
              <a:rPr sz="1250" b="1">
                <a:solidFill>
                  <a:srgbClr val="0E7A52"/>
                </a:solidFill>
                <a:latin typeface="Yu Gothic"/>
                <a:ea typeface="Yu Gothic"/>
                <a:cs typeface="Yu Gothic"/>
              </a:rPr>
              <a:t>Employment Lifecycle</a:t>
            </a:r>
          </a:p>
        </p:txBody>
      </p:sp>
      <p:sp>
        <p:nvSpPr>
          <p:cNvPr id="53" name="Rounded Rectangle 52"/>
          <p:cNvSpPr/>
          <p:nvPr/>
        </p:nvSpPr>
        <p:spPr>
          <a:xfrm>
            <a:off x="5522976" y="2368296"/>
            <a:ext cx="2258568" cy="165963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5522976" y="2720340"/>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入社・雇用管理</a:t>
            </a:r>
          </a:p>
        </p:txBody>
      </p:sp>
      <p:sp>
        <p:nvSpPr>
          <p:cNvPr id="55" name="Rounded Rectangle 54"/>
          <p:cNvSpPr/>
          <p:nvPr/>
        </p:nvSpPr>
        <p:spPr>
          <a:xfrm>
            <a:off x="5614416" y="3012948"/>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641848" y="3012948"/>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雇用契約・入社手続き★</a:t>
            </a:r>
          </a:p>
        </p:txBody>
      </p:sp>
      <p:sp>
        <p:nvSpPr>
          <p:cNvPr id="57" name="Rounded Rectangle 56"/>
          <p:cNvSpPr/>
          <p:nvPr/>
        </p:nvSpPr>
        <p:spPr>
          <a:xfrm>
            <a:off x="5614416" y="3227832"/>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5641848" y="3227832"/>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オンボーディング</a:t>
            </a:r>
          </a:p>
        </p:txBody>
      </p:sp>
      <p:sp>
        <p:nvSpPr>
          <p:cNvPr id="59" name="Rounded Rectangle 58"/>
          <p:cNvSpPr/>
          <p:nvPr/>
        </p:nvSpPr>
        <p:spPr>
          <a:xfrm>
            <a:off x="5614416" y="3442715"/>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5641848" y="3442715"/>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従業員情報管理★</a:t>
            </a:r>
          </a:p>
        </p:txBody>
      </p:sp>
      <p:sp>
        <p:nvSpPr>
          <p:cNvPr id="61" name="Rounded Rectangle 60"/>
          <p:cNvSpPr/>
          <p:nvPr/>
        </p:nvSpPr>
        <p:spPr>
          <a:xfrm>
            <a:off x="5522976" y="4119372"/>
            <a:ext cx="2258568" cy="165963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5522976" y="4471416"/>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退職・雇用終了</a:t>
            </a:r>
          </a:p>
        </p:txBody>
      </p:sp>
      <p:sp>
        <p:nvSpPr>
          <p:cNvPr id="63" name="Rounded Rectangle 62"/>
          <p:cNvSpPr/>
          <p:nvPr/>
        </p:nvSpPr>
        <p:spPr>
          <a:xfrm>
            <a:off x="5614416" y="4764024"/>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5641848" y="4764024"/>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退職手続き★</a:t>
            </a:r>
          </a:p>
        </p:txBody>
      </p:sp>
      <p:sp>
        <p:nvSpPr>
          <p:cNvPr id="65" name="Rounded Rectangle 64"/>
          <p:cNvSpPr/>
          <p:nvPr/>
        </p:nvSpPr>
        <p:spPr>
          <a:xfrm>
            <a:off x="5614416" y="4978908"/>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5641848" y="4978908"/>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定年・再雇用★</a:t>
            </a:r>
          </a:p>
        </p:txBody>
      </p:sp>
      <p:sp>
        <p:nvSpPr>
          <p:cNvPr id="67" name="Rounded Rectangle 66"/>
          <p:cNvSpPr/>
          <p:nvPr/>
        </p:nvSpPr>
        <p:spPr>
          <a:xfrm>
            <a:off x="5614416" y="5193792"/>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5641848" y="5193792"/>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オフボーディング</a:t>
            </a:r>
          </a:p>
        </p:txBody>
      </p:sp>
      <p:sp>
        <p:nvSpPr>
          <p:cNvPr id="69" name="Chevron 68"/>
          <p:cNvSpPr/>
          <p:nvPr/>
        </p:nvSpPr>
        <p:spPr>
          <a:xfrm rot="5400000">
            <a:off x="6592824" y="1755648"/>
            <a:ext cx="118872" cy="310896"/>
          </a:xfrm>
          <a:prstGeom prst="chevron">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Chevron 69"/>
          <p:cNvSpPr/>
          <p:nvPr/>
        </p:nvSpPr>
        <p:spPr>
          <a:xfrm rot="5400000">
            <a:off x="6592824" y="5742432"/>
            <a:ext cx="118872" cy="310896"/>
          </a:xfrm>
          <a:prstGeom prst="chevron">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001000" y="1325880"/>
            <a:ext cx="3730752" cy="4526280"/>
          </a:xfrm>
          <a:prstGeom prst="roundRect">
            <a:avLst>
              <a:gd name="adj" fmla="val 3000"/>
            </a:avLst>
          </a:prstGeom>
          <a:solidFill>
            <a:srgbClr val="E8F1FB"/>
          </a:solidFill>
          <a:ln w="19050">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8001000" y="1380744"/>
            <a:ext cx="3730752" cy="274320"/>
          </a:xfrm>
          <a:prstGeom prst="rect">
            <a:avLst/>
          </a:prstGeom>
          <a:noFill/>
        </p:spPr>
        <p:txBody>
          <a:bodyPr wrap="square" lIns="0" rIns="0" tIns="0" bIns="0" anchor="ctr">
            <a:spAutoFit/>
          </a:bodyPr>
          <a:lstStyle/>
          <a:p>
            <a:pPr algn="ctr"/>
            <a:r>
              <a:rPr sz="1250" b="1">
                <a:solidFill>
                  <a:srgbClr val="2A78D6"/>
                </a:solidFill>
                <a:latin typeface="Yu Gothic"/>
                <a:ea typeface="Yu Gothic"/>
                <a:cs typeface="Yu Gothic"/>
              </a:rPr>
              <a:t>Rewards &amp; Workplace</a:t>
            </a:r>
          </a:p>
        </p:txBody>
      </p:sp>
      <p:sp>
        <p:nvSpPr>
          <p:cNvPr id="73" name="Rounded Rectangle 72"/>
          <p:cNvSpPr/>
          <p:nvPr/>
        </p:nvSpPr>
        <p:spPr>
          <a:xfrm>
            <a:off x="8074152" y="1709928"/>
            <a:ext cx="3584448" cy="1988819"/>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074152" y="2119122"/>
            <a:ext cx="358444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パフォーマンス・報酬管理</a:t>
            </a:r>
          </a:p>
        </p:txBody>
      </p:sp>
      <p:sp>
        <p:nvSpPr>
          <p:cNvPr id="75" name="Rounded Rectangle 74"/>
          <p:cNvSpPr/>
          <p:nvPr/>
        </p:nvSpPr>
        <p:spPr>
          <a:xfrm>
            <a:off x="8165592" y="2411729"/>
            <a:ext cx="3401568"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193023" y="2411729"/>
            <a:ext cx="334670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目標・評価管理</a:t>
            </a:r>
          </a:p>
        </p:txBody>
      </p:sp>
      <p:sp>
        <p:nvSpPr>
          <p:cNvPr id="77" name="Rounded Rectangle 76"/>
          <p:cNvSpPr/>
          <p:nvPr/>
        </p:nvSpPr>
        <p:spPr>
          <a:xfrm>
            <a:off x="8165592" y="2626613"/>
            <a:ext cx="3401568"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8193023" y="2626613"/>
            <a:ext cx="334670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報酬制度・報酬決定</a:t>
            </a:r>
          </a:p>
        </p:txBody>
      </p:sp>
      <p:sp>
        <p:nvSpPr>
          <p:cNvPr id="79" name="Rounded Rectangle 78"/>
          <p:cNvSpPr/>
          <p:nvPr/>
        </p:nvSpPr>
        <p:spPr>
          <a:xfrm>
            <a:off x="8165592" y="2841498"/>
            <a:ext cx="3401568"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193023" y="2841498"/>
            <a:ext cx="334670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給与計算・支払★</a:t>
            </a:r>
          </a:p>
        </p:txBody>
      </p:sp>
      <p:sp>
        <p:nvSpPr>
          <p:cNvPr id="81" name="Rounded Rectangle 80"/>
          <p:cNvSpPr/>
          <p:nvPr/>
        </p:nvSpPr>
        <p:spPr>
          <a:xfrm>
            <a:off x="8165592" y="3056382"/>
            <a:ext cx="3401568"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8193023" y="3056382"/>
            <a:ext cx="334670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社会保険・福利厚生</a:t>
            </a:r>
          </a:p>
        </p:txBody>
      </p:sp>
      <p:sp>
        <p:nvSpPr>
          <p:cNvPr id="83" name="Rounded Rectangle 82"/>
          <p:cNvSpPr/>
          <p:nvPr/>
        </p:nvSpPr>
        <p:spPr>
          <a:xfrm>
            <a:off x="8074152" y="3790187"/>
            <a:ext cx="3584448" cy="1988819"/>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8074152" y="4199381"/>
            <a:ext cx="358444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就業・労務管理</a:t>
            </a:r>
          </a:p>
        </p:txBody>
      </p:sp>
      <p:sp>
        <p:nvSpPr>
          <p:cNvPr id="85" name="Rounded Rectangle 84"/>
          <p:cNvSpPr/>
          <p:nvPr/>
        </p:nvSpPr>
        <p:spPr>
          <a:xfrm>
            <a:off x="8165592" y="4491990"/>
            <a:ext cx="3401568"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8193023" y="4491990"/>
            <a:ext cx="334670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勤怠・休暇管理★</a:t>
            </a:r>
          </a:p>
        </p:txBody>
      </p:sp>
      <p:sp>
        <p:nvSpPr>
          <p:cNvPr id="87" name="Rounded Rectangle 86"/>
          <p:cNvSpPr/>
          <p:nvPr/>
        </p:nvSpPr>
        <p:spPr>
          <a:xfrm>
            <a:off x="8165592" y="4706874"/>
            <a:ext cx="3401568"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8193023" y="4706874"/>
            <a:ext cx="334670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健康・安全管理★</a:t>
            </a:r>
          </a:p>
        </p:txBody>
      </p:sp>
      <p:sp>
        <p:nvSpPr>
          <p:cNvPr id="89" name="Rounded Rectangle 88"/>
          <p:cNvSpPr/>
          <p:nvPr/>
        </p:nvSpPr>
        <p:spPr>
          <a:xfrm>
            <a:off x="8165592" y="4921757"/>
            <a:ext cx="3401568"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8193023" y="4921757"/>
            <a:ext cx="334670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労使関係・従業員対応</a:t>
            </a:r>
          </a:p>
        </p:txBody>
      </p:sp>
      <p:sp>
        <p:nvSpPr>
          <p:cNvPr id="91" name="Rounded Rectangle 90"/>
          <p:cNvSpPr/>
          <p:nvPr/>
        </p:nvSpPr>
        <p:spPr>
          <a:xfrm>
            <a:off x="8165592" y="5136642"/>
            <a:ext cx="3401568"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TextBox 91"/>
          <p:cNvSpPr txBox="1"/>
          <p:nvPr/>
        </p:nvSpPr>
        <p:spPr>
          <a:xfrm>
            <a:off x="8193023" y="5136642"/>
            <a:ext cx="334670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エンゲージメント・働き方</a:t>
            </a:r>
          </a:p>
        </p:txBody>
      </p:sp>
      <p:sp>
        <p:nvSpPr>
          <p:cNvPr id="93" name="Chevron 92"/>
          <p:cNvSpPr/>
          <p:nvPr/>
        </p:nvSpPr>
        <p:spPr>
          <a:xfrm rot="5400000">
            <a:off x="9806940" y="5742432"/>
            <a:ext cx="118872" cy="310896"/>
          </a:xfrm>
          <a:prstGeom prst="chevron">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457200" y="5989320"/>
            <a:ext cx="11274552" cy="566928"/>
          </a:xfrm>
          <a:prstGeom prst="roundRect">
            <a:avLst>
              <a:gd name="adj" fmla="val 15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TextBox 94"/>
          <p:cNvSpPr txBox="1"/>
          <p:nvPr/>
        </p:nvSpPr>
        <p:spPr>
          <a:xfrm>
            <a:off x="457200" y="6025896"/>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人事基盤（Support / Foundation）</a:t>
            </a:r>
          </a:p>
        </p:txBody>
      </p:sp>
      <p:sp>
        <p:nvSpPr>
          <p:cNvPr id="96" name="Rounded Rectangle 95"/>
          <p:cNvSpPr/>
          <p:nvPr/>
        </p:nvSpPr>
        <p:spPr>
          <a:xfrm>
            <a:off x="1156715" y="6300216"/>
            <a:ext cx="32004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TextBox 96"/>
          <p:cNvSpPr txBox="1"/>
          <p:nvPr/>
        </p:nvSpPr>
        <p:spPr>
          <a:xfrm>
            <a:off x="1184147" y="6300216"/>
            <a:ext cx="314553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人事データ・分析</a:t>
            </a:r>
          </a:p>
        </p:txBody>
      </p:sp>
      <p:sp>
        <p:nvSpPr>
          <p:cNvPr id="98" name="Rounded Rectangle 97"/>
          <p:cNvSpPr/>
          <p:nvPr/>
        </p:nvSpPr>
        <p:spPr>
          <a:xfrm>
            <a:off x="4494275" y="6300216"/>
            <a:ext cx="32004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4521707" y="6300216"/>
            <a:ext cx="314553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人事サービス提供</a:t>
            </a:r>
          </a:p>
        </p:txBody>
      </p:sp>
      <p:sp>
        <p:nvSpPr>
          <p:cNvPr id="100" name="Rounded Rectangle 99"/>
          <p:cNvSpPr/>
          <p:nvPr/>
        </p:nvSpPr>
        <p:spPr>
          <a:xfrm>
            <a:off x="7831836" y="6300216"/>
            <a:ext cx="32004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TextBox 100"/>
          <p:cNvSpPr txBox="1"/>
          <p:nvPr/>
        </p:nvSpPr>
        <p:spPr>
          <a:xfrm>
            <a:off x="7859267" y="6300216"/>
            <a:ext cx="3145536" cy="182880"/>
          </a:xfrm>
          <a:prstGeom prst="rect">
            <a:avLst/>
          </a:prstGeom>
          <a:noFill/>
        </p:spPr>
        <p:txBody>
          <a:bodyPr wrap="square" lIns="0" rIns="0" tIns="0" bIns="0" anchor="ctr">
            <a:spAutoFit/>
          </a:bodyPr>
          <a:lstStyle/>
          <a:p>
            <a:pPr algn="ctr"/>
            <a:r>
              <a:rPr sz="680" b="0">
                <a:solidFill>
                  <a:srgbClr val="1F2E35"/>
                </a:solidFill>
                <a:latin typeface="Yu Gothic"/>
                <a:ea typeface="Yu Gothic"/>
                <a:cs typeface="Yu Gothic"/>
              </a:rPr>
              <a:t>人事情報セキュリティ・個人情報保護★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VS×ケイパビリティマップ全体像</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各段階（VS L2）が、どの領域の能力（ケイパビリティL1）を中核として使うか。円の大きさ＝「主」の関係の件数</a:t>
            </a:r>
          </a:p>
        </p:txBody>
      </p:sp>
      <p:sp>
        <p:nvSpPr>
          <p:cNvPr id="4" name="Rectangle 3"/>
          <p:cNvSpPr/>
          <p:nvPr/>
        </p:nvSpPr>
        <p:spPr>
          <a:xfrm>
            <a:off x="4416552" y="1261872"/>
            <a:ext cx="2377439" cy="23774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4416552" y="1261872"/>
            <a:ext cx="2377439" cy="237744"/>
          </a:xfrm>
          <a:prstGeom prst="rect">
            <a:avLst/>
          </a:prstGeom>
          <a:noFill/>
        </p:spPr>
        <p:txBody>
          <a:bodyPr wrap="square" lIns="0" rIns="0" tIns="0" bIns="0" anchor="ctr">
            <a:spAutoFit/>
          </a:bodyPr>
          <a:lstStyle/>
          <a:p>
            <a:pPr algn="ctr"/>
            <a:r>
              <a:rPr sz="900" b="1">
                <a:solidFill>
                  <a:srgbClr val="FFFFFF"/>
                </a:solidFill>
                <a:latin typeface="Yu Gothic"/>
                <a:ea typeface="Yu Gothic"/>
                <a:cs typeface="Yu Gothic"/>
              </a:rPr>
              <a:t>Phase 1：入職（Hire）</a:t>
            </a:r>
          </a:p>
        </p:txBody>
      </p:sp>
      <p:sp>
        <p:nvSpPr>
          <p:cNvPr id="6" name="Rectangle 5"/>
          <p:cNvSpPr/>
          <p:nvPr/>
        </p:nvSpPr>
        <p:spPr>
          <a:xfrm>
            <a:off x="6867144" y="1261872"/>
            <a:ext cx="3602735" cy="23774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867144" y="1261872"/>
            <a:ext cx="3602735" cy="237744"/>
          </a:xfrm>
          <a:prstGeom prst="rect">
            <a:avLst/>
          </a:prstGeom>
          <a:noFill/>
        </p:spPr>
        <p:txBody>
          <a:bodyPr wrap="square" lIns="0" rIns="0" tIns="0" bIns="0" anchor="ctr">
            <a:spAutoFit/>
          </a:bodyPr>
          <a:lstStyle/>
          <a:p>
            <a:pPr algn="ctr"/>
            <a:r>
              <a:rPr sz="900" b="1">
                <a:solidFill>
                  <a:srgbClr val="FFFFFF"/>
                </a:solidFill>
                <a:latin typeface="Yu Gothic"/>
                <a:ea typeface="Yu Gothic"/>
                <a:cs typeface="Yu Gothic"/>
              </a:rPr>
              <a:t>Phase 2：在職（Develop &amp; Reward）</a:t>
            </a:r>
          </a:p>
        </p:txBody>
      </p:sp>
      <p:sp>
        <p:nvSpPr>
          <p:cNvPr id="8" name="Rectangle 7"/>
          <p:cNvSpPr/>
          <p:nvPr/>
        </p:nvSpPr>
        <p:spPr>
          <a:xfrm>
            <a:off x="10543031" y="1261872"/>
            <a:ext cx="1152143" cy="23774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543031" y="1261872"/>
            <a:ext cx="1152143" cy="237744"/>
          </a:xfrm>
          <a:prstGeom prst="rect">
            <a:avLst/>
          </a:prstGeom>
          <a:noFill/>
        </p:spPr>
        <p:txBody>
          <a:bodyPr wrap="square" lIns="0" rIns="0" tIns="0" bIns="0" anchor="ctr">
            <a:spAutoFit/>
          </a:bodyPr>
          <a:lstStyle/>
          <a:p>
            <a:pPr algn="ctr"/>
            <a:r>
              <a:rPr sz="850" b="1">
                <a:solidFill>
                  <a:srgbClr val="FFFFFF"/>
                </a:solidFill>
                <a:latin typeface="Yu Gothic"/>
                <a:ea typeface="Yu Gothic"/>
                <a:cs typeface="Yu Gothic"/>
              </a:rPr>
              <a:t>Phase 3：退職</a:t>
            </a:r>
          </a:p>
        </p:txBody>
      </p:sp>
      <p:sp>
        <p:nvSpPr>
          <p:cNvPr id="10" name="Right Arrow 9"/>
          <p:cNvSpPr/>
          <p:nvPr/>
        </p:nvSpPr>
        <p:spPr>
          <a:xfrm>
            <a:off x="4718304"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379976" y="1975104"/>
            <a:ext cx="1225295"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人員計画・採用</a:t>
            </a:r>
          </a:p>
        </p:txBody>
      </p:sp>
      <p:sp>
        <p:nvSpPr>
          <p:cNvPr id="12" name="Right Arrow 11"/>
          <p:cNvSpPr/>
          <p:nvPr/>
        </p:nvSpPr>
        <p:spPr>
          <a:xfrm>
            <a:off x="5943600"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605272" y="1975104"/>
            <a:ext cx="1225295"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入社・オンボーディング</a:t>
            </a:r>
          </a:p>
        </p:txBody>
      </p:sp>
      <p:sp>
        <p:nvSpPr>
          <p:cNvPr id="14" name="Block Arc 13"/>
          <p:cNvSpPr/>
          <p:nvPr/>
        </p:nvSpPr>
        <p:spPr>
          <a:xfrm>
            <a:off x="7287768" y="1609343"/>
            <a:ext cx="310896" cy="310896"/>
          </a:xfrm>
          <a:prstGeom prst="blockArc">
            <a:avLst>
              <a:gd name="adj1" fmla="val -7200000"/>
              <a:gd name="adj2" fmla="val -11000000"/>
              <a:gd name="adj3" fmla="val 18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Isosceles Triangle 14"/>
          <p:cNvSpPr/>
          <p:nvPr/>
        </p:nvSpPr>
        <p:spPr>
          <a:xfrm rot="5400000">
            <a:off x="7388352" y="1591055"/>
            <a:ext cx="118872" cy="91440"/>
          </a:xfrm>
          <a:prstGeom prst="triangl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830568" y="1975104"/>
            <a:ext cx="1225295"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人材育成・能力開発</a:t>
            </a:r>
          </a:p>
        </p:txBody>
      </p:sp>
      <p:sp>
        <p:nvSpPr>
          <p:cNvPr id="17" name="Block Arc 16"/>
          <p:cNvSpPr/>
          <p:nvPr/>
        </p:nvSpPr>
        <p:spPr>
          <a:xfrm>
            <a:off x="8513063" y="1609343"/>
            <a:ext cx="310896" cy="310896"/>
          </a:xfrm>
          <a:prstGeom prst="blockArc">
            <a:avLst>
              <a:gd name="adj1" fmla="val -7200000"/>
              <a:gd name="adj2" fmla="val -11000000"/>
              <a:gd name="adj3" fmla="val 18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Isosceles Triangle 17"/>
          <p:cNvSpPr/>
          <p:nvPr/>
        </p:nvSpPr>
        <p:spPr>
          <a:xfrm rot="5400000">
            <a:off x="8613647" y="1591055"/>
            <a:ext cx="118872" cy="91440"/>
          </a:xfrm>
          <a:prstGeom prst="triangl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055863" y="1975104"/>
            <a:ext cx="1225295"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評価・処遇</a:t>
            </a:r>
          </a:p>
        </p:txBody>
      </p:sp>
      <p:sp>
        <p:nvSpPr>
          <p:cNvPr id="20" name="Block Arc 19"/>
          <p:cNvSpPr/>
          <p:nvPr/>
        </p:nvSpPr>
        <p:spPr>
          <a:xfrm>
            <a:off x="9738359" y="1609343"/>
            <a:ext cx="310896" cy="310896"/>
          </a:xfrm>
          <a:prstGeom prst="blockArc">
            <a:avLst>
              <a:gd name="adj1" fmla="val -7200000"/>
              <a:gd name="adj2" fmla="val -11000000"/>
              <a:gd name="adj3" fmla="val 18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Isosceles Triangle 20"/>
          <p:cNvSpPr/>
          <p:nvPr/>
        </p:nvSpPr>
        <p:spPr>
          <a:xfrm rot="5400000">
            <a:off x="9838943" y="1591055"/>
            <a:ext cx="118872" cy="91440"/>
          </a:xfrm>
          <a:prstGeom prst="triangl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281159" y="1975104"/>
            <a:ext cx="1225295"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キャリア・配置</a:t>
            </a:r>
          </a:p>
        </p:txBody>
      </p:sp>
      <p:sp>
        <p:nvSpPr>
          <p:cNvPr id="23" name="Right Arrow 22"/>
          <p:cNvSpPr/>
          <p:nvPr/>
        </p:nvSpPr>
        <p:spPr>
          <a:xfrm>
            <a:off x="10844783"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506455" y="1975104"/>
            <a:ext cx="1225295"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退職・オフボーディング</a:t>
            </a:r>
          </a:p>
        </p:txBody>
      </p:sp>
      <p:sp>
        <p:nvSpPr>
          <p:cNvPr id="25" name="Rectangle 24"/>
          <p:cNvSpPr/>
          <p:nvPr/>
        </p:nvSpPr>
        <p:spPr>
          <a:xfrm>
            <a:off x="2103120" y="2377440"/>
            <a:ext cx="9628632" cy="329184"/>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2194560" y="2377440"/>
            <a:ext cx="219456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人事戦略・組織設計</a:t>
            </a:r>
          </a:p>
        </p:txBody>
      </p:sp>
      <p:sp>
        <p:nvSpPr>
          <p:cNvPr id="27" name="Oval 26"/>
          <p:cNvSpPr/>
          <p:nvPr/>
        </p:nvSpPr>
        <p:spPr>
          <a:xfrm>
            <a:off x="4905756" y="2455164"/>
            <a:ext cx="173736" cy="173736"/>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val 27"/>
          <p:cNvSpPr/>
          <p:nvPr/>
        </p:nvSpPr>
        <p:spPr>
          <a:xfrm>
            <a:off x="8587156" y="2460676"/>
            <a:ext cx="162710" cy="16271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9818991" y="2467215"/>
            <a:ext cx="149632" cy="149632"/>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2011679" y="2395728"/>
            <a:ext cx="54864" cy="292607"/>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274320" y="2377440"/>
            <a:ext cx="1645920" cy="329183"/>
          </a:xfrm>
          <a:prstGeom prst="rect">
            <a:avLst/>
          </a:prstGeom>
          <a:noFill/>
        </p:spPr>
        <p:txBody>
          <a:bodyPr wrap="square" lIns="0" rIns="0" tIns="0" bIns="0" anchor="ctr">
            <a:spAutoFit/>
          </a:bodyPr>
          <a:lstStyle/>
          <a:p>
            <a:pPr algn="r"/>
            <a:r>
              <a:rPr sz="900" b="1">
                <a:solidFill>
                  <a:srgbClr val="1F2E35"/>
                </a:solidFill>
                <a:latin typeface="Yu Gothic"/>
                <a:ea typeface="Yu Gothic"/>
                <a:cs typeface="Yu Gothic"/>
              </a:rPr>
              <a:t>Strategy</a:t>
            </a:r>
          </a:p>
        </p:txBody>
      </p:sp>
      <p:cxnSp>
        <p:nvCxnSpPr>
          <p:cNvPr id="32" name="Connector 31"/>
          <p:cNvCxnSpPr/>
          <p:nvPr/>
        </p:nvCxnSpPr>
        <p:spPr>
          <a:xfrm>
            <a:off x="2103120" y="2706624"/>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194560" y="2706624"/>
            <a:ext cx="219456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タレント獲得</a:t>
            </a:r>
          </a:p>
        </p:txBody>
      </p:sp>
      <p:sp>
        <p:nvSpPr>
          <p:cNvPr id="34" name="Oval 33"/>
          <p:cNvSpPr/>
          <p:nvPr/>
        </p:nvSpPr>
        <p:spPr>
          <a:xfrm>
            <a:off x="4864608" y="2743200"/>
            <a:ext cx="256032" cy="256032"/>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2011679" y="2724912"/>
            <a:ext cx="54864" cy="292607"/>
          </a:xfrm>
          <a:prstGeom prst="rect">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274320" y="2706624"/>
            <a:ext cx="1645920" cy="329183"/>
          </a:xfrm>
          <a:prstGeom prst="rect">
            <a:avLst/>
          </a:prstGeom>
          <a:noFill/>
        </p:spPr>
        <p:txBody>
          <a:bodyPr wrap="square" lIns="0" rIns="0" tIns="0" bIns="0" anchor="ctr">
            <a:spAutoFit/>
          </a:bodyPr>
          <a:lstStyle/>
          <a:p>
            <a:pPr algn="r"/>
            <a:r>
              <a:rPr sz="900" b="1">
                <a:solidFill>
                  <a:srgbClr val="C24E1C"/>
                </a:solidFill>
                <a:latin typeface="Yu Gothic"/>
                <a:ea typeface="Yu Gothic"/>
                <a:cs typeface="Yu Gothic"/>
              </a:rPr>
              <a:t>Talent Acquisition</a:t>
            </a:r>
          </a:p>
        </p:txBody>
      </p:sp>
      <p:cxnSp>
        <p:nvCxnSpPr>
          <p:cNvPr id="37" name="Connector 36"/>
          <p:cNvCxnSpPr/>
          <p:nvPr/>
        </p:nvCxnSpPr>
        <p:spPr>
          <a:xfrm>
            <a:off x="2103120" y="3035808"/>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2103120" y="3035808"/>
            <a:ext cx="9628632" cy="329184"/>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2194560" y="3035808"/>
            <a:ext cx="219456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入社・雇用管理</a:t>
            </a:r>
          </a:p>
        </p:txBody>
      </p:sp>
      <p:sp>
        <p:nvSpPr>
          <p:cNvPr id="40" name="Oval 39"/>
          <p:cNvSpPr/>
          <p:nvPr/>
        </p:nvSpPr>
        <p:spPr>
          <a:xfrm>
            <a:off x="6103963" y="3086443"/>
            <a:ext cx="227912" cy="227912"/>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Oval 40"/>
          <p:cNvSpPr/>
          <p:nvPr/>
        </p:nvSpPr>
        <p:spPr>
          <a:xfrm>
            <a:off x="8622791" y="3154680"/>
            <a:ext cx="91440" cy="91440"/>
          </a:xfrm>
          <a:prstGeom prst="ellipse">
            <a:avLst/>
          </a:prstGeom>
          <a:solidFill>
            <a:srgbClr val="FFFFFF"/>
          </a:solidFill>
          <a:ln w="12700">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Oval 41"/>
          <p:cNvSpPr/>
          <p:nvPr/>
        </p:nvSpPr>
        <p:spPr>
          <a:xfrm>
            <a:off x="9827513" y="3134106"/>
            <a:ext cx="132588" cy="132588"/>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Oval 42"/>
          <p:cNvSpPr/>
          <p:nvPr/>
        </p:nvSpPr>
        <p:spPr>
          <a:xfrm>
            <a:off x="11044287" y="3125583"/>
            <a:ext cx="149632" cy="149632"/>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2194560" y="3364991"/>
            <a:ext cx="219456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退職・雇用終了</a:t>
            </a:r>
          </a:p>
        </p:txBody>
      </p:sp>
      <p:sp>
        <p:nvSpPr>
          <p:cNvPr id="45" name="Oval 44"/>
          <p:cNvSpPr/>
          <p:nvPr/>
        </p:nvSpPr>
        <p:spPr>
          <a:xfrm>
            <a:off x="10999203" y="3409683"/>
            <a:ext cx="239801" cy="239801"/>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2011679" y="3054096"/>
            <a:ext cx="54864" cy="621792"/>
          </a:xfrm>
          <a:prstGeom prst="rect">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274320" y="3035808"/>
            <a:ext cx="1645920" cy="658368"/>
          </a:xfrm>
          <a:prstGeom prst="rect">
            <a:avLst/>
          </a:prstGeom>
          <a:noFill/>
        </p:spPr>
        <p:txBody>
          <a:bodyPr wrap="square" lIns="0" rIns="0" tIns="0" bIns="0" anchor="ctr">
            <a:spAutoFit/>
          </a:bodyPr>
          <a:lstStyle/>
          <a:p>
            <a:pPr algn="r"/>
            <a:r>
              <a:rPr sz="900" b="1">
                <a:solidFill>
                  <a:srgbClr val="0E7A52"/>
                </a:solidFill>
                <a:latin typeface="Yu Gothic"/>
                <a:ea typeface="Yu Gothic"/>
                <a:cs typeface="Yu Gothic"/>
              </a:rPr>
              <a:t>Employment Lifecycle</a:t>
            </a:r>
          </a:p>
        </p:txBody>
      </p:sp>
      <p:cxnSp>
        <p:nvCxnSpPr>
          <p:cNvPr id="48" name="Connector 47"/>
          <p:cNvCxnSpPr/>
          <p:nvPr/>
        </p:nvCxnSpPr>
        <p:spPr>
          <a:xfrm>
            <a:off x="2103120" y="3694176"/>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2103120" y="3694176"/>
            <a:ext cx="9628632" cy="329184"/>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2194560" y="3694176"/>
            <a:ext cx="219456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人材育成・能力開発</a:t>
            </a:r>
          </a:p>
        </p:txBody>
      </p:sp>
      <p:sp>
        <p:nvSpPr>
          <p:cNvPr id="51" name="Oval 50"/>
          <p:cNvSpPr/>
          <p:nvPr/>
        </p:nvSpPr>
        <p:spPr>
          <a:xfrm>
            <a:off x="6151626" y="3792474"/>
            <a:ext cx="132588" cy="132588"/>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Oval 51"/>
          <p:cNvSpPr/>
          <p:nvPr/>
        </p:nvSpPr>
        <p:spPr>
          <a:xfrm>
            <a:off x="7317813" y="3733365"/>
            <a:ext cx="250805" cy="250805"/>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Oval 52"/>
          <p:cNvSpPr/>
          <p:nvPr/>
        </p:nvSpPr>
        <p:spPr>
          <a:xfrm>
            <a:off x="8622791" y="3813048"/>
            <a:ext cx="91440" cy="91440"/>
          </a:xfrm>
          <a:prstGeom prst="ellipse">
            <a:avLst/>
          </a:prstGeom>
          <a:solidFill>
            <a:srgbClr val="FFFFFF"/>
          </a:solidFill>
          <a:ln w="1270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9848087" y="3813048"/>
            <a:ext cx="91440" cy="91440"/>
          </a:xfrm>
          <a:prstGeom prst="ellipse">
            <a:avLst/>
          </a:prstGeom>
          <a:solidFill>
            <a:srgbClr val="FFFFFF"/>
          </a:solidFill>
          <a:ln w="1270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2194560" y="4023360"/>
            <a:ext cx="219456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タレントマネジメント・配置</a:t>
            </a:r>
          </a:p>
        </p:txBody>
      </p:sp>
      <p:sp>
        <p:nvSpPr>
          <p:cNvPr id="56" name="Oval 55"/>
          <p:cNvSpPr/>
          <p:nvPr/>
        </p:nvSpPr>
        <p:spPr>
          <a:xfrm>
            <a:off x="6172200" y="4142232"/>
            <a:ext cx="91440" cy="91440"/>
          </a:xfrm>
          <a:prstGeom prst="ellipse">
            <a:avLst/>
          </a:prstGeom>
          <a:solidFill>
            <a:srgbClr val="FFFFFF"/>
          </a:solidFill>
          <a:ln w="1270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Oval 56"/>
          <p:cNvSpPr/>
          <p:nvPr/>
        </p:nvSpPr>
        <p:spPr>
          <a:xfrm>
            <a:off x="7397496" y="4142232"/>
            <a:ext cx="91440" cy="91440"/>
          </a:xfrm>
          <a:prstGeom prst="ellipse">
            <a:avLst/>
          </a:prstGeom>
          <a:solidFill>
            <a:srgbClr val="FFFFFF"/>
          </a:solidFill>
          <a:ln w="1270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Oval 57"/>
          <p:cNvSpPr/>
          <p:nvPr/>
        </p:nvSpPr>
        <p:spPr>
          <a:xfrm>
            <a:off x="9773907" y="4068051"/>
            <a:ext cx="239801" cy="239801"/>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Oval 58"/>
          <p:cNvSpPr/>
          <p:nvPr/>
        </p:nvSpPr>
        <p:spPr>
          <a:xfrm>
            <a:off x="11073383" y="4142232"/>
            <a:ext cx="91440" cy="91440"/>
          </a:xfrm>
          <a:prstGeom prst="ellipse">
            <a:avLst/>
          </a:prstGeom>
          <a:solidFill>
            <a:srgbClr val="FFFFFF"/>
          </a:solidFill>
          <a:ln w="1270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ectangle 59"/>
          <p:cNvSpPr/>
          <p:nvPr/>
        </p:nvSpPr>
        <p:spPr>
          <a:xfrm>
            <a:off x="2011679" y="3712463"/>
            <a:ext cx="54864" cy="621792"/>
          </a:xfrm>
          <a:prstGeom prst="rect">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274320" y="3694176"/>
            <a:ext cx="1645920" cy="658368"/>
          </a:xfrm>
          <a:prstGeom prst="rect">
            <a:avLst/>
          </a:prstGeom>
          <a:noFill/>
        </p:spPr>
        <p:txBody>
          <a:bodyPr wrap="square" lIns="0" rIns="0" tIns="0" bIns="0" anchor="ctr">
            <a:spAutoFit/>
          </a:bodyPr>
          <a:lstStyle/>
          <a:p>
            <a:pPr algn="r"/>
            <a:r>
              <a:rPr sz="900" b="1">
                <a:solidFill>
                  <a:srgbClr val="4A3AA7"/>
                </a:solidFill>
                <a:latin typeface="Yu Gothic"/>
                <a:ea typeface="Yu Gothic"/>
                <a:cs typeface="Yu Gothic"/>
              </a:rPr>
              <a:t>Talent Development</a:t>
            </a:r>
          </a:p>
        </p:txBody>
      </p:sp>
      <p:cxnSp>
        <p:nvCxnSpPr>
          <p:cNvPr id="62" name="Connector 61"/>
          <p:cNvCxnSpPr/>
          <p:nvPr/>
        </p:nvCxnSpPr>
        <p:spPr>
          <a:xfrm>
            <a:off x="2103120" y="4352544"/>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2103120" y="4352544"/>
            <a:ext cx="9628632" cy="329184"/>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2194560" y="4352544"/>
            <a:ext cx="219456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パフォーマンス・報酬管理</a:t>
            </a:r>
          </a:p>
        </p:txBody>
      </p:sp>
      <p:sp>
        <p:nvSpPr>
          <p:cNvPr id="65" name="Oval 64"/>
          <p:cNvSpPr/>
          <p:nvPr/>
        </p:nvSpPr>
        <p:spPr>
          <a:xfrm>
            <a:off x="4946904" y="4471416"/>
            <a:ext cx="91440" cy="91440"/>
          </a:xfrm>
          <a:prstGeom prst="ellipse">
            <a:avLst/>
          </a:prstGeom>
          <a:solidFill>
            <a:srgbClr val="FFFFFF"/>
          </a:solidFill>
          <a:ln w="12700">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Oval 65"/>
          <p:cNvSpPr/>
          <p:nvPr/>
        </p:nvSpPr>
        <p:spPr>
          <a:xfrm>
            <a:off x="6151626" y="4450842"/>
            <a:ext cx="132588" cy="132588"/>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Oval 66"/>
          <p:cNvSpPr/>
          <p:nvPr/>
        </p:nvSpPr>
        <p:spPr>
          <a:xfrm>
            <a:off x="7397496" y="4471416"/>
            <a:ext cx="91440" cy="91440"/>
          </a:xfrm>
          <a:prstGeom prst="ellipse">
            <a:avLst/>
          </a:prstGeom>
          <a:solidFill>
            <a:srgbClr val="FFFFFF"/>
          </a:solidFill>
          <a:ln w="12700">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8535503" y="4384127"/>
            <a:ext cx="266016" cy="266016"/>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Oval 68"/>
          <p:cNvSpPr/>
          <p:nvPr/>
        </p:nvSpPr>
        <p:spPr>
          <a:xfrm>
            <a:off x="11052809" y="4450842"/>
            <a:ext cx="132588" cy="132588"/>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2194560" y="4681728"/>
            <a:ext cx="219456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就業・労務管理</a:t>
            </a:r>
          </a:p>
        </p:txBody>
      </p:sp>
      <p:sp>
        <p:nvSpPr>
          <p:cNvPr id="71" name="Oval 70"/>
          <p:cNvSpPr/>
          <p:nvPr/>
        </p:nvSpPr>
        <p:spPr>
          <a:xfrm>
            <a:off x="6151626" y="4780026"/>
            <a:ext cx="132588" cy="132588"/>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Oval 71"/>
          <p:cNvSpPr/>
          <p:nvPr/>
        </p:nvSpPr>
        <p:spPr>
          <a:xfrm>
            <a:off x="8551521" y="4729329"/>
            <a:ext cx="233980" cy="23398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Oval 72"/>
          <p:cNvSpPr/>
          <p:nvPr/>
        </p:nvSpPr>
        <p:spPr>
          <a:xfrm>
            <a:off x="11052809" y="4780026"/>
            <a:ext cx="132588" cy="132588"/>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ectangle 73"/>
          <p:cNvSpPr/>
          <p:nvPr/>
        </p:nvSpPr>
        <p:spPr>
          <a:xfrm>
            <a:off x="2011679" y="4370832"/>
            <a:ext cx="54864" cy="621792"/>
          </a:xfrm>
          <a:prstGeom prst="rect">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274320" y="4352544"/>
            <a:ext cx="1645920" cy="658368"/>
          </a:xfrm>
          <a:prstGeom prst="rect">
            <a:avLst/>
          </a:prstGeom>
          <a:noFill/>
        </p:spPr>
        <p:txBody>
          <a:bodyPr wrap="square" lIns="0" rIns="0" tIns="0" bIns="0" anchor="ctr">
            <a:spAutoFit/>
          </a:bodyPr>
          <a:lstStyle/>
          <a:p>
            <a:pPr algn="r"/>
            <a:r>
              <a:rPr sz="900" b="1">
                <a:solidFill>
                  <a:srgbClr val="2A78D6"/>
                </a:solidFill>
                <a:latin typeface="Yu Gothic"/>
                <a:ea typeface="Yu Gothic"/>
                <a:cs typeface="Yu Gothic"/>
              </a:rPr>
              <a:t>Rewards &amp; Workplace</a:t>
            </a:r>
          </a:p>
        </p:txBody>
      </p:sp>
      <p:cxnSp>
        <p:nvCxnSpPr>
          <p:cNvPr id="76" name="Connector 75"/>
          <p:cNvCxnSpPr/>
          <p:nvPr/>
        </p:nvCxnSpPr>
        <p:spPr>
          <a:xfrm>
            <a:off x="2103120" y="5010912"/>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2103120" y="5010912"/>
            <a:ext cx="9628632" cy="329184"/>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2194560" y="5010912"/>
            <a:ext cx="219456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人事基盤</a:t>
            </a:r>
          </a:p>
        </p:txBody>
      </p:sp>
      <p:sp>
        <p:nvSpPr>
          <p:cNvPr id="79" name="Oval 78"/>
          <p:cNvSpPr/>
          <p:nvPr/>
        </p:nvSpPr>
        <p:spPr>
          <a:xfrm>
            <a:off x="4946904" y="5129784"/>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Oval 79"/>
          <p:cNvSpPr/>
          <p:nvPr/>
        </p:nvSpPr>
        <p:spPr>
          <a:xfrm>
            <a:off x="6151626" y="5109210"/>
            <a:ext cx="132588" cy="132588"/>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Oval 80"/>
          <p:cNvSpPr/>
          <p:nvPr/>
        </p:nvSpPr>
        <p:spPr>
          <a:xfrm>
            <a:off x="7397496" y="5129784"/>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Oval 81"/>
          <p:cNvSpPr/>
          <p:nvPr/>
        </p:nvSpPr>
        <p:spPr>
          <a:xfrm>
            <a:off x="8622791" y="5129784"/>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Oval 82"/>
          <p:cNvSpPr/>
          <p:nvPr/>
        </p:nvSpPr>
        <p:spPr>
          <a:xfrm>
            <a:off x="9848087" y="5129784"/>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Oval 83"/>
          <p:cNvSpPr/>
          <p:nvPr/>
        </p:nvSpPr>
        <p:spPr>
          <a:xfrm>
            <a:off x="11073383" y="5129784"/>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ectangle 84"/>
          <p:cNvSpPr/>
          <p:nvPr/>
        </p:nvSpPr>
        <p:spPr>
          <a:xfrm>
            <a:off x="2011679" y="5029200"/>
            <a:ext cx="54864" cy="292608"/>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274320" y="5010912"/>
            <a:ext cx="1645920" cy="329184"/>
          </a:xfrm>
          <a:prstGeom prst="rect">
            <a:avLst/>
          </a:prstGeom>
          <a:noFill/>
        </p:spPr>
        <p:txBody>
          <a:bodyPr wrap="square" lIns="0" rIns="0" tIns="0" bIns="0" anchor="ctr">
            <a:spAutoFit/>
          </a:bodyPr>
          <a:lstStyle/>
          <a:p>
            <a:pPr algn="r"/>
            <a:r>
              <a:rPr sz="900" b="1">
                <a:solidFill>
                  <a:srgbClr val="1F2E35"/>
                </a:solidFill>
                <a:latin typeface="Yu Gothic"/>
                <a:ea typeface="Yu Gothic"/>
                <a:cs typeface="Yu Gothic"/>
              </a:rPr>
              <a:t>Foundation</a:t>
            </a:r>
          </a:p>
        </p:txBody>
      </p:sp>
      <p:cxnSp>
        <p:nvCxnSpPr>
          <p:cNvPr id="87" name="Connector 86"/>
          <p:cNvCxnSpPr/>
          <p:nvPr/>
        </p:nvCxnSpPr>
        <p:spPr>
          <a:xfrm>
            <a:off x="2103120" y="5340096"/>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605272" y="2377440"/>
            <a:ext cx="0" cy="2962656"/>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830568" y="2377440"/>
            <a:ext cx="0" cy="2962656"/>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055863" y="2377440"/>
            <a:ext cx="0" cy="2962656"/>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9281159" y="2377440"/>
            <a:ext cx="0" cy="2962656"/>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506455" y="2377440"/>
            <a:ext cx="0" cy="2962656"/>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830568" y="2331720"/>
            <a:ext cx="0" cy="3026664"/>
          </a:xfrm>
          <a:prstGeom prst="line">
            <a:avLst/>
          </a:prstGeom>
          <a:ln w="12700">
            <a:solidFill>
              <a:srgbClr val="1F2E35"/>
            </a:solidFill>
            <a:prstDash val="lgDash"/>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506455" y="2331720"/>
            <a:ext cx="0" cy="3026664"/>
          </a:xfrm>
          <a:prstGeom prst="line">
            <a:avLst/>
          </a:prstGeom>
          <a:ln w="12700">
            <a:solidFill>
              <a:srgbClr val="1F2E35"/>
            </a:solidFill>
            <a:prstDash val="lgDash"/>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57200" y="5477256"/>
            <a:ext cx="2011680" cy="22860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円の大きさ＝「主」の関係の件数</a:t>
            </a:r>
          </a:p>
        </p:txBody>
      </p:sp>
      <p:sp>
        <p:nvSpPr>
          <p:cNvPr id="96" name="Oval 95"/>
          <p:cNvSpPr/>
          <p:nvPr/>
        </p:nvSpPr>
        <p:spPr>
          <a:xfrm>
            <a:off x="2606040" y="5525262"/>
            <a:ext cx="132588" cy="132588"/>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TextBox 96"/>
          <p:cNvSpPr txBox="1"/>
          <p:nvPr/>
        </p:nvSpPr>
        <p:spPr>
          <a:xfrm>
            <a:off x="2784348" y="5477256"/>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1</a:t>
            </a:r>
          </a:p>
        </p:txBody>
      </p:sp>
      <p:sp>
        <p:nvSpPr>
          <p:cNvPr id="98" name="Oval 97"/>
          <p:cNvSpPr/>
          <p:nvPr/>
        </p:nvSpPr>
        <p:spPr>
          <a:xfrm>
            <a:off x="3241548" y="5499831"/>
            <a:ext cx="183449" cy="183449"/>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3470717" y="5477256"/>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5</a:t>
            </a:r>
          </a:p>
        </p:txBody>
      </p:sp>
      <p:sp>
        <p:nvSpPr>
          <p:cNvPr id="100" name="Oval 99"/>
          <p:cNvSpPr/>
          <p:nvPr/>
        </p:nvSpPr>
        <p:spPr>
          <a:xfrm>
            <a:off x="3927917" y="5480775"/>
            <a:ext cx="221561" cy="221561"/>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TextBox 100"/>
          <p:cNvSpPr txBox="1"/>
          <p:nvPr/>
        </p:nvSpPr>
        <p:spPr>
          <a:xfrm>
            <a:off x="4195199" y="5477256"/>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10</a:t>
            </a:r>
          </a:p>
        </p:txBody>
      </p:sp>
      <p:sp>
        <p:nvSpPr>
          <p:cNvPr id="102" name="Oval 101"/>
          <p:cNvSpPr/>
          <p:nvPr/>
        </p:nvSpPr>
        <p:spPr>
          <a:xfrm>
            <a:off x="4652399" y="5453826"/>
            <a:ext cx="275459" cy="275459"/>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4973578" y="5477256"/>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20</a:t>
            </a:r>
          </a:p>
        </p:txBody>
      </p:sp>
      <p:sp>
        <p:nvSpPr>
          <p:cNvPr id="104" name="Oval 103"/>
          <p:cNvSpPr/>
          <p:nvPr/>
        </p:nvSpPr>
        <p:spPr>
          <a:xfrm>
            <a:off x="5430778" y="5545836"/>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567938" y="5477256"/>
            <a:ext cx="11887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支援の関係のみ</a:t>
            </a:r>
          </a:p>
        </p:txBody>
      </p:sp>
      <p:sp>
        <p:nvSpPr>
          <p:cNvPr id="106" name="TextBox 105"/>
          <p:cNvSpPr txBox="1"/>
          <p:nvPr/>
        </p:nvSpPr>
        <p:spPr>
          <a:xfrm>
            <a:off x="457200" y="5751576"/>
            <a:ext cx="11247120" cy="365760"/>
          </a:xfrm>
          <a:prstGeom prst="rect">
            <a:avLst/>
          </a:prstGeom>
          <a:noFill/>
        </p:spPr>
        <p:txBody>
          <a:bodyPr wrap="square" lIns="0" rIns="0" tIns="0" bIns="0" anchor="t">
            <a:spAutoFit/>
          </a:bodyPr>
          <a:lstStyle/>
          <a:p>
            <a:pPr algn="l"/>
            <a:r>
              <a:rPr sz="800" b="0">
                <a:solidFill>
                  <a:srgbClr val="5B6B70"/>
                </a:solidFill>
                <a:latin typeface="Yu Gothic"/>
                <a:ea typeface="Yu Gothic"/>
                <a:cs typeface="Yu Gothic"/>
              </a:rPr>
              <a:t>件数は、配下の仕事（VS L4）と能力（ケイパビリティL3）の間の「主」の関係の数。入職・育成・配置・退職は中核の領域がほぼ1つだが、評価・処遇は報酬と労務が同時に主役。人事基盤は全段階を支える（支援のみの段階が多い）。詳細（VS L3×ケイパビリティL2）はxlsxの「VS×ケイパビリティ」シート。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アプリケーションマップ全体像</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各領域（ケイパビリティL1）の能力を主に支えるアプリケーション（種類の単位、●のみ。括弧内は略称）</a:t>
            </a:r>
          </a:p>
        </p:txBody>
      </p:sp>
      <p:sp>
        <p:nvSpPr>
          <p:cNvPr id="4" name="Rounded Rectangle 3"/>
          <p:cNvSpPr/>
          <p:nvPr/>
        </p:nvSpPr>
        <p:spPr>
          <a:xfrm>
            <a:off x="9235440" y="914400"/>
            <a:ext cx="384048" cy="155448"/>
          </a:xfrm>
          <a:prstGeom prst="roundRect">
            <a:avLst/>
          </a:prstGeom>
          <a:solidFill>
            <a:srgbClr val="E4EAEC"/>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92640" y="877824"/>
            <a:ext cx="210312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複数の領域で使うアプリケーション</a:t>
            </a:r>
          </a:p>
        </p:txBody>
      </p:sp>
      <p:sp>
        <p:nvSpPr>
          <p:cNvPr id="6" name="Rounded Rectangle 5"/>
          <p:cNvSpPr/>
          <p:nvPr/>
        </p:nvSpPr>
        <p:spPr>
          <a:xfrm>
            <a:off x="457200" y="1325880"/>
            <a:ext cx="7406640" cy="530352"/>
          </a:xfrm>
          <a:prstGeom prst="roundRect">
            <a:avLst>
              <a:gd name="adj" fmla="val 15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57200" y="1362456"/>
            <a:ext cx="7406640"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人事戦略・組織設計（Strategy &amp; Governance）</a:t>
            </a:r>
          </a:p>
        </p:txBody>
      </p:sp>
      <p:sp>
        <p:nvSpPr>
          <p:cNvPr id="8" name="Rounded Rectangle 7"/>
          <p:cNvSpPr/>
          <p:nvPr/>
        </p:nvSpPr>
        <p:spPr>
          <a:xfrm>
            <a:off x="640080" y="1600199"/>
            <a:ext cx="1657349" cy="182880"/>
          </a:xfrm>
          <a:prstGeom prst="roundRect">
            <a:avLst/>
          </a:prstGeom>
          <a:solidFill>
            <a:srgbClr val="E4EAEC"/>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67512" y="1600199"/>
            <a:ext cx="1602485" cy="182880"/>
          </a:xfrm>
          <a:prstGeom prst="rect">
            <a:avLst/>
          </a:prstGeom>
          <a:noFill/>
        </p:spPr>
        <p:txBody>
          <a:bodyPr wrap="square" lIns="0" rIns="0" tIns="0" bIns="0" anchor="ctr">
            <a:spAutoFit/>
          </a:bodyPr>
          <a:lstStyle/>
          <a:p>
            <a:pPr algn="ctr"/>
            <a:r>
              <a:rPr sz="720" b="0">
                <a:solidFill>
                  <a:srgbClr val="1F2E35"/>
                </a:solidFill>
                <a:latin typeface="Yu Gothic"/>
                <a:ea typeface="Yu Gothic"/>
                <a:cs typeface="Yu Gothic"/>
              </a:rPr>
              <a:t>人事管理（コアHR）</a:t>
            </a:r>
          </a:p>
        </p:txBody>
      </p:sp>
      <p:sp>
        <p:nvSpPr>
          <p:cNvPr id="10" name="Rounded Rectangle 9"/>
          <p:cNvSpPr/>
          <p:nvPr/>
        </p:nvSpPr>
        <p:spPr>
          <a:xfrm>
            <a:off x="2434589" y="1600199"/>
            <a:ext cx="1657349"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2462021" y="1600199"/>
            <a:ext cx="1602485" cy="182880"/>
          </a:xfrm>
          <a:prstGeom prst="rect">
            <a:avLst/>
          </a:prstGeom>
          <a:noFill/>
        </p:spPr>
        <p:txBody>
          <a:bodyPr wrap="square" lIns="0" rIns="0" tIns="0" bIns="0" anchor="ctr">
            <a:spAutoFit/>
          </a:bodyPr>
          <a:lstStyle/>
          <a:p>
            <a:pPr algn="ctr"/>
            <a:r>
              <a:rPr sz="720" b="0">
                <a:solidFill>
                  <a:srgbClr val="1F2E35"/>
                </a:solidFill>
                <a:latin typeface="Yu Gothic"/>
                <a:ea typeface="Yu Gothic"/>
                <a:cs typeface="Yu Gothic"/>
              </a:rPr>
              <a:t>要員計画・人件費シミュレーション</a:t>
            </a:r>
          </a:p>
        </p:txBody>
      </p:sp>
      <p:sp>
        <p:nvSpPr>
          <p:cNvPr id="12" name="Rounded Rectangle 11"/>
          <p:cNvSpPr/>
          <p:nvPr/>
        </p:nvSpPr>
        <p:spPr>
          <a:xfrm>
            <a:off x="4229100" y="1600199"/>
            <a:ext cx="1657349"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256532" y="1600199"/>
            <a:ext cx="1602485" cy="182880"/>
          </a:xfrm>
          <a:prstGeom prst="rect">
            <a:avLst/>
          </a:prstGeom>
          <a:noFill/>
        </p:spPr>
        <p:txBody>
          <a:bodyPr wrap="square" lIns="0" rIns="0" tIns="0" bIns="0" anchor="ctr">
            <a:spAutoFit/>
          </a:bodyPr>
          <a:lstStyle/>
          <a:p>
            <a:pPr algn="ctr"/>
            <a:r>
              <a:rPr sz="720" b="0">
                <a:solidFill>
                  <a:srgbClr val="1F2E35"/>
                </a:solidFill>
                <a:latin typeface="Yu Gothic"/>
                <a:ea typeface="Yu Gothic"/>
                <a:cs typeface="Yu Gothic"/>
              </a:rPr>
              <a:t>会計（ERP）</a:t>
            </a:r>
          </a:p>
        </p:txBody>
      </p:sp>
      <p:sp>
        <p:nvSpPr>
          <p:cNvPr id="14" name="Rounded Rectangle 13"/>
          <p:cNvSpPr/>
          <p:nvPr/>
        </p:nvSpPr>
        <p:spPr>
          <a:xfrm>
            <a:off x="6023609" y="1600199"/>
            <a:ext cx="1657349"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051042" y="1600199"/>
            <a:ext cx="1602485" cy="182880"/>
          </a:xfrm>
          <a:prstGeom prst="rect">
            <a:avLst/>
          </a:prstGeom>
          <a:noFill/>
        </p:spPr>
        <p:txBody>
          <a:bodyPr wrap="square" lIns="0" rIns="0" tIns="0" bIns="0" anchor="ctr">
            <a:spAutoFit/>
          </a:bodyPr>
          <a:lstStyle/>
          <a:p>
            <a:pPr algn="ctr"/>
            <a:r>
              <a:rPr sz="720" b="0">
                <a:solidFill>
                  <a:srgbClr val="1F2E35"/>
                </a:solidFill>
                <a:latin typeface="Yu Gothic"/>
                <a:ea typeface="Yu Gothic"/>
                <a:cs typeface="Yu Gothic"/>
              </a:rPr>
              <a:t>規程・文書管理</a:t>
            </a:r>
          </a:p>
        </p:txBody>
      </p:sp>
      <p:sp>
        <p:nvSpPr>
          <p:cNvPr id="16" name="TextBox 15"/>
          <p:cNvSpPr txBox="1"/>
          <p:nvPr/>
        </p:nvSpPr>
        <p:spPr>
          <a:xfrm>
            <a:off x="7882127" y="1435607"/>
            <a:ext cx="137160" cy="310896"/>
          </a:xfrm>
          <a:prstGeom prst="rect">
            <a:avLst/>
          </a:prstGeom>
          <a:noFill/>
        </p:spPr>
        <p:txBody>
          <a:bodyPr wrap="square" lIns="0" rIns="0" tIns="0" bIns="0" anchor="ctr">
            <a:spAutoFit/>
          </a:bodyPr>
          <a:lstStyle/>
          <a:p>
            <a:pPr algn="l"/>
            <a:r>
              <a:rPr sz="1400" b="1">
                <a:solidFill>
                  <a:srgbClr val="1F2E35"/>
                </a:solidFill>
                <a:latin typeface="Yu Gothic"/>
                <a:ea typeface="Yu Gothic"/>
                <a:cs typeface="Yu Gothic"/>
              </a:rPr>
              <a:t>〉</a:t>
            </a:r>
          </a:p>
        </p:txBody>
      </p:sp>
      <p:sp>
        <p:nvSpPr>
          <p:cNvPr id="17" name="Rounded Rectangle 16"/>
          <p:cNvSpPr/>
          <p:nvPr/>
        </p:nvSpPr>
        <p:spPr>
          <a:xfrm>
            <a:off x="457200" y="1984248"/>
            <a:ext cx="2404872" cy="3867912"/>
          </a:xfrm>
          <a:prstGeom prst="roundRect">
            <a:avLst>
              <a:gd name="adj" fmla="val 3000"/>
            </a:avLst>
          </a:prstGeom>
          <a:solidFill>
            <a:srgbClr val="FDEEE7"/>
          </a:solidFill>
          <a:ln w="19050">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57200" y="2039112"/>
            <a:ext cx="2404872" cy="274320"/>
          </a:xfrm>
          <a:prstGeom prst="rect">
            <a:avLst/>
          </a:prstGeom>
          <a:noFill/>
        </p:spPr>
        <p:txBody>
          <a:bodyPr wrap="square" lIns="0" rIns="0" tIns="0" bIns="0" anchor="ctr">
            <a:spAutoFit/>
          </a:bodyPr>
          <a:lstStyle/>
          <a:p>
            <a:pPr algn="ctr"/>
            <a:r>
              <a:rPr sz="1250" b="1">
                <a:solidFill>
                  <a:srgbClr val="C24E1C"/>
                </a:solidFill>
                <a:latin typeface="Yu Gothic"/>
                <a:ea typeface="Yu Gothic"/>
                <a:cs typeface="Yu Gothic"/>
              </a:rPr>
              <a:t>Talent Acquisition</a:t>
            </a:r>
          </a:p>
        </p:txBody>
      </p:sp>
      <p:sp>
        <p:nvSpPr>
          <p:cNvPr id="19" name="Rounded Rectangle 18"/>
          <p:cNvSpPr/>
          <p:nvPr/>
        </p:nvSpPr>
        <p:spPr>
          <a:xfrm>
            <a:off x="530352" y="2368296"/>
            <a:ext cx="2258568" cy="3410712"/>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30352" y="3762756"/>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タレント獲得</a:t>
            </a:r>
          </a:p>
        </p:txBody>
      </p:sp>
      <p:sp>
        <p:nvSpPr>
          <p:cNvPr id="21" name="Rounded Rectangle 20"/>
          <p:cNvSpPr/>
          <p:nvPr/>
        </p:nvSpPr>
        <p:spPr>
          <a:xfrm>
            <a:off x="621792" y="4055364"/>
            <a:ext cx="2075687" cy="27432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9224" y="4055364"/>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採用管理</a:t>
            </a:r>
          </a:p>
          <a:p>
            <a:pPr algn="ctr"/>
            <a:r>
              <a:rPr sz="600" b="0">
                <a:solidFill>
                  <a:srgbClr val="5B6B70"/>
                </a:solidFill>
                <a:latin typeface="Yu Gothic"/>
                <a:ea typeface="Yu Gothic"/>
                <a:cs typeface="Yu Gothic"/>
              </a:rPr>
              <a:t>（ATS）</a:t>
            </a:r>
          </a:p>
        </p:txBody>
      </p:sp>
      <p:sp>
        <p:nvSpPr>
          <p:cNvPr id="23" name="Chevron 22"/>
          <p:cNvSpPr/>
          <p:nvPr/>
        </p:nvSpPr>
        <p:spPr>
          <a:xfrm rot="5400000">
            <a:off x="1600200" y="1755648"/>
            <a:ext cx="118872" cy="310896"/>
          </a:xfrm>
          <a:prstGeom prst="chevron">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hevron 23"/>
          <p:cNvSpPr/>
          <p:nvPr/>
        </p:nvSpPr>
        <p:spPr>
          <a:xfrm rot="5400000">
            <a:off x="1600200" y="5742432"/>
            <a:ext cx="118872" cy="310896"/>
          </a:xfrm>
          <a:prstGeom prst="chevron">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ounded Rectangle 24"/>
          <p:cNvSpPr/>
          <p:nvPr/>
        </p:nvSpPr>
        <p:spPr>
          <a:xfrm>
            <a:off x="2953512" y="1984248"/>
            <a:ext cx="2404872" cy="3867912"/>
          </a:xfrm>
          <a:prstGeom prst="roundRect">
            <a:avLst>
              <a:gd name="adj" fmla="val 3000"/>
            </a:avLst>
          </a:prstGeom>
          <a:solidFill>
            <a:srgbClr val="EEECF7"/>
          </a:solidFill>
          <a:ln w="1905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2953512" y="2039112"/>
            <a:ext cx="2404872" cy="274320"/>
          </a:xfrm>
          <a:prstGeom prst="rect">
            <a:avLst/>
          </a:prstGeom>
          <a:noFill/>
        </p:spPr>
        <p:txBody>
          <a:bodyPr wrap="square" lIns="0" rIns="0" tIns="0" bIns="0" anchor="ctr">
            <a:spAutoFit/>
          </a:bodyPr>
          <a:lstStyle/>
          <a:p>
            <a:pPr algn="ctr"/>
            <a:r>
              <a:rPr sz="1250" b="1">
                <a:solidFill>
                  <a:srgbClr val="4A3AA7"/>
                </a:solidFill>
                <a:latin typeface="Yu Gothic"/>
                <a:ea typeface="Yu Gothic"/>
                <a:cs typeface="Yu Gothic"/>
              </a:rPr>
              <a:t>Talent Development</a:t>
            </a:r>
          </a:p>
        </p:txBody>
      </p:sp>
      <p:sp>
        <p:nvSpPr>
          <p:cNvPr id="27" name="Rounded Rectangle 26"/>
          <p:cNvSpPr/>
          <p:nvPr/>
        </p:nvSpPr>
        <p:spPr>
          <a:xfrm>
            <a:off x="3026664" y="2368296"/>
            <a:ext cx="2258568" cy="1815084"/>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026664" y="2809494"/>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人材育成・能力開発</a:t>
            </a:r>
          </a:p>
        </p:txBody>
      </p:sp>
      <p:sp>
        <p:nvSpPr>
          <p:cNvPr id="29" name="Rounded Rectangle 28"/>
          <p:cNvSpPr/>
          <p:nvPr/>
        </p:nvSpPr>
        <p:spPr>
          <a:xfrm>
            <a:off x="3118104" y="3102101"/>
            <a:ext cx="2075687" cy="27432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3145536" y="3102101"/>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学習管理</a:t>
            </a:r>
          </a:p>
          <a:p>
            <a:pPr algn="ctr"/>
            <a:r>
              <a:rPr sz="600" b="0">
                <a:solidFill>
                  <a:srgbClr val="5B6B70"/>
                </a:solidFill>
                <a:latin typeface="Yu Gothic"/>
                <a:ea typeface="Yu Gothic"/>
                <a:cs typeface="Yu Gothic"/>
              </a:rPr>
              <a:t>（LMS）</a:t>
            </a:r>
          </a:p>
        </p:txBody>
      </p:sp>
      <p:sp>
        <p:nvSpPr>
          <p:cNvPr id="31" name="Rounded Rectangle 30"/>
          <p:cNvSpPr/>
          <p:nvPr/>
        </p:nvSpPr>
        <p:spPr>
          <a:xfrm>
            <a:off x="3118104" y="3412997"/>
            <a:ext cx="2075687" cy="274320"/>
          </a:xfrm>
          <a:prstGeom prst="round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3145536" y="3412997"/>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タレントマネジメント</a:t>
            </a:r>
          </a:p>
          <a:p>
            <a:pPr algn="ctr"/>
            <a:r>
              <a:rPr sz="600" b="0">
                <a:solidFill>
                  <a:srgbClr val="5B6B70"/>
                </a:solidFill>
                <a:latin typeface="Yu Gothic"/>
                <a:ea typeface="Yu Gothic"/>
                <a:cs typeface="Yu Gothic"/>
              </a:rPr>
              <a:t>（TMS）</a:t>
            </a:r>
          </a:p>
        </p:txBody>
      </p:sp>
      <p:sp>
        <p:nvSpPr>
          <p:cNvPr id="33" name="Rounded Rectangle 32"/>
          <p:cNvSpPr/>
          <p:nvPr/>
        </p:nvSpPr>
        <p:spPr>
          <a:xfrm>
            <a:off x="3026664" y="4274820"/>
            <a:ext cx="2258568" cy="1504188"/>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3026664" y="4716018"/>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タレントマネジメント・配置</a:t>
            </a:r>
          </a:p>
        </p:txBody>
      </p:sp>
      <p:sp>
        <p:nvSpPr>
          <p:cNvPr id="35" name="Rounded Rectangle 34"/>
          <p:cNvSpPr/>
          <p:nvPr/>
        </p:nvSpPr>
        <p:spPr>
          <a:xfrm>
            <a:off x="3118104" y="5008626"/>
            <a:ext cx="2075687" cy="274320"/>
          </a:xfrm>
          <a:prstGeom prst="round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3145536" y="5008626"/>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タレントマネジメント</a:t>
            </a:r>
          </a:p>
          <a:p>
            <a:pPr algn="ctr"/>
            <a:r>
              <a:rPr sz="600" b="0">
                <a:solidFill>
                  <a:srgbClr val="5B6B70"/>
                </a:solidFill>
                <a:latin typeface="Yu Gothic"/>
                <a:ea typeface="Yu Gothic"/>
                <a:cs typeface="Yu Gothic"/>
              </a:rPr>
              <a:t>（TMS）</a:t>
            </a:r>
          </a:p>
        </p:txBody>
      </p:sp>
      <p:sp>
        <p:nvSpPr>
          <p:cNvPr id="37" name="Chevron 36"/>
          <p:cNvSpPr/>
          <p:nvPr/>
        </p:nvSpPr>
        <p:spPr>
          <a:xfrm rot="5400000">
            <a:off x="4096511" y="1755648"/>
            <a:ext cx="118872" cy="310896"/>
          </a:xfrm>
          <a:prstGeom prst="chevron">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Chevron 37"/>
          <p:cNvSpPr/>
          <p:nvPr/>
        </p:nvSpPr>
        <p:spPr>
          <a:xfrm rot="5400000">
            <a:off x="4096511" y="5742432"/>
            <a:ext cx="118872" cy="310896"/>
          </a:xfrm>
          <a:prstGeom prst="chevron">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5449824" y="1984248"/>
            <a:ext cx="2404872" cy="3867912"/>
          </a:xfrm>
          <a:prstGeom prst="roundRect">
            <a:avLst>
              <a:gd name="adj" fmla="val 3000"/>
            </a:avLst>
          </a:prstGeom>
          <a:solidFill>
            <a:srgbClr val="E6F6F0"/>
          </a:solidFill>
          <a:ln w="19050">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449824" y="2039112"/>
            <a:ext cx="2404872" cy="274320"/>
          </a:xfrm>
          <a:prstGeom prst="rect">
            <a:avLst/>
          </a:prstGeom>
          <a:noFill/>
        </p:spPr>
        <p:txBody>
          <a:bodyPr wrap="square" lIns="0" rIns="0" tIns="0" bIns="0" anchor="ctr">
            <a:spAutoFit/>
          </a:bodyPr>
          <a:lstStyle/>
          <a:p>
            <a:pPr algn="ctr"/>
            <a:r>
              <a:rPr sz="1250" b="1">
                <a:solidFill>
                  <a:srgbClr val="0E7A52"/>
                </a:solidFill>
                <a:latin typeface="Yu Gothic"/>
                <a:ea typeface="Yu Gothic"/>
                <a:cs typeface="Yu Gothic"/>
              </a:rPr>
              <a:t>Employment Lifecycle</a:t>
            </a:r>
          </a:p>
        </p:txBody>
      </p:sp>
      <p:sp>
        <p:nvSpPr>
          <p:cNvPr id="41" name="Rounded Rectangle 40"/>
          <p:cNvSpPr/>
          <p:nvPr/>
        </p:nvSpPr>
        <p:spPr>
          <a:xfrm>
            <a:off x="5522976" y="2368296"/>
            <a:ext cx="2258568" cy="1815084"/>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522976" y="2654046"/>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入社・雇用管理</a:t>
            </a:r>
          </a:p>
        </p:txBody>
      </p:sp>
      <p:sp>
        <p:nvSpPr>
          <p:cNvPr id="43" name="Rounded Rectangle 42"/>
          <p:cNvSpPr/>
          <p:nvPr/>
        </p:nvSpPr>
        <p:spPr>
          <a:xfrm>
            <a:off x="5614416" y="2946653"/>
            <a:ext cx="2075687" cy="274320"/>
          </a:xfrm>
          <a:prstGeom prst="round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641848" y="2946653"/>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人事管理（コアHR）</a:t>
            </a:r>
          </a:p>
          <a:p>
            <a:pPr algn="ctr"/>
            <a:r>
              <a:rPr sz="600" b="0">
                <a:solidFill>
                  <a:srgbClr val="5B6B70"/>
                </a:solidFill>
                <a:latin typeface="Yu Gothic"/>
                <a:ea typeface="Yu Gothic"/>
                <a:cs typeface="Yu Gothic"/>
              </a:rPr>
              <a:t>（HRIS／人事マスタ）</a:t>
            </a:r>
          </a:p>
        </p:txBody>
      </p:sp>
      <p:sp>
        <p:nvSpPr>
          <p:cNvPr id="45" name="Rounded Rectangle 44"/>
          <p:cNvSpPr/>
          <p:nvPr/>
        </p:nvSpPr>
        <p:spPr>
          <a:xfrm>
            <a:off x="5614416" y="3257549"/>
            <a:ext cx="2075687" cy="274320"/>
          </a:xfrm>
          <a:prstGeom prst="round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5641848" y="3257549"/>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労務手続き</a:t>
            </a:r>
          </a:p>
          <a:p>
            <a:pPr algn="ctr"/>
            <a:r>
              <a:rPr sz="600" b="0">
                <a:solidFill>
                  <a:srgbClr val="5B6B70"/>
                </a:solidFill>
                <a:latin typeface="Yu Gothic"/>
                <a:ea typeface="Yu Gothic"/>
                <a:cs typeface="Yu Gothic"/>
              </a:rPr>
              <a:t>（労務管理クラウド（電子申請））</a:t>
            </a:r>
          </a:p>
        </p:txBody>
      </p:sp>
      <p:sp>
        <p:nvSpPr>
          <p:cNvPr id="47" name="Rounded Rectangle 46"/>
          <p:cNvSpPr/>
          <p:nvPr/>
        </p:nvSpPr>
        <p:spPr>
          <a:xfrm>
            <a:off x="5614416" y="3568446"/>
            <a:ext cx="2075687" cy="27432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5641848" y="3568446"/>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電子契約</a:t>
            </a:r>
          </a:p>
          <a:p>
            <a:pPr algn="ctr"/>
            <a:r>
              <a:rPr sz="600" b="0">
                <a:solidFill>
                  <a:srgbClr val="5B6B70"/>
                </a:solidFill>
                <a:latin typeface="Yu Gothic"/>
                <a:ea typeface="Yu Gothic"/>
                <a:cs typeface="Yu Gothic"/>
              </a:rPr>
              <a:t>（電子契約サービス）</a:t>
            </a:r>
          </a:p>
        </p:txBody>
      </p:sp>
      <p:sp>
        <p:nvSpPr>
          <p:cNvPr id="49" name="Rounded Rectangle 48"/>
          <p:cNvSpPr/>
          <p:nvPr/>
        </p:nvSpPr>
        <p:spPr>
          <a:xfrm>
            <a:off x="5522976" y="4274820"/>
            <a:ext cx="2258568" cy="1504188"/>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522976" y="4560570"/>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退職・雇用終了</a:t>
            </a:r>
          </a:p>
        </p:txBody>
      </p:sp>
      <p:sp>
        <p:nvSpPr>
          <p:cNvPr id="51" name="Rounded Rectangle 50"/>
          <p:cNvSpPr/>
          <p:nvPr/>
        </p:nvSpPr>
        <p:spPr>
          <a:xfrm>
            <a:off x="5614416" y="4853178"/>
            <a:ext cx="2075687" cy="274320"/>
          </a:xfrm>
          <a:prstGeom prst="round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641848" y="4853178"/>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人事管理（コアHR）</a:t>
            </a:r>
          </a:p>
          <a:p>
            <a:pPr algn="ctr"/>
            <a:r>
              <a:rPr sz="600" b="0">
                <a:solidFill>
                  <a:srgbClr val="5B6B70"/>
                </a:solidFill>
                <a:latin typeface="Yu Gothic"/>
                <a:ea typeface="Yu Gothic"/>
                <a:cs typeface="Yu Gothic"/>
              </a:rPr>
              <a:t>（HRIS／人事マスタ）</a:t>
            </a:r>
          </a:p>
        </p:txBody>
      </p:sp>
      <p:sp>
        <p:nvSpPr>
          <p:cNvPr id="53" name="Rounded Rectangle 52"/>
          <p:cNvSpPr/>
          <p:nvPr/>
        </p:nvSpPr>
        <p:spPr>
          <a:xfrm>
            <a:off x="5614416" y="5164074"/>
            <a:ext cx="2075687" cy="274320"/>
          </a:xfrm>
          <a:prstGeom prst="round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5641848" y="5164074"/>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労務手続き</a:t>
            </a:r>
          </a:p>
          <a:p>
            <a:pPr algn="ctr"/>
            <a:r>
              <a:rPr sz="600" b="0">
                <a:solidFill>
                  <a:srgbClr val="5B6B70"/>
                </a:solidFill>
                <a:latin typeface="Yu Gothic"/>
                <a:ea typeface="Yu Gothic"/>
                <a:cs typeface="Yu Gothic"/>
              </a:rPr>
              <a:t>（労務管理クラウド（電子申請））</a:t>
            </a:r>
          </a:p>
        </p:txBody>
      </p:sp>
      <p:sp>
        <p:nvSpPr>
          <p:cNvPr id="55" name="Chevron 54"/>
          <p:cNvSpPr/>
          <p:nvPr/>
        </p:nvSpPr>
        <p:spPr>
          <a:xfrm rot="5400000">
            <a:off x="6592824" y="1755648"/>
            <a:ext cx="118872" cy="310896"/>
          </a:xfrm>
          <a:prstGeom prst="chevron">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Chevron 55"/>
          <p:cNvSpPr/>
          <p:nvPr/>
        </p:nvSpPr>
        <p:spPr>
          <a:xfrm rot="5400000">
            <a:off x="6592824" y="5742432"/>
            <a:ext cx="118872" cy="310896"/>
          </a:xfrm>
          <a:prstGeom prst="chevron">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8001000" y="1325880"/>
            <a:ext cx="3730752" cy="4526280"/>
          </a:xfrm>
          <a:prstGeom prst="roundRect">
            <a:avLst>
              <a:gd name="adj" fmla="val 3000"/>
            </a:avLst>
          </a:prstGeom>
          <a:solidFill>
            <a:srgbClr val="E8F1FB"/>
          </a:solidFill>
          <a:ln w="19050">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8001000" y="1380744"/>
            <a:ext cx="3730752" cy="274320"/>
          </a:xfrm>
          <a:prstGeom prst="rect">
            <a:avLst/>
          </a:prstGeom>
          <a:noFill/>
        </p:spPr>
        <p:txBody>
          <a:bodyPr wrap="square" lIns="0" rIns="0" tIns="0" bIns="0" anchor="ctr">
            <a:spAutoFit/>
          </a:bodyPr>
          <a:lstStyle/>
          <a:p>
            <a:pPr algn="ctr"/>
            <a:r>
              <a:rPr sz="1250" b="1">
                <a:solidFill>
                  <a:srgbClr val="2A78D6"/>
                </a:solidFill>
                <a:latin typeface="Yu Gothic"/>
                <a:ea typeface="Yu Gothic"/>
                <a:cs typeface="Yu Gothic"/>
              </a:rPr>
              <a:t>Rewards &amp; Workplace</a:t>
            </a:r>
          </a:p>
        </p:txBody>
      </p:sp>
      <p:sp>
        <p:nvSpPr>
          <p:cNvPr id="59" name="Rounded Rectangle 58"/>
          <p:cNvSpPr/>
          <p:nvPr/>
        </p:nvSpPr>
        <p:spPr>
          <a:xfrm>
            <a:off x="8074152" y="1709928"/>
            <a:ext cx="3584448" cy="1988819"/>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8074152" y="2237994"/>
            <a:ext cx="358444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パフォーマンス・報酬管理</a:t>
            </a:r>
          </a:p>
        </p:txBody>
      </p:sp>
      <p:sp>
        <p:nvSpPr>
          <p:cNvPr id="61" name="Rounded Rectangle 60"/>
          <p:cNvSpPr/>
          <p:nvPr/>
        </p:nvSpPr>
        <p:spPr>
          <a:xfrm>
            <a:off x="8165592" y="2530601"/>
            <a:ext cx="1673351" cy="274320"/>
          </a:xfrm>
          <a:prstGeom prst="roundRect">
            <a:avLst/>
          </a:prstGeom>
          <a:solidFill>
            <a:srgbClr val="E4EAEC"/>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8193023" y="2530601"/>
            <a:ext cx="1618487"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労務手続き</a:t>
            </a:r>
          </a:p>
          <a:p>
            <a:pPr algn="ctr"/>
            <a:r>
              <a:rPr sz="600" b="0">
                <a:solidFill>
                  <a:srgbClr val="5B6B70"/>
                </a:solidFill>
                <a:latin typeface="Yu Gothic"/>
                <a:ea typeface="Yu Gothic"/>
                <a:cs typeface="Yu Gothic"/>
              </a:rPr>
              <a:t>（労務管理クラウド（電子申請））</a:t>
            </a:r>
          </a:p>
        </p:txBody>
      </p:sp>
      <p:sp>
        <p:nvSpPr>
          <p:cNvPr id="63" name="Rounded Rectangle 62"/>
          <p:cNvSpPr/>
          <p:nvPr/>
        </p:nvSpPr>
        <p:spPr>
          <a:xfrm>
            <a:off x="9893808" y="2530601"/>
            <a:ext cx="1673351"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9921240" y="2530601"/>
            <a:ext cx="1618487"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目標・評価管理</a:t>
            </a:r>
          </a:p>
          <a:p>
            <a:pPr algn="ctr"/>
            <a:r>
              <a:rPr sz="600" b="0">
                <a:solidFill>
                  <a:srgbClr val="5B6B70"/>
                </a:solidFill>
                <a:latin typeface="Yu Gothic"/>
                <a:ea typeface="Yu Gothic"/>
                <a:cs typeface="Yu Gothic"/>
              </a:rPr>
              <a:t>（パフォーマンス管理）</a:t>
            </a:r>
          </a:p>
        </p:txBody>
      </p:sp>
      <p:sp>
        <p:nvSpPr>
          <p:cNvPr id="65" name="Rounded Rectangle 64"/>
          <p:cNvSpPr/>
          <p:nvPr/>
        </p:nvSpPr>
        <p:spPr>
          <a:xfrm>
            <a:off x="8165592" y="2841497"/>
            <a:ext cx="1673351"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8193023" y="2841497"/>
            <a:ext cx="1618487"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給与計算</a:t>
            </a:r>
          </a:p>
          <a:p>
            <a:pPr algn="ctr"/>
            <a:r>
              <a:rPr sz="600" b="0">
                <a:solidFill>
                  <a:srgbClr val="5B6B70"/>
                </a:solidFill>
                <a:latin typeface="Yu Gothic"/>
                <a:ea typeface="Yu Gothic"/>
                <a:cs typeface="Yu Gothic"/>
              </a:rPr>
              <a:t>（給与計算システム（年末調整を含む））</a:t>
            </a:r>
          </a:p>
        </p:txBody>
      </p:sp>
      <p:sp>
        <p:nvSpPr>
          <p:cNvPr id="67" name="Rounded Rectangle 66"/>
          <p:cNvSpPr/>
          <p:nvPr/>
        </p:nvSpPr>
        <p:spPr>
          <a:xfrm>
            <a:off x="9893808" y="2841497"/>
            <a:ext cx="1673351"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921240" y="2841497"/>
            <a:ext cx="1618487"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福利厚生</a:t>
            </a:r>
          </a:p>
          <a:p>
            <a:pPr algn="ctr"/>
            <a:r>
              <a:rPr sz="600" b="0">
                <a:solidFill>
                  <a:srgbClr val="5B6B70"/>
                </a:solidFill>
                <a:latin typeface="Yu Gothic"/>
                <a:ea typeface="Yu Gothic"/>
                <a:cs typeface="Yu Gothic"/>
              </a:rPr>
              <a:t>（福利厚生プラットフォーム）</a:t>
            </a:r>
          </a:p>
        </p:txBody>
      </p:sp>
      <p:sp>
        <p:nvSpPr>
          <p:cNvPr id="69" name="Rounded Rectangle 68"/>
          <p:cNvSpPr/>
          <p:nvPr/>
        </p:nvSpPr>
        <p:spPr>
          <a:xfrm>
            <a:off x="8074152" y="3790187"/>
            <a:ext cx="3584448" cy="1988819"/>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8074152" y="4318253"/>
            <a:ext cx="358444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就業・労務管理</a:t>
            </a:r>
          </a:p>
        </p:txBody>
      </p:sp>
      <p:sp>
        <p:nvSpPr>
          <p:cNvPr id="71" name="Rounded Rectangle 70"/>
          <p:cNvSpPr/>
          <p:nvPr/>
        </p:nvSpPr>
        <p:spPr>
          <a:xfrm>
            <a:off x="8165592" y="4610862"/>
            <a:ext cx="1673351"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8193023" y="4610862"/>
            <a:ext cx="1618487"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勤怠管理</a:t>
            </a:r>
          </a:p>
          <a:p>
            <a:pPr algn="ctr"/>
            <a:r>
              <a:rPr sz="600" b="0">
                <a:solidFill>
                  <a:srgbClr val="5B6B70"/>
                </a:solidFill>
                <a:latin typeface="Yu Gothic"/>
                <a:ea typeface="Yu Gothic"/>
                <a:cs typeface="Yu Gothic"/>
              </a:rPr>
              <a:t>（勤怠管理システム）</a:t>
            </a:r>
          </a:p>
        </p:txBody>
      </p:sp>
      <p:sp>
        <p:nvSpPr>
          <p:cNvPr id="73" name="Rounded Rectangle 72"/>
          <p:cNvSpPr/>
          <p:nvPr/>
        </p:nvSpPr>
        <p:spPr>
          <a:xfrm>
            <a:off x="9893808" y="4610862"/>
            <a:ext cx="1673351"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9921240" y="4610862"/>
            <a:ext cx="1618487"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健康管理</a:t>
            </a:r>
          </a:p>
          <a:p>
            <a:pPr algn="ctr"/>
            <a:r>
              <a:rPr sz="600" b="0">
                <a:solidFill>
                  <a:srgbClr val="5B6B70"/>
                </a:solidFill>
                <a:latin typeface="Yu Gothic"/>
                <a:ea typeface="Yu Gothic"/>
                <a:cs typeface="Yu Gothic"/>
              </a:rPr>
              <a:t>（健康管理システム）</a:t>
            </a:r>
          </a:p>
        </p:txBody>
      </p:sp>
      <p:sp>
        <p:nvSpPr>
          <p:cNvPr id="75" name="Rounded Rectangle 74"/>
          <p:cNvSpPr/>
          <p:nvPr/>
        </p:nvSpPr>
        <p:spPr>
          <a:xfrm>
            <a:off x="8165592" y="4921757"/>
            <a:ext cx="1673351"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193023" y="4921757"/>
            <a:ext cx="1618487"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エンゲージメントサーベイ</a:t>
            </a:r>
          </a:p>
          <a:p>
            <a:pPr algn="ctr"/>
            <a:r>
              <a:rPr sz="600" b="0">
                <a:solidFill>
                  <a:srgbClr val="5B6B70"/>
                </a:solidFill>
                <a:latin typeface="Yu Gothic"/>
                <a:ea typeface="Yu Gothic"/>
                <a:cs typeface="Yu Gothic"/>
              </a:rPr>
              <a:t>（サーベイツール）</a:t>
            </a:r>
          </a:p>
        </p:txBody>
      </p:sp>
      <p:sp>
        <p:nvSpPr>
          <p:cNvPr id="77" name="Rounded Rectangle 76"/>
          <p:cNvSpPr/>
          <p:nvPr/>
        </p:nvSpPr>
        <p:spPr>
          <a:xfrm>
            <a:off x="9893808" y="4921757"/>
            <a:ext cx="1673351"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9921240" y="4921757"/>
            <a:ext cx="1618487"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内部通報・相談管理</a:t>
            </a:r>
          </a:p>
          <a:p>
            <a:pPr algn="ctr"/>
            <a:r>
              <a:rPr sz="600" b="0">
                <a:solidFill>
                  <a:srgbClr val="5B6B70"/>
                </a:solidFill>
                <a:latin typeface="Yu Gothic"/>
                <a:ea typeface="Yu Gothic"/>
                <a:cs typeface="Yu Gothic"/>
              </a:rPr>
              <a:t>（通報・相談窓口システム）</a:t>
            </a:r>
          </a:p>
        </p:txBody>
      </p:sp>
      <p:sp>
        <p:nvSpPr>
          <p:cNvPr id="79" name="Chevron 78"/>
          <p:cNvSpPr/>
          <p:nvPr/>
        </p:nvSpPr>
        <p:spPr>
          <a:xfrm rot="5400000">
            <a:off x="9806940" y="5742432"/>
            <a:ext cx="118872" cy="310896"/>
          </a:xfrm>
          <a:prstGeom prst="chevron">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457200" y="5989320"/>
            <a:ext cx="11274552" cy="566928"/>
          </a:xfrm>
          <a:prstGeom prst="roundRect">
            <a:avLst>
              <a:gd name="adj" fmla="val 15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457200" y="6025896"/>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人事基盤（Support / Foundation）</a:t>
            </a:r>
          </a:p>
        </p:txBody>
      </p:sp>
      <p:sp>
        <p:nvSpPr>
          <p:cNvPr id="82" name="Rounded Rectangle 81"/>
          <p:cNvSpPr/>
          <p:nvPr/>
        </p:nvSpPr>
        <p:spPr>
          <a:xfrm>
            <a:off x="1156715" y="6300216"/>
            <a:ext cx="32004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1184147" y="6300216"/>
            <a:ext cx="3145536" cy="182880"/>
          </a:xfrm>
          <a:prstGeom prst="rect">
            <a:avLst/>
          </a:prstGeom>
          <a:noFill/>
        </p:spPr>
        <p:txBody>
          <a:bodyPr wrap="square" lIns="0" rIns="0" tIns="0" bIns="0" anchor="ctr">
            <a:spAutoFit/>
          </a:bodyPr>
          <a:lstStyle/>
          <a:p>
            <a:pPr algn="ctr"/>
            <a:r>
              <a:rPr sz="720" b="0">
                <a:solidFill>
                  <a:srgbClr val="1F2E35"/>
                </a:solidFill>
                <a:latin typeface="Yu Gothic"/>
                <a:ea typeface="Yu Gothic"/>
                <a:cs typeface="Yu Gothic"/>
              </a:rPr>
              <a:t>人事ポータル・問い合わせ管理</a:t>
            </a:r>
          </a:p>
        </p:txBody>
      </p:sp>
      <p:sp>
        <p:nvSpPr>
          <p:cNvPr id="84" name="Rounded Rectangle 83"/>
          <p:cNvSpPr/>
          <p:nvPr/>
        </p:nvSpPr>
        <p:spPr>
          <a:xfrm>
            <a:off x="4494275" y="6300216"/>
            <a:ext cx="32004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4521707" y="6300216"/>
            <a:ext cx="3145536" cy="182880"/>
          </a:xfrm>
          <a:prstGeom prst="rect">
            <a:avLst/>
          </a:prstGeom>
          <a:noFill/>
        </p:spPr>
        <p:txBody>
          <a:bodyPr wrap="square" lIns="0" rIns="0" tIns="0" bIns="0" anchor="ctr">
            <a:spAutoFit/>
          </a:bodyPr>
          <a:lstStyle/>
          <a:p>
            <a:pPr algn="ctr"/>
            <a:r>
              <a:rPr sz="720" b="0">
                <a:solidFill>
                  <a:srgbClr val="1F2E35"/>
                </a:solidFill>
                <a:latin typeface="Yu Gothic"/>
                <a:ea typeface="Yu Gothic"/>
                <a:cs typeface="Yu Gothic"/>
              </a:rPr>
              <a:t>ピープルアナリティクス</a:t>
            </a:r>
          </a:p>
        </p:txBody>
      </p:sp>
      <p:sp>
        <p:nvSpPr>
          <p:cNvPr id="86" name="Rounded Rectangle 85"/>
          <p:cNvSpPr/>
          <p:nvPr/>
        </p:nvSpPr>
        <p:spPr>
          <a:xfrm>
            <a:off x="7831836" y="6300216"/>
            <a:ext cx="32004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7859267" y="6300216"/>
            <a:ext cx="3145536" cy="182880"/>
          </a:xfrm>
          <a:prstGeom prst="rect">
            <a:avLst/>
          </a:prstGeom>
          <a:noFill/>
        </p:spPr>
        <p:txBody>
          <a:bodyPr wrap="square" lIns="0" rIns="0" tIns="0" bIns="0" anchor="ctr">
            <a:spAutoFit/>
          </a:bodyPr>
          <a:lstStyle/>
          <a:p>
            <a:pPr algn="ctr"/>
            <a:r>
              <a:rPr sz="720" b="0">
                <a:solidFill>
                  <a:srgbClr val="1F2E35"/>
                </a:solidFill>
                <a:latin typeface="Yu Gothic"/>
                <a:ea typeface="Yu Gothic"/>
                <a:cs typeface="Yu Gothic"/>
              </a:rPr>
              <a:t>ID・アカウント管理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複数の領域で使うアプリケーション</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3種類のアプリケーションが、複数の領域（ケイパビリティL1）の能力を支え、複数の段階（VS L2）にまたがって使われる</a:t>
            </a:r>
          </a:p>
        </p:txBody>
      </p:sp>
      <p:sp>
        <p:nvSpPr>
          <p:cNvPr id="4" name="Rectangle 3"/>
          <p:cNvSpPr/>
          <p:nvPr/>
        </p:nvSpPr>
        <p:spPr>
          <a:xfrm>
            <a:off x="6071616" y="1261872"/>
            <a:ext cx="1825752" cy="23774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071616" y="1261872"/>
            <a:ext cx="1825752" cy="237744"/>
          </a:xfrm>
          <a:prstGeom prst="rect">
            <a:avLst/>
          </a:prstGeom>
          <a:noFill/>
        </p:spPr>
        <p:txBody>
          <a:bodyPr wrap="square" lIns="0" rIns="0" tIns="0" bIns="0" anchor="ctr">
            <a:spAutoFit/>
          </a:bodyPr>
          <a:lstStyle/>
          <a:p>
            <a:pPr algn="ctr"/>
            <a:r>
              <a:rPr sz="900" b="1">
                <a:solidFill>
                  <a:srgbClr val="FFFFFF"/>
                </a:solidFill>
                <a:latin typeface="Yu Gothic"/>
                <a:ea typeface="Yu Gothic"/>
                <a:cs typeface="Yu Gothic"/>
              </a:rPr>
              <a:t>Phase 1：入職（Hire）</a:t>
            </a:r>
          </a:p>
        </p:txBody>
      </p:sp>
      <p:sp>
        <p:nvSpPr>
          <p:cNvPr id="6" name="Rectangle 5"/>
          <p:cNvSpPr/>
          <p:nvPr/>
        </p:nvSpPr>
        <p:spPr>
          <a:xfrm>
            <a:off x="7970519" y="1261872"/>
            <a:ext cx="2775204" cy="23774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970519" y="1261872"/>
            <a:ext cx="2775204" cy="237744"/>
          </a:xfrm>
          <a:prstGeom prst="rect">
            <a:avLst/>
          </a:prstGeom>
          <a:noFill/>
        </p:spPr>
        <p:txBody>
          <a:bodyPr wrap="square" lIns="0" rIns="0" tIns="0" bIns="0" anchor="ctr">
            <a:spAutoFit/>
          </a:bodyPr>
          <a:lstStyle/>
          <a:p>
            <a:pPr algn="ctr"/>
            <a:r>
              <a:rPr sz="900" b="1">
                <a:solidFill>
                  <a:srgbClr val="FFFFFF"/>
                </a:solidFill>
                <a:latin typeface="Yu Gothic"/>
                <a:ea typeface="Yu Gothic"/>
                <a:cs typeface="Yu Gothic"/>
              </a:rPr>
              <a:t>Phase 2：在職（Develop &amp; Reward）</a:t>
            </a:r>
          </a:p>
        </p:txBody>
      </p:sp>
      <p:sp>
        <p:nvSpPr>
          <p:cNvPr id="8" name="Rectangle 7"/>
          <p:cNvSpPr/>
          <p:nvPr/>
        </p:nvSpPr>
        <p:spPr>
          <a:xfrm>
            <a:off x="10818875" y="1261872"/>
            <a:ext cx="876300" cy="23774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818875" y="1261872"/>
            <a:ext cx="876300" cy="237744"/>
          </a:xfrm>
          <a:prstGeom prst="rect">
            <a:avLst/>
          </a:prstGeom>
          <a:noFill/>
        </p:spPr>
        <p:txBody>
          <a:bodyPr wrap="square" lIns="0" rIns="0" tIns="0" bIns="0" anchor="ctr">
            <a:spAutoFit/>
          </a:bodyPr>
          <a:lstStyle/>
          <a:p>
            <a:pPr algn="ctr"/>
            <a:r>
              <a:rPr sz="850" b="1">
                <a:solidFill>
                  <a:srgbClr val="FFFFFF"/>
                </a:solidFill>
                <a:latin typeface="Yu Gothic"/>
                <a:ea typeface="Yu Gothic"/>
                <a:cs typeface="Yu Gothic"/>
              </a:rPr>
              <a:t>Phase 3：退職</a:t>
            </a:r>
          </a:p>
        </p:txBody>
      </p:sp>
      <p:sp>
        <p:nvSpPr>
          <p:cNvPr id="10" name="Right Arrow 9"/>
          <p:cNvSpPr/>
          <p:nvPr/>
        </p:nvSpPr>
        <p:spPr>
          <a:xfrm>
            <a:off x="6235446"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035040" y="1975104"/>
            <a:ext cx="949452"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人員計画・採用</a:t>
            </a:r>
          </a:p>
        </p:txBody>
      </p:sp>
      <p:sp>
        <p:nvSpPr>
          <p:cNvPr id="12" name="Right Arrow 11"/>
          <p:cNvSpPr/>
          <p:nvPr/>
        </p:nvSpPr>
        <p:spPr>
          <a:xfrm>
            <a:off x="7184897"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984491" y="1975104"/>
            <a:ext cx="949452"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入社・オンボーディング</a:t>
            </a:r>
          </a:p>
        </p:txBody>
      </p:sp>
      <p:sp>
        <p:nvSpPr>
          <p:cNvPr id="14" name="Block Arc 13"/>
          <p:cNvSpPr/>
          <p:nvPr/>
        </p:nvSpPr>
        <p:spPr>
          <a:xfrm>
            <a:off x="8253222" y="1609343"/>
            <a:ext cx="310896" cy="310896"/>
          </a:xfrm>
          <a:prstGeom prst="blockArc">
            <a:avLst>
              <a:gd name="adj1" fmla="val -7200000"/>
              <a:gd name="adj2" fmla="val -11000000"/>
              <a:gd name="adj3" fmla="val 18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Isosceles Triangle 14"/>
          <p:cNvSpPr/>
          <p:nvPr/>
        </p:nvSpPr>
        <p:spPr>
          <a:xfrm rot="5400000">
            <a:off x="8353805" y="1591055"/>
            <a:ext cx="118872" cy="91440"/>
          </a:xfrm>
          <a:prstGeom prst="triangl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933943" y="1975104"/>
            <a:ext cx="949452"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人材育成・能力開発</a:t>
            </a:r>
          </a:p>
        </p:txBody>
      </p:sp>
      <p:sp>
        <p:nvSpPr>
          <p:cNvPr id="17" name="Block Arc 16"/>
          <p:cNvSpPr/>
          <p:nvPr/>
        </p:nvSpPr>
        <p:spPr>
          <a:xfrm>
            <a:off x="9202674" y="1609343"/>
            <a:ext cx="310896" cy="310896"/>
          </a:xfrm>
          <a:prstGeom prst="blockArc">
            <a:avLst>
              <a:gd name="adj1" fmla="val -7200000"/>
              <a:gd name="adj2" fmla="val -11000000"/>
              <a:gd name="adj3" fmla="val 18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Isosceles Triangle 17"/>
          <p:cNvSpPr/>
          <p:nvPr/>
        </p:nvSpPr>
        <p:spPr>
          <a:xfrm rot="5400000">
            <a:off x="9303258" y="1591055"/>
            <a:ext cx="118872" cy="91440"/>
          </a:xfrm>
          <a:prstGeom prst="triangl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883396" y="1975104"/>
            <a:ext cx="949452"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評価・処遇</a:t>
            </a:r>
          </a:p>
        </p:txBody>
      </p:sp>
      <p:sp>
        <p:nvSpPr>
          <p:cNvPr id="20" name="Block Arc 19"/>
          <p:cNvSpPr/>
          <p:nvPr/>
        </p:nvSpPr>
        <p:spPr>
          <a:xfrm>
            <a:off x="10152126" y="1609343"/>
            <a:ext cx="310896" cy="310896"/>
          </a:xfrm>
          <a:prstGeom prst="blockArc">
            <a:avLst>
              <a:gd name="adj1" fmla="val -7200000"/>
              <a:gd name="adj2" fmla="val -11000000"/>
              <a:gd name="adj3" fmla="val 18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Isosceles Triangle 20"/>
          <p:cNvSpPr/>
          <p:nvPr/>
        </p:nvSpPr>
        <p:spPr>
          <a:xfrm rot="5400000">
            <a:off x="10252710" y="1591055"/>
            <a:ext cx="118872" cy="91440"/>
          </a:xfrm>
          <a:prstGeom prst="triangl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832848" y="1975104"/>
            <a:ext cx="949452"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キャリア・配置</a:t>
            </a:r>
          </a:p>
        </p:txBody>
      </p:sp>
      <p:sp>
        <p:nvSpPr>
          <p:cNvPr id="23" name="Right Arrow 22"/>
          <p:cNvSpPr/>
          <p:nvPr/>
        </p:nvSpPr>
        <p:spPr>
          <a:xfrm>
            <a:off x="10982706"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782300" y="1975104"/>
            <a:ext cx="949452"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退職・オフボーディング</a:t>
            </a:r>
          </a:p>
        </p:txBody>
      </p:sp>
      <p:sp>
        <p:nvSpPr>
          <p:cNvPr id="25" name="TextBox 24"/>
          <p:cNvSpPr txBox="1"/>
          <p:nvPr/>
        </p:nvSpPr>
        <p:spPr>
          <a:xfrm>
            <a:off x="4480560" y="1965960"/>
            <a:ext cx="1463040" cy="320040"/>
          </a:xfrm>
          <a:prstGeom prst="rect">
            <a:avLst/>
          </a:prstGeom>
          <a:noFill/>
        </p:spPr>
        <p:txBody>
          <a:bodyPr wrap="square" lIns="0" rIns="0" tIns="0" bIns="0" anchor="b">
            <a:spAutoFit/>
          </a:bodyPr>
          <a:lstStyle/>
          <a:p>
            <a:pPr algn="ctr"/>
            <a:r>
              <a:rPr sz="800" b="1">
                <a:solidFill>
                  <a:srgbClr val="1F2E35"/>
                </a:solidFill>
                <a:latin typeface="Yu Gothic"/>
                <a:ea typeface="Yu Gothic"/>
                <a:cs typeface="Yu Gothic"/>
              </a:rPr>
              <a:t>複数の領域で使う</a:t>
            </a:r>
          </a:p>
          <a:p>
            <a:pPr algn="ctr"/>
            <a:r>
              <a:rPr sz="800" b="1">
                <a:solidFill>
                  <a:srgbClr val="1F2E35"/>
                </a:solidFill>
                <a:latin typeface="Yu Gothic"/>
                <a:ea typeface="Yu Gothic"/>
                <a:cs typeface="Yu Gothic"/>
              </a:rPr>
              <a:t>アプリケーション</a:t>
            </a:r>
          </a:p>
        </p:txBody>
      </p:sp>
      <p:sp>
        <p:nvSpPr>
          <p:cNvPr id="26" name="Rectangle 25"/>
          <p:cNvSpPr/>
          <p:nvPr/>
        </p:nvSpPr>
        <p:spPr>
          <a:xfrm>
            <a:off x="2103120" y="2377440"/>
            <a:ext cx="9628632" cy="329184"/>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2194560" y="2377440"/>
            <a:ext cx="210312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人事戦略・組織設計</a:t>
            </a:r>
          </a:p>
        </p:txBody>
      </p:sp>
      <p:sp>
        <p:nvSpPr>
          <p:cNvPr id="28" name="Oval 27"/>
          <p:cNvSpPr/>
          <p:nvPr/>
        </p:nvSpPr>
        <p:spPr>
          <a:xfrm>
            <a:off x="6422898" y="2455164"/>
            <a:ext cx="173736" cy="173736"/>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9276766" y="2460676"/>
            <a:ext cx="162710" cy="162710"/>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val 29"/>
          <p:cNvSpPr/>
          <p:nvPr/>
        </p:nvSpPr>
        <p:spPr>
          <a:xfrm>
            <a:off x="10232757" y="2467215"/>
            <a:ext cx="149632" cy="149632"/>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960620" y="2450592"/>
            <a:ext cx="502920" cy="182879"/>
          </a:xfrm>
          <a:prstGeom prst="roundRect">
            <a:avLst>
              <a:gd name="adj" fmla="val 50000"/>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60620" y="2450592"/>
            <a:ext cx="502920" cy="182879"/>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コアHR</a:t>
            </a:r>
          </a:p>
        </p:txBody>
      </p:sp>
      <p:sp>
        <p:nvSpPr>
          <p:cNvPr id="33" name="Rectangle 32"/>
          <p:cNvSpPr/>
          <p:nvPr/>
        </p:nvSpPr>
        <p:spPr>
          <a:xfrm>
            <a:off x="2011679" y="2395728"/>
            <a:ext cx="54864" cy="292607"/>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274320" y="2377440"/>
            <a:ext cx="1645920" cy="329183"/>
          </a:xfrm>
          <a:prstGeom prst="rect">
            <a:avLst/>
          </a:prstGeom>
          <a:noFill/>
        </p:spPr>
        <p:txBody>
          <a:bodyPr wrap="square" lIns="0" rIns="0" tIns="0" bIns="0" anchor="ctr">
            <a:spAutoFit/>
          </a:bodyPr>
          <a:lstStyle/>
          <a:p>
            <a:pPr algn="r"/>
            <a:r>
              <a:rPr sz="900" b="1">
                <a:solidFill>
                  <a:srgbClr val="1F2E35"/>
                </a:solidFill>
                <a:latin typeface="Yu Gothic"/>
                <a:ea typeface="Yu Gothic"/>
                <a:cs typeface="Yu Gothic"/>
              </a:rPr>
              <a:t>Strategy</a:t>
            </a:r>
          </a:p>
        </p:txBody>
      </p:sp>
      <p:cxnSp>
        <p:nvCxnSpPr>
          <p:cNvPr id="35" name="Connector 34"/>
          <p:cNvCxnSpPr/>
          <p:nvPr/>
        </p:nvCxnSpPr>
        <p:spPr>
          <a:xfrm>
            <a:off x="2103120" y="2706624"/>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194560" y="2706624"/>
            <a:ext cx="210312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タレント獲得</a:t>
            </a:r>
          </a:p>
        </p:txBody>
      </p:sp>
      <p:sp>
        <p:nvSpPr>
          <p:cNvPr id="37" name="Oval 36"/>
          <p:cNvSpPr/>
          <p:nvPr/>
        </p:nvSpPr>
        <p:spPr>
          <a:xfrm>
            <a:off x="6381750" y="2743200"/>
            <a:ext cx="256032" cy="256032"/>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2011679" y="2724912"/>
            <a:ext cx="54864" cy="292607"/>
          </a:xfrm>
          <a:prstGeom prst="rect">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274320" y="2706624"/>
            <a:ext cx="1645920" cy="329183"/>
          </a:xfrm>
          <a:prstGeom prst="rect">
            <a:avLst/>
          </a:prstGeom>
          <a:noFill/>
        </p:spPr>
        <p:txBody>
          <a:bodyPr wrap="square" lIns="0" rIns="0" tIns="0" bIns="0" anchor="ctr">
            <a:spAutoFit/>
          </a:bodyPr>
          <a:lstStyle/>
          <a:p>
            <a:pPr algn="r"/>
            <a:r>
              <a:rPr sz="900" b="1">
                <a:solidFill>
                  <a:srgbClr val="C24E1C"/>
                </a:solidFill>
                <a:latin typeface="Yu Gothic"/>
                <a:ea typeface="Yu Gothic"/>
                <a:cs typeface="Yu Gothic"/>
              </a:rPr>
              <a:t>Talent Acquisition</a:t>
            </a:r>
          </a:p>
        </p:txBody>
      </p:sp>
      <p:cxnSp>
        <p:nvCxnSpPr>
          <p:cNvPr id="40" name="Connector 39"/>
          <p:cNvCxnSpPr/>
          <p:nvPr/>
        </p:nvCxnSpPr>
        <p:spPr>
          <a:xfrm>
            <a:off x="2103120" y="3035808"/>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2103120" y="3035808"/>
            <a:ext cx="9628632" cy="329184"/>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2194560" y="3035808"/>
            <a:ext cx="210312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入社・雇用管理</a:t>
            </a:r>
          </a:p>
        </p:txBody>
      </p:sp>
      <p:sp>
        <p:nvSpPr>
          <p:cNvPr id="43" name="Oval 42"/>
          <p:cNvSpPr/>
          <p:nvPr/>
        </p:nvSpPr>
        <p:spPr>
          <a:xfrm>
            <a:off x="7345261" y="3086443"/>
            <a:ext cx="227912" cy="227912"/>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Oval 43"/>
          <p:cNvSpPr/>
          <p:nvPr/>
        </p:nvSpPr>
        <p:spPr>
          <a:xfrm>
            <a:off x="9312402" y="3154680"/>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Oval 44"/>
          <p:cNvSpPr/>
          <p:nvPr/>
        </p:nvSpPr>
        <p:spPr>
          <a:xfrm>
            <a:off x="10241280" y="3134106"/>
            <a:ext cx="132588" cy="132588"/>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Oval 45"/>
          <p:cNvSpPr/>
          <p:nvPr/>
        </p:nvSpPr>
        <p:spPr>
          <a:xfrm>
            <a:off x="11182209" y="3125583"/>
            <a:ext cx="149632" cy="149632"/>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4686300" y="3108960"/>
            <a:ext cx="502920" cy="182879"/>
          </a:xfrm>
          <a:prstGeom prst="roundRect">
            <a:avLst>
              <a:gd name="adj" fmla="val 50000"/>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4686300" y="3108960"/>
            <a:ext cx="502920" cy="182879"/>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コアHR</a:t>
            </a:r>
          </a:p>
        </p:txBody>
      </p:sp>
      <p:sp>
        <p:nvSpPr>
          <p:cNvPr id="49" name="Rounded Rectangle 48"/>
          <p:cNvSpPr/>
          <p:nvPr/>
        </p:nvSpPr>
        <p:spPr>
          <a:xfrm>
            <a:off x="5234940" y="3108960"/>
            <a:ext cx="502920" cy="182879"/>
          </a:xfrm>
          <a:prstGeom prst="roundRect">
            <a:avLst>
              <a:gd name="adj" fmla="val 50000"/>
            </a:avLst>
          </a:prstGeom>
          <a:solidFill>
            <a:srgbClr val="EDA1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234940" y="3108960"/>
            <a:ext cx="502920" cy="182879"/>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労務</a:t>
            </a:r>
          </a:p>
        </p:txBody>
      </p:sp>
      <p:sp>
        <p:nvSpPr>
          <p:cNvPr id="51" name="TextBox 50"/>
          <p:cNvSpPr txBox="1"/>
          <p:nvPr/>
        </p:nvSpPr>
        <p:spPr>
          <a:xfrm>
            <a:off x="2194560" y="3364991"/>
            <a:ext cx="210312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退職・雇用終了</a:t>
            </a:r>
          </a:p>
        </p:txBody>
      </p:sp>
      <p:sp>
        <p:nvSpPr>
          <p:cNvPr id="52" name="Oval 51"/>
          <p:cNvSpPr/>
          <p:nvPr/>
        </p:nvSpPr>
        <p:spPr>
          <a:xfrm>
            <a:off x="11137125" y="3409683"/>
            <a:ext cx="239801" cy="239801"/>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4686300" y="3438144"/>
            <a:ext cx="502920" cy="182879"/>
          </a:xfrm>
          <a:prstGeom prst="roundRect">
            <a:avLst>
              <a:gd name="adj" fmla="val 50000"/>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4686300" y="3438144"/>
            <a:ext cx="502920" cy="182879"/>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コアHR</a:t>
            </a:r>
          </a:p>
        </p:txBody>
      </p:sp>
      <p:sp>
        <p:nvSpPr>
          <p:cNvPr id="55" name="Rounded Rectangle 54"/>
          <p:cNvSpPr/>
          <p:nvPr/>
        </p:nvSpPr>
        <p:spPr>
          <a:xfrm>
            <a:off x="5234940" y="3438144"/>
            <a:ext cx="502920" cy="182879"/>
          </a:xfrm>
          <a:prstGeom prst="roundRect">
            <a:avLst>
              <a:gd name="adj" fmla="val 50000"/>
            </a:avLst>
          </a:prstGeom>
          <a:solidFill>
            <a:srgbClr val="EDA1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234940" y="3438144"/>
            <a:ext cx="502920" cy="182879"/>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労務</a:t>
            </a:r>
          </a:p>
        </p:txBody>
      </p:sp>
      <p:sp>
        <p:nvSpPr>
          <p:cNvPr id="57" name="Rectangle 56"/>
          <p:cNvSpPr/>
          <p:nvPr/>
        </p:nvSpPr>
        <p:spPr>
          <a:xfrm>
            <a:off x="2011679" y="3054096"/>
            <a:ext cx="54864" cy="621792"/>
          </a:xfrm>
          <a:prstGeom prst="rect">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274320" y="3035808"/>
            <a:ext cx="1645920" cy="658368"/>
          </a:xfrm>
          <a:prstGeom prst="rect">
            <a:avLst/>
          </a:prstGeom>
          <a:noFill/>
        </p:spPr>
        <p:txBody>
          <a:bodyPr wrap="square" lIns="0" rIns="0" tIns="0" bIns="0" anchor="ctr">
            <a:spAutoFit/>
          </a:bodyPr>
          <a:lstStyle/>
          <a:p>
            <a:pPr algn="r"/>
            <a:r>
              <a:rPr sz="900" b="1">
                <a:solidFill>
                  <a:srgbClr val="0E7A52"/>
                </a:solidFill>
                <a:latin typeface="Yu Gothic"/>
                <a:ea typeface="Yu Gothic"/>
                <a:cs typeface="Yu Gothic"/>
              </a:rPr>
              <a:t>Employment Lifecycle</a:t>
            </a:r>
          </a:p>
        </p:txBody>
      </p:sp>
      <p:cxnSp>
        <p:nvCxnSpPr>
          <p:cNvPr id="59" name="Connector 58"/>
          <p:cNvCxnSpPr/>
          <p:nvPr/>
        </p:nvCxnSpPr>
        <p:spPr>
          <a:xfrm>
            <a:off x="2103120" y="3694176"/>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2103120" y="3694176"/>
            <a:ext cx="9628632" cy="329184"/>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2194560" y="3694176"/>
            <a:ext cx="210312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人材育成・能力開発</a:t>
            </a:r>
          </a:p>
        </p:txBody>
      </p:sp>
      <p:sp>
        <p:nvSpPr>
          <p:cNvPr id="62" name="Oval 61"/>
          <p:cNvSpPr/>
          <p:nvPr/>
        </p:nvSpPr>
        <p:spPr>
          <a:xfrm>
            <a:off x="7392923" y="3792474"/>
            <a:ext cx="132588" cy="132588"/>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8283267" y="3733365"/>
            <a:ext cx="250805" cy="250805"/>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Oval 63"/>
          <p:cNvSpPr/>
          <p:nvPr/>
        </p:nvSpPr>
        <p:spPr>
          <a:xfrm>
            <a:off x="9312402" y="3813048"/>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Oval 64"/>
          <p:cNvSpPr/>
          <p:nvPr/>
        </p:nvSpPr>
        <p:spPr>
          <a:xfrm>
            <a:off x="10261854" y="3813048"/>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ounded Rectangle 65"/>
          <p:cNvSpPr/>
          <p:nvPr/>
        </p:nvSpPr>
        <p:spPr>
          <a:xfrm>
            <a:off x="4960620" y="3767328"/>
            <a:ext cx="502920" cy="182879"/>
          </a:xfrm>
          <a:prstGeom prst="roundRect">
            <a:avLst>
              <a:gd name="adj" fmla="val 50000"/>
            </a:avLst>
          </a:prstGeom>
          <a:solidFill>
            <a:srgbClr val="E87B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4960620" y="3767328"/>
            <a:ext cx="502920" cy="182879"/>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TMS</a:t>
            </a:r>
          </a:p>
        </p:txBody>
      </p:sp>
      <p:sp>
        <p:nvSpPr>
          <p:cNvPr id="68" name="TextBox 67"/>
          <p:cNvSpPr txBox="1"/>
          <p:nvPr/>
        </p:nvSpPr>
        <p:spPr>
          <a:xfrm>
            <a:off x="2194560" y="4023360"/>
            <a:ext cx="210312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タレントマネジメント・配置</a:t>
            </a:r>
          </a:p>
        </p:txBody>
      </p:sp>
      <p:sp>
        <p:nvSpPr>
          <p:cNvPr id="69" name="Oval 68"/>
          <p:cNvSpPr/>
          <p:nvPr/>
        </p:nvSpPr>
        <p:spPr>
          <a:xfrm>
            <a:off x="7413497" y="4142232"/>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Oval 69"/>
          <p:cNvSpPr/>
          <p:nvPr/>
        </p:nvSpPr>
        <p:spPr>
          <a:xfrm>
            <a:off x="8362949" y="4142232"/>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Oval 70"/>
          <p:cNvSpPr/>
          <p:nvPr/>
        </p:nvSpPr>
        <p:spPr>
          <a:xfrm>
            <a:off x="10187673" y="4068051"/>
            <a:ext cx="239801" cy="239801"/>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Oval 71"/>
          <p:cNvSpPr/>
          <p:nvPr/>
        </p:nvSpPr>
        <p:spPr>
          <a:xfrm>
            <a:off x="11211306" y="4142232"/>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4960620" y="4096512"/>
            <a:ext cx="502920" cy="182879"/>
          </a:xfrm>
          <a:prstGeom prst="roundRect">
            <a:avLst>
              <a:gd name="adj" fmla="val 50000"/>
            </a:avLst>
          </a:prstGeom>
          <a:solidFill>
            <a:srgbClr val="E87B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4960620" y="4096512"/>
            <a:ext cx="502920" cy="182879"/>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TMS</a:t>
            </a:r>
          </a:p>
        </p:txBody>
      </p:sp>
      <p:sp>
        <p:nvSpPr>
          <p:cNvPr id="75" name="Rectangle 74"/>
          <p:cNvSpPr/>
          <p:nvPr/>
        </p:nvSpPr>
        <p:spPr>
          <a:xfrm>
            <a:off x="2011679" y="3712463"/>
            <a:ext cx="54864" cy="621792"/>
          </a:xfrm>
          <a:prstGeom prst="rect">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274320" y="3694176"/>
            <a:ext cx="1645920" cy="658368"/>
          </a:xfrm>
          <a:prstGeom prst="rect">
            <a:avLst/>
          </a:prstGeom>
          <a:noFill/>
        </p:spPr>
        <p:txBody>
          <a:bodyPr wrap="square" lIns="0" rIns="0" tIns="0" bIns="0" anchor="ctr">
            <a:spAutoFit/>
          </a:bodyPr>
          <a:lstStyle/>
          <a:p>
            <a:pPr algn="r"/>
            <a:r>
              <a:rPr sz="900" b="1">
                <a:solidFill>
                  <a:srgbClr val="4A3AA7"/>
                </a:solidFill>
                <a:latin typeface="Yu Gothic"/>
                <a:ea typeface="Yu Gothic"/>
                <a:cs typeface="Yu Gothic"/>
              </a:rPr>
              <a:t>Talent Development</a:t>
            </a:r>
          </a:p>
        </p:txBody>
      </p:sp>
      <p:cxnSp>
        <p:nvCxnSpPr>
          <p:cNvPr id="77" name="Connector 76"/>
          <p:cNvCxnSpPr/>
          <p:nvPr/>
        </p:nvCxnSpPr>
        <p:spPr>
          <a:xfrm>
            <a:off x="2103120" y="4352544"/>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2103120" y="4352544"/>
            <a:ext cx="9628632" cy="329184"/>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2194560" y="4352544"/>
            <a:ext cx="210312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パフォーマンス・報酬管理</a:t>
            </a:r>
          </a:p>
        </p:txBody>
      </p:sp>
      <p:sp>
        <p:nvSpPr>
          <p:cNvPr id="80" name="Oval 79"/>
          <p:cNvSpPr/>
          <p:nvPr/>
        </p:nvSpPr>
        <p:spPr>
          <a:xfrm>
            <a:off x="6464046" y="4471416"/>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Oval 80"/>
          <p:cNvSpPr/>
          <p:nvPr/>
        </p:nvSpPr>
        <p:spPr>
          <a:xfrm>
            <a:off x="7392923" y="4450842"/>
            <a:ext cx="132588" cy="132588"/>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Oval 81"/>
          <p:cNvSpPr/>
          <p:nvPr/>
        </p:nvSpPr>
        <p:spPr>
          <a:xfrm>
            <a:off x="8362949" y="4471416"/>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Oval 82"/>
          <p:cNvSpPr/>
          <p:nvPr/>
        </p:nvSpPr>
        <p:spPr>
          <a:xfrm>
            <a:off x="9225113" y="4384127"/>
            <a:ext cx="266016" cy="266016"/>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Oval 83"/>
          <p:cNvSpPr/>
          <p:nvPr/>
        </p:nvSpPr>
        <p:spPr>
          <a:xfrm>
            <a:off x="11190732" y="4450842"/>
            <a:ext cx="132588" cy="132588"/>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4960620" y="4425696"/>
            <a:ext cx="502920" cy="182879"/>
          </a:xfrm>
          <a:prstGeom prst="roundRect">
            <a:avLst>
              <a:gd name="adj" fmla="val 50000"/>
            </a:avLst>
          </a:prstGeom>
          <a:solidFill>
            <a:srgbClr val="EDA1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4960620" y="4425696"/>
            <a:ext cx="502920" cy="182879"/>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労務</a:t>
            </a:r>
          </a:p>
        </p:txBody>
      </p:sp>
      <p:sp>
        <p:nvSpPr>
          <p:cNvPr id="87" name="TextBox 86"/>
          <p:cNvSpPr txBox="1"/>
          <p:nvPr/>
        </p:nvSpPr>
        <p:spPr>
          <a:xfrm>
            <a:off x="2194560" y="4681728"/>
            <a:ext cx="210312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就業・労務管理</a:t>
            </a:r>
          </a:p>
        </p:txBody>
      </p:sp>
      <p:sp>
        <p:nvSpPr>
          <p:cNvPr id="88" name="Oval 87"/>
          <p:cNvSpPr/>
          <p:nvPr/>
        </p:nvSpPr>
        <p:spPr>
          <a:xfrm>
            <a:off x="7392923" y="4780026"/>
            <a:ext cx="132588" cy="132588"/>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Oval 88"/>
          <p:cNvSpPr/>
          <p:nvPr/>
        </p:nvSpPr>
        <p:spPr>
          <a:xfrm>
            <a:off x="9241131" y="4729329"/>
            <a:ext cx="233980" cy="233980"/>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Oval 89"/>
          <p:cNvSpPr/>
          <p:nvPr/>
        </p:nvSpPr>
        <p:spPr>
          <a:xfrm>
            <a:off x="11190732" y="4780026"/>
            <a:ext cx="132588" cy="132588"/>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ectangle 90"/>
          <p:cNvSpPr/>
          <p:nvPr/>
        </p:nvSpPr>
        <p:spPr>
          <a:xfrm>
            <a:off x="2011679" y="4370832"/>
            <a:ext cx="54864" cy="621792"/>
          </a:xfrm>
          <a:prstGeom prst="rect">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TextBox 91"/>
          <p:cNvSpPr txBox="1"/>
          <p:nvPr/>
        </p:nvSpPr>
        <p:spPr>
          <a:xfrm>
            <a:off x="274320" y="4352544"/>
            <a:ext cx="1645920" cy="658368"/>
          </a:xfrm>
          <a:prstGeom prst="rect">
            <a:avLst/>
          </a:prstGeom>
          <a:noFill/>
        </p:spPr>
        <p:txBody>
          <a:bodyPr wrap="square" lIns="0" rIns="0" tIns="0" bIns="0" anchor="ctr">
            <a:spAutoFit/>
          </a:bodyPr>
          <a:lstStyle/>
          <a:p>
            <a:pPr algn="r"/>
            <a:r>
              <a:rPr sz="900" b="1">
                <a:solidFill>
                  <a:srgbClr val="2A78D6"/>
                </a:solidFill>
                <a:latin typeface="Yu Gothic"/>
                <a:ea typeface="Yu Gothic"/>
                <a:cs typeface="Yu Gothic"/>
              </a:rPr>
              <a:t>Rewards &amp; Workplace</a:t>
            </a:r>
          </a:p>
        </p:txBody>
      </p:sp>
      <p:cxnSp>
        <p:nvCxnSpPr>
          <p:cNvPr id="93" name="Connector 92"/>
          <p:cNvCxnSpPr/>
          <p:nvPr/>
        </p:nvCxnSpPr>
        <p:spPr>
          <a:xfrm>
            <a:off x="2103120" y="5010912"/>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2103120" y="5010912"/>
            <a:ext cx="9628632" cy="329184"/>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TextBox 94"/>
          <p:cNvSpPr txBox="1"/>
          <p:nvPr/>
        </p:nvSpPr>
        <p:spPr>
          <a:xfrm>
            <a:off x="2194560" y="5010912"/>
            <a:ext cx="2103120" cy="329184"/>
          </a:xfrm>
          <a:prstGeom prst="rect">
            <a:avLst/>
          </a:prstGeom>
          <a:noFill/>
        </p:spPr>
        <p:txBody>
          <a:bodyPr wrap="square" lIns="0" rIns="0" tIns="0" bIns="0" anchor="ctr">
            <a:spAutoFit/>
          </a:bodyPr>
          <a:lstStyle/>
          <a:p>
            <a:pPr algn="l"/>
            <a:r>
              <a:rPr sz="900" b="1">
                <a:solidFill>
                  <a:srgbClr val="1F2E35"/>
                </a:solidFill>
                <a:latin typeface="Yu Gothic"/>
                <a:ea typeface="Yu Gothic"/>
                <a:cs typeface="Yu Gothic"/>
              </a:rPr>
              <a:t>人事基盤</a:t>
            </a:r>
          </a:p>
        </p:txBody>
      </p:sp>
      <p:sp>
        <p:nvSpPr>
          <p:cNvPr id="96" name="Oval 95"/>
          <p:cNvSpPr/>
          <p:nvPr/>
        </p:nvSpPr>
        <p:spPr>
          <a:xfrm>
            <a:off x="6464046" y="5129784"/>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Oval 96"/>
          <p:cNvSpPr/>
          <p:nvPr/>
        </p:nvSpPr>
        <p:spPr>
          <a:xfrm>
            <a:off x="7392923" y="5109210"/>
            <a:ext cx="132588" cy="132588"/>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Oval 97"/>
          <p:cNvSpPr/>
          <p:nvPr/>
        </p:nvSpPr>
        <p:spPr>
          <a:xfrm>
            <a:off x="8362949" y="5129784"/>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Oval 98"/>
          <p:cNvSpPr/>
          <p:nvPr/>
        </p:nvSpPr>
        <p:spPr>
          <a:xfrm>
            <a:off x="9312402" y="5129784"/>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Oval 99"/>
          <p:cNvSpPr/>
          <p:nvPr/>
        </p:nvSpPr>
        <p:spPr>
          <a:xfrm>
            <a:off x="10261854" y="5129784"/>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Oval 100"/>
          <p:cNvSpPr/>
          <p:nvPr/>
        </p:nvSpPr>
        <p:spPr>
          <a:xfrm>
            <a:off x="11211306" y="5129784"/>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2011679" y="5029200"/>
            <a:ext cx="54864" cy="292608"/>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274320" y="5010912"/>
            <a:ext cx="1645920" cy="329184"/>
          </a:xfrm>
          <a:prstGeom prst="rect">
            <a:avLst/>
          </a:prstGeom>
          <a:noFill/>
        </p:spPr>
        <p:txBody>
          <a:bodyPr wrap="square" lIns="0" rIns="0" tIns="0" bIns="0" anchor="ctr">
            <a:spAutoFit/>
          </a:bodyPr>
          <a:lstStyle/>
          <a:p>
            <a:pPr algn="r"/>
            <a:r>
              <a:rPr sz="900" b="1">
                <a:solidFill>
                  <a:srgbClr val="1F2E35"/>
                </a:solidFill>
                <a:latin typeface="Yu Gothic"/>
                <a:ea typeface="Yu Gothic"/>
                <a:cs typeface="Yu Gothic"/>
              </a:rPr>
              <a:t>Foundation</a:t>
            </a:r>
          </a:p>
        </p:txBody>
      </p:sp>
      <p:cxnSp>
        <p:nvCxnSpPr>
          <p:cNvPr id="104" name="Connector 103"/>
          <p:cNvCxnSpPr/>
          <p:nvPr/>
        </p:nvCxnSpPr>
        <p:spPr>
          <a:xfrm>
            <a:off x="2103120" y="5340096"/>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6984491" y="2377440"/>
            <a:ext cx="0" cy="2962656"/>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7933943" y="2377440"/>
            <a:ext cx="0" cy="2962656"/>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8883396" y="2377440"/>
            <a:ext cx="0" cy="2962656"/>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832848" y="2377440"/>
            <a:ext cx="0" cy="2962656"/>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10782300" y="2377440"/>
            <a:ext cx="0" cy="2962656"/>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7933943" y="2331720"/>
            <a:ext cx="0" cy="3026664"/>
          </a:xfrm>
          <a:prstGeom prst="line">
            <a:avLst/>
          </a:prstGeom>
          <a:ln w="12700">
            <a:solidFill>
              <a:srgbClr val="1F2E35"/>
            </a:solidFill>
            <a:prstDash val="lgDash"/>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0782300" y="2331720"/>
            <a:ext cx="0" cy="3026664"/>
          </a:xfrm>
          <a:prstGeom prst="line">
            <a:avLst/>
          </a:prstGeom>
          <a:ln w="12700">
            <a:solidFill>
              <a:srgbClr val="1F2E35"/>
            </a:solidFill>
            <a:prstDash val="lgDash"/>
          </a:ln>
        </p:spPr>
        <p:style>
          <a:lnRef idx="2">
            <a:schemeClr val="accent1"/>
          </a:lnRef>
          <a:fillRef idx="0">
            <a:schemeClr val="accent1"/>
          </a:fillRef>
          <a:effectRef idx="1">
            <a:schemeClr val="accent1"/>
          </a:effectRef>
          <a:fontRef idx="minor">
            <a:schemeClr val="tx1"/>
          </a:fontRef>
        </p:style>
      </p:cxnSp>
      <p:sp>
        <p:nvSpPr>
          <p:cNvPr id="112" name="Rounded Rectangle 111"/>
          <p:cNvSpPr/>
          <p:nvPr/>
        </p:nvSpPr>
        <p:spPr>
          <a:xfrm>
            <a:off x="6108192" y="2423160"/>
            <a:ext cx="4600956" cy="237744"/>
          </a:xfrm>
          <a:prstGeom prst="roundRect">
            <a:avLst>
              <a:gd name="adj" fmla="val 50000"/>
            </a:avLst>
          </a:prstGeom>
          <a:solidFill>
            <a:srgbClr val="C9DDF4">
              <a:alpha val="45000"/>
            </a:srgbClr>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Rounded Rectangle 112"/>
          <p:cNvSpPr/>
          <p:nvPr/>
        </p:nvSpPr>
        <p:spPr>
          <a:xfrm>
            <a:off x="7057644" y="3081527"/>
            <a:ext cx="4600956" cy="237744"/>
          </a:xfrm>
          <a:prstGeom prst="roundRect">
            <a:avLst>
              <a:gd name="adj" fmla="val 50000"/>
            </a:avLst>
          </a:prstGeom>
          <a:solidFill>
            <a:srgbClr val="C9DDF4">
              <a:alpha val="45000"/>
            </a:srgbClr>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Rounded Rectangle 113"/>
          <p:cNvSpPr/>
          <p:nvPr/>
        </p:nvSpPr>
        <p:spPr>
          <a:xfrm>
            <a:off x="7025639" y="3049523"/>
            <a:ext cx="4664964" cy="301752"/>
          </a:xfrm>
          <a:prstGeom prst="roundRect">
            <a:avLst>
              <a:gd name="adj" fmla="val 50000"/>
            </a:avLst>
          </a:prstGeom>
          <a:solidFill>
            <a:srgbClr val="FAE7BF">
              <a:alpha val="45000"/>
            </a:srgbClr>
          </a:solidFill>
          <a:ln w="15875">
            <a:solidFill>
              <a:srgbClr val="EDA1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Rounded Rectangle 114"/>
          <p:cNvSpPr/>
          <p:nvPr/>
        </p:nvSpPr>
        <p:spPr>
          <a:xfrm>
            <a:off x="10855452" y="3410711"/>
            <a:ext cx="803148" cy="237744"/>
          </a:xfrm>
          <a:prstGeom prst="roundRect">
            <a:avLst>
              <a:gd name="adj" fmla="val 50000"/>
            </a:avLst>
          </a:prstGeom>
          <a:solidFill>
            <a:srgbClr val="C9DDF4">
              <a:alpha val="45000"/>
            </a:srgbClr>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Rounded Rectangle 115"/>
          <p:cNvSpPr/>
          <p:nvPr/>
        </p:nvSpPr>
        <p:spPr>
          <a:xfrm>
            <a:off x="10823448" y="3378707"/>
            <a:ext cx="867155" cy="301752"/>
          </a:xfrm>
          <a:prstGeom prst="roundRect">
            <a:avLst>
              <a:gd name="adj" fmla="val 50000"/>
            </a:avLst>
          </a:prstGeom>
          <a:solidFill>
            <a:srgbClr val="FAE7BF">
              <a:alpha val="45000"/>
            </a:srgbClr>
          </a:solidFill>
          <a:ln w="15875">
            <a:solidFill>
              <a:srgbClr val="EDA1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Rounded Rectangle 116"/>
          <p:cNvSpPr/>
          <p:nvPr/>
        </p:nvSpPr>
        <p:spPr>
          <a:xfrm>
            <a:off x="8007095" y="3739896"/>
            <a:ext cx="803148" cy="237744"/>
          </a:xfrm>
          <a:prstGeom prst="roundRect">
            <a:avLst>
              <a:gd name="adj" fmla="val 50000"/>
            </a:avLst>
          </a:prstGeom>
          <a:solidFill>
            <a:srgbClr val="F9DEE8">
              <a:alpha val="45000"/>
            </a:srgbClr>
          </a:solidFill>
          <a:ln w="15875">
            <a:solidFill>
              <a:srgbClr val="E87BA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Rounded Rectangle 117"/>
          <p:cNvSpPr/>
          <p:nvPr/>
        </p:nvSpPr>
        <p:spPr>
          <a:xfrm>
            <a:off x="9906000" y="4069080"/>
            <a:ext cx="803148" cy="237744"/>
          </a:xfrm>
          <a:prstGeom prst="roundRect">
            <a:avLst>
              <a:gd name="adj" fmla="val 50000"/>
            </a:avLst>
          </a:prstGeom>
          <a:solidFill>
            <a:srgbClr val="F9DEE8">
              <a:alpha val="45000"/>
            </a:srgbClr>
          </a:solidFill>
          <a:ln w="15875">
            <a:solidFill>
              <a:srgbClr val="E87BA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Rounded Rectangle 118"/>
          <p:cNvSpPr/>
          <p:nvPr/>
        </p:nvSpPr>
        <p:spPr>
          <a:xfrm>
            <a:off x="8956548" y="4398264"/>
            <a:ext cx="803148" cy="237744"/>
          </a:xfrm>
          <a:prstGeom prst="roundRect">
            <a:avLst>
              <a:gd name="adj" fmla="val 50000"/>
            </a:avLst>
          </a:prstGeom>
          <a:solidFill>
            <a:srgbClr val="FAE7BF">
              <a:alpha val="45000"/>
            </a:srgbClr>
          </a:solidFill>
          <a:ln w="15875">
            <a:solidFill>
              <a:srgbClr val="EDA1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457200" y="5477256"/>
            <a:ext cx="2011680" cy="22860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円の大きさ＝「主」の関係の件数</a:t>
            </a:r>
          </a:p>
        </p:txBody>
      </p:sp>
      <p:sp>
        <p:nvSpPr>
          <p:cNvPr id="121" name="Oval 120"/>
          <p:cNvSpPr/>
          <p:nvPr/>
        </p:nvSpPr>
        <p:spPr>
          <a:xfrm>
            <a:off x="2606040" y="5525262"/>
            <a:ext cx="132588" cy="132588"/>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TextBox 121"/>
          <p:cNvSpPr txBox="1"/>
          <p:nvPr/>
        </p:nvSpPr>
        <p:spPr>
          <a:xfrm>
            <a:off x="2784348" y="5477256"/>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1</a:t>
            </a:r>
          </a:p>
        </p:txBody>
      </p:sp>
      <p:sp>
        <p:nvSpPr>
          <p:cNvPr id="123" name="Oval 122"/>
          <p:cNvSpPr/>
          <p:nvPr/>
        </p:nvSpPr>
        <p:spPr>
          <a:xfrm>
            <a:off x="3241548" y="5499831"/>
            <a:ext cx="183449" cy="183449"/>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TextBox 123"/>
          <p:cNvSpPr txBox="1"/>
          <p:nvPr/>
        </p:nvSpPr>
        <p:spPr>
          <a:xfrm>
            <a:off x="3470717" y="5477256"/>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5</a:t>
            </a:r>
          </a:p>
        </p:txBody>
      </p:sp>
      <p:sp>
        <p:nvSpPr>
          <p:cNvPr id="125" name="Oval 124"/>
          <p:cNvSpPr/>
          <p:nvPr/>
        </p:nvSpPr>
        <p:spPr>
          <a:xfrm>
            <a:off x="3927917" y="5480775"/>
            <a:ext cx="221561" cy="221561"/>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TextBox 125"/>
          <p:cNvSpPr txBox="1"/>
          <p:nvPr/>
        </p:nvSpPr>
        <p:spPr>
          <a:xfrm>
            <a:off x="4195199" y="5477256"/>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10</a:t>
            </a:r>
          </a:p>
        </p:txBody>
      </p:sp>
      <p:sp>
        <p:nvSpPr>
          <p:cNvPr id="127" name="Oval 126"/>
          <p:cNvSpPr/>
          <p:nvPr/>
        </p:nvSpPr>
        <p:spPr>
          <a:xfrm>
            <a:off x="4652399" y="5453826"/>
            <a:ext cx="275459" cy="275459"/>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TextBox 127"/>
          <p:cNvSpPr txBox="1"/>
          <p:nvPr/>
        </p:nvSpPr>
        <p:spPr>
          <a:xfrm>
            <a:off x="4973578" y="5477256"/>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20</a:t>
            </a:r>
          </a:p>
        </p:txBody>
      </p:sp>
      <p:sp>
        <p:nvSpPr>
          <p:cNvPr id="129" name="Oval 128"/>
          <p:cNvSpPr/>
          <p:nvPr/>
        </p:nvSpPr>
        <p:spPr>
          <a:xfrm>
            <a:off x="5430778" y="5545836"/>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TextBox 129"/>
          <p:cNvSpPr txBox="1"/>
          <p:nvPr/>
        </p:nvSpPr>
        <p:spPr>
          <a:xfrm>
            <a:off x="5567938" y="5477256"/>
            <a:ext cx="11887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支援の関係のみ</a:t>
            </a:r>
          </a:p>
        </p:txBody>
      </p:sp>
      <p:sp>
        <p:nvSpPr>
          <p:cNvPr id="131" name="Rounded Rectangle 130"/>
          <p:cNvSpPr/>
          <p:nvPr/>
        </p:nvSpPr>
        <p:spPr>
          <a:xfrm>
            <a:off x="6802378" y="5522976"/>
            <a:ext cx="457200" cy="146304"/>
          </a:xfrm>
          <a:prstGeom prst="roundRect">
            <a:avLst>
              <a:gd name="adj" fmla="val 50000"/>
            </a:avLst>
          </a:prstGeom>
          <a:solidFill>
            <a:srgbClr val="E4EAEC"/>
          </a:solidFill>
          <a:ln w="12700">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extBox 131"/>
          <p:cNvSpPr txBox="1"/>
          <p:nvPr/>
        </p:nvSpPr>
        <p:spPr>
          <a:xfrm>
            <a:off x="7332730" y="5477256"/>
            <a:ext cx="512064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色の枠＝その領域で、そのアプリケーションが支える能力が「主」として使われる段階の範囲</a:t>
            </a:r>
          </a:p>
        </p:txBody>
      </p:sp>
      <p:sp>
        <p:nvSpPr>
          <p:cNvPr id="133" name="TextBox 132"/>
          <p:cNvSpPr txBox="1"/>
          <p:nvPr/>
        </p:nvSpPr>
        <p:spPr>
          <a:xfrm>
            <a:off x="457200" y="5751576"/>
            <a:ext cx="11247120" cy="365760"/>
          </a:xfrm>
          <a:prstGeom prst="rect">
            <a:avLst/>
          </a:prstGeom>
          <a:noFill/>
        </p:spPr>
        <p:txBody>
          <a:bodyPr wrap="square" lIns="0" rIns="0" tIns="0" bIns="0" anchor="t">
            <a:spAutoFit/>
          </a:bodyPr>
          <a:lstStyle/>
          <a:p>
            <a:pPr algn="l"/>
            <a:r>
              <a:rPr sz="800" b="0">
                <a:solidFill>
                  <a:srgbClr val="5B6B70"/>
                </a:solidFill>
                <a:latin typeface="Yu Gothic"/>
                <a:ea typeface="Yu Gothic"/>
                <a:cs typeface="Yu Gothic"/>
              </a:rPr>
              <a:t>アプリケーションは「ケイパビリティ×アプリケーション」シートの●（主に支える）が2つ以上の領域（L1）にあるもの。段階は「VS×ケイパビリティ関係」シートの「主」の関係から求めた。範囲は最初と最後の段階を結んだもので、間の段階で使わない場合も含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データマップ全体像（1/2）</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オーナーの領域（ケイパビリティL1）ごとの情報オブジェクト（60件中29件）</a:t>
            </a:r>
          </a:p>
        </p:txBody>
      </p:sp>
      <p:sp>
        <p:nvSpPr>
          <p:cNvPr id="4" name="Rectangle 3"/>
          <p:cNvSpPr/>
          <p:nvPr/>
        </p:nvSpPr>
        <p:spPr>
          <a:xfrm>
            <a:off x="7269480" y="384048"/>
            <a:ext cx="384048" cy="155448"/>
          </a:xfrm>
          <a:prstGeom prst="rect">
            <a:avLst/>
          </a:prstGeom>
          <a:solidFill>
            <a:srgbClr val="FF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726679" y="347472"/>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データ（マスタ・トランザクション・測定データ）</a:t>
            </a:r>
          </a:p>
        </p:txBody>
      </p:sp>
      <p:sp>
        <p:nvSpPr>
          <p:cNvPr id="6" name="Rounded Rectangle 5"/>
          <p:cNvSpPr/>
          <p:nvPr/>
        </p:nvSpPr>
        <p:spPr>
          <a:xfrm>
            <a:off x="7269480" y="585216"/>
            <a:ext cx="384048" cy="155448"/>
          </a:xfrm>
          <a:prstGeom prst="roundRect">
            <a:avLst/>
          </a:prstGeom>
          <a:solidFill>
            <a:srgbClr val="FF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726679" y="548640"/>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文書・記録（定義・仕様、分析・評価、文書）</a:t>
            </a:r>
          </a:p>
        </p:txBody>
      </p:sp>
      <p:sp>
        <p:nvSpPr>
          <p:cNvPr id="8" name="Rounded Rectangle 7"/>
          <p:cNvSpPr/>
          <p:nvPr/>
        </p:nvSpPr>
        <p:spPr>
          <a:xfrm>
            <a:off x="7269480" y="786384"/>
            <a:ext cx="384048" cy="155448"/>
          </a:xfrm>
          <a:prstGeom prst="roundRect">
            <a:avLst/>
          </a:prstGeom>
          <a:solidFill>
            <a:srgbClr val="E4EAEC"/>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26679" y="749808"/>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2つのアプリで作成・更新（C）</a:t>
            </a:r>
          </a:p>
        </p:txBody>
      </p:sp>
      <p:sp>
        <p:nvSpPr>
          <p:cNvPr id="10" name="Rounded Rectangle 9"/>
          <p:cNvSpPr/>
          <p:nvPr/>
        </p:nvSpPr>
        <p:spPr>
          <a:xfrm>
            <a:off x="7269480" y="987552"/>
            <a:ext cx="384048" cy="155448"/>
          </a:xfrm>
          <a:prstGeom prst="roundRect">
            <a:avLst/>
          </a:prstGeom>
          <a:solidFill>
            <a:srgbClr val="00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26679" y="950976"/>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3つ以上のアプリで作成・更新（C）。数字＝アプリ数</a:t>
            </a:r>
          </a:p>
        </p:txBody>
      </p:sp>
      <p:sp>
        <p:nvSpPr>
          <p:cNvPr id="12" name="Rectangle 11"/>
          <p:cNvSpPr/>
          <p:nvPr/>
        </p:nvSpPr>
        <p:spPr>
          <a:xfrm>
            <a:off x="10561320" y="384048"/>
            <a:ext cx="749808" cy="82296"/>
          </a:xfrm>
          <a:prstGeom prst="rect">
            <a:avLst/>
          </a:prstGeom>
          <a:solidFill>
            <a:srgbClr val="1F2E35"/>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1338560" y="384048"/>
            <a:ext cx="365760" cy="612648"/>
          </a:xfrm>
          <a:prstGeom prst="rect">
            <a:avLst/>
          </a:prstGeom>
          <a:solidFill>
            <a:srgbClr val="2A78D6"/>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0561320" y="493776"/>
            <a:ext cx="228600" cy="502920"/>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0817352" y="493776"/>
            <a:ext cx="228600" cy="502920"/>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11073384" y="493776"/>
            <a:ext cx="228600" cy="502920"/>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10561320" y="1014984"/>
            <a:ext cx="1143000" cy="82296"/>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561320" y="1115568"/>
            <a:ext cx="1143000" cy="201168"/>
          </a:xfrm>
          <a:prstGeom prst="rect">
            <a:avLst/>
          </a:prstGeom>
          <a:noFill/>
        </p:spPr>
        <p:txBody>
          <a:bodyPr wrap="square" lIns="0" rIns="0" tIns="0" bIns="0" anchor="ctr">
            <a:spAutoFit/>
          </a:bodyPr>
          <a:lstStyle/>
          <a:p>
            <a:pPr algn="ctr"/>
            <a:r>
              <a:rPr sz="900" b="1">
                <a:solidFill>
                  <a:srgbClr val="5B6B70"/>
                </a:solidFill>
                <a:latin typeface="Yu Gothic"/>
                <a:ea typeface="Yu Gothic"/>
                <a:cs typeface="Yu Gothic"/>
              </a:rPr>
              <a:t>1 / 2</a:t>
            </a:r>
          </a:p>
        </p:txBody>
      </p:sp>
      <p:sp>
        <p:nvSpPr>
          <p:cNvPr id="19" name="Rounded Rectangle 18"/>
          <p:cNvSpPr/>
          <p:nvPr/>
        </p:nvSpPr>
        <p:spPr>
          <a:xfrm>
            <a:off x="457200" y="1325880"/>
            <a:ext cx="11274552" cy="777240"/>
          </a:xfrm>
          <a:prstGeom prst="roundRect">
            <a:avLst>
              <a:gd name="adj" fmla="val 12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1362456"/>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人事戦略・組織設計（Strategy &amp; Governance）</a:t>
            </a:r>
          </a:p>
        </p:txBody>
      </p:sp>
      <p:sp>
        <p:nvSpPr>
          <p:cNvPr id="21" name="Rectangle 20"/>
          <p:cNvSpPr/>
          <p:nvPr/>
        </p:nvSpPr>
        <p:spPr>
          <a:xfrm>
            <a:off x="635508" y="1618488"/>
            <a:ext cx="1728216" cy="182880"/>
          </a:xfrm>
          <a:prstGeom prst="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62940" y="1618488"/>
            <a:ext cx="16733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組織マスタ</a:t>
            </a:r>
          </a:p>
        </p:txBody>
      </p:sp>
      <p:sp>
        <p:nvSpPr>
          <p:cNvPr id="23" name="Rounded Rectangle 22"/>
          <p:cNvSpPr/>
          <p:nvPr/>
        </p:nvSpPr>
        <p:spPr>
          <a:xfrm>
            <a:off x="2473452" y="1618488"/>
            <a:ext cx="1728216"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00884" y="1618488"/>
            <a:ext cx="16733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職務・ポジション</a:t>
            </a:r>
          </a:p>
        </p:txBody>
      </p:sp>
      <p:sp>
        <p:nvSpPr>
          <p:cNvPr id="25" name="Rounded Rectangle 24"/>
          <p:cNvSpPr/>
          <p:nvPr/>
        </p:nvSpPr>
        <p:spPr>
          <a:xfrm>
            <a:off x="4311396" y="1618488"/>
            <a:ext cx="1728216"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338828" y="1618488"/>
            <a:ext cx="16733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等級制度</a:t>
            </a:r>
          </a:p>
        </p:txBody>
      </p:sp>
      <p:sp>
        <p:nvSpPr>
          <p:cNvPr id="27" name="Rounded Rectangle 26"/>
          <p:cNvSpPr/>
          <p:nvPr/>
        </p:nvSpPr>
        <p:spPr>
          <a:xfrm>
            <a:off x="6149340" y="1618488"/>
            <a:ext cx="1728216"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176772" y="1618488"/>
            <a:ext cx="16733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就業規則・人事規程</a:t>
            </a:r>
          </a:p>
        </p:txBody>
      </p:sp>
      <p:sp>
        <p:nvSpPr>
          <p:cNvPr id="29" name="Rounded Rectangle 28"/>
          <p:cNvSpPr/>
          <p:nvPr/>
        </p:nvSpPr>
        <p:spPr>
          <a:xfrm>
            <a:off x="7987283" y="1618488"/>
            <a:ext cx="1728216"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014715" y="1618488"/>
            <a:ext cx="16733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人事戦略・人的資本KPI</a:t>
            </a:r>
          </a:p>
        </p:txBody>
      </p:sp>
      <p:sp>
        <p:nvSpPr>
          <p:cNvPr id="31" name="Rounded Rectangle 30"/>
          <p:cNvSpPr/>
          <p:nvPr/>
        </p:nvSpPr>
        <p:spPr>
          <a:xfrm>
            <a:off x="9825228" y="1618488"/>
            <a:ext cx="1728216"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9852659" y="1618488"/>
            <a:ext cx="16733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人的資本開示情報</a:t>
            </a:r>
          </a:p>
        </p:txBody>
      </p:sp>
      <p:sp>
        <p:nvSpPr>
          <p:cNvPr id="33" name="Rounded Rectangle 32"/>
          <p:cNvSpPr/>
          <p:nvPr/>
        </p:nvSpPr>
        <p:spPr>
          <a:xfrm>
            <a:off x="635508" y="1847088"/>
            <a:ext cx="1728216" cy="182880"/>
          </a:xfrm>
          <a:prstGeom prst="roundRect">
            <a:avLst/>
          </a:prstGeom>
          <a:solidFill>
            <a:srgbClr val="E4EAEC"/>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62940" y="1847088"/>
            <a:ext cx="16733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要員計画（2）</a:t>
            </a:r>
          </a:p>
        </p:txBody>
      </p:sp>
      <p:sp>
        <p:nvSpPr>
          <p:cNvPr id="35" name="Rectangle 34"/>
          <p:cNvSpPr/>
          <p:nvPr/>
        </p:nvSpPr>
        <p:spPr>
          <a:xfrm>
            <a:off x="2473452" y="1847088"/>
            <a:ext cx="1728216" cy="182880"/>
          </a:xfrm>
          <a:prstGeom prst="rect">
            <a:avLst/>
          </a:prstGeom>
          <a:solidFill>
            <a:srgbClr val="E4EAEC"/>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2500884" y="1847088"/>
            <a:ext cx="16733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人件費予算（2）</a:t>
            </a:r>
          </a:p>
        </p:txBody>
      </p:sp>
      <p:sp>
        <p:nvSpPr>
          <p:cNvPr id="37" name="Rectangle 36"/>
          <p:cNvSpPr/>
          <p:nvPr/>
        </p:nvSpPr>
        <p:spPr>
          <a:xfrm>
            <a:off x="4311396" y="1847088"/>
            <a:ext cx="1728216" cy="182880"/>
          </a:xfrm>
          <a:prstGeom prst="rect">
            <a:avLst/>
          </a:prstGeom>
          <a:solidFill>
            <a:srgbClr val="E4EAEC"/>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8828" y="1847088"/>
            <a:ext cx="16733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人件費実績（2）</a:t>
            </a:r>
          </a:p>
        </p:txBody>
      </p:sp>
      <p:sp>
        <p:nvSpPr>
          <p:cNvPr id="39" name="Chevron 38"/>
          <p:cNvSpPr/>
          <p:nvPr/>
        </p:nvSpPr>
        <p:spPr>
          <a:xfrm rot="5400000">
            <a:off x="6035040" y="2011680"/>
            <a:ext cx="118872" cy="310896"/>
          </a:xfrm>
          <a:prstGeom prst="chevron">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457200" y="2240280"/>
            <a:ext cx="11274552" cy="4297680"/>
          </a:xfrm>
          <a:prstGeom prst="roundRect">
            <a:avLst>
              <a:gd name="adj" fmla="val 3000"/>
            </a:avLst>
          </a:prstGeom>
          <a:solidFill>
            <a:srgbClr val="E8F1FB"/>
          </a:solidFill>
          <a:ln w="19050">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457200" y="2295144"/>
            <a:ext cx="11274552" cy="274320"/>
          </a:xfrm>
          <a:prstGeom prst="rect">
            <a:avLst/>
          </a:prstGeom>
          <a:noFill/>
        </p:spPr>
        <p:txBody>
          <a:bodyPr wrap="square" lIns="0" rIns="0" tIns="0" bIns="0" anchor="ctr">
            <a:spAutoFit/>
          </a:bodyPr>
          <a:lstStyle/>
          <a:p>
            <a:pPr algn="ctr"/>
            <a:r>
              <a:rPr sz="1250" b="1">
                <a:solidFill>
                  <a:srgbClr val="2A78D6"/>
                </a:solidFill>
                <a:latin typeface="Yu Gothic"/>
                <a:ea typeface="Yu Gothic"/>
                <a:cs typeface="Yu Gothic"/>
              </a:rPr>
              <a:t>Rewards &amp; Workplace</a:t>
            </a:r>
          </a:p>
        </p:txBody>
      </p:sp>
      <p:sp>
        <p:nvSpPr>
          <p:cNvPr id="42" name="Rounded Rectangle 41"/>
          <p:cNvSpPr/>
          <p:nvPr/>
        </p:nvSpPr>
        <p:spPr>
          <a:xfrm>
            <a:off x="530352" y="2651760"/>
            <a:ext cx="5518404" cy="3794760"/>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530352" y="2724912"/>
            <a:ext cx="5518404" cy="256032"/>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パフォーマンス・報酬管理</a:t>
            </a:r>
          </a:p>
        </p:txBody>
      </p:sp>
      <p:sp>
        <p:nvSpPr>
          <p:cNvPr id="44" name="Rectangle 43"/>
          <p:cNvSpPr/>
          <p:nvPr/>
        </p:nvSpPr>
        <p:spPr>
          <a:xfrm>
            <a:off x="621792" y="3063240"/>
            <a:ext cx="2631186" cy="274320"/>
          </a:xfrm>
          <a:prstGeom prst="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49224" y="3063240"/>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目標</a:t>
            </a:r>
          </a:p>
        </p:txBody>
      </p:sp>
      <p:sp>
        <p:nvSpPr>
          <p:cNvPr id="46" name="Rounded Rectangle 45"/>
          <p:cNvSpPr/>
          <p:nvPr/>
        </p:nvSpPr>
        <p:spPr>
          <a:xfrm>
            <a:off x="3326130" y="3063240"/>
            <a:ext cx="2631186"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3353562" y="3063240"/>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人事評価結果</a:t>
            </a:r>
          </a:p>
        </p:txBody>
      </p:sp>
      <p:sp>
        <p:nvSpPr>
          <p:cNvPr id="48" name="Rounded Rectangle 47"/>
          <p:cNvSpPr/>
          <p:nvPr/>
        </p:nvSpPr>
        <p:spPr>
          <a:xfrm>
            <a:off x="621792" y="3465576"/>
            <a:ext cx="2631186"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9224" y="3465576"/>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報酬テーブル</a:t>
            </a:r>
          </a:p>
        </p:txBody>
      </p:sp>
      <p:sp>
        <p:nvSpPr>
          <p:cNvPr id="50" name="Rectangle 49"/>
          <p:cNvSpPr/>
          <p:nvPr/>
        </p:nvSpPr>
        <p:spPr>
          <a:xfrm>
            <a:off x="3326130" y="3465576"/>
            <a:ext cx="2631186" cy="274320"/>
          </a:xfrm>
          <a:prstGeom prst="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3353562" y="3465576"/>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報酬市場データ</a:t>
            </a:r>
          </a:p>
        </p:txBody>
      </p:sp>
      <p:sp>
        <p:nvSpPr>
          <p:cNvPr id="52" name="Rectangle 51"/>
          <p:cNvSpPr/>
          <p:nvPr/>
        </p:nvSpPr>
        <p:spPr>
          <a:xfrm>
            <a:off x="621792" y="3867912"/>
            <a:ext cx="2631186" cy="274320"/>
          </a:xfrm>
          <a:prstGeom prst="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649224" y="3867912"/>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昇給・賞与決定</a:t>
            </a:r>
          </a:p>
        </p:txBody>
      </p:sp>
      <p:sp>
        <p:nvSpPr>
          <p:cNvPr id="54" name="Rectangle 53"/>
          <p:cNvSpPr/>
          <p:nvPr/>
        </p:nvSpPr>
        <p:spPr>
          <a:xfrm>
            <a:off x="3326130" y="3867912"/>
            <a:ext cx="2631186" cy="274320"/>
          </a:xfrm>
          <a:prstGeom prst="rect">
            <a:avLst/>
          </a:prstGeom>
          <a:solidFill>
            <a:srgbClr val="E4EAEC"/>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353562" y="3867912"/>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給与・賞与計算結果（2）</a:t>
            </a:r>
          </a:p>
        </p:txBody>
      </p:sp>
      <p:sp>
        <p:nvSpPr>
          <p:cNvPr id="56" name="Rounded Rectangle 55"/>
          <p:cNvSpPr/>
          <p:nvPr/>
        </p:nvSpPr>
        <p:spPr>
          <a:xfrm>
            <a:off x="621792" y="4270248"/>
            <a:ext cx="2631186"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649224" y="4270248"/>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賃金台帳</a:t>
            </a:r>
          </a:p>
        </p:txBody>
      </p:sp>
      <p:sp>
        <p:nvSpPr>
          <p:cNvPr id="58" name="Rectangle 57"/>
          <p:cNvSpPr/>
          <p:nvPr/>
        </p:nvSpPr>
        <p:spPr>
          <a:xfrm>
            <a:off x="3326130" y="4270248"/>
            <a:ext cx="2631186" cy="274320"/>
          </a:xfrm>
          <a:prstGeom prst="rect">
            <a:avLst/>
          </a:prstGeom>
          <a:solidFill>
            <a:srgbClr val="00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353562" y="4270248"/>
            <a:ext cx="2576322" cy="274320"/>
          </a:xfrm>
          <a:prstGeom prst="rect">
            <a:avLst/>
          </a:prstGeom>
          <a:noFill/>
        </p:spPr>
        <p:txBody>
          <a:bodyPr wrap="square" lIns="0" rIns="0" tIns="0" bIns="0" anchor="ctr">
            <a:spAutoFit/>
          </a:bodyPr>
          <a:lstStyle/>
          <a:p>
            <a:pPr algn="ctr"/>
            <a:r>
              <a:rPr sz="900" b="1">
                <a:solidFill>
                  <a:srgbClr val="000000"/>
                </a:solidFill>
                <a:latin typeface="Yu Gothic"/>
                <a:ea typeface="Yu Gothic"/>
                <a:cs typeface="Yu Gothic"/>
              </a:rPr>
              <a:t>源泉徴収・年末調整情報（3）</a:t>
            </a:r>
          </a:p>
        </p:txBody>
      </p:sp>
      <p:sp>
        <p:nvSpPr>
          <p:cNvPr id="60" name="Rectangle 59"/>
          <p:cNvSpPr/>
          <p:nvPr/>
        </p:nvSpPr>
        <p:spPr>
          <a:xfrm>
            <a:off x="621792" y="4672584"/>
            <a:ext cx="2631186" cy="274320"/>
          </a:xfrm>
          <a:prstGeom prst="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649224" y="4672584"/>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住民税特別徴収情報</a:t>
            </a:r>
          </a:p>
        </p:txBody>
      </p:sp>
      <p:sp>
        <p:nvSpPr>
          <p:cNvPr id="62" name="Rectangle 61"/>
          <p:cNvSpPr/>
          <p:nvPr/>
        </p:nvSpPr>
        <p:spPr>
          <a:xfrm>
            <a:off x="3326130" y="4672584"/>
            <a:ext cx="2631186" cy="274320"/>
          </a:xfrm>
          <a:prstGeom prst="rect">
            <a:avLst/>
          </a:prstGeom>
          <a:solidFill>
            <a:srgbClr val="00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3353562" y="4672584"/>
            <a:ext cx="2576322" cy="274320"/>
          </a:xfrm>
          <a:prstGeom prst="rect">
            <a:avLst/>
          </a:prstGeom>
          <a:noFill/>
        </p:spPr>
        <p:txBody>
          <a:bodyPr wrap="square" lIns="0" rIns="0" tIns="0" bIns="0" anchor="ctr">
            <a:spAutoFit/>
          </a:bodyPr>
          <a:lstStyle/>
          <a:p>
            <a:pPr algn="ctr"/>
            <a:r>
              <a:rPr sz="830" b="1">
                <a:solidFill>
                  <a:srgbClr val="000000"/>
                </a:solidFill>
                <a:latin typeface="Yu Gothic"/>
                <a:ea typeface="Yu Gothic"/>
                <a:cs typeface="Yu Gothic"/>
              </a:rPr>
              <a:t>社会保険・労働保険の届出（3）</a:t>
            </a:r>
          </a:p>
        </p:txBody>
      </p:sp>
      <p:sp>
        <p:nvSpPr>
          <p:cNvPr id="64" name="Rectangle 63"/>
          <p:cNvSpPr/>
          <p:nvPr/>
        </p:nvSpPr>
        <p:spPr>
          <a:xfrm>
            <a:off x="621792" y="5074920"/>
            <a:ext cx="2631186" cy="274320"/>
          </a:xfrm>
          <a:prstGeom prst="rect">
            <a:avLst/>
          </a:prstGeom>
          <a:solidFill>
            <a:srgbClr val="E4EAEC"/>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49224" y="5074920"/>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福利厚生利用情報（2）</a:t>
            </a:r>
          </a:p>
        </p:txBody>
      </p:sp>
      <p:sp>
        <p:nvSpPr>
          <p:cNvPr id="66" name="Rectangle 65"/>
          <p:cNvSpPr/>
          <p:nvPr/>
        </p:nvSpPr>
        <p:spPr>
          <a:xfrm>
            <a:off x="3326130" y="5074920"/>
            <a:ext cx="2631186" cy="274320"/>
          </a:xfrm>
          <a:prstGeom prst="rect">
            <a:avLst/>
          </a:prstGeom>
          <a:solidFill>
            <a:srgbClr val="E4EAEC"/>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3353562" y="5074920"/>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退職給付情報（2）</a:t>
            </a:r>
          </a:p>
        </p:txBody>
      </p:sp>
      <p:sp>
        <p:nvSpPr>
          <p:cNvPr id="68" name="Rounded Rectangle 67"/>
          <p:cNvSpPr/>
          <p:nvPr/>
        </p:nvSpPr>
        <p:spPr>
          <a:xfrm>
            <a:off x="6140196" y="2651760"/>
            <a:ext cx="5518404" cy="3794760"/>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6140196" y="2724912"/>
            <a:ext cx="5518404" cy="256032"/>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就業・労務管理</a:t>
            </a:r>
          </a:p>
        </p:txBody>
      </p:sp>
      <p:sp>
        <p:nvSpPr>
          <p:cNvPr id="70" name="Rectangle 69"/>
          <p:cNvSpPr/>
          <p:nvPr/>
        </p:nvSpPr>
        <p:spPr>
          <a:xfrm>
            <a:off x="6231636" y="3063240"/>
            <a:ext cx="2631186" cy="274320"/>
          </a:xfrm>
          <a:prstGeom prst="rect">
            <a:avLst/>
          </a:prstGeom>
          <a:solidFill>
            <a:srgbClr val="00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259068" y="3063240"/>
            <a:ext cx="2576322" cy="274320"/>
          </a:xfrm>
          <a:prstGeom prst="rect">
            <a:avLst/>
          </a:prstGeom>
          <a:noFill/>
        </p:spPr>
        <p:txBody>
          <a:bodyPr wrap="square" lIns="0" rIns="0" tIns="0" bIns="0" anchor="ctr">
            <a:spAutoFit/>
          </a:bodyPr>
          <a:lstStyle/>
          <a:p>
            <a:pPr algn="ctr"/>
            <a:r>
              <a:rPr sz="900" b="1">
                <a:solidFill>
                  <a:srgbClr val="000000"/>
                </a:solidFill>
                <a:latin typeface="Yu Gothic"/>
                <a:ea typeface="Yu Gothic"/>
                <a:cs typeface="Yu Gothic"/>
              </a:rPr>
              <a:t>勤務予定・勤怠記録（3）</a:t>
            </a:r>
          </a:p>
        </p:txBody>
      </p:sp>
      <p:sp>
        <p:nvSpPr>
          <p:cNvPr id="72" name="Rectangle 71"/>
          <p:cNvSpPr/>
          <p:nvPr/>
        </p:nvSpPr>
        <p:spPr>
          <a:xfrm>
            <a:off x="8935974" y="3063240"/>
            <a:ext cx="2631186" cy="274320"/>
          </a:xfrm>
          <a:prstGeom prst="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8963405" y="3063240"/>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休暇・休業記録</a:t>
            </a:r>
          </a:p>
        </p:txBody>
      </p:sp>
      <p:sp>
        <p:nvSpPr>
          <p:cNvPr id="74" name="Rounded Rectangle 73"/>
          <p:cNvSpPr/>
          <p:nvPr/>
        </p:nvSpPr>
        <p:spPr>
          <a:xfrm>
            <a:off x="6231636" y="3465576"/>
            <a:ext cx="2631186"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6259068" y="3465576"/>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労使協定・労使協議記録</a:t>
            </a:r>
          </a:p>
        </p:txBody>
      </p:sp>
      <p:sp>
        <p:nvSpPr>
          <p:cNvPr id="76" name="Rectangle 75"/>
          <p:cNvSpPr/>
          <p:nvPr/>
        </p:nvSpPr>
        <p:spPr>
          <a:xfrm>
            <a:off x="8935974" y="3465576"/>
            <a:ext cx="2631186" cy="274320"/>
          </a:xfrm>
          <a:prstGeom prst="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8963405" y="3465576"/>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健康診断・面接指導記録</a:t>
            </a:r>
          </a:p>
        </p:txBody>
      </p:sp>
      <p:sp>
        <p:nvSpPr>
          <p:cNvPr id="78" name="Rectangle 77"/>
          <p:cNvSpPr/>
          <p:nvPr/>
        </p:nvSpPr>
        <p:spPr>
          <a:xfrm>
            <a:off x="6231636" y="3867912"/>
            <a:ext cx="2631186" cy="274320"/>
          </a:xfrm>
          <a:prstGeom prst="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6259068" y="3867912"/>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ストレスチェック結果</a:t>
            </a:r>
          </a:p>
        </p:txBody>
      </p:sp>
      <p:sp>
        <p:nvSpPr>
          <p:cNvPr id="80" name="Rectangle 79"/>
          <p:cNvSpPr/>
          <p:nvPr/>
        </p:nvSpPr>
        <p:spPr>
          <a:xfrm>
            <a:off x="8935974" y="3867912"/>
            <a:ext cx="2631186" cy="274320"/>
          </a:xfrm>
          <a:prstGeom prst="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8963405" y="3867912"/>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労働災害記録</a:t>
            </a:r>
          </a:p>
        </p:txBody>
      </p:sp>
      <p:sp>
        <p:nvSpPr>
          <p:cNvPr id="82" name="Rectangle 81"/>
          <p:cNvSpPr/>
          <p:nvPr/>
        </p:nvSpPr>
        <p:spPr>
          <a:xfrm>
            <a:off x="6231636" y="4270248"/>
            <a:ext cx="2631186" cy="274320"/>
          </a:xfrm>
          <a:prstGeom prst="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6259068" y="4270248"/>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相談・ハラスメント事案記録</a:t>
            </a:r>
          </a:p>
        </p:txBody>
      </p:sp>
      <p:sp>
        <p:nvSpPr>
          <p:cNvPr id="84" name="Rectangle 83"/>
          <p:cNvSpPr/>
          <p:nvPr/>
        </p:nvSpPr>
        <p:spPr>
          <a:xfrm>
            <a:off x="8935974" y="4270248"/>
            <a:ext cx="2631186" cy="274320"/>
          </a:xfrm>
          <a:prstGeom prst="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8963405" y="4270248"/>
            <a:ext cx="2576322" cy="274320"/>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エンゲージメント調査結果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データマップ全体像（2/2）</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オーナーの領域（ケイパビリティL1）ごとの情報オブジェクト（60件中31件）</a:t>
            </a:r>
          </a:p>
        </p:txBody>
      </p:sp>
      <p:sp>
        <p:nvSpPr>
          <p:cNvPr id="4" name="Rectangle 3"/>
          <p:cNvSpPr/>
          <p:nvPr/>
        </p:nvSpPr>
        <p:spPr>
          <a:xfrm>
            <a:off x="7269480" y="384048"/>
            <a:ext cx="384048" cy="155448"/>
          </a:xfrm>
          <a:prstGeom prst="rect">
            <a:avLst/>
          </a:prstGeom>
          <a:solidFill>
            <a:srgbClr val="FF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726679" y="347472"/>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データ（マスタ・トランザクション・測定データ）</a:t>
            </a:r>
          </a:p>
        </p:txBody>
      </p:sp>
      <p:sp>
        <p:nvSpPr>
          <p:cNvPr id="6" name="Rounded Rectangle 5"/>
          <p:cNvSpPr/>
          <p:nvPr/>
        </p:nvSpPr>
        <p:spPr>
          <a:xfrm>
            <a:off x="7269480" y="585216"/>
            <a:ext cx="384048" cy="155448"/>
          </a:xfrm>
          <a:prstGeom prst="roundRect">
            <a:avLst/>
          </a:prstGeom>
          <a:solidFill>
            <a:srgbClr val="FF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726679" y="548640"/>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文書・記録（定義・仕様、分析・評価、文書）</a:t>
            </a:r>
          </a:p>
        </p:txBody>
      </p:sp>
      <p:sp>
        <p:nvSpPr>
          <p:cNvPr id="8" name="Rounded Rectangle 7"/>
          <p:cNvSpPr/>
          <p:nvPr/>
        </p:nvSpPr>
        <p:spPr>
          <a:xfrm>
            <a:off x="7269480" y="786384"/>
            <a:ext cx="384048" cy="155448"/>
          </a:xfrm>
          <a:prstGeom prst="roundRect">
            <a:avLst/>
          </a:prstGeom>
          <a:solidFill>
            <a:srgbClr val="E4EAEC"/>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26679" y="749808"/>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2つのアプリで作成・更新（C）</a:t>
            </a:r>
          </a:p>
        </p:txBody>
      </p:sp>
      <p:sp>
        <p:nvSpPr>
          <p:cNvPr id="10" name="Rounded Rectangle 9"/>
          <p:cNvSpPr/>
          <p:nvPr/>
        </p:nvSpPr>
        <p:spPr>
          <a:xfrm>
            <a:off x="7269480" y="987552"/>
            <a:ext cx="384048" cy="155448"/>
          </a:xfrm>
          <a:prstGeom prst="roundRect">
            <a:avLst/>
          </a:prstGeom>
          <a:solidFill>
            <a:srgbClr val="00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26679" y="950976"/>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3つ以上のアプリで作成・更新（C）。数字＝アプリ数</a:t>
            </a:r>
          </a:p>
        </p:txBody>
      </p:sp>
      <p:sp>
        <p:nvSpPr>
          <p:cNvPr id="12" name="Rectangle 11"/>
          <p:cNvSpPr/>
          <p:nvPr/>
        </p:nvSpPr>
        <p:spPr>
          <a:xfrm>
            <a:off x="10561320" y="384048"/>
            <a:ext cx="749808" cy="82296"/>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1338560" y="384048"/>
            <a:ext cx="365760" cy="612648"/>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0561320" y="493776"/>
            <a:ext cx="228600" cy="502920"/>
          </a:xfrm>
          <a:prstGeom prst="rect">
            <a:avLst/>
          </a:prstGeom>
          <a:solidFill>
            <a:srgbClr val="EB6834"/>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0817352" y="493776"/>
            <a:ext cx="228600" cy="502920"/>
          </a:xfrm>
          <a:prstGeom prst="rect">
            <a:avLst/>
          </a:prstGeom>
          <a:solidFill>
            <a:srgbClr val="4A3AA7"/>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11073384" y="493776"/>
            <a:ext cx="228600" cy="502920"/>
          </a:xfrm>
          <a:prstGeom prst="rect">
            <a:avLst/>
          </a:prstGeom>
          <a:solidFill>
            <a:srgbClr val="1BAF7A"/>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10561320" y="1014984"/>
            <a:ext cx="1143000" cy="82296"/>
          </a:xfrm>
          <a:prstGeom prst="rect">
            <a:avLst/>
          </a:prstGeom>
          <a:solidFill>
            <a:srgbClr val="1F2E35"/>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561320" y="1115568"/>
            <a:ext cx="1143000" cy="201168"/>
          </a:xfrm>
          <a:prstGeom prst="rect">
            <a:avLst/>
          </a:prstGeom>
          <a:noFill/>
        </p:spPr>
        <p:txBody>
          <a:bodyPr wrap="square" lIns="0" rIns="0" tIns="0" bIns="0" anchor="ctr">
            <a:spAutoFit/>
          </a:bodyPr>
          <a:lstStyle/>
          <a:p>
            <a:pPr algn="ctr"/>
            <a:r>
              <a:rPr sz="900" b="1">
                <a:solidFill>
                  <a:srgbClr val="5B6B70"/>
                </a:solidFill>
                <a:latin typeface="Yu Gothic"/>
                <a:ea typeface="Yu Gothic"/>
                <a:cs typeface="Yu Gothic"/>
              </a:rPr>
              <a:t>2 / 2</a:t>
            </a:r>
          </a:p>
        </p:txBody>
      </p:sp>
      <p:sp>
        <p:nvSpPr>
          <p:cNvPr id="19" name="Rounded Rectangle 18"/>
          <p:cNvSpPr/>
          <p:nvPr/>
        </p:nvSpPr>
        <p:spPr>
          <a:xfrm>
            <a:off x="457200" y="1417320"/>
            <a:ext cx="3697224" cy="4160520"/>
          </a:xfrm>
          <a:prstGeom prst="roundRect">
            <a:avLst>
              <a:gd name="adj" fmla="val 3000"/>
            </a:avLst>
          </a:prstGeom>
          <a:solidFill>
            <a:srgbClr val="FDEEE7"/>
          </a:solidFill>
          <a:ln w="19050">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1472184"/>
            <a:ext cx="3697224" cy="274320"/>
          </a:xfrm>
          <a:prstGeom prst="rect">
            <a:avLst/>
          </a:prstGeom>
          <a:noFill/>
        </p:spPr>
        <p:txBody>
          <a:bodyPr wrap="square" lIns="0" rIns="0" tIns="0" bIns="0" anchor="ctr">
            <a:spAutoFit/>
          </a:bodyPr>
          <a:lstStyle/>
          <a:p>
            <a:pPr algn="ctr"/>
            <a:r>
              <a:rPr sz="1250" b="1">
                <a:solidFill>
                  <a:srgbClr val="C24E1C"/>
                </a:solidFill>
                <a:latin typeface="Yu Gothic"/>
                <a:ea typeface="Yu Gothic"/>
                <a:cs typeface="Yu Gothic"/>
              </a:rPr>
              <a:t>Talent Acquisition</a:t>
            </a:r>
          </a:p>
        </p:txBody>
      </p:sp>
      <p:sp>
        <p:nvSpPr>
          <p:cNvPr id="21" name="Rounded Rectangle 20"/>
          <p:cNvSpPr/>
          <p:nvPr/>
        </p:nvSpPr>
        <p:spPr>
          <a:xfrm>
            <a:off x="530352" y="1828800"/>
            <a:ext cx="3550920" cy="3675887"/>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30352" y="1901952"/>
            <a:ext cx="3550920" cy="256032"/>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タレント獲得</a:t>
            </a:r>
          </a:p>
        </p:txBody>
      </p:sp>
      <p:sp>
        <p:nvSpPr>
          <p:cNvPr id="23" name="Rounded Rectangle 22"/>
          <p:cNvSpPr/>
          <p:nvPr/>
        </p:nvSpPr>
        <p:spPr>
          <a:xfrm>
            <a:off x="621792" y="2240280"/>
            <a:ext cx="1647444"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9224" y="2240280"/>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採用計画</a:t>
            </a:r>
          </a:p>
        </p:txBody>
      </p:sp>
      <p:sp>
        <p:nvSpPr>
          <p:cNvPr id="25" name="Rounded Rectangle 24"/>
          <p:cNvSpPr/>
          <p:nvPr/>
        </p:nvSpPr>
        <p:spPr>
          <a:xfrm>
            <a:off x="2342388" y="2240280"/>
            <a:ext cx="1647444"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2369819" y="2240280"/>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求人票</a:t>
            </a:r>
          </a:p>
        </p:txBody>
      </p:sp>
      <p:sp>
        <p:nvSpPr>
          <p:cNvPr id="27" name="Rectangle 26"/>
          <p:cNvSpPr/>
          <p:nvPr/>
        </p:nvSpPr>
        <p:spPr>
          <a:xfrm>
            <a:off x="621792" y="2464308"/>
            <a:ext cx="1647444" cy="182880"/>
          </a:xfrm>
          <a:prstGeom prst="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49224" y="2464308"/>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応募者情報</a:t>
            </a:r>
          </a:p>
        </p:txBody>
      </p:sp>
      <p:sp>
        <p:nvSpPr>
          <p:cNvPr id="29" name="Rounded Rectangle 28"/>
          <p:cNvSpPr/>
          <p:nvPr/>
        </p:nvSpPr>
        <p:spPr>
          <a:xfrm>
            <a:off x="2342388" y="2464308"/>
            <a:ext cx="1647444"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2369819" y="2464308"/>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選考記録</a:t>
            </a:r>
          </a:p>
        </p:txBody>
      </p:sp>
      <p:sp>
        <p:nvSpPr>
          <p:cNvPr id="31" name="Rectangle 30"/>
          <p:cNvSpPr/>
          <p:nvPr/>
        </p:nvSpPr>
        <p:spPr>
          <a:xfrm>
            <a:off x="621792" y="2688336"/>
            <a:ext cx="1647444" cy="182880"/>
          </a:xfrm>
          <a:prstGeom prst="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49224" y="2688336"/>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内定・オファー</a:t>
            </a:r>
          </a:p>
        </p:txBody>
      </p:sp>
      <p:sp>
        <p:nvSpPr>
          <p:cNvPr id="33" name="Rounded Rectangle 32"/>
          <p:cNvSpPr/>
          <p:nvPr/>
        </p:nvSpPr>
        <p:spPr>
          <a:xfrm>
            <a:off x="2342388" y="2688336"/>
            <a:ext cx="1647444"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2369819" y="2688336"/>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採用チャネル実績</a:t>
            </a:r>
          </a:p>
        </p:txBody>
      </p:sp>
      <p:sp>
        <p:nvSpPr>
          <p:cNvPr id="35" name="Chevron 34"/>
          <p:cNvSpPr/>
          <p:nvPr/>
        </p:nvSpPr>
        <p:spPr>
          <a:xfrm rot="5400000">
            <a:off x="2246376" y="5468112"/>
            <a:ext cx="118872" cy="310896"/>
          </a:xfrm>
          <a:prstGeom prst="chevron">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4245864" y="1417320"/>
            <a:ext cx="3697224" cy="4160520"/>
          </a:xfrm>
          <a:prstGeom prst="roundRect">
            <a:avLst>
              <a:gd name="adj" fmla="val 3000"/>
            </a:avLst>
          </a:prstGeom>
          <a:solidFill>
            <a:srgbClr val="EEECF7"/>
          </a:solidFill>
          <a:ln w="1905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4245864" y="1472184"/>
            <a:ext cx="3697224" cy="274320"/>
          </a:xfrm>
          <a:prstGeom prst="rect">
            <a:avLst/>
          </a:prstGeom>
          <a:noFill/>
        </p:spPr>
        <p:txBody>
          <a:bodyPr wrap="square" lIns="0" rIns="0" tIns="0" bIns="0" anchor="ctr">
            <a:spAutoFit/>
          </a:bodyPr>
          <a:lstStyle/>
          <a:p>
            <a:pPr algn="ctr"/>
            <a:r>
              <a:rPr sz="1250" b="1">
                <a:solidFill>
                  <a:srgbClr val="4A3AA7"/>
                </a:solidFill>
                <a:latin typeface="Yu Gothic"/>
                <a:ea typeface="Yu Gothic"/>
                <a:cs typeface="Yu Gothic"/>
              </a:rPr>
              <a:t>Talent Development</a:t>
            </a:r>
          </a:p>
        </p:txBody>
      </p:sp>
      <p:sp>
        <p:nvSpPr>
          <p:cNvPr id="38" name="Rounded Rectangle 37"/>
          <p:cNvSpPr/>
          <p:nvPr/>
        </p:nvSpPr>
        <p:spPr>
          <a:xfrm>
            <a:off x="4319016" y="1828800"/>
            <a:ext cx="3550920" cy="1680209"/>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4319016" y="1901952"/>
            <a:ext cx="3550920" cy="256032"/>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人材育成・能力開発</a:t>
            </a:r>
          </a:p>
        </p:txBody>
      </p:sp>
      <p:sp>
        <p:nvSpPr>
          <p:cNvPr id="40" name="Rounded Rectangle 39"/>
          <p:cNvSpPr/>
          <p:nvPr/>
        </p:nvSpPr>
        <p:spPr>
          <a:xfrm>
            <a:off x="4410456" y="2240280"/>
            <a:ext cx="1647444"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4437888" y="2240280"/>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育成体系・研修カタログ</a:t>
            </a:r>
          </a:p>
        </p:txBody>
      </p:sp>
      <p:sp>
        <p:nvSpPr>
          <p:cNvPr id="42" name="Rectangle 41"/>
          <p:cNvSpPr/>
          <p:nvPr/>
        </p:nvSpPr>
        <p:spPr>
          <a:xfrm>
            <a:off x="6131052" y="2240280"/>
            <a:ext cx="1647444" cy="182880"/>
          </a:xfrm>
          <a:prstGeom prst="rect">
            <a:avLst/>
          </a:prstGeom>
          <a:solidFill>
            <a:srgbClr val="00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6158484" y="2240280"/>
            <a:ext cx="1592580" cy="182880"/>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受講記録（3）</a:t>
            </a:r>
          </a:p>
        </p:txBody>
      </p:sp>
      <p:sp>
        <p:nvSpPr>
          <p:cNvPr id="44" name="Rectangle 43"/>
          <p:cNvSpPr/>
          <p:nvPr/>
        </p:nvSpPr>
        <p:spPr>
          <a:xfrm>
            <a:off x="4410456" y="2464308"/>
            <a:ext cx="1647444" cy="182880"/>
          </a:xfrm>
          <a:prstGeom prst="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4437888" y="2464308"/>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スキル・資格情報</a:t>
            </a:r>
          </a:p>
        </p:txBody>
      </p:sp>
      <p:sp>
        <p:nvSpPr>
          <p:cNvPr id="46" name="Rounded Rectangle 45"/>
          <p:cNvSpPr/>
          <p:nvPr/>
        </p:nvSpPr>
        <p:spPr>
          <a:xfrm>
            <a:off x="6131052" y="2464308"/>
            <a:ext cx="1647444"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6158484" y="2464308"/>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キャリア面談記録</a:t>
            </a:r>
          </a:p>
        </p:txBody>
      </p:sp>
      <p:sp>
        <p:nvSpPr>
          <p:cNvPr id="48" name="Rounded Rectangle 47"/>
          <p:cNvSpPr/>
          <p:nvPr/>
        </p:nvSpPr>
        <p:spPr>
          <a:xfrm>
            <a:off x="4319016" y="3600450"/>
            <a:ext cx="3550920" cy="1904237"/>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4319016" y="3673602"/>
            <a:ext cx="3550920" cy="256032"/>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タレントマネジメント・配置</a:t>
            </a:r>
          </a:p>
        </p:txBody>
      </p:sp>
      <p:sp>
        <p:nvSpPr>
          <p:cNvPr id="50" name="Rounded Rectangle 49"/>
          <p:cNvSpPr/>
          <p:nvPr/>
        </p:nvSpPr>
        <p:spPr>
          <a:xfrm>
            <a:off x="4410456" y="4011930"/>
            <a:ext cx="1647444"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437888" y="4011930"/>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タレントレビュー結果</a:t>
            </a:r>
          </a:p>
        </p:txBody>
      </p:sp>
      <p:sp>
        <p:nvSpPr>
          <p:cNvPr id="52" name="Rounded Rectangle 51"/>
          <p:cNvSpPr/>
          <p:nvPr/>
        </p:nvSpPr>
        <p:spPr>
          <a:xfrm>
            <a:off x="6131052" y="4011930"/>
            <a:ext cx="1647444" cy="182880"/>
          </a:xfrm>
          <a:prstGeom prst="round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6158484" y="4011930"/>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異動計画（2）</a:t>
            </a:r>
          </a:p>
        </p:txBody>
      </p:sp>
      <p:sp>
        <p:nvSpPr>
          <p:cNvPr id="54" name="Rounded Rectangle 53"/>
          <p:cNvSpPr/>
          <p:nvPr/>
        </p:nvSpPr>
        <p:spPr>
          <a:xfrm>
            <a:off x="4410456" y="4235958"/>
            <a:ext cx="1647444"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4437888" y="4235958"/>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昇格審査記録</a:t>
            </a:r>
          </a:p>
        </p:txBody>
      </p:sp>
      <p:sp>
        <p:nvSpPr>
          <p:cNvPr id="56" name="Rounded Rectangle 55"/>
          <p:cNvSpPr/>
          <p:nvPr/>
        </p:nvSpPr>
        <p:spPr>
          <a:xfrm>
            <a:off x="6131052" y="4235958"/>
            <a:ext cx="1647444"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6158484" y="4235958"/>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後継者計画</a:t>
            </a:r>
          </a:p>
        </p:txBody>
      </p:sp>
      <p:sp>
        <p:nvSpPr>
          <p:cNvPr id="58" name="Rounded Rectangle 57"/>
          <p:cNvSpPr/>
          <p:nvPr/>
        </p:nvSpPr>
        <p:spPr>
          <a:xfrm>
            <a:off x="4410456" y="4459986"/>
            <a:ext cx="1647444"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4437888" y="4459986"/>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ダイバーシティ行動計画・指標</a:t>
            </a:r>
          </a:p>
        </p:txBody>
      </p:sp>
      <p:sp>
        <p:nvSpPr>
          <p:cNvPr id="60" name="Chevron 59"/>
          <p:cNvSpPr/>
          <p:nvPr/>
        </p:nvSpPr>
        <p:spPr>
          <a:xfrm rot="5400000">
            <a:off x="6035040" y="5468112"/>
            <a:ext cx="118872" cy="310896"/>
          </a:xfrm>
          <a:prstGeom prst="chevron">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8034528" y="1417320"/>
            <a:ext cx="3697224" cy="4160520"/>
          </a:xfrm>
          <a:prstGeom prst="roundRect">
            <a:avLst>
              <a:gd name="adj" fmla="val 3000"/>
            </a:avLst>
          </a:prstGeom>
          <a:solidFill>
            <a:srgbClr val="E6F6F0"/>
          </a:solidFill>
          <a:ln w="19050">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8034528" y="1472184"/>
            <a:ext cx="3697224" cy="274320"/>
          </a:xfrm>
          <a:prstGeom prst="rect">
            <a:avLst/>
          </a:prstGeom>
          <a:noFill/>
        </p:spPr>
        <p:txBody>
          <a:bodyPr wrap="square" lIns="0" rIns="0" tIns="0" bIns="0" anchor="ctr">
            <a:spAutoFit/>
          </a:bodyPr>
          <a:lstStyle/>
          <a:p>
            <a:pPr algn="ctr"/>
            <a:r>
              <a:rPr sz="1250" b="1">
                <a:solidFill>
                  <a:srgbClr val="0E7A52"/>
                </a:solidFill>
                <a:latin typeface="Yu Gothic"/>
                <a:ea typeface="Yu Gothic"/>
                <a:cs typeface="Yu Gothic"/>
              </a:rPr>
              <a:t>Employment Lifecycle</a:t>
            </a:r>
          </a:p>
        </p:txBody>
      </p:sp>
      <p:sp>
        <p:nvSpPr>
          <p:cNvPr id="63" name="Rounded Rectangle 62"/>
          <p:cNvSpPr/>
          <p:nvPr/>
        </p:nvSpPr>
        <p:spPr>
          <a:xfrm>
            <a:off x="8107680" y="1828800"/>
            <a:ext cx="3550920" cy="1792223"/>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8107680" y="1901952"/>
            <a:ext cx="3550920" cy="256032"/>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入社・雇用管理</a:t>
            </a:r>
          </a:p>
        </p:txBody>
      </p:sp>
      <p:sp>
        <p:nvSpPr>
          <p:cNvPr id="65" name="Rectangle 64"/>
          <p:cNvSpPr/>
          <p:nvPr/>
        </p:nvSpPr>
        <p:spPr>
          <a:xfrm>
            <a:off x="8199120" y="2240280"/>
            <a:ext cx="1647444" cy="182880"/>
          </a:xfrm>
          <a:prstGeom prst="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8226551" y="2240280"/>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従業員マスタ（2）</a:t>
            </a:r>
          </a:p>
        </p:txBody>
      </p:sp>
      <p:sp>
        <p:nvSpPr>
          <p:cNvPr id="67" name="Rounded Rectangle 66"/>
          <p:cNvSpPr/>
          <p:nvPr/>
        </p:nvSpPr>
        <p:spPr>
          <a:xfrm>
            <a:off x="9919716" y="2240280"/>
            <a:ext cx="1647444" cy="182880"/>
          </a:xfrm>
          <a:prstGeom prst="roundRect">
            <a:avLst/>
          </a:prstGeom>
          <a:solidFill>
            <a:srgbClr val="00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947147" y="2240280"/>
            <a:ext cx="1592580" cy="182880"/>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雇用契約（4）</a:t>
            </a:r>
          </a:p>
        </p:txBody>
      </p:sp>
      <p:sp>
        <p:nvSpPr>
          <p:cNvPr id="69" name="Rounded Rectangle 68"/>
          <p:cNvSpPr/>
          <p:nvPr/>
        </p:nvSpPr>
        <p:spPr>
          <a:xfrm>
            <a:off x="8199120" y="2464308"/>
            <a:ext cx="1647444" cy="182880"/>
          </a:xfrm>
          <a:prstGeom prst="round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8226551" y="2464308"/>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入社書類（2）</a:t>
            </a:r>
          </a:p>
        </p:txBody>
      </p:sp>
      <p:sp>
        <p:nvSpPr>
          <p:cNvPr id="71" name="Rectangle 70"/>
          <p:cNvSpPr/>
          <p:nvPr/>
        </p:nvSpPr>
        <p:spPr>
          <a:xfrm>
            <a:off x="9919716" y="2464308"/>
            <a:ext cx="1647444" cy="182880"/>
          </a:xfrm>
          <a:prstGeom prst="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947147" y="2464308"/>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マイナンバー（2）</a:t>
            </a:r>
          </a:p>
        </p:txBody>
      </p:sp>
      <p:sp>
        <p:nvSpPr>
          <p:cNvPr id="73" name="Rounded Rectangle 72"/>
          <p:cNvSpPr/>
          <p:nvPr/>
        </p:nvSpPr>
        <p:spPr>
          <a:xfrm>
            <a:off x="8199120" y="2688336"/>
            <a:ext cx="1647444"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226551" y="2688336"/>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労働者名簿</a:t>
            </a:r>
          </a:p>
        </p:txBody>
      </p:sp>
      <p:sp>
        <p:nvSpPr>
          <p:cNvPr id="75" name="Rectangle 74"/>
          <p:cNvSpPr/>
          <p:nvPr/>
        </p:nvSpPr>
        <p:spPr>
          <a:xfrm>
            <a:off x="9919716" y="2688336"/>
            <a:ext cx="1647444" cy="182880"/>
          </a:xfrm>
          <a:prstGeom prst="rect">
            <a:avLst/>
          </a:prstGeom>
          <a:solidFill>
            <a:srgbClr val="00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9947147" y="2688336"/>
            <a:ext cx="1592580" cy="182880"/>
          </a:xfrm>
          <a:prstGeom prst="rect">
            <a:avLst/>
          </a:prstGeom>
          <a:noFill/>
        </p:spPr>
        <p:txBody>
          <a:bodyPr wrap="square" lIns="0" rIns="0" tIns="0" bIns="0" anchor="ctr">
            <a:spAutoFit/>
          </a:bodyPr>
          <a:lstStyle/>
          <a:p>
            <a:pPr algn="ctr"/>
            <a:r>
              <a:rPr sz="680" b="1">
                <a:solidFill>
                  <a:srgbClr val="000000"/>
                </a:solidFill>
                <a:latin typeface="Yu Gothic"/>
                <a:ea typeface="Yu Gothic"/>
                <a:cs typeface="Yu Gothic"/>
              </a:rPr>
              <a:t>社会保険・雇用保険の資格情報（3）</a:t>
            </a:r>
          </a:p>
        </p:txBody>
      </p:sp>
      <p:sp>
        <p:nvSpPr>
          <p:cNvPr id="77" name="Rectangle 76"/>
          <p:cNvSpPr/>
          <p:nvPr/>
        </p:nvSpPr>
        <p:spPr>
          <a:xfrm>
            <a:off x="8199120" y="2912364"/>
            <a:ext cx="1647444" cy="182880"/>
          </a:xfrm>
          <a:prstGeom prst="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8226551" y="2912364"/>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異動・発令履歴（2）</a:t>
            </a:r>
          </a:p>
        </p:txBody>
      </p:sp>
      <p:sp>
        <p:nvSpPr>
          <p:cNvPr id="79" name="Rounded Rectangle 78"/>
          <p:cNvSpPr/>
          <p:nvPr/>
        </p:nvSpPr>
        <p:spPr>
          <a:xfrm>
            <a:off x="9919716" y="2912364"/>
            <a:ext cx="1647444"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9947147" y="2912364"/>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オンボーディング計画</a:t>
            </a:r>
          </a:p>
        </p:txBody>
      </p:sp>
      <p:sp>
        <p:nvSpPr>
          <p:cNvPr id="81" name="Rounded Rectangle 80"/>
          <p:cNvSpPr/>
          <p:nvPr/>
        </p:nvSpPr>
        <p:spPr>
          <a:xfrm>
            <a:off x="8107680" y="3712463"/>
            <a:ext cx="3550920" cy="1792223"/>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8107680" y="3785615"/>
            <a:ext cx="3550920" cy="256032"/>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退職・雇用終了</a:t>
            </a:r>
          </a:p>
        </p:txBody>
      </p:sp>
      <p:sp>
        <p:nvSpPr>
          <p:cNvPr id="83" name="Rectangle 82"/>
          <p:cNvSpPr/>
          <p:nvPr/>
        </p:nvSpPr>
        <p:spPr>
          <a:xfrm>
            <a:off x="8199120" y="4123944"/>
            <a:ext cx="1647444" cy="182880"/>
          </a:xfrm>
          <a:prstGeom prst="rect">
            <a:avLst/>
          </a:prstGeom>
          <a:solidFill>
            <a:srgbClr val="00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8226551" y="4123944"/>
            <a:ext cx="1592580" cy="182880"/>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退職情報（3）</a:t>
            </a:r>
          </a:p>
        </p:txBody>
      </p:sp>
      <p:sp>
        <p:nvSpPr>
          <p:cNvPr id="85" name="Rounded Rectangle 84"/>
          <p:cNvSpPr/>
          <p:nvPr/>
        </p:nvSpPr>
        <p:spPr>
          <a:xfrm>
            <a:off x="9919716" y="4123944"/>
            <a:ext cx="1647444"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9947147" y="4123944"/>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資格喪失届・離職票</a:t>
            </a:r>
          </a:p>
        </p:txBody>
      </p:sp>
      <p:sp>
        <p:nvSpPr>
          <p:cNvPr id="87" name="Rounded Rectangle 86"/>
          <p:cNvSpPr/>
          <p:nvPr/>
        </p:nvSpPr>
        <p:spPr>
          <a:xfrm>
            <a:off x="8199120" y="4347972"/>
            <a:ext cx="1647444"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8226551" y="4347972"/>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退職時交付書類</a:t>
            </a:r>
          </a:p>
        </p:txBody>
      </p:sp>
      <p:sp>
        <p:nvSpPr>
          <p:cNvPr id="89" name="Rounded Rectangle 88"/>
          <p:cNvSpPr/>
          <p:nvPr/>
        </p:nvSpPr>
        <p:spPr>
          <a:xfrm>
            <a:off x="9919716" y="4347972"/>
            <a:ext cx="1647444"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9947147" y="4347972"/>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引継ぎ記録</a:t>
            </a:r>
          </a:p>
        </p:txBody>
      </p:sp>
      <p:sp>
        <p:nvSpPr>
          <p:cNvPr id="91" name="Rounded Rectangle 90"/>
          <p:cNvSpPr/>
          <p:nvPr/>
        </p:nvSpPr>
        <p:spPr>
          <a:xfrm>
            <a:off x="8199120" y="4572000"/>
            <a:ext cx="1647444"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TextBox 91"/>
          <p:cNvSpPr txBox="1"/>
          <p:nvPr/>
        </p:nvSpPr>
        <p:spPr>
          <a:xfrm>
            <a:off x="8226551" y="4572000"/>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退職面談記録</a:t>
            </a:r>
          </a:p>
        </p:txBody>
      </p:sp>
      <p:sp>
        <p:nvSpPr>
          <p:cNvPr id="93" name="Rectangle 92"/>
          <p:cNvSpPr/>
          <p:nvPr/>
        </p:nvSpPr>
        <p:spPr>
          <a:xfrm>
            <a:off x="9919716" y="4572000"/>
            <a:ext cx="1647444" cy="182880"/>
          </a:xfrm>
          <a:prstGeom prst="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TextBox 93"/>
          <p:cNvSpPr txBox="1"/>
          <p:nvPr/>
        </p:nvSpPr>
        <p:spPr>
          <a:xfrm>
            <a:off x="9947147" y="4572000"/>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定年・再雇用情報</a:t>
            </a:r>
          </a:p>
        </p:txBody>
      </p:sp>
      <p:sp>
        <p:nvSpPr>
          <p:cNvPr id="95" name="Rectangle 94"/>
          <p:cNvSpPr/>
          <p:nvPr/>
        </p:nvSpPr>
        <p:spPr>
          <a:xfrm>
            <a:off x="8199120" y="4796028"/>
            <a:ext cx="1647444" cy="182880"/>
          </a:xfrm>
          <a:prstGeom prst="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8226551" y="4796028"/>
            <a:ext cx="1592580"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アルムナイ情報</a:t>
            </a:r>
          </a:p>
        </p:txBody>
      </p:sp>
      <p:sp>
        <p:nvSpPr>
          <p:cNvPr id="97" name="Chevron 96"/>
          <p:cNvSpPr/>
          <p:nvPr/>
        </p:nvSpPr>
        <p:spPr>
          <a:xfrm rot="5400000">
            <a:off x="9823704" y="5468112"/>
            <a:ext cx="118872" cy="310896"/>
          </a:xfrm>
          <a:prstGeom prst="chevron">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ounded Rectangle 97"/>
          <p:cNvSpPr/>
          <p:nvPr/>
        </p:nvSpPr>
        <p:spPr>
          <a:xfrm>
            <a:off x="457200" y="5760720"/>
            <a:ext cx="11274552" cy="548640"/>
          </a:xfrm>
          <a:prstGeom prst="roundRect">
            <a:avLst>
              <a:gd name="adj" fmla="val 12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457200" y="5797296"/>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人事基盤（Support / Foundation）</a:t>
            </a:r>
          </a:p>
        </p:txBody>
      </p:sp>
      <p:sp>
        <p:nvSpPr>
          <p:cNvPr id="100" name="Rectangle 99"/>
          <p:cNvSpPr/>
          <p:nvPr/>
        </p:nvSpPr>
        <p:spPr>
          <a:xfrm>
            <a:off x="5230368" y="6053328"/>
            <a:ext cx="1728216" cy="182880"/>
          </a:xfrm>
          <a:prstGeom prst="rect">
            <a:avLst/>
          </a:prstGeom>
          <a:solidFill>
            <a:srgbClr val="E4EAEC"/>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TextBox 100"/>
          <p:cNvSpPr txBox="1"/>
          <p:nvPr/>
        </p:nvSpPr>
        <p:spPr>
          <a:xfrm>
            <a:off x="5257800" y="6053328"/>
            <a:ext cx="16733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貸与物・アカウント記録（2）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ctr">
            <a:spAutoFit/>
          </a:bodyPr>
          <a:lstStyle/>
          <a:p>
            <a:pPr algn="l"/>
            <a:r>
              <a:rPr sz="3000" b="1">
                <a:solidFill>
                  <a:srgbClr val="1F2E35"/>
                </a:solidFill>
                <a:latin typeface="Yu Gothic"/>
                <a:ea typeface="Yu Gothic"/>
                <a:cs typeface="Yu Gothic"/>
              </a:rPr>
              <a:t>示唆</a:t>
            </a:r>
          </a:p>
        </p:txBody>
      </p:sp>
      <p:sp>
        <p:nvSpPr>
          <p:cNvPr id="3" name="TextBox 2"/>
          <p:cNvSpPr txBox="1"/>
          <p:nvPr/>
        </p:nvSpPr>
        <p:spPr>
          <a:xfrm>
            <a:off x="457200" y="960120"/>
            <a:ext cx="11247120" cy="365760"/>
          </a:xfrm>
          <a:prstGeom prst="rect">
            <a:avLst/>
          </a:prstGeom>
          <a:noFill/>
        </p:spPr>
        <p:txBody>
          <a:bodyPr wrap="square" lIns="0" rIns="0" tIns="0" bIns="0" anchor="ctr">
            <a:spAutoFit/>
          </a:bodyPr>
          <a:lstStyle/>
          <a:p>
            <a:pPr algn="l"/>
            <a:r>
              <a:rPr sz="1400" b="0">
                <a:solidFill>
                  <a:srgbClr val="5B6B70"/>
                </a:solidFill>
                <a:latin typeface="Yu Gothic"/>
                <a:ea typeface="Yu Gothic"/>
                <a:cs typeface="Yu Gothic"/>
              </a:rPr>
              <a:t>ビジネス・アプリケーション・データの3つの視点から読み取れること</a:t>
            </a:r>
          </a:p>
        </p:txBody>
      </p:sp>
      <p:sp>
        <p:nvSpPr>
          <p:cNvPr id="4" name="Rounded Rectangle 3"/>
          <p:cNvSpPr/>
          <p:nvPr/>
        </p:nvSpPr>
        <p:spPr>
          <a:xfrm>
            <a:off x="457200" y="1371600"/>
            <a:ext cx="3639312" cy="4800600"/>
          </a:xfrm>
          <a:prstGeom prst="roundRect">
            <a:avLst>
              <a:gd name="adj" fmla="val 3000"/>
            </a:avLst>
          </a:prstGeom>
          <a:solidFill>
            <a:srgbClr val="FFFFFF"/>
          </a:solidFill>
          <a:ln w="19050">
            <a:solidFill>
              <a:srgbClr val="2E7D8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ounded Rectangle 4"/>
          <p:cNvSpPr/>
          <p:nvPr/>
        </p:nvSpPr>
        <p:spPr>
          <a:xfrm>
            <a:off x="457200" y="1371600"/>
            <a:ext cx="3639312" cy="566928"/>
          </a:xfrm>
          <a:prstGeom prst="roundRect">
            <a:avLst>
              <a:gd name="adj" fmla="val 20000"/>
            </a:avLst>
          </a:prstGeom>
          <a:solidFill>
            <a:srgbClr val="2E7D8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457200" y="1737360"/>
            <a:ext cx="3639312" cy="201168"/>
          </a:xfrm>
          <a:prstGeom prst="rect">
            <a:avLst/>
          </a:prstGeom>
          <a:solidFill>
            <a:srgbClr val="2E7D8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0080" y="1426464"/>
            <a:ext cx="3273552" cy="274320"/>
          </a:xfrm>
          <a:prstGeom prst="rect">
            <a:avLst/>
          </a:prstGeom>
          <a:noFill/>
        </p:spPr>
        <p:txBody>
          <a:bodyPr wrap="square" lIns="0" rIns="0" tIns="0" bIns="0" anchor="ctr">
            <a:spAutoFit/>
          </a:bodyPr>
          <a:lstStyle/>
          <a:p>
            <a:pPr algn="l"/>
            <a:r>
              <a:rPr sz="1500" b="1">
                <a:solidFill>
                  <a:srgbClr val="FFFFFF"/>
                </a:solidFill>
                <a:latin typeface="Yu Gothic"/>
                <a:ea typeface="Yu Gothic"/>
                <a:cs typeface="Yu Gothic"/>
              </a:rPr>
              <a:t>ビジネス</a:t>
            </a:r>
          </a:p>
        </p:txBody>
      </p:sp>
      <p:sp>
        <p:nvSpPr>
          <p:cNvPr id="8" name="TextBox 7"/>
          <p:cNvSpPr txBox="1"/>
          <p:nvPr/>
        </p:nvSpPr>
        <p:spPr>
          <a:xfrm>
            <a:off x="640080" y="1700784"/>
            <a:ext cx="3273552" cy="182880"/>
          </a:xfrm>
          <a:prstGeom prst="rect">
            <a:avLst/>
          </a:prstGeom>
          <a:noFill/>
        </p:spPr>
        <p:txBody>
          <a:bodyPr wrap="square" lIns="0" rIns="0" tIns="0" bIns="0" anchor="ctr">
            <a:spAutoFit/>
          </a:bodyPr>
          <a:lstStyle/>
          <a:p>
            <a:pPr algn="l"/>
            <a:r>
              <a:rPr sz="850" b="0">
                <a:solidFill>
                  <a:srgbClr val="DDE6E8"/>
                </a:solidFill>
                <a:latin typeface="Yu Gothic"/>
                <a:ea typeface="Yu Gothic"/>
                <a:cs typeface="Yu Gothic"/>
              </a:rPr>
              <a:t>Value Stream × Capability</a:t>
            </a:r>
          </a:p>
        </p:txBody>
      </p:sp>
      <p:sp>
        <p:nvSpPr>
          <p:cNvPr id="9" name="Oval 8"/>
          <p:cNvSpPr/>
          <p:nvPr/>
        </p:nvSpPr>
        <p:spPr>
          <a:xfrm>
            <a:off x="640080" y="2139696"/>
            <a:ext cx="274320" cy="274320"/>
          </a:xfrm>
          <a:prstGeom prst="ellipse">
            <a:avLst/>
          </a:prstGeom>
          <a:solidFill>
            <a:srgbClr val="2E7D8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0080" y="213969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11" name="TextBox 10"/>
          <p:cNvSpPr txBox="1"/>
          <p:nvPr/>
        </p:nvSpPr>
        <p:spPr>
          <a:xfrm>
            <a:off x="1024128" y="2121408"/>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入口と出口は専任、在職中は分業</a:t>
            </a:r>
          </a:p>
        </p:txBody>
      </p:sp>
      <p:sp>
        <p:nvSpPr>
          <p:cNvPr id="12" name="TextBox 11"/>
          <p:cNvSpPr txBox="1"/>
          <p:nvPr/>
        </p:nvSpPr>
        <p:spPr>
          <a:xfrm>
            <a:off x="1024128" y="2487168"/>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採用は人員計画・採用（主16件）、育成は人材育成・能力開発（15件）、退職は退職・雇用終了（13件）と中核の領域がほぼ1つ。評価・処遇は報酬（18件）と就業・労務（12件）が同時に主役</a:t>
            </a:r>
          </a:p>
        </p:txBody>
      </p:sp>
      <p:cxnSp>
        <p:nvCxnSpPr>
          <p:cNvPr id="13" name="Connector 12"/>
          <p:cNvCxnSpPr/>
          <p:nvPr/>
        </p:nvCxnSpPr>
        <p:spPr>
          <a:xfrm>
            <a:off x="640080" y="3355848"/>
            <a:ext cx="3273551"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40080" y="3447287"/>
            <a:ext cx="274320" cy="274320"/>
          </a:xfrm>
          <a:prstGeom prst="ellipse">
            <a:avLst/>
          </a:prstGeom>
          <a:solidFill>
            <a:srgbClr val="2E7D8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0080" y="3447287"/>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16" name="TextBox 15"/>
          <p:cNvSpPr txBox="1"/>
          <p:nvPr/>
        </p:nvSpPr>
        <p:spPr>
          <a:xfrm>
            <a:off x="1024128" y="3428999"/>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従業員情報は全段階で更新される</a:t>
            </a:r>
          </a:p>
        </p:txBody>
      </p:sp>
      <p:sp>
        <p:nvSpPr>
          <p:cNvPr id="17" name="TextBox 16"/>
          <p:cNvSpPr txBox="1"/>
          <p:nvPr/>
        </p:nvSpPr>
        <p:spPr>
          <a:xfrm>
            <a:off x="1024128" y="3794759"/>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入社・雇用管理は入社だけでなく、評価・処遇、配置（発令）、退職（雇止め・記録の保存）にも関与。人事基盤は全6段階を支える。従業員マスタの更新ルールを段階横断で決める</a:t>
            </a:r>
          </a:p>
        </p:txBody>
      </p:sp>
      <p:cxnSp>
        <p:nvCxnSpPr>
          <p:cNvPr id="18" name="Connector 17"/>
          <p:cNvCxnSpPr/>
          <p:nvPr/>
        </p:nvCxnSpPr>
        <p:spPr>
          <a:xfrm>
            <a:off x="640080" y="4663440"/>
            <a:ext cx="3273551"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40080" y="4754879"/>
            <a:ext cx="274320" cy="274320"/>
          </a:xfrm>
          <a:prstGeom prst="ellipse">
            <a:avLst/>
          </a:prstGeom>
          <a:solidFill>
            <a:srgbClr val="2E7D8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0080" y="47548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21" name="TextBox 20"/>
          <p:cNvSpPr txBox="1"/>
          <p:nvPr/>
        </p:nvSpPr>
        <p:spPr>
          <a:xfrm>
            <a:off x="1024128" y="4736592"/>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日本固有の制度は評価・処遇に集中</a:t>
            </a:r>
          </a:p>
        </p:txBody>
      </p:sp>
      <p:sp>
        <p:nvSpPr>
          <p:cNvPr id="22" name="TextBox 21"/>
          <p:cNvSpPr txBox="1"/>
          <p:nvPr/>
        </p:nvSpPr>
        <p:spPr>
          <a:xfrm>
            <a:off x="1024128" y="5102351"/>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★のL4は111件中42件。うち14件が評価・処遇（36協定、年休5日、年末調整、社会保険の定例手続き、健康診断など）。法改正の影響をここで受けやすい</a:t>
            </a:r>
          </a:p>
        </p:txBody>
      </p:sp>
      <p:sp>
        <p:nvSpPr>
          <p:cNvPr id="23" name="Rounded Rectangle 22"/>
          <p:cNvSpPr/>
          <p:nvPr/>
        </p:nvSpPr>
        <p:spPr>
          <a:xfrm>
            <a:off x="4279392" y="1371600"/>
            <a:ext cx="3639312" cy="4800600"/>
          </a:xfrm>
          <a:prstGeom prst="roundRect">
            <a:avLst>
              <a:gd name="adj" fmla="val 3000"/>
            </a:avLst>
          </a:prstGeom>
          <a:solidFill>
            <a:srgbClr val="FFFFFF"/>
          </a:solidFill>
          <a:ln w="19050">
            <a:solidFill>
              <a:srgbClr val="2F4F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279392" y="1371600"/>
            <a:ext cx="3639312" cy="566928"/>
          </a:xfrm>
          <a:prstGeom prst="roundRect">
            <a:avLst>
              <a:gd name="adj" fmla="val 20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4279392" y="1737360"/>
            <a:ext cx="3639312" cy="201168"/>
          </a:xfrm>
          <a:prstGeom prst="rect">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462272" y="1426464"/>
            <a:ext cx="3273552" cy="274320"/>
          </a:xfrm>
          <a:prstGeom prst="rect">
            <a:avLst/>
          </a:prstGeom>
          <a:noFill/>
        </p:spPr>
        <p:txBody>
          <a:bodyPr wrap="square" lIns="0" rIns="0" tIns="0" bIns="0" anchor="ctr">
            <a:spAutoFit/>
          </a:bodyPr>
          <a:lstStyle/>
          <a:p>
            <a:pPr algn="l"/>
            <a:r>
              <a:rPr sz="1500" b="1">
                <a:solidFill>
                  <a:srgbClr val="FFFFFF"/>
                </a:solidFill>
                <a:latin typeface="Yu Gothic"/>
                <a:ea typeface="Yu Gothic"/>
                <a:cs typeface="Yu Gothic"/>
              </a:rPr>
              <a:t>アプリケーション</a:t>
            </a:r>
          </a:p>
        </p:txBody>
      </p:sp>
      <p:sp>
        <p:nvSpPr>
          <p:cNvPr id="27" name="TextBox 26"/>
          <p:cNvSpPr txBox="1"/>
          <p:nvPr/>
        </p:nvSpPr>
        <p:spPr>
          <a:xfrm>
            <a:off x="4462272" y="1700784"/>
            <a:ext cx="3273552" cy="182880"/>
          </a:xfrm>
          <a:prstGeom prst="rect">
            <a:avLst/>
          </a:prstGeom>
          <a:noFill/>
        </p:spPr>
        <p:txBody>
          <a:bodyPr wrap="square" lIns="0" rIns="0" tIns="0" bIns="0" anchor="ctr">
            <a:spAutoFit/>
          </a:bodyPr>
          <a:lstStyle/>
          <a:p>
            <a:pPr algn="l"/>
            <a:r>
              <a:rPr sz="850" b="0">
                <a:solidFill>
                  <a:srgbClr val="DDE6E8"/>
                </a:solidFill>
                <a:latin typeface="Yu Gothic"/>
                <a:ea typeface="Yu Gothic"/>
                <a:cs typeface="Yu Gothic"/>
              </a:rPr>
              <a:t>Capability × Application</a:t>
            </a:r>
          </a:p>
        </p:txBody>
      </p:sp>
      <p:sp>
        <p:nvSpPr>
          <p:cNvPr id="28" name="Oval 27"/>
          <p:cNvSpPr/>
          <p:nvPr/>
        </p:nvSpPr>
        <p:spPr>
          <a:xfrm>
            <a:off x="4462272" y="2139696"/>
            <a:ext cx="274320" cy="274320"/>
          </a:xfrm>
          <a:prstGeom prst="ellips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462272" y="213969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30" name="TextBox 29"/>
          <p:cNvSpPr txBox="1"/>
          <p:nvPr/>
        </p:nvSpPr>
        <p:spPr>
          <a:xfrm>
            <a:off x="4846320" y="2121408"/>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労務手続きとコアHRが基盤</a:t>
            </a:r>
          </a:p>
        </p:txBody>
      </p:sp>
      <p:sp>
        <p:nvSpPr>
          <p:cNvPr id="31" name="TextBox 30"/>
          <p:cNvSpPr txBox="1"/>
          <p:nvPr/>
        </p:nvSpPr>
        <p:spPr>
          <a:xfrm>
            <a:off x="4846320" y="2487168"/>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労務手続き（12件）とコアHR（11件）が作成・更新する情報オブジェクトの上位2つ。入社・社会保険・退職の手続きと従業員マスタを両者で分け合うため、役割の境界を決める</a:t>
            </a:r>
          </a:p>
        </p:txBody>
      </p:sp>
      <p:cxnSp>
        <p:nvCxnSpPr>
          <p:cNvPr id="32" name="Connector 31"/>
          <p:cNvCxnSpPr/>
          <p:nvPr/>
        </p:nvCxnSpPr>
        <p:spPr>
          <a:xfrm>
            <a:off x="4462272" y="3355848"/>
            <a:ext cx="3273551"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4462272" y="3447287"/>
            <a:ext cx="274320" cy="274320"/>
          </a:xfrm>
          <a:prstGeom prst="ellips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3447287"/>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35" name="TextBox 34"/>
          <p:cNvSpPr txBox="1"/>
          <p:nvPr/>
        </p:nvSpPr>
        <p:spPr>
          <a:xfrm>
            <a:off x="4846320" y="3428999"/>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3種類のアプリが領域をまたぐ</a:t>
            </a:r>
          </a:p>
        </p:txBody>
      </p:sp>
      <p:sp>
        <p:nvSpPr>
          <p:cNvPr id="36" name="TextBox 35"/>
          <p:cNvSpPr txBox="1"/>
          <p:nvPr/>
        </p:nvSpPr>
        <p:spPr>
          <a:xfrm>
            <a:off x="4846320" y="3794759"/>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コアHR（戦略・入社・退職）、労務手続き（入社・社会保険・退職）、タレントマネジメント（育成・配置）。在職中の育成・配置と、入退社の事務で基盤が分かれる</a:t>
            </a:r>
          </a:p>
        </p:txBody>
      </p:sp>
      <p:cxnSp>
        <p:nvCxnSpPr>
          <p:cNvPr id="37" name="Connector 36"/>
          <p:cNvCxnSpPr/>
          <p:nvPr/>
        </p:nvCxnSpPr>
        <p:spPr>
          <a:xfrm>
            <a:off x="4462272" y="4663440"/>
            <a:ext cx="3273551"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4462272" y="4754879"/>
            <a:ext cx="274320" cy="274320"/>
          </a:xfrm>
          <a:prstGeom prst="ellips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4462272" y="47548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40" name="TextBox 39"/>
          <p:cNvSpPr txBox="1"/>
          <p:nvPr/>
        </p:nvSpPr>
        <p:spPr>
          <a:xfrm>
            <a:off x="4846320" y="4736592"/>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主に支えるアプリがない能力が5つ</a:t>
            </a:r>
          </a:p>
        </p:txBody>
      </p:sp>
      <p:sp>
        <p:nvSpPr>
          <p:cNvPr id="41" name="TextBox 40"/>
          <p:cNvSpPr txBox="1"/>
          <p:nvPr/>
        </p:nvSpPr>
        <p:spPr>
          <a:xfrm>
            <a:off x="4846320" y="5102351"/>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採用コンプライアンス、オンボーディング、報酬制度・報酬決定、多様な人材の活躍推進、オフボーディング。表計算や手作業に頼りやすく、法定の公表（女性活躍・障害者雇用）の集計は特に確認が要る</a:t>
            </a:r>
          </a:p>
        </p:txBody>
      </p:sp>
      <p:sp>
        <p:nvSpPr>
          <p:cNvPr id="42" name="Rounded Rectangle 41"/>
          <p:cNvSpPr/>
          <p:nvPr/>
        </p:nvSpPr>
        <p:spPr>
          <a:xfrm>
            <a:off x="8101583" y="1371600"/>
            <a:ext cx="3639312" cy="4800600"/>
          </a:xfrm>
          <a:prstGeom prst="roundRect">
            <a:avLst>
              <a:gd name="adj" fmla="val 3000"/>
            </a:avLst>
          </a:prstGeom>
          <a:solidFill>
            <a:srgbClr val="FFFFFF"/>
          </a:solidFill>
          <a:ln w="19050">
            <a:solidFill>
              <a:srgbClr val="9C7C4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8101583" y="1371600"/>
            <a:ext cx="3639312" cy="566928"/>
          </a:xfrm>
          <a:prstGeom prst="roundRect">
            <a:avLst>
              <a:gd name="adj" fmla="val 20000"/>
            </a:avLst>
          </a:prstGeom>
          <a:solidFill>
            <a:srgbClr val="9C7C4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8101583" y="1737360"/>
            <a:ext cx="3639312" cy="201168"/>
          </a:xfrm>
          <a:prstGeom prst="rect">
            <a:avLst/>
          </a:prstGeom>
          <a:solidFill>
            <a:srgbClr val="9C7C4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8284463" y="1426464"/>
            <a:ext cx="3273552" cy="274320"/>
          </a:xfrm>
          <a:prstGeom prst="rect">
            <a:avLst/>
          </a:prstGeom>
          <a:noFill/>
        </p:spPr>
        <p:txBody>
          <a:bodyPr wrap="square" lIns="0" rIns="0" tIns="0" bIns="0" anchor="ctr">
            <a:spAutoFit/>
          </a:bodyPr>
          <a:lstStyle/>
          <a:p>
            <a:pPr algn="l"/>
            <a:r>
              <a:rPr sz="1500" b="1">
                <a:solidFill>
                  <a:srgbClr val="FFFFFF"/>
                </a:solidFill>
                <a:latin typeface="Yu Gothic"/>
                <a:ea typeface="Yu Gothic"/>
                <a:cs typeface="Yu Gothic"/>
              </a:rPr>
              <a:t>データ</a:t>
            </a:r>
          </a:p>
        </p:txBody>
      </p:sp>
      <p:sp>
        <p:nvSpPr>
          <p:cNvPr id="46" name="TextBox 45"/>
          <p:cNvSpPr txBox="1"/>
          <p:nvPr/>
        </p:nvSpPr>
        <p:spPr>
          <a:xfrm>
            <a:off x="8284463" y="1700784"/>
            <a:ext cx="3273552" cy="182880"/>
          </a:xfrm>
          <a:prstGeom prst="rect">
            <a:avLst/>
          </a:prstGeom>
          <a:noFill/>
        </p:spPr>
        <p:txBody>
          <a:bodyPr wrap="square" lIns="0" rIns="0" tIns="0" bIns="0" anchor="ctr">
            <a:spAutoFit/>
          </a:bodyPr>
          <a:lstStyle/>
          <a:p>
            <a:pPr algn="l"/>
            <a:r>
              <a:rPr sz="850" b="0">
                <a:solidFill>
                  <a:srgbClr val="DDE6E8"/>
                </a:solidFill>
                <a:latin typeface="Yu Gothic"/>
                <a:ea typeface="Yu Gothic"/>
                <a:cs typeface="Yu Gothic"/>
              </a:rPr>
              <a:t>Information Object × Application</a:t>
            </a:r>
          </a:p>
        </p:txBody>
      </p:sp>
      <p:sp>
        <p:nvSpPr>
          <p:cNvPr id="47" name="Oval 46"/>
          <p:cNvSpPr/>
          <p:nvPr/>
        </p:nvSpPr>
        <p:spPr>
          <a:xfrm>
            <a:off x="8284463" y="2139696"/>
            <a:ext cx="274320" cy="274320"/>
          </a:xfrm>
          <a:prstGeom prst="ellipse">
            <a:avLst/>
          </a:prstGeom>
          <a:solidFill>
            <a:srgbClr val="9C7C4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8284463" y="213969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49" name="TextBox 48"/>
          <p:cNvSpPr txBox="1"/>
          <p:nvPr/>
        </p:nvSpPr>
        <p:spPr>
          <a:xfrm>
            <a:off x="8668511" y="2121408"/>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雇用契約の正本が定まらない</a:t>
            </a:r>
          </a:p>
        </p:txBody>
      </p:sp>
      <p:sp>
        <p:nvSpPr>
          <p:cNvPr id="50" name="TextBox 49"/>
          <p:cNvSpPr txBox="1"/>
          <p:nvPr/>
        </p:nvSpPr>
        <p:spPr>
          <a:xfrm>
            <a:off x="8668511" y="2487168"/>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3つ以上のアプリで作成・更新されるのは7件で、最多は雇用契約（4アプリ：コアHR・労務手続き・電子契約・タレントマネジメント）。締結した契約の最終版の置き場を決める</a:t>
            </a:r>
          </a:p>
        </p:txBody>
      </p:sp>
      <p:cxnSp>
        <p:nvCxnSpPr>
          <p:cNvPr id="51" name="Connector 50"/>
          <p:cNvCxnSpPr/>
          <p:nvPr/>
        </p:nvCxnSpPr>
        <p:spPr>
          <a:xfrm>
            <a:off x="8284463" y="3355848"/>
            <a:ext cx="3273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8284463" y="3447287"/>
            <a:ext cx="274320" cy="274320"/>
          </a:xfrm>
          <a:prstGeom prst="ellipse">
            <a:avLst/>
          </a:prstGeom>
          <a:solidFill>
            <a:srgbClr val="9C7C4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8284463" y="3447287"/>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54" name="TextBox 53"/>
          <p:cNvSpPr txBox="1"/>
          <p:nvPr/>
        </p:nvSpPr>
        <p:spPr>
          <a:xfrm>
            <a:off x="8668511" y="3428999"/>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社会保険・税は労務と給与にまたがる</a:t>
            </a:r>
          </a:p>
        </p:txBody>
      </p:sp>
      <p:sp>
        <p:nvSpPr>
          <p:cNvPr id="55" name="TextBox 54"/>
          <p:cNvSpPr txBox="1"/>
          <p:nvPr/>
        </p:nvSpPr>
        <p:spPr>
          <a:xfrm>
            <a:off x="8668511" y="3794759"/>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社会保険・雇用保険の資格情報、社会保険・労働保険の届出、源泉徴収・年末調整情報はいずれも3アプリで作成・更新。労務手続きと給与計算の間のデータ連携が要</a:t>
            </a:r>
          </a:p>
        </p:txBody>
      </p:sp>
      <p:cxnSp>
        <p:nvCxnSpPr>
          <p:cNvPr id="56" name="Connector 55"/>
          <p:cNvCxnSpPr/>
          <p:nvPr/>
        </p:nvCxnSpPr>
        <p:spPr>
          <a:xfrm>
            <a:off x="8284463" y="4663440"/>
            <a:ext cx="3273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8284463" y="4754879"/>
            <a:ext cx="274320" cy="274320"/>
          </a:xfrm>
          <a:prstGeom prst="ellipse">
            <a:avLst/>
          </a:prstGeom>
          <a:solidFill>
            <a:srgbClr val="9C7C4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8284463" y="47548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59" name="TextBox 58"/>
          <p:cNvSpPr txBox="1"/>
          <p:nvPr/>
        </p:nvSpPr>
        <p:spPr>
          <a:xfrm>
            <a:off x="8668511" y="4736592"/>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ほぼすべてが個人情報</a:t>
            </a:r>
          </a:p>
        </p:txBody>
      </p:sp>
      <p:sp>
        <p:nvSpPr>
          <p:cNvPr id="60" name="TextBox 59"/>
          <p:cNvSpPr txBox="1"/>
          <p:nvPr/>
        </p:nvSpPr>
        <p:spPr>
          <a:xfrm>
            <a:off x="8668511" y="5102351"/>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60件中42件が個人情報を含み、うち要配慮個人情報が5件（休業・健康診断・ストレスチェック・労災・相談事案）、特定個人情報が1件（マイナンバー）。区分ごとのアクセス管理が最大の論点</a:t>
            </a:r>
          </a:p>
        </p:txBody>
      </p:sp>
      <p:sp>
        <p:nvSpPr>
          <p:cNvPr id="61" name="TextBox 60"/>
          <p:cNvSpPr txBox="1"/>
          <p:nvPr/>
        </p:nvSpPr>
        <p:spPr>
          <a:xfrm>
            <a:off x="457200" y="6263640"/>
            <a:ext cx="11247120" cy="365760"/>
          </a:xfrm>
          <a:prstGeom prst="rect">
            <a:avLst/>
          </a:prstGeom>
          <a:noFill/>
        </p:spPr>
        <p:txBody>
          <a:bodyPr wrap="square" lIns="0" rIns="0" tIns="0" bIns="0" anchor="t">
            <a:spAutoFit/>
          </a:bodyPr>
          <a:lstStyle/>
          <a:p>
            <a:pPr algn="l"/>
            <a:r>
              <a:rPr sz="800" b="0">
                <a:solidFill>
                  <a:srgbClr val="5B6B70"/>
                </a:solidFill>
                <a:latin typeface="Yu Gothic"/>
                <a:ea typeface="Yu Gothic"/>
                <a:cs typeface="Yu Gothic"/>
              </a:rPr>
              <a:t>出典：vs_capability_map.xlsx（VS×ケイパビリティ関係、アプリケーション×情報オブジェクト、情報オブジェクト）。アプリケーション×情報オブジェクトはケイパビリティ経由で機械的に割り当てたもので、実際の作成・更新より多めに出る。アプリの現状とのマッピングで絞り込む前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ctr">
            <a:spAutoFit/>
          </a:bodyPr>
          <a:lstStyle/>
          <a:p>
            <a:pPr algn="l"/>
            <a:r>
              <a:rPr sz="3000" b="1">
                <a:solidFill>
                  <a:srgbClr val="1F2E35"/>
                </a:solidFill>
                <a:latin typeface="Yu Gothic"/>
                <a:ea typeface="Yu Gothic"/>
                <a:cs typeface="Yu Gothic"/>
              </a:rPr>
              <a:t>考察：重要なケイパビリティ領域</a:t>
            </a:r>
          </a:p>
        </p:txBody>
      </p:sp>
      <p:sp>
        <p:nvSpPr>
          <p:cNvPr id="3" name="TextBox 2"/>
          <p:cNvSpPr txBox="1"/>
          <p:nvPr/>
        </p:nvSpPr>
        <p:spPr>
          <a:xfrm>
            <a:off x="457200" y="960120"/>
            <a:ext cx="11247120" cy="365760"/>
          </a:xfrm>
          <a:prstGeom prst="rect">
            <a:avLst/>
          </a:prstGeom>
          <a:noFill/>
        </p:spPr>
        <p:txBody>
          <a:bodyPr wrap="square" lIns="0" rIns="0" tIns="0" bIns="0" anchor="ctr">
            <a:spAutoFit/>
          </a:bodyPr>
          <a:lstStyle/>
          <a:p>
            <a:pPr algn="l"/>
            <a:r>
              <a:rPr sz="1400" b="0">
                <a:solidFill>
                  <a:srgbClr val="5B6B70"/>
                </a:solidFill>
                <a:latin typeface="Yu Gothic"/>
                <a:ea typeface="Yu Gothic"/>
                <a:cs typeface="Yu Gothic"/>
              </a:rPr>
              <a:t>「人の出入り」を扱う採用・入社・配置・退職が「統合の要」。評価・給与・勤怠は広く使われる「データの源泉」</a:t>
            </a:r>
          </a:p>
        </p:txBody>
      </p:sp>
      <p:sp>
        <p:nvSpPr>
          <p:cNvPr id="4" name="Rectangle 3"/>
          <p:cNvSpPr/>
          <p:nvPr/>
        </p:nvSpPr>
        <p:spPr>
          <a:xfrm>
            <a:off x="960120" y="1371600"/>
            <a:ext cx="5385816" cy="1965960"/>
          </a:xfrm>
          <a:prstGeom prst="rect">
            <a:avLst/>
          </a:prstGeom>
          <a:solidFill>
            <a:srgbClr val="E8F1FB"/>
          </a:solidFill>
          <a:ln w="12700">
            <a:solidFill>
              <a:srgbClr val="C3CFD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097280" y="146304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データの源泉（8）</a:t>
            </a:r>
          </a:p>
        </p:txBody>
      </p:sp>
      <p:sp>
        <p:nvSpPr>
          <p:cNvPr id="6" name="TextBox 5"/>
          <p:cNvSpPr txBox="1"/>
          <p:nvPr/>
        </p:nvSpPr>
        <p:spPr>
          <a:xfrm>
            <a:off x="1097280" y="175564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専用アプリの正本を定め、連携を設計</a:t>
            </a:r>
          </a:p>
        </p:txBody>
      </p:sp>
      <p:sp>
        <p:nvSpPr>
          <p:cNvPr id="7" name="Rounded Rectangle 6"/>
          <p:cNvSpPr/>
          <p:nvPr/>
        </p:nvSpPr>
        <p:spPr>
          <a:xfrm>
            <a:off x="1097280" y="2057400"/>
            <a:ext cx="2510028"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1188720" y="2135124"/>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335024" y="2057400"/>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給与計算・支払★</a:t>
            </a:r>
          </a:p>
        </p:txBody>
      </p:sp>
      <p:sp>
        <p:nvSpPr>
          <p:cNvPr id="10" name="Rounded Rectangle 9"/>
          <p:cNvSpPr/>
          <p:nvPr/>
        </p:nvSpPr>
        <p:spPr>
          <a:xfrm>
            <a:off x="3698748" y="2057400"/>
            <a:ext cx="2510028" cy="246888"/>
          </a:xfrm>
          <a:prstGeom prst="roundRect">
            <a:avLst>
              <a:gd name="adj" fmla="val 50000"/>
            </a:avLst>
          </a:prstGeom>
          <a:solidFill>
            <a:srgbClr val="FFFFFF"/>
          </a:solidFill>
          <a:ln w="1587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3790187" y="2135124"/>
            <a:ext cx="91440" cy="9144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936491" y="2057400"/>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オンボーディング</a:t>
            </a:r>
          </a:p>
        </p:txBody>
      </p:sp>
      <p:sp>
        <p:nvSpPr>
          <p:cNvPr id="13" name="Rounded Rectangle 12"/>
          <p:cNvSpPr/>
          <p:nvPr/>
        </p:nvSpPr>
        <p:spPr>
          <a:xfrm>
            <a:off x="1097280" y="2359152"/>
            <a:ext cx="2510028" cy="246888"/>
          </a:xfrm>
          <a:prstGeom prst="roundRect">
            <a:avLst>
              <a:gd name="adj" fmla="val 50000"/>
            </a:avLst>
          </a:prstGeom>
          <a:solidFill>
            <a:srgbClr val="FFFFFF"/>
          </a:solidFill>
          <a:ln w="1587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1188720" y="2436876"/>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335024" y="2359152"/>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人事戦略・人的資本経営★</a:t>
            </a:r>
          </a:p>
        </p:txBody>
      </p:sp>
      <p:sp>
        <p:nvSpPr>
          <p:cNvPr id="16" name="Rounded Rectangle 15"/>
          <p:cNvSpPr/>
          <p:nvPr/>
        </p:nvSpPr>
        <p:spPr>
          <a:xfrm>
            <a:off x="3698748" y="2359152"/>
            <a:ext cx="2510028"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3790187" y="2436876"/>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936491" y="2359152"/>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報酬制度・報酬決定</a:t>
            </a:r>
          </a:p>
        </p:txBody>
      </p:sp>
      <p:sp>
        <p:nvSpPr>
          <p:cNvPr id="19" name="Rounded Rectangle 18"/>
          <p:cNvSpPr/>
          <p:nvPr/>
        </p:nvSpPr>
        <p:spPr>
          <a:xfrm>
            <a:off x="1097280" y="2660904"/>
            <a:ext cx="2510028"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1188720" y="2738628"/>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335024" y="2660904"/>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目標・評価管理</a:t>
            </a:r>
          </a:p>
        </p:txBody>
      </p:sp>
      <p:sp>
        <p:nvSpPr>
          <p:cNvPr id="22" name="Rounded Rectangle 21"/>
          <p:cNvSpPr/>
          <p:nvPr/>
        </p:nvSpPr>
        <p:spPr>
          <a:xfrm>
            <a:off x="3698748" y="2660904"/>
            <a:ext cx="2510028"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3790187" y="2738628"/>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936491" y="2660904"/>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勤怠・休暇管理★</a:t>
            </a:r>
          </a:p>
        </p:txBody>
      </p:sp>
      <p:sp>
        <p:nvSpPr>
          <p:cNvPr id="25" name="Rounded Rectangle 24"/>
          <p:cNvSpPr/>
          <p:nvPr/>
        </p:nvSpPr>
        <p:spPr>
          <a:xfrm>
            <a:off x="1097280" y="2962656"/>
            <a:ext cx="2510028" cy="246888"/>
          </a:xfrm>
          <a:prstGeom prst="roundRect">
            <a:avLst>
              <a:gd name="adj" fmla="val 50000"/>
            </a:avLst>
          </a:prstGeom>
          <a:solidFill>
            <a:srgbClr val="FFFFFF"/>
          </a:solidFill>
          <a:ln w="1587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1188720" y="3040380"/>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1335024" y="2962656"/>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多様な人材の活躍推進★</a:t>
            </a:r>
          </a:p>
        </p:txBody>
      </p:sp>
      <p:sp>
        <p:nvSpPr>
          <p:cNvPr id="28" name="Rounded Rectangle 27"/>
          <p:cNvSpPr/>
          <p:nvPr/>
        </p:nvSpPr>
        <p:spPr>
          <a:xfrm>
            <a:off x="3698748" y="2962656"/>
            <a:ext cx="2510028" cy="246888"/>
          </a:xfrm>
          <a:prstGeom prst="roundRect">
            <a:avLst>
              <a:gd name="adj" fmla="val 50000"/>
            </a:avLst>
          </a:prstGeom>
          <a:solidFill>
            <a:srgbClr val="FFFFFF"/>
          </a:solidFill>
          <a:ln w="1587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3790187" y="3040380"/>
            <a:ext cx="91440" cy="91440"/>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3936491" y="2962656"/>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採用コンプライアンス★</a:t>
            </a:r>
          </a:p>
        </p:txBody>
      </p:sp>
      <p:sp>
        <p:nvSpPr>
          <p:cNvPr id="31" name="Rectangle 30"/>
          <p:cNvSpPr/>
          <p:nvPr/>
        </p:nvSpPr>
        <p:spPr>
          <a:xfrm>
            <a:off x="6345936" y="1371600"/>
            <a:ext cx="5385816" cy="1965960"/>
          </a:xfrm>
          <a:prstGeom prst="rect">
            <a:avLst/>
          </a:prstGeom>
          <a:solidFill>
            <a:srgbClr val="CCFFFF"/>
          </a:solidFill>
          <a:ln w="12700">
            <a:solidFill>
              <a:srgbClr val="C3CFD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483096" y="146304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統合の要（8）</a:t>
            </a:r>
          </a:p>
        </p:txBody>
      </p:sp>
      <p:sp>
        <p:nvSpPr>
          <p:cNvPr id="33" name="TextBox 32"/>
          <p:cNvSpPr txBox="1"/>
          <p:nvPr/>
        </p:nvSpPr>
        <p:spPr>
          <a:xfrm>
            <a:off x="6483096" y="175564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共通アプリとデータ標準を最優先で整備</a:t>
            </a:r>
          </a:p>
        </p:txBody>
      </p:sp>
      <p:sp>
        <p:nvSpPr>
          <p:cNvPr id="34" name="Rounded Rectangle 33"/>
          <p:cNvSpPr/>
          <p:nvPr/>
        </p:nvSpPr>
        <p:spPr>
          <a:xfrm>
            <a:off x="6483096" y="2057400"/>
            <a:ext cx="2510027" cy="246888"/>
          </a:xfrm>
          <a:prstGeom prst="roundRect">
            <a:avLst>
              <a:gd name="adj" fmla="val 50000"/>
            </a:avLst>
          </a:prstGeom>
          <a:solidFill>
            <a:srgbClr val="FFFFFF"/>
          </a:solidFill>
          <a:ln w="1587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val 34"/>
          <p:cNvSpPr/>
          <p:nvPr/>
        </p:nvSpPr>
        <p:spPr>
          <a:xfrm>
            <a:off x="6574536" y="2135124"/>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6720840" y="2057400"/>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組織・職務設計</a:t>
            </a:r>
          </a:p>
        </p:txBody>
      </p:sp>
      <p:sp>
        <p:nvSpPr>
          <p:cNvPr id="37" name="Rounded Rectangle 36"/>
          <p:cNvSpPr/>
          <p:nvPr/>
        </p:nvSpPr>
        <p:spPr>
          <a:xfrm>
            <a:off x="9084564" y="2057400"/>
            <a:ext cx="2510027" cy="246888"/>
          </a:xfrm>
          <a:prstGeom prst="roundRect">
            <a:avLst>
              <a:gd name="adj" fmla="val 50000"/>
            </a:avLst>
          </a:prstGeom>
          <a:solidFill>
            <a:srgbClr val="FFFFFF"/>
          </a:solidFill>
          <a:ln w="1587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Oval 37"/>
          <p:cNvSpPr/>
          <p:nvPr/>
        </p:nvSpPr>
        <p:spPr>
          <a:xfrm>
            <a:off x="9176004" y="2135124"/>
            <a:ext cx="91440" cy="9144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9322308" y="2057400"/>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従業員情報管理★</a:t>
            </a:r>
          </a:p>
        </p:txBody>
      </p:sp>
      <p:sp>
        <p:nvSpPr>
          <p:cNvPr id="40" name="Rounded Rectangle 39"/>
          <p:cNvSpPr/>
          <p:nvPr/>
        </p:nvSpPr>
        <p:spPr>
          <a:xfrm>
            <a:off x="6483096" y="2359152"/>
            <a:ext cx="2510027" cy="246888"/>
          </a:xfrm>
          <a:prstGeom prst="roundRect">
            <a:avLst>
              <a:gd name="adj" fmla="val 50000"/>
            </a:avLst>
          </a:prstGeom>
          <a:solidFill>
            <a:srgbClr val="FFFFFF"/>
          </a:solidFill>
          <a:ln w="1587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Oval 40"/>
          <p:cNvSpPr/>
          <p:nvPr/>
        </p:nvSpPr>
        <p:spPr>
          <a:xfrm>
            <a:off x="6574536" y="2436876"/>
            <a:ext cx="91440" cy="9144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720840" y="2359152"/>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雇用契約・入社手続き★</a:t>
            </a:r>
          </a:p>
        </p:txBody>
      </p:sp>
      <p:sp>
        <p:nvSpPr>
          <p:cNvPr id="43" name="Rounded Rectangle 42"/>
          <p:cNvSpPr/>
          <p:nvPr/>
        </p:nvSpPr>
        <p:spPr>
          <a:xfrm>
            <a:off x="9084564" y="2359152"/>
            <a:ext cx="2510027" cy="246888"/>
          </a:xfrm>
          <a:prstGeom prst="roundRect">
            <a:avLst>
              <a:gd name="adj" fmla="val 50000"/>
            </a:avLst>
          </a:prstGeom>
          <a:solidFill>
            <a:srgbClr val="FFFFFF"/>
          </a:solidFill>
          <a:ln w="1587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Oval 43"/>
          <p:cNvSpPr/>
          <p:nvPr/>
        </p:nvSpPr>
        <p:spPr>
          <a:xfrm>
            <a:off x="9176004" y="2436876"/>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9322308" y="2359152"/>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タレントレビュー・配置</a:t>
            </a:r>
          </a:p>
        </p:txBody>
      </p:sp>
      <p:sp>
        <p:nvSpPr>
          <p:cNvPr id="46" name="Rounded Rectangle 45"/>
          <p:cNvSpPr/>
          <p:nvPr/>
        </p:nvSpPr>
        <p:spPr>
          <a:xfrm>
            <a:off x="6483096" y="2660904"/>
            <a:ext cx="2510027" cy="246888"/>
          </a:xfrm>
          <a:prstGeom prst="roundRect">
            <a:avLst>
              <a:gd name="adj" fmla="val 50000"/>
            </a:avLst>
          </a:prstGeom>
          <a:solidFill>
            <a:srgbClr val="FFFFFF"/>
          </a:solidFill>
          <a:ln w="1587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Oval 46"/>
          <p:cNvSpPr/>
          <p:nvPr/>
        </p:nvSpPr>
        <p:spPr>
          <a:xfrm>
            <a:off x="6574536" y="2738628"/>
            <a:ext cx="91440" cy="91440"/>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6720840" y="2660904"/>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経験者採用</a:t>
            </a:r>
          </a:p>
        </p:txBody>
      </p:sp>
      <p:sp>
        <p:nvSpPr>
          <p:cNvPr id="49" name="Rounded Rectangle 48"/>
          <p:cNvSpPr/>
          <p:nvPr/>
        </p:nvSpPr>
        <p:spPr>
          <a:xfrm>
            <a:off x="9084564" y="2660904"/>
            <a:ext cx="2510027" cy="246888"/>
          </a:xfrm>
          <a:prstGeom prst="roundRect">
            <a:avLst>
              <a:gd name="adj" fmla="val 50000"/>
            </a:avLst>
          </a:prstGeom>
          <a:solidFill>
            <a:srgbClr val="FFFFFF"/>
          </a:solidFill>
          <a:ln w="1587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Oval 49"/>
          <p:cNvSpPr/>
          <p:nvPr/>
        </p:nvSpPr>
        <p:spPr>
          <a:xfrm>
            <a:off x="9176004" y="2738628"/>
            <a:ext cx="91440" cy="9144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9322308" y="2660904"/>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退職手続き★</a:t>
            </a:r>
          </a:p>
        </p:txBody>
      </p:sp>
      <p:sp>
        <p:nvSpPr>
          <p:cNvPr id="52" name="Rounded Rectangle 51"/>
          <p:cNvSpPr/>
          <p:nvPr/>
        </p:nvSpPr>
        <p:spPr>
          <a:xfrm>
            <a:off x="6483096" y="2962656"/>
            <a:ext cx="2510027" cy="246888"/>
          </a:xfrm>
          <a:prstGeom prst="roundRect">
            <a:avLst>
              <a:gd name="adj" fmla="val 50000"/>
            </a:avLst>
          </a:prstGeom>
          <a:solidFill>
            <a:srgbClr val="FFFFFF"/>
          </a:solidFill>
          <a:ln w="1587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Oval 52"/>
          <p:cNvSpPr/>
          <p:nvPr/>
        </p:nvSpPr>
        <p:spPr>
          <a:xfrm>
            <a:off x="6574536" y="3040380"/>
            <a:ext cx="91440" cy="91440"/>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6720840" y="2962656"/>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新卒採用★</a:t>
            </a:r>
          </a:p>
        </p:txBody>
      </p:sp>
      <p:sp>
        <p:nvSpPr>
          <p:cNvPr id="55" name="Rounded Rectangle 54"/>
          <p:cNvSpPr/>
          <p:nvPr/>
        </p:nvSpPr>
        <p:spPr>
          <a:xfrm>
            <a:off x="9084564" y="2962656"/>
            <a:ext cx="2510027" cy="246888"/>
          </a:xfrm>
          <a:prstGeom prst="roundRect">
            <a:avLst>
              <a:gd name="adj" fmla="val 50000"/>
            </a:avLst>
          </a:prstGeom>
          <a:solidFill>
            <a:srgbClr val="FFFFFF"/>
          </a:solidFill>
          <a:ln w="1587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Oval 55"/>
          <p:cNvSpPr/>
          <p:nvPr/>
        </p:nvSpPr>
        <p:spPr>
          <a:xfrm>
            <a:off x="9176004" y="3040380"/>
            <a:ext cx="91440" cy="91440"/>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9322308" y="2962656"/>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採用計画・採用ブランディング</a:t>
            </a:r>
          </a:p>
        </p:txBody>
      </p:sp>
      <p:sp>
        <p:nvSpPr>
          <p:cNvPr id="58" name="Rectangle 57"/>
          <p:cNvSpPr/>
          <p:nvPr/>
        </p:nvSpPr>
        <p:spPr>
          <a:xfrm>
            <a:off x="960120" y="3337560"/>
            <a:ext cx="5385816" cy="2286000"/>
          </a:xfrm>
          <a:prstGeom prst="rect">
            <a:avLst/>
          </a:prstGeom>
          <a:solidFill>
            <a:srgbClr val="FFFFFF"/>
          </a:solidFill>
          <a:ln w="12700">
            <a:solidFill>
              <a:srgbClr val="C3CFD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097280" y="342900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個別最適（10）</a:t>
            </a:r>
          </a:p>
        </p:txBody>
      </p:sp>
      <p:sp>
        <p:nvSpPr>
          <p:cNvPr id="60" name="TextBox 59"/>
          <p:cNvSpPr txBox="1"/>
          <p:nvPr/>
        </p:nvSpPr>
        <p:spPr>
          <a:xfrm>
            <a:off x="1097280" y="372160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個別に最適化してよい</a:t>
            </a:r>
          </a:p>
        </p:txBody>
      </p:sp>
      <p:sp>
        <p:nvSpPr>
          <p:cNvPr id="61" name="Rounded Rectangle 60"/>
          <p:cNvSpPr/>
          <p:nvPr/>
        </p:nvSpPr>
        <p:spPr>
          <a:xfrm>
            <a:off x="1097280" y="4023360"/>
            <a:ext cx="2510028" cy="246888"/>
          </a:xfrm>
          <a:prstGeom prst="roundRect">
            <a:avLst>
              <a:gd name="adj" fmla="val 50000"/>
            </a:avLst>
          </a:prstGeom>
          <a:solidFill>
            <a:srgbClr val="FFFFFF"/>
          </a:solidFill>
          <a:ln w="1587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Oval 61"/>
          <p:cNvSpPr/>
          <p:nvPr/>
        </p:nvSpPr>
        <p:spPr>
          <a:xfrm>
            <a:off x="1188720" y="4101084"/>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335024" y="4023360"/>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育成体系・研修管理</a:t>
            </a:r>
          </a:p>
        </p:txBody>
      </p:sp>
      <p:sp>
        <p:nvSpPr>
          <p:cNvPr id="64" name="Rounded Rectangle 63"/>
          <p:cNvSpPr/>
          <p:nvPr/>
        </p:nvSpPr>
        <p:spPr>
          <a:xfrm>
            <a:off x="3698748" y="4023360"/>
            <a:ext cx="2510028" cy="246888"/>
          </a:xfrm>
          <a:prstGeom prst="roundRect">
            <a:avLst>
              <a:gd name="adj" fmla="val 50000"/>
            </a:avLst>
          </a:prstGeom>
          <a:solidFill>
            <a:srgbClr val="FFFFFF"/>
          </a:solidFill>
          <a:ln w="1587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Oval 64"/>
          <p:cNvSpPr/>
          <p:nvPr/>
        </p:nvSpPr>
        <p:spPr>
          <a:xfrm>
            <a:off x="3790187" y="4101084"/>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3936491" y="4023360"/>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要員計画・人件費管理</a:t>
            </a:r>
          </a:p>
        </p:txBody>
      </p:sp>
      <p:sp>
        <p:nvSpPr>
          <p:cNvPr id="67" name="Rounded Rectangle 66"/>
          <p:cNvSpPr/>
          <p:nvPr/>
        </p:nvSpPr>
        <p:spPr>
          <a:xfrm>
            <a:off x="1097280" y="4325112"/>
            <a:ext cx="2510028"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1188720" y="4402836"/>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1335024" y="4325112"/>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エンゲージメント・働き方</a:t>
            </a:r>
          </a:p>
        </p:txBody>
      </p:sp>
      <p:sp>
        <p:nvSpPr>
          <p:cNvPr id="70" name="Rounded Rectangle 69"/>
          <p:cNvSpPr/>
          <p:nvPr/>
        </p:nvSpPr>
        <p:spPr>
          <a:xfrm>
            <a:off x="3698748" y="4325112"/>
            <a:ext cx="2510028"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Oval 70"/>
          <p:cNvSpPr/>
          <p:nvPr/>
        </p:nvSpPr>
        <p:spPr>
          <a:xfrm>
            <a:off x="3790187" y="4402836"/>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3936491" y="4325112"/>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労使関係・従業員対応</a:t>
            </a:r>
          </a:p>
        </p:txBody>
      </p:sp>
      <p:sp>
        <p:nvSpPr>
          <p:cNvPr id="73" name="Rounded Rectangle 72"/>
          <p:cNvSpPr/>
          <p:nvPr/>
        </p:nvSpPr>
        <p:spPr>
          <a:xfrm>
            <a:off x="1097280" y="4626864"/>
            <a:ext cx="2510028" cy="246888"/>
          </a:xfrm>
          <a:prstGeom prst="roundRect">
            <a:avLst>
              <a:gd name="adj" fmla="val 50000"/>
            </a:avLst>
          </a:prstGeom>
          <a:solidFill>
            <a:srgbClr val="FFFFFF"/>
          </a:solidFill>
          <a:ln w="1587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Oval 73"/>
          <p:cNvSpPr/>
          <p:nvPr/>
        </p:nvSpPr>
        <p:spPr>
          <a:xfrm>
            <a:off x="1188720" y="4704588"/>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1335024" y="4626864"/>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法定・コンプライアンス教育</a:t>
            </a:r>
          </a:p>
        </p:txBody>
      </p:sp>
      <p:sp>
        <p:nvSpPr>
          <p:cNvPr id="76" name="Rounded Rectangle 75"/>
          <p:cNvSpPr/>
          <p:nvPr/>
        </p:nvSpPr>
        <p:spPr>
          <a:xfrm>
            <a:off x="3698748" y="4626864"/>
            <a:ext cx="2510028"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Oval 76"/>
          <p:cNvSpPr/>
          <p:nvPr/>
        </p:nvSpPr>
        <p:spPr>
          <a:xfrm>
            <a:off x="3790187" y="4704588"/>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3936491" y="4626864"/>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健康・安全管理★</a:t>
            </a:r>
          </a:p>
        </p:txBody>
      </p:sp>
      <p:sp>
        <p:nvSpPr>
          <p:cNvPr id="79" name="Rounded Rectangle 78"/>
          <p:cNvSpPr/>
          <p:nvPr/>
        </p:nvSpPr>
        <p:spPr>
          <a:xfrm>
            <a:off x="1097280" y="4928616"/>
            <a:ext cx="2510028" cy="246888"/>
          </a:xfrm>
          <a:prstGeom prst="roundRect">
            <a:avLst>
              <a:gd name="adj" fmla="val 50000"/>
            </a:avLst>
          </a:prstGeom>
          <a:solidFill>
            <a:srgbClr val="FFFFFF"/>
          </a:solidFill>
          <a:ln w="1587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Oval 79"/>
          <p:cNvSpPr/>
          <p:nvPr/>
        </p:nvSpPr>
        <p:spPr>
          <a:xfrm>
            <a:off x="1188720" y="5006340"/>
            <a:ext cx="91440" cy="9144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1335024" y="4928616"/>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オフボーディング</a:t>
            </a:r>
          </a:p>
        </p:txBody>
      </p:sp>
      <p:sp>
        <p:nvSpPr>
          <p:cNvPr id="82" name="Rounded Rectangle 81"/>
          <p:cNvSpPr/>
          <p:nvPr/>
        </p:nvSpPr>
        <p:spPr>
          <a:xfrm>
            <a:off x="3698748" y="4928616"/>
            <a:ext cx="2510028" cy="246888"/>
          </a:xfrm>
          <a:prstGeom prst="roundRect">
            <a:avLst>
              <a:gd name="adj" fmla="val 50000"/>
            </a:avLst>
          </a:prstGeom>
          <a:solidFill>
            <a:srgbClr val="FFFFFF"/>
          </a:solidFill>
          <a:ln w="1587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Oval 82"/>
          <p:cNvSpPr/>
          <p:nvPr/>
        </p:nvSpPr>
        <p:spPr>
          <a:xfrm>
            <a:off x="3790187" y="5006340"/>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3936491" y="4928616"/>
            <a:ext cx="2208276" cy="246888"/>
          </a:xfrm>
          <a:prstGeom prst="rect">
            <a:avLst/>
          </a:prstGeom>
          <a:noFill/>
        </p:spPr>
        <p:txBody>
          <a:bodyPr wrap="square" lIns="0" rIns="0" tIns="0" bIns="0" anchor="ctr">
            <a:spAutoFit/>
          </a:bodyPr>
          <a:lstStyle/>
          <a:p>
            <a:pPr algn="l"/>
            <a:r>
              <a:rPr sz="819" b="0">
                <a:solidFill>
                  <a:srgbClr val="000000"/>
                </a:solidFill>
                <a:latin typeface="Yu Gothic"/>
                <a:ea typeface="Yu Gothic"/>
                <a:cs typeface="Yu Gothic"/>
              </a:rPr>
              <a:t>人事情報セキュリティ・個人情報保護★</a:t>
            </a:r>
          </a:p>
        </p:txBody>
      </p:sp>
      <p:sp>
        <p:nvSpPr>
          <p:cNvPr id="85" name="Rounded Rectangle 84"/>
          <p:cNvSpPr/>
          <p:nvPr/>
        </p:nvSpPr>
        <p:spPr>
          <a:xfrm>
            <a:off x="1097280" y="5230368"/>
            <a:ext cx="2510028" cy="246888"/>
          </a:xfrm>
          <a:prstGeom prst="roundRect">
            <a:avLst>
              <a:gd name="adj" fmla="val 50000"/>
            </a:avLst>
          </a:prstGeom>
          <a:solidFill>
            <a:srgbClr val="FFFFFF"/>
          </a:solidFill>
          <a:ln w="1587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Oval 85"/>
          <p:cNvSpPr/>
          <p:nvPr/>
        </p:nvSpPr>
        <p:spPr>
          <a:xfrm>
            <a:off x="1188720" y="5308092"/>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1335024" y="5230368"/>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人事データ・分析</a:t>
            </a:r>
          </a:p>
        </p:txBody>
      </p:sp>
      <p:sp>
        <p:nvSpPr>
          <p:cNvPr id="88" name="Rounded Rectangle 87"/>
          <p:cNvSpPr/>
          <p:nvPr/>
        </p:nvSpPr>
        <p:spPr>
          <a:xfrm>
            <a:off x="3698748" y="5230368"/>
            <a:ext cx="2510028" cy="246888"/>
          </a:xfrm>
          <a:prstGeom prst="roundRect">
            <a:avLst>
              <a:gd name="adj" fmla="val 50000"/>
            </a:avLst>
          </a:prstGeom>
          <a:solidFill>
            <a:srgbClr val="FFFFFF"/>
          </a:solidFill>
          <a:ln w="1587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Oval 88"/>
          <p:cNvSpPr/>
          <p:nvPr/>
        </p:nvSpPr>
        <p:spPr>
          <a:xfrm>
            <a:off x="3790187" y="5308092"/>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3936491" y="5230368"/>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人事サービス提供</a:t>
            </a:r>
          </a:p>
        </p:txBody>
      </p:sp>
      <p:sp>
        <p:nvSpPr>
          <p:cNvPr id="91" name="Rectangle 90"/>
          <p:cNvSpPr/>
          <p:nvPr/>
        </p:nvSpPr>
        <p:spPr>
          <a:xfrm>
            <a:off x="6345936" y="3337560"/>
            <a:ext cx="5385816" cy="2286000"/>
          </a:xfrm>
          <a:prstGeom prst="rect">
            <a:avLst/>
          </a:prstGeom>
          <a:solidFill>
            <a:srgbClr val="EEF2F2"/>
          </a:solidFill>
          <a:ln w="12700">
            <a:solidFill>
              <a:srgbClr val="C3CFD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TextBox 91"/>
          <p:cNvSpPr txBox="1"/>
          <p:nvPr/>
        </p:nvSpPr>
        <p:spPr>
          <a:xfrm>
            <a:off x="6483096" y="342900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共通アプリの利用者（6）</a:t>
            </a:r>
          </a:p>
        </p:txBody>
      </p:sp>
      <p:sp>
        <p:nvSpPr>
          <p:cNvPr id="93" name="TextBox 92"/>
          <p:cNvSpPr txBox="1"/>
          <p:nvPr/>
        </p:nvSpPr>
        <p:spPr>
          <a:xfrm>
            <a:off x="6483096" y="372160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共通アプリの標準に合わせる</a:t>
            </a:r>
          </a:p>
        </p:txBody>
      </p:sp>
      <p:sp>
        <p:nvSpPr>
          <p:cNvPr id="94" name="Rounded Rectangle 93"/>
          <p:cNvSpPr/>
          <p:nvPr/>
        </p:nvSpPr>
        <p:spPr>
          <a:xfrm>
            <a:off x="6483096" y="4023360"/>
            <a:ext cx="2510027" cy="246888"/>
          </a:xfrm>
          <a:prstGeom prst="roundRect">
            <a:avLst>
              <a:gd name="adj" fmla="val 50000"/>
            </a:avLst>
          </a:prstGeom>
          <a:solidFill>
            <a:srgbClr val="FFFFFF"/>
          </a:solidFill>
          <a:ln w="1587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Oval 94"/>
          <p:cNvSpPr/>
          <p:nvPr/>
        </p:nvSpPr>
        <p:spPr>
          <a:xfrm>
            <a:off x="6574536" y="4101084"/>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6720840" y="4023360"/>
            <a:ext cx="2208275"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スキル・資格管理</a:t>
            </a:r>
          </a:p>
        </p:txBody>
      </p:sp>
      <p:sp>
        <p:nvSpPr>
          <p:cNvPr id="97" name="Rounded Rectangle 96"/>
          <p:cNvSpPr/>
          <p:nvPr/>
        </p:nvSpPr>
        <p:spPr>
          <a:xfrm>
            <a:off x="9084564" y="4023360"/>
            <a:ext cx="2510027" cy="246888"/>
          </a:xfrm>
          <a:prstGeom prst="roundRect">
            <a:avLst>
              <a:gd name="adj" fmla="val 50000"/>
            </a:avLst>
          </a:prstGeom>
          <a:solidFill>
            <a:srgbClr val="FFFFFF"/>
          </a:solidFill>
          <a:ln w="1587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Oval 97"/>
          <p:cNvSpPr/>
          <p:nvPr/>
        </p:nvSpPr>
        <p:spPr>
          <a:xfrm>
            <a:off x="9176004" y="4101084"/>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322308" y="4023360"/>
            <a:ext cx="2208275"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昇格・登用</a:t>
            </a:r>
          </a:p>
        </p:txBody>
      </p:sp>
      <p:sp>
        <p:nvSpPr>
          <p:cNvPr id="100" name="Rounded Rectangle 99"/>
          <p:cNvSpPr/>
          <p:nvPr/>
        </p:nvSpPr>
        <p:spPr>
          <a:xfrm>
            <a:off x="6483096" y="4325112"/>
            <a:ext cx="2510027" cy="246888"/>
          </a:xfrm>
          <a:prstGeom prst="roundRect">
            <a:avLst>
              <a:gd name="adj" fmla="val 50000"/>
            </a:avLst>
          </a:prstGeom>
          <a:solidFill>
            <a:srgbClr val="FFFFFF"/>
          </a:solidFill>
          <a:ln w="1587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Oval 100"/>
          <p:cNvSpPr/>
          <p:nvPr/>
        </p:nvSpPr>
        <p:spPr>
          <a:xfrm>
            <a:off x="6574536" y="4402836"/>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TextBox 101"/>
          <p:cNvSpPr txBox="1"/>
          <p:nvPr/>
        </p:nvSpPr>
        <p:spPr>
          <a:xfrm>
            <a:off x="6720840" y="4325112"/>
            <a:ext cx="2208275"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キャリア開発支援</a:t>
            </a:r>
          </a:p>
        </p:txBody>
      </p:sp>
      <p:sp>
        <p:nvSpPr>
          <p:cNvPr id="103" name="Rounded Rectangle 102"/>
          <p:cNvSpPr/>
          <p:nvPr/>
        </p:nvSpPr>
        <p:spPr>
          <a:xfrm>
            <a:off x="9084564" y="4325112"/>
            <a:ext cx="2510027" cy="246888"/>
          </a:xfrm>
          <a:prstGeom prst="roundRect">
            <a:avLst>
              <a:gd name="adj" fmla="val 50000"/>
            </a:avLst>
          </a:prstGeom>
          <a:solidFill>
            <a:srgbClr val="FFFFFF"/>
          </a:solidFill>
          <a:ln w="1587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Oval 103"/>
          <p:cNvSpPr/>
          <p:nvPr/>
        </p:nvSpPr>
        <p:spPr>
          <a:xfrm>
            <a:off x="9176004" y="4402836"/>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9322308" y="4325112"/>
            <a:ext cx="2208275"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後継者・リーダー育成</a:t>
            </a:r>
          </a:p>
        </p:txBody>
      </p:sp>
      <p:sp>
        <p:nvSpPr>
          <p:cNvPr id="106" name="Rounded Rectangle 105"/>
          <p:cNvSpPr/>
          <p:nvPr/>
        </p:nvSpPr>
        <p:spPr>
          <a:xfrm>
            <a:off x="6483096" y="4626864"/>
            <a:ext cx="2510027" cy="246888"/>
          </a:xfrm>
          <a:prstGeom prst="roundRect">
            <a:avLst>
              <a:gd name="adj" fmla="val 50000"/>
            </a:avLst>
          </a:prstGeom>
          <a:solidFill>
            <a:srgbClr val="FFFFFF"/>
          </a:solidFill>
          <a:ln w="1587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Oval 106"/>
          <p:cNvSpPr/>
          <p:nvPr/>
        </p:nvSpPr>
        <p:spPr>
          <a:xfrm>
            <a:off x="6574536" y="4704588"/>
            <a:ext cx="91440" cy="9144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6720840" y="4626864"/>
            <a:ext cx="2208275"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定年・再雇用★</a:t>
            </a:r>
          </a:p>
        </p:txBody>
      </p:sp>
      <p:sp>
        <p:nvSpPr>
          <p:cNvPr id="109" name="Rounded Rectangle 108"/>
          <p:cNvSpPr/>
          <p:nvPr/>
        </p:nvSpPr>
        <p:spPr>
          <a:xfrm>
            <a:off x="9084564" y="4626864"/>
            <a:ext cx="2510027"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Oval 109"/>
          <p:cNvSpPr/>
          <p:nvPr/>
        </p:nvSpPr>
        <p:spPr>
          <a:xfrm>
            <a:off x="9176004" y="4704588"/>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TextBox 110"/>
          <p:cNvSpPr txBox="1"/>
          <p:nvPr/>
        </p:nvSpPr>
        <p:spPr>
          <a:xfrm>
            <a:off x="9322308" y="4626864"/>
            <a:ext cx="2208275"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社会保険・福利厚生</a:t>
            </a:r>
          </a:p>
        </p:txBody>
      </p:sp>
      <p:cxnSp>
        <p:nvCxnSpPr>
          <p:cNvPr id="112" name="Connector 111"/>
          <p:cNvCxnSpPr/>
          <p:nvPr/>
        </p:nvCxnSpPr>
        <p:spPr>
          <a:xfrm>
            <a:off x="868680" y="5760720"/>
            <a:ext cx="10863072" cy="0"/>
          </a:xfrm>
          <a:prstGeom prst="line">
            <a:avLst/>
          </a:prstGeom>
          <a:ln w="19050">
            <a:solidFill>
              <a:srgbClr val="1F2E35"/>
            </a:solidFill>
            <a:tailEnd type="triangle"/>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868680" y="1325880"/>
            <a:ext cx="0" cy="4434840"/>
          </a:xfrm>
          <a:prstGeom prst="line">
            <a:avLst/>
          </a:prstGeom>
          <a:ln w="19050">
            <a:solidFill>
              <a:srgbClr val="1F2E35"/>
            </a:solidFill>
            <a:tailEnd type="triangle"/>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960120" y="5824728"/>
            <a:ext cx="10771632"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アプリ軸：共通アプリへの依存度　低 → 高</a:t>
            </a:r>
          </a:p>
        </p:txBody>
      </p:sp>
      <p:sp>
        <p:nvSpPr>
          <p:cNvPr id="115" name="TextBox 114"/>
          <p:cNvSpPr txBox="1"/>
          <p:nvPr/>
        </p:nvSpPr>
        <p:spPr>
          <a:xfrm rot="16200000">
            <a:off x="-1394460" y="3383280"/>
            <a:ext cx="4251960"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データ軸：データの波及度　低 → 高</a:t>
            </a:r>
          </a:p>
        </p:txBody>
      </p:sp>
      <p:sp>
        <p:nvSpPr>
          <p:cNvPr id="116" name="Oval 115"/>
          <p:cNvSpPr/>
          <p:nvPr/>
        </p:nvSpPr>
        <p:spPr>
          <a:xfrm>
            <a:off x="457200" y="6245352"/>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TextBox 116"/>
          <p:cNvSpPr txBox="1"/>
          <p:nvPr/>
        </p:nvSpPr>
        <p:spPr>
          <a:xfrm>
            <a:off x="594360" y="6181344"/>
            <a:ext cx="1828800" cy="219456"/>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Strategy / Foundation</a:t>
            </a:r>
          </a:p>
        </p:txBody>
      </p:sp>
      <p:sp>
        <p:nvSpPr>
          <p:cNvPr id="118" name="Oval 117"/>
          <p:cNvSpPr/>
          <p:nvPr/>
        </p:nvSpPr>
        <p:spPr>
          <a:xfrm>
            <a:off x="2560320" y="6245352"/>
            <a:ext cx="91440" cy="91440"/>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TextBox 118"/>
          <p:cNvSpPr txBox="1"/>
          <p:nvPr/>
        </p:nvSpPr>
        <p:spPr>
          <a:xfrm>
            <a:off x="2697479" y="6181344"/>
            <a:ext cx="1828800" cy="219456"/>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Talent Acquisition</a:t>
            </a:r>
          </a:p>
        </p:txBody>
      </p:sp>
      <p:sp>
        <p:nvSpPr>
          <p:cNvPr id="120" name="Oval 119"/>
          <p:cNvSpPr/>
          <p:nvPr/>
        </p:nvSpPr>
        <p:spPr>
          <a:xfrm>
            <a:off x="4663440" y="6245352"/>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TextBox 120"/>
          <p:cNvSpPr txBox="1"/>
          <p:nvPr/>
        </p:nvSpPr>
        <p:spPr>
          <a:xfrm>
            <a:off x="4800600" y="6181344"/>
            <a:ext cx="1828800" cy="219456"/>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Talent Development</a:t>
            </a:r>
          </a:p>
        </p:txBody>
      </p:sp>
      <p:sp>
        <p:nvSpPr>
          <p:cNvPr id="122" name="Oval 121"/>
          <p:cNvSpPr/>
          <p:nvPr/>
        </p:nvSpPr>
        <p:spPr>
          <a:xfrm>
            <a:off x="6766559" y="6245352"/>
            <a:ext cx="91440" cy="9144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TextBox 122"/>
          <p:cNvSpPr txBox="1"/>
          <p:nvPr/>
        </p:nvSpPr>
        <p:spPr>
          <a:xfrm>
            <a:off x="6903720" y="6181344"/>
            <a:ext cx="1828800" cy="219456"/>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Employment Lifecycle</a:t>
            </a:r>
          </a:p>
        </p:txBody>
      </p:sp>
      <p:sp>
        <p:nvSpPr>
          <p:cNvPr id="124" name="Oval 123"/>
          <p:cNvSpPr/>
          <p:nvPr/>
        </p:nvSpPr>
        <p:spPr>
          <a:xfrm>
            <a:off x="8869680" y="6245352"/>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TextBox 124"/>
          <p:cNvSpPr txBox="1"/>
          <p:nvPr/>
        </p:nvSpPr>
        <p:spPr>
          <a:xfrm>
            <a:off x="9006840" y="6181344"/>
            <a:ext cx="1828800" cy="219456"/>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Rewards &amp; Workplace</a:t>
            </a:r>
          </a:p>
        </p:txBody>
      </p:sp>
      <p:sp>
        <p:nvSpPr>
          <p:cNvPr id="126" name="TextBox 125"/>
          <p:cNvSpPr txBox="1"/>
          <p:nvPr/>
        </p:nvSpPr>
        <p:spPr>
          <a:xfrm>
            <a:off x="457200" y="6419088"/>
            <a:ext cx="11247120" cy="365760"/>
          </a:xfrm>
          <a:prstGeom prst="rect">
            <a:avLst/>
          </a:prstGeom>
          <a:noFill/>
        </p:spPr>
        <p:txBody>
          <a:bodyPr wrap="square" lIns="0" rIns="0" tIns="0" bIns="0" anchor="t">
            <a:spAutoFit/>
          </a:bodyPr>
          <a:lstStyle/>
          <a:p>
            <a:pPr algn="l"/>
            <a:r>
              <a:rPr sz="800" b="0">
                <a:solidFill>
                  <a:srgbClr val="5B6B70"/>
                </a:solidFill>
                <a:latin typeface="Yu Gothic"/>
                <a:ea typeface="Yu Gothic"/>
                <a:cs typeface="Yu Gothic"/>
              </a:rPr>
              <a:t>対象はケイパビリティL2（32件）。アプリ軸＝そのL2を主に支える（●）アプリが、それぞれ何件のL2を支えているかの合計（高いほど、多くの能力と同じアプリを共有）。データ軸＝そのL2が作成・更新（C）する情報を、利用（R）する他のL2の数の合計（高いほど、生んだデータが広く使われる）。境界はそれぞれの中央値（アプリ2、データ8.5）で、中央値より大きいものを「高」とし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ctr">
            <a:spAutoFit/>
          </a:bodyPr>
          <a:lstStyle/>
          <a:p>
            <a:pPr algn="l"/>
            <a:r>
              <a:rPr sz="3000" b="1">
                <a:solidFill>
                  <a:srgbClr val="1F2E35"/>
                </a:solidFill>
                <a:latin typeface="Yu Gothic"/>
                <a:ea typeface="Yu Gothic"/>
                <a:cs typeface="Yu Gothic"/>
              </a:rPr>
              <a:t>免責事項</a:t>
            </a:r>
          </a:p>
        </p:txBody>
      </p:sp>
      <p:sp>
        <p:nvSpPr>
          <p:cNvPr id="3" name="TextBox 2"/>
          <p:cNvSpPr txBox="1"/>
          <p:nvPr/>
        </p:nvSpPr>
        <p:spPr>
          <a:xfrm>
            <a:off x="457200" y="960120"/>
            <a:ext cx="11247120" cy="365760"/>
          </a:xfrm>
          <a:prstGeom prst="rect">
            <a:avLst/>
          </a:prstGeom>
          <a:noFill/>
        </p:spPr>
        <p:txBody>
          <a:bodyPr wrap="square" lIns="0" rIns="0" tIns="0" bIns="0" anchor="ctr">
            <a:spAutoFit/>
          </a:bodyPr>
          <a:lstStyle/>
          <a:p>
            <a:pPr algn="l"/>
            <a:r>
              <a:rPr sz="1400" b="0">
                <a:solidFill>
                  <a:srgbClr val="5B6B70"/>
                </a:solidFill>
                <a:latin typeface="Yu Gothic"/>
                <a:ea typeface="Yu Gothic"/>
                <a:cs typeface="Yu Gothic"/>
              </a:rPr>
              <a:t>本資料は、一般に公開され入手可能な情報をもとに、生成AIを用いて作成したものです。ご利用にあたっては、次の点にご留意ください。</a:t>
            </a:r>
          </a:p>
        </p:txBody>
      </p:sp>
      <p:sp>
        <p:nvSpPr>
          <p:cNvPr id="4" name="Oval 3"/>
          <p:cNvSpPr/>
          <p:nvPr/>
        </p:nvSpPr>
        <p:spPr>
          <a:xfrm>
            <a:off x="457200" y="1609344"/>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457200" y="1609344"/>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6" name="TextBox 5"/>
          <p:cNvSpPr txBox="1"/>
          <p:nvPr/>
        </p:nvSpPr>
        <p:spPr>
          <a:xfrm>
            <a:off x="868680" y="1591056"/>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情報源</a:t>
            </a:r>
          </a:p>
        </p:txBody>
      </p:sp>
      <p:sp>
        <p:nvSpPr>
          <p:cNvPr id="7" name="TextBox 6"/>
          <p:cNvSpPr txBox="1"/>
          <p:nvPr/>
        </p:nvSpPr>
        <p:spPr>
          <a:xfrm>
            <a:off x="3108960" y="1481328"/>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は、一般に公開されている情報（官公庁の公表資料、法律・会計事務所等の解説記事、標準フレームワークの公開情報など）のみに基づいて作成しています。特定の企業・組織の非公開情報、内部資料は含みません。</a:t>
            </a:r>
          </a:p>
        </p:txBody>
      </p:sp>
      <p:cxnSp>
        <p:nvCxnSpPr>
          <p:cNvPr id="8" name="Connector 7"/>
          <p:cNvCxnSpPr/>
          <p:nvPr/>
        </p:nvCxnSpPr>
        <p:spPr>
          <a:xfrm>
            <a:off x="457200" y="2176272"/>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57200" y="2286000"/>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57200" y="2286000"/>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11" name="TextBox 10"/>
          <p:cNvSpPr txBox="1"/>
          <p:nvPr/>
        </p:nvSpPr>
        <p:spPr>
          <a:xfrm>
            <a:off x="868680" y="2267712"/>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生成AIの利用</a:t>
            </a:r>
          </a:p>
        </p:txBody>
      </p:sp>
      <p:sp>
        <p:nvSpPr>
          <p:cNvPr id="12" name="TextBox 11"/>
          <p:cNvSpPr txBox="1"/>
          <p:nvPr/>
        </p:nvSpPr>
        <p:spPr>
          <a:xfrm>
            <a:off x="3108960" y="2157984"/>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構成・分析・図表の作成に生成AIを使用しています。生成AIの出力には、事実誤認、不正確な記述、情報の欠落が含まれる可能性があります。</a:t>
            </a:r>
          </a:p>
        </p:txBody>
      </p:sp>
      <p:cxnSp>
        <p:nvCxnSpPr>
          <p:cNvPr id="13" name="Connector 12"/>
          <p:cNvCxnSpPr/>
          <p:nvPr/>
        </p:nvCxnSpPr>
        <p:spPr>
          <a:xfrm>
            <a:off x="457200" y="2852928"/>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57200" y="2962656"/>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7200" y="296265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16" name="TextBox 15"/>
          <p:cNvSpPr txBox="1"/>
          <p:nvPr/>
        </p:nvSpPr>
        <p:spPr>
          <a:xfrm>
            <a:off x="868680" y="2944368"/>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正確性・完全性</a:t>
            </a:r>
          </a:p>
        </p:txBody>
      </p:sp>
      <p:sp>
        <p:nvSpPr>
          <p:cNvPr id="17" name="TextBox 16"/>
          <p:cNvSpPr txBox="1"/>
          <p:nvPr/>
        </p:nvSpPr>
        <p:spPr>
          <a:xfrm>
            <a:off x="3108960" y="2834640"/>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記載内容の正確性、完全性、最新性、特定目的への適合性について、いかなる保証もいたしません。法令・制度の状況は作成時点（2026年9月）のものであり、その後変更される可能性があります（法定雇用率、育児・介護休業法など）。</a:t>
            </a:r>
          </a:p>
        </p:txBody>
      </p:sp>
      <p:cxnSp>
        <p:nvCxnSpPr>
          <p:cNvPr id="18" name="Connector 17"/>
          <p:cNvCxnSpPr/>
          <p:nvPr/>
        </p:nvCxnSpPr>
        <p:spPr>
          <a:xfrm>
            <a:off x="457200" y="3529584"/>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57200" y="3639311"/>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639311"/>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4</a:t>
            </a:r>
          </a:p>
        </p:txBody>
      </p:sp>
      <p:sp>
        <p:nvSpPr>
          <p:cNvPr id="21" name="TextBox 20"/>
          <p:cNvSpPr txBox="1"/>
          <p:nvPr/>
        </p:nvSpPr>
        <p:spPr>
          <a:xfrm>
            <a:off x="868680" y="3621023"/>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仮定に基づくモデル</a:t>
            </a:r>
          </a:p>
        </p:txBody>
      </p:sp>
      <p:sp>
        <p:nvSpPr>
          <p:cNvPr id="22" name="TextBox 21"/>
          <p:cNvSpPr txBox="1"/>
          <p:nvPr/>
        </p:nvSpPr>
        <p:spPr>
          <a:xfrm>
            <a:off x="3108960" y="3511295"/>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バリューストリーム、ケイパビリティ、アプリケーション、データの各マップと考察は、「日本の事業会社が従業員を採用し、育成・処遇・配置して退職まで管理する」という仮定に基づく参照モデルです。特定の企業の実態を表すものではありません。</a:t>
            </a:r>
          </a:p>
        </p:txBody>
      </p:sp>
      <p:cxnSp>
        <p:nvCxnSpPr>
          <p:cNvPr id="23" name="Connector 22"/>
          <p:cNvCxnSpPr/>
          <p:nvPr/>
        </p:nvCxnSpPr>
        <p:spPr>
          <a:xfrm>
            <a:off x="457200" y="4206240"/>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57200" y="4315968"/>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7200" y="4315968"/>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5</a:t>
            </a:r>
          </a:p>
        </p:txBody>
      </p:sp>
      <p:sp>
        <p:nvSpPr>
          <p:cNvPr id="26" name="TextBox 25"/>
          <p:cNvSpPr txBox="1"/>
          <p:nvPr/>
        </p:nvSpPr>
        <p:spPr>
          <a:xfrm>
            <a:off x="868680" y="4297680"/>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専門的助言ではない</a:t>
            </a:r>
          </a:p>
        </p:txBody>
      </p:sp>
      <p:sp>
        <p:nvSpPr>
          <p:cNvPr id="27" name="TextBox 26"/>
          <p:cNvSpPr txBox="1"/>
          <p:nvPr/>
        </p:nvSpPr>
        <p:spPr>
          <a:xfrm>
            <a:off x="3108960" y="4187952"/>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本資料は、法務、労務、税務、その他の専門的助言を提供するものではありません。意思決定にあたっては、一次情報の確認と、必要に応じた専門家への相談を行ってください。</a:t>
            </a:r>
          </a:p>
        </p:txBody>
      </p:sp>
      <p:cxnSp>
        <p:nvCxnSpPr>
          <p:cNvPr id="28" name="Connector 27"/>
          <p:cNvCxnSpPr/>
          <p:nvPr/>
        </p:nvCxnSpPr>
        <p:spPr>
          <a:xfrm>
            <a:off x="457200" y="4882896"/>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57200" y="4992624"/>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57200" y="4992624"/>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6</a:t>
            </a:r>
          </a:p>
        </p:txBody>
      </p:sp>
      <p:sp>
        <p:nvSpPr>
          <p:cNvPr id="31" name="TextBox 30"/>
          <p:cNvSpPr txBox="1"/>
          <p:nvPr/>
        </p:nvSpPr>
        <p:spPr>
          <a:xfrm>
            <a:off x="868680" y="4974336"/>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責任の限定</a:t>
            </a:r>
          </a:p>
        </p:txBody>
      </p:sp>
      <p:sp>
        <p:nvSpPr>
          <p:cNvPr id="32" name="TextBox 31"/>
          <p:cNvSpPr txBox="1"/>
          <p:nvPr/>
        </p:nvSpPr>
        <p:spPr>
          <a:xfrm>
            <a:off x="3108960" y="4864608"/>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本資料の利用、または利用できなかったことにより生じたいかなる損害についても、作成者は責任を負いません。</a:t>
            </a:r>
          </a:p>
        </p:txBody>
      </p:sp>
      <p:cxnSp>
        <p:nvCxnSpPr>
          <p:cNvPr id="33" name="Connector 32"/>
          <p:cNvCxnSpPr/>
          <p:nvPr/>
        </p:nvCxnSpPr>
        <p:spPr>
          <a:xfrm>
            <a:off x="457200" y="5559552"/>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457200" y="5669279"/>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57200" y="56692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7</a:t>
            </a:r>
          </a:p>
        </p:txBody>
      </p:sp>
      <p:sp>
        <p:nvSpPr>
          <p:cNvPr id="36" name="TextBox 35"/>
          <p:cNvSpPr txBox="1"/>
          <p:nvPr/>
        </p:nvSpPr>
        <p:spPr>
          <a:xfrm>
            <a:off x="868680" y="5650992"/>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名称の扱い</a:t>
            </a:r>
          </a:p>
        </p:txBody>
      </p:sp>
      <p:sp>
        <p:nvSpPr>
          <p:cNvPr id="37" name="TextBox 36"/>
          <p:cNvSpPr txBox="1"/>
          <p:nvPr/>
        </p:nvSpPr>
        <p:spPr>
          <a:xfrm>
            <a:off x="3108960" y="5541264"/>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本資料に記載したシステムの種類の名称や略称（HRIS、ATS、LMS、TMSなど）は一般名称として使用しており、特定の製品やベンダーを推奨・評価するものではありません。</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Target-to-Patient バリューチェーン</dc:title>
  <dc:subject>PptxGenJS Presentation</dc:subject>
  <dc:creator>PptxGenJS</dc:creator>
  <cp:lastModifiedBy>PptxGenJS</cp:lastModifiedBy>
  <cp:revision>1</cp:revision>
  <dcterms:created xsi:type="dcterms:W3CDTF">2026-09-19T08:44:48Z</dcterms:created>
  <dcterms:modified xsi:type="dcterms:W3CDTF">2026-09-19T08:44:48Z</dcterms:modified>
</cp:coreProperties>
</file>