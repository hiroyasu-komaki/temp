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 04_deliberation-sequence.mmd（Step1〜Step4）。今回の開発範囲①のうち、主眼の申請と Step1 を詳しく、Step2 以降は最小限に描いた。</a:t>
            </a:r>
          </a:p>
          <a:p>
            <a:r>
              <a:t>・申請：Power Apps の申請画面（添付資料からの自動生成と起案者の確認）。CMS が案件を登録・採番し、受付を通知する。</a:t>
            </a:r>
          </a:p>
          <a:p>
            <a:r>
              <a:t>・Step1：事務局が担当者を割り当て、CMS の外で Copilot を使って草案を作り、CMS に登録・回付する。起案者は疑義・意見を、審査担当者は論点の追加依頼を出せる。事務局が修正し、修正版を再度登録・回付する。Step2 へ進む条件は、起案者の確認完了と確認表の保留ゼロの両方（暫定）で、CMS が判定する。</a:t>
            </a:r>
          </a:p>
          <a:p>
            <a:r>
              <a:t>・Step2〜4：委員会の審議・回答と会議（例外）はサブプロセスとして省略。CMS 上のステータス（審議中 → 回答済み → 協議中 → 承認済み／非承認）で進み具合を追える。承認時は PPM へ引き渡し、以降の伴走は範囲③。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686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CMS 開発範囲①　審議プロセス（BPMN）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E646A"/>
                </a:solidFill>
                <a:latin typeface="Meiryo UI"/>
                <a:ea typeface="Meiryo UI"/>
                <a:cs typeface="Meiryo UI"/>
              </a:rPr>
              <a:t>04_deliberation-sequence から今回の開発範囲（案件管理・ワークフロー）を抽出。主眼は申請と Step1。Step2 以降は、CMS でステータスを追えることだけを示す。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1288" y="822960"/>
            <a:ext cx="1216152" cy="256032"/>
          </a:xfrm>
          <a:prstGeom prst="rect">
            <a:avLst/>
          </a:prstGeom>
          <a:solidFill>
            <a:srgbClr val="F0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54B51"/>
                </a:solidFill>
                <a:latin typeface="Meiryo UI"/>
                <a:ea typeface="Meiryo UI"/>
                <a:cs typeface="Meiryo UI"/>
              </a:rPr>
              <a:t>申請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822960"/>
            <a:ext cx="5678424" cy="256032"/>
          </a:xfrm>
          <a:prstGeom prst="rect">
            <a:avLst/>
          </a:prstGeom>
          <a:solidFill>
            <a:srgbClr val="E2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Step1　事前の論点整理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8055864" y="822960"/>
            <a:ext cx="850391" cy="256032"/>
          </a:xfrm>
          <a:prstGeom prst="rect">
            <a:avLst/>
          </a:prstGeom>
          <a:solidFill>
            <a:srgbClr val="E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4A3A86"/>
                </a:solidFill>
                <a:latin typeface="Meiryo UI"/>
                <a:ea typeface="Meiryo UI"/>
                <a:cs typeface="Meiryo UI"/>
              </a:rPr>
              <a:t>Step2　審議</a:t>
            </a:r>
          </a:p>
        </p:txBody>
      </p:sp>
      <p:sp>
        <p:nvSpPr>
          <p:cNvPr id="7" name="Rectangle 6"/>
          <p:cNvSpPr/>
          <p:nvPr/>
        </p:nvSpPr>
        <p:spPr>
          <a:xfrm>
            <a:off x="8906256" y="822960"/>
            <a:ext cx="804672" cy="256032"/>
          </a:xfrm>
          <a:prstGeom prst="rect">
            <a:avLst/>
          </a:prstGeom>
          <a:solidFill>
            <a:srgbClr val="FB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9B1C12"/>
                </a:solidFill>
                <a:latin typeface="Meiryo UI"/>
                <a:ea typeface="Meiryo UI"/>
                <a:cs typeface="Meiryo UI"/>
              </a:rPr>
              <a:t>Step3　例外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9710928" y="822960"/>
            <a:ext cx="2176271" cy="256032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F5B3B"/>
                </a:solidFill>
                <a:latin typeface="Meiryo UI"/>
                <a:ea typeface="Meiryo UI"/>
                <a:cs typeface="Meiryo UI"/>
              </a:rPr>
              <a:t>Step4　引き渡し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11567160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A90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5303520"/>
            <a:ext cx="10725912" cy="1042415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15568"/>
            <a:ext cx="841248" cy="896112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起案者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841248" cy="896112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事務局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" y="2011680"/>
            <a:ext cx="11567160" cy="0"/>
          </a:xfrm>
          <a:prstGeom prst="line">
            <a:avLst/>
          </a:prstGeom>
          <a:ln w="6350">
            <a:solidFill>
              <a:srgbClr val="C9C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0040" y="2907791"/>
            <a:ext cx="841248" cy="896112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審査担当者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" y="2907791"/>
            <a:ext cx="11567160" cy="0"/>
          </a:xfrm>
          <a:prstGeom prst="line">
            <a:avLst/>
          </a:prstGeom>
          <a:ln w="6350">
            <a:solidFill>
              <a:srgbClr val="C9C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3803904"/>
            <a:ext cx="841248" cy="786384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投資委員会</a:t>
            </a:r>
          </a:p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メンバー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" y="3803904"/>
            <a:ext cx="11567160" cy="0"/>
          </a:xfrm>
          <a:prstGeom prst="line">
            <a:avLst/>
          </a:prstGeom>
          <a:ln w="6350">
            <a:solidFill>
              <a:srgbClr val="C9C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" y="4590288"/>
            <a:ext cx="841248" cy="713232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PPM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" y="4590288"/>
            <a:ext cx="11567160" cy="0"/>
          </a:xfrm>
          <a:prstGeom prst="line">
            <a:avLst/>
          </a:prstGeom>
          <a:ln w="6350">
            <a:solidFill>
              <a:srgbClr val="C9C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5303520"/>
            <a:ext cx="841248" cy="1042415"/>
          </a:xfrm>
          <a:prstGeom prst="rect">
            <a:avLst/>
          </a:prstGeom>
          <a:solidFill>
            <a:srgbClr val="EEF2F2"/>
          </a:solidFill>
          <a:ln w="6350">
            <a:solidFill>
              <a:srgbClr val="C9C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CMS</a:t>
            </a:r>
          </a:p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（自動処理）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" y="5303520"/>
            <a:ext cx="11567160" cy="0"/>
          </a:xfrm>
          <a:prstGeom prst="line">
            <a:avLst/>
          </a:prstGeom>
          <a:ln w="6350">
            <a:solidFill>
              <a:srgbClr val="C9C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77440" y="1115568"/>
            <a:ext cx="0" cy="5230368"/>
          </a:xfrm>
          <a:prstGeom prst="line">
            <a:avLst/>
          </a:prstGeom>
          <a:ln w="6350">
            <a:solidFill>
              <a:srgbClr val="DAD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55864" y="1115568"/>
            <a:ext cx="0" cy="5230368"/>
          </a:xfrm>
          <a:prstGeom prst="line">
            <a:avLst/>
          </a:prstGeom>
          <a:ln w="6350">
            <a:solidFill>
              <a:srgbClr val="DAD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06256" y="1115568"/>
            <a:ext cx="0" cy="5230368"/>
          </a:xfrm>
          <a:prstGeom prst="line">
            <a:avLst/>
          </a:prstGeom>
          <a:ln w="6350">
            <a:solidFill>
              <a:srgbClr val="DAD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10928" y="1115568"/>
            <a:ext cx="0" cy="5230368"/>
          </a:xfrm>
          <a:prstGeom prst="line">
            <a:avLst/>
          </a:prstGeom>
          <a:ln w="6350">
            <a:solidFill>
              <a:srgbClr val="DADD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207007" y="1435607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36192" y="12618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申請する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(申請画面)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36192" y="53766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D5E8EB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登録・採番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受付通知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担当者の割当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38144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A90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論点整理書の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草案作成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(Copilot)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論点整理書の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登録・回付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(修正版も)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12618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論点整理書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の確認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054096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確認表の選択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リスクの記載</a:t>
            </a:r>
          </a:p>
        </p:txBody>
      </p:sp>
      <p:sp>
        <p:nvSpPr>
          <p:cNvPr id="34" name="Diamond 33"/>
          <p:cNvSpPr/>
          <p:nvPr/>
        </p:nvSpPr>
        <p:spPr>
          <a:xfrm>
            <a:off x="5513832" y="1371600"/>
            <a:ext cx="384048" cy="384048"/>
          </a:xfrm>
          <a:prstGeom prst="diamond">
            <a:avLst/>
          </a:prstGeom>
          <a:solidFill>
            <a:srgbClr val="FFF7E8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1143000"/>
            <a:ext cx="1097280" cy="219456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疑義・意見？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0096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意見・依頼を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反映して修正</a:t>
            </a:r>
          </a:p>
        </p:txBody>
      </p:sp>
      <p:sp>
        <p:nvSpPr>
          <p:cNvPr id="37" name="Diamond 36"/>
          <p:cNvSpPr/>
          <p:nvPr/>
        </p:nvSpPr>
        <p:spPr>
          <a:xfrm>
            <a:off x="5513832" y="3163824"/>
            <a:ext cx="384048" cy="384048"/>
          </a:xfrm>
          <a:prstGeom prst="diamond">
            <a:avLst/>
          </a:prstGeom>
          <a:solidFill>
            <a:srgbClr val="FFF7E8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557015"/>
            <a:ext cx="109728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論点の追加？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12618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確認完了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の登録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3054096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確認表の確定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(保留なし)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42048" y="53766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D5E8EB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移行判定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確認完了＋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保留ゼロ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9534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B1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審議・回答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(回答書確定)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44484" y="436168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9B1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9B1C12"/>
                </a:solidFill>
                <a:latin typeface="Meiryo UI"/>
                <a:ea typeface="Meiryo UI"/>
                <a:cs typeface="Meiryo UI"/>
              </a:rPr>
              <a:t>+</a:t>
            </a:r>
          </a:p>
        </p:txBody>
      </p:sp>
      <p:sp>
        <p:nvSpPr>
          <p:cNvPr id="44" name="Diamond 43"/>
          <p:cNvSpPr/>
          <p:nvPr/>
        </p:nvSpPr>
        <p:spPr>
          <a:xfrm>
            <a:off x="9116567" y="5486400"/>
            <a:ext cx="384048" cy="384048"/>
          </a:xfrm>
          <a:prstGeom prst="diamond">
            <a:avLst/>
          </a:prstGeom>
          <a:solidFill>
            <a:srgbClr val="FFF7E8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5257800"/>
            <a:ext cx="1097280" cy="219456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1664" y="5879592"/>
            <a:ext cx="1133856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議論要請？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42832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B1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会議による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直接協議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49156" y="2624328"/>
            <a:ext cx="118872" cy="118872"/>
          </a:xfrm>
          <a:prstGeom prst="rect">
            <a:avLst/>
          </a:prstGeom>
          <a:solidFill>
            <a:srgbClr val="FFFFFF"/>
          </a:solidFill>
          <a:ln w="9525">
            <a:solidFill>
              <a:srgbClr val="9B1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9B1C12"/>
                </a:solidFill>
                <a:latin typeface="Meiryo UI"/>
                <a:ea typeface="Meiryo UI"/>
                <a:cs typeface="Meiryo UI"/>
              </a:rPr>
              <a:t>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47504" y="2157984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審議結果・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承認条件の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確定登録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52176" y="5376672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D5E8EB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PPMへ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引き渡し通知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52176" y="4645151"/>
            <a:ext cx="73152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承認案件・</a:t>
            </a:r>
          </a:p>
          <a:p>
            <a:pPr algn="ctr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条件の受領</a:t>
            </a:r>
          </a:p>
        </p:txBody>
      </p:sp>
      <p:sp>
        <p:nvSpPr>
          <p:cNvPr id="52" name="Oval 51"/>
          <p:cNvSpPr/>
          <p:nvPr/>
        </p:nvSpPr>
        <p:spPr>
          <a:xfrm>
            <a:off x="11411711" y="4818888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89919" y="2331720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16152" y="608990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5E646A"/>
                </a:solidFill>
                <a:latin typeface="Meiryo UI"/>
                <a:ea typeface="Meiryo UI"/>
                <a:cs typeface="Meiryo UI"/>
              </a:rPr>
              <a:t>状態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23160" y="6071616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受付済み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0832" y="6071616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論点整理中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3760" y="6071616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審議待ち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74152" y="6071616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審議中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24544" y="6071616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回答済み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47504" y="6071616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協議中(例外)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52759" y="6071616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4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18288" bIns="18288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0E4A54"/>
                </a:solidFill>
                <a:latin typeface="Meiryo UI"/>
                <a:ea typeface="Meiryo UI"/>
                <a:cs typeface="Meiryo UI"/>
              </a:rPr>
              <a:t>承認済み／非承認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191256" y="6172200"/>
            <a:ext cx="1179576" cy="0"/>
          </a:xfrm>
          <a:prstGeom prst="line">
            <a:avLst/>
          </a:prstGeom>
          <a:ln w="9525">
            <a:solidFill>
              <a:srgbClr val="9FB7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138928" y="6172200"/>
            <a:ext cx="2084832" cy="0"/>
          </a:xfrm>
          <a:prstGeom prst="line">
            <a:avLst/>
          </a:prstGeom>
          <a:ln w="9525">
            <a:solidFill>
              <a:srgbClr val="9FB7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Left Bracket 63"/>
          <p:cNvSpPr/>
          <p:nvPr/>
        </p:nvSpPr>
        <p:spPr>
          <a:xfrm>
            <a:off x="8092440" y="1261872"/>
            <a:ext cx="73152" cy="603504"/>
          </a:xfrm>
          <a:prstGeom prst="leftBracket">
            <a:avLst/>
          </a:prstGeom>
          <a:noFill/>
          <a:ln w="12700">
            <a:solidFill>
              <a:srgbClr val="6B71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8" y="1280160"/>
            <a:ext cx="3282695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54B51"/>
                </a:solidFill>
                <a:latin typeface="Meiryo UI"/>
                <a:ea typeface="Meiryo UI"/>
                <a:cs typeface="Meiryo UI"/>
              </a:rPr>
              <a:t>Step2 以降、起案者と通知先は CMS で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454B51"/>
                </a:solidFill>
                <a:latin typeface="Meiryo UI"/>
                <a:ea typeface="Meiryo UI"/>
                <a:cs typeface="Meiryo UI"/>
              </a:rPr>
              <a:t>ステータスをいつでも確認できる。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454B51"/>
                </a:solidFill>
                <a:latin typeface="Meiryo UI"/>
                <a:ea typeface="Meiryo UI"/>
                <a:cs typeface="Meiryo UI"/>
              </a:rPr>
              <a:t>状態が変わるたびに通知が届く。</a:t>
            </a:r>
          </a:p>
        </p:txBody>
      </p:sp>
      <p:cxnSp>
        <p:nvCxnSpPr>
          <p:cNvPr id="66" name="Connector 65"/>
          <p:cNvCxnSpPr>
            <a:endCxn id="27" idx="1"/>
          </p:cNvCxnSpPr>
          <p:nvPr/>
        </p:nvCxnSpPr>
        <p:spPr>
          <a:xfrm>
            <a:off x="1463039" y="1563623"/>
            <a:ext cx="73153" cy="1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27" idx="2"/>
            <a:endCxn id="28" idx="0"/>
          </p:cNvCxnSpPr>
          <p:nvPr/>
        </p:nvCxnSpPr>
        <p:spPr>
          <a:xfrm>
            <a:off x="1901952" y="1865376"/>
            <a:ext cx="0" cy="3511296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28" idx="3"/>
            <a:endCxn id="29" idx="1"/>
          </p:cNvCxnSpPr>
          <p:nvPr/>
        </p:nvCxnSpPr>
        <p:spPr>
          <a:xfrm flipV="1">
            <a:off x="2267712" y="2459736"/>
            <a:ext cx="219456" cy="3218688"/>
          </a:xfrm>
          <a:prstGeom prst="bentConnector3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29" idx="3"/>
            <a:endCxn id="30" idx="1"/>
          </p:cNvCxnSpPr>
          <p:nvPr/>
        </p:nvCxnSpPr>
        <p:spPr>
          <a:xfrm>
            <a:off x="3218688" y="2459736"/>
            <a:ext cx="219456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30" idx="3"/>
            <a:endCxn id="31" idx="1"/>
          </p:cNvCxnSpPr>
          <p:nvPr/>
        </p:nvCxnSpPr>
        <p:spPr>
          <a:xfrm>
            <a:off x="4169664" y="2459736"/>
            <a:ext cx="219456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31" idx="0"/>
            <a:endCxn id="32" idx="2"/>
          </p:cNvCxnSpPr>
          <p:nvPr/>
        </p:nvCxnSpPr>
        <p:spPr>
          <a:xfrm flipV="1">
            <a:off x="4754880" y="1865376"/>
            <a:ext cx="0" cy="292608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31" idx="2"/>
            <a:endCxn id="33" idx="0"/>
          </p:cNvCxnSpPr>
          <p:nvPr/>
        </p:nvCxnSpPr>
        <p:spPr>
          <a:xfrm>
            <a:off x="4754880" y="2761488"/>
            <a:ext cx="0" cy="292608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32" idx="3"/>
            <a:endCxn id="34" idx="1"/>
          </p:cNvCxnSpPr>
          <p:nvPr/>
        </p:nvCxnSpPr>
        <p:spPr>
          <a:xfrm>
            <a:off x="5120640" y="1563624"/>
            <a:ext cx="393192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34" idx="2"/>
            <a:endCxn id="36" idx="0"/>
          </p:cNvCxnSpPr>
          <p:nvPr/>
        </p:nvCxnSpPr>
        <p:spPr>
          <a:xfrm>
            <a:off x="5705856" y="1755648"/>
            <a:ext cx="0" cy="402336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760720" y="1737360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あり</a:t>
            </a:r>
          </a:p>
        </p:txBody>
      </p:sp>
      <p:cxnSp>
        <p:nvCxnSpPr>
          <p:cNvPr id="76" name="Connector 75"/>
          <p:cNvCxnSpPr>
            <a:stCxn id="34" idx="3"/>
            <a:endCxn id="39" idx="1"/>
          </p:cNvCxnSpPr>
          <p:nvPr/>
        </p:nvCxnSpPr>
        <p:spPr>
          <a:xfrm>
            <a:off x="5897880" y="1563624"/>
            <a:ext cx="393192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925312" y="1362456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なし</a:t>
            </a:r>
          </a:p>
        </p:txBody>
      </p:sp>
      <p:cxnSp>
        <p:nvCxnSpPr>
          <p:cNvPr id="78" name="Connector 77"/>
          <p:cNvCxnSpPr>
            <a:stCxn id="33" idx="3"/>
            <a:endCxn id="37" idx="1"/>
          </p:cNvCxnSpPr>
          <p:nvPr/>
        </p:nvCxnSpPr>
        <p:spPr>
          <a:xfrm>
            <a:off x="5120640" y="3355848"/>
            <a:ext cx="393192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37" idx="0"/>
            <a:endCxn id="36" idx="2"/>
          </p:cNvCxnSpPr>
          <p:nvPr/>
        </p:nvCxnSpPr>
        <p:spPr>
          <a:xfrm flipV="1">
            <a:off x="5705856" y="2761488"/>
            <a:ext cx="0" cy="402336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760720" y="2926079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必要</a:t>
            </a:r>
          </a:p>
        </p:txBody>
      </p:sp>
      <p:cxnSp>
        <p:nvCxnSpPr>
          <p:cNvPr id="81" name="Connector 80"/>
          <p:cNvCxnSpPr>
            <a:stCxn id="37" idx="3"/>
            <a:endCxn id="40" idx="1"/>
          </p:cNvCxnSpPr>
          <p:nvPr/>
        </p:nvCxnSpPr>
        <p:spPr>
          <a:xfrm>
            <a:off x="5897880" y="3355848"/>
            <a:ext cx="393192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925312" y="3154679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不要</a:t>
            </a:r>
          </a:p>
        </p:txBody>
      </p:sp>
      <p:cxnSp>
        <p:nvCxnSpPr>
          <p:cNvPr id="83" name="Connector 82"/>
          <p:cNvCxnSpPr>
            <a:stCxn id="36" idx="1"/>
            <a:endCxn id="31" idx="3"/>
          </p:cNvCxnSpPr>
          <p:nvPr/>
        </p:nvCxnSpPr>
        <p:spPr>
          <a:xfrm flipH="1">
            <a:off x="5120640" y="2459736"/>
            <a:ext cx="219456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>
            <a:stCxn id="39" idx="3"/>
            <a:endCxn id="41" idx="1"/>
          </p:cNvCxnSpPr>
          <p:nvPr/>
        </p:nvCxnSpPr>
        <p:spPr>
          <a:xfrm>
            <a:off x="7022592" y="1563624"/>
            <a:ext cx="219456" cy="4114800"/>
          </a:xfrm>
          <a:prstGeom prst="bentConnector3">
            <a:avLst>
              <a:gd name="adj1" fmla="val 49999"/>
            </a:avLst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>
            <a:stCxn id="40" idx="3"/>
            <a:endCxn id="41" idx="1"/>
          </p:cNvCxnSpPr>
          <p:nvPr/>
        </p:nvCxnSpPr>
        <p:spPr>
          <a:xfrm>
            <a:off x="7022592" y="3355848"/>
            <a:ext cx="219456" cy="2322576"/>
          </a:xfrm>
          <a:prstGeom prst="bentConnector3">
            <a:avLst>
              <a:gd name="adj1" fmla="val 49999"/>
            </a:avLst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>
            <a:stCxn id="41" idx="3"/>
            <a:endCxn id="42" idx="1"/>
          </p:cNvCxnSpPr>
          <p:nvPr/>
        </p:nvCxnSpPr>
        <p:spPr>
          <a:xfrm flipV="1">
            <a:off x="7973568" y="4197096"/>
            <a:ext cx="164592" cy="1481328"/>
          </a:xfrm>
          <a:prstGeom prst="bentConnector3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>
            <a:stCxn id="42" idx="3"/>
            <a:endCxn id="44" idx="1"/>
          </p:cNvCxnSpPr>
          <p:nvPr/>
        </p:nvCxnSpPr>
        <p:spPr>
          <a:xfrm>
            <a:off x="8869680" y="4197096"/>
            <a:ext cx="246887" cy="1481328"/>
          </a:xfrm>
          <a:prstGeom prst="bentConnector3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>
            <a:stCxn id="44" idx="0"/>
            <a:endCxn id="47" idx="2"/>
          </p:cNvCxnSpPr>
          <p:nvPr/>
        </p:nvCxnSpPr>
        <p:spPr>
          <a:xfrm flipV="1">
            <a:off x="9308591" y="2761488"/>
            <a:ext cx="1" cy="2724912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363456" y="4608575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あり</a:t>
            </a:r>
          </a:p>
        </p:txBody>
      </p:sp>
      <p:cxnSp>
        <p:nvCxnSpPr>
          <p:cNvPr id="90" name="Connector 89"/>
          <p:cNvCxnSpPr>
            <a:stCxn id="44" idx="3"/>
            <a:endCxn id="49" idx="2"/>
          </p:cNvCxnSpPr>
          <p:nvPr/>
        </p:nvCxnSpPr>
        <p:spPr>
          <a:xfrm flipV="1">
            <a:off x="9500615" y="2761488"/>
            <a:ext cx="612649" cy="2916936"/>
          </a:xfrm>
          <a:prstGeom prst="bentConnector2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528048" y="5477256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なし</a:t>
            </a:r>
          </a:p>
        </p:txBody>
      </p:sp>
      <p:cxnSp>
        <p:nvCxnSpPr>
          <p:cNvPr id="92" name="Connector 91"/>
          <p:cNvCxnSpPr>
            <a:stCxn id="47" idx="3"/>
            <a:endCxn id="49" idx="1"/>
          </p:cNvCxnSpPr>
          <p:nvPr/>
        </p:nvCxnSpPr>
        <p:spPr>
          <a:xfrm>
            <a:off x="9674352" y="2459736"/>
            <a:ext cx="73152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>
            <a:stCxn id="49" idx="3"/>
            <a:endCxn id="50" idx="1"/>
          </p:cNvCxnSpPr>
          <p:nvPr/>
        </p:nvCxnSpPr>
        <p:spPr>
          <a:xfrm>
            <a:off x="10479024" y="2459736"/>
            <a:ext cx="73152" cy="3218688"/>
          </a:xfrm>
          <a:prstGeom prst="bentConnector3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515600" y="3264408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承認</a:t>
            </a:r>
          </a:p>
        </p:txBody>
      </p:sp>
      <p:cxnSp>
        <p:nvCxnSpPr>
          <p:cNvPr id="95" name="Connector 94"/>
          <p:cNvCxnSpPr>
            <a:stCxn id="49" idx="3"/>
          </p:cNvCxnSpPr>
          <p:nvPr/>
        </p:nvCxnSpPr>
        <p:spPr>
          <a:xfrm>
            <a:off x="10479024" y="2459736"/>
            <a:ext cx="310895" cy="0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506456" y="2258568"/>
            <a:ext cx="457200" cy="1554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8A5A0F"/>
                </a:solidFill>
                <a:latin typeface="Meiryo UI"/>
                <a:ea typeface="Meiryo UI"/>
                <a:cs typeface="Meiryo UI"/>
              </a:rPr>
              <a:t>非承認</a:t>
            </a:r>
          </a:p>
        </p:txBody>
      </p:sp>
      <p:cxnSp>
        <p:nvCxnSpPr>
          <p:cNvPr id="97" name="Connector 96"/>
          <p:cNvCxnSpPr>
            <a:stCxn id="50" idx="0"/>
            <a:endCxn id="51" idx="2"/>
          </p:cNvCxnSpPr>
          <p:nvPr/>
        </p:nvCxnSpPr>
        <p:spPr>
          <a:xfrm flipV="1">
            <a:off x="10917936" y="5248655"/>
            <a:ext cx="0" cy="128017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stCxn id="51" idx="3"/>
          </p:cNvCxnSpPr>
          <p:nvPr/>
        </p:nvCxnSpPr>
        <p:spPr>
          <a:xfrm>
            <a:off x="11283696" y="4946903"/>
            <a:ext cx="128015" cy="1"/>
          </a:xfrm>
          <a:prstGeom prst="line">
            <a:avLst/>
          </a:prstGeom>
          <a:ln w="12700">
            <a:solidFill>
              <a:srgbClr val="3A40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320040" y="6446520"/>
            <a:ext cx="3291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4088" y="6464807"/>
            <a:ext cx="160020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CMS上の操作（Power Apps）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6446520"/>
            <a:ext cx="3291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0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61488" y="6464807"/>
            <a:ext cx="86868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CMSの外の作業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703320" y="6446520"/>
            <a:ext cx="329184" cy="201168"/>
          </a:xfrm>
          <a:prstGeom prst="roundRect">
            <a:avLst/>
          </a:prstGeom>
          <a:solidFill>
            <a:srgbClr val="D5E8EB"/>
          </a:solidFill>
          <a:ln w="12700">
            <a:solidFill>
              <a:srgbClr val="0E5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087368" y="6464807"/>
            <a:ext cx="91440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CMSの自動処理</a:t>
            </a:r>
          </a:p>
        </p:txBody>
      </p:sp>
      <p:sp>
        <p:nvSpPr>
          <p:cNvPr id="105" name="Diamond 104"/>
          <p:cNvSpPr/>
          <p:nvPr/>
        </p:nvSpPr>
        <p:spPr>
          <a:xfrm>
            <a:off x="5074920" y="6437375"/>
            <a:ext cx="219456" cy="219456"/>
          </a:xfrm>
          <a:prstGeom prst="diamond">
            <a:avLst/>
          </a:prstGeom>
          <a:solidFill>
            <a:srgbClr val="FFF7E8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49240" y="6464807"/>
            <a:ext cx="27432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分岐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696712" y="6446520"/>
            <a:ext cx="32918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1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80759" y="6464807"/>
            <a:ext cx="1371600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1E2226"/>
                </a:solidFill>
                <a:latin typeface="Meiryo UI"/>
                <a:ea typeface="Meiryo UI"/>
                <a:cs typeface="Meiryo UI"/>
              </a:rPr>
              <a:t>サブプロセス（詳細省略）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16952" y="6391655"/>
            <a:ext cx="4270248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E646A"/>
                </a:solidFill>
                <a:latin typeface="Meiryo UI"/>
                <a:ea typeface="Meiryo UI"/>
                <a:cs typeface="Meiryo UI"/>
              </a:rPr>
              <a:t>レーンをまたぐ矢印では、CMSが次の担当者へ通知して引き渡す。期限（SLA）管理・リマインドは全工程でCMSが行う。</a:t>
            </a:r>
          </a:p>
          <a:p>
            <a:pPr algn="l">
              <a:lnSpc>
                <a:spcPct val="100000"/>
              </a:lnSpc>
            </a:pPr>
            <a:r>
              <a:rPr sz="700" b="0">
                <a:solidFill>
                  <a:srgbClr val="5E646A"/>
                </a:solidFill>
                <a:latin typeface="Meiryo UI"/>
                <a:ea typeface="Meiryo UI"/>
                <a:cs typeface="Meiryo UI"/>
              </a:rPr>
              <a:t>範囲外：AIによるトリアージ・論点整理（②）、承認後の伴走・レビューゲート（③）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