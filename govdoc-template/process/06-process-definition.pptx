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{{GOV_DOMAIN}} 業務フロー定義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全体の流れ・関係者・RACI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文書番号 {{DOC_PREFIX}}-P-06　｜　版 1.0　｜　所管 {{SECRETARIAT}}　｜　承認者 {{SECRETARIAT_HEAD}}　｜　最終改訂日 YYYY-MM-DD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文書管理情報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{{DOC_PREFIX}}-P-06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文書番号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{{DOC_PREFIX}}-P-06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{{SECRETARIAT_HEAD}}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最終改訂日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YYYY-MM-DD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上位文書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{{GOV_DOMAIN}} 憲章（{{DOC_PREFIX}}-R-02）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見直し周期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{{REVIEW_CYCLE}}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目的と適用範囲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{{DOC_PREFIX}}-P-06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{{この業務フローで何を実現するか}}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起案者が案件を起案する／依頼者が相談する／周期の開始日になる}}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事後モニタリングの報告を受領する／依頼者に結果を引き渡す／点検の記録を保管する}}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投資予算の案件／IT関連の契約に関する相談}}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対象外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経費予算の継続案件／IT以外の購買}}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関係者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{{APPLICANT}}、{{SECRETARIAT}}、{{MEETING_NAMES}}（会議体を置く場合）、{{関係部署}}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全体フロー（1）{{フローの名前}}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{{DOC_PREFIX}}-P-06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Lane"/>
          <p:cNvSpPr/>
          <p:nvPr/>
        </p:nvSpPr>
        <p:spPr>
          <a:xfrm>
            <a:off x="548640" y="1143000"/>
            <a:ext cx="11064240" cy="120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6" name="LaneLabel"/>
          <p:cNvSpPr/>
          <p:nvPr/>
        </p:nvSpPr>
        <p:spPr>
          <a:xfrm>
            <a:off x="548640" y="1143000"/>
            <a:ext cx="1554480" cy="120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{{APPLICANT}}</a:t>
            </a:r>
          </a:p>
        </p:txBody>
      </p:sp>
      <p:sp>
        <p:nvSpPr>
          <p:cNvPr id="7" name="Lane"/>
          <p:cNvSpPr/>
          <p:nvPr/>
        </p:nvSpPr>
        <p:spPr>
          <a:xfrm>
            <a:off x="548640" y="2343000"/>
            <a:ext cx="11064240" cy="120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8" name="LaneLabel"/>
          <p:cNvSpPr/>
          <p:nvPr/>
        </p:nvSpPr>
        <p:spPr>
          <a:xfrm>
            <a:off x="548640" y="2343000"/>
            <a:ext cx="1554480" cy="120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{{SECRETARIAT}}</a:t>
            </a:r>
          </a:p>
        </p:txBody>
      </p:sp>
      <p:sp>
        <p:nvSpPr>
          <p:cNvPr id="9" name="Lane"/>
          <p:cNvSpPr/>
          <p:nvPr/>
        </p:nvSpPr>
        <p:spPr>
          <a:xfrm>
            <a:off x="548640" y="3543000"/>
            <a:ext cx="11064240" cy="120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10" name="LaneLabel"/>
          <p:cNvSpPr/>
          <p:nvPr/>
        </p:nvSpPr>
        <p:spPr>
          <a:xfrm>
            <a:off x="548640" y="3543000"/>
            <a:ext cx="1554480" cy="120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{{会議体・担当}}</a:t>
            </a:r>
          </a:p>
        </p:txBody>
      </p:sp>
      <p:sp>
        <p:nvSpPr>
          <p:cNvPr id="11" name="StartEvent"/>
          <p:cNvSpPr/>
          <p:nvPr/>
        </p:nvSpPr>
        <p:spPr>
          <a:xfrm>
            <a:off x="2250000" y="1599000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12" name="Label"/>
          <p:cNvSpPr txBox="1"/>
          <p:nvPr/>
        </p:nvSpPr>
        <p:spPr>
          <a:xfrm>
            <a:off x="1850000" y="1917000"/>
            <a:ext cx="1088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{{開始の状態}}</a:t>
            </a:r>
          </a:p>
        </p:txBody>
      </p:sp>
      <p:sp>
        <p:nvSpPr>
          <p:cNvPr id="13" name="Task"/>
          <p:cNvSpPr/>
          <p:nvPr/>
        </p:nvSpPr>
        <p:spPr>
          <a:xfrm>
            <a:off x="2700000" y="1455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{{申請・依頼する}}</a:t>
            </a:r>
          </a:p>
        </p:txBody>
      </p:sp>
      <p:sp>
        <p:nvSpPr>
          <p:cNvPr id="14" name="Task"/>
          <p:cNvSpPr/>
          <p:nvPr/>
        </p:nvSpPr>
        <p:spPr>
          <a:xfrm>
            <a:off x="3950000" y="2655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{{① 名詞を動詞する}}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§3.1</a:t>
            </a:r>
          </a:p>
        </p:txBody>
      </p:sp>
      <p:sp>
        <p:nvSpPr>
          <p:cNvPr id="15" name="Task"/>
          <p:cNvSpPr/>
          <p:nvPr/>
        </p:nvSpPr>
        <p:spPr>
          <a:xfrm>
            <a:off x="5200000" y="3855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{{② 名詞を動詞する}}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§3.2</a:t>
            </a:r>
          </a:p>
        </p:txBody>
      </p:sp>
      <p:sp>
        <p:nvSpPr>
          <p:cNvPr id="16" name="Gateway"/>
          <p:cNvSpPr/>
          <p:nvPr/>
        </p:nvSpPr>
        <p:spPr>
          <a:xfrm>
            <a:off x="6450000" y="3963000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17" name="Label"/>
          <p:cNvSpPr txBox="1"/>
          <p:nvPr/>
        </p:nvSpPr>
        <p:spPr>
          <a:xfrm>
            <a:off x="5850000" y="4353000"/>
            <a:ext cx="15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{{判断の問い}}？</a:t>
            </a:r>
          </a:p>
        </p:txBody>
      </p:sp>
      <p:sp>
        <p:nvSpPr>
          <p:cNvPr id="18" name="Task"/>
          <p:cNvSpPr/>
          <p:nvPr/>
        </p:nvSpPr>
        <p:spPr>
          <a:xfrm>
            <a:off x="7450000" y="2655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{{③ 名詞を動詞する}}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§3.3</a:t>
            </a:r>
          </a:p>
        </p:txBody>
      </p:sp>
      <p:sp>
        <p:nvSpPr>
          <p:cNvPr id="19" name="Task"/>
          <p:cNvSpPr/>
          <p:nvPr/>
        </p:nvSpPr>
        <p:spPr>
          <a:xfrm>
            <a:off x="8800000" y="2655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{{別のフロー}}へ</a:t>
            </a:r>
          </a:p>
        </p:txBody>
      </p:sp>
      <p:sp>
        <p:nvSpPr>
          <p:cNvPr id="20" name="SubMarker"/>
          <p:cNvSpPr/>
          <p:nvPr/>
        </p:nvSpPr>
        <p:spPr>
          <a:xfrm>
            <a:off x="9265000" y="3061000"/>
            <a:ext cx="150000" cy="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F6A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ja-JP" sz="9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+</a:t>
            </a:r>
          </a:p>
        </p:txBody>
      </p:sp>
      <p:sp>
        <p:nvSpPr>
          <p:cNvPr id="21" name="EndEvent"/>
          <p:cNvSpPr/>
          <p:nvPr/>
        </p:nvSpPr>
        <p:spPr>
          <a:xfrm>
            <a:off x="10150000" y="2799000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2" name="Label"/>
          <p:cNvSpPr txBox="1"/>
          <p:nvPr/>
        </p:nvSpPr>
        <p:spPr>
          <a:xfrm>
            <a:off x="9750000" y="3117000"/>
            <a:ext cx="1088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{{終了の状態}}</a:t>
            </a:r>
          </a:p>
        </p:txBody>
      </p:sp>
      <p:cxnSp>
        <p:nvCxnSpPr>
          <p:cNvPr id="23" name="Flow"/>
          <p:cNvCxnSpPr/>
          <p:nvPr/>
        </p:nvCxnSpPr>
        <p:spPr>
          <a:xfrm>
            <a:off x="2538000" y="1743000"/>
            <a:ext cx="16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4" name="Flow"/>
          <p:cNvCxnSpPr/>
          <p:nvPr/>
        </p:nvCxnSpPr>
        <p:spPr>
          <a:xfrm>
            <a:off x="3240000" y="2031000"/>
            <a:ext cx="0" cy="912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5" name="Flow"/>
          <p:cNvCxnSpPr/>
          <p:nvPr/>
        </p:nvCxnSpPr>
        <p:spPr>
          <a:xfrm>
            <a:off x="3240000" y="2943000"/>
            <a:ext cx="71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6" name="Flow"/>
          <p:cNvCxnSpPr/>
          <p:nvPr/>
        </p:nvCxnSpPr>
        <p:spPr>
          <a:xfrm>
            <a:off x="4490000" y="3231000"/>
            <a:ext cx="0" cy="912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7" name="Flow"/>
          <p:cNvCxnSpPr/>
          <p:nvPr/>
        </p:nvCxnSpPr>
        <p:spPr>
          <a:xfrm>
            <a:off x="4490000" y="4143000"/>
            <a:ext cx="71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8" name="Flow"/>
          <p:cNvCxnSpPr/>
          <p:nvPr/>
        </p:nvCxnSpPr>
        <p:spPr>
          <a:xfrm>
            <a:off x="6280000" y="4143000"/>
            <a:ext cx="17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9" name="Flow"/>
          <p:cNvCxnSpPr/>
          <p:nvPr/>
        </p:nvCxnSpPr>
        <p:spPr>
          <a:xfrm>
            <a:off x="6810000" y="4143000"/>
            <a:ext cx="320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30" name="Flow"/>
          <p:cNvCxnSpPr/>
          <p:nvPr/>
        </p:nvCxnSpPr>
        <p:spPr>
          <a:xfrm flipV="1">
            <a:off x="7130000" y="2943000"/>
            <a:ext cx="0" cy="120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31" name="Flow"/>
          <p:cNvCxnSpPr/>
          <p:nvPr/>
        </p:nvCxnSpPr>
        <p:spPr>
          <a:xfrm>
            <a:off x="7130000" y="2943000"/>
            <a:ext cx="32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sp>
        <p:nvSpPr>
          <p:cNvPr id="32" name="Label"/>
          <p:cNvSpPr txBox="1"/>
          <p:nvPr/>
        </p:nvSpPr>
        <p:spPr>
          <a:xfrm>
            <a:off x="6840000" y="3843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{{条件}}</a:t>
            </a:r>
          </a:p>
        </p:txBody>
      </p:sp>
      <p:cxnSp>
        <p:nvCxnSpPr>
          <p:cNvPr id="33" name="Flow"/>
          <p:cNvCxnSpPr/>
          <p:nvPr/>
        </p:nvCxnSpPr>
        <p:spPr>
          <a:xfrm flipV="1">
            <a:off x="6630000" y="2943000"/>
            <a:ext cx="0" cy="102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34" name="Flow"/>
          <p:cNvCxnSpPr/>
          <p:nvPr/>
        </p:nvCxnSpPr>
        <p:spPr>
          <a:xfrm flipH="1">
            <a:off x="5030000" y="2943000"/>
            <a:ext cx="160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sp>
        <p:nvSpPr>
          <p:cNvPr id="35" name="Label"/>
          <p:cNvSpPr txBox="1"/>
          <p:nvPr/>
        </p:nvSpPr>
        <p:spPr>
          <a:xfrm>
            <a:off x="6670000" y="3003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{{条件}}</a:t>
            </a:r>
          </a:p>
        </p:txBody>
      </p:sp>
      <p:cxnSp>
        <p:nvCxnSpPr>
          <p:cNvPr id="36" name="Flow"/>
          <p:cNvCxnSpPr/>
          <p:nvPr/>
        </p:nvCxnSpPr>
        <p:spPr>
          <a:xfrm>
            <a:off x="8530000" y="2943000"/>
            <a:ext cx="27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37" name="Flow"/>
          <p:cNvCxnSpPr/>
          <p:nvPr/>
        </p:nvCxnSpPr>
        <p:spPr>
          <a:xfrm>
            <a:off x="9880000" y="2943000"/>
            <a:ext cx="27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sp>
        <p:nvSpPr>
          <p:cNvPr id="38" name="Label"/>
          <p:cNvSpPr txBox="1"/>
          <p:nvPr/>
        </p:nvSpPr>
        <p:spPr>
          <a:xfrm>
            <a:off x="548640" y="4863000"/>
            <a:ext cx="1106424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 Runbook の節を示す。{{補足（2行まで）}}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プロセス一覧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{{DOC_PREFIX}}-P-06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1828800"/>
                <a:gridCol w="1828800"/>
                <a:gridCol w="1737360"/>
                <a:gridCol w="12801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No.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プロセス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担当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関連手順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受付}}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起案書}}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案件ID}}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2営業日}}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{{DOC_PREFIX}}-P-06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活動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{{APPLICANT}}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{{会議体・担当A}}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{{会議体・担当B}}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{{関係部署}}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起案・依頼}}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R/A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事前チェック}}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R/A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優先度の決定}}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他のプロセス・部署との受け渡し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{{DOC_PREFIX}}-P-06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1097280"/>
                <a:gridCol w="23774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渡すもの／受け取るもの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方向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タイミング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手段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財務部門}}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予算計上の結果}}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Tier2の決定後5営業日以内}}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一覧表をメール}}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改訂履歴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{{DOC_PREFIX}}-P-06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52120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YYYY-MM-DD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業務フロー定義</dc:title>
  <dc:subject>PptxGenJS Presentation</dc:subject>
  <dc:creator/>
  <cp:lastModifiedBy>PptxGenJS</cp:lastModifiedBy>
  <cp:revision>1</cp:revision>
  <dcterms:created xsi:type="dcterms:W3CDTF">2026-09-29T22:38:01Z</dcterms:created>
  <dcterms:modified xsi:type="dcterms:W3CDTF">2026-09-29T22:38:01Z</dcterms:modified>
</cp:coreProperties>
</file>