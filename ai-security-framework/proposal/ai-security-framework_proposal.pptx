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dbaa363f-8012-13c0-1b58-278e9489ab50}">
          <p14:sldIdLst>
            <p14:sldId id="256"/>
            <p14:sldId id="257"/>
            <p14:sldId id="258"/>
            <p14:sldId id="259"/>
            <p14:sldId id="260"/>
            <p14:sldId id="261"/>
          </p14:sldIdLst>
        </p14:section>
        <p14:section name="依拠する枠組み" id="{465c7605-3e47-1b27-e730-af779a9a0aee}">
          <p14:sldIdLst>
            <p14:sldId id="262"/>
            <p14:sldId id="263"/>
            <p14:sldId id="264"/>
            <p14:sldId id="265"/>
            <p14:sldId id="266"/>
            <p14:sldId id="267"/>
            <p14:sldId id="268"/>
            <p14:sldId id="269"/>
          </p14:sldIdLst>
        </p14:section>
        <p14:section name="統合と運用" id="{5a1e2abb-de44-dc26-efe3-82e337d513e6}">
          <p14:sldIdLst>
            <p14:sldId id="270"/>
            <p14:sldId id="271"/>
            <p14:sldId id="272"/>
            <p14:sldId id="273"/>
            <p14:sldId id="274"/>
            <p14:sldId id="275"/>
            <p14:sldId id="276"/>
            <p14:sldId id="277"/>
            <p14:sldId id="278"/>
          </p14:sldIdLst>
        </p14:section>
        <p14:section name="まとめ" id="{ca608244-353e-32fa-f2c8-785eace2a5a4}">
          <p14:sldIdLst>
            <p14:sldId id="279"/>
          </p14:sldIdLst>
        </p14:section>
        <p14:section name="付録" id="{6c6ee673-7254-6f99-3c48-a3ca6565b0e1}">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出現数</c:v>
                </c:pt>
              </c:strCache>
            </c:strRef>
          </c:tx>
          <c:spPr>
            <a:solidFill>
              <a:srgbClr val="1F3A68"/>
            </a:solidFill>
            <a:effectLst/>
          </c:spPr>
          <c:invertIfNegative val="0"/>
          <c:dLbls>
            <c:numFmt formatCode="#,##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cat>
            <c:multiLvlStrRef>
              <c:f>Sheet1!$A$2:$A$10</c:f>
              <c:multiLvlStrCache>
                <c:ptCount val="9"/>
                <c:lvl>
                  <c:pt idx="0">
                    <c:v>DE.CM-01 監視</c:v>
                  </c:pt>
                  <c:pt idx="1">
                    <c:v>PR.DS-01/02 データ保護</c:v>
                  </c:pt>
                  <c:pt idx="2">
                    <c:v>PR.AA-01/05 ID・権限</c:v>
                  </c:pt>
                  <c:pt idx="3">
                    <c:v>GV.OC-01 ミッション</c:v>
                  </c:pt>
                  <c:pt idx="4">
                    <c:v>DE.CM-09 実行環境の監視</c:v>
                  </c:pt>
                  <c:pt idx="5">
                    <c:v>GV.SC-01/06 サプライチェーン</c:v>
                  </c:pt>
                  <c:pt idx="6">
                    <c:v>PR.PS-04 ログ生成</c:v>
                  </c:pt>
                  <c:pt idx="7">
                    <c:v>ID.RA-01 脆弱性特定</c:v>
                  </c:pt>
                  <c:pt idx="8">
                    <c:v>ID.AM-08 資産ライフサイクル</c:v>
                  </c:pt>
                </c:lvl>
              </c:multiLvlStrCache>
            </c:multiLvlStrRef>
          </c:cat>
          <c:val>
            <c:numRef>
              <c:f>Sheet1!$B$2:$B$10</c:f>
              <c:numCache>
                <c:formatCode>General</c:formatCode>
                <c:ptCount val="9"/>
                <c:pt idx="0">
                  <c:v>12</c:v>
                </c:pt>
                <c:pt idx="1">
                  <c:v>10</c:v>
                </c:pt>
                <c:pt idx="2">
                  <c:v>8</c:v>
                </c:pt>
                <c:pt idx="3">
                  <c:v>6</c:v>
                </c:pt>
                <c:pt idx="4">
                  <c:v>6</c:v>
                </c:pt>
                <c:pt idx="5">
                  <c:v>5</c:v>
                </c:pt>
                <c:pt idx="6">
                  <c:v>4</c:v>
                </c:pt>
                <c:pt idx="7">
                  <c:v>4</c:v>
                </c:pt>
                <c:pt idx="8">
                  <c:v>4</c:v>
                </c:pt>
              </c:numCache>
            </c:numRef>
          </c:val>
        </c:ser>
        <c:dLbls>
          <c:numFmt formatCode="#,##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IT部門内の関係者向けの共有資料です。承認を求めるものではなく、考え方を正しく理解してもらうことが目的です。詳細は chapters/01〜09 と proposal を参照してください。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4つの要点を先に示します。以降のスライドはこの順で詳細を説明します。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OWASP 2026年版の冒頭の言葉が基本姿勢です。モデル単体ではなく、モデルを取り囲むシステム（権限・データ境界・出力処理・人の承認・監視）を管理対象にします。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OWASP公式の対応表（Top 10 付録A）で、AI RMFのカテゴリとほぼそのまま対応するのはLLM04（サプライチェーン）とLLM07（誤情報）の2件だけです。他は補助的な対応で、LLM10（不適切な出力処理）は対応がありません。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5観点それぞれに AI RMF の根拠サブカテゴリを付けています。経営と現場の目線がそろっている状態とは、この5つが同時に回っている状態です。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対応表は独自に作りません。AI RMF／AI 600-1 との対応は OWASP Top 10 付録A（版固定・Top 10 本体の一部）、CSF 2.0 との対応は OWASP GenAI Security Crosswalk を使います。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RMF 1.0 はホワイトハウスのAI行動計画（2025年7月）に基づき改訂中で、改訂版は未公開です。本資料が主に使う GOVERN 1・6、MAP 3〜4、MEASURE 2.7、MANAGE 2〜4 は影響を受けにくいと見ています。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特性（妥当性と信頼性／安全／セキュリティとレジリエンス／アカウンタビリティと透明性／説明可能性と解釈可能性／プライバシー強化／公平性－有害なバイアスのマネジメント）のうち、本資料の中心はセキュリティとレジリエンスです。機能名は公式日本語訳でも英語表記のまま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範囲外とした4リスク（CBRN、環境影響、有害なバイアス、わいせつ）はOWASPの10リスクとほぼ対応しません。これが範囲設定の妥当性の裏づけです。危険・暴力的コンテンツはポイズニングで拒否動作が損なわれる場合に一部関係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ンプトインジェクションは投票1位ですが、インシデント記録だけで並べると圏外です。各組織が強く防御しているため公開事例が少ない「防御効果」と解釈され、1位を維持しました。誤情報は投票では下位、記録では上位で、最も大きなずれがあ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LLM01 は確実な防止策がないため、防止率を上げる対策より、侵入されても被害を限定する対策（権限・承認・出力検証）が実質的な防御線になります。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Two は LLM01 の対策として示されています。2つそろう構成は残留リスク評価が必要です。第8章の Tier 判定に組み込んでいます。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適用条件：ツール・API・MCPを呼ぶ／セッションをまたぐ記憶を持つ／人の承認なしに外部へ作用する／複数エージェントが連携する、のいずれか。LLM Top 10 の代わりではなく上乗せです。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Crosswalk にもAI RMFとのサブカテゴリ単位の対応表がありますが、付録Aと一致しない箇所があり、多くの行が査読前（未レビュー）です。そのため AI RMF／AI 600-1 との対応は付録Aを一次根拠とし、Crosswalk は CSF 2.0 との接続に使います。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数値は Crosswalk が各リスクに挙げる主要なCSFサブカテゴリ（各4件）の出現数です。Crosswalk は継続更新されるコミュニティ成果物で、多くの行が査読前です。CSF 対応の公式な根拠は、Cyber AI Profile の正式版が出た時点で置き換えます。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第7章のチェックシートは、各行を「NIST機能 → チェックポイント → OWASP ID → 対策 → AI RMFサブカテゴリ」で構成しています。現場の記録がそのまま経営向けの集約につながります。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設問は2層です。ガバナンス設問は AI RMF のサブカテゴリと Playbook の「Transparency &amp; Documentation」の問いから、技術設問は OWASP の ID 付きで作ります。回答は「実施済み（証跡あり）／一部／未実施／該当なし」の4択です。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現場は案件ごとに OWASP の ID で回答を記録します。同じ回答データを公式の対応表で NIST の切り口に変換して、経営向けに集計します。逆方向では、経営の方針（例：エージェントの不可逆操作は必ず人が承認）が技術設問の「必須」指定として現場に降ります。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では台帳と最優先リスクを同時に始め、把握と統制を並行して立ち上げます。時期は今後決めます。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 AI Profile は準備草案が2025年12月に公開済みで、初期公開草案が2026年中に予定されています。正式版が出たら、CSF 対応の根拠を Crosswalk から置き換えます。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役割の詳細（RACI）は必要になった時点で appendix に作成します。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押さえてほしい5点と、今後IT部門内で議論して決める論点です。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NIST・OWASPの一次資料はすべて公式の公開版です。Crosswalk はリポジトリの 2026-10-09 時点を参照しています。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
        <p:nvSpPr>
          <p:cNvPr id="4" name="Text 0"/>
          <p:cNvSpPr/>
          <p:nvPr/>
        </p:nvSpPr>
        <p:spPr>
          <a:xfrm>
            <a:off x="731520" y="6035040"/>
            <a:ext cx="7315200" cy="365760"/>
          </a:xfrm>
          <a:prstGeom prst="rect">
            <a:avLst/>
          </a:prstGeom>
          <a:noFill/>
          <a:ln/>
        </p:spPr>
        <p:txBody>
          <a:bodyPr wrap="square" lIns="0" tIns="0" rIns="0" bIns="0" rtlCol="0" anchor="ctr"/>
          <a:lstStyle/>
          <a:p>
            <a:pPr indent="0" marL="0">
              <a:buNone/>
            </a:pPr>
            <a:r>
              <a:rPr lang="en-US" sz="1200" dirty="0">
                <a:solidFill>
                  <a:schemeClr val="accent6"/>
                </a:solidFill>
              </a:rPr>
              <a:t>IT部門内共有 ｜ 2026-10 ｜ v0.1</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3657600" cy="548640"/>
          </a:xfrm>
          <a:prstGeom prst="rect">
            <a:avLst/>
          </a:prstGeom>
          <a:noFill/>
          <a:ln/>
        </p:spPr>
        <p:txBody>
          <a:bodyPr wrap="square" rtlCol="0"/>
          <a:lstStyle>
            <a:lvl1pPr indent="0" marL="0">
              <a:buNone/>
              <a:defRPr lang="en-US" sz="1800" b="1" dirty="0">
                <a:solidFill>
                  <a:schemeClr val="accent6"/>
                </a:solidFill>
              </a:defRPr>
            </a:lvl1pPr>
          </a:lstStyle>
          <a:p>
            <a:pPr indent="0" marL="0">
              <a:buNone/>
            </a:pPr>
            <a:endParaRPr lang="en-US" sz="1800" dirty="0"/>
          </a:p>
        </p:txBody>
      </p:sp>
      <p:sp>
        <p:nvSpPr>
          <p:cNvPr id="3" name="Text 0"/>
          <p:cNvSpPr/>
          <p:nvPr>
            <p:ph idx="101" type="title" hasCustomPrompt="1"/>
          </p:nvPr>
        </p:nvSpPr>
        <p:spPr>
          <a:xfrm>
            <a:off x="731520" y="2651760"/>
            <a:ext cx="10698480"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731520" y="3840480"/>
            <a:ext cx="1069848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365760"/>
            <a:ext cx="10881360" cy="68580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rtlCol="0"/>
          <a:lstStyle>
            <a:lvl1pPr indent="0" marL="0">
              <a:buNone/>
              <a:defRPr lang="en-US" sz="1000" dirty="0">
                <a:solidFill>
                  <a:schemeClr val="accent4"/>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5.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5.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chemeClr val="bg1"/>
                </a:solidFill>
              </a:rPr>
              <a:t>生成AIセキュリティガバナンス導入の考え方</a:t>
            </a:r>
            <a:endParaRPr lang="en-US" sz="4000" dirty="0"/>
          </a:p>
        </p:txBody>
      </p:sp>
      <p:sp>
        <p:nvSpPr>
          <p:cNvPr id="3" name="Text 0"/>
          <p:cNvSpPr/>
          <p:nvPr>
            <p:ph idx="101" type="body" hasCustomPrompt="1"/>
          </p:nvPr>
        </p:nvSpPr>
        <p:spPr>
          <a:xfrm>
            <a:off x="731520" y="3657600"/>
            <a:ext cx="10698480" cy="1097280"/>
          </a:xfrm>
          <a:prstGeom prst="rect">
            <a:avLst/>
          </a:prstGeom>
          <a:noFill/>
          <a:ln/>
        </p:spPr>
        <p:txBody>
          <a:bodyPr wrap="square" lIns="0" tIns="0" rIns="0" bIns="0" rtlCol="0" anchor="t"/>
          <a:lstStyle/>
          <a:p>
            <a:pPr indent="0" marL="0">
              <a:buNone/>
            </a:pPr>
            <a:r>
              <a:rPr lang="en-US" sz="2000" dirty="0">
                <a:solidFill>
                  <a:schemeClr val="accent6"/>
                </a:solidFill>
              </a:rPr>
              <a:t>NISTを前提としたセキュリティガバナンスにAIセキュリティを組み込む二層構造（NIST AI RMF × OWASP GenAI）</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この資料で伝えたいこと</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承認を求めるものではありません。考え方をIT部門内で正しく理解してもらうための資料です</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出典：proposal/ai-security-framework_proposal.md 第1節</a:t>
            </a:r>
            <a:endParaRPr lang="en-US" sz="1000" dirty="0"/>
          </a:p>
        </p:txBody>
      </p:sp>
      <p:sp>
        <p:nvSpPr>
          <p:cNvPr id="6" name="card-1"/>
          <p:cNvSpPr/>
          <p:nvPr/>
        </p:nvSpPr>
        <p:spPr>
          <a:xfrm>
            <a:off x="548640" y="1691640"/>
            <a:ext cx="5440680" cy="2103120"/>
          </a:xfrm>
          <a:prstGeom prst="roundRect">
            <a:avLst>
              <a:gd name="adj" fmla="val 3478"/>
            </a:avLst>
          </a:prstGeom>
          <a:solidFill>
            <a:schemeClr val="bg2"/>
          </a:solidFill>
          <a:ln w="12700">
            <a:solidFill>
              <a:schemeClr val="bg2"/>
            </a:solidFill>
            <a:prstDash val="solid"/>
          </a:ln>
        </p:spPr>
      </p:sp>
      <p:sp>
        <p:nvSpPr>
          <p:cNvPr id="7" name="iconbg-2"/>
          <p:cNvSpPr/>
          <p:nvPr/>
        </p:nvSpPr>
        <p:spPr>
          <a:xfrm>
            <a:off x="822960" y="1965960"/>
            <a:ext cx="640080" cy="640080"/>
          </a:xfrm>
          <a:prstGeom prst="ellipse">
            <a:avLst/>
          </a:prstGeom>
          <a:solidFill>
            <a:schemeClr val="accent1"/>
          </a:solidFill>
          <a:ln w="12700">
            <a:solidFill>
              <a:schemeClr val="accent1"/>
            </a:solidFill>
            <a:prstDash val="solid"/>
          </a:ln>
        </p:spPr>
      </p:sp>
      <p:pic>
        <p:nvPicPr>
          <p:cNvPr id="8" name="icon-3" descr="preencoded.png">    </p:cNvPr>
          <p:cNvPicPr>
            <a:picLocks noChangeAspect="1"/>
          </p:cNvPicPr>
          <p:nvPr/>
        </p:nvPicPr>
        <p:blipFill>
          <a:blip r:embed="rId1"/>
          <a:stretch>
            <a:fillRect/>
          </a:stretch>
        </p:blipFill>
        <p:spPr>
          <a:xfrm>
            <a:off x="982980" y="2125980"/>
            <a:ext cx="320040" cy="320040"/>
          </a:xfrm>
          <a:prstGeom prst="rect">
            <a:avLst/>
          </a:prstGeom>
        </p:spPr>
      </p:pic>
      <p:sp>
        <p:nvSpPr>
          <p:cNvPr id="9" name="text-4"/>
          <p:cNvSpPr txBox="1"/>
          <p:nvPr/>
        </p:nvSpPr>
        <p:spPr>
          <a:xfrm>
            <a:off x="1645920" y="2039112"/>
            <a:ext cx="4114800" cy="457200"/>
          </a:xfrm>
          <a:prstGeom prst="rect">
            <a:avLst/>
          </a:prstGeom>
          <a:noFill/>
          <a:ln/>
        </p:spPr>
        <p:txBody>
          <a:bodyPr wrap="square" lIns="0" tIns="0" rIns="0" bIns="0" rtlCol="0" anchor="ctr"/>
          <a:lstStyle/>
          <a:p>
            <a:pPr indent="0" marL="0">
              <a:buNone/>
            </a:pPr>
            <a:r>
              <a:rPr lang="en-US" sz="2000" b="1" dirty="0">
                <a:solidFill>
                  <a:schemeClr val="tx2"/>
                </a:solidFill>
              </a:rPr>
              <a:t>目的</a:t>
            </a:r>
            <a:endParaRPr lang="en-US" sz="2000" dirty="0"/>
          </a:p>
        </p:txBody>
      </p:sp>
      <p:sp>
        <p:nvSpPr>
          <p:cNvPr id="10" name="text-5"/>
          <p:cNvSpPr txBox="1"/>
          <p:nvPr/>
        </p:nvSpPr>
        <p:spPr>
          <a:xfrm>
            <a:off x="1645920" y="2560320"/>
            <a:ext cx="4114800" cy="1097280"/>
          </a:xfrm>
          <a:prstGeom prst="rect">
            <a:avLst/>
          </a:prstGeom>
          <a:noFill/>
          <a:ln/>
        </p:spPr>
        <p:txBody>
          <a:bodyPr wrap="square" lIns="0" tIns="0" rIns="0" bIns="0" rtlCol="0" anchor="t"/>
          <a:lstStyle/>
          <a:p>
            <a:pPr indent="0" marL="0">
              <a:buNone/>
            </a:pPr>
            <a:r>
              <a:rPr lang="en-US" sz="1500" dirty="0">
                <a:solidFill>
                  <a:schemeClr val="tx1"/>
                </a:solidFill>
              </a:rPr>
              <a:t>NIST前提のセキュリティガバナンス（CSF 2.0 導入済み）に、AIセキュリティのケイパビリティを組み込み、ガバナンスを安定させる</a:t>
            </a:r>
            <a:endParaRPr lang="en-US" sz="1500" dirty="0"/>
          </a:p>
        </p:txBody>
      </p:sp>
      <p:sp>
        <p:nvSpPr>
          <p:cNvPr id="11" name="card-6"/>
          <p:cNvSpPr/>
          <p:nvPr/>
        </p:nvSpPr>
        <p:spPr>
          <a:xfrm>
            <a:off x="6172200" y="1691640"/>
            <a:ext cx="5440680" cy="2103120"/>
          </a:xfrm>
          <a:prstGeom prst="roundRect">
            <a:avLst>
              <a:gd name="adj" fmla="val 3478"/>
            </a:avLst>
          </a:prstGeom>
          <a:solidFill>
            <a:schemeClr val="bg2"/>
          </a:solidFill>
          <a:ln w="12700">
            <a:solidFill>
              <a:schemeClr val="bg2"/>
            </a:solidFill>
            <a:prstDash val="solid"/>
          </a:ln>
        </p:spPr>
      </p:sp>
      <p:sp>
        <p:nvSpPr>
          <p:cNvPr id="12" name="iconbg-7"/>
          <p:cNvSpPr/>
          <p:nvPr/>
        </p:nvSpPr>
        <p:spPr>
          <a:xfrm>
            <a:off x="6446520" y="1965960"/>
            <a:ext cx="640080" cy="640080"/>
          </a:xfrm>
          <a:prstGeom prst="ellipse">
            <a:avLst/>
          </a:prstGeom>
          <a:solidFill>
            <a:schemeClr val="accent2"/>
          </a:solidFill>
          <a:ln w="12700">
            <a:solidFill>
              <a:schemeClr val="accent2"/>
            </a:solidFill>
            <a:prstDash val="solid"/>
          </a:ln>
        </p:spPr>
      </p:sp>
      <p:pic>
        <p:nvPicPr>
          <p:cNvPr id="13" name="icon-8" descr="preencoded.png">    </p:cNvPr>
          <p:cNvPicPr>
            <a:picLocks noChangeAspect="1"/>
          </p:cNvPicPr>
          <p:nvPr/>
        </p:nvPicPr>
        <p:blipFill>
          <a:blip r:embed="rId2"/>
          <a:stretch>
            <a:fillRect/>
          </a:stretch>
        </p:blipFill>
        <p:spPr>
          <a:xfrm>
            <a:off x="6606540" y="2125980"/>
            <a:ext cx="320040" cy="320040"/>
          </a:xfrm>
          <a:prstGeom prst="rect">
            <a:avLst/>
          </a:prstGeom>
        </p:spPr>
      </p:pic>
      <p:sp>
        <p:nvSpPr>
          <p:cNvPr id="14" name="text-9"/>
          <p:cNvSpPr txBox="1"/>
          <p:nvPr/>
        </p:nvSpPr>
        <p:spPr>
          <a:xfrm>
            <a:off x="7269480" y="2039112"/>
            <a:ext cx="4114800" cy="457200"/>
          </a:xfrm>
          <a:prstGeom prst="rect">
            <a:avLst/>
          </a:prstGeom>
          <a:noFill/>
          <a:ln/>
        </p:spPr>
        <p:txBody>
          <a:bodyPr wrap="square" lIns="0" tIns="0" rIns="0" bIns="0" rtlCol="0" anchor="ctr"/>
          <a:lstStyle/>
          <a:p>
            <a:pPr indent="0" marL="0">
              <a:buNone/>
            </a:pPr>
            <a:r>
              <a:rPr lang="en-US" sz="2000" b="1" dirty="0">
                <a:solidFill>
                  <a:schemeClr val="tx2"/>
                </a:solidFill>
              </a:rPr>
              <a:t>考え方：二層構造</a:t>
            </a:r>
            <a:endParaRPr lang="en-US" sz="2000" dirty="0"/>
          </a:p>
        </p:txBody>
      </p:sp>
      <p:sp>
        <p:nvSpPr>
          <p:cNvPr id="15" name="text-10"/>
          <p:cNvSpPr txBox="1"/>
          <p:nvPr/>
        </p:nvSpPr>
        <p:spPr>
          <a:xfrm>
            <a:off x="7269480" y="2560320"/>
            <a:ext cx="4114800" cy="1097280"/>
          </a:xfrm>
          <a:prstGeom prst="rect">
            <a:avLst/>
          </a:prstGeom>
          <a:noFill/>
          <a:ln/>
        </p:spPr>
        <p:txBody>
          <a:bodyPr wrap="square" lIns="0" tIns="0" rIns="0" bIns="0" rtlCol="0" anchor="t"/>
          <a:lstStyle/>
          <a:p>
            <a:pPr indent="0" marL="0">
              <a:buNone/>
            </a:pPr>
            <a:r>
              <a:rPr lang="en-US" sz="1500" dirty="0">
                <a:solidFill>
                  <a:schemeClr val="tx1"/>
                </a:solidFill>
              </a:rPr>
              <a:t>NIST AI RMF／AI 600-1（ガバナンス層＝経営の言葉）と OWASP Top 10（技術対策層＝現場の言葉）を、公式の対応表でつなぐ</a:t>
            </a:r>
            <a:endParaRPr lang="en-US" sz="1500" dirty="0"/>
          </a:p>
        </p:txBody>
      </p:sp>
      <p:sp>
        <p:nvSpPr>
          <p:cNvPr id="16" name="card-11"/>
          <p:cNvSpPr/>
          <p:nvPr/>
        </p:nvSpPr>
        <p:spPr>
          <a:xfrm>
            <a:off x="548640" y="3977640"/>
            <a:ext cx="5440680" cy="2103120"/>
          </a:xfrm>
          <a:prstGeom prst="roundRect">
            <a:avLst>
              <a:gd name="adj" fmla="val 3478"/>
            </a:avLst>
          </a:prstGeom>
          <a:solidFill>
            <a:schemeClr val="bg2"/>
          </a:solidFill>
          <a:ln w="12700">
            <a:solidFill>
              <a:schemeClr val="bg2"/>
            </a:solidFill>
            <a:prstDash val="solid"/>
          </a:ln>
        </p:spPr>
      </p:sp>
      <p:sp>
        <p:nvSpPr>
          <p:cNvPr id="17" name="iconbg-12"/>
          <p:cNvSpPr/>
          <p:nvPr/>
        </p:nvSpPr>
        <p:spPr>
          <a:xfrm>
            <a:off x="822960" y="4251960"/>
            <a:ext cx="640080" cy="640080"/>
          </a:xfrm>
          <a:prstGeom prst="ellipse">
            <a:avLst/>
          </a:prstGeom>
          <a:solidFill>
            <a:schemeClr val="accent1"/>
          </a:solidFill>
          <a:ln w="12700">
            <a:solidFill>
              <a:schemeClr val="accent1"/>
            </a:solidFill>
            <a:prstDash val="solid"/>
          </a:ln>
        </p:spPr>
      </p:sp>
      <p:pic>
        <p:nvPicPr>
          <p:cNvPr id="18" name="icon-13" descr="preencoded.png">    </p:cNvPr>
          <p:cNvPicPr>
            <a:picLocks noChangeAspect="1"/>
          </p:cNvPicPr>
          <p:nvPr/>
        </p:nvPicPr>
        <p:blipFill>
          <a:blip r:embed="rId3"/>
          <a:stretch>
            <a:fillRect/>
          </a:stretch>
        </p:blipFill>
        <p:spPr>
          <a:xfrm>
            <a:off x="982980" y="4411980"/>
            <a:ext cx="320040" cy="320040"/>
          </a:xfrm>
          <a:prstGeom prst="rect">
            <a:avLst/>
          </a:prstGeom>
        </p:spPr>
      </p:pic>
      <p:sp>
        <p:nvSpPr>
          <p:cNvPr id="19" name="text-14"/>
          <p:cNvSpPr txBox="1"/>
          <p:nvPr/>
        </p:nvSpPr>
        <p:spPr>
          <a:xfrm>
            <a:off x="1645920" y="4325112"/>
            <a:ext cx="4114800" cy="457200"/>
          </a:xfrm>
          <a:prstGeom prst="rect">
            <a:avLst/>
          </a:prstGeom>
          <a:noFill/>
          <a:ln/>
        </p:spPr>
        <p:txBody>
          <a:bodyPr wrap="square" lIns="0" tIns="0" rIns="0" bIns="0" rtlCol="0" anchor="ctr"/>
          <a:lstStyle/>
          <a:p>
            <a:pPr indent="0" marL="0">
              <a:buNone/>
            </a:pPr>
            <a:r>
              <a:rPr lang="en-US" sz="2000" b="1" dirty="0">
                <a:solidFill>
                  <a:schemeClr val="tx2"/>
                </a:solidFill>
              </a:rPr>
              <a:t>進め方：3段階</a:t>
            </a:r>
            <a:endParaRPr lang="en-US" sz="2000" dirty="0"/>
          </a:p>
        </p:txBody>
      </p:sp>
      <p:sp>
        <p:nvSpPr>
          <p:cNvPr id="20" name="text-15"/>
          <p:cNvSpPr txBox="1"/>
          <p:nvPr/>
        </p:nvSpPr>
        <p:spPr>
          <a:xfrm>
            <a:off x="1645920" y="4846320"/>
            <a:ext cx="4114800" cy="1097280"/>
          </a:xfrm>
          <a:prstGeom prst="rect">
            <a:avLst/>
          </a:prstGeom>
          <a:noFill/>
          <a:ln/>
        </p:spPr>
        <p:txBody>
          <a:bodyPr wrap="square" lIns="0" tIns="0" rIns="0" bIns="0" rtlCol="0" anchor="t"/>
          <a:lstStyle/>
          <a:p>
            <a:pPr indent="0" marL="0">
              <a:buNone/>
            </a:pPr>
            <a:r>
              <a:rPr lang="en-US" sz="1500" dirty="0">
                <a:solidFill>
                  <a:schemeClr val="tx1"/>
                </a:solidFill>
              </a:rPr>
              <a:t>Phase 1 台帳と最優先3リスク → Phase 2 Tier別審査とレッドチーミング → Phase 3 対応表による統合管理</a:t>
            </a:r>
            <a:endParaRPr lang="en-US" sz="1500" dirty="0"/>
          </a:p>
        </p:txBody>
      </p:sp>
      <p:sp>
        <p:nvSpPr>
          <p:cNvPr id="21" name="card-16"/>
          <p:cNvSpPr/>
          <p:nvPr/>
        </p:nvSpPr>
        <p:spPr>
          <a:xfrm>
            <a:off x="6172200" y="3977640"/>
            <a:ext cx="5440680" cy="2103120"/>
          </a:xfrm>
          <a:prstGeom prst="roundRect">
            <a:avLst>
              <a:gd name="adj" fmla="val 3478"/>
            </a:avLst>
          </a:prstGeom>
          <a:solidFill>
            <a:schemeClr val="bg2"/>
          </a:solidFill>
          <a:ln w="12700">
            <a:solidFill>
              <a:schemeClr val="bg2"/>
            </a:solidFill>
            <a:prstDash val="solid"/>
          </a:ln>
        </p:spPr>
      </p:sp>
      <p:sp>
        <p:nvSpPr>
          <p:cNvPr id="22" name="iconbg-17"/>
          <p:cNvSpPr/>
          <p:nvPr/>
        </p:nvSpPr>
        <p:spPr>
          <a:xfrm>
            <a:off x="6446520" y="4251960"/>
            <a:ext cx="640080" cy="640080"/>
          </a:xfrm>
          <a:prstGeom prst="ellipse">
            <a:avLst/>
          </a:prstGeom>
          <a:solidFill>
            <a:schemeClr val="accent2"/>
          </a:solidFill>
          <a:ln w="12700">
            <a:solidFill>
              <a:schemeClr val="accent2"/>
            </a:solidFill>
            <a:prstDash val="solid"/>
          </a:ln>
        </p:spPr>
      </p:sp>
      <p:pic>
        <p:nvPicPr>
          <p:cNvPr id="23" name="icon-18" descr="preencoded.png">    </p:cNvPr>
          <p:cNvPicPr>
            <a:picLocks noChangeAspect="1"/>
          </p:cNvPicPr>
          <p:nvPr/>
        </p:nvPicPr>
        <p:blipFill>
          <a:blip r:embed="rId4"/>
          <a:stretch>
            <a:fillRect/>
          </a:stretch>
        </p:blipFill>
        <p:spPr>
          <a:xfrm>
            <a:off x="6606540" y="4411980"/>
            <a:ext cx="320040" cy="320040"/>
          </a:xfrm>
          <a:prstGeom prst="rect">
            <a:avLst/>
          </a:prstGeom>
        </p:spPr>
      </p:pic>
      <p:sp>
        <p:nvSpPr>
          <p:cNvPr id="24" name="text-19"/>
          <p:cNvSpPr txBox="1"/>
          <p:nvPr/>
        </p:nvSpPr>
        <p:spPr>
          <a:xfrm>
            <a:off x="7269480" y="4325112"/>
            <a:ext cx="4114800" cy="457200"/>
          </a:xfrm>
          <a:prstGeom prst="rect">
            <a:avLst/>
          </a:prstGeom>
          <a:noFill/>
          <a:ln/>
        </p:spPr>
        <p:txBody>
          <a:bodyPr wrap="square" lIns="0" tIns="0" rIns="0" bIns="0" rtlCol="0" anchor="ctr"/>
          <a:lstStyle/>
          <a:p>
            <a:pPr indent="0" marL="0">
              <a:buNone/>
            </a:pPr>
            <a:r>
              <a:rPr lang="en-US" sz="2000" b="1" dirty="0">
                <a:solidFill>
                  <a:schemeClr val="tx2"/>
                </a:solidFill>
              </a:rPr>
              <a:t>皆さんにお願いしたいこと</a:t>
            </a:r>
            <a:endParaRPr lang="en-US" sz="2000" dirty="0"/>
          </a:p>
        </p:txBody>
      </p:sp>
      <p:sp>
        <p:nvSpPr>
          <p:cNvPr id="25" name="text-20"/>
          <p:cNvSpPr txBox="1"/>
          <p:nvPr/>
        </p:nvSpPr>
        <p:spPr>
          <a:xfrm>
            <a:off x="7269480" y="4846320"/>
            <a:ext cx="4114800" cy="1097280"/>
          </a:xfrm>
          <a:prstGeom prst="rect">
            <a:avLst/>
          </a:prstGeom>
          <a:noFill/>
          <a:ln/>
        </p:spPr>
        <p:txBody>
          <a:bodyPr wrap="square" lIns="0" tIns="0" rIns="0" bIns="0" rtlCol="0" anchor="t"/>
          <a:lstStyle/>
          <a:p>
            <a:pPr indent="0" marL="0">
              <a:buNone/>
            </a:pPr>
            <a:r>
              <a:rPr lang="en-US" sz="1500" dirty="0">
                <a:solidFill>
                  <a:schemeClr val="tx1"/>
                </a:solidFill>
              </a:rPr>
              <a:t>二層の役割分担、審査の仕組み（設計案）、各担当の役割を理解し、今後の論点の議論に参加してもらう</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生成AIは従来のIT管理では捉えきれないリスクを持ち込む</a:t>
            </a:r>
            <a:endParaRPr lang="en-US" sz="2800" dirty="0"/>
          </a:p>
        </p:txBody>
      </p:sp>
      <p:sp>
        <p:nvSpPr>
          <p:cNvPr id="3"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出典：OWASP Top 10 for LLM Applications 2026 / NIST AI 100-1 付録B（第1章）</a:t>
            </a:r>
            <a:endParaRPr lang="en-US" sz="1000" dirty="0"/>
          </a:p>
        </p:txBody>
      </p:sp>
      <p:sp>
        <p:nvSpPr>
          <p:cNvPr id="5" name="card-21"/>
          <p:cNvSpPr/>
          <p:nvPr/>
        </p:nvSpPr>
        <p:spPr>
          <a:xfrm>
            <a:off x="548640" y="1097280"/>
            <a:ext cx="11064240" cy="868680"/>
          </a:xfrm>
          <a:prstGeom prst="roundRect">
            <a:avLst>
              <a:gd name="adj" fmla="val 8421"/>
            </a:avLst>
          </a:prstGeom>
          <a:solidFill>
            <a:srgbClr val="E6F2F1"/>
          </a:solidFill>
          <a:ln w="12700">
            <a:solidFill>
              <a:srgbClr val="E6F2F1"/>
            </a:solidFill>
            <a:prstDash val="solid"/>
          </a:ln>
        </p:spPr>
      </p:sp>
      <p:sp>
        <p:nvSpPr>
          <p:cNvPr id="6" name="text-22"/>
          <p:cNvSpPr txBox="1"/>
          <p:nvPr/>
        </p:nvSpPr>
        <p:spPr>
          <a:xfrm>
            <a:off x="822960" y="1097280"/>
            <a:ext cx="10515600" cy="868680"/>
          </a:xfrm>
          <a:prstGeom prst="rect">
            <a:avLst/>
          </a:prstGeom>
          <a:noFill/>
          <a:ln/>
        </p:spPr>
        <p:txBody>
          <a:bodyPr wrap="square" lIns="0" tIns="0" rIns="0" bIns="0" rtlCol="0" anchor="ctr"/>
          <a:lstStyle/>
          <a:p>
            <a:pPr indent="0" marL="0">
              <a:buNone/>
            </a:pPr>
            <a:r>
              <a:rPr lang="en-US" sz="1600" b="1" dirty="0">
                <a:solidFill>
                  <a:schemeClr val="accent2"/>
                </a:solidFill>
              </a:rPr>
              <a:t>OWASP 2026年版の基本姿勢　</a:t>
            </a:r>
            <a:pPr indent="0" marL="0">
              <a:buNone/>
            </a:pPr>
            <a:r>
              <a:rPr lang="en-US" sz="1600" i="1" dirty="0">
                <a:solidFill>
                  <a:schemeClr val="tx1"/>
                </a:solidFill>
              </a:rPr>
              <a:t>「騙されないモデルを作ろうとするのをやめ、モデルが騙されても重要なものが壊れないようにシステムを設計せよ」</a:t>
            </a:r>
            <a:endParaRPr lang="en-US" sz="1600" dirty="0"/>
          </a:p>
        </p:txBody>
      </p:sp>
      <p:sp>
        <p:nvSpPr>
          <p:cNvPr id="7" name="text-23"/>
          <p:cNvSpPr txBox="1"/>
          <p:nvPr/>
        </p:nvSpPr>
        <p:spPr>
          <a:xfrm>
            <a:off x="548640" y="2148840"/>
            <a:ext cx="3291840" cy="320040"/>
          </a:xfrm>
          <a:prstGeom prst="rect">
            <a:avLst/>
          </a:prstGeom>
          <a:noFill/>
          <a:ln/>
        </p:spPr>
        <p:txBody>
          <a:bodyPr wrap="square" lIns="0" tIns="0" rIns="0" bIns="0" rtlCol="0" anchor="t"/>
          <a:lstStyle/>
          <a:p>
            <a:pPr indent="0" marL="0">
              <a:buNone/>
            </a:pPr>
            <a:r>
              <a:rPr lang="en-US" sz="1300" b="1" dirty="0">
                <a:solidFill>
                  <a:schemeClr val="accent4"/>
                </a:solidFill>
              </a:rPr>
              <a:t>生成AIの性質</a:t>
            </a:r>
            <a:endParaRPr lang="en-US" sz="1300" dirty="0"/>
          </a:p>
        </p:txBody>
      </p:sp>
      <p:sp>
        <p:nvSpPr>
          <p:cNvPr id="8" name="text-24"/>
          <p:cNvSpPr txBox="1"/>
          <p:nvPr/>
        </p:nvSpPr>
        <p:spPr>
          <a:xfrm>
            <a:off x="3931920" y="2148840"/>
            <a:ext cx="5486400" cy="320040"/>
          </a:xfrm>
          <a:prstGeom prst="rect">
            <a:avLst/>
          </a:prstGeom>
          <a:noFill/>
          <a:ln/>
        </p:spPr>
        <p:txBody>
          <a:bodyPr wrap="square" lIns="0" tIns="0" rIns="0" bIns="0" rtlCol="0" anchor="t"/>
          <a:lstStyle/>
          <a:p>
            <a:pPr indent="0" marL="0">
              <a:buNone/>
            </a:pPr>
            <a:r>
              <a:rPr lang="en-US" sz="1300" b="1" dirty="0">
                <a:solidFill>
                  <a:schemeClr val="accent4"/>
                </a:solidFill>
              </a:rPr>
              <a:t>何が起きるか</a:t>
            </a:r>
            <a:endParaRPr lang="en-US" sz="1300" dirty="0"/>
          </a:p>
        </p:txBody>
      </p:sp>
      <p:sp>
        <p:nvSpPr>
          <p:cNvPr id="9" name="text-25"/>
          <p:cNvSpPr txBox="1"/>
          <p:nvPr/>
        </p:nvSpPr>
        <p:spPr>
          <a:xfrm>
            <a:off x="9692640" y="2148840"/>
            <a:ext cx="1920240" cy="320040"/>
          </a:xfrm>
          <a:prstGeom prst="rect">
            <a:avLst/>
          </a:prstGeom>
          <a:noFill/>
          <a:ln/>
        </p:spPr>
        <p:txBody>
          <a:bodyPr wrap="square" lIns="0" tIns="0" rIns="0" bIns="0" rtlCol="0" anchor="t"/>
          <a:lstStyle/>
          <a:p>
            <a:pPr indent="0" marL="0">
              <a:buNone/>
            </a:pPr>
            <a:r>
              <a:rPr lang="en-US" sz="1300" b="1" dirty="0">
                <a:solidFill>
                  <a:schemeClr val="accent4"/>
                </a:solidFill>
              </a:rPr>
              <a:t>関連リスク</a:t>
            </a:r>
            <a:endParaRPr lang="en-US" sz="1300" dirty="0"/>
          </a:p>
        </p:txBody>
      </p:sp>
      <p:sp>
        <p:nvSpPr>
          <p:cNvPr id="10" name="rule-26"/>
          <p:cNvSpPr/>
          <p:nvPr/>
        </p:nvSpPr>
        <p:spPr>
          <a:xfrm>
            <a:off x="548640" y="2478024"/>
            <a:ext cx="11064240" cy="0"/>
          </a:xfrm>
          <a:prstGeom prst="line">
            <a:avLst/>
          </a:prstGeom>
          <a:noFill/>
          <a:ln w="9525">
            <a:solidFill>
              <a:schemeClr val="accent6"/>
            </a:solidFill>
            <a:prstDash val="solid"/>
          </a:ln>
        </p:spPr>
      </p:sp>
      <p:sp>
        <p:nvSpPr>
          <p:cNvPr id="11" name="text-27"/>
          <p:cNvSpPr txBox="1"/>
          <p:nvPr/>
        </p:nvSpPr>
        <p:spPr>
          <a:xfrm>
            <a:off x="548640" y="2587752"/>
            <a:ext cx="3291840" cy="548640"/>
          </a:xfrm>
          <a:prstGeom prst="rect">
            <a:avLst/>
          </a:prstGeom>
          <a:noFill/>
          <a:ln/>
        </p:spPr>
        <p:txBody>
          <a:bodyPr wrap="square" lIns="0" tIns="0" rIns="0" bIns="0" rtlCol="0" anchor="ctr"/>
          <a:lstStyle/>
          <a:p>
            <a:pPr indent="0" marL="0">
              <a:buNone/>
            </a:pPr>
            <a:r>
              <a:rPr lang="en-US" sz="1600" b="1" dirty="0">
                <a:solidFill>
                  <a:schemeClr val="tx2"/>
                </a:solidFill>
              </a:rPr>
              <a:t>指示とデータの区別がない</a:t>
            </a:r>
            <a:endParaRPr lang="en-US" sz="1600" dirty="0"/>
          </a:p>
        </p:txBody>
      </p:sp>
      <p:sp>
        <p:nvSpPr>
          <p:cNvPr id="12" name="text-28"/>
          <p:cNvSpPr txBox="1"/>
          <p:nvPr/>
        </p:nvSpPr>
        <p:spPr>
          <a:xfrm>
            <a:off x="3931920" y="2587752"/>
            <a:ext cx="5577840" cy="548640"/>
          </a:xfrm>
          <a:prstGeom prst="rect">
            <a:avLst/>
          </a:prstGeom>
          <a:noFill/>
          <a:ln/>
        </p:spPr>
        <p:txBody>
          <a:bodyPr wrap="square" lIns="0" tIns="0" rIns="0" bIns="0" rtlCol="0" anchor="ctr"/>
          <a:lstStyle/>
          <a:p>
            <a:pPr indent="0" marL="0">
              <a:buNone/>
            </a:pPr>
            <a:r>
              <a:rPr lang="en-US" sz="1400" dirty="0">
                <a:solidFill>
                  <a:schemeClr val="tx1"/>
                </a:solidFill>
              </a:rPr>
              <a:t>入力・検索結果・ツール出力が同じトークン列になり、確実な分離ができない</a:t>
            </a:r>
            <a:endParaRPr lang="en-US" sz="1400" dirty="0"/>
          </a:p>
        </p:txBody>
      </p:sp>
      <p:sp>
        <p:nvSpPr>
          <p:cNvPr id="13" name="chip-29"/>
          <p:cNvSpPr txBox="1"/>
          <p:nvPr/>
        </p:nvSpPr>
        <p:spPr>
          <a:xfrm>
            <a:off x="9692640" y="2715768"/>
            <a:ext cx="86868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LLM01</a:t>
            </a:r>
            <a:endParaRPr lang="en-US" sz="1200" dirty="0"/>
          </a:p>
        </p:txBody>
      </p:sp>
      <p:sp>
        <p:nvSpPr>
          <p:cNvPr id="14" name="rule-30"/>
          <p:cNvSpPr/>
          <p:nvPr/>
        </p:nvSpPr>
        <p:spPr>
          <a:xfrm>
            <a:off x="548640" y="3227832"/>
            <a:ext cx="11064240" cy="0"/>
          </a:xfrm>
          <a:prstGeom prst="line">
            <a:avLst/>
          </a:prstGeom>
          <a:noFill/>
          <a:ln w="9525">
            <a:solidFill>
              <a:schemeClr val="accent6"/>
            </a:solidFill>
            <a:prstDash val="solid"/>
          </a:ln>
        </p:spPr>
      </p:sp>
      <p:sp>
        <p:nvSpPr>
          <p:cNvPr id="15" name="text-31"/>
          <p:cNvSpPr txBox="1"/>
          <p:nvPr/>
        </p:nvSpPr>
        <p:spPr>
          <a:xfrm>
            <a:off x="548640" y="3337560"/>
            <a:ext cx="3291840" cy="548640"/>
          </a:xfrm>
          <a:prstGeom prst="rect">
            <a:avLst/>
          </a:prstGeom>
          <a:noFill/>
          <a:ln/>
        </p:spPr>
        <p:txBody>
          <a:bodyPr wrap="square" lIns="0" tIns="0" rIns="0" bIns="0" rtlCol="0" anchor="ctr"/>
          <a:lstStyle/>
          <a:p>
            <a:pPr indent="0" marL="0">
              <a:buNone/>
            </a:pPr>
            <a:r>
              <a:rPr lang="en-US" sz="1600" b="1" dirty="0">
                <a:solidFill>
                  <a:schemeClr val="tx2"/>
                </a:solidFill>
              </a:rPr>
              <a:t>出力が確率的</a:t>
            </a:r>
            <a:endParaRPr lang="en-US" sz="1600" dirty="0"/>
          </a:p>
        </p:txBody>
      </p:sp>
      <p:sp>
        <p:nvSpPr>
          <p:cNvPr id="16" name="text-32"/>
          <p:cNvSpPr txBox="1"/>
          <p:nvPr/>
        </p:nvSpPr>
        <p:spPr>
          <a:xfrm>
            <a:off x="3931920" y="3337560"/>
            <a:ext cx="5577840" cy="548640"/>
          </a:xfrm>
          <a:prstGeom prst="rect">
            <a:avLst/>
          </a:prstGeom>
          <a:noFill/>
          <a:ln/>
        </p:spPr>
        <p:txBody>
          <a:bodyPr wrap="square" lIns="0" tIns="0" rIns="0" bIns="0" rtlCol="0" anchor="ctr"/>
          <a:lstStyle/>
          <a:p>
            <a:pPr indent="0" marL="0">
              <a:buNone/>
            </a:pPr>
            <a:r>
              <a:rPr lang="en-US" sz="1400" dirty="0">
                <a:solidFill>
                  <a:schemeClr val="tx1"/>
                </a:solidFill>
              </a:rPr>
              <a:t>もっともらしい誤り（作話）が混ざる</a:t>
            </a:r>
            <a:endParaRPr lang="en-US" sz="1400" dirty="0"/>
          </a:p>
        </p:txBody>
      </p:sp>
      <p:sp>
        <p:nvSpPr>
          <p:cNvPr id="17" name="chip-33"/>
          <p:cNvSpPr txBox="1"/>
          <p:nvPr/>
        </p:nvSpPr>
        <p:spPr>
          <a:xfrm>
            <a:off x="9692640" y="3465576"/>
            <a:ext cx="86868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LLM07</a:t>
            </a:r>
            <a:endParaRPr lang="en-US" sz="1200" dirty="0"/>
          </a:p>
        </p:txBody>
      </p:sp>
      <p:sp>
        <p:nvSpPr>
          <p:cNvPr id="18" name="rule-34"/>
          <p:cNvSpPr/>
          <p:nvPr/>
        </p:nvSpPr>
        <p:spPr>
          <a:xfrm>
            <a:off x="548640" y="3977640"/>
            <a:ext cx="11064240" cy="0"/>
          </a:xfrm>
          <a:prstGeom prst="line">
            <a:avLst/>
          </a:prstGeom>
          <a:noFill/>
          <a:ln w="9525">
            <a:solidFill>
              <a:schemeClr val="accent6"/>
            </a:solidFill>
            <a:prstDash val="solid"/>
          </a:ln>
        </p:spPr>
      </p:sp>
      <p:sp>
        <p:nvSpPr>
          <p:cNvPr id="19" name="text-35"/>
          <p:cNvSpPr txBox="1"/>
          <p:nvPr/>
        </p:nvSpPr>
        <p:spPr>
          <a:xfrm>
            <a:off x="548640" y="4087368"/>
            <a:ext cx="3291840" cy="548640"/>
          </a:xfrm>
          <a:prstGeom prst="rect">
            <a:avLst/>
          </a:prstGeom>
          <a:noFill/>
          <a:ln/>
        </p:spPr>
        <p:txBody>
          <a:bodyPr wrap="square" lIns="0" tIns="0" rIns="0" bIns="0" rtlCol="0" anchor="ctr"/>
          <a:lstStyle/>
          <a:p>
            <a:pPr indent="0" marL="0">
              <a:buNone/>
            </a:pPr>
            <a:r>
              <a:rPr lang="en-US" sz="1600" b="1" dirty="0">
                <a:solidFill>
                  <a:schemeClr val="tx2"/>
                </a:solidFill>
              </a:rPr>
              <a:t>権限の委譲</a:t>
            </a:r>
            <a:endParaRPr lang="en-US" sz="1600" dirty="0"/>
          </a:p>
        </p:txBody>
      </p:sp>
      <p:sp>
        <p:nvSpPr>
          <p:cNvPr id="20" name="text-36"/>
          <p:cNvSpPr txBox="1"/>
          <p:nvPr/>
        </p:nvSpPr>
        <p:spPr>
          <a:xfrm>
            <a:off x="3931920" y="4087368"/>
            <a:ext cx="5577840" cy="548640"/>
          </a:xfrm>
          <a:prstGeom prst="rect">
            <a:avLst/>
          </a:prstGeom>
          <a:noFill/>
          <a:ln/>
        </p:spPr>
        <p:txBody>
          <a:bodyPr wrap="square" lIns="0" tIns="0" rIns="0" bIns="0" rtlCol="0" anchor="ctr"/>
          <a:lstStyle/>
          <a:p>
            <a:pPr indent="0" marL="0">
              <a:buNone/>
            </a:pPr>
            <a:r>
              <a:rPr lang="en-US" sz="1400" dirty="0">
                <a:solidFill>
                  <a:schemeClr val="tx1"/>
                </a:solidFill>
              </a:rPr>
              <a:t>エージェントがツールを選び、ユーザー権限で外部システムを操作する</a:t>
            </a:r>
            <a:endParaRPr lang="en-US" sz="1400" dirty="0"/>
          </a:p>
        </p:txBody>
      </p:sp>
      <p:sp>
        <p:nvSpPr>
          <p:cNvPr id="21" name="chip-37"/>
          <p:cNvSpPr txBox="1"/>
          <p:nvPr/>
        </p:nvSpPr>
        <p:spPr>
          <a:xfrm>
            <a:off x="9692640" y="4215384"/>
            <a:ext cx="86868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LLM03</a:t>
            </a:r>
            <a:endParaRPr lang="en-US" sz="1200" dirty="0"/>
          </a:p>
        </p:txBody>
      </p:sp>
      <p:sp>
        <p:nvSpPr>
          <p:cNvPr id="22" name="chip-38"/>
          <p:cNvSpPr txBox="1"/>
          <p:nvPr/>
        </p:nvSpPr>
        <p:spPr>
          <a:xfrm>
            <a:off x="10652760" y="4215384"/>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ASI02</a:t>
            </a:r>
            <a:endParaRPr lang="en-US" sz="1200" dirty="0"/>
          </a:p>
        </p:txBody>
      </p:sp>
      <p:sp>
        <p:nvSpPr>
          <p:cNvPr id="23" name="rule-39"/>
          <p:cNvSpPr/>
          <p:nvPr/>
        </p:nvSpPr>
        <p:spPr>
          <a:xfrm>
            <a:off x="548640" y="4727448"/>
            <a:ext cx="11064240" cy="0"/>
          </a:xfrm>
          <a:prstGeom prst="line">
            <a:avLst/>
          </a:prstGeom>
          <a:noFill/>
          <a:ln w="9525">
            <a:solidFill>
              <a:schemeClr val="accent6"/>
            </a:solidFill>
            <a:prstDash val="solid"/>
          </a:ln>
        </p:spPr>
      </p:sp>
      <p:sp>
        <p:nvSpPr>
          <p:cNvPr id="24" name="text-40"/>
          <p:cNvSpPr txBox="1"/>
          <p:nvPr/>
        </p:nvSpPr>
        <p:spPr>
          <a:xfrm>
            <a:off x="548640" y="4837176"/>
            <a:ext cx="3291840" cy="548640"/>
          </a:xfrm>
          <a:prstGeom prst="rect">
            <a:avLst/>
          </a:prstGeom>
          <a:noFill/>
          <a:ln/>
        </p:spPr>
        <p:txBody>
          <a:bodyPr wrap="square" lIns="0" tIns="0" rIns="0" bIns="0" rtlCol="0" anchor="ctr"/>
          <a:lstStyle/>
          <a:p>
            <a:pPr indent="0" marL="0">
              <a:buNone/>
            </a:pPr>
            <a:r>
              <a:rPr lang="en-US" sz="1600" b="1" dirty="0">
                <a:solidFill>
                  <a:schemeClr val="tx2"/>
                </a:solidFill>
              </a:rPr>
              <a:t>データの残留</a:t>
            </a:r>
            <a:endParaRPr lang="en-US" sz="1600" dirty="0"/>
          </a:p>
        </p:txBody>
      </p:sp>
      <p:sp>
        <p:nvSpPr>
          <p:cNvPr id="25" name="text-41"/>
          <p:cNvSpPr txBox="1"/>
          <p:nvPr/>
        </p:nvSpPr>
        <p:spPr>
          <a:xfrm>
            <a:off x="3931920" y="4837176"/>
            <a:ext cx="5577840" cy="548640"/>
          </a:xfrm>
          <a:prstGeom prst="rect">
            <a:avLst/>
          </a:prstGeom>
          <a:noFill/>
          <a:ln/>
        </p:spPr>
        <p:txBody>
          <a:bodyPr wrap="square" lIns="0" tIns="0" rIns="0" bIns="0" rtlCol="0" anchor="ctr"/>
          <a:lstStyle/>
          <a:p>
            <a:pPr indent="0" marL="0">
              <a:buNone/>
            </a:pPr>
            <a:r>
              <a:rPr lang="en-US" sz="1400" dirty="0">
                <a:solidFill>
                  <a:schemeClr val="tx1"/>
                </a:solidFill>
              </a:rPr>
              <a:t>学習・埋め込み・メモリに入ったデータは、元データ削除後も抽出されうる</a:t>
            </a:r>
            <a:endParaRPr lang="en-US" sz="1400" dirty="0"/>
          </a:p>
        </p:txBody>
      </p:sp>
      <p:sp>
        <p:nvSpPr>
          <p:cNvPr id="26" name="chip-42"/>
          <p:cNvSpPr txBox="1"/>
          <p:nvPr/>
        </p:nvSpPr>
        <p:spPr>
          <a:xfrm>
            <a:off x="9692640" y="4965192"/>
            <a:ext cx="86868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LLM02</a:t>
            </a:r>
            <a:endParaRPr lang="en-US" sz="1200" dirty="0"/>
          </a:p>
        </p:txBody>
      </p:sp>
      <p:sp>
        <p:nvSpPr>
          <p:cNvPr id="27" name="chip-43"/>
          <p:cNvSpPr txBox="1"/>
          <p:nvPr/>
        </p:nvSpPr>
        <p:spPr>
          <a:xfrm>
            <a:off x="10652760" y="4965192"/>
            <a:ext cx="86868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LLM09</a:t>
            </a:r>
            <a:endParaRPr lang="en-US" sz="1200" dirty="0"/>
          </a:p>
        </p:txBody>
      </p:sp>
      <p:sp>
        <p:nvSpPr>
          <p:cNvPr id="28" name="rule-44"/>
          <p:cNvSpPr/>
          <p:nvPr/>
        </p:nvSpPr>
        <p:spPr>
          <a:xfrm>
            <a:off x="548640" y="5477256"/>
            <a:ext cx="11064240" cy="0"/>
          </a:xfrm>
          <a:prstGeom prst="line">
            <a:avLst/>
          </a:prstGeom>
          <a:noFill/>
          <a:ln w="9525">
            <a:solidFill>
              <a:schemeClr val="accent6"/>
            </a:solidFill>
            <a:prstDash val="solid"/>
          </a:ln>
        </p:spPr>
      </p:sp>
      <p:sp>
        <p:nvSpPr>
          <p:cNvPr id="29" name="text-45"/>
          <p:cNvSpPr txBox="1"/>
          <p:nvPr/>
        </p:nvSpPr>
        <p:spPr>
          <a:xfrm>
            <a:off x="548640" y="5586984"/>
            <a:ext cx="3291840" cy="548640"/>
          </a:xfrm>
          <a:prstGeom prst="rect">
            <a:avLst/>
          </a:prstGeom>
          <a:noFill/>
          <a:ln/>
        </p:spPr>
        <p:txBody>
          <a:bodyPr wrap="square" lIns="0" tIns="0" rIns="0" bIns="0" rtlCol="0" anchor="ctr"/>
          <a:lstStyle/>
          <a:p>
            <a:pPr indent="0" marL="0">
              <a:buNone/>
            </a:pPr>
            <a:r>
              <a:rPr lang="en-US" sz="1600" b="1" dirty="0">
                <a:solidFill>
                  <a:schemeClr val="tx2"/>
                </a:solidFill>
              </a:rPr>
              <a:t>新しいサプライチェーン</a:t>
            </a:r>
            <a:endParaRPr lang="en-US" sz="1600" dirty="0"/>
          </a:p>
        </p:txBody>
      </p:sp>
      <p:sp>
        <p:nvSpPr>
          <p:cNvPr id="30" name="text-46"/>
          <p:cNvSpPr txBox="1"/>
          <p:nvPr/>
        </p:nvSpPr>
        <p:spPr>
          <a:xfrm>
            <a:off x="3931920" y="5586984"/>
            <a:ext cx="5577840" cy="548640"/>
          </a:xfrm>
          <a:prstGeom prst="rect">
            <a:avLst/>
          </a:prstGeom>
          <a:noFill/>
          <a:ln/>
        </p:spPr>
        <p:txBody>
          <a:bodyPr wrap="square" lIns="0" tIns="0" rIns="0" bIns="0" rtlCol="0" anchor="ctr"/>
          <a:lstStyle/>
          <a:p>
            <a:pPr indent="0" marL="0">
              <a:buNone/>
            </a:pPr>
            <a:r>
              <a:rPr lang="en-US" sz="1400" dirty="0">
                <a:solidFill>
                  <a:schemeClr val="tx1"/>
                </a:solidFill>
              </a:rPr>
              <a:t>事前学習モデル・アダプタ・MCPサーバなど検査が難しい部品に依存する</a:t>
            </a:r>
            <a:endParaRPr lang="en-US" sz="1400" dirty="0"/>
          </a:p>
        </p:txBody>
      </p:sp>
      <p:sp>
        <p:nvSpPr>
          <p:cNvPr id="31" name="chip-47"/>
          <p:cNvSpPr txBox="1"/>
          <p:nvPr/>
        </p:nvSpPr>
        <p:spPr>
          <a:xfrm>
            <a:off x="9692640" y="5715000"/>
            <a:ext cx="86868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LLM04</a:t>
            </a:r>
            <a:endParaRPr lang="en-US" sz="1200" dirty="0"/>
          </a:p>
        </p:txBody>
      </p:sp>
      <p:sp>
        <p:nvSpPr>
          <p:cNvPr id="32" name="chip-48"/>
          <p:cNvSpPr txBox="1"/>
          <p:nvPr/>
        </p:nvSpPr>
        <p:spPr>
          <a:xfrm>
            <a:off x="10652760" y="5715000"/>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ASI04</a:t>
            </a:r>
            <a:endParaRPr lang="en-US" sz="1200" dirty="0"/>
          </a:p>
        </p:txBody>
      </p:sp>
      <p:sp>
        <p:nvSpPr>
          <p:cNvPr id="3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既存の枠組みは、どちらか一方だけでは閉じない</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AI RMFは「何を目指すか」、OWASPは「何を防ぐか」。役割が違うため、組み合わせて初めて閉じる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出典：OWASP Top 10 for LLM Applications 2026, Appendix A（第6章）</a:t>
            </a:r>
            <a:endParaRPr lang="en-US" sz="1000" dirty="0"/>
          </a:p>
        </p:txBody>
      </p:sp>
      <p:sp>
        <p:nvSpPr>
          <p:cNvPr id="6" name="card-49"/>
          <p:cNvSpPr/>
          <p:nvPr/>
        </p:nvSpPr>
        <p:spPr>
          <a:xfrm>
            <a:off x="548640" y="1691640"/>
            <a:ext cx="3840480" cy="4480560"/>
          </a:xfrm>
          <a:prstGeom prst="roundRect">
            <a:avLst>
              <a:gd name="adj" fmla="val 1905"/>
            </a:avLst>
          </a:prstGeom>
          <a:solidFill>
            <a:schemeClr val="tx2"/>
          </a:solidFill>
          <a:ln w="12700">
            <a:solidFill>
              <a:schemeClr val="tx2"/>
            </a:solidFill>
            <a:prstDash val="solid"/>
          </a:ln>
        </p:spPr>
      </p:sp>
      <p:sp>
        <p:nvSpPr>
          <p:cNvPr id="7" name="text-50"/>
          <p:cNvSpPr txBox="1"/>
          <p:nvPr/>
        </p:nvSpPr>
        <p:spPr>
          <a:xfrm>
            <a:off x="822960" y="2011680"/>
            <a:ext cx="3291840" cy="1188720"/>
          </a:xfrm>
          <a:prstGeom prst="rect">
            <a:avLst/>
          </a:prstGeom>
          <a:noFill/>
          <a:ln/>
        </p:spPr>
        <p:txBody>
          <a:bodyPr wrap="square" lIns="0" tIns="0" rIns="0" bIns="0" rtlCol="0" anchor="ctr"/>
          <a:lstStyle/>
          <a:p>
            <a:pPr indent="0" marL="0">
              <a:buNone/>
            </a:pPr>
            <a:r>
              <a:rPr lang="en-US" sz="6400" b="1" dirty="0">
                <a:solidFill>
                  <a:schemeClr val="bg1"/>
                </a:solidFill>
              </a:rPr>
              <a:t>2 / 10</a:t>
            </a:r>
            <a:endParaRPr lang="en-US" sz="6400" dirty="0"/>
          </a:p>
        </p:txBody>
      </p:sp>
      <p:sp>
        <p:nvSpPr>
          <p:cNvPr id="8" name="text-51"/>
          <p:cNvSpPr txBox="1"/>
          <p:nvPr/>
        </p:nvSpPr>
        <p:spPr>
          <a:xfrm>
            <a:off x="822960" y="3246120"/>
            <a:ext cx="3291840" cy="822960"/>
          </a:xfrm>
          <a:prstGeom prst="rect">
            <a:avLst/>
          </a:prstGeom>
          <a:noFill/>
          <a:ln/>
        </p:spPr>
        <p:txBody>
          <a:bodyPr wrap="square" lIns="0" tIns="0" rIns="0" bIns="0" rtlCol="0" anchor="t"/>
          <a:lstStyle/>
          <a:p>
            <a:pPr indent="0" marL="0">
              <a:buNone/>
            </a:pPr>
            <a:r>
              <a:rPr lang="en-US" sz="1500" dirty="0">
                <a:solidFill>
                  <a:schemeClr val="bg1"/>
                </a:solidFill>
              </a:rPr>
              <a:t>OWASP LLM Top 10 のうち、AI RMF とほぼそのまま対応するリスク</a:t>
            </a:r>
            <a:endParaRPr lang="en-US" sz="1500" dirty="0"/>
          </a:p>
        </p:txBody>
      </p:sp>
      <p:sp>
        <p:nvSpPr>
          <p:cNvPr id="9" name="text-52"/>
          <p:cNvSpPr txBox="1"/>
          <p:nvPr/>
        </p:nvSpPr>
        <p:spPr>
          <a:xfrm>
            <a:off x="822960" y="4160520"/>
            <a:ext cx="3291840" cy="1828800"/>
          </a:xfrm>
          <a:prstGeom prst="rect">
            <a:avLst/>
          </a:prstGeom>
          <a:noFill/>
          <a:ln/>
        </p:spPr>
        <p:txBody>
          <a:bodyPr wrap="square" lIns="0" tIns="0" rIns="0" bIns="0" rtlCol="0" anchor="t"/>
          <a:lstStyle/>
          <a:p>
            <a:pPr indent="0" marL="0">
              <a:buNone/>
            </a:pPr>
            <a:r>
              <a:rPr lang="en-US" sz="1400" dirty="0">
                <a:solidFill>
                  <a:schemeClr val="accent6"/>
                </a:solidFill>
              </a:rPr>
              <a:t>LLM04 サプライチェーン</a:t>
            </a:r>
            <a:endParaRPr lang="en-US" sz="1400" dirty="0"/>
          </a:p>
          <a:p>
            <a:pPr indent="0" marL="0">
              <a:buNone/>
            </a:pPr>
            <a:r>
              <a:rPr lang="en-US" sz="1400" dirty="0">
                <a:solidFill>
                  <a:schemeClr val="accent6"/>
                </a:solidFill>
              </a:rPr>
              <a:t>LLM07 誤情報</a:t>
            </a:r>
            <a:endParaRPr lang="en-US" sz="1400" dirty="0"/>
          </a:p>
          <a:p>
            <a:pPr indent="0" marL="0">
              <a:buNone/>
            </a:pPr>
            <a:endParaRPr lang="en-US" sz="1400" dirty="0"/>
          </a:p>
          <a:p>
            <a:pPr indent="0" marL="0">
              <a:buNone/>
            </a:pPr>
            <a:r>
              <a:rPr lang="en-US" sz="1400" dirty="0">
                <a:solidFill>
                  <a:schemeClr val="accent6"/>
                </a:solidFill>
              </a:rPr>
              <a:t>残り8件は補助的な対応のみ</a:t>
            </a:r>
            <a:endParaRPr lang="en-US" sz="1400" dirty="0"/>
          </a:p>
          <a:p>
            <a:pPr indent="0" marL="0">
              <a:buNone/>
            </a:pPr>
            <a:r>
              <a:rPr lang="en-US" sz="1400" dirty="0">
                <a:solidFill>
                  <a:schemeClr val="accent6"/>
                </a:solidFill>
              </a:rPr>
              <a:t>LLM10 は対応なし</a:t>
            </a:r>
            <a:endParaRPr lang="en-US" sz="1400" dirty="0"/>
          </a:p>
        </p:txBody>
      </p:sp>
      <p:sp>
        <p:nvSpPr>
          <p:cNvPr id="10" name="card-53"/>
          <p:cNvSpPr/>
          <p:nvPr/>
        </p:nvSpPr>
        <p:spPr>
          <a:xfrm>
            <a:off x="4663440" y="1691640"/>
            <a:ext cx="6949440" cy="2103120"/>
          </a:xfrm>
          <a:prstGeom prst="roundRect">
            <a:avLst>
              <a:gd name="adj" fmla="val 3478"/>
            </a:avLst>
          </a:prstGeom>
          <a:solidFill>
            <a:schemeClr val="bg2"/>
          </a:solidFill>
          <a:ln w="12700">
            <a:solidFill>
              <a:schemeClr val="bg2"/>
            </a:solidFill>
            <a:prstDash val="solid"/>
          </a:ln>
        </p:spPr>
      </p:sp>
      <p:sp>
        <p:nvSpPr>
          <p:cNvPr id="11" name="chip-54"/>
          <p:cNvSpPr txBox="1"/>
          <p:nvPr/>
        </p:nvSpPr>
        <p:spPr>
          <a:xfrm>
            <a:off x="4937760" y="1965960"/>
            <a:ext cx="2194560" cy="365760"/>
          </a:xfrm>
          <a:prstGeom prst="roundRect">
            <a:avLst>
              <a:gd name="adj" fmla="val 40000"/>
            </a:avLst>
          </a:prstGeom>
          <a:solidFill>
            <a:schemeClr val="accent1"/>
          </a:solidFill>
          <a:ln/>
        </p:spPr>
        <p:txBody>
          <a:bodyPr wrap="square" lIns="0" tIns="0" rIns="0" bIns="0" rtlCol="0" anchor="ctr"/>
          <a:lstStyle/>
          <a:p>
            <a:pPr algn="ctr" indent="0" marL="0">
              <a:buNone/>
            </a:pPr>
            <a:r>
              <a:rPr lang="en-US" sz="1400" b="1" dirty="0">
                <a:solidFill>
                  <a:schemeClr val="bg1"/>
                </a:solidFill>
              </a:rPr>
              <a:t>AI RMF だけでは</a:t>
            </a:r>
            <a:endParaRPr lang="en-US" sz="1400" dirty="0"/>
          </a:p>
        </p:txBody>
      </p:sp>
      <p:sp>
        <p:nvSpPr>
          <p:cNvPr id="12" name="text-55"/>
          <p:cNvSpPr txBox="1"/>
          <p:nvPr/>
        </p:nvSpPr>
        <p:spPr>
          <a:xfrm>
            <a:off x="4937760" y="2468880"/>
            <a:ext cx="6400800" cy="640080"/>
          </a:xfrm>
          <a:prstGeom prst="rect">
            <a:avLst/>
          </a:prstGeom>
          <a:noFill/>
          <a:ln/>
        </p:spPr>
        <p:txBody>
          <a:bodyPr wrap="square" lIns="0" tIns="0" rIns="0" bIns="0" rtlCol="0" anchor="t"/>
          <a:lstStyle/>
          <a:p>
            <a:pPr indent="0" marL="0">
              <a:buNone/>
            </a:pPr>
            <a:r>
              <a:rPr lang="en-US" sz="1400" dirty="0">
                <a:solidFill>
                  <a:schemeClr val="tx1"/>
                </a:solidFill>
              </a:rPr>
              <a:t>「評価せよ（MEASURE 2）」「対応せよ（MANAGE）」とは言うが、何をどう評価・対応するかは言わない</a:t>
            </a:r>
            <a:endParaRPr lang="en-US" sz="1400" dirty="0"/>
          </a:p>
        </p:txBody>
      </p:sp>
      <p:sp>
        <p:nvSpPr>
          <p:cNvPr id="13" name="text-56"/>
          <p:cNvSpPr txBox="1"/>
          <p:nvPr/>
        </p:nvSpPr>
        <p:spPr>
          <a:xfrm>
            <a:off x="4937760" y="3108960"/>
            <a:ext cx="6400800" cy="548640"/>
          </a:xfrm>
          <a:prstGeom prst="rect">
            <a:avLst/>
          </a:prstGeom>
          <a:noFill/>
          <a:ln/>
        </p:spPr>
        <p:txBody>
          <a:bodyPr wrap="square" lIns="0" tIns="0" rIns="0" bIns="0" rtlCol="0" anchor="t"/>
          <a:lstStyle/>
          <a:p>
            <a:pPr indent="0" marL="0">
              <a:buNone/>
            </a:pPr>
            <a:r>
              <a:rPr lang="en-US" sz="1500" b="1" dirty="0">
                <a:solidFill>
                  <a:schemeClr val="accent3"/>
                </a:solidFill>
              </a:rPr>
              <a:t>→ プロンプトインジェクションや出力処理の技術対策が担保されない</a:t>
            </a:r>
            <a:endParaRPr lang="en-US" sz="1500" dirty="0"/>
          </a:p>
        </p:txBody>
      </p:sp>
      <p:sp>
        <p:nvSpPr>
          <p:cNvPr id="14" name="card-57"/>
          <p:cNvSpPr/>
          <p:nvPr/>
        </p:nvSpPr>
        <p:spPr>
          <a:xfrm>
            <a:off x="4663440" y="3977640"/>
            <a:ext cx="6949440" cy="2103120"/>
          </a:xfrm>
          <a:prstGeom prst="roundRect">
            <a:avLst>
              <a:gd name="adj" fmla="val 3478"/>
            </a:avLst>
          </a:prstGeom>
          <a:solidFill>
            <a:schemeClr val="bg2"/>
          </a:solidFill>
          <a:ln w="12700">
            <a:solidFill>
              <a:schemeClr val="bg2"/>
            </a:solidFill>
            <a:prstDash val="solid"/>
          </a:ln>
        </p:spPr>
      </p:sp>
      <p:sp>
        <p:nvSpPr>
          <p:cNvPr id="15" name="chip-58"/>
          <p:cNvSpPr txBox="1"/>
          <p:nvPr/>
        </p:nvSpPr>
        <p:spPr>
          <a:xfrm>
            <a:off x="4937760" y="4251960"/>
            <a:ext cx="2194560" cy="365760"/>
          </a:xfrm>
          <a:prstGeom prst="roundRect">
            <a:avLst>
              <a:gd name="adj" fmla="val 40000"/>
            </a:avLst>
          </a:prstGeom>
          <a:solidFill>
            <a:schemeClr val="accent2"/>
          </a:solidFill>
          <a:ln/>
        </p:spPr>
        <p:txBody>
          <a:bodyPr wrap="square" lIns="0" tIns="0" rIns="0" bIns="0" rtlCol="0" anchor="ctr"/>
          <a:lstStyle/>
          <a:p>
            <a:pPr algn="ctr" indent="0" marL="0">
              <a:buNone/>
            </a:pPr>
            <a:r>
              <a:rPr lang="en-US" sz="1400" b="1" dirty="0">
                <a:solidFill>
                  <a:schemeClr val="bg1"/>
                </a:solidFill>
              </a:rPr>
              <a:t>OWASP だけでは</a:t>
            </a:r>
            <a:endParaRPr lang="en-US" sz="1400" dirty="0"/>
          </a:p>
        </p:txBody>
      </p:sp>
      <p:sp>
        <p:nvSpPr>
          <p:cNvPr id="16" name="text-59"/>
          <p:cNvSpPr txBox="1"/>
          <p:nvPr/>
        </p:nvSpPr>
        <p:spPr>
          <a:xfrm>
            <a:off x="4937760" y="4754880"/>
            <a:ext cx="6400800" cy="640080"/>
          </a:xfrm>
          <a:prstGeom prst="rect">
            <a:avLst/>
          </a:prstGeom>
          <a:noFill/>
          <a:ln/>
        </p:spPr>
        <p:txBody>
          <a:bodyPr wrap="square" lIns="0" tIns="0" rIns="0" bIns="0" rtlCol="0" anchor="t"/>
          <a:lstStyle/>
          <a:p>
            <a:pPr indent="0" marL="0">
              <a:buNone/>
            </a:pPr>
            <a:r>
              <a:rPr lang="en-US" sz="1400" dirty="0">
                <a:solidFill>
                  <a:schemeClr val="tx1"/>
                </a:solidFill>
              </a:rPr>
              <a:t>何を防ぎ、どう実装・検証するかは詳しいが、組織としての判断の仕組みを持たない</a:t>
            </a:r>
            <a:endParaRPr lang="en-US" sz="1400" dirty="0"/>
          </a:p>
        </p:txBody>
      </p:sp>
      <p:sp>
        <p:nvSpPr>
          <p:cNvPr id="17" name="text-60"/>
          <p:cNvSpPr txBox="1"/>
          <p:nvPr/>
        </p:nvSpPr>
        <p:spPr>
          <a:xfrm>
            <a:off x="4937760" y="5394960"/>
            <a:ext cx="6400800" cy="548640"/>
          </a:xfrm>
          <a:prstGeom prst="rect">
            <a:avLst/>
          </a:prstGeom>
          <a:noFill/>
          <a:ln/>
        </p:spPr>
        <p:txBody>
          <a:bodyPr wrap="square" lIns="0" tIns="0" rIns="0" bIns="0" rtlCol="0" anchor="t"/>
          <a:lstStyle/>
          <a:p>
            <a:pPr indent="0" marL="0">
              <a:buNone/>
            </a:pPr>
            <a:r>
              <a:rPr lang="en-US" sz="1500" b="1" dirty="0">
                <a:solidFill>
                  <a:schemeClr val="accent3"/>
                </a:solidFill>
              </a:rPr>
              <a:t>→ 誰が承認し、残留リスクを誰が受容するか（GOVERN 2.3、MANAGE 1.4）が決まらない</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目指す姿：ガバナンスが安定した状態</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導入の到達点を5つの観点で定義する。ロードマップはこの状態に向けて段階を切る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出典：第1章 1.3（根拠は NIST AI 100-1 のサブカテゴリ）</a:t>
            </a:r>
            <a:endParaRPr lang="en-US" sz="1000" dirty="0"/>
          </a:p>
        </p:txBody>
      </p:sp>
      <p:sp>
        <p:nvSpPr>
          <p:cNvPr id="6" name="card-61"/>
          <p:cNvSpPr/>
          <p:nvPr/>
        </p:nvSpPr>
        <p:spPr>
          <a:xfrm>
            <a:off x="548640" y="1691640"/>
            <a:ext cx="2103120" cy="4480560"/>
          </a:xfrm>
          <a:prstGeom prst="roundRect">
            <a:avLst>
              <a:gd name="adj" fmla="val 3478"/>
            </a:avLst>
          </a:prstGeom>
          <a:solidFill>
            <a:schemeClr val="bg2"/>
          </a:solidFill>
          <a:ln w="12700">
            <a:solidFill>
              <a:schemeClr val="bg2"/>
            </a:solidFill>
            <a:prstDash val="solid"/>
          </a:ln>
        </p:spPr>
      </p:sp>
      <p:sp>
        <p:nvSpPr>
          <p:cNvPr id="7" name="num-62"/>
          <p:cNvSpPr/>
          <p:nvPr/>
        </p:nvSpPr>
        <p:spPr>
          <a:xfrm>
            <a:off x="777240" y="1920240"/>
            <a:ext cx="548640" cy="548640"/>
          </a:xfrm>
          <a:prstGeom prst="ellipse">
            <a:avLst/>
          </a:prstGeom>
          <a:solidFill>
            <a:schemeClr val="accent1"/>
          </a:solidFill>
          <a:ln w="12700">
            <a:solidFill>
              <a:schemeClr val="accent1"/>
            </a:solidFill>
            <a:prstDash val="solid"/>
          </a:ln>
        </p:spPr>
      </p:sp>
      <p:sp>
        <p:nvSpPr>
          <p:cNvPr id="8" name="text-63"/>
          <p:cNvSpPr txBox="1"/>
          <p:nvPr/>
        </p:nvSpPr>
        <p:spPr>
          <a:xfrm>
            <a:off x="77724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64"/>
          <p:cNvSpPr txBox="1"/>
          <p:nvPr/>
        </p:nvSpPr>
        <p:spPr>
          <a:xfrm>
            <a:off x="777240" y="2651760"/>
            <a:ext cx="1645920" cy="457200"/>
          </a:xfrm>
          <a:prstGeom prst="rect">
            <a:avLst/>
          </a:prstGeom>
          <a:noFill/>
          <a:ln/>
        </p:spPr>
        <p:txBody>
          <a:bodyPr wrap="square" lIns="0" tIns="0" rIns="0" bIns="0" rtlCol="0" anchor="t"/>
          <a:lstStyle/>
          <a:p>
            <a:pPr indent="0" marL="0">
              <a:buNone/>
            </a:pPr>
            <a:r>
              <a:rPr lang="en-US" sz="2000" b="1" dirty="0">
                <a:solidFill>
                  <a:schemeClr val="tx2"/>
                </a:solidFill>
              </a:rPr>
              <a:t>把握</a:t>
            </a:r>
            <a:endParaRPr lang="en-US" sz="2000" dirty="0"/>
          </a:p>
        </p:txBody>
      </p:sp>
      <p:sp>
        <p:nvSpPr>
          <p:cNvPr id="10" name="text-65"/>
          <p:cNvSpPr txBox="1"/>
          <p:nvPr/>
        </p:nvSpPr>
        <p:spPr>
          <a:xfrm>
            <a:off x="777240" y="3200400"/>
            <a:ext cx="1645920" cy="1737360"/>
          </a:xfrm>
          <a:prstGeom prst="rect">
            <a:avLst/>
          </a:prstGeom>
          <a:noFill/>
          <a:ln/>
        </p:spPr>
        <p:txBody>
          <a:bodyPr wrap="square" lIns="0" tIns="0" rIns="0" bIns="0" rtlCol="0" anchor="t"/>
          <a:lstStyle/>
          <a:p>
            <a:pPr indent="0" marL="0">
              <a:buNone/>
            </a:pPr>
            <a:r>
              <a:rPr lang="en-US" sz="1400" dirty="0">
                <a:solidFill>
                  <a:schemeClr val="tx1"/>
                </a:solidFill>
              </a:rPr>
              <a:t>社内の生成AIがすべて台帳に載り、構成要素と責任者が分かる</a:t>
            </a:r>
            <a:endParaRPr lang="en-US" sz="1400" dirty="0"/>
          </a:p>
        </p:txBody>
      </p:sp>
      <p:sp>
        <p:nvSpPr>
          <p:cNvPr id="11" name="chip-66"/>
          <p:cNvSpPr txBox="1"/>
          <p:nvPr/>
        </p:nvSpPr>
        <p:spPr>
          <a:xfrm>
            <a:off x="777240" y="4983480"/>
            <a:ext cx="1645920" cy="274320"/>
          </a:xfrm>
          <a:prstGeom prst="roundRect">
            <a:avLst>
              <a:gd name="adj" fmla="val 53333"/>
            </a:avLst>
          </a:prstGeom>
          <a:solidFill>
            <a:schemeClr val="accent4"/>
          </a:solidFill>
          <a:ln/>
        </p:spPr>
        <p:txBody>
          <a:bodyPr wrap="square" lIns="0" tIns="0" rIns="0" bIns="0" rtlCol="0" anchor="ctr"/>
          <a:lstStyle/>
          <a:p>
            <a:pPr algn="ctr" indent="0" marL="0">
              <a:buNone/>
            </a:pPr>
            <a:r>
              <a:rPr lang="en-US" sz="1100" b="1" dirty="0">
                <a:solidFill>
                  <a:schemeClr val="bg1"/>
                </a:solidFill>
              </a:rPr>
              <a:t>GOVERN 1.6</a:t>
            </a:r>
            <a:endParaRPr lang="en-US" sz="1100" dirty="0"/>
          </a:p>
        </p:txBody>
      </p:sp>
      <p:sp>
        <p:nvSpPr>
          <p:cNvPr id="12" name="chip-67"/>
          <p:cNvSpPr txBox="1"/>
          <p:nvPr/>
        </p:nvSpPr>
        <p:spPr>
          <a:xfrm>
            <a:off x="777240" y="5349240"/>
            <a:ext cx="1645920" cy="274320"/>
          </a:xfrm>
          <a:prstGeom prst="roundRect">
            <a:avLst>
              <a:gd name="adj" fmla="val 53333"/>
            </a:avLst>
          </a:prstGeom>
          <a:solidFill>
            <a:schemeClr val="accent4"/>
          </a:solidFill>
          <a:ln/>
        </p:spPr>
        <p:txBody>
          <a:bodyPr wrap="square" lIns="0" tIns="0" rIns="0" bIns="0" rtlCol="0" anchor="ctr"/>
          <a:lstStyle/>
          <a:p>
            <a:pPr algn="ctr" indent="0" marL="0">
              <a:buNone/>
            </a:pPr>
            <a:r>
              <a:rPr lang="en-US" sz="1100" b="1" dirty="0">
                <a:solidFill>
                  <a:schemeClr val="bg1"/>
                </a:solidFill>
              </a:rPr>
              <a:t>MAP 4</a:t>
            </a:r>
            <a:endParaRPr lang="en-US" sz="1100" dirty="0"/>
          </a:p>
        </p:txBody>
      </p:sp>
      <p:sp>
        <p:nvSpPr>
          <p:cNvPr id="13" name="card-68"/>
          <p:cNvSpPr/>
          <p:nvPr/>
        </p:nvSpPr>
        <p:spPr>
          <a:xfrm>
            <a:off x="2798064" y="1691640"/>
            <a:ext cx="2103120" cy="4480560"/>
          </a:xfrm>
          <a:prstGeom prst="roundRect">
            <a:avLst>
              <a:gd name="adj" fmla="val 3478"/>
            </a:avLst>
          </a:prstGeom>
          <a:solidFill>
            <a:schemeClr val="bg2"/>
          </a:solidFill>
          <a:ln w="12700">
            <a:solidFill>
              <a:schemeClr val="bg2"/>
            </a:solidFill>
            <a:prstDash val="solid"/>
          </a:ln>
        </p:spPr>
      </p:sp>
      <p:sp>
        <p:nvSpPr>
          <p:cNvPr id="14" name="num-69"/>
          <p:cNvSpPr/>
          <p:nvPr/>
        </p:nvSpPr>
        <p:spPr>
          <a:xfrm>
            <a:off x="3026664" y="1920240"/>
            <a:ext cx="548640" cy="548640"/>
          </a:xfrm>
          <a:prstGeom prst="ellipse">
            <a:avLst/>
          </a:prstGeom>
          <a:solidFill>
            <a:schemeClr val="accent1"/>
          </a:solidFill>
          <a:ln w="12700">
            <a:solidFill>
              <a:schemeClr val="accent1"/>
            </a:solidFill>
            <a:prstDash val="solid"/>
          </a:ln>
        </p:spPr>
      </p:sp>
      <p:sp>
        <p:nvSpPr>
          <p:cNvPr id="15" name="text-70"/>
          <p:cNvSpPr txBox="1"/>
          <p:nvPr/>
        </p:nvSpPr>
        <p:spPr>
          <a:xfrm>
            <a:off x="3026664"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6" name="text-71"/>
          <p:cNvSpPr txBox="1"/>
          <p:nvPr/>
        </p:nvSpPr>
        <p:spPr>
          <a:xfrm>
            <a:off x="3026664" y="2651760"/>
            <a:ext cx="1645920" cy="457200"/>
          </a:xfrm>
          <a:prstGeom prst="rect">
            <a:avLst/>
          </a:prstGeom>
          <a:noFill/>
          <a:ln/>
        </p:spPr>
        <p:txBody>
          <a:bodyPr wrap="square" lIns="0" tIns="0" rIns="0" bIns="0" rtlCol="0" anchor="t"/>
          <a:lstStyle/>
          <a:p>
            <a:pPr indent="0" marL="0">
              <a:buNone/>
            </a:pPr>
            <a:r>
              <a:rPr lang="en-US" sz="2000" b="1" dirty="0">
                <a:solidFill>
                  <a:schemeClr val="tx2"/>
                </a:solidFill>
              </a:rPr>
              <a:t>判断</a:t>
            </a:r>
            <a:endParaRPr lang="en-US" sz="2000" dirty="0"/>
          </a:p>
        </p:txBody>
      </p:sp>
      <p:sp>
        <p:nvSpPr>
          <p:cNvPr id="17" name="text-72"/>
          <p:cNvSpPr txBox="1"/>
          <p:nvPr/>
        </p:nvSpPr>
        <p:spPr>
          <a:xfrm>
            <a:off x="3026664" y="3200400"/>
            <a:ext cx="1645920" cy="1737360"/>
          </a:xfrm>
          <a:prstGeom prst="rect">
            <a:avLst/>
          </a:prstGeom>
          <a:noFill/>
          <a:ln/>
        </p:spPr>
        <p:txBody>
          <a:bodyPr wrap="square" lIns="0" tIns="0" rIns="0" bIns="0" rtlCol="0" anchor="t"/>
          <a:lstStyle/>
          <a:p>
            <a:pPr indent="0" marL="0">
              <a:buNone/>
            </a:pPr>
            <a:r>
              <a:rPr lang="en-US" sz="1400" dirty="0">
                <a:solidFill>
                  <a:schemeClr val="tx1"/>
                </a:solidFill>
              </a:rPr>
              <a:t>リスクに応じた水準で審査され、残留リスクの受容者が記録されている</a:t>
            </a:r>
            <a:endParaRPr lang="en-US" sz="1400" dirty="0"/>
          </a:p>
        </p:txBody>
      </p:sp>
      <p:sp>
        <p:nvSpPr>
          <p:cNvPr id="18" name="chip-73"/>
          <p:cNvSpPr txBox="1"/>
          <p:nvPr/>
        </p:nvSpPr>
        <p:spPr>
          <a:xfrm>
            <a:off x="3026664" y="4983480"/>
            <a:ext cx="1645920" cy="274320"/>
          </a:xfrm>
          <a:prstGeom prst="roundRect">
            <a:avLst>
              <a:gd name="adj" fmla="val 53333"/>
            </a:avLst>
          </a:prstGeom>
          <a:solidFill>
            <a:schemeClr val="accent4"/>
          </a:solidFill>
          <a:ln/>
        </p:spPr>
        <p:txBody>
          <a:bodyPr wrap="square" lIns="0" tIns="0" rIns="0" bIns="0" rtlCol="0" anchor="ctr"/>
          <a:lstStyle/>
          <a:p>
            <a:pPr algn="ctr" indent="0" marL="0">
              <a:buNone/>
            </a:pPr>
            <a:r>
              <a:rPr lang="en-US" sz="1100" b="1" dirty="0">
                <a:solidFill>
                  <a:schemeClr val="bg1"/>
                </a:solidFill>
              </a:rPr>
              <a:t>GOVERN 1.3</a:t>
            </a:r>
            <a:endParaRPr lang="en-US" sz="1100" dirty="0"/>
          </a:p>
        </p:txBody>
      </p:sp>
      <p:sp>
        <p:nvSpPr>
          <p:cNvPr id="19" name="chip-74"/>
          <p:cNvSpPr txBox="1"/>
          <p:nvPr/>
        </p:nvSpPr>
        <p:spPr>
          <a:xfrm>
            <a:off x="3026664" y="5349240"/>
            <a:ext cx="1645920" cy="274320"/>
          </a:xfrm>
          <a:prstGeom prst="roundRect">
            <a:avLst>
              <a:gd name="adj" fmla="val 53333"/>
            </a:avLst>
          </a:prstGeom>
          <a:solidFill>
            <a:schemeClr val="accent4"/>
          </a:solidFill>
          <a:ln/>
        </p:spPr>
        <p:txBody>
          <a:bodyPr wrap="square" lIns="0" tIns="0" rIns="0" bIns="0" rtlCol="0" anchor="ctr"/>
          <a:lstStyle/>
          <a:p>
            <a:pPr algn="ctr" indent="0" marL="0">
              <a:buNone/>
            </a:pPr>
            <a:r>
              <a:rPr lang="en-US" sz="1100" b="1" dirty="0">
                <a:solidFill>
                  <a:schemeClr val="bg1"/>
                </a:solidFill>
              </a:rPr>
              <a:t>GOVERN 2.3</a:t>
            </a:r>
            <a:endParaRPr lang="en-US" sz="1100" dirty="0"/>
          </a:p>
        </p:txBody>
      </p:sp>
      <p:sp>
        <p:nvSpPr>
          <p:cNvPr id="20" name="chip-75"/>
          <p:cNvSpPr txBox="1"/>
          <p:nvPr/>
        </p:nvSpPr>
        <p:spPr>
          <a:xfrm>
            <a:off x="3026664" y="5715000"/>
            <a:ext cx="1645920" cy="274320"/>
          </a:xfrm>
          <a:prstGeom prst="roundRect">
            <a:avLst>
              <a:gd name="adj" fmla="val 53333"/>
            </a:avLst>
          </a:prstGeom>
          <a:solidFill>
            <a:schemeClr val="accent4"/>
          </a:solidFill>
          <a:ln/>
        </p:spPr>
        <p:txBody>
          <a:bodyPr wrap="square" lIns="0" tIns="0" rIns="0" bIns="0" rtlCol="0" anchor="ctr"/>
          <a:lstStyle/>
          <a:p>
            <a:pPr algn="ctr" indent="0" marL="0">
              <a:buNone/>
            </a:pPr>
            <a:r>
              <a:rPr lang="en-US" sz="1100" b="1" dirty="0">
                <a:solidFill>
                  <a:schemeClr val="bg1"/>
                </a:solidFill>
              </a:rPr>
              <a:t>MANAGE 1.4</a:t>
            </a:r>
            <a:endParaRPr lang="en-US" sz="1100" dirty="0"/>
          </a:p>
        </p:txBody>
      </p:sp>
      <p:sp>
        <p:nvSpPr>
          <p:cNvPr id="21" name="card-76"/>
          <p:cNvSpPr/>
          <p:nvPr/>
        </p:nvSpPr>
        <p:spPr>
          <a:xfrm>
            <a:off x="5047488" y="1691640"/>
            <a:ext cx="2103120" cy="4480560"/>
          </a:xfrm>
          <a:prstGeom prst="roundRect">
            <a:avLst>
              <a:gd name="adj" fmla="val 3478"/>
            </a:avLst>
          </a:prstGeom>
          <a:solidFill>
            <a:schemeClr val="bg2"/>
          </a:solidFill>
          <a:ln w="12700">
            <a:solidFill>
              <a:schemeClr val="bg2"/>
            </a:solidFill>
            <a:prstDash val="solid"/>
          </a:ln>
        </p:spPr>
      </p:sp>
      <p:sp>
        <p:nvSpPr>
          <p:cNvPr id="22" name="num-77"/>
          <p:cNvSpPr/>
          <p:nvPr/>
        </p:nvSpPr>
        <p:spPr>
          <a:xfrm>
            <a:off x="5276088" y="1920240"/>
            <a:ext cx="548640" cy="548640"/>
          </a:xfrm>
          <a:prstGeom prst="ellipse">
            <a:avLst/>
          </a:prstGeom>
          <a:solidFill>
            <a:schemeClr val="accent1"/>
          </a:solidFill>
          <a:ln w="12700">
            <a:solidFill>
              <a:schemeClr val="accent1"/>
            </a:solidFill>
            <a:prstDash val="solid"/>
          </a:ln>
        </p:spPr>
      </p:sp>
      <p:sp>
        <p:nvSpPr>
          <p:cNvPr id="23" name="text-78"/>
          <p:cNvSpPr txBox="1"/>
          <p:nvPr/>
        </p:nvSpPr>
        <p:spPr>
          <a:xfrm>
            <a:off x="5276088"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4" name="text-79"/>
          <p:cNvSpPr txBox="1"/>
          <p:nvPr/>
        </p:nvSpPr>
        <p:spPr>
          <a:xfrm>
            <a:off x="5276088" y="2651760"/>
            <a:ext cx="1645920" cy="457200"/>
          </a:xfrm>
          <a:prstGeom prst="rect">
            <a:avLst/>
          </a:prstGeom>
          <a:noFill/>
          <a:ln/>
        </p:spPr>
        <p:txBody>
          <a:bodyPr wrap="square" lIns="0" tIns="0" rIns="0" bIns="0" rtlCol="0" anchor="t"/>
          <a:lstStyle/>
          <a:p>
            <a:pPr indent="0" marL="0">
              <a:buNone/>
            </a:pPr>
            <a:r>
              <a:rPr lang="en-US" sz="2000" b="1" dirty="0">
                <a:solidFill>
                  <a:schemeClr val="tx2"/>
                </a:solidFill>
              </a:rPr>
              <a:t>実装</a:t>
            </a:r>
            <a:endParaRPr lang="en-US" sz="2000" dirty="0"/>
          </a:p>
        </p:txBody>
      </p:sp>
      <p:sp>
        <p:nvSpPr>
          <p:cNvPr id="25" name="text-80"/>
          <p:cNvSpPr txBox="1"/>
          <p:nvPr/>
        </p:nvSpPr>
        <p:spPr>
          <a:xfrm>
            <a:off x="5276088" y="3200400"/>
            <a:ext cx="1645920" cy="1737360"/>
          </a:xfrm>
          <a:prstGeom prst="rect">
            <a:avLst/>
          </a:prstGeom>
          <a:noFill/>
          <a:ln/>
        </p:spPr>
        <p:txBody>
          <a:bodyPr wrap="square" lIns="0" tIns="0" rIns="0" bIns="0" rtlCol="0" anchor="t"/>
          <a:lstStyle/>
          <a:p>
            <a:pPr indent="0" marL="0">
              <a:buNone/>
            </a:pPr>
            <a:r>
              <a:rPr lang="en-US" sz="1400" dirty="0">
                <a:solidFill>
                  <a:schemeClr val="tx1"/>
                </a:solidFill>
              </a:rPr>
              <a:t>案件ごとにOWASPの対策が適用され、テストで確かめられている</a:t>
            </a:r>
            <a:endParaRPr lang="en-US" sz="1400" dirty="0"/>
          </a:p>
        </p:txBody>
      </p:sp>
      <p:sp>
        <p:nvSpPr>
          <p:cNvPr id="26" name="chip-81"/>
          <p:cNvSpPr txBox="1"/>
          <p:nvPr/>
        </p:nvSpPr>
        <p:spPr>
          <a:xfrm>
            <a:off x="5276088" y="4983480"/>
            <a:ext cx="1645920" cy="274320"/>
          </a:xfrm>
          <a:prstGeom prst="roundRect">
            <a:avLst>
              <a:gd name="adj" fmla="val 53333"/>
            </a:avLst>
          </a:prstGeom>
          <a:solidFill>
            <a:schemeClr val="accent4"/>
          </a:solidFill>
          <a:ln/>
        </p:spPr>
        <p:txBody>
          <a:bodyPr wrap="square" lIns="0" tIns="0" rIns="0" bIns="0" rtlCol="0" anchor="ctr"/>
          <a:lstStyle/>
          <a:p>
            <a:pPr algn="ctr" indent="0" marL="0">
              <a:buNone/>
            </a:pPr>
            <a:r>
              <a:rPr lang="en-US" sz="1100" b="1" dirty="0">
                <a:solidFill>
                  <a:schemeClr val="bg1"/>
                </a:solidFill>
              </a:rPr>
              <a:t>MEASURE 2.7</a:t>
            </a:r>
            <a:endParaRPr lang="en-US" sz="1100" dirty="0"/>
          </a:p>
        </p:txBody>
      </p:sp>
      <p:sp>
        <p:nvSpPr>
          <p:cNvPr id="27" name="card-82"/>
          <p:cNvSpPr/>
          <p:nvPr/>
        </p:nvSpPr>
        <p:spPr>
          <a:xfrm>
            <a:off x="7296912" y="1691640"/>
            <a:ext cx="2103120" cy="4480560"/>
          </a:xfrm>
          <a:prstGeom prst="roundRect">
            <a:avLst>
              <a:gd name="adj" fmla="val 3478"/>
            </a:avLst>
          </a:prstGeom>
          <a:solidFill>
            <a:schemeClr val="bg2"/>
          </a:solidFill>
          <a:ln w="12700">
            <a:solidFill>
              <a:schemeClr val="bg2"/>
            </a:solidFill>
            <a:prstDash val="solid"/>
          </a:ln>
        </p:spPr>
      </p:sp>
      <p:sp>
        <p:nvSpPr>
          <p:cNvPr id="28" name="num-83"/>
          <p:cNvSpPr/>
          <p:nvPr/>
        </p:nvSpPr>
        <p:spPr>
          <a:xfrm>
            <a:off x="7525512" y="1920240"/>
            <a:ext cx="548640" cy="548640"/>
          </a:xfrm>
          <a:prstGeom prst="ellipse">
            <a:avLst/>
          </a:prstGeom>
          <a:solidFill>
            <a:schemeClr val="accent1"/>
          </a:solidFill>
          <a:ln w="12700">
            <a:solidFill>
              <a:schemeClr val="accent1"/>
            </a:solidFill>
            <a:prstDash val="solid"/>
          </a:ln>
        </p:spPr>
      </p:sp>
      <p:sp>
        <p:nvSpPr>
          <p:cNvPr id="29" name="text-84"/>
          <p:cNvSpPr txBox="1"/>
          <p:nvPr/>
        </p:nvSpPr>
        <p:spPr>
          <a:xfrm>
            <a:off x="7525512"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0" name="text-85"/>
          <p:cNvSpPr txBox="1"/>
          <p:nvPr/>
        </p:nvSpPr>
        <p:spPr>
          <a:xfrm>
            <a:off x="7525512" y="2651760"/>
            <a:ext cx="1645920" cy="457200"/>
          </a:xfrm>
          <a:prstGeom prst="rect">
            <a:avLst/>
          </a:prstGeom>
          <a:noFill/>
          <a:ln/>
        </p:spPr>
        <p:txBody>
          <a:bodyPr wrap="square" lIns="0" tIns="0" rIns="0" bIns="0" rtlCol="0" anchor="t"/>
          <a:lstStyle/>
          <a:p>
            <a:pPr indent="0" marL="0">
              <a:buNone/>
            </a:pPr>
            <a:r>
              <a:rPr lang="en-US" sz="2000" b="1" dirty="0">
                <a:solidFill>
                  <a:schemeClr val="tx2"/>
                </a:solidFill>
              </a:rPr>
              <a:t>監視・対応</a:t>
            </a:r>
            <a:endParaRPr lang="en-US" sz="2000" dirty="0"/>
          </a:p>
        </p:txBody>
      </p:sp>
      <p:sp>
        <p:nvSpPr>
          <p:cNvPr id="31" name="text-86"/>
          <p:cNvSpPr txBox="1"/>
          <p:nvPr/>
        </p:nvSpPr>
        <p:spPr>
          <a:xfrm>
            <a:off x="7525512" y="3200400"/>
            <a:ext cx="1645920" cy="1737360"/>
          </a:xfrm>
          <a:prstGeom prst="rect">
            <a:avLst/>
          </a:prstGeom>
          <a:noFill/>
          <a:ln/>
        </p:spPr>
        <p:txBody>
          <a:bodyPr wrap="square" lIns="0" tIns="0" rIns="0" bIns="0" rtlCol="0" anchor="t"/>
          <a:lstStyle/>
          <a:p>
            <a:pPr indent="0" marL="0">
              <a:buNone/>
            </a:pPr>
            <a:r>
              <a:rPr lang="en-US" sz="1400" dirty="0">
                <a:solidFill>
                  <a:schemeClr val="tx1"/>
                </a:solidFill>
              </a:rPr>
              <a:t>稼働中のAIが監視され、異常時に停止でき、インシデントが通知される</a:t>
            </a:r>
            <a:endParaRPr lang="en-US" sz="1400" dirty="0"/>
          </a:p>
        </p:txBody>
      </p:sp>
      <p:sp>
        <p:nvSpPr>
          <p:cNvPr id="32" name="chip-87"/>
          <p:cNvSpPr txBox="1"/>
          <p:nvPr/>
        </p:nvSpPr>
        <p:spPr>
          <a:xfrm>
            <a:off x="7525512" y="4983480"/>
            <a:ext cx="1645920" cy="274320"/>
          </a:xfrm>
          <a:prstGeom prst="roundRect">
            <a:avLst>
              <a:gd name="adj" fmla="val 53333"/>
            </a:avLst>
          </a:prstGeom>
          <a:solidFill>
            <a:schemeClr val="accent4"/>
          </a:solidFill>
          <a:ln/>
        </p:spPr>
        <p:txBody>
          <a:bodyPr wrap="square" lIns="0" tIns="0" rIns="0" bIns="0" rtlCol="0" anchor="ctr"/>
          <a:lstStyle/>
          <a:p>
            <a:pPr algn="ctr" indent="0" marL="0">
              <a:buNone/>
            </a:pPr>
            <a:r>
              <a:rPr lang="en-US" sz="1100" b="1" dirty="0">
                <a:solidFill>
                  <a:schemeClr val="bg1"/>
                </a:solidFill>
              </a:rPr>
              <a:t>MEASURE 2.4</a:t>
            </a:r>
            <a:endParaRPr lang="en-US" sz="1100" dirty="0"/>
          </a:p>
        </p:txBody>
      </p:sp>
      <p:sp>
        <p:nvSpPr>
          <p:cNvPr id="33" name="chip-88"/>
          <p:cNvSpPr txBox="1"/>
          <p:nvPr/>
        </p:nvSpPr>
        <p:spPr>
          <a:xfrm>
            <a:off x="7525512" y="5349240"/>
            <a:ext cx="1645920" cy="274320"/>
          </a:xfrm>
          <a:prstGeom prst="roundRect">
            <a:avLst>
              <a:gd name="adj" fmla="val 53333"/>
            </a:avLst>
          </a:prstGeom>
          <a:solidFill>
            <a:schemeClr val="accent4"/>
          </a:solidFill>
          <a:ln/>
        </p:spPr>
        <p:txBody>
          <a:bodyPr wrap="square" lIns="0" tIns="0" rIns="0" bIns="0" rtlCol="0" anchor="ctr"/>
          <a:lstStyle/>
          <a:p>
            <a:pPr algn="ctr" indent="0" marL="0">
              <a:buNone/>
            </a:pPr>
            <a:r>
              <a:rPr lang="en-US" sz="1100" b="1" dirty="0">
                <a:solidFill>
                  <a:schemeClr val="bg1"/>
                </a:solidFill>
              </a:rPr>
              <a:t>MANAGE 2.4</a:t>
            </a:r>
            <a:endParaRPr lang="en-US" sz="1100" dirty="0"/>
          </a:p>
        </p:txBody>
      </p:sp>
      <p:sp>
        <p:nvSpPr>
          <p:cNvPr id="34" name="chip-89"/>
          <p:cNvSpPr txBox="1"/>
          <p:nvPr/>
        </p:nvSpPr>
        <p:spPr>
          <a:xfrm>
            <a:off x="7525512" y="5715000"/>
            <a:ext cx="1645920" cy="274320"/>
          </a:xfrm>
          <a:prstGeom prst="roundRect">
            <a:avLst>
              <a:gd name="adj" fmla="val 53333"/>
            </a:avLst>
          </a:prstGeom>
          <a:solidFill>
            <a:schemeClr val="accent4"/>
          </a:solidFill>
          <a:ln/>
        </p:spPr>
        <p:txBody>
          <a:bodyPr wrap="square" lIns="0" tIns="0" rIns="0" bIns="0" rtlCol="0" anchor="ctr"/>
          <a:lstStyle/>
          <a:p>
            <a:pPr algn="ctr" indent="0" marL="0">
              <a:buNone/>
            </a:pPr>
            <a:r>
              <a:rPr lang="en-US" sz="1100" b="1" dirty="0">
                <a:solidFill>
                  <a:schemeClr val="bg1"/>
                </a:solidFill>
              </a:rPr>
              <a:t>MANAGE 4.3</a:t>
            </a:r>
            <a:endParaRPr lang="en-US" sz="1100" dirty="0"/>
          </a:p>
        </p:txBody>
      </p:sp>
      <p:sp>
        <p:nvSpPr>
          <p:cNvPr id="35" name="card-90"/>
          <p:cNvSpPr/>
          <p:nvPr/>
        </p:nvSpPr>
        <p:spPr>
          <a:xfrm>
            <a:off x="9546336" y="1691640"/>
            <a:ext cx="2103120" cy="4480560"/>
          </a:xfrm>
          <a:prstGeom prst="roundRect">
            <a:avLst>
              <a:gd name="adj" fmla="val 3478"/>
            </a:avLst>
          </a:prstGeom>
          <a:solidFill>
            <a:schemeClr val="bg2"/>
          </a:solidFill>
          <a:ln w="12700">
            <a:solidFill>
              <a:schemeClr val="bg2"/>
            </a:solidFill>
            <a:prstDash val="solid"/>
          </a:ln>
        </p:spPr>
      </p:sp>
      <p:sp>
        <p:nvSpPr>
          <p:cNvPr id="36" name="num-91"/>
          <p:cNvSpPr/>
          <p:nvPr/>
        </p:nvSpPr>
        <p:spPr>
          <a:xfrm>
            <a:off x="9774936" y="1920240"/>
            <a:ext cx="548640" cy="548640"/>
          </a:xfrm>
          <a:prstGeom prst="ellipse">
            <a:avLst/>
          </a:prstGeom>
          <a:solidFill>
            <a:schemeClr val="accent1"/>
          </a:solidFill>
          <a:ln w="12700">
            <a:solidFill>
              <a:schemeClr val="accent1"/>
            </a:solidFill>
            <a:prstDash val="solid"/>
          </a:ln>
        </p:spPr>
      </p:sp>
      <p:sp>
        <p:nvSpPr>
          <p:cNvPr id="37" name="text-92"/>
          <p:cNvSpPr txBox="1"/>
          <p:nvPr/>
        </p:nvSpPr>
        <p:spPr>
          <a:xfrm>
            <a:off x="9774936"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8" name="text-93"/>
          <p:cNvSpPr txBox="1"/>
          <p:nvPr/>
        </p:nvSpPr>
        <p:spPr>
          <a:xfrm>
            <a:off x="9774936" y="2651760"/>
            <a:ext cx="1645920" cy="457200"/>
          </a:xfrm>
          <a:prstGeom prst="rect">
            <a:avLst/>
          </a:prstGeom>
          <a:noFill/>
          <a:ln/>
        </p:spPr>
        <p:txBody>
          <a:bodyPr wrap="square" lIns="0" tIns="0" rIns="0" bIns="0" rtlCol="0" anchor="t"/>
          <a:lstStyle/>
          <a:p>
            <a:pPr indent="0" marL="0">
              <a:buNone/>
            </a:pPr>
            <a:r>
              <a:rPr lang="en-US" sz="2000" b="1" dirty="0">
                <a:solidFill>
                  <a:schemeClr val="tx2"/>
                </a:solidFill>
              </a:rPr>
              <a:t>説明</a:t>
            </a:r>
            <a:endParaRPr lang="en-US" sz="2000" dirty="0"/>
          </a:p>
        </p:txBody>
      </p:sp>
      <p:sp>
        <p:nvSpPr>
          <p:cNvPr id="39" name="text-94"/>
          <p:cNvSpPr txBox="1"/>
          <p:nvPr/>
        </p:nvSpPr>
        <p:spPr>
          <a:xfrm>
            <a:off x="9774936" y="3200400"/>
            <a:ext cx="1645920" cy="1737360"/>
          </a:xfrm>
          <a:prstGeom prst="rect">
            <a:avLst/>
          </a:prstGeom>
          <a:noFill/>
          <a:ln/>
        </p:spPr>
        <p:txBody>
          <a:bodyPr wrap="square" lIns="0" tIns="0" rIns="0" bIns="0" rtlCol="0" anchor="t"/>
          <a:lstStyle/>
          <a:p>
            <a:pPr indent="0" marL="0">
              <a:buNone/>
            </a:pPr>
            <a:r>
              <a:rPr lang="en-US" sz="1400" dirty="0">
                <a:solidFill>
                  <a:schemeClr val="tx1"/>
                </a:solidFill>
              </a:rPr>
              <a:t>NISTとOWASPの両方の言葉で準拠状況を説明できる</a:t>
            </a:r>
            <a:endParaRPr lang="en-US" sz="1400" dirty="0"/>
          </a:p>
        </p:txBody>
      </p:sp>
      <p:sp>
        <p:nvSpPr>
          <p:cNvPr id="40" name="chip-95"/>
          <p:cNvSpPr txBox="1"/>
          <p:nvPr/>
        </p:nvSpPr>
        <p:spPr>
          <a:xfrm>
            <a:off x="9774936" y="4983480"/>
            <a:ext cx="1645920" cy="274320"/>
          </a:xfrm>
          <a:prstGeom prst="roundRect">
            <a:avLst>
              <a:gd name="adj" fmla="val 53333"/>
            </a:avLst>
          </a:prstGeom>
          <a:solidFill>
            <a:schemeClr val="accent4"/>
          </a:solidFill>
          <a:ln/>
        </p:spPr>
        <p:txBody>
          <a:bodyPr wrap="square" lIns="0" tIns="0" rIns="0" bIns="0" rtlCol="0" anchor="ctr"/>
          <a:lstStyle/>
          <a:p>
            <a:pPr algn="ctr" indent="0" marL="0">
              <a:buNone/>
            </a:pPr>
            <a:r>
              <a:rPr lang="en-US" sz="1100" b="1" dirty="0">
                <a:solidFill>
                  <a:schemeClr val="bg1"/>
                </a:solidFill>
              </a:rPr>
              <a:t>GOVERN 4.2</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二層構造：経営の言葉と現場の言葉を公式の対応表でつなぐ</a:t>
            </a:r>
            <a:endParaRPr lang="en-US" sz="2800" dirty="0"/>
          </a:p>
        </p:txBody>
      </p:sp>
      <p:sp>
        <p:nvSpPr>
          <p:cNvPr id="3"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出典：第1章 1.4／第6章</a:t>
            </a:r>
            <a:endParaRPr lang="en-US" sz="1000" dirty="0"/>
          </a:p>
        </p:txBody>
      </p:sp>
      <p:sp>
        <p:nvSpPr>
          <p:cNvPr id="5" name="card-96"/>
          <p:cNvSpPr/>
          <p:nvPr/>
        </p:nvSpPr>
        <p:spPr>
          <a:xfrm>
            <a:off x="1600200" y="1188720"/>
            <a:ext cx="10012680" cy="1691640"/>
          </a:xfrm>
          <a:prstGeom prst="roundRect">
            <a:avLst>
              <a:gd name="adj" fmla="val 4324"/>
            </a:avLst>
          </a:prstGeom>
          <a:solidFill>
            <a:schemeClr val="accent1"/>
          </a:solidFill>
          <a:ln w="12700">
            <a:solidFill>
              <a:schemeClr val="accent1"/>
            </a:solidFill>
            <a:prstDash val="solid"/>
          </a:ln>
        </p:spPr>
      </p:sp>
      <p:sp>
        <p:nvSpPr>
          <p:cNvPr id="6" name="text-97"/>
          <p:cNvSpPr txBox="1"/>
          <p:nvPr/>
        </p:nvSpPr>
        <p:spPr>
          <a:xfrm>
            <a:off x="1874520" y="1325880"/>
            <a:ext cx="2743200" cy="411480"/>
          </a:xfrm>
          <a:prstGeom prst="rect">
            <a:avLst/>
          </a:prstGeom>
          <a:noFill/>
          <a:ln/>
        </p:spPr>
        <p:txBody>
          <a:bodyPr wrap="square" lIns="0" tIns="0" rIns="0" bIns="0" rtlCol="0" anchor="t"/>
          <a:lstStyle/>
          <a:p>
            <a:pPr indent="0" marL="0">
              <a:buNone/>
            </a:pPr>
            <a:r>
              <a:rPr lang="en-US" sz="2000" b="1" dirty="0">
                <a:solidFill>
                  <a:schemeClr val="bg1"/>
                </a:solidFill>
              </a:rPr>
              <a:t>ガバナンス層</a:t>
            </a:r>
            <a:endParaRPr lang="en-US" sz="2000" dirty="0"/>
          </a:p>
        </p:txBody>
      </p:sp>
      <p:sp>
        <p:nvSpPr>
          <p:cNvPr id="7" name="text-98"/>
          <p:cNvSpPr txBox="1"/>
          <p:nvPr/>
        </p:nvSpPr>
        <p:spPr>
          <a:xfrm>
            <a:off x="1874520" y="1783080"/>
            <a:ext cx="4206240" cy="822960"/>
          </a:xfrm>
          <a:prstGeom prst="rect">
            <a:avLst/>
          </a:prstGeom>
          <a:noFill/>
          <a:ln/>
        </p:spPr>
        <p:txBody>
          <a:bodyPr wrap="square" lIns="0" tIns="0" rIns="0" bIns="0" rtlCol="0" anchor="t"/>
          <a:lstStyle/>
          <a:p>
            <a:pPr indent="0" marL="0">
              <a:buNone/>
            </a:pPr>
            <a:r>
              <a:rPr lang="en-US" sz="1400" dirty="0">
                <a:solidFill>
                  <a:schemeClr val="accent6"/>
                </a:solidFill>
              </a:rPr>
              <a:t>NIST CSF 2.0（既存）</a:t>
            </a:r>
            <a:endParaRPr lang="en-US" sz="1400" dirty="0"/>
          </a:p>
          <a:p>
            <a:pPr indent="0" marL="0">
              <a:buNone/>
            </a:pPr>
            <a:r>
              <a:rPr lang="en-US" sz="1400" dirty="0">
                <a:solidFill>
                  <a:schemeClr val="accent6"/>
                </a:solidFill>
              </a:rPr>
              <a:t>＋ AI RMF 1.0／AI 600-1（追加）</a:t>
            </a:r>
            <a:endParaRPr lang="en-US" sz="1400" dirty="0"/>
          </a:p>
        </p:txBody>
      </p:sp>
      <p:sp>
        <p:nvSpPr>
          <p:cNvPr id="8" name="text-99"/>
          <p:cNvSpPr txBox="1"/>
          <p:nvPr/>
        </p:nvSpPr>
        <p:spPr>
          <a:xfrm>
            <a:off x="6263640" y="1325880"/>
            <a:ext cx="5120640" cy="1463040"/>
          </a:xfrm>
          <a:prstGeom prst="rect">
            <a:avLst/>
          </a:prstGeom>
          <a:noFill/>
          <a:ln/>
        </p:spPr>
        <p:txBody>
          <a:bodyPr wrap="square" lIns="0" tIns="0" rIns="0" bIns="0" rtlCol="0" anchor="ctr"/>
          <a:lstStyle/>
          <a:p>
            <a:pPr indent="0" marL="0">
              <a:spcAft>
                <a:spcPts val="400"/>
              </a:spcAft>
              <a:buNone/>
            </a:pPr>
            <a:r>
              <a:rPr lang="en-US" sz="1400" b="1" dirty="0">
                <a:solidFill>
                  <a:schemeClr val="bg1"/>
                </a:solidFill>
              </a:rPr>
              <a:t>問い　</a:t>
            </a:r>
            <a:pPr indent="0" marL="0">
              <a:spcAft>
                <a:spcPts val="400"/>
              </a:spcAft>
              <a:buNone/>
            </a:pPr>
            <a:r>
              <a:rPr lang="en-US" sz="1400" dirty="0">
                <a:solidFill>
                  <a:schemeClr val="bg1"/>
                </a:solidFill>
              </a:rPr>
              <a:t>どのAIを使ってよいか、誰が承認し、どう監督するか</a:t>
            </a:r>
            <a:endParaRPr lang="en-US" sz="1400" dirty="0"/>
          </a:p>
          <a:p>
            <a:pPr indent="0" marL="0">
              <a:spcAft>
                <a:spcPts val="400"/>
              </a:spcAft>
              <a:buNone/>
            </a:pPr>
            <a:r>
              <a:rPr lang="en-US" sz="1400" b="1" dirty="0">
                <a:solidFill>
                  <a:schemeClr val="bg1"/>
                </a:solidFill>
              </a:rPr>
              <a:t>担い手　</a:t>
            </a:r>
            <a:pPr indent="0" marL="0">
              <a:spcAft>
                <a:spcPts val="400"/>
              </a:spcAft>
              <a:buNone/>
            </a:pPr>
            <a:r>
              <a:rPr lang="en-US" sz="1400" dirty="0">
                <a:solidFill>
                  <a:schemeClr val="bg1"/>
                </a:solidFill>
              </a:rPr>
              <a:t>経営層、CISO、セキュリティガバナンス、法務</a:t>
            </a:r>
            <a:endParaRPr lang="en-US" sz="1400" dirty="0"/>
          </a:p>
          <a:p>
            <a:pPr indent="0" marL="0">
              <a:spcAft>
                <a:spcPts val="400"/>
              </a:spcAft>
              <a:buNone/>
            </a:pPr>
            <a:r>
              <a:rPr lang="en-US" sz="1400" b="1" dirty="0">
                <a:solidFill>
                  <a:schemeClr val="bg1"/>
                </a:solidFill>
              </a:rPr>
              <a:t>成果物　</a:t>
            </a:r>
            <a:pPr indent="0" marL="0">
              <a:spcAft>
                <a:spcPts val="400"/>
              </a:spcAft>
              <a:buNone/>
            </a:pPr>
            <a:r>
              <a:rPr lang="en-US" sz="1400" dirty="0">
                <a:solidFill>
                  <a:schemeClr val="bg1"/>
                </a:solidFill>
              </a:rPr>
              <a:t>方針、AI資産台帳、審査プロセス、残留リスクの記録</a:t>
            </a:r>
            <a:endParaRPr lang="en-US" sz="1400" dirty="0"/>
          </a:p>
        </p:txBody>
      </p:sp>
      <p:sp>
        <p:nvSpPr>
          <p:cNvPr id="9" name="card-100"/>
          <p:cNvSpPr/>
          <p:nvPr/>
        </p:nvSpPr>
        <p:spPr>
          <a:xfrm>
            <a:off x="2514600" y="3063240"/>
            <a:ext cx="8183880" cy="914400"/>
          </a:xfrm>
          <a:prstGeom prst="roundRect">
            <a:avLst>
              <a:gd name="adj" fmla="val 8000"/>
            </a:avLst>
          </a:prstGeom>
          <a:solidFill>
            <a:srgbClr val="E6F2F1"/>
          </a:solidFill>
          <a:ln w="12700">
            <a:solidFill>
              <a:srgbClr val="E6F2F1"/>
            </a:solidFill>
            <a:prstDash val="solid"/>
          </a:ln>
        </p:spPr>
      </p:sp>
      <p:sp>
        <p:nvSpPr>
          <p:cNvPr id="10" name="text-101"/>
          <p:cNvSpPr txBox="1"/>
          <p:nvPr/>
        </p:nvSpPr>
        <p:spPr>
          <a:xfrm>
            <a:off x="2788920" y="3063240"/>
            <a:ext cx="7680960" cy="914400"/>
          </a:xfrm>
          <a:prstGeom prst="rect">
            <a:avLst/>
          </a:prstGeom>
          <a:noFill/>
          <a:ln/>
        </p:spPr>
        <p:txBody>
          <a:bodyPr wrap="square" lIns="0" tIns="0" rIns="0" bIns="0" rtlCol="0" anchor="ctr"/>
          <a:lstStyle/>
          <a:p>
            <a:pPr indent="0" marL="0">
              <a:buNone/>
            </a:pPr>
            <a:r>
              <a:rPr lang="en-US" sz="1500" b="1" dirty="0">
                <a:solidFill>
                  <a:schemeClr val="accent2"/>
                </a:solidFill>
              </a:rPr>
              <a:t>公式の対応表　</a:t>
            </a:r>
            <a:pPr indent="0" marL="0">
              <a:buNone/>
            </a:pPr>
            <a:r>
              <a:rPr lang="en-US" sz="1500" dirty="0">
                <a:solidFill>
                  <a:schemeClr val="tx2"/>
                </a:solidFill>
              </a:rPr>
              <a:t>Top 10 付録A（AI RMF・AI 600-1）／ GenAI Security Crosswalk（CSF 2.0）</a:t>
            </a:r>
            <a:endParaRPr lang="en-US" sz="1500" dirty="0"/>
          </a:p>
        </p:txBody>
      </p:sp>
      <p:sp>
        <p:nvSpPr>
          <p:cNvPr id="11" name="card-102"/>
          <p:cNvSpPr/>
          <p:nvPr/>
        </p:nvSpPr>
        <p:spPr>
          <a:xfrm>
            <a:off x="1600200" y="4160520"/>
            <a:ext cx="10012680" cy="1691640"/>
          </a:xfrm>
          <a:prstGeom prst="roundRect">
            <a:avLst>
              <a:gd name="adj" fmla="val 4324"/>
            </a:avLst>
          </a:prstGeom>
          <a:solidFill>
            <a:schemeClr val="accent2"/>
          </a:solidFill>
          <a:ln w="12700">
            <a:solidFill>
              <a:schemeClr val="accent2"/>
            </a:solidFill>
            <a:prstDash val="solid"/>
          </a:ln>
        </p:spPr>
      </p:sp>
      <p:sp>
        <p:nvSpPr>
          <p:cNvPr id="12" name="text-103"/>
          <p:cNvSpPr txBox="1"/>
          <p:nvPr/>
        </p:nvSpPr>
        <p:spPr>
          <a:xfrm>
            <a:off x="1874520" y="4297680"/>
            <a:ext cx="2743200" cy="411480"/>
          </a:xfrm>
          <a:prstGeom prst="rect">
            <a:avLst/>
          </a:prstGeom>
          <a:noFill/>
          <a:ln/>
        </p:spPr>
        <p:txBody>
          <a:bodyPr wrap="square" lIns="0" tIns="0" rIns="0" bIns="0" rtlCol="0" anchor="t"/>
          <a:lstStyle/>
          <a:p>
            <a:pPr indent="0" marL="0">
              <a:buNone/>
            </a:pPr>
            <a:r>
              <a:rPr lang="en-US" sz="2000" b="1" dirty="0">
                <a:solidFill>
                  <a:schemeClr val="bg1"/>
                </a:solidFill>
              </a:rPr>
              <a:t>技術対策層</a:t>
            </a:r>
            <a:endParaRPr lang="en-US" sz="2000" dirty="0"/>
          </a:p>
        </p:txBody>
      </p:sp>
      <p:sp>
        <p:nvSpPr>
          <p:cNvPr id="13" name="text-104"/>
          <p:cNvSpPr txBox="1"/>
          <p:nvPr/>
        </p:nvSpPr>
        <p:spPr>
          <a:xfrm>
            <a:off x="1874520" y="4754880"/>
            <a:ext cx="4206240" cy="822960"/>
          </a:xfrm>
          <a:prstGeom prst="rect">
            <a:avLst/>
          </a:prstGeom>
          <a:noFill/>
          <a:ln/>
        </p:spPr>
        <p:txBody>
          <a:bodyPr wrap="square" lIns="0" tIns="0" rIns="0" bIns="0" rtlCol="0" anchor="t"/>
          <a:lstStyle/>
          <a:p>
            <a:pPr indent="0" marL="0">
              <a:buNone/>
            </a:pPr>
            <a:r>
              <a:rPr lang="en-US" sz="1400" dirty="0">
                <a:solidFill>
                  <a:schemeClr val="bg1"/>
                </a:solidFill>
              </a:rPr>
              <a:t>OWASP LLM Top 10 2026（モデル＝部品）</a:t>
            </a:r>
            <a:endParaRPr lang="en-US" sz="1400" dirty="0"/>
          </a:p>
          <a:p>
            <a:pPr indent="0" marL="0">
              <a:buNone/>
            </a:pPr>
            <a:r>
              <a:rPr lang="en-US" sz="1400" dirty="0">
                <a:solidFill>
                  <a:schemeClr val="bg1"/>
                </a:solidFill>
              </a:rPr>
              <a:t>OWASP Agentic Top 10 2026（モデル＝行為者）</a:t>
            </a:r>
            <a:endParaRPr lang="en-US" sz="1400" dirty="0"/>
          </a:p>
        </p:txBody>
      </p:sp>
      <p:sp>
        <p:nvSpPr>
          <p:cNvPr id="14" name="text-105"/>
          <p:cNvSpPr txBox="1"/>
          <p:nvPr/>
        </p:nvSpPr>
        <p:spPr>
          <a:xfrm>
            <a:off x="6263640" y="4297680"/>
            <a:ext cx="5120640" cy="1463040"/>
          </a:xfrm>
          <a:prstGeom prst="rect">
            <a:avLst/>
          </a:prstGeom>
          <a:noFill/>
          <a:ln/>
        </p:spPr>
        <p:txBody>
          <a:bodyPr wrap="square" lIns="0" tIns="0" rIns="0" bIns="0" rtlCol="0" anchor="ctr"/>
          <a:lstStyle/>
          <a:p>
            <a:pPr indent="0" marL="0">
              <a:spcAft>
                <a:spcPts val="400"/>
              </a:spcAft>
              <a:buNone/>
            </a:pPr>
            <a:r>
              <a:rPr lang="en-US" sz="1400" b="1" dirty="0">
                <a:solidFill>
                  <a:schemeClr val="bg1"/>
                </a:solidFill>
              </a:rPr>
              <a:t>問い　</a:t>
            </a:r>
            <a:pPr indent="0" marL="0">
              <a:spcAft>
                <a:spcPts val="400"/>
              </a:spcAft>
              <a:buNone/>
            </a:pPr>
            <a:r>
              <a:rPr lang="en-US" sz="1400" dirty="0">
                <a:solidFill>
                  <a:schemeClr val="bg1"/>
                </a:solidFill>
              </a:rPr>
              <a:t>何が起きうるか、何で防ぎ、どう確かめたか</a:t>
            </a:r>
            <a:endParaRPr lang="en-US" sz="1400" dirty="0"/>
          </a:p>
          <a:p>
            <a:pPr indent="0" marL="0">
              <a:spcAft>
                <a:spcPts val="400"/>
              </a:spcAft>
              <a:buNone/>
            </a:pPr>
            <a:r>
              <a:rPr lang="en-US" sz="1400" b="1" dirty="0">
                <a:solidFill>
                  <a:schemeClr val="bg1"/>
                </a:solidFill>
              </a:rPr>
              <a:t>担い手　</a:t>
            </a:r>
            <a:pPr indent="0" marL="0">
              <a:spcAft>
                <a:spcPts val="400"/>
              </a:spcAft>
              <a:buNone/>
            </a:pPr>
            <a:r>
              <a:rPr lang="en-US" sz="1400" dirty="0">
                <a:solidFill>
                  <a:schemeClr val="bg1"/>
                </a:solidFill>
              </a:rPr>
              <a:t>案件担当、アーキテクト、開発・運用</a:t>
            </a:r>
            <a:endParaRPr lang="en-US" sz="1400" dirty="0"/>
          </a:p>
          <a:p>
            <a:pPr indent="0" marL="0">
              <a:spcAft>
                <a:spcPts val="400"/>
              </a:spcAft>
              <a:buNone/>
            </a:pPr>
            <a:r>
              <a:rPr lang="en-US" sz="1400" b="1" dirty="0">
                <a:solidFill>
                  <a:schemeClr val="bg1"/>
                </a:solidFill>
              </a:rPr>
              <a:t>成果物　</a:t>
            </a:r>
            <a:pPr indent="0" marL="0">
              <a:spcAft>
                <a:spcPts val="400"/>
              </a:spcAft>
              <a:buNone/>
            </a:pPr>
            <a:r>
              <a:rPr lang="en-US" sz="1400" dirty="0">
                <a:solidFill>
                  <a:schemeClr val="bg1"/>
                </a:solidFill>
              </a:rPr>
              <a:t>チェックシート、テスト結果、ガードレール設定</a:t>
            </a:r>
            <a:endParaRPr lang="en-US" sz="1400" dirty="0"/>
          </a:p>
        </p:txBody>
      </p:sp>
      <p:sp>
        <p:nvSpPr>
          <p:cNvPr id="15" name="arrow-106"/>
          <p:cNvSpPr/>
          <p:nvPr/>
        </p:nvSpPr>
        <p:spPr>
          <a:xfrm>
            <a:off x="594360" y="1371600"/>
            <a:ext cx="365760" cy="4297680"/>
          </a:xfrm>
          <a:prstGeom prst="downArrow">
            <a:avLst/>
          </a:prstGeom>
          <a:solidFill>
            <a:schemeClr val="accent1"/>
          </a:solidFill>
          <a:ln w="12700">
            <a:solidFill>
              <a:schemeClr val="accent1"/>
            </a:solidFill>
            <a:prstDash val="solid"/>
          </a:ln>
        </p:spPr>
      </p:sp>
      <p:sp>
        <p:nvSpPr>
          <p:cNvPr id="16" name="arrow-107"/>
          <p:cNvSpPr/>
          <p:nvPr/>
        </p:nvSpPr>
        <p:spPr>
          <a:xfrm>
            <a:off x="1051560" y="1371600"/>
            <a:ext cx="365760" cy="4297680"/>
          </a:xfrm>
          <a:prstGeom prst="upArrow">
            <a:avLst/>
          </a:prstGeom>
          <a:solidFill>
            <a:schemeClr val="accent2"/>
          </a:solidFill>
          <a:ln w="12700">
            <a:solidFill>
              <a:schemeClr val="accent2"/>
            </a:solidFill>
            <a:prstDash val="solid"/>
          </a:ln>
        </p:spPr>
      </p:sp>
      <p:sp>
        <p:nvSpPr>
          <p:cNvPr id="17" name="text-108"/>
          <p:cNvSpPr txBox="1"/>
          <p:nvPr/>
        </p:nvSpPr>
        <p:spPr>
          <a:xfrm>
            <a:off x="1600200" y="5943600"/>
            <a:ext cx="10012680" cy="320040"/>
          </a:xfrm>
          <a:prstGeom prst="rect">
            <a:avLst/>
          </a:prstGeom>
          <a:noFill/>
          <a:ln/>
        </p:spPr>
        <p:txBody>
          <a:bodyPr wrap="square" lIns="0" tIns="0" rIns="0" bIns="0" rtlCol="0" anchor="t"/>
          <a:lstStyle/>
          <a:p>
            <a:pPr indent="0" marL="0">
              <a:buNone/>
            </a:pPr>
            <a:r>
              <a:rPr lang="en-US" sz="1300" dirty="0">
                <a:solidFill>
                  <a:schemeClr val="accent4"/>
                </a:solidFill>
              </a:rPr>
              <a:t>方針・必須指定が降りる ↓　／　記録が集約されて上がる ↑</a:t>
            </a:r>
            <a:endParaRPr lang="en-US" sz="1300" dirty="0"/>
          </a:p>
        </p:txBody>
      </p:sp>
      <p:sp>
        <p:nvSpPr>
          <p:cNvPr id="18"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3657600" cy="548640"/>
          </a:xfrm>
          <a:prstGeom prst="rect">
            <a:avLst/>
          </a:prstGeom>
          <a:noFill/>
          <a:ln/>
        </p:spPr>
        <p:txBody>
          <a:bodyPr wrap="square" lIns="0" tIns="0" rIns="0" bIns="0" rtlCol="0"/>
          <a:lstStyle/>
          <a:p>
            <a:pPr indent="0" marL="0">
              <a:buNone/>
            </a:pPr>
            <a:r>
              <a:rPr lang="en-US" sz="1800" b="1" dirty="0">
                <a:solidFill>
                  <a:schemeClr val="accent6"/>
                </a:solidFill>
              </a:rPr>
              <a:t>PART 1</a:t>
            </a:r>
            <a:endParaRPr lang="en-US" sz="1800" dirty="0"/>
          </a:p>
        </p:txBody>
      </p:sp>
      <p:sp>
        <p:nvSpPr>
          <p:cNvPr id="3" name="Text 0"/>
          <p:cNvSpPr/>
          <p:nvPr>
            <p:ph idx="101" type="title" hasCustomPrompt="1"/>
          </p:nvPr>
        </p:nvSpPr>
        <p:spPr>
          <a:xfrm>
            <a:off x="731520" y="2651760"/>
            <a:ext cx="10698480" cy="1097280"/>
          </a:xfrm>
          <a:prstGeom prst="rect">
            <a:avLst/>
          </a:prstGeom>
          <a:noFill/>
          <a:ln/>
        </p:spPr>
        <p:txBody>
          <a:bodyPr wrap="square" lIns="0" tIns="0" rIns="0" bIns="0" rtlCol="0" anchor="t"/>
          <a:lstStyle/>
          <a:p>
            <a:pPr algn="l" indent="0" marL="0">
              <a:buNone/>
            </a:pPr>
            <a:r>
              <a:rPr lang="en-US" sz="3600" b="1" dirty="0">
                <a:solidFill>
                  <a:schemeClr val="bg1"/>
                </a:solidFill>
              </a:rPr>
              <a:t>依拠する枠組み</a:t>
            </a:r>
            <a:endParaRPr lang="en-US" sz="3600" dirty="0"/>
          </a:p>
        </p:txBody>
      </p:sp>
      <p:sp>
        <p:nvSpPr>
          <p:cNvPr id="4" name="Text 0"/>
          <p:cNvSpPr/>
          <p:nvPr>
            <p:ph idx="102" type="body" hasCustomPrompt="1"/>
          </p:nvPr>
        </p:nvSpPr>
        <p:spPr>
          <a:xfrm>
            <a:off x="731520" y="3840480"/>
            <a:ext cx="10698480" cy="914400"/>
          </a:xfrm>
          <a:prstGeom prst="rect">
            <a:avLst/>
          </a:prstGeom>
          <a:noFill/>
          <a:ln/>
        </p:spPr>
        <p:txBody>
          <a:bodyPr wrap="square" lIns="0" tIns="0" rIns="0" bIns="0" rtlCol="0" anchor="t"/>
          <a:lstStyle/>
          <a:p>
            <a:pPr indent="0" marL="0">
              <a:buNone/>
            </a:pPr>
            <a:r>
              <a:rPr lang="en-US" sz="1800" dirty="0">
                <a:solidFill>
                  <a:schemeClr val="accent6"/>
                </a:solidFill>
              </a:rPr>
              <a:t>NIST（ガバナンス層）と OWASP（技術対策層）の中身と最新状況</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NISTの文書は役割が分かれている</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「何を目指すか」はCSF／AI RMF、「何をするか」はPlaybook、「生成AIで何を見るか」はAI 600-1</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出典：NIST AI RMF ページ、CSRC（2026-10 確認）／第2章</a:t>
            </a:r>
            <a:endParaRPr lang="en-US" sz="1000" dirty="0"/>
          </a:p>
        </p:txBody>
      </p:sp>
      <p:graphicFrame>
        <p:nvGraphicFramePr>
          <p:cNvPr id="9" name="table-109"/>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926080"/>
                <a:gridCol w="6035040"/>
                <a:gridCol w="2103120"/>
              </a:tblGrid>
              <a:tr h="566928">
                <a:tc>
                  <a:txBody>
                    <a:bodyPr/>
                    <a:lstStyle/>
                    <a:p>
                      <a:pPr indent="0" marL="0">
                        <a:buNone/>
                      </a:pPr>
                      <a:r>
                        <a:rPr lang="en-US" sz="1400" b="1" dirty="0">
                          <a:solidFill>
                            <a:schemeClr val="bg1"/>
                          </a:solidFill>
                          <a:latin typeface="Yu Gothic" pitchFamily="34" charset="0"/>
                          <a:ea typeface="Yu Gothic" pitchFamily="34" charset="-122"/>
                          <a:cs typeface="Yu Gothic" pitchFamily="34" charset="-120"/>
                        </a:rPr>
                        <a:t>文書</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Yu Gothic" pitchFamily="34" charset="0"/>
                          <a:ea typeface="Yu Gothic" pitchFamily="34" charset="-122"/>
                          <a:cs typeface="Yu Gothic" pitchFamily="34" charset="-120"/>
                        </a:rPr>
                        <a:t>役割</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Yu Gothic" pitchFamily="34" charset="0"/>
                          <a:ea typeface="Yu Gothic" pitchFamily="34" charset="-122"/>
                          <a:cs typeface="Yu Gothic" pitchFamily="34" charset="-120"/>
                        </a:rPr>
                        <a:t>状況（2026-10）</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CSF 2.0</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組織全体のサイバーセキュリティ（6機能、GOVERN新設）</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chemeClr val="bg1"/>
                          </a:solidFill>
                          <a:latin typeface="Yu Gothic" pitchFamily="34" charset="0"/>
                          <a:ea typeface="Yu Gothic" pitchFamily="34" charset="-122"/>
                          <a:cs typeface="Yu Gothic" pitchFamily="34" charset="-120"/>
                        </a:rPr>
                        <a:t>導入済み（前提）</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64748B"/>
                    </a:solidFill>
                  </a:tcPr>
                </a:tc>
              </a:tr>
              <a:tr h="566928">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AI RMF 1.0（AI 100-1）</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AIリスクマネジメントの枠組み。4機能・19カテゴリ・72サブカテゴリ。公式日本語訳あり</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chemeClr val="bg1"/>
                          </a:solidFill>
                          <a:latin typeface="Yu Gothic" pitchFamily="34" charset="0"/>
                          <a:ea typeface="Yu Gothic" pitchFamily="34" charset="-122"/>
                          <a:cs typeface="Yu Gothic" pitchFamily="34" charset="-120"/>
                        </a:rPr>
                        <a:t>改訂中</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B45309"/>
                    </a:solidFill>
                  </a:tcPr>
                </a:tc>
              </a:tr>
              <a:tr h="566928">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AI RMF Playbook</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サブカテゴリごとの推奨行動と文書化の問い</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chemeClr val="bg1"/>
                          </a:solidFill>
                          <a:latin typeface="Yu Gothic" pitchFamily="34" charset="0"/>
                          <a:ea typeface="Yu Gothic" pitchFamily="34" charset="-122"/>
                          <a:cs typeface="Yu Gothic" pitchFamily="34" charset="-120"/>
                        </a:rPr>
                        <a:t>公開済み</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566928">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AI 600-1</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生成AIプロファイル。12リスクと推奨行動（200件超）</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chemeClr val="bg1"/>
                          </a:solidFill>
                          <a:latin typeface="Yu Gothic" pitchFamily="34" charset="0"/>
                          <a:ea typeface="Yu Gothic" pitchFamily="34" charset="-122"/>
                          <a:cs typeface="Yu Gothic" pitchFamily="34" charset="-120"/>
                        </a:rPr>
                        <a:t>公開済み</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r>
              <a:tr h="566928">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IR 8596 Cyber AI Profile</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CSF 2.0 をAIに適用（Secure／Defend／Thwart）</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chemeClr val="bg1"/>
                          </a:solidFill>
                          <a:latin typeface="Yu Gothic" pitchFamily="34" charset="0"/>
                          <a:ea typeface="Yu Gothic" pitchFamily="34" charset="-122"/>
                          <a:cs typeface="Yu Gothic" pitchFamily="34" charset="-120"/>
                        </a:rPr>
                        <a:t>準備草案</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2410C"/>
                    </a:solidFill>
                  </a:tcPr>
                </a:tc>
              </a:tr>
              <a:tr h="566928">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COSAiS</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SP 800-53 のAI向けオーバーレイ（5ユースケース）</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chemeClr val="bg1"/>
                          </a:solidFill>
                          <a:latin typeface="Yu Gothic" pitchFamily="34" charset="0"/>
                          <a:ea typeface="Yu Gothic" pitchFamily="34" charset="-122"/>
                          <a:cs typeface="Yu Gothic" pitchFamily="34" charset="-120"/>
                        </a:rPr>
                        <a:t>草案作成中</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2410C"/>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AI RMFのコア：4機能と、本資料で使うサブカテゴリ</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GOVERN は横断機能。MAP → MEASURE → MANAGE はライフサイクルに沿って繰り返す</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出典：NIST AI 100-1 公式日本語訳 表1〜4（第2章 2.3）</a:t>
            </a:r>
            <a:endParaRPr lang="en-US" sz="1000" dirty="0"/>
          </a:p>
        </p:txBody>
      </p:sp>
      <p:sp>
        <p:nvSpPr>
          <p:cNvPr id="6" name="chev-110"/>
          <p:cNvSpPr/>
          <p:nvPr/>
        </p:nvSpPr>
        <p:spPr>
          <a:xfrm>
            <a:off x="548640" y="1691640"/>
            <a:ext cx="2651760" cy="777240"/>
          </a:xfrm>
          <a:prstGeom prst="chevron">
            <a:avLst/>
          </a:prstGeom>
          <a:solidFill>
            <a:schemeClr val="accent1"/>
          </a:solidFill>
          <a:ln w="12700">
            <a:solidFill>
              <a:schemeClr val="accent1"/>
            </a:solidFill>
            <a:prstDash val="solid"/>
          </a:ln>
        </p:spPr>
      </p:sp>
      <p:sp>
        <p:nvSpPr>
          <p:cNvPr id="7" name="text-111"/>
          <p:cNvSpPr txBox="1"/>
          <p:nvPr/>
        </p:nvSpPr>
        <p:spPr>
          <a:xfrm>
            <a:off x="868680" y="1691640"/>
            <a:ext cx="2011680" cy="777240"/>
          </a:xfrm>
          <a:prstGeom prst="rect">
            <a:avLst/>
          </a:prstGeom>
          <a:noFill/>
          <a:ln/>
        </p:spPr>
        <p:txBody>
          <a:bodyPr wrap="square" lIns="0" tIns="0" rIns="0" bIns="0" rtlCol="0" anchor="ctr"/>
          <a:lstStyle/>
          <a:p>
            <a:pPr algn="ctr" indent="0" marL="0">
              <a:buNone/>
            </a:pPr>
            <a:r>
              <a:rPr lang="en-US" sz="1800" b="1" dirty="0">
                <a:solidFill>
                  <a:schemeClr val="bg1"/>
                </a:solidFill>
              </a:rPr>
              <a:t>GOVERN</a:t>
            </a:r>
            <a:endParaRPr lang="en-US" sz="1800" dirty="0"/>
          </a:p>
        </p:txBody>
      </p:sp>
      <p:sp>
        <p:nvSpPr>
          <p:cNvPr id="8" name="card-112"/>
          <p:cNvSpPr/>
          <p:nvPr/>
        </p:nvSpPr>
        <p:spPr>
          <a:xfrm>
            <a:off x="548640" y="2651760"/>
            <a:ext cx="2514600" cy="3154680"/>
          </a:xfrm>
          <a:prstGeom prst="roundRect">
            <a:avLst>
              <a:gd name="adj" fmla="val 2909"/>
            </a:avLst>
          </a:prstGeom>
          <a:solidFill>
            <a:schemeClr val="bg2"/>
          </a:solidFill>
          <a:ln w="12700">
            <a:solidFill>
              <a:schemeClr val="bg2"/>
            </a:solidFill>
            <a:prstDash val="solid"/>
          </a:ln>
        </p:spPr>
      </p:sp>
      <p:sp>
        <p:nvSpPr>
          <p:cNvPr id="9" name="text-113"/>
          <p:cNvSpPr txBox="1"/>
          <p:nvPr/>
        </p:nvSpPr>
        <p:spPr>
          <a:xfrm>
            <a:off x="731520" y="2788920"/>
            <a:ext cx="2194560" cy="320040"/>
          </a:xfrm>
          <a:prstGeom prst="rect">
            <a:avLst/>
          </a:prstGeom>
          <a:noFill/>
          <a:ln/>
        </p:spPr>
        <p:txBody>
          <a:bodyPr wrap="square" lIns="0" tIns="0" rIns="0" bIns="0" rtlCol="0" anchor="t"/>
          <a:lstStyle/>
          <a:p>
            <a:pPr indent="0" marL="0">
              <a:buNone/>
            </a:pPr>
            <a:r>
              <a:rPr lang="en-US" sz="1300" b="1" dirty="0">
                <a:solidFill>
                  <a:schemeClr val="accent4"/>
                </a:solidFill>
              </a:rPr>
              <a:t>6カテゴリ</a:t>
            </a:r>
            <a:endParaRPr lang="en-US" sz="1300" dirty="0"/>
          </a:p>
        </p:txBody>
      </p:sp>
      <p:sp>
        <p:nvSpPr>
          <p:cNvPr id="10" name="text-114"/>
          <p:cNvSpPr txBox="1"/>
          <p:nvPr/>
        </p:nvSpPr>
        <p:spPr>
          <a:xfrm>
            <a:off x="731520" y="3154680"/>
            <a:ext cx="21945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1.3 リスク許容度に応じた活動レベル</a:t>
            </a:r>
            <a:endParaRPr lang="en-US" sz="1400" dirty="0"/>
          </a:p>
          <a:p>
            <a:pPr marL="342900" indent="-342900">
              <a:spcAft>
                <a:spcPts val="600"/>
              </a:spcAft>
              <a:buSzPct val="100000"/>
              <a:buChar char="•"/>
            </a:pPr>
            <a:r>
              <a:rPr lang="en-US" sz="1400" dirty="0">
                <a:solidFill>
                  <a:schemeClr val="tx1"/>
                </a:solidFill>
              </a:rPr>
              <a:t>1.6 AIシステムの棚卸し</a:t>
            </a:r>
            <a:endParaRPr lang="en-US" sz="1400" dirty="0"/>
          </a:p>
          <a:p>
            <a:pPr marL="342900" indent="-342900">
              <a:spcAft>
                <a:spcPts val="600"/>
              </a:spcAft>
              <a:buSzPct val="100000"/>
              <a:buChar char="•"/>
            </a:pPr>
            <a:r>
              <a:rPr lang="en-US" sz="1400" dirty="0">
                <a:solidFill>
                  <a:schemeClr val="tx1"/>
                </a:solidFill>
              </a:rPr>
              <a:t>1.7 安全な廃止</a:t>
            </a:r>
            <a:endParaRPr lang="en-US" sz="1400" dirty="0"/>
          </a:p>
          <a:p>
            <a:pPr marL="342900" indent="-342900">
              <a:spcAft>
                <a:spcPts val="600"/>
              </a:spcAft>
              <a:buSzPct val="100000"/>
              <a:buChar char="•"/>
            </a:pPr>
            <a:r>
              <a:rPr lang="en-US" sz="1400" dirty="0">
                <a:solidFill>
                  <a:schemeClr val="tx1"/>
                </a:solidFill>
              </a:rPr>
              <a:t>2.3 経営の意思決定責任</a:t>
            </a:r>
            <a:endParaRPr lang="en-US" sz="1400" dirty="0"/>
          </a:p>
          <a:p>
            <a:pPr marL="342900" indent="-342900">
              <a:spcAft>
                <a:spcPts val="600"/>
              </a:spcAft>
              <a:buSzPct val="100000"/>
              <a:buChar char="•"/>
            </a:pPr>
            <a:r>
              <a:rPr lang="en-US" sz="1400" dirty="0">
                <a:solidFill>
                  <a:schemeClr val="tx1"/>
                </a:solidFill>
              </a:rPr>
              <a:t>6.1・6.2 サードパーティ</a:t>
            </a:r>
            <a:endParaRPr lang="en-US" sz="1400" dirty="0"/>
          </a:p>
        </p:txBody>
      </p:sp>
      <p:sp>
        <p:nvSpPr>
          <p:cNvPr id="11" name="chev-115"/>
          <p:cNvSpPr/>
          <p:nvPr/>
        </p:nvSpPr>
        <p:spPr>
          <a:xfrm>
            <a:off x="3346704" y="1691640"/>
            <a:ext cx="2651760" cy="777240"/>
          </a:xfrm>
          <a:prstGeom prst="chevron">
            <a:avLst/>
          </a:prstGeom>
          <a:solidFill>
            <a:schemeClr val="accent1"/>
          </a:solidFill>
          <a:ln w="12700">
            <a:solidFill>
              <a:schemeClr val="accent1"/>
            </a:solidFill>
            <a:prstDash val="solid"/>
          </a:ln>
        </p:spPr>
      </p:sp>
      <p:sp>
        <p:nvSpPr>
          <p:cNvPr id="12" name="text-116"/>
          <p:cNvSpPr txBox="1"/>
          <p:nvPr/>
        </p:nvSpPr>
        <p:spPr>
          <a:xfrm>
            <a:off x="3666744" y="1691640"/>
            <a:ext cx="2011680" cy="777240"/>
          </a:xfrm>
          <a:prstGeom prst="rect">
            <a:avLst/>
          </a:prstGeom>
          <a:noFill/>
          <a:ln/>
        </p:spPr>
        <p:txBody>
          <a:bodyPr wrap="square" lIns="0" tIns="0" rIns="0" bIns="0" rtlCol="0" anchor="ctr"/>
          <a:lstStyle/>
          <a:p>
            <a:pPr algn="ctr" indent="0" marL="0">
              <a:buNone/>
            </a:pPr>
            <a:r>
              <a:rPr lang="en-US" sz="1800" b="1" dirty="0">
                <a:solidFill>
                  <a:schemeClr val="bg1"/>
                </a:solidFill>
              </a:rPr>
              <a:t>MAP</a:t>
            </a:r>
            <a:endParaRPr lang="en-US" sz="1800" dirty="0"/>
          </a:p>
        </p:txBody>
      </p:sp>
      <p:sp>
        <p:nvSpPr>
          <p:cNvPr id="13" name="card-117"/>
          <p:cNvSpPr/>
          <p:nvPr/>
        </p:nvSpPr>
        <p:spPr>
          <a:xfrm>
            <a:off x="3346704" y="2651760"/>
            <a:ext cx="2514600" cy="3154680"/>
          </a:xfrm>
          <a:prstGeom prst="roundRect">
            <a:avLst>
              <a:gd name="adj" fmla="val 2909"/>
            </a:avLst>
          </a:prstGeom>
          <a:solidFill>
            <a:schemeClr val="bg2"/>
          </a:solidFill>
          <a:ln w="12700">
            <a:solidFill>
              <a:schemeClr val="bg2"/>
            </a:solidFill>
            <a:prstDash val="solid"/>
          </a:ln>
        </p:spPr>
      </p:sp>
      <p:sp>
        <p:nvSpPr>
          <p:cNvPr id="14" name="text-118"/>
          <p:cNvSpPr txBox="1"/>
          <p:nvPr/>
        </p:nvSpPr>
        <p:spPr>
          <a:xfrm>
            <a:off x="3529584" y="2788920"/>
            <a:ext cx="2194560" cy="320040"/>
          </a:xfrm>
          <a:prstGeom prst="rect">
            <a:avLst/>
          </a:prstGeom>
          <a:noFill/>
          <a:ln/>
        </p:spPr>
        <p:txBody>
          <a:bodyPr wrap="square" lIns="0" tIns="0" rIns="0" bIns="0" rtlCol="0" anchor="t"/>
          <a:lstStyle/>
          <a:p>
            <a:pPr indent="0" marL="0">
              <a:buNone/>
            </a:pPr>
            <a:r>
              <a:rPr lang="en-US" sz="1300" b="1" dirty="0">
                <a:solidFill>
                  <a:schemeClr val="accent4"/>
                </a:solidFill>
              </a:rPr>
              <a:t>5カテゴリ</a:t>
            </a:r>
            <a:endParaRPr lang="en-US" sz="1300" dirty="0"/>
          </a:p>
        </p:txBody>
      </p:sp>
      <p:sp>
        <p:nvSpPr>
          <p:cNvPr id="15" name="text-119"/>
          <p:cNvSpPr txBox="1"/>
          <p:nvPr/>
        </p:nvSpPr>
        <p:spPr>
          <a:xfrm>
            <a:off x="3529584" y="3154680"/>
            <a:ext cx="21945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2.2 知識の限界と人間によるオーバーサイト</a:t>
            </a:r>
            <a:endParaRPr lang="en-US" sz="1400" dirty="0"/>
          </a:p>
          <a:p>
            <a:pPr marL="342900" indent="-342900">
              <a:spcAft>
                <a:spcPts val="600"/>
              </a:spcAft>
              <a:buSzPct val="100000"/>
              <a:buChar char="•"/>
            </a:pPr>
            <a:r>
              <a:rPr lang="en-US" sz="1400" dirty="0">
                <a:solidFill>
                  <a:schemeClr val="tx1"/>
                </a:solidFill>
              </a:rPr>
              <a:t>3.5 ヒューマンオーバーサイトのプロセス</a:t>
            </a:r>
            <a:endParaRPr lang="en-US" sz="1400" dirty="0"/>
          </a:p>
          <a:p>
            <a:pPr marL="342900" indent="-342900">
              <a:spcAft>
                <a:spcPts val="600"/>
              </a:spcAft>
              <a:buSzPct val="100000"/>
              <a:buChar char="•"/>
            </a:pPr>
            <a:r>
              <a:rPr lang="en-US" sz="1400" dirty="0">
                <a:solidFill>
                  <a:schemeClr val="tx1"/>
                </a:solidFill>
              </a:rPr>
              <a:t>4.1・4.2 全構成要素のリスク</a:t>
            </a:r>
            <a:endParaRPr lang="en-US" sz="1400" dirty="0"/>
          </a:p>
        </p:txBody>
      </p:sp>
      <p:sp>
        <p:nvSpPr>
          <p:cNvPr id="16" name="chev-120"/>
          <p:cNvSpPr/>
          <p:nvPr/>
        </p:nvSpPr>
        <p:spPr>
          <a:xfrm>
            <a:off x="6144768" y="1691640"/>
            <a:ext cx="2651760" cy="777240"/>
          </a:xfrm>
          <a:prstGeom prst="chevron">
            <a:avLst/>
          </a:prstGeom>
          <a:solidFill>
            <a:schemeClr val="accent1"/>
          </a:solidFill>
          <a:ln w="12700">
            <a:solidFill>
              <a:schemeClr val="accent1"/>
            </a:solidFill>
            <a:prstDash val="solid"/>
          </a:ln>
        </p:spPr>
      </p:sp>
      <p:sp>
        <p:nvSpPr>
          <p:cNvPr id="17" name="text-121"/>
          <p:cNvSpPr txBox="1"/>
          <p:nvPr/>
        </p:nvSpPr>
        <p:spPr>
          <a:xfrm>
            <a:off x="6464808" y="1691640"/>
            <a:ext cx="2011680" cy="777240"/>
          </a:xfrm>
          <a:prstGeom prst="rect">
            <a:avLst/>
          </a:prstGeom>
          <a:noFill/>
          <a:ln/>
        </p:spPr>
        <p:txBody>
          <a:bodyPr wrap="square" lIns="0" tIns="0" rIns="0" bIns="0" rtlCol="0" anchor="ctr"/>
          <a:lstStyle/>
          <a:p>
            <a:pPr algn="ctr" indent="0" marL="0">
              <a:buNone/>
            </a:pPr>
            <a:r>
              <a:rPr lang="en-US" sz="1800" b="1" dirty="0">
                <a:solidFill>
                  <a:schemeClr val="bg1"/>
                </a:solidFill>
              </a:rPr>
              <a:t>MEASURE</a:t>
            </a:r>
            <a:endParaRPr lang="en-US" sz="1800" dirty="0"/>
          </a:p>
        </p:txBody>
      </p:sp>
      <p:sp>
        <p:nvSpPr>
          <p:cNvPr id="18" name="card-122"/>
          <p:cNvSpPr/>
          <p:nvPr/>
        </p:nvSpPr>
        <p:spPr>
          <a:xfrm>
            <a:off x="6144768" y="2651760"/>
            <a:ext cx="2514600" cy="3154680"/>
          </a:xfrm>
          <a:prstGeom prst="roundRect">
            <a:avLst>
              <a:gd name="adj" fmla="val 2909"/>
            </a:avLst>
          </a:prstGeom>
          <a:solidFill>
            <a:schemeClr val="bg2"/>
          </a:solidFill>
          <a:ln w="12700">
            <a:solidFill>
              <a:schemeClr val="bg2"/>
            </a:solidFill>
            <a:prstDash val="solid"/>
          </a:ln>
        </p:spPr>
      </p:sp>
      <p:sp>
        <p:nvSpPr>
          <p:cNvPr id="19" name="text-123"/>
          <p:cNvSpPr txBox="1"/>
          <p:nvPr/>
        </p:nvSpPr>
        <p:spPr>
          <a:xfrm>
            <a:off x="6327648" y="2788920"/>
            <a:ext cx="2194560" cy="320040"/>
          </a:xfrm>
          <a:prstGeom prst="rect">
            <a:avLst/>
          </a:prstGeom>
          <a:noFill/>
          <a:ln/>
        </p:spPr>
        <p:txBody>
          <a:bodyPr wrap="square" lIns="0" tIns="0" rIns="0" bIns="0" rtlCol="0" anchor="t"/>
          <a:lstStyle/>
          <a:p>
            <a:pPr indent="0" marL="0">
              <a:buNone/>
            </a:pPr>
            <a:r>
              <a:rPr lang="en-US" sz="1300" b="1" dirty="0">
                <a:solidFill>
                  <a:schemeClr val="accent4"/>
                </a:solidFill>
              </a:rPr>
              <a:t>4カテゴリ</a:t>
            </a:r>
            <a:endParaRPr lang="en-US" sz="1300" dirty="0"/>
          </a:p>
        </p:txBody>
      </p:sp>
      <p:sp>
        <p:nvSpPr>
          <p:cNvPr id="20" name="text-124"/>
          <p:cNvSpPr txBox="1"/>
          <p:nvPr/>
        </p:nvSpPr>
        <p:spPr>
          <a:xfrm>
            <a:off x="6327648" y="3154680"/>
            <a:ext cx="21945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1.3 独立評価者の関与</a:t>
            </a:r>
            <a:endParaRPr lang="en-US" sz="1400" dirty="0"/>
          </a:p>
          <a:p>
            <a:pPr marL="342900" indent="-342900">
              <a:spcAft>
                <a:spcPts val="600"/>
              </a:spcAft>
              <a:buSzPct val="100000"/>
              <a:buChar char="•"/>
            </a:pPr>
            <a:r>
              <a:rPr lang="en-US" sz="1400" dirty="0">
                <a:solidFill>
                  <a:schemeClr val="tx1"/>
                </a:solidFill>
              </a:rPr>
              <a:t>2.4 実稼働時のモニタリング</a:t>
            </a:r>
            <a:endParaRPr lang="en-US" sz="1400" dirty="0"/>
          </a:p>
          <a:p>
            <a:pPr marL="342900" indent="-342900">
              <a:spcAft>
                <a:spcPts val="600"/>
              </a:spcAft>
              <a:buSzPct val="100000"/>
              <a:buChar char="•"/>
            </a:pPr>
            <a:r>
              <a:rPr lang="en-US" sz="1400" dirty="0">
                <a:solidFill>
                  <a:schemeClr val="tx1"/>
                </a:solidFill>
              </a:rPr>
              <a:t>2.7 セキュリティとレジリエンスの評価</a:t>
            </a:r>
            <a:endParaRPr lang="en-US" sz="1400" dirty="0"/>
          </a:p>
        </p:txBody>
      </p:sp>
      <p:sp>
        <p:nvSpPr>
          <p:cNvPr id="21" name="chev-125"/>
          <p:cNvSpPr/>
          <p:nvPr/>
        </p:nvSpPr>
        <p:spPr>
          <a:xfrm>
            <a:off x="8942832" y="1691640"/>
            <a:ext cx="2651760" cy="777240"/>
          </a:xfrm>
          <a:prstGeom prst="chevron">
            <a:avLst/>
          </a:prstGeom>
          <a:solidFill>
            <a:schemeClr val="accent1"/>
          </a:solidFill>
          <a:ln w="12700">
            <a:solidFill>
              <a:schemeClr val="accent1"/>
            </a:solidFill>
            <a:prstDash val="solid"/>
          </a:ln>
        </p:spPr>
      </p:sp>
      <p:sp>
        <p:nvSpPr>
          <p:cNvPr id="22" name="text-126"/>
          <p:cNvSpPr txBox="1"/>
          <p:nvPr/>
        </p:nvSpPr>
        <p:spPr>
          <a:xfrm>
            <a:off x="9262872" y="1691640"/>
            <a:ext cx="2011680" cy="777240"/>
          </a:xfrm>
          <a:prstGeom prst="rect">
            <a:avLst/>
          </a:prstGeom>
          <a:noFill/>
          <a:ln/>
        </p:spPr>
        <p:txBody>
          <a:bodyPr wrap="square" lIns="0" tIns="0" rIns="0" bIns="0" rtlCol="0" anchor="ctr"/>
          <a:lstStyle/>
          <a:p>
            <a:pPr algn="ctr" indent="0" marL="0">
              <a:buNone/>
            </a:pPr>
            <a:r>
              <a:rPr lang="en-US" sz="1800" b="1" dirty="0">
                <a:solidFill>
                  <a:schemeClr val="bg1"/>
                </a:solidFill>
              </a:rPr>
              <a:t>MANAGE</a:t>
            </a:r>
            <a:endParaRPr lang="en-US" sz="1800" dirty="0"/>
          </a:p>
        </p:txBody>
      </p:sp>
      <p:sp>
        <p:nvSpPr>
          <p:cNvPr id="23" name="card-127"/>
          <p:cNvSpPr/>
          <p:nvPr/>
        </p:nvSpPr>
        <p:spPr>
          <a:xfrm>
            <a:off x="8942832" y="2651760"/>
            <a:ext cx="2514600" cy="3154680"/>
          </a:xfrm>
          <a:prstGeom prst="roundRect">
            <a:avLst>
              <a:gd name="adj" fmla="val 2909"/>
            </a:avLst>
          </a:prstGeom>
          <a:solidFill>
            <a:schemeClr val="bg2"/>
          </a:solidFill>
          <a:ln w="12700">
            <a:solidFill>
              <a:schemeClr val="bg2"/>
            </a:solidFill>
            <a:prstDash val="solid"/>
          </a:ln>
        </p:spPr>
      </p:sp>
      <p:sp>
        <p:nvSpPr>
          <p:cNvPr id="24" name="text-128"/>
          <p:cNvSpPr txBox="1"/>
          <p:nvPr/>
        </p:nvSpPr>
        <p:spPr>
          <a:xfrm>
            <a:off x="9125712" y="2788920"/>
            <a:ext cx="2194560" cy="320040"/>
          </a:xfrm>
          <a:prstGeom prst="rect">
            <a:avLst/>
          </a:prstGeom>
          <a:noFill/>
          <a:ln/>
        </p:spPr>
        <p:txBody>
          <a:bodyPr wrap="square" lIns="0" tIns="0" rIns="0" bIns="0" rtlCol="0" anchor="t"/>
          <a:lstStyle/>
          <a:p>
            <a:pPr indent="0" marL="0">
              <a:buNone/>
            </a:pPr>
            <a:r>
              <a:rPr lang="en-US" sz="1300" b="1" dirty="0">
                <a:solidFill>
                  <a:schemeClr val="accent4"/>
                </a:solidFill>
              </a:rPr>
              <a:t>4カテゴリ</a:t>
            </a:r>
            <a:endParaRPr lang="en-US" sz="1300" dirty="0"/>
          </a:p>
        </p:txBody>
      </p:sp>
      <p:sp>
        <p:nvSpPr>
          <p:cNvPr id="25" name="text-129"/>
          <p:cNvSpPr txBox="1"/>
          <p:nvPr/>
        </p:nvSpPr>
        <p:spPr>
          <a:xfrm>
            <a:off x="9125712" y="3154680"/>
            <a:ext cx="21945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1.3 対応の選択肢</a:t>
            </a:r>
            <a:endParaRPr lang="en-US" sz="1400" dirty="0"/>
          </a:p>
          <a:p>
            <a:pPr marL="342900" indent="-342900">
              <a:spcAft>
                <a:spcPts val="600"/>
              </a:spcAft>
              <a:buSzPct val="100000"/>
              <a:buChar char="•"/>
            </a:pPr>
            <a:r>
              <a:rPr lang="en-US" sz="1400" dirty="0">
                <a:solidFill>
                  <a:schemeClr val="tx1"/>
                </a:solidFill>
              </a:rPr>
              <a:t>1.4 残留リスクの文書化</a:t>
            </a:r>
            <a:endParaRPr lang="en-US" sz="1400" dirty="0"/>
          </a:p>
          <a:p>
            <a:pPr marL="342900" indent="-342900">
              <a:spcAft>
                <a:spcPts val="600"/>
              </a:spcAft>
              <a:buSzPct val="100000"/>
              <a:buChar char="•"/>
            </a:pPr>
            <a:r>
              <a:rPr lang="en-US" sz="1400" dirty="0">
                <a:solidFill>
                  <a:schemeClr val="tx1"/>
                </a:solidFill>
              </a:rPr>
              <a:t>2.4 停止・廃止の仕組み</a:t>
            </a:r>
            <a:endParaRPr lang="en-US" sz="1400" dirty="0"/>
          </a:p>
          <a:p>
            <a:pPr marL="342900" indent="-342900">
              <a:spcAft>
                <a:spcPts val="600"/>
              </a:spcAft>
              <a:buSzPct val="100000"/>
              <a:buChar char="•"/>
            </a:pPr>
            <a:r>
              <a:rPr lang="en-US" sz="1400" dirty="0">
                <a:solidFill>
                  <a:schemeClr val="tx1"/>
                </a:solidFill>
              </a:rPr>
              <a:t>3.2 事前学習済みモデルのモニター</a:t>
            </a:r>
            <a:endParaRPr lang="en-US" sz="1400" dirty="0"/>
          </a:p>
          <a:p>
            <a:pPr marL="342900" indent="-342900">
              <a:spcAft>
                <a:spcPts val="600"/>
              </a:spcAft>
              <a:buSzPct val="100000"/>
              <a:buChar char="•"/>
            </a:pPr>
            <a:r>
              <a:rPr lang="en-US" sz="1400" dirty="0">
                <a:solidFill>
                  <a:schemeClr val="tx1"/>
                </a:solidFill>
              </a:rPr>
              <a:t>4.3 インシデント通知</a:t>
            </a:r>
            <a:endParaRPr lang="en-US" sz="1400" dirty="0"/>
          </a:p>
        </p:txBody>
      </p:sp>
      <p:sp>
        <p:nvSpPr>
          <p:cNvPr id="26" name="text-130"/>
          <p:cNvSpPr txBox="1"/>
          <p:nvPr/>
        </p:nvSpPr>
        <p:spPr>
          <a:xfrm>
            <a:off x="548640" y="5897880"/>
            <a:ext cx="11064240" cy="457200"/>
          </a:xfrm>
          <a:prstGeom prst="rect">
            <a:avLst/>
          </a:prstGeom>
          <a:noFill/>
          <a:ln/>
        </p:spPr>
        <p:txBody>
          <a:bodyPr wrap="square" lIns="0" tIns="0" rIns="0" bIns="0" rtlCol="0" anchor="t"/>
          <a:lstStyle/>
          <a:p>
            <a:pPr indent="0" marL="0">
              <a:buNone/>
            </a:pPr>
            <a:r>
              <a:rPr lang="en-US" sz="1300" dirty="0">
                <a:solidFill>
                  <a:schemeClr val="accent4"/>
                </a:solidFill>
              </a:rPr>
              <a:t>7特性のうち本資料の中心は「セキュリティとレジリエンス」。72サブカテゴリの実践内容は Playbook（About／Suggested Actions／Transparency &amp; Documentation）に示されている</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AI 600-1：生成AI固有の12リスクと本資料の範囲</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OWASPの10リスクと対応するのは7つ。残りは安全性・倫理の領域で、本資料の範囲外とする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出典：NIST AI 600-1（2024-07）、OWASP Top 10 2026 Appendix A（第2章 2.4）</a:t>
            </a:r>
            <a:endParaRPr lang="en-US" sz="1000" dirty="0"/>
          </a:p>
        </p:txBody>
      </p:sp>
      <p:sp>
        <p:nvSpPr>
          <p:cNvPr id="6" name="card-131"/>
          <p:cNvSpPr/>
          <p:nvPr/>
        </p:nvSpPr>
        <p:spPr>
          <a:xfrm>
            <a:off x="548640" y="1691640"/>
            <a:ext cx="2651760" cy="1115568"/>
          </a:xfrm>
          <a:prstGeom prst="roundRect">
            <a:avLst>
              <a:gd name="adj" fmla="val 6557"/>
            </a:avLst>
          </a:prstGeom>
          <a:solidFill>
            <a:schemeClr val="bg2"/>
          </a:solidFill>
          <a:ln w="12700">
            <a:solidFill>
              <a:schemeClr val="bg2"/>
            </a:solidFill>
            <a:prstDash val="solid"/>
          </a:ln>
        </p:spPr>
      </p:sp>
      <p:sp>
        <p:nvSpPr>
          <p:cNvPr id="7" name="text-132"/>
          <p:cNvSpPr txBox="1"/>
          <p:nvPr/>
        </p:nvSpPr>
        <p:spPr>
          <a:xfrm>
            <a:off x="731520" y="1801368"/>
            <a:ext cx="548640" cy="274320"/>
          </a:xfrm>
          <a:prstGeom prst="rect">
            <a:avLst/>
          </a:prstGeom>
          <a:noFill/>
          <a:ln/>
        </p:spPr>
        <p:txBody>
          <a:bodyPr wrap="square" lIns="0" tIns="0" rIns="0" bIns="0" rtlCol="0" anchor="t"/>
          <a:lstStyle/>
          <a:p>
            <a:pPr indent="0" marL="0">
              <a:buNone/>
            </a:pPr>
            <a:r>
              <a:rPr lang="en-US" sz="1200" b="1" dirty="0">
                <a:solidFill>
                  <a:schemeClr val="accent4"/>
                </a:solidFill>
              </a:rPr>
              <a:t>01</a:t>
            </a:r>
            <a:endParaRPr lang="en-US" sz="1200" dirty="0"/>
          </a:p>
        </p:txBody>
      </p:sp>
      <p:sp>
        <p:nvSpPr>
          <p:cNvPr id="8" name="text-133"/>
          <p:cNvSpPr txBox="1"/>
          <p:nvPr/>
        </p:nvSpPr>
        <p:spPr>
          <a:xfrm>
            <a:off x="731520" y="2039112"/>
            <a:ext cx="2286000" cy="457200"/>
          </a:xfrm>
          <a:prstGeom prst="rect">
            <a:avLst/>
          </a:prstGeom>
          <a:noFill/>
          <a:ln/>
        </p:spPr>
        <p:txBody>
          <a:bodyPr wrap="square" lIns="0" tIns="0" rIns="0" bIns="0" rtlCol="0" anchor="t"/>
          <a:lstStyle/>
          <a:p>
            <a:pPr indent="0" marL="0">
              <a:buNone/>
            </a:pPr>
            <a:r>
              <a:rPr lang="en-US" sz="1300" b="1" dirty="0">
                <a:solidFill>
                  <a:schemeClr val="accent4"/>
                </a:solidFill>
              </a:rPr>
              <a:t>CBRN 情報・能力</a:t>
            </a:r>
            <a:endParaRPr lang="en-US" sz="1300" dirty="0"/>
          </a:p>
        </p:txBody>
      </p:sp>
      <p:sp>
        <p:nvSpPr>
          <p:cNvPr id="9" name="text-134"/>
          <p:cNvSpPr txBox="1"/>
          <p:nvPr/>
        </p:nvSpPr>
        <p:spPr>
          <a:xfrm>
            <a:off x="731520" y="2514600"/>
            <a:ext cx="2286000" cy="256032"/>
          </a:xfrm>
          <a:prstGeom prst="rect">
            <a:avLst/>
          </a:prstGeom>
          <a:noFill/>
          <a:ln/>
        </p:spPr>
        <p:txBody>
          <a:bodyPr wrap="square" lIns="0" tIns="0" rIns="0" bIns="0" rtlCol="0" anchor="t"/>
          <a:lstStyle/>
          <a:p>
            <a:pPr indent="0" marL="0">
              <a:buNone/>
            </a:pPr>
            <a:r>
              <a:rPr lang="en-US" sz="1200" dirty="0">
                <a:solidFill>
                  <a:schemeClr val="accent4"/>
                </a:solidFill>
              </a:rPr>
              <a:t>範囲外</a:t>
            </a:r>
            <a:endParaRPr lang="en-US" sz="1200" dirty="0"/>
          </a:p>
        </p:txBody>
      </p:sp>
      <p:sp>
        <p:nvSpPr>
          <p:cNvPr id="10" name="card-135"/>
          <p:cNvSpPr/>
          <p:nvPr/>
        </p:nvSpPr>
        <p:spPr>
          <a:xfrm>
            <a:off x="3346704" y="1691640"/>
            <a:ext cx="2651760" cy="1115568"/>
          </a:xfrm>
          <a:prstGeom prst="roundRect">
            <a:avLst>
              <a:gd name="adj" fmla="val 6557"/>
            </a:avLst>
          </a:prstGeom>
          <a:solidFill>
            <a:schemeClr val="accent1"/>
          </a:solidFill>
          <a:ln w="12700">
            <a:solidFill>
              <a:schemeClr val="accent1"/>
            </a:solidFill>
            <a:prstDash val="solid"/>
          </a:ln>
        </p:spPr>
      </p:sp>
      <p:sp>
        <p:nvSpPr>
          <p:cNvPr id="11" name="text-136"/>
          <p:cNvSpPr txBox="1"/>
          <p:nvPr/>
        </p:nvSpPr>
        <p:spPr>
          <a:xfrm>
            <a:off x="3529584" y="1801368"/>
            <a:ext cx="548640" cy="274320"/>
          </a:xfrm>
          <a:prstGeom prst="rect">
            <a:avLst/>
          </a:prstGeom>
          <a:noFill/>
          <a:ln/>
        </p:spPr>
        <p:txBody>
          <a:bodyPr wrap="square" lIns="0" tIns="0" rIns="0" bIns="0" rtlCol="0" anchor="t"/>
          <a:lstStyle/>
          <a:p>
            <a:pPr indent="0" marL="0">
              <a:buNone/>
            </a:pPr>
            <a:r>
              <a:rPr lang="en-US" sz="1200" b="1" dirty="0">
                <a:solidFill>
                  <a:schemeClr val="bg1"/>
                </a:solidFill>
              </a:rPr>
              <a:t>02</a:t>
            </a:r>
            <a:endParaRPr lang="en-US" sz="1200" dirty="0"/>
          </a:p>
        </p:txBody>
      </p:sp>
      <p:sp>
        <p:nvSpPr>
          <p:cNvPr id="12" name="text-137"/>
          <p:cNvSpPr txBox="1"/>
          <p:nvPr/>
        </p:nvSpPr>
        <p:spPr>
          <a:xfrm>
            <a:off x="3529584" y="2039112"/>
            <a:ext cx="2286000" cy="457200"/>
          </a:xfrm>
          <a:prstGeom prst="rect">
            <a:avLst/>
          </a:prstGeom>
          <a:noFill/>
          <a:ln/>
        </p:spPr>
        <p:txBody>
          <a:bodyPr wrap="square" lIns="0" tIns="0" rIns="0" bIns="0" rtlCol="0" anchor="t"/>
          <a:lstStyle/>
          <a:p>
            <a:pPr indent="0" marL="0">
              <a:buNone/>
            </a:pPr>
            <a:r>
              <a:rPr lang="en-US" sz="1300" b="1" dirty="0">
                <a:solidFill>
                  <a:schemeClr val="bg1"/>
                </a:solidFill>
              </a:rPr>
              <a:t>作話</a:t>
            </a:r>
            <a:endParaRPr lang="en-US" sz="1300" dirty="0"/>
          </a:p>
        </p:txBody>
      </p:sp>
      <p:sp>
        <p:nvSpPr>
          <p:cNvPr id="13" name="text-138"/>
          <p:cNvSpPr txBox="1"/>
          <p:nvPr/>
        </p:nvSpPr>
        <p:spPr>
          <a:xfrm>
            <a:off x="3529584" y="2514600"/>
            <a:ext cx="2286000" cy="256032"/>
          </a:xfrm>
          <a:prstGeom prst="rect">
            <a:avLst/>
          </a:prstGeom>
          <a:noFill/>
          <a:ln/>
        </p:spPr>
        <p:txBody>
          <a:bodyPr wrap="square" lIns="0" tIns="0" rIns="0" bIns="0" rtlCol="0" anchor="t"/>
          <a:lstStyle/>
          <a:p>
            <a:pPr indent="0" marL="0">
              <a:buNone/>
            </a:pPr>
            <a:r>
              <a:rPr lang="en-US" sz="1200" dirty="0">
                <a:solidFill>
                  <a:schemeClr val="bg1"/>
                </a:solidFill>
              </a:rPr>
              <a:t>LLM07・LLM03</a:t>
            </a:r>
            <a:endParaRPr lang="en-US" sz="1200" dirty="0"/>
          </a:p>
        </p:txBody>
      </p:sp>
      <p:sp>
        <p:nvSpPr>
          <p:cNvPr id="14" name="card-139"/>
          <p:cNvSpPr/>
          <p:nvPr/>
        </p:nvSpPr>
        <p:spPr>
          <a:xfrm>
            <a:off x="6144768" y="1691640"/>
            <a:ext cx="2651760" cy="1115568"/>
          </a:xfrm>
          <a:prstGeom prst="roundRect">
            <a:avLst>
              <a:gd name="adj" fmla="val 6557"/>
            </a:avLst>
          </a:prstGeom>
          <a:solidFill>
            <a:schemeClr val="accent4"/>
          </a:solidFill>
          <a:ln w="12700">
            <a:solidFill>
              <a:schemeClr val="accent4"/>
            </a:solidFill>
            <a:prstDash val="solid"/>
          </a:ln>
        </p:spPr>
      </p:sp>
      <p:sp>
        <p:nvSpPr>
          <p:cNvPr id="15" name="text-140"/>
          <p:cNvSpPr txBox="1"/>
          <p:nvPr/>
        </p:nvSpPr>
        <p:spPr>
          <a:xfrm>
            <a:off x="6327648" y="1801368"/>
            <a:ext cx="548640" cy="274320"/>
          </a:xfrm>
          <a:prstGeom prst="rect">
            <a:avLst/>
          </a:prstGeom>
          <a:noFill/>
          <a:ln/>
        </p:spPr>
        <p:txBody>
          <a:bodyPr wrap="square" lIns="0" tIns="0" rIns="0" bIns="0" rtlCol="0" anchor="t"/>
          <a:lstStyle/>
          <a:p>
            <a:pPr indent="0" marL="0">
              <a:buNone/>
            </a:pPr>
            <a:r>
              <a:rPr lang="en-US" sz="1200" b="1" dirty="0">
                <a:solidFill>
                  <a:schemeClr val="bg1"/>
                </a:solidFill>
              </a:rPr>
              <a:t>03</a:t>
            </a:r>
            <a:endParaRPr lang="en-US" sz="1200" dirty="0"/>
          </a:p>
        </p:txBody>
      </p:sp>
      <p:sp>
        <p:nvSpPr>
          <p:cNvPr id="16" name="text-141"/>
          <p:cNvSpPr txBox="1"/>
          <p:nvPr/>
        </p:nvSpPr>
        <p:spPr>
          <a:xfrm>
            <a:off x="6327648" y="2039112"/>
            <a:ext cx="2286000" cy="457200"/>
          </a:xfrm>
          <a:prstGeom prst="rect">
            <a:avLst/>
          </a:prstGeom>
          <a:noFill/>
          <a:ln/>
        </p:spPr>
        <p:txBody>
          <a:bodyPr wrap="square" lIns="0" tIns="0" rIns="0" bIns="0" rtlCol="0" anchor="t"/>
          <a:lstStyle/>
          <a:p>
            <a:pPr indent="0" marL="0">
              <a:buNone/>
            </a:pPr>
            <a:r>
              <a:rPr lang="en-US" sz="1300" b="1" dirty="0">
                <a:solidFill>
                  <a:schemeClr val="bg1"/>
                </a:solidFill>
              </a:rPr>
              <a:t>危険・暴力的・憎悪的コンテンツ</a:t>
            </a:r>
            <a:endParaRPr lang="en-US" sz="1300" dirty="0"/>
          </a:p>
        </p:txBody>
      </p:sp>
      <p:sp>
        <p:nvSpPr>
          <p:cNvPr id="17" name="text-142"/>
          <p:cNvSpPr txBox="1"/>
          <p:nvPr/>
        </p:nvSpPr>
        <p:spPr>
          <a:xfrm>
            <a:off x="6327648" y="2514600"/>
            <a:ext cx="2286000" cy="256032"/>
          </a:xfrm>
          <a:prstGeom prst="rect">
            <a:avLst/>
          </a:prstGeom>
          <a:noFill/>
          <a:ln/>
        </p:spPr>
        <p:txBody>
          <a:bodyPr wrap="square" lIns="0" tIns="0" rIns="0" bIns="0" rtlCol="0" anchor="t"/>
          <a:lstStyle/>
          <a:p>
            <a:pPr indent="0" marL="0">
              <a:buNone/>
            </a:pPr>
            <a:r>
              <a:rPr lang="en-US" sz="1200" dirty="0">
                <a:solidFill>
                  <a:schemeClr val="bg1"/>
                </a:solidFill>
              </a:rPr>
              <a:t>一部（LLM05）</a:t>
            </a:r>
            <a:endParaRPr lang="en-US" sz="1200" dirty="0"/>
          </a:p>
        </p:txBody>
      </p:sp>
      <p:sp>
        <p:nvSpPr>
          <p:cNvPr id="18" name="card-143"/>
          <p:cNvSpPr/>
          <p:nvPr/>
        </p:nvSpPr>
        <p:spPr>
          <a:xfrm>
            <a:off x="8942832" y="1691640"/>
            <a:ext cx="2651760" cy="1115568"/>
          </a:xfrm>
          <a:prstGeom prst="roundRect">
            <a:avLst>
              <a:gd name="adj" fmla="val 6557"/>
            </a:avLst>
          </a:prstGeom>
          <a:solidFill>
            <a:schemeClr val="accent1"/>
          </a:solidFill>
          <a:ln w="12700">
            <a:solidFill>
              <a:schemeClr val="accent1"/>
            </a:solidFill>
            <a:prstDash val="solid"/>
          </a:ln>
        </p:spPr>
      </p:sp>
      <p:sp>
        <p:nvSpPr>
          <p:cNvPr id="19" name="text-144"/>
          <p:cNvSpPr txBox="1"/>
          <p:nvPr/>
        </p:nvSpPr>
        <p:spPr>
          <a:xfrm>
            <a:off x="9125712" y="1801368"/>
            <a:ext cx="548640" cy="274320"/>
          </a:xfrm>
          <a:prstGeom prst="rect">
            <a:avLst/>
          </a:prstGeom>
          <a:noFill/>
          <a:ln/>
        </p:spPr>
        <p:txBody>
          <a:bodyPr wrap="square" lIns="0" tIns="0" rIns="0" bIns="0" rtlCol="0" anchor="t"/>
          <a:lstStyle/>
          <a:p>
            <a:pPr indent="0" marL="0">
              <a:buNone/>
            </a:pPr>
            <a:r>
              <a:rPr lang="en-US" sz="1200" b="1" dirty="0">
                <a:solidFill>
                  <a:schemeClr val="bg1"/>
                </a:solidFill>
              </a:rPr>
              <a:t>04</a:t>
            </a:r>
            <a:endParaRPr lang="en-US" sz="1200" dirty="0"/>
          </a:p>
        </p:txBody>
      </p:sp>
      <p:sp>
        <p:nvSpPr>
          <p:cNvPr id="20" name="text-145"/>
          <p:cNvSpPr txBox="1"/>
          <p:nvPr/>
        </p:nvSpPr>
        <p:spPr>
          <a:xfrm>
            <a:off x="9125712" y="2039112"/>
            <a:ext cx="2286000" cy="457200"/>
          </a:xfrm>
          <a:prstGeom prst="rect">
            <a:avLst/>
          </a:prstGeom>
          <a:noFill/>
          <a:ln/>
        </p:spPr>
        <p:txBody>
          <a:bodyPr wrap="square" lIns="0" tIns="0" rIns="0" bIns="0" rtlCol="0" anchor="t"/>
          <a:lstStyle/>
          <a:p>
            <a:pPr indent="0" marL="0">
              <a:buNone/>
            </a:pPr>
            <a:r>
              <a:rPr lang="en-US" sz="1300" b="1" dirty="0">
                <a:solidFill>
                  <a:schemeClr val="bg1"/>
                </a:solidFill>
              </a:rPr>
              <a:t>データプライバシー</a:t>
            </a:r>
            <a:endParaRPr lang="en-US" sz="1300" dirty="0"/>
          </a:p>
        </p:txBody>
      </p:sp>
      <p:sp>
        <p:nvSpPr>
          <p:cNvPr id="21" name="text-146"/>
          <p:cNvSpPr txBox="1"/>
          <p:nvPr/>
        </p:nvSpPr>
        <p:spPr>
          <a:xfrm>
            <a:off x="9125712" y="2514600"/>
            <a:ext cx="2286000" cy="256032"/>
          </a:xfrm>
          <a:prstGeom prst="rect">
            <a:avLst/>
          </a:prstGeom>
          <a:noFill/>
          <a:ln/>
        </p:spPr>
        <p:txBody>
          <a:bodyPr wrap="square" lIns="0" tIns="0" rIns="0" bIns="0" rtlCol="0" anchor="t"/>
          <a:lstStyle/>
          <a:p>
            <a:pPr indent="0" marL="0">
              <a:buNone/>
            </a:pPr>
            <a:r>
              <a:rPr lang="en-US" sz="1200" dirty="0">
                <a:solidFill>
                  <a:schemeClr val="bg1"/>
                </a:solidFill>
              </a:rPr>
              <a:t>LLM02・LLM09</a:t>
            </a:r>
            <a:endParaRPr lang="en-US" sz="1200" dirty="0"/>
          </a:p>
        </p:txBody>
      </p:sp>
      <p:sp>
        <p:nvSpPr>
          <p:cNvPr id="22" name="card-147"/>
          <p:cNvSpPr/>
          <p:nvPr/>
        </p:nvSpPr>
        <p:spPr>
          <a:xfrm>
            <a:off x="548640" y="2953512"/>
            <a:ext cx="2651760" cy="1115568"/>
          </a:xfrm>
          <a:prstGeom prst="roundRect">
            <a:avLst>
              <a:gd name="adj" fmla="val 6557"/>
            </a:avLst>
          </a:prstGeom>
          <a:solidFill>
            <a:schemeClr val="bg2"/>
          </a:solidFill>
          <a:ln w="12700">
            <a:solidFill>
              <a:schemeClr val="bg2"/>
            </a:solidFill>
            <a:prstDash val="solid"/>
          </a:ln>
        </p:spPr>
      </p:sp>
      <p:sp>
        <p:nvSpPr>
          <p:cNvPr id="23" name="text-148"/>
          <p:cNvSpPr txBox="1"/>
          <p:nvPr/>
        </p:nvSpPr>
        <p:spPr>
          <a:xfrm>
            <a:off x="731520" y="3063240"/>
            <a:ext cx="548640" cy="274320"/>
          </a:xfrm>
          <a:prstGeom prst="rect">
            <a:avLst/>
          </a:prstGeom>
          <a:noFill/>
          <a:ln/>
        </p:spPr>
        <p:txBody>
          <a:bodyPr wrap="square" lIns="0" tIns="0" rIns="0" bIns="0" rtlCol="0" anchor="t"/>
          <a:lstStyle/>
          <a:p>
            <a:pPr indent="0" marL="0">
              <a:buNone/>
            </a:pPr>
            <a:r>
              <a:rPr lang="en-US" sz="1200" b="1" dirty="0">
                <a:solidFill>
                  <a:schemeClr val="accent4"/>
                </a:solidFill>
              </a:rPr>
              <a:t>05</a:t>
            </a:r>
            <a:endParaRPr lang="en-US" sz="1200" dirty="0"/>
          </a:p>
        </p:txBody>
      </p:sp>
      <p:sp>
        <p:nvSpPr>
          <p:cNvPr id="24" name="text-149"/>
          <p:cNvSpPr txBox="1"/>
          <p:nvPr/>
        </p:nvSpPr>
        <p:spPr>
          <a:xfrm>
            <a:off x="731520" y="3300984"/>
            <a:ext cx="2286000" cy="457200"/>
          </a:xfrm>
          <a:prstGeom prst="rect">
            <a:avLst/>
          </a:prstGeom>
          <a:noFill/>
          <a:ln/>
        </p:spPr>
        <p:txBody>
          <a:bodyPr wrap="square" lIns="0" tIns="0" rIns="0" bIns="0" rtlCol="0" anchor="t"/>
          <a:lstStyle/>
          <a:p>
            <a:pPr indent="0" marL="0">
              <a:buNone/>
            </a:pPr>
            <a:r>
              <a:rPr lang="en-US" sz="1300" b="1" dirty="0">
                <a:solidFill>
                  <a:schemeClr val="accent4"/>
                </a:solidFill>
              </a:rPr>
              <a:t>環境影響</a:t>
            </a:r>
            <a:endParaRPr lang="en-US" sz="1300" dirty="0"/>
          </a:p>
        </p:txBody>
      </p:sp>
      <p:sp>
        <p:nvSpPr>
          <p:cNvPr id="25" name="text-150"/>
          <p:cNvSpPr txBox="1"/>
          <p:nvPr/>
        </p:nvSpPr>
        <p:spPr>
          <a:xfrm>
            <a:off x="731520" y="3776472"/>
            <a:ext cx="2286000" cy="256032"/>
          </a:xfrm>
          <a:prstGeom prst="rect">
            <a:avLst/>
          </a:prstGeom>
          <a:noFill/>
          <a:ln/>
        </p:spPr>
        <p:txBody>
          <a:bodyPr wrap="square" lIns="0" tIns="0" rIns="0" bIns="0" rtlCol="0" anchor="t"/>
          <a:lstStyle/>
          <a:p>
            <a:pPr indent="0" marL="0">
              <a:buNone/>
            </a:pPr>
            <a:r>
              <a:rPr lang="en-US" sz="1200" dirty="0">
                <a:solidFill>
                  <a:schemeClr val="accent4"/>
                </a:solidFill>
              </a:rPr>
              <a:t>範囲外</a:t>
            </a:r>
            <a:endParaRPr lang="en-US" sz="1200" dirty="0"/>
          </a:p>
        </p:txBody>
      </p:sp>
      <p:sp>
        <p:nvSpPr>
          <p:cNvPr id="26" name="card-151"/>
          <p:cNvSpPr/>
          <p:nvPr/>
        </p:nvSpPr>
        <p:spPr>
          <a:xfrm>
            <a:off x="3346704" y="2953512"/>
            <a:ext cx="2651760" cy="1115568"/>
          </a:xfrm>
          <a:prstGeom prst="roundRect">
            <a:avLst>
              <a:gd name="adj" fmla="val 6557"/>
            </a:avLst>
          </a:prstGeom>
          <a:solidFill>
            <a:schemeClr val="bg2"/>
          </a:solidFill>
          <a:ln w="12700">
            <a:solidFill>
              <a:schemeClr val="bg2"/>
            </a:solidFill>
            <a:prstDash val="solid"/>
          </a:ln>
        </p:spPr>
      </p:sp>
      <p:sp>
        <p:nvSpPr>
          <p:cNvPr id="27" name="text-152"/>
          <p:cNvSpPr txBox="1"/>
          <p:nvPr/>
        </p:nvSpPr>
        <p:spPr>
          <a:xfrm>
            <a:off x="3529584" y="3063240"/>
            <a:ext cx="548640" cy="274320"/>
          </a:xfrm>
          <a:prstGeom prst="rect">
            <a:avLst/>
          </a:prstGeom>
          <a:noFill/>
          <a:ln/>
        </p:spPr>
        <p:txBody>
          <a:bodyPr wrap="square" lIns="0" tIns="0" rIns="0" bIns="0" rtlCol="0" anchor="t"/>
          <a:lstStyle/>
          <a:p>
            <a:pPr indent="0" marL="0">
              <a:buNone/>
            </a:pPr>
            <a:r>
              <a:rPr lang="en-US" sz="1200" b="1" dirty="0">
                <a:solidFill>
                  <a:schemeClr val="accent4"/>
                </a:solidFill>
              </a:rPr>
              <a:t>06</a:t>
            </a:r>
            <a:endParaRPr lang="en-US" sz="1200" dirty="0"/>
          </a:p>
        </p:txBody>
      </p:sp>
      <p:sp>
        <p:nvSpPr>
          <p:cNvPr id="28" name="text-153"/>
          <p:cNvSpPr txBox="1"/>
          <p:nvPr/>
        </p:nvSpPr>
        <p:spPr>
          <a:xfrm>
            <a:off x="3529584" y="3300984"/>
            <a:ext cx="2286000" cy="457200"/>
          </a:xfrm>
          <a:prstGeom prst="rect">
            <a:avLst/>
          </a:prstGeom>
          <a:noFill/>
          <a:ln/>
        </p:spPr>
        <p:txBody>
          <a:bodyPr wrap="square" lIns="0" tIns="0" rIns="0" bIns="0" rtlCol="0" anchor="t"/>
          <a:lstStyle/>
          <a:p>
            <a:pPr indent="0" marL="0">
              <a:buNone/>
            </a:pPr>
            <a:r>
              <a:rPr lang="en-US" sz="1300" b="1" dirty="0">
                <a:solidFill>
                  <a:schemeClr val="accent4"/>
                </a:solidFill>
              </a:rPr>
              <a:t>有害なバイアス・均質化</a:t>
            </a:r>
            <a:endParaRPr lang="en-US" sz="1300" dirty="0"/>
          </a:p>
        </p:txBody>
      </p:sp>
      <p:sp>
        <p:nvSpPr>
          <p:cNvPr id="29" name="text-154"/>
          <p:cNvSpPr txBox="1"/>
          <p:nvPr/>
        </p:nvSpPr>
        <p:spPr>
          <a:xfrm>
            <a:off x="3529584" y="3776472"/>
            <a:ext cx="2286000" cy="256032"/>
          </a:xfrm>
          <a:prstGeom prst="rect">
            <a:avLst/>
          </a:prstGeom>
          <a:noFill/>
          <a:ln/>
        </p:spPr>
        <p:txBody>
          <a:bodyPr wrap="square" lIns="0" tIns="0" rIns="0" bIns="0" rtlCol="0" anchor="t"/>
          <a:lstStyle/>
          <a:p>
            <a:pPr indent="0" marL="0">
              <a:buNone/>
            </a:pPr>
            <a:r>
              <a:rPr lang="en-US" sz="1200" dirty="0">
                <a:solidFill>
                  <a:schemeClr val="accent4"/>
                </a:solidFill>
              </a:rPr>
              <a:t>範囲外</a:t>
            </a:r>
            <a:endParaRPr lang="en-US" sz="1200" dirty="0"/>
          </a:p>
        </p:txBody>
      </p:sp>
      <p:sp>
        <p:nvSpPr>
          <p:cNvPr id="30" name="card-155"/>
          <p:cNvSpPr/>
          <p:nvPr/>
        </p:nvSpPr>
        <p:spPr>
          <a:xfrm>
            <a:off x="6144768" y="2953512"/>
            <a:ext cx="2651760" cy="1115568"/>
          </a:xfrm>
          <a:prstGeom prst="roundRect">
            <a:avLst>
              <a:gd name="adj" fmla="val 6557"/>
            </a:avLst>
          </a:prstGeom>
          <a:solidFill>
            <a:schemeClr val="accent1"/>
          </a:solidFill>
          <a:ln w="12700">
            <a:solidFill>
              <a:schemeClr val="accent1"/>
            </a:solidFill>
            <a:prstDash val="solid"/>
          </a:ln>
        </p:spPr>
      </p:sp>
      <p:sp>
        <p:nvSpPr>
          <p:cNvPr id="31" name="text-156"/>
          <p:cNvSpPr txBox="1"/>
          <p:nvPr/>
        </p:nvSpPr>
        <p:spPr>
          <a:xfrm>
            <a:off x="6327648" y="3063240"/>
            <a:ext cx="548640" cy="274320"/>
          </a:xfrm>
          <a:prstGeom prst="rect">
            <a:avLst/>
          </a:prstGeom>
          <a:noFill/>
          <a:ln/>
        </p:spPr>
        <p:txBody>
          <a:bodyPr wrap="square" lIns="0" tIns="0" rIns="0" bIns="0" rtlCol="0" anchor="t"/>
          <a:lstStyle/>
          <a:p>
            <a:pPr indent="0" marL="0">
              <a:buNone/>
            </a:pPr>
            <a:r>
              <a:rPr lang="en-US" sz="1200" b="1" dirty="0">
                <a:solidFill>
                  <a:schemeClr val="bg1"/>
                </a:solidFill>
              </a:rPr>
              <a:t>07</a:t>
            </a:r>
            <a:endParaRPr lang="en-US" sz="1200" dirty="0"/>
          </a:p>
        </p:txBody>
      </p:sp>
      <p:sp>
        <p:nvSpPr>
          <p:cNvPr id="32" name="text-157"/>
          <p:cNvSpPr txBox="1"/>
          <p:nvPr/>
        </p:nvSpPr>
        <p:spPr>
          <a:xfrm>
            <a:off x="6327648" y="3300984"/>
            <a:ext cx="2286000" cy="457200"/>
          </a:xfrm>
          <a:prstGeom prst="rect">
            <a:avLst/>
          </a:prstGeom>
          <a:noFill/>
          <a:ln/>
        </p:spPr>
        <p:txBody>
          <a:bodyPr wrap="square" lIns="0" tIns="0" rIns="0" bIns="0" rtlCol="0" anchor="t"/>
          <a:lstStyle/>
          <a:p>
            <a:pPr indent="0" marL="0">
              <a:buNone/>
            </a:pPr>
            <a:r>
              <a:rPr lang="en-US" sz="1300" b="1" dirty="0">
                <a:solidFill>
                  <a:schemeClr val="bg1"/>
                </a:solidFill>
              </a:rPr>
              <a:t>人間とAIの構成</a:t>
            </a:r>
            <a:endParaRPr lang="en-US" sz="1300" dirty="0"/>
          </a:p>
        </p:txBody>
      </p:sp>
      <p:sp>
        <p:nvSpPr>
          <p:cNvPr id="33" name="text-158"/>
          <p:cNvSpPr txBox="1"/>
          <p:nvPr/>
        </p:nvSpPr>
        <p:spPr>
          <a:xfrm>
            <a:off x="6327648" y="3776472"/>
            <a:ext cx="2286000" cy="256032"/>
          </a:xfrm>
          <a:prstGeom prst="rect">
            <a:avLst/>
          </a:prstGeom>
          <a:noFill/>
          <a:ln/>
        </p:spPr>
        <p:txBody>
          <a:bodyPr wrap="square" lIns="0" tIns="0" rIns="0" bIns="0" rtlCol="0" anchor="t"/>
          <a:lstStyle/>
          <a:p>
            <a:pPr indent="0" marL="0">
              <a:buNone/>
            </a:pPr>
            <a:r>
              <a:rPr lang="en-US" sz="1200" dirty="0">
                <a:solidFill>
                  <a:schemeClr val="bg1"/>
                </a:solidFill>
              </a:rPr>
              <a:t>LLM07・LLM03</a:t>
            </a:r>
            <a:endParaRPr lang="en-US" sz="1200" dirty="0"/>
          </a:p>
        </p:txBody>
      </p:sp>
      <p:sp>
        <p:nvSpPr>
          <p:cNvPr id="34" name="card-159"/>
          <p:cNvSpPr/>
          <p:nvPr/>
        </p:nvSpPr>
        <p:spPr>
          <a:xfrm>
            <a:off x="8942832" y="2953512"/>
            <a:ext cx="2651760" cy="1115568"/>
          </a:xfrm>
          <a:prstGeom prst="roundRect">
            <a:avLst>
              <a:gd name="adj" fmla="val 6557"/>
            </a:avLst>
          </a:prstGeom>
          <a:solidFill>
            <a:schemeClr val="accent1"/>
          </a:solidFill>
          <a:ln w="12700">
            <a:solidFill>
              <a:schemeClr val="accent1"/>
            </a:solidFill>
            <a:prstDash val="solid"/>
          </a:ln>
        </p:spPr>
      </p:sp>
      <p:sp>
        <p:nvSpPr>
          <p:cNvPr id="35" name="text-160"/>
          <p:cNvSpPr txBox="1"/>
          <p:nvPr/>
        </p:nvSpPr>
        <p:spPr>
          <a:xfrm>
            <a:off x="9125712" y="3063240"/>
            <a:ext cx="548640" cy="274320"/>
          </a:xfrm>
          <a:prstGeom prst="rect">
            <a:avLst/>
          </a:prstGeom>
          <a:noFill/>
          <a:ln/>
        </p:spPr>
        <p:txBody>
          <a:bodyPr wrap="square" lIns="0" tIns="0" rIns="0" bIns="0" rtlCol="0" anchor="t"/>
          <a:lstStyle/>
          <a:p>
            <a:pPr indent="0" marL="0">
              <a:buNone/>
            </a:pPr>
            <a:r>
              <a:rPr lang="en-US" sz="1200" b="1" dirty="0">
                <a:solidFill>
                  <a:schemeClr val="bg1"/>
                </a:solidFill>
              </a:rPr>
              <a:t>08</a:t>
            </a:r>
            <a:endParaRPr lang="en-US" sz="1200" dirty="0"/>
          </a:p>
        </p:txBody>
      </p:sp>
      <p:sp>
        <p:nvSpPr>
          <p:cNvPr id="36" name="text-161"/>
          <p:cNvSpPr txBox="1"/>
          <p:nvPr/>
        </p:nvSpPr>
        <p:spPr>
          <a:xfrm>
            <a:off x="9125712" y="3300984"/>
            <a:ext cx="2286000" cy="457200"/>
          </a:xfrm>
          <a:prstGeom prst="rect">
            <a:avLst/>
          </a:prstGeom>
          <a:noFill/>
          <a:ln/>
        </p:spPr>
        <p:txBody>
          <a:bodyPr wrap="square" lIns="0" tIns="0" rIns="0" bIns="0" rtlCol="0" anchor="t"/>
          <a:lstStyle/>
          <a:p>
            <a:pPr indent="0" marL="0">
              <a:buNone/>
            </a:pPr>
            <a:r>
              <a:rPr lang="en-US" sz="1300" b="1" dirty="0">
                <a:solidFill>
                  <a:schemeClr val="bg1"/>
                </a:solidFill>
              </a:rPr>
              <a:t>情報の完全性</a:t>
            </a:r>
            <a:endParaRPr lang="en-US" sz="1300" dirty="0"/>
          </a:p>
        </p:txBody>
      </p:sp>
      <p:sp>
        <p:nvSpPr>
          <p:cNvPr id="37" name="text-162"/>
          <p:cNvSpPr txBox="1"/>
          <p:nvPr/>
        </p:nvSpPr>
        <p:spPr>
          <a:xfrm>
            <a:off x="9125712" y="3776472"/>
            <a:ext cx="2286000" cy="256032"/>
          </a:xfrm>
          <a:prstGeom prst="rect">
            <a:avLst/>
          </a:prstGeom>
          <a:noFill/>
          <a:ln/>
        </p:spPr>
        <p:txBody>
          <a:bodyPr wrap="square" lIns="0" tIns="0" rIns="0" bIns="0" rtlCol="0" anchor="t"/>
          <a:lstStyle/>
          <a:p>
            <a:pPr indent="0" marL="0">
              <a:buNone/>
            </a:pPr>
            <a:r>
              <a:rPr lang="en-US" sz="1200" dirty="0">
                <a:solidFill>
                  <a:schemeClr val="bg1"/>
                </a:solidFill>
              </a:rPr>
              <a:t>LLM05・07・09</a:t>
            </a:r>
            <a:endParaRPr lang="en-US" sz="1200" dirty="0"/>
          </a:p>
        </p:txBody>
      </p:sp>
      <p:sp>
        <p:nvSpPr>
          <p:cNvPr id="38" name="card-163"/>
          <p:cNvSpPr/>
          <p:nvPr/>
        </p:nvSpPr>
        <p:spPr>
          <a:xfrm>
            <a:off x="548640" y="4215384"/>
            <a:ext cx="2651760" cy="1115568"/>
          </a:xfrm>
          <a:prstGeom prst="roundRect">
            <a:avLst>
              <a:gd name="adj" fmla="val 6557"/>
            </a:avLst>
          </a:prstGeom>
          <a:solidFill>
            <a:schemeClr val="accent3"/>
          </a:solidFill>
          <a:ln w="12700">
            <a:solidFill>
              <a:schemeClr val="accent3"/>
            </a:solidFill>
            <a:prstDash val="solid"/>
          </a:ln>
        </p:spPr>
      </p:sp>
      <p:sp>
        <p:nvSpPr>
          <p:cNvPr id="39" name="text-164"/>
          <p:cNvSpPr txBox="1"/>
          <p:nvPr/>
        </p:nvSpPr>
        <p:spPr>
          <a:xfrm>
            <a:off x="731520" y="4325112"/>
            <a:ext cx="548640" cy="274320"/>
          </a:xfrm>
          <a:prstGeom prst="rect">
            <a:avLst/>
          </a:prstGeom>
          <a:noFill/>
          <a:ln/>
        </p:spPr>
        <p:txBody>
          <a:bodyPr wrap="square" lIns="0" tIns="0" rIns="0" bIns="0" rtlCol="0" anchor="t"/>
          <a:lstStyle/>
          <a:p>
            <a:pPr indent="0" marL="0">
              <a:buNone/>
            </a:pPr>
            <a:r>
              <a:rPr lang="en-US" sz="1200" b="1" dirty="0">
                <a:solidFill>
                  <a:schemeClr val="bg1"/>
                </a:solidFill>
              </a:rPr>
              <a:t>09</a:t>
            </a:r>
            <a:endParaRPr lang="en-US" sz="1200" dirty="0"/>
          </a:p>
        </p:txBody>
      </p:sp>
      <p:sp>
        <p:nvSpPr>
          <p:cNvPr id="40" name="text-165"/>
          <p:cNvSpPr txBox="1"/>
          <p:nvPr/>
        </p:nvSpPr>
        <p:spPr>
          <a:xfrm>
            <a:off x="731520" y="4562856"/>
            <a:ext cx="2286000" cy="457200"/>
          </a:xfrm>
          <a:prstGeom prst="rect">
            <a:avLst/>
          </a:prstGeom>
          <a:noFill/>
          <a:ln/>
        </p:spPr>
        <p:txBody>
          <a:bodyPr wrap="square" lIns="0" tIns="0" rIns="0" bIns="0" rtlCol="0" anchor="t"/>
          <a:lstStyle/>
          <a:p>
            <a:pPr indent="0" marL="0">
              <a:buNone/>
            </a:pPr>
            <a:r>
              <a:rPr lang="en-US" sz="1300" b="1" dirty="0">
                <a:solidFill>
                  <a:schemeClr val="bg1"/>
                </a:solidFill>
              </a:rPr>
              <a:t>情報セキュリティ</a:t>
            </a:r>
            <a:endParaRPr lang="en-US" sz="1300" dirty="0"/>
          </a:p>
        </p:txBody>
      </p:sp>
      <p:sp>
        <p:nvSpPr>
          <p:cNvPr id="41" name="text-166"/>
          <p:cNvSpPr txBox="1"/>
          <p:nvPr/>
        </p:nvSpPr>
        <p:spPr>
          <a:xfrm>
            <a:off x="731520" y="5038344"/>
            <a:ext cx="2286000" cy="256032"/>
          </a:xfrm>
          <a:prstGeom prst="rect">
            <a:avLst/>
          </a:prstGeom>
          <a:noFill/>
          <a:ln/>
        </p:spPr>
        <p:txBody>
          <a:bodyPr wrap="square" lIns="0" tIns="0" rIns="0" bIns="0" rtlCol="0" anchor="t"/>
          <a:lstStyle/>
          <a:p>
            <a:pPr indent="0" marL="0">
              <a:buNone/>
            </a:pPr>
            <a:r>
              <a:rPr lang="en-US" sz="1200" dirty="0">
                <a:solidFill>
                  <a:schemeClr val="bg1"/>
                </a:solidFill>
              </a:rPr>
              <a:t>10リスクすべての中心</a:t>
            </a:r>
            <a:endParaRPr lang="en-US" sz="1200" dirty="0"/>
          </a:p>
        </p:txBody>
      </p:sp>
      <p:sp>
        <p:nvSpPr>
          <p:cNvPr id="42" name="card-167"/>
          <p:cNvSpPr/>
          <p:nvPr/>
        </p:nvSpPr>
        <p:spPr>
          <a:xfrm>
            <a:off x="3346704" y="4215384"/>
            <a:ext cx="2651760" cy="1115568"/>
          </a:xfrm>
          <a:prstGeom prst="roundRect">
            <a:avLst>
              <a:gd name="adj" fmla="val 6557"/>
            </a:avLst>
          </a:prstGeom>
          <a:solidFill>
            <a:schemeClr val="accent1"/>
          </a:solidFill>
          <a:ln w="12700">
            <a:solidFill>
              <a:schemeClr val="accent1"/>
            </a:solidFill>
            <a:prstDash val="solid"/>
          </a:ln>
        </p:spPr>
      </p:sp>
      <p:sp>
        <p:nvSpPr>
          <p:cNvPr id="43" name="text-168"/>
          <p:cNvSpPr txBox="1"/>
          <p:nvPr/>
        </p:nvSpPr>
        <p:spPr>
          <a:xfrm>
            <a:off x="3529584" y="4325112"/>
            <a:ext cx="548640" cy="274320"/>
          </a:xfrm>
          <a:prstGeom prst="rect">
            <a:avLst/>
          </a:prstGeom>
          <a:noFill/>
          <a:ln/>
        </p:spPr>
        <p:txBody>
          <a:bodyPr wrap="square" lIns="0" tIns="0" rIns="0" bIns="0" rtlCol="0" anchor="t"/>
          <a:lstStyle/>
          <a:p>
            <a:pPr indent="0" marL="0">
              <a:buNone/>
            </a:pPr>
            <a:r>
              <a:rPr lang="en-US" sz="1200" b="1" dirty="0">
                <a:solidFill>
                  <a:schemeClr val="bg1"/>
                </a:solidFill>
              </a:rPr>
              <a:t>10</a:t>
            </a:r>
            <a:endParaRPr lang="en-US" sz="1200" dirty="0"/>
          </a:p>
        </p:txBody>
      </p:sp>
      <p:sp>
        <p:nvSpPr>
          <p:cNvPr id="44" name="text-169"/>
          <p:cNvSpPr txBox="1"/>
          <p:nvPr/>
        </p:nvSpPr>
        <p:spPr>
          <a:xfrm>
            <a:off x="3529584" y="4562856"/>
            <a:ext cx="2286000" cy="457200"/>
          </a:xfrm>
          <a:prstGeom prst="rect">
            <a:avLst/>
          </a:prstGeom>
          <a:noFill/>
          <a:ln/>
        </p:spPr>
        <p:txBody>
          <a:bodyPr wrap="square" lIns="0" tIns="0" rIns="0" bIns="0" rtlCol="0" anchor="t"/>
          <a:lstStyle/>
          <a:p>
            <a:pPr indent="0" marL="0">
              <a:buNone/>
            </a:pPr>
            <a:r>
              <a:rPr lang="en-US" sz="1300" b="1" dirty="0">
                <a:solidFill>
                  <a:schemeClr val="bg1"/>
                </a:solidFill>
              </a:rPr>
              <a:t>知的財産</a:t>
            </a:r>
            <a:endParaRPr lang="en-US" sz="1300" dirty="0"/>
          </a:p>
        </p:txBody>
      </p:sp>
      <p:sp>
        <p:nvSpPr>
          <p:cNvPr id="45" name="text-170"/>
          <p:cNvSpPr txBox="1"/>
          <p:nvPr/>
        </p:nvSpPr>
        <p:spPr>
          <a:xfrm>
            <a:off x="3529584" y="5038344"/>
            <a:ext cx="2286000" cy="256032"/>
          </a:xfrm>
          <a:prstGeom prst="rect">
            <a:avLst/>
          </a:prstGeom>
          <a:noFill/>
          <a:ln/>
        </p:spPr>
        <p:txBody>
          <a:bodyPr wrap="square" lIns="0" tIns="0" rIns="0" bIns="0" rtlCol="0" anchor="t"/>
          <a:lstStyle/>
          <a:p>
            <a:pPr indent="0" marL="0">
              <a:buNone/>
            </a:pPr>
            <a:r>
              <a:rPr lang="en-US" sz="1200" dirty="0">
                <a:solidFill>
                  <a:schemeClr val="bg1"/>
                </a:solidFill>
              </a:rPr>
              <a:t>LLM02・04・06</a:t>
            </a:r>
            <a:endParaRPr lang="en-US" sz="1200" dirty="0"/>
          </a:p>
        </p:txBody>
      </p:sp>
      <p:sp>
        <p:nvSpPr>
          <p:cNvPr id="46" name="card-171"/>
          <p:cNvSpPr/>
          <p:nvPr/>
        </p:nvSpPr>
        <p:spPr>
          <a:xfrm>
            <a:off x="6144768" y="4215384"/>
            <a:ext cx="2651760" cy="1115568"/>
          </a:xfrm>
          <a:prstGeom prst="roundRect">
            <a:avLst>
              <a:gd name="adj" fmla="val 6557"/>
            </a:avLst>
          </a:prstGeom>
          <a:solidFill>
            <a:schemeClr val="bg2"/>
          </a:solidFill>
          <a:ln w="12700">
            <a:solidFill>
              <a:schemeClr val="bg2"/>
            </a:solidFill>
            <a:prstDash val="solid"/>
          </a:ln>
        </p:spPr>
      </p:sp>
      <p:sp>
        <p:nvSpPr>
          <p:cNvPr id="47" name="text-172"/>
          <p:cNvSpPr txBox="1"/>
          <p:nvPr/>
        </p:nvSpPr>
        <p:spPr>
          <a:xfrm>
            <a:off x="6327648" y="4325112"/>
            <a:ext cx="548640" cy="274320"/>
          </a:xfrm>
          <a:prstGeom prst="rect">
            <a:avLst/>
          </a:prstGeom>
          <a:noFill/>
          <a:ln/>
        </p:spPr>
        <p:txBody>
          <a:bodyPr wrap="square" lIns="0" tIns="0" rIns="0" bIns="0" rtlCol="0" anchor="t"/>
          <a:lstStyle/>
          <a:p>
            <a:pPr indent="0" marL="0">
              <a:buNone/>
            </a:pPr>
            <a:r>
              <a:rPr lang="en-US" sz="1200" b="1" dirty="0">
                <a:solidFill>
                  <a:schemeClr val="accent4"/>
                </a:solidFill>
              </a:rPr>
              <a:t>11</a:t>
            </a:r>
            <a:endParaRPr lang="en-US" sz="1200" dirty="0"/>
          </a:p>
        </p:txBody>
      </p:sp>
      <p:sp>
        <p:nvSpPr>
          <p:cNvPr id="48" name="text-173"/>
          <p:cNvSpPr txBox="1"/>
          <p:nvPr/>
        </p:nvSpPr>
        <p:spPr>
          <a:xfrm>
            <a:off x="6327648" y="4562856"/>
            <a:ext cx="2286000" cy="457200"/>
          </a:xfrm>
          <a:prstGeom prst="rect">
            <a:avLst/>
          </a:prstGeom>
          <a:noFill/>
          <a:ln/>
        </p:spPr>
        <p:txBody>
          <a:bodyPr wrap="square" lIns="0" tIns="0" rIns="0" bIns="0" rtlCol="0" anchor="t"/>
          <a:lstStyle/>
          <a:p>
            <a:pPr indent="0" marL="0">
              <a:buNone/>
            </a:pPr>
            <a:r>
              <a:rPr lang="en-US" sz="1300" b="1" dirty="0">
                <a:solidFill>
                  <a:schemeClr val="accent4"/>
                </a:solidFill>
              </a:rPr>
              <a:t>わいせつ・侮辱的コンテンツ</a:t>
            </a:r>
            <a:endParaRPr lang="en-US" sz="1300" dirty="0"/>
          </a:p>
        </p:txBody>
      </p:sp>
      <p:sp>
        <p:nvSpPr>
          <p:cNvPr id="49" name="text-174"/>
          <p:cNvSpPr txBox="1"/>
          <p:nvPr/>
        </p:nvSpPr>
        <p:spPr>
          <a:xfrm>
            <a:off x="6327648" y="5038344"/>
            <a:ext cx="2286000" cy="256032"/>
          </a:xfrm>
          <a:prstGeom prst="rect">
            <a:avLst/>
          </a:prstGeom>
          <a:noFill/>
          <a:ln/>
        </p:spPr>
        <p:txBody>
          <a:bodyPr wrap="square" lIns="0" tIns="0" rIns="0" bIns="0" rtlCol="0" anchor="t"/>
          <a:lstStyle/>
          <a:p>
            <a:pPr indent="0" marL="0">
              <a:buNone/>
            </a:pPr>
            <a:r>
              <a:rPr lang="en-US" sz="1200" dirty="0">
                <a:solidFill>
                  <a:schemeClr val="accent4"/>
                </a:solidFill>
              </a:rPr>
              <a:t>範囲外</a:t>
            </a:r>
            <a:endParaRPr lang="en-US" sz="1200" dirty="0"/>
          </a:p>
        </p:txBody>
      </p:sp>
      <p:sp>
        <p:nvSpPr>
          <p:cNvPr id="50" name="card-175"/>
          <p:cNvSpPr/>
          <p:nvPr/>
        </p:nvSpPr>
        <p:spPr>
          <a:xfrm>
            <a:off x="8942832" y="4215384"/>
            <a:ext cx="2651760" cy="1115568"/>
          </a:xfrm>
          <a:prstGeom prst="roundRect">
            <a:avLst>
              <a:gd name="adj" fmla="val 6557"/>
            </a:avLst>
          </a:prstGeom>
          <a:solidFill>
            <a:schemeClr val="accent1"/>
          </a:solidFill>
          <a:ln w="12700">
            <a:solidFill>
              <a:schemeClr val="accent1"/>
            </a:solidFill>
            <a:prstDash val="solid"/>
          </a:ln>
        </p:spPr>
      </p:sp>
      <p:sp>
        <p:nvSpPr>
          <p:cNvPr id="51" name="text-176"/>
          <p:cNvSpPr txBox="1"/>
          <p:nvPr/>
        </p:nvSpPr>
        <p:spPr>
          <a:xfrm>
            <a:off x="9125712" y="4325112"/>
            <a:ext cx="548640" cy="274320"/>
          </a:xfrm>
          <a:prstGeom prst="rect">
            <a:avLst/>
          </a:prstGeom>
          <a:noFill/>
          <a:ln/>
        </p:spPr>
        <p:txBody>
          <a:bodyPr wrap="square" lIns="0" tIns="0" rIns="0" bIns="0" rtlCol="0" anchor="t"/>
          <a:lstStyle/>
          <a:p>
            <a:pPr indent="0" marL="0">
              <a:buNone/>
            </a:pPr>
            <a:r>
              <a:rPr lang="en-US" sz="1200" b="1" dirty="0">
                <a:solidFill>
                  <a:schemeClr val="bg1"/>
                </a:solidFill>
              </a:rPr>
              <a:t>12</a:t>
            </a:r>
            <a:endParaRPr lang="en-US" sz="1200" dirty="0"/>
          </a:p>
        </p:txBody>
      </p:sp>
      <p:sp>
        <p:nvSpPr>
          <p:cNvPr id="52" name="text-177"/>
          <p:cNvSpPr txBox="1"/>
          <p:nvPr/>
        </p:nvSpPr>
        <p:spPr>
          <a:xfrm>
            <a:off x="9125712" y="4562856"/>
            <a:ext cx="2286000" cy="457200"/>
          </a:xfrm>
          <a:prstGeom prst="rect">
            <a:avLst/>
          </a:prstGeom>
          <a:noFill/>
          <a:ln/>
        </p:spPr>
        <p:txBody>
          <a:bodyPr wrap="square" lIns="0" tIns="0" rIns="0" bIns="0" rtlCol="0" anchor="t"/>
          <a:lstStyle/>
          <a:p>
            <a:pPr indent="0" marL="0">
              <a:buNone/>
            </a:pPr>
            <a:r>
              <a:rPr lang="en-US" sz="1300" b="1" dirty="0">
                <a:solidFill>
                  <a:schemeClr val="bg1"/>
                </a:solidFill>
              </a:rPr>
              <a:t>バリューチェーンと構成要素の統合</a:t>
            </a:r>
            <a:endParaRPr lang="en-US" sz="1300" dirty="0"/>
          </a:p>
        </p:txBody>
      </p:sp>
      <p:sp>
        <p:nvSpPr>
          <p:cNvPr id="53" name="text-178"/>
          <p:cNvSpPr txBox="1"/>
          <p:nvPr/>
        </p:nvSpPr>
        <p:spPr>
          <a:xfrm>
            <a:off x="9125712" y="5038344"/>
            <a:ext cx="2286000" cy="256032"/>
          </a:xfrm>
          <a:prstGeom prst="rect">
            <a:avLst/>
          </a:prstGeom>
          <a:noFill/>
          <a:ln/>
        </p:spPr>
        <p:txBody>
          <a:bodyPr wrap="square" lIns="0" tIns="0" rIns="0" bIns="0" rtlCol="0" anchor="t"/>
          <a:lstStyle/>
          <a:p>
            <a:pPr indent="0" marL="0">
              <a:buNone/>
            </a:pPr>
            <a:r>
              <a:rPr lang="en-US" sz="1200" dirty="0">
                <a:solidFill>
                  <a:schemeClr val="bg1"/>
                </a:solidFill>
              </a:rPr>
              <a:t>LLM04・LLM05</a:t>
            </a:r>
            <a:endParaRPr lang="en-US" sz="1200" dirty="0"/>
          </a:p>
        </p:txBody>
      </p:sp>
      <p:sp>
        <p:nvSpPr>
          <p:cNvPr id="54" name="text-179"/>
          <p:cNvSpPr txBox="1"/>
          <p:nvPr/>
        </p:nvSpPr>
        <p:spPr>
          <a:xfrm>
            <a:off x="548640" y="5486400"/>
            <a:ext cx="11064240" cy="365760"/>
          </a:xfrm>
          <a:prstGeom prst="rect">
            <a:avLst/>
          </a:prstGeom>
          <a:noFill/>
          <a:ln/>
        </p:spPr>
        <p:txBody>
          <a:bodyPr wrap="square" lIns="0" tIns="0" rIns="0" bIns="0" rtlCol="0" anchor="t"/>
          <a:lstStyle/>
          <a:p>
            <a:pPr indent="0" marL="0">
              <a:buNone/>
            </a:pPr>
            <a:r>
              <a:rPr lang="en-US" sz="1400" b="1" dirty="0">
                <a:solidFill>
                  <a:schemeClr val="tx2"/>
                </a:solidFill>
              </a:rPr>
              <a:t>生成AIで重視する4つの考慮事項：ガバナンス／コンテンツの来歴／導入前テスト／インシデント開示</a:t>
            </a:r>
            <a:endParaRPr lang="en-US" sz="1400" dirty="0"/>
          </a:p>
        </p:txBody>
      </p:sp>
      <p:sp>
        <p:nvSpPr>
          <p:cNvPr id="55" name="text-180"/>
          <p:cNvSpPr txBox="1"/>
          <p:nvPr/>
        </p:nvSpPr>
        <p:spPr>
          <a:xfrm>
            <a:off x="548640" y="5852160"/>
            <a:ext cx="11064240" cy="502920"/>
          </a:xfrm>
          <a:prstGeom prst="rect">
            <a:avLst/>
          </a:prstGeom>
          <a:noFill/>
          <a:ln/>
        </p:spPr>
        <p:txBody>
          <a:bodyPr wrap="square" lIns="0" tIns="0" rIns="0" bIns="0" rtlCol="0" anchor="t"/>
          <a:lstStyle/>
          <a:p>
            <a:pPr indent="0" marL="0">
              <a:buNone/>
            </a:pPr>
            <a:r>
              <a:rPr lang="en-US" sz="1300" dirty="0">
                <a:solidFill>
                  <a:schemeClr val="accent4"/>
                </a:solidFill>
              </a:rPr>
              <a:t>推奨行動の例：GV-1.6-003 は、AI資産台帳に基盤モデルとバージョン、データの来歴、既知の問題、ヒューマンオーバーサイトの役割、知的財産・機密データの扱いを記載するよう求めている</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OWASP 2026年版：実インシデントで順位を検証した初の版</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エージェントでの実害を反映し「過剰な権限」が3位に。プロンプトインジェクションは防御効果を考慮して1位を維持</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出典：OWASP Top 10 for LLM Applications 2026（v1.0, 2026-08-04）What's New（第3章）</a:t>
            </a:r>
            <a:endParaRPr lang="en-US" sz="1000" dirty="0"/>
          </a:p>
        </p:txBody>
      </p:sp>
      <p:sp>
        <p:nvSpPr>
          <p:cNvPr id="6" name="card-181"/>
          <p:cNvSpPr/>
          <p:nvPr/>
        </p:nvSpPr>
        <p:spPr>
          <a:xfrm>
            <a:off x="548640" y="1691640"/>
            <a:ext cx="3931920" cy="2148840"/>
          </a:xfrm>
          <a:prstGeom prst="roundRect">
            <a:avLst>
              <a:gd name="adj" fmla="val 3404"/>
            </a:avLst>
          </a:prstGeom>
          <a:solidFill>
            <a:schemeClr val="tx2"/>
          </a:solidFill>
          <a:ln w="12700">
            <a:solidFill>
              <a:schemeClr val="tx2"/>
            </a:solidFill>
            <a:prstDash val="solid"/>
          </a:ln>
        </p:spPr>
      </p:sp>
      <p:sp>
        <p:nvSpPr>
          <p:cNvPr id="7" name="text-182"/>
          <p:cNvSpPr txBox="1"/>
          <p:nvPr/>
        </p:nvSpPr>
        <p:spPr>
          <a:xfrm>
            <a:off x="822960" y="1828800"/>
            <a:ext cx="3474720" cy="868680"/>
          </a:xfrm>
          <a:prstGeom prst="rect">
            <a:avLst/>
          </a:prstGeom>
          <a:noFill/>
          <a:ln/>
        </p:spPr>
        <p:txBody>
          <a:bodyPr wrap="square" lIns="0" tIns="0" rIns="0" bIns="0" rtlCol="0" anchor="ctr"/>
          <a:lstStyle/>
          <a:p>
            <a:pPr indent="0" marL="0">
              <a:buNone/>
            </a:pPr>
            <a:r>
              <a:rPr lang="en-US" sz="4400" b="1" dirty="0">
                <a:solidFill>
                  <a:schemeClr val="bg1"/>
                </a:solidFill>
              </a:rPr>
              <a:t>6,639件</a:t>
            </a:r>
            <a:endParaRPr lang="en-US" sz="4400" dirty="0"/>
          </a:p>
        </p:txBody>
      </p:sp>
      <p:sp>
        <p:nvSpPr>
          <p:cNvPr id="8" name="text-183"/>
          <p:cNvSpPr txBox="1"/>
          <p:nvPr/>
        </p:nvSpPr>
        <p:spPr>
          <a:xfrm>
            <a:off x="822960" y="2697480"/>
            <a:ext cx="3474720" cy="457200"/>
          </a:xfrm>
          <a:prstGeom prst="rect">
            <a:avLst/>
          </a:prstGeom>
          <a:noFill/>
          <a:ln/>
        </p:spPr>
        <p:txBody>
          <a:bodyPr wrap="square" lIns="0" tIns="0" rIns="0" bIns="0" rtlCol="0" anchor="t"/>
          <a:lstStyle/>
          <a:p>
            <a:pPr indent="0" marL="0">
              <a:buNone/>
            </a:pPr>
            <a:r>
              <a:rPr lang="en-US" sz="1400" dirty="0">
                <a:solidFill>
                  <a:schemeClr val="accent6"/>
                </a:solidFill>
              </a:rPr>
              <a:t>分類した実インシデント（収集 7,714件）</a:t>
            </a:r>
            <a:endParaRPr lang="en-US" sz="1400" dirty="0"/>
          </a:p>
        </p:txBody>
      </p:sp>
      <p:sp>
        <p:nvSpPr>
          <p:cNvPr id="9" name="text-184"/>
          <p:cNvSpPr txBox="1"/>
          <p:nvPr/>
        </p:nvSpPr>
        <p:spPr>
          <a:xfrm>
            <a:off x="822960" y="3154680"/>
            <a:ext cx="3474720" cy="457200"/>
          </a:xfrm>
          <a:prstGeom prst="rect">
            <a:avLst/>
          </a:prstGeom>
          <a:noFill/>
          <a:ln/>
        </p:spPr>
        <p:txBody>
          <a:bodyPr wrap="square" lIns="0" tIns="0" rIns="0" bIns="0" rtlCol="0" anchor="t"/>
          <a:lstStyle/>
          <a:p>
            <a:pPr indent="0" marL="0">
              <a:buNone/>
            </a:pPr>
            <a:r>
              <a:rPr lang="en-US" sz="1300" dirty="0">
                <a:solidFill>
                  <a:schemeClr val="accent6"/>
                </a:solidFill>
              </a:rPr>
              <a:t>公開脆弱性DB・AI被害DBから</a:t>
            </a:r>
            <a:endParaRPr lang="en-US" sz="1300" dirty="0"/>
          </a:p>
        </p:txBody>
      </p:sp>
      <p:sp>
        <p:nvSpPr>
          <p:cNvPr id="10" name="card-185"/>
          <p:cNvSpPr/>
          <p:nvPr/>
        </p:nvSpPr>
        <p:spPr>
          <a:xfrm>
            <a:off x="548640" y="4023360"/>
            <a:ext cx="3931920" cy="2148840"/>
          </a:xfrm>
          <a:prstGeom prst="roundRect">
            <a:avLst>
              <a:gd name="adj" fmla="val 3404"/>
            </a:avLst>
          </a:prstGeom>
          <a:solidFill>
            <a:schemeClr val="tx2"/>
          </a:solidFill>
          <a:ln w="12700">
            <a:solidFill>
              <a:schemeClr val="tx2"/>
            </a:solidFill>
            <a:prstDash val="solid"/>
          </a:ln>
        </p:spPr>
      </p:sp>
      <p:sp>
        <p:nvSpPr>
          <p:cNvPr id="11" name="text-186"/>
          <p:cNvSpPr txBox="1"/>
          <p:nvPr/>
        </p:nvSpPr>
        <p:spPr>
          <a:xfrm>
            <a:off x="822960" y="4160520"/>
            <a:ext cx="3474720" cy="868680"/>
          </a:xfrm>
          <a:prstGeom prst="rect">
            <a:avLst/>
          </a:prstGeom>
          <a:noFill/>
          <a:ln/>
        </p:spPr>
        <p:txBody>
          <a:bodyPr wrap="square" lIns="0" tIns="0" rIns="0" bIns="0" rtlCol="0" anchor="ctr"/>
          <a:lstStyle/>
          <a:p>
            <a:pPr indent="0" marL="0">
              <a:buNone/>
            </a:pPr>
            <a:r>
              <a:rPr lang="en-US" sz="4400" b="1" dirty="0">
                <a:solidFill>
                  <a:schemeClr val="bg1"/>
                </a:solidFill>
              </a:rPr>
              <a:t>75 : 25</a:t>
            </a:r>
            <a:endParaRPr lang="en-US" sz="4400" dirty="0"/>
          </a:p>
        </p:txBody>
      </p:sp>
      <p:sp>
        <p:nvSpPr>
          <p:cNvPr id="12" name="text-187"/>
          <p:cNvSpPr txBox="1"/>
          <p:nvPr/>
        </p:nvSpPr>
        <p:spPr>
          <a:xfrm>
            <a:off x="822960" y="5029200"/>
            <a:ext cx="3474720" cy="457200"/>
          </a:xfrm>
          <a:prstGeom prst="rect">
            <a:avLst/>
          </a:prstGeom>
          <a:noFill/>
          <a:ln/>
        </p:spPr>
        <p:txBody>
          <a:bodyPr wrap="square" lIns="0" tIns="0" rIns="0" bIns="0" rtlCol="0" anchor="t"/>
          <a:lstStyle/>
          <a:p>
            <a:pPr indent="0" marL="0">
              <a:buNone/>
            </a:pPr>
            <a:r>
              <a:rPr lang="en-US" sz="1400" dirty="0">
                <a:solidFill>
                  <a:schemeClr val="accent6"/>
                </a:solidFill>
              </a:rPr>
              <a:t>実務者の投票 ： インシデントデータ</a:t>
            </a:r>
            <a:endParaRPr lang="en-US" sz="1400" dirty="0"/>
          </a:p>
        </p:txBody>
      </p:sp>
      <p:sp>
        <p:nvSpPr>
          <p:cNvPr id="13" name="text-188"/>
          <p:cNvSpPr txBox="1"/>
          <p:nvPr/>
        </p:nvSpPr>
        <p:spPr>
          <a:xfrm>
            <a:off x="822960" y="5486400"/>
            <a:ext cx="3474720" cy="457200"/>
          </a:xfrm>
          <a:prstGeom prst="rect">
            <a:avLst/>
          </a:prstGeom>
          <a:noFill/>
          <a:ln/>
        </p:spPr>
        <p:txBody>
          <a:bodyPr wrap="square" lIns="0" tIns="0" rIns="0" bIns="0" rtlCol="0" anchor="t"/>
          <a:lstStyle/>
          <a:p>
            <a:pPr indent="0" marL="0">
              <a:buNone/>
            </a:pPr>
            <a:r>
              <a:rPr lang="en-US" sz="1300" dirty="0">
                <a:solidFill>
                  <a:schemeClr val="accent6"/>
                </a:solidFill>
              </a:rPr>
              <a:t>の重みで最終順位を決定</a:t>
            </a:r>
            <a:endParaRPr lang="en-US" sz="1300" dirty="0"/>
          </a:p>
        </p:txBody>
      </p:sp>
      <p:graphicFrame>
        <p:nvGraphicFramePr>
          <p:cNvPr id="12" name="table-189"/>
          <p:cNvGraphicFramePr>
            <a:graphicFrameLocks noGrp="1"/>
          </p:cNvGraphicFramePr>
          <p:nvPr>
            <p:extLst>
              <p:ext uri="{D42A27DB-BD31-4B8C-83A1-F6EECF244321}">
                <p14:modId xmlns:p14="http://schemas.microsoft.com/office/powerpoint/2010/main" val="1579011935"/>
              </p:ext>
            </p:extLst>
          </p:nvPr>
        </p:nvGraphicFramePr>
        <p:xfrm>
          <a:off x="4754880" y="1691640"/>
          <a:ext cx="6858000" cy="914400"/>
        </p:xfrm>
        <a:graphic>
          <a:graphicData uri="http://schemas.openxmlformats.org/drawingml/2006/table">
            <a:tbl>
              <a:tblPr/>
              <a:tblGrid>
                <a:gridCol w="1097280"/>
                <a:gridCol w="3566160"/>
                <a:gridCol w="914400"/>
                <a:gridCol w="1280160"/>
              </a:tblGrid>
              <a:tr h="406908">
                <a:tc>
                  <a:txBody>
                    <a:bodyPr/>
                    <a:lstStyle/>
                    <a:p>
                      <a:pPr indent="0" marL="0">
                        <a:buNone/>
                      </a:pPr>
                      <a:r>
                        <a:rPr lang="en-US" sz="1400" b="1" dirty="0">
                          <a:solidFill>
                            <a:schemeClr val="bg1"/>
                          </a:solidFill>
                          <a:latin typeface="Yu Gothic" pitchFamily="34" charset="0"/>
                          <a:ea typeface="Yu Gothic" pitchFamily="34" charset="-122"/>
                          <a:cs typeface="Yu Gothic" pitchFamily="34" charset="-120"/>
                        </a:rPr>
                        <a:t>2026</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Yu Gothic" pitchFamily="34" charset="0"/>
                          <a:ea typeface="Yu Gothic" pitchFamily="34" charset="-122"/>
                          <a:cs typeface="Yu Gothic" pitchFamily="34" charset="-120"/>
                        </a:rPr>
                        <a:t>リスク</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Yu Gothic" pitchFamily="34" charset="0"/>
                          <a:ea typeface="Yu Gothic" pitchFamily="34" charset="-122"/>
                          <a:cs typeface="Yu Gothic" pitchFamily="34" charset="-120"/>
                        </a:rPr>
                        <a:t>2025</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Yu Gothic" pitchFamily="34" charset="0"/>
                          <a:ea typeface="Yu Gothic" pitchFamily="34" charset="-122"/>
                          <a:cs typeface="Yu Gothic" pitchFamily="34" charset="-120"/>
                        </a:rPr>
                        <a:t>変化</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r>
              <a:tr h="406908">
                <a:tc>
                  <a:txBody>
                    <a:bodyPr/>
                    <a:lstStyle/>
                    <a:p>
                      <a:pPr indent="0" marL="0">
                        <a:buNone/>
                      </a:pPr>
                      <a:r>
                        <a:rPr lang="en-US" sz="1400" b="1" dirty="0">
                          <a:solidFill>
                            <a:schemeClr val="tx1"/>
                          </a:solidFill>
                          <a:latin typeface="Yu Gothic" pitchFamily="34" charset="0"/>
                          <a:ea typeface="Yu Gothic" pitchFamily="34" charset="-122"/>
                          <a:cs typeface="Yu Gothic" pitchFamily="34" charset="-120"/>
                        </a:rPr>
                        <a:t>LLM01</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プロンプトインジェクション</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chemeClr val="tx1"/>
                          </a:solidFill>
                          <a:latin typeface="Yu Gothic" pitchFamily="34" charset="0"/>
                          <a:ea typeface="Yu Gothic" pitchFamily="34" charset="-122"/>
                          <a:cs typeface="Yu Gothic" pitchFamily="34" charset="-120"/>
                        </a:rPr>
                        <a:t>01</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rgbClr val="1E293B"/>
                          </a:solidFill>
                          <a:latin typeface="Yu Gothic" pitchFamily="34" charset="0"/>
                          <a:ea typeface="Yu Gothic" pitchFamily="34" charset="-122"/>
                          <a:cs typeface="Yu Gothic" pitchFamily="34" charset="-120"/>
                        </a:rPr>
                        <a:t>維持</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06908">
                <a:tc>
                  <a:txBody>
                    <a:bodyPr/>
                    <a:lstStyle/>
                    <a:p>
                      <a:pPr indent="0" marL="0">
                        <a:buNone/>
                      </a:pPr>
                      <a:r>
                        <a:rPr lang="en-US" sz="1400" b="1" dirty="0">
                          <a:solidFill>
                            <a:schemeClr val="tx1"/>
                          </a:solidFill>
                          <a:latin typeface="Yu Gothic" pitchFamily="34" charset="0"/>
                          <a:ea typeface="Yu Gothic" pitchFamily="34" charset="-122"/>
                          <a:cs typeface="Yu Gothic" pitchFamily="34" charset="-120"/>
                        </a:rPr>
                        <a:t>LLM02</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機密情報の漏洩</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chemeClr val="tx1"/>
                          </a:solidFill>
                          <a:latin typeface="Yu Gothic" pitchFamily="34" charset="0"/>
                          <a:ea typeface="Yu Gothic" pitchFamily="34" charset="-122"/>
                          <a:cs typeface="Yu Gothic" pitchFamily="34" charset="-120"/>
                        </a:rPr>
                        <a:t>02</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rgbClr val="1E293B"/>
                          </a:solidFill>
                          <a:latin typeface="Yu Gothic" pitchFamily="34" charset="0"/>
                          <a:ea typeface="Yu Gothic" pitchFamily="34" charset="-122"/>
                          <a:cs typeface="Yu Gothic" pitchFamily="34" charset="-120"/>
                        </a:rPr>
                        <a:t>維持</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06908">
                <a:tc>
                  <a:txBody>
                    <a:bodyPr/>
                    <a:lstStyle/>
                    <a:p>
                      <a:pPr indent="0" marL="0">
                        <a:buNone/>
                      </a:pPr>
                      <a:r>
                        <a:rPr lang="en-US" sz="1400" b="1" dirty="0">
                          <a:solidFill>
                            <a:schemeClr val="tx1"/>
                          </a:solidFill>
                          <a:latin typeface="Yu Gothic" pitchFamily="34" charset="0"/>
                          <a:ea typeface="Yu Gothic" pitchFamily="34" charset="-122"/>
                          <a:cs typeface="Yu Gothic" pitchFamily="34" charset="-120"/>
                        </a:rPr>
                        <a:t>LLM03</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過剰な権限</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chemeClr val="tx1"/>
                          </a:solidFill>
                          <a:latin typeface="Yu Gothic" pitchFamily="34" charset="0"/>
                          <a:ea typeface="Yu Gothic" pitchFamily="34" charset="-122"/>
                          <a:cs typeface="Yu Gothic" pitchFamily="34" charset="-120"/>
                        </a:rPr>
                        <a:t>06</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rgbClr val="C2410C"/>
                          </a:solidFill>
                          <a:latin typeface="Yu Gothic" pitchFamily="34" charset="0"/>
                          <a:ea typeface="Yu Gothic" pitchFamily="34" charset="-122"/>
                          <a:cs typeface="Yu Gothic" pitchFamily="34" charset="-120"/>
                        </a:rPr>
                        <a:t>↑3</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06908">
                <a:tc>
                  <a:txBody>
                    <a:bodyPr/>
                    <a:lstStyle/>
                    <a:p>
                      <a:pPr indent="0" marL="0">
                        <a:buNone/>
                      </a:pPr>
                      <a:r>
                        <a:rPr lang="en-US" sz="1400" b="1" dirty="0">
                          <a:solidFill>
                            <a:schemeClr val="tx1"/>
                          </a:solidFill>
                          <a:latin typeface="Yu Gothic" pitchFamily="34" charset="0"/>
                          <a:ea typeface="Yu Gothic" pitchFamily="34" charset="-122"/>
                          <a:cs typeface="Yu Gothic" pitchFamily="34" charset="-120"/>
                        </a:rPr>
                        <a:t>LLM04</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サプライチェーン</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chemeClr val="tx1"/>
                          </a:solidFill>
                          <a:latin typeface="Yu Gothic" pitchFamily="34" charset="0"/>
                          <a:ea typeface="Yu Gothic" pitchFamily="34" charset="-122"/>
                          <a:cs typeface="Yu Gothic" pitchFamily="34" charset="-120"/>
                        </a:rPr>
                        <a:t>03</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rgbClr val="64748B"/>
                          </a:solidFill>
                          <a:latin typeface="Yu Gothic" pitchFamily="34" charset="0"/>
                          <a:ea typeface="Yu Gothic" pitchFamily="34" charset="-122"/>
                          <a:cs typeface="Yu Gothic" pitchFamily="34" charset="-120"/>
                        </a:rPr>
                        <a:t>↓1</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06908">
                <a:tc>
                  <a:txBody>
                    <a:bodyPr/>
                    <a:lstStyle/>
                    <a:p>
                      <a:pPr indent="0" marL="0">
                        <a:buNone/>
                      </a:pPr>
                      <a:r>
                        <a:rPr lang="en-US" sz="1400" b="1" dirty="0">
                          <a:solidFill>
                            <a:schemeClr val="tx1"/>
                          </a:solidFill>
                          <a:latin typeface="Yu Gothic" pitchFamily="34" charset="0"/>
                          <a:ea typeface="Yu Gothic" pitchFamily="34" charset="-122"/>
                          <a:cs typeface="Yu Gothic" pitchFamily="34" charset="-120"/>
                        </a:rPr>
                        <a:t>LLM05</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データ・モデルのポイズニング</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chemeClr val="tx1"/>
                          </a:solidFill>
                          <a:latin typeface="Yu Gothic" pitchFamily="34" charset="0"/>
                          <a:ea typeface="Yu Gothic" pitchFamily="34" charset="-122"/>
                          <a:cs typeface="Yu Gothic" pitchFamily="34" charset="-120"/>
                        </a:rPr>
                        <a:t>04</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rgbClr val="64748B"/>
                          </a:solidFill>
                          <a:latin typeface="Yu Gothic" pitchFamily="34" charset="0"/>
                          <a:ea typeface="Yu Gothic" pitchFamily="34" charset="-122"/>
                          <a:cs typeface="Yu Gothic" pitchFamily="34" charset="-120"/>
                        </a:rPr>
                        <a:t>↓1</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06908">
                <a:tc>
                  <a:txBody>
                    <a:bodyPr/>
                    <a:lstStyle/>
                    <a:p>
                      <a:pPr indent="0" marL="0">
                        <a:buNone/>
                      </a:pPr>
                      <a:r>
                        <a:rPr lang="en-US" sz="1400" b="1" dirty="0">
                          <a:solidFill>
                            <a:schemeClr val="tx1"/>
                          </a:solidFill>
                          <a:latin typeface="Yu Gothic" pitchFamily="34" charset="0"/>
                          <a:ea typeface="Yu Gothic" pitchFamily="34" charset="-122"/>
                          <a:cs typeface="Yu Gothic" pitchFamily="34" charset="-120"/>
                        </a:rPr>
                        <a:t>LLM06</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無制限のリソース消費</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chemeClr val="tx1"/>
                          </a:solidFill>
                          <a:latin typeface="Yu Gothic" pitchFamily="34" charset="0"/>
                          <a:ea typeface="Yu Gothic" pitchFamily="34" charset="-122"/>
                          <a:cs typeface="Yu Gothic" pitchFamily="34" charset="-120"/>
                        </a:rPr>
                        <a:t>10</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rgbClr val="C2410C"/>
                          </a:solidFill>
                          <a:latin typeface="Yu Gothic" pitchFamily="34" charset="0"/>
                          <a:ea typeface="Yu Gothic" pitchFamily="34" charset="-122"/>
                          <a:cs typeface="Yu Gothic" pitchFamily="34" charset="-120"/>
                        </a:rPr>
                        <a:t>↑4</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06908">
                <a:tc>
                  <a:txBody>
                    <a:bodyPr/>
                    <a:lstStyle/>
                    <a:p>
                      <a:pPr indent="0" marL="0">
                        <a:buNone/>
                      </a:pPr>
                      <a:r>
                        <a:rPr lang="en-US" sz="1400" b="1" dirty="0">
                          <a:solidFill>
                            <a:schemeClr val="tx1"/>
                          </a:solidFill>
                          <a:latin typeface="Yu Gothic" pitchFamily="34" charset="0"/>
                          <a:ea typeface="Yu Gothic" pitchFamily="34" charset="-122"/>
                          <a:cs typeface="Yu Gothic" pitchFamily="34" charset="-120"/>
                        </a:rPr>
                        <a:t>LLM07</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誤情報</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chemeClr val="tx1"/>
                          </a:solidFill>
                          <a:latin typeface="Yu Gothic" pitchFamily="34" charset="0"/>
                          <a:ea typeface="Yu Gothic" pitchFamily="34" charset="-122"/>
                          <a:cs typeface="Yu Gothic" pitchFamily="34" charset="-120"/>
                        </a:rPr>
                        <a:t>09</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rgbClr val="C2410C"/>
                          </a:solidFill>
                          <a:latin typeface="Yu Gothic" pitchFamily="34" charset="0"/>
                          <a:ea typeface="Yu Gothic" pitchFamily="34" charset="-122"/>
                          <a:cs typeface="Yu Gothic" pitchFamily="34" charset="-120"/>
                        </a:rPr>
                        <a:t>↑2</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06908">
                <a:tc>
                  <a:txBody>
                    <a:bodyPr/>
                    <a:lstStyle/>
                    <a:p>
                      <a:pPr indent="0" marL="0">
                        <a:buNone/>
                      </a:pPr>
                      <a:r>
                        <a:rPr lang="en-US" sz="1400" b="1" dirty="0">
                          <a:solidFill>
                            <a:schemeClr val="tx1"/>
                          </a:solidFill>
                          <a:latin typeface="Yu Gothic" pitchFamily="34" charset="0"/>
                          <a:ea typeface="Yu Gothic" pitchFamily="34" charset="-122"/>
                          <a:cs typeface="Yu Gothic" pitchFamily="34" charset="-120"/>
                        </a:rPr>
                        <a:t>LLM08</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隠されたコンテキストの露出</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chemeClr val="tx1"/>
                          </a:solidFill>
                          <a:latin typeface="Yu Gothic" pitchFamily="34" charset="0"/>
                          <a:ea typeface="Yu Gothic" pitchFamily="34" charset="-122"/>
                          <a:cs typeface="Yu Gothic" pitchFamily="34" charset="-120"/>
                        </a:rPr>
                        <a:t>07</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rgbClr val="0F766E"/>
                          </a:solidFill>
                          <a:latin typeface="Yu Gothic" pitchFamily="34" charset="0"/>
                          <a:ea typeface="Yu Gothic" pitchFamily="34" charset="-122"/>
                          <a:cs typeface="Yu Gothic" pitchFamily="34" charset="-120"/>
                        </a:rPr>
                        <a:t>改称・拡大</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06908">
                <a:tc>
                  <a:txBody>
                    <a:bodyPr/>
                    <a:lstStyle/>
                    <a:p>
                      <a:pPr indent="0" marL="0">
                        <a:buNone/>
                      </a:pPr>
                      <a:r>
                        <a:rPr lang="en-US" sz="1400" b="1" dirty="0">
                          <a:solidFill>
                            <a:schemeClr val="tx1"/>
                          </a:solidFill>
                          <a:latin typeface="Yu Gothic" pitchFamily="34" charset="0"/>
                          <a:ea typeface="Yu Gothic" pitchFamily="34" charset="-122"/>
                          <a:cs typeface="Yu Gothic" pitchFamily="34" charset="-120"/>
                        </a:rPr>
                        <a:t>LLM09</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ベクトル・埋め込みの弱点</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chemeClr val="tx1"/>
                          </a:solidFill>
                          <a:latin typeface="Yu Gothic" pitchFamily="34" charset="0"/>
                          <a:ea typeface="Yu Gothic" pitchFamily="34" charset="-122"/>
                          <a:cs typeface="Yu Gothic" pitchFamily="34" charset="-120"/>
                        </a:rPr>
                        <a:t>08</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rgbClr val="64748B"/>
                          </a:solidFill>
                          <a:latin typeface="Yu Gothic" pitchFamily="34" charset="0"/>
                          <a:ea typeface="Yu Gothic" pitchFamily="34" charset="-122"/>
                          <a:cs typeface="Yu Gothic" pitchFamily="34" charset="-120"/>
                        </a:rPr>
                        <a:t>↓1</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06908">
                <a:tc>
                  <a:txBody>
                    <a:bodyPr/>
                    <a:lstStyle/>
                    <a:p>
                      <a:pPr indent="0" marL="0">
                        <a:buNone/>
                      </a:pPr>
                      <a:r>
                        <a:rPr lang="en-US" sz="1400" b="1" dirty="0">
                          <a:solidFill>
                            <a:schemeClr val="tx1"/>
                          </a:solidFill>
                          <a:latin typeface="Yu Gothic" pitchFamily="34" charset="0"/>
                          <a:ea typeface="Yu Gothic" pitchFamily="34" charset="-122"/>
                          <a:cs typeface="Yu Gothic" pitchFamily="34" charset="-120"/>
                        </a:rPr>
                        <a:t>LLM10</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不適切な出力処理</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chemeClr val="tx1"/>
                          </a:solidFill>
                          <a:latin typeface="Yu Gothic" pitchFamily="34" charset="0"/>
                          <a:ea typeface="Yu Gothic" pitchFamily="34" charset="-122"/>
                          <a:cs typeface="Yu Gothic" pitchFamily="34" charset="-120"/>
                        </a:rPr>
                        <a:t>05</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algn="ctr" indent="0" marL="0">
                        <a:buNone/>
                      </a:pPr>
                      <a:r>
                        <a:rPr lang="en-US" sz="1400" b="1" dirty="0">
                          <a:solidFill>
                            <a:srgbClr val="64748B"/>
                          </a:solidFill>
                          <a:latin typeface="Yu Gothic" pitchFamily="34" charset="0"/>
                          <a:ea typeface="Yu Gothic" pitchFamily="34" charset="-122"/>
                          <a:cs typeface="Yu Gothic" pitchFamily="34" charset="-120"/>
                        </a:rPr>
                        <a:t>↓5</a:t>
                      </a:r>
                      <a:endParaRPr lang="en-US" sz="1400" dirty="0">
                        <a:latin typeface="Yu Gothic" charset="0"/>
                        <a:ea typeface="Yu Gothic" charset="0"/>
                        <a:cs typeface="Yu Gothic" charset="0"/>
                      </a:endParaRPr>
                    </a:p>
                  </a:txBody>
                  <a:tcPr marL="91440" marR="91440"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LLM Top 10 2026（1/2）：全案件に適用する10リスク</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共通原則：信頼境界・権限・承認・検証を、モデルの外で決定論的に実装する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出典：OWASP Top 10 for LLM Applications 2026, LLM01〜LLM10（第4章）</a:t>
            </a:r>
            <a:endParaRPr lang="en-US" sz="1000" dirty="0"/>
          </a:p>
        </p:txBody>
      </p:sp>
      <p:sp>
        <p:nvSpPr>
          <p:cNvPr id="6" name="text-190"/>
          <p:cNvSpPr txBox="1"/>
          <p:nvPr/>
        </p:nvSpPr>
        <p:spPr>
          <a:xfrm>
            <a:off x="548640" y="1645920"/>
            <a:ext cx="3566160" cy="320040"/>
          </a:xfrm>
          <a:prstGeom prst="rect">
            <a:avLst/>
          </a:prstGeom>
          <a:noFill/>
          <a:ln/>
        </p:spPr>
        <p:txBody>
          <a:bodyPr wrap="square" lIns="0" tIns="0" rIns="0" bIns="0" rtlCol="0" anchor="t"/>
          <a:lstStyle/>
          <a:p>
            <a:pPr indent="0" marL="0">
              <a:buNone/>
            </a:pPr>
            <a:r>
              <a:rPr lang="en-US" sz="1300" b="1" dirty="0">
                <a:solidFill>
                  <a:schemeClr val="accent4"/>
                </a:solidFill>
              </a:rPr>
              <a:t>リスク</a:t>
            </a:r>
            <a:endParaRPr lang="en-US" sz="1300" dirty="0"/>
          </a:p>
        </p:txBody>
      </p:sp>
      <p:sp>
        <p:nvSpPr>
          <p:cNvPr id="7" name="text-191"/>
          <p:cNvSpPr txBox="1"/>
          <p:nvPr/>
        </p:nvSpPr>
        <p:spPr>
          <a:xfrm>
            <a:off x="4206240" y="1645920"/>
            <a:ext cx="3931920" cy="320040"/>
          </a:xfrm>
          <a:prstGeom prst="rect">
            <a:avLst/>
          </a:prstGeom>
          <a:noFill/>
          <a:ln/>
        </p:spPr>
        <p:txBody>
          <a:bodyPr wrap="square" lIns="0" tIns="0" rIns="0" bIns="0" rtlCol="0" anchor="t"/>
          <a:lstStyle/>
          <a:p>
            <a:pPr indent="0" marL="0">
              <a:buNone/>
            </a:pPr>
            <a:r>
              <a:rPr lang="en-US" sz="1300" b="1" dirty="0">
                <a:solidFill>
                  <a:schemeClr val="accent4"/>
                </a:solidFill>
              </a:rPr>
              <a:t>要点</a:t>
            </a:r>
            <a:endParaRPr lang="en-US" sz="1300" dirty="0"/>
          </a:p>
        </p:txBody>
      </p:sp>
      <p:sp>
        <p:nvSpPr>
          <p:cNvPr id="8" name="text-192"/>
          <p:cNvSpPr txBox="1"/>
          <p:nvPr/>
        </p:nvSpPr>
        <p:spPr>
          <a:xfrm>
            <a:off x="8229600" y="1645920"/>
            <a:ext cx="3383280" cy="320040"/>
          </a:xfrm>
          <a:prstGeom prst="rect">
            <a:avLst/>
          </a:prstGeom>
          <a:noFill/>
          <a:ln/>
        </p:spPr>
        <p:txBody>
          <a:bodyPr wrap="square" lIns="0" tIns="0" rIns="0" bIns="0" rtlCol="0" anchor="t"/>
          <a:lstStyle/>
          <a:p>
            <a:pPr indent="0" marL="0">
              <a:buNone/>
            </a:pPr>
            <a:r>
              <a:rPr lang="en-US" sz="1300" b="1" dirty="0">
                <a:solidFill>
                  <a:schemeClr val="accent4"/>
                </a:solidFill>
              </a:rPr>
              <a:t>決定的な対策</a:t>
            </a:r>
            <a:endParaRPr lang="en-US" sz="1300" dirty="0"/>
          </a:p>
        </p:txBody>
      </p:sp>
      <p:sp>
        <p:nvSpPr>
          <p:cNvPr id="9" name="card-193"/>
          <p:cNvSpPr/>
          <p:nvPr/>
        </p:nvSpPr>
        <p:spPr>
          <a:xfrm>
            <a:off x="548640" y="2011680"/>
            <a:ext cx="11064240" cy="777240"/>
          </a:xfrm>
          <a:prstGeom prst="roundRect">
            <a:avLst>
              <a:gd name="adj" fmla="val 9412"/>
            </a:avLst>
          </a:prstGeom>
          <a:solidFill>
            <a:schemeClr val="bg2"/>
          </a:solidFill>
          <a:ln w="12700">
            <a:solidFill>
              <a:schemeClr val="bg2"/>
            </a:solidFill>
            <a:prstDash val="solid"/>
          </a:ln>
        </p:spPr>
      </p:sp>
      <p:sp>
        <p:nvSpPr>
          <p:cNvPr id="10" name="chip-194"/>
          <p:cNvSpPr txBox="1"/>
          <p:nvPr/>
        </p:nvSpPr>
        <p:spPr>
          <a:xfrm>
            <a:off x="731520" y="2249424"/>
            <a:ext cx="9144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LLM01</a:t>
            </a:r>
            <a:endParaRPr lang="en-US" sz="1200" dirty="0"/>
          </a:p>
        </p:txBody>
      </p:sp>
      <p:sp>
        <p:nvSpPr>
          <p:cNvPr id="11" name="text-195"/>
          <p:cNvSpPr txBox="1"/>
          <p:nvPr/>
        </p:nvSpPr>
        <p:spPr>
          <a:xfrm>
            <a:off x="1783080" y="201168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プロンプトインジェクション</a:t>
            </a:r>
            <a:endParaRPr lang="en-US" sz="1400" dirty="0"/>
          </a:p>
        </p:txBody>
      </p:sp>
      <p:sp>
        <p:nvSpPr>
          <p:cNvPr id="12" name="text-196"/>
          <p:cNvSpPr txBox="1"/>
          <p:nvPr/>
        </p:nvSpPr>
        <p:spPr>
          <a:xfrm>
            <a:off x="4206240" y="2011680"/>
            <a:ext cx="3886200" cy="777240"/>
          </a:xfrm>
          <a:prstGeom prst="rect">
            <a:avLst/>
          </a:prstGeom>
          <a:noFill/>
          <a:ln/>
        </p:spPr>
        <p:txBody>
          <a:bodyPr wrap="square" lIns="0" tIns="0" rIns="0" bIns="0" rtlCol="0" anchor="ctr"/>
          <a:lstStyle/>
          <a:p>
            <a:pPr indent="0" marL="0">
              <a:buNone/>
            </a:pPr>
            <a:r>
              <a:rPr lang="en-US" sz="1300" dirty="0">
                <a:solidFill>
                  <a:schemeClr val="tx1"/>
                </a:solidFill>
              </a:rPr>
              <a:t>入力（直接・間接、画像・音声、メモリ）が振る舞いを変える。確実な防止策はない</a:t>
            </a:r>
            <a:endParaRPr lang="en-US" sz="1300" dirty="0"/>
          </a:p>
        </p:txBody>
      </p:sp>
      <p:sp>
        <p:nvSpPr>
          <p:cNvPr id="13" name="text-197"/>
          <p:cNvSpPr txBox="1"/>
          <p:nvPr/>
        </p:nvSpPr>
        <p:spPr>
          <a:xfrm>
            <a:off x="8229600" y="2011680"/>
            <a:ext cx="3246120" cy="777240"/>
          </a:xfrm>
          <a:prstGeom prst="rect">
            <a:avLst/>
          </a:prstGeom>
          <a:noFill/>
          <a:ln/>
        </p:spPr>
        <p:txBody>
          <a:bodyPr wrap="square" lIns="0" tIns="0" rIns="0" bIns="0" rtlCol="0" anchor="ctr"/>
          <a:lstStyle/>
          <a:p>
            <a:pPr indent="0" marL="0">
              <a:buNone/>
            </a:pPr>
            <a:r>
              <a:rPr lang="en-US" sz="1300" b="1" dirty="0">
                <a:solidFill>
                  <a:schemeClr val="accent2"/>
                </a:solidFill>
              </a:rPr>
              <a:t>資格情報と状態変更はアプリ側で再検証／重要操作は人が承認／Rule of Two</a:t>
            </a:r>
            <a:endParaRPr lang="en-US" sz="1300" dirty="0"/>
          </a:p>
        </p:txBody>
      </p:sp>
      <p:sp>
        <p:nvSpPr>
          <p:cNvPr id="14" name="card-198"/>
          <p:cNvSpPr/>
          <p:nvPr/>
        </p:nvSpPr>
        <p:spPr>
          <a:xfrm>
            <a:off x="548640" y="2880360"/>
            <a:ext cx="11064240" cy="777240"/>
          </a:xfrm>
          <a:prstGeom prst="roundRect">
            <a:avLst>
              <a:gd name="adj" fmla="val 9412"/>
            </a:avLst>
          </a:prstGeom>
          <a:solidFill>
            <a:schemeClr val="bg1"/>
          </a:solidFill>
          <a:ln w="12700">
            <a:solidFill>
              <a:schemeClr val="bg1"/>
            </a:solidFill>
            <a:prstDash val="solid"/>
          </a:ln>
        </p:spPr>
      </p:sp>
      <p:sp>
        <p:nvSpPr>
          <p:cNvPr id="15" name="chip-199"/>
          <p:cNvSpPr txBox="1"/>
          <p:nvPr/>
        </p:nvSpPr>
        <p:spPr>
          <a:xfrm>
            <a:off x="731520" y="3118104"/>
            <a:ext cx="9144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LLM02</a:t>
            </a:r>
            <a:endParaRPr lang="en-US" sz="1200" dirty="0"/>
          </a:p>
        </p:txBody>
      </p:sp>
      <p:sp>
        <p:nvSpPr>
          <p:cNvPr id="16" name="text-200"/>
          <p:cNvSpPr txBox="1"/>
          <p:nvPr/>
        </p:nvSpPr>
        <p:spPr>
          <a:xfrm>
            <a:off x="1783080" y="288036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機密情報の漏洩</a:t>
            </a:r>
            <a:endParaRPr lang="en-US" sz="1400" dirty="0"/>
          </a:p>
        </p:txBody>
      </p:sp>
      <p:sp>
        <p:nvSpPr>
          <p:cNvPr id="17" name="text-201"/>
          <p:cNvSpPr txBox="1"/>
          <p:nvPr/>
        </p:nvSpPr>
        <p:spPr>
          <a:xfrm>
            <a:off x="4206240" y="2880360"/>
            <a:ext cx="3886200" cy="777240"/>
          </a:xfrm>
          <a:prstGeom prst="rect">
            <a:avLst/>
          </a:prstGeom>
          <a:noFill/>
          <a:ln/>
        </p:spPr>
        <p:txBody>
          <a:bodyPr wrap="square" lIns="0" tIns="0" rIns="0" bIns="0" rtlCol="0" anchor="ctr"/>
          <a:lstStyle/>
          <a:p>
            <a:pPr indent="0" marL="0">
              <a:buNone/>
            </a:pPr>
            <a:r>
              <a:rPr lang="en-US" sz="1300" dirty="0">
                <a:solidFill>
                  <a:schemeClr val="tx1"/>
                </a:solidFill>
              </a:rPr>
              <a:t>回答だけでなくツール引数・ログ・埋め込みも漏洩経路。主因は上流の過剰共有</a:t>
            </a:r>
            <a:endParaRPr lang="en-US" sz="1300" dirty="0"/>
          </a:p>
        </p:txBody>
      </p:sp>
      <p:sp>
        <p:nvSpPr>
          <p:cNvPr id="18" name="text-202"/>
          <p:cNvSpPr txBox="1"/>
          <p:nvPr/>
        </p:nvSpPr>
        <p:spPr>
          <a:xfrm>
            <a:off x="8229600" y="2880360"/>
            <a:ext cx="3246120" cy="777240"/>
          </a:xfrm>
          <a:prstGeom prst="rect">
            <a:avLst/>
          </a:prstGeom>
          <a:noFill/>
          <a:ln/>
        </p:spPr>
        <p:txBody>
          <a:bodyPr wrap="square" lIns="0" tIns="0" rIns="0" bIns="0" rtlCol="0" anchor="ctr"/>
          <a:lstStyle/>
          <a:p>
            <a:pPr indent="0" marL="0">
              <a:buNone/>
            </a:pPr>
            <a:r>
              <a:rPr lang="en-US" sz="1300" b="1" dirty="0">
                <a:solidFill>
                  <a:schemeClr val="accent2"/>
                </a:solidFill>
              </a:rPr>
              <a:t>検索の前に認可／システムプロンプトに秘密を置かない</a:t>
            </a:r>
            <a:endParaRPr lang="en-US" sz="1300" dirty="0"/>
          </a:p>
        </p:txBody>
      </p:sp>
      <p:sp>
        <p:nvSpPr>
          <p:cNvPr id="19" name="card-203"/>
          <p:cNvSpPr/>
          <p:nvPr/>
        </p:nvSpPr>
        <p:spPr>
          <a:xfrm>
            <a:off x="548640" y="3749040"/>
            <a:ext cx="11064240" cy="777240"/>
          </a:xfrm>
          <a:prstGeom prst="roundRect">
            <a:avLst>
              <a:gd name="adj" fmla="val 9412"/>
            </a:avLst>
          </a:prstGeom>
          <a:solidFill>
            <a:schemeClr val="bg2"/>
          </a:solidFill>
          <a:ln w="12700">
            <a:solidFill>
              <a:schemeClr val="bg2"/>
            </a:solidFill>
            <a:prstDash val="solid"/>
          </a:ln>
        </p:spPr>
      </p:sp>
      <p:sp>
        <p:nvSpPr>
          <p:cNvPr id="20" name="chip-204"/>
          <p:cNvSpPr txBox="1"/>
          <p:nvPr/>
        </p:nvSpPr>
        <p:spPr>
          <a:xfrm>
            <a:off x="731520" y="3986784"/>
            <a:ext cx="9144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LLM03</a:t>
            </a:r>
            <a:endParaRPr lang="en-US" sz="1200" dirty="0"/>
          </a:p>
        </p:txBody>
      </p:sp>
      <p:sp>
        <p:nvSpPr>
          <p:cNvPr id="21" name="text-205"/>
          <p:cNvSpPr txBox="1"/>
          <p:nvPr/>
        </p:nvSpPr>
        <p:spPr>
          <a:xfrm>
            <a:off x="1783080" y="374904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過剰な権限</a:t>
            </a:r>
            <a:endParaRPr lang="en-US" sz="1400" dirty="0"/>
          </a:p>
        </p:txBody>
      </p:sp>
      <p:sp>
        <p:nvSpPr>
          <p:cNvPr id="22" name="text-206"/>
          <p:cNvSpPr txBox="1"/>
          <p:nvPr/>
        </p:nvSpPr>
        <p:spPr>
          <a:xfrm>
            <a:off x="4206240" y="3749040"/>
            <a:ext cx="3886200" cy="777240"/>
          </a:xfrm>
          <a:prstGeom prst="rect">
            <a:avLst/>
          </a:prstGeom>
          <a:noFill/>
          <a:ln/>
        </p:spPr>
        <p:txBody>
          <a:bodyPr wrap="square" lIns="0" tIns="0" rIns="0" bIns="0" rtlCol="0" anchor="ctr"/>
          <a:lstStyle/>
          <a:p>
            <a:pPr indent="0" marL="0">
              <a:buNone/>
            </a:pPr>
            <a:r>
              <a:rPr lang="en-US" sz="1300" dirty="0">
                <a:solidFill>
                  <a:schemeClr val="tx1"/>
                </a:solidFill>
              </a:rPr>
              <a:t>誤った・操作された出力が損害を伴う行動になる（過剰な機能・権限・自律性）</a:t>
            </a:r>
            <a:endParaRPr lang="en-US" sz="1300" dirty="0"/>
          </a:p>
        </p:txBody>
      </p:sp>
      <p:sp>
        <p:nvSpPr>
          <p:cNvPr id="23" name="text-207"/>
          <p:cNvSpPr txBox="1"/>
          <p:nvPr/>
        </p:nvSpPr>
        <p:spPr>
          <a:xfrm>
            <a:off x="8229600" y="3749040"/>
            <a:ext cx="3246120" cy="777240"/>
          </a:xfrm>
          <a:prstGeom prst="rect">
            <a:avLst/>
          </a:prstGeom>
          <a:noFill/>
          <a:ln/>
        </p:spPr>
        <p:txBody>
          <a:bodyPr wrap="square" lIns="0" tIns="0" rIns="0" bIns="0" rtlCol="0" anchor="ctr"/>
          <a:lstStyle/>
          <a:p>
            <a:pPr indent="0" marL="0">
              <a:buNone/>
            </a:pPr>
            <a:r>
              <a:rPr lang="en-US" sz="1300" b="1" dirty="0">
                <a:solidFill>
                  <a:schemeClr val="accent2"/>
                </a:solidFill>
              </a:rPr>
              <a:t>ツール・権限の最小化／ユーザーのコンテキストで実行／完全仲介</a:t>
            </a:r>
            <a:endParaRPr lang="en-US" sz="1300" dirty="0"/>
          </a:p>
        </p:txBody>
      </p:sp>
      <p:sp>
        <p:nvSpPr>
          <p:cNvPr id="24" name="card-208"/>
          <p:cNvSpPr/>
          <p:nvPr/>
        </p:nvSpPr>
        <p:spPr>
          <a:xfrm>
            <a:off x="548640" y="4617720"/>
            <a:ext cx="11064240" cy="777240"/>
          </a:xfrm>
          <a:prstGeom prst="roundRect">
            <a:avLst>
              <a:gd name="adj" fmla="val 9412"/>
            </a:avLst>
          </a:prstGeom>
          <a:solidFill>
            <a:schemeClr val="bg1"/>
          </a:solidFill>
          <a:ln w="12700">
            <a:solidFill>
              <a:schemeClr val="bg1"/>
            </a:solidFill>
            <a:prstDash val="solid"/>
          </a:ln>
        </p:spPr>
      </p:sp>
      <p:sp>
        <p:nvSpPr>
          <p:cNvPr id="25" name="chip-209"/>
          <p:cNvSpPr txBox="1"/>
          <p:nvPr/>
        </p:nvSpPr>
        <p:spPr>
          <a:xfrm>
            <a:off x="731520" y="4855464"/>
            <a:ext cx="9144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LLM04</a:t>
            </a:r>
            <a:endParaRPr lang="en-US" sz="1200" dirty="0"/>
          </a:p>
        </p:txBody>
      </p:sp>
      <p:sp>
        <p:nvSpPr>
          <p:cNvPr id="26" name="text-210"/>
          <p:cNvSpPr txBox="1"/>
          <p:nvPr/>
        </p:nvSpPr>
        <p:spPr>
          <a:xfrm>
            <a:off x="1783080" y="461772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サプライチェーン</a:t>
            </a:r>
            <a:endParaRPr lang="en-US" sz="1400" dirty="0"/>
          </a:p>
        </p:txBody>
      </p:sp>
      <p:sp>
        <p:nvSpPr>
          <p:cNvPr id="27" name="text-211"/>
          <p:cNvSpPr txBox="1"/>
          <p:nvPr/>
        </p:nvSpPr>
        <p:spPr>
          <a:xfrm>
            <a:off x="4206240" y="4617720"/>
            <a:ext cx="3886200" cy="777240"/>
          </a:xfrm>
          <a:prstGeom prst="rect">
            <a:avLst/>
          </a:prstGeom>
          <a:noFill/>
          <a:ln/>
        </p:spPr>
        <p:txBody>
          <a:bodyPr wrap="square" lIns="0" tIns="0" rIns="0" bIns="0" rtlCol="0" anchor="ctr"/>
          <a:lstStyle/>
          <a:p>
            <a:pPr indent="0" marL="0">
              <a:buNone/>
            </a:pPr>
            <a:r>
              <a:rPr lang="en-US" sz="1300" dirty="0">
                <a:solidFill>
                  <a:schemeClr val="tx1"/>
                </a:solidFill>
              </a:rPr>
              <a:t>モデル・データ・アダプタ・変換工程の改ざん、実在しないパッケージの悪用</a:t>
            </a:r>
            <a:endParaRPr lang="en-US" sz="1300" dirty="0"/>
          </a:p>
        </p:txBody>
      </p:sp>
      <p:sp>
        <p:nvSpPr>
          <p:cNvPr id="28" name="text-212"/>
          <p:cNvSpPr txBox="1"/>
          <p:nvPr/>
        </p:nvSpPr>
        <p:spPr>
          <a:xfrm>
            <a:off x="8229600" y="4617720"/>
            <a:ext cx="3246120" cy="777240"/>
          </a:xfrm>
          <a:prstGeom prst="rect">
            <a:avLst/>
          </a:prstGeom>
          <a:noFill/>
          <a:ln/>
        </p:spPr>
        <p:txBody>
          <a:bodyPr wrap="square" lIns="0" tIns="0" rIns="0" bIns="0" rtlCol="0" anchor="ctr"/>
          <a:lstStyle/>
          <a:p>
            <a:pPr indent="0" marL="0">
              <a:buNone/>
            </a:pPr>
            <a:r>
              <a:rPr lang="en-US" sz="1300" b="1" dirty="0">
                <a:solidFill>
                  <a:schemeClr val="accent2"/>
                </a:solidFill>
              </a:rPr>
              <a:t>提供者審査／AIBOM・ML-BOM／署名・ハッシュ固定</a:t>
            </a:r>
            <a:endParaRPr lang="en-US" sz="1300" dirty="0"/>
          </a:p>
        </p:txBody>
      </p:sp>
      <p:sp>
        <p:nvSpPr>
          <p:cNvPr id="29" name="card-213"/>
          <p:cNvSpPr/>
          <p:nvPr/>
        </p:nvSpPr>
        <p:spPr>
          <a:xfrm>
            <a:off x="548640" y="5486400"/>
            <a:ext cx="11064240" cy="777240"/>
          </a:xfrm>
          <a:prstGeom prst="roundRect">
            <a:avLst>
              <a:gd name="adj" fmla="val 9412"/>
            </a:avLst>
          </a:prstGeom>
          <a:solidFill>
            <a:schemeClr val="bg2"/>
          </a:solidFill>
          <a:ln w="12700">
            <a:solidFill>
              <a:schemeClr val="bg2"/>
            </a:solidFill>
            <a:prstDash val="solid"/>
          </a:ln>
        </p:spPr>
      </p:sp>
      <p:sp>
        <p:nvSpPr>
          <p:cNvPr id="30" name="chip-214"/>
          <p:cNvSpPr txBox="1"/>
          <p:nvPr/>
        </p:nvSpPr>
        <p:spPr>
          <a:xfrm>
            <a:off x="731520" y="5724144"/>
            <a:ext cx="9144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LLM05</a:t>
            </a:r>
            <a:endParaRPr lang="en-US" sz="1200" dirty="0"/>
          </a:p>
        </p:txBody>
      </p:sp>
      <p:sp>
        <p:nvSpPr>
          <p:cNvPr id="31" name="text-215"/>
          <p:cNvSpPr txBox="1"/>
          <p:nvPr/>
        </p:nvSpPr>
        <p:spPr>
          <a:xfrm>
            <a:off x="1783080" y="548640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データ・モデルのポイズニング</a:t>
            </a:r>
            <a:endParaRPr lang="en-US" sz="1400" dirty="0"/>
          </a:p>
        </p:txBody>
      </p:sp>
      <p:sp>
        <p:nvSpPr>
          <p:cNvPr id="32" name="text-216"/>
          <p:cNvSpPr txBox="1"/>
          <p:nvPr/>
        </p:nvSpPr>
        <p:spPr>
          <a:xfrm>
            <a:off x="4206240" y="5486400"/>
            <a:ext cx="3886200" cy="777240"/>
          </a:xfrm>
          <a:prstGeom prst="rect">
            <a:avLst/>
          </a:prstGeom>
          <a:noFill/>
          <a:ln/>
        </p:spPr>
        <p:txBody>
          <a:bodyPr wrap="square" lIns="0" tIns="0" rIns="0" bIns="0" rtlCol="0" anchor="ctr"/>
          <a:lstStyle/>
          <a:p>
            <a:pPr indent="0" marL="0">
              <a:buNone/>
            </a:pPr>
            <a:r>
              <a:rPr lang="en-US" sz="1300" dirty="0">
                <a:solidFill>
                  <a:schemeClr val="tx1"/>
                </a:solidFill>
              </a:rPr>
              <a:t>学習・埋め込み・RAGの汚染。復旧に再学習が必要になりコストが大きい</a:t>
            </a:r>
            <a:endParaRPr lang="en-US" sz="1300" dirty="0"/>
          </a:p>
        </p:txBody>
      </p:sp>
      <p:sp>
        <p:nvSpPr>
          <p:cNvPr id="33" name="text-217"/>
          <p:cNvSpPr txBox="1"/>
          <p:nvPr/>
        </p:nvSpPr>
        <p:spPr>
          <a:xfrm>
            <a:off x="8229600" y="5486400"/>
            <a:ext cx="3246120" cy="777240"/>
          </a:xfrm>
          <a:prstGeom prst="rect">
            <a:avLst/>
          </a:prstGeom>
          <a:noFill/>
          <a:ln/>
        </p:spPr>
        <p:txBody>
          <a:bodyPr wrap="square" lIns="0" tIns="0" rIns="0" bIns="0" rtlCol="0" anchor="ctr"/>
          <a:lstStyle/>
          <a:p>
            <a:pPr indent="0" marL="0">
              <a:buNone/>
            </a:pPr>
            <a:r>
              <a:rPr lang="en-US" sz="1300" b="1" dirty="0">
                <a:solidFill>
                  <a:schemeClr val="accent2"/>
                </a:solidFill>
              </a:rPr>
              <a:t>系譜管理／取り込み検証／トリガー探索</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LLM Top 10 2026（2/2）：全案件に適用する10リスク</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Rule of Two：(A)非信頼入力 (B)機密データ (C)状態変更・外部通信。3つそろえば操作ごとの人の承認が必須</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出典：OWASP Top 10 for LLM Applications 2026, LLM01〜LLM10（第4章）</a:t>
            </a:r>
            <a:endParaRPr lang="en-US" sz="1000" dirty="0"/>
          </a:p>
        </p:txBody>
      </p:sp>
      <p:sp>
        <p:nvSpPr>
          <p:cNvPr id="6" name="text-218"/>
          <p:cNvSpPr txBox="1"/>
          <p:nvPr/>
        </p:nvSpPr>
        <p:spPr>
          <a:xfrm>
            <a:off x="548640" y="1645920"/>
            <a:ext cx="3566160" cy="320040"/>
          </a:xfrm>
          <a:prstGeom prst="rect">
            <a:avLst/>
          </a:prstGeom>
          <a:noFill/>
          <a:ln/>
        </p:spPr>
        <p:txBody>
          <a:bodyPr wrap="square" lIns="0" tIns="0" rIns="0" bIns="0" rtlCol="0" anchor="t"/>
          <a:lstStyle/>
          <a:p>
            <a:pPr indent="0" marL="0">
              <a:buNone/>
            </a:pPr>
            <a:r>
              <a:rPr lang="en-US" sz="1300" b="1" dirty="0">
                <a:solidFill>
                  <a:schemeClr val="accent4"/>
                </a:solidFill>
              </a:rPr>
              <a:t>リスク</a:t>
            </a:r>
            <a:endParaRPr lang="en-US" sz="1300" dirty="0"/>
          </a:p>
        </p:txBody>
      </p:sp>
      <p:sp>
        <p:nvSpPr>
          <p:cNvPr id="7" name="text-219"/>
          <p:cNvSpPr txBox="1"/>
          <p:nvPr/>
        </p:nvSpPr>
        <p:spPr>
          <a:xfrm>
            <a:off x="4206240" y="1645920"/>
            <a:ext cx="3931920" cy="320040"/>
          </a:xfrm>
          <a:prstGeom prst="rect">
            <a:avLst/>
          </a:prstGeom>
          <a:noFill/>
          <a:ln/>
        </p:spPr>
        <p:txBody>
          <a:bodyPr wrap="square" lIns="0" tIns="0" rIns="0" bIns="0" rtlCol="0" anchor="t"/>
          <a:lstStyle/>
          <a:p>
            <a:pPr indent="0" marL="0">
              <a:buNone/>
            </a:pPr>
            <a:r>
              <a:rPr lang="en-US" sz="1300" b="1" dirty="0">
                <a:solidFill>
                  <a:schemeClr val="accent4"/>
                </a:solidFill>
              </a:rPr>
              <a:t>要点</a:t>
            </a:r>
            <a:endParaRPr lang="en-US" sz="1300" dirty="0"/>
          </a:p>
        </p:txBody>
      </p:sp>
      <p:sp>
        <p:nvSpPr>
          <p:cNvPr id="8" name="text-220"/>
          <p:cNvSpPr txBox="1"/>
          <p:nvPr/>
        </p:nvSpPr>
        <p:spPr>
          <a:xfrm>
            <a:off x="8229600" y="1645920"/>
            <a:ext cx="3383280" cy="320040"/>
          </a:xfrm>
          <a:prstGeom prst="rect">
            <a:avLst/>
          </a:prstGeom>
          <a:noFill/>
          <a:ln/>
        </p:spPr>
        <p:txBody>
          <a:bodyPr wrap="square" lIns="0" tIns="0" rIns="0" bIns="0" rtlCol="0" anchor="t"/>
          <a:lstStyle/>
          <a:p>
            <a:pPr indent="0" marL="0">
              <a:buNone/>
            </a:pPr>
            <a:r>
              <a:rPr lang="en-US" sz="1300" b="1" dirty="0">
                <a:solidFill>
                  <a:schemeClr val="accent4"/>
                </a:solidFill>
              </a:rPr>
              <a:t>決定的な対策</a:t>
            </a:r>
            <a:endParaRPr lang="en-US" sz="1300" dirty="0"/>
          </a:p>
        </p:txBody>
      </p:sp>
      <p:sp>
        <p:nvSpPr>
          <p:cNvPr id="9" name="card-221"/>
          <p:cNvSpPr/>
          <p:nvPr/>
        </p:nvSpPr>
        <p:spPr>
          <a:xfrm>
            <a:off x="548640" y="2011680"/>
            <a:ext cx="11064240" cy="777240"/>
          </a:xfrm>
          <a:prstGeom prst="roundRect">
            <a:avLst>
              <a:gd name="adj" fmla="val 9412"/>
            </a:avLst>
          </a:prstGeom>
          <a:solidFill>
            <a:schemeClr val="bg2"/>
          </a:solidFill>
          <a:ln w="12700">
            <a:solidFill>
              <a:schemeClr val="bg2"/>
            </a:solidFill>
            <a:prstDash val="solid"/>
          </a:ln>
        </p:spPr>
      </p:sp>
      <p:sp>
        <p:nvSpPr>
          <p:cNvPr id="10" name="chip-222"/>
          <p:cNvSpPr txBox="1"/>
          <p:nvPr/>
        </p:nvSpPr>
        <p:spPr>
          <a:xfrm>
            <a:off x="731520" y="2249424"/>
            <a:ext cx="9144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LLM06</a:t>
            </a:r>
            <a:endParaRPr lang="en-US" sz="1200" dirty="0"/>
          </a:p>
        </p:txBody>
      </p:sp>
      <p:sp>
        <p:nvSpPr>
          <p:cNvPr id="11" name="text-223"/>
          <p:cNvSpPr txBox="1"/>
          <p:nvPr/>
        </p:nvSpPr>
        <p:spPr>
          <a:xfrm>
            <a:off x="1783080" y="201168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無制限のリソース消費</a:t>
            </a:r>
            <a:endParaRPr lang="en-US" sz="1400" dirty="0"/>
          </a:p>
        </p:txBody>
      </p:sp>
      <p:sp>
        <p:nvSpPr>
          <p:cNvPr id="12" name="text-224"/>
          <p:cNvSpPr txBox="1"/>
          <p:nvPr/>
        </p:nvSpPr>
        <p:spPr>
          <a:xfrm>
            <a:off x="4206240" y="2011680"/>
            <a:ext cx="3886200" cy="777240"/>
          </a:xfrm>
          <a:prstGeom prst="rect">
            <a:avLst/>
          </a:prstGeom>
          <a:noFill/>
          <a:ln/>
        </p:spPr>
        <p:txBody>
          <a:bodyPr wrap="square" lIns="0" tIns="0" rIns="0" bIns="0" rtlCol="0" anchor="ctr"/>
          <a:lstStyle/>
          <a:p>
            <a:pPr indent="0" marL="0">
              <a:buNone/>
            </a:pPr>
            <a:r>
              <a:rPr lang="en-US" sz="1300" dirty="0">
                <a:solidFill>
                  <a:schemeClr val="tx1"/>
                </a:solidFill>
              </a:rPr>
              <a:t>推論ループ、ツールのファンアウト、ウォレット枯渇、モデル抽出</a:t>
            </a:r>
            <a:endParaRPr lang="en-US" sz="1300" dirty="0"/>
          </a:p>
        </p:txBody>
      </p:sp>
      <p:sp>
        <p:nvSpPr>
          <p:cNvPr id="13" name="text-225"/>
          <p:cNvSpPr txBox="1"/>
          <p:nvPr/>
        </p:nvSpPr>
        <p:spPr>
          <a:xfrm>
            <a:off x="8229600" y="2011680"/>
            <a:ext cx="3246120" cy="777240"/>
          </a:xfrm>
          <a:prstGeom prst="rect">
            <a:avLst/>
          </a:prstGeom>
          <a:noFill/>
          <a:ln/>
        </p:spPr>
        <p:txBody>
          <a:bodyPr wrap="square" lIns="0" tIns="0" rIns="0" bIns="0" rtlCol="0" anchor="ctr"/>
          <a:lstStyle/>
          <a:p>
            <a:pPr indent="0" marL="0">
              <a:buNone/>
            </a:pPr>
            <a:r>
              <a:rPr lang="en-US" sz="1300" b="1" dirty="0">
                <a:solidFill>
                  <a:schemeClr val="accent2"/>
                </a:solidFill>
              </a:rPr>
              <a:t>上書き不能な支出上限／サーキットブレーカー</a:t>
            </a:r>
            <a:endParaRPr lang="en-US" sz="1300" dirty="0"/>
          </a:p>
        </p:txBody>
      </p:sp>
      <p:sp>
        <p:nvSpPr>
          <p:cNvPr id="14" name="card-226"/>
          <p:cNvSpPr/>
          <p:nvPr/>
        </p:nvSpPr>
        <p:spPr>
          <a:xfrm>
            <a:off x="548640" y="2880360"/>
            <a:ext cx="11064240" cy="777240"/>
          </a:xfrm>
          <a:prstGeom prst="roundRect">
            <a:avLst>
              <a:gd name="adj" fmla="val 9412"/>
            </a:avLst>
          </a:prstGeom>
          <a:solidFill>
            <a:schemeClr val="bg1"/>
          </a:solidFill>
          <a:ln w="12700">
            <a:solidFill>
              <a:schemeClr val="bg1"/>
            </a:solidFill>
            <a:prstDash val="solid"/>
          </a:ln>
        </p:spPr>
      </p:sp>
      <p:sp>
        <p:nvSpPr>
          <p:cNvPr id="15" name="chip-227"/>
          <p:cNvSpPr txBox="1"/>
          <p:nvPr/>
        </p:nvSpPr>
        <p:spPr>
          <a:xfrm>
            <a:off x="731520" y="3118104"/>
            <a:ext cx="9144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LLM07</a:t>
            </a:r>
            <a:endParaRPr lang="en-US" sz="1200" dirty="0"/>
          </a:p>
        </p:txBody>
      </p:sp>
      <p:sp>
        <p:nvSpPr>
          <p:cNvPr id="16" name="text-228"/>
          <p:cNvSpPr txBox="1"/>
          <p:nvPr/>
        </p:nvSpPr>
        <p:spPr>
          <a:xfrm>
            <a:off x="1783080" y="288036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誤情報</a:t>
            </a:r>
            <a:endParaRPr lang="en-US" sz="1400" dirty="0"/>
          </a:p>
        </p:txBody>
      </p:sp>
      <p:sp>
        <p:nvSpPr>
          <p:cNvPr id="17" name="text-229"/>
          <p:cNvSpPr txBox="1"/>
          <p:nvPr/>
        </p:nvSpPr>
        <p:spPr>
          <a:xfrm>
            <a:off x="4206240" y="2880360"/>
            <a:ext cx="3886200" cy="777240"/>
          </a:xfrm>
          <a:prstGeom prst="rect">
            <a:avLst/>
          </a:prstGeom>
          <a:noFill/>
          <a:ln/>
        </p:spPr>
        <p:txBody>
          <a:bodyPr wrap="square" lIns="0" tIns="0" rIns="0" bIns="0" rtlCol="0" anchor="ctr"/>
          <a:lstStyle/>
          <a:p>
            <a:pPr indent="0" marL="0">
              <a:buNone/>
            </a:pPr>
            <a:r>
              <a:rPr lang="en-US" sz="1300" dirty="0">
                <a:solidFill>
                  <a:schemeClr val="tx1"/>
                </a:solidFill>
              </a:rPr>
              <a:t>誤った出力が信頼され、判断や行動に使われること自体がリスク</a:t>
            </a:r>
            <a:endParaRPr lang="en-US" sz="1300" dirty="0"/>
          </a:p>
        </p:txBody>
      </p:sp>
      <p:sp>
        <p:nvSpPr>
          <p:cNvPr id="18" name="text-230"/>
          <p:cNvSpPr txBox="1"/>
          <p:nvPr/>
        </p:nvSpPr>
        <p:spPr>
          <a:xfrm>
            <a:off x="8229600" y="2880360"/>
            <a:ext cx="3246120" cy="777240"/>
          </a:xfrm>
          <a:prstGeom prst="rect">
            <a:avLst/>
          </a:prstGeom>
          <a:noFill/>
          <a:ln/>
        </p:spPr>
        <p:txBody>
          <a:bodyPr wrap="square" lIns="0" tIns="0" rIns="0" bIns="0" rtlCol="0" anchor="ctr"/>
          <a:lstStyle/>
          <a:p>
            <a:pPr indent="0" marL="0">
              <a:buNone/>
            </a:pPr>
            <a:r>
              <a:rPr lang="en-US" sz="1300" b="1" dirty="0">
                <a:solidFill>
                  <a:schemeClr val="accent2"/>
                </a:solidFill>
              </a:rPr>
              <a:t>生成と実行の分離（Claim-Check-Act）／根拠性で評価</a:t>
            </a:r>
            <a:endParaRPr lang="en-US" sz="1300" dirty="0"/>
          </a:p>
        </p:txBody>
      </p:sp>
      <p:sp>
        <p:nvSpPr>
          <p:cNvPr id="19" name="card-231"/>
          <p:cNvSpPr/>
          <p:nvPr/>
        </p:nvSpPr>
        <p:spPr>
          <a:xfrm>
            <a:off x="548640" y="3749040"/>
            <a:ext cx="11064240" cy="777240"/>
          </a:xfrm>
          <a:prstGeom prst="roundRect">
            <a:avLst>
              <a:gd name="adj" fmla="val 9412"/>
            </a:avLst>
          </a:prstGeom>
          <a:solidFill>
            <a:schemeClr val="bg2"/>
          </a:solidFill>
          <a:ln w="12700">
            <a:solidFill>
              <a:schemeClr val="bg2"/>
            </a:solidFill>
            <a:prstDash val="solid"/>
          </a:ln>
        </p:spPr>
      </p:sp>
      <p:sp>
        <p:nvSpPr>
          <p:cNvPr id="20" name="chip-232"/>
          <p:cNvSpPr txBox="1"/>
          <p:nvPr/>
        </p:nvSpPr>
        <p:spPr>
          <a:xfrm>
            <a:off x="731520" y="3986784"/>
            <a:ext cx="9144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LLM08</a:t>
            </a:r>
            <a:endParaRPr lang="en-US" sz="1200" dirty="0"/>
          </a:p>
        </p:txBody>
      </p:sp>
      <p:sp>
        <p:nvSpPr>
          <p:cNvPr id="21" name="text-233"/>
          <p:cNvSpPr txBox="1"/>
          <p:nvPr/>
        </p:nvSpPr>
        <p:spPr>
          <a:xfrm>
            <a:off x="1783080" y="374904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隠されたコンテキストの露出</a:t>
            </a:r>
            <a:endParaRPr lang="en-US" sz="1400" dirty="0"/>
          </a:p>
        </p:txBody>
      </p:sp>
      <p:sp>
        <p:nvSpPr>
          <p:cNvPr id="22" name="text-234"/>
          <p:cNvSpPr txBox="1"/>
          <p:nvPr/>
        </p:nvSpPr>
        <p:spPr>
          <a:xfrm>
            <a:off x="4206240" y="3749040"/>
            <a:ext cx="3886200" cy="777240"/>
          </a:xfrm>
          <a:prstGeom prst="rect">
            <a:avLst/>
          </a:prstGeom>
          <a:noFill/>
          <a:ln/>
        </p:spPr>
        <p:txBody>
          <a:bodyPr wrap="square" lIns="0" tIns="0" rIns="0" bIns="0" rtlCol="0" anchor="ctr"/>
          <a:lstStyle/>
          <a:p>
            <a:pPr indent="0" marL="0">
              <a:buNone/>
            </a:pPr>
            <a:r>
              <a:rPr lang="en-US" sz="1300" dirty="0">
                <a:solidFill>
                  <a:schemeClr val="tx1"/>
                </a:solidFill>
              </a:rPr>
              <a:t>システムプロンプトやツール定義の抽出・推測</a:t>
            </a:r>
            <a:endParaRPr lang="en-US" sz="1300" dirty="0"/>
          </a:p>
        </p:txBody>
      </p:sp>
      <p:sp>
        <p:nvSpPr>
          <p:cNvPr id="23" name="text-235"/>
          <p:cNvSpPr txBox="1"/>
          <p:nvPr/>
        </p:nvSpPr>
        <p:spPr>
          <a:xfrm>
            <a:off x="8229600" y="3749040"/>
            <a:ext cx="3246120" cy="777240"/>
          </a:xfrm>
          <a:prstGeom prst="rect">
            <a:avLst/>
          </a:prstGeom>
          <a:noFill/>
          <a:ln/>
        </p:spPr>
        <p:txBody>
          <a:bodyPr wrap="square" lIns="0" tIns="0" rIns="0" bIns="0" rtlCol="0" anchor="ctr"/>
          <a:lstStyle/>
          <a:p>
            <a:pPr indent="0" marL="0">
              <a:buNone/>
            </a:pPr>
            <a:r>
              <a:rPr lang="en-US" sz="1300" b="1" dirty="0">
                <a:solidFill>
                  <a:schemeClr val="accent2"/>
                </a:solidFill>
              </a:rPr>
              <a:t>見つかる前提で設計し秘密を置かない／認可をLLMから独立</a:t>
            </a:r>
            <a:endParaRPr lang="en-US" sz="1300" dirty="0"/>
          </a:p>
        </p:txBody>
      </p:sp>
      <p:sp>
        <p:nvSpPr>
          <p:cNvPr id="24" name="card-236"/>
          <p:cNvSpPr/>
          <p:nvPr/>
        </p:nvSpPr>
        <p:spPr>
          <a:xfrm>
            <a:off x="548640" y="4617720"/>
            <a:ext cx="11064240" cy="777240"/>
          </a:xfrm>
          <a:prstGeom prst="roundRect">
            <a:avLst>
              <a:gd name="adj" fmla="val 9412"/>
            </a:avLst>
          </a:prstGeom>
          <a:solidFill>
            <a:schemeClr val="bg1"/>
          </a:solidFill>
          <a:ln w="12700">
            <a:solidFill>
              <a:schemeClr val="bg1"/>
            </a:solidFill>
            <a:prstDash val="solid"/>
          </a:ln>
        </p:spPr>
      </p:sp>
      <p:sp>
        <p:nvSpPr>
          <p:cNvPr id="25" name="chip-237"/>
          <p:cNvSpPr txBox="1"/>
          <p:nvPr/>
        </p:nvSpPr>
        <p:spPr>
          <a:xfrm>
            <a:off x="731520" y="4855464"/>
            <a:ext cx="9144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LLM09</a:t>
            </a:r>
            <a:endParaRPr lang="en-US" sz="1200" dirty="0"/>
          </a:p>
        </p:txBody>
      </p:sp>
      <p:sp>
        <p:nvSpPr>
          <p:cNvPr id="26" name="text-238"/>
          <p:cNvSpPr txBox="1"/>
          <p:nvPr/>
        </p:nvSpPr>
        <p:spPr>
          <a:xfrm>
            <a:off x="1783080" y="461772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ベクトル・埋め込みの弱点</a:t>
            </a:r>
            <a:endParaRPr lang="en-US" sz="1400" dirty="0"/>
          </a:p>
        </p:txBody>
      </p:sp>
      <p:sp>
        <p:nvSpPr>
          <p:cNvPr id="27" name="text-239"/>
          <p:cNvSpPr txBox="1"/>
          <p:nvPr/>
        </p:nvSpPr>
        <p:spPr>
          <a:xfrm>
            <a:off x="4206240" y="4617720"/>
            <a:ext cx="3886200" cy="777240"/>
          </a:xfrm>
          <a:prstGeom prst="rect">
            <a:avLst/>
          </a:prstGeom>
          <a:noFill/>
          <a:ln/>
        </p:spPr>
        <p:txBody>
          <a:bodyPr wrap="square" lIns="0" tIns="0" rIns="0" bIns="0" rtlCol="0" anchor="ctr"/>
          <a:lstStyle/>
          <a:p>
            <a:pPr indent="0" marL="0">
              <a:buNone/>
            </a:pPr>
            <a:r>
              <a:rPr lang="en-US" sz="1300" dirty="0">
                <a:solidFill>
                  <a:schemeClr val="tx1"/>
                </a:solidFill>
              </a:rPr>
              <a:t>類似検索を突いた漏洩・汚染・妨害。埋め込みから原文を復元できる</a:t>
            </a:r>
            <a:endParaRPr lang="en-US" sz="1300" dirty="0"/>
          </a:p>
        </p:txBody>
      </p:sp>
      <p:sp>
        <p:nvSpPr>
          <p:cNvPr id="28" name="text-240"/>
          <p:cNvSpPr txBox="1"/>
          <p:nvPr/>
        </p:nvSpPr>
        <p:spPr>
          <a:xfrm>
            <a:off x="8229600" y="4617720"/>
            <a:ext cx="3246120" cy="777240"/>
          </a:xfrm>
          <a:prstGeom prst="rect">
            <a:avLst/>
          </a:prstGeom>
          <a:noFill/>
          <a:ln/>
        </p:spPr>
        <p:txBody>
          <a:bodyPr wrap="square" lIns="0" tIns="0" rIns="0" bIns="0" rtlCol="0" anchor="ctr"/>
          <a:lstStyle/>
          <a:p>
            <a:pPr indent="0" marL="0">
              <a:buNone/>
            </a:pPr>
            <a:r>
              <a:rPr lang="en-US" sz="1300" b="1" dirty="0">
                <a:solidFill>
                  <a:schemeClr val="accent2"/>
                </a:solidFill>
              </a:rPr>
              <a:t>照会内でテナント範囲を適用／埋め込み漏洩＝原データ漏洩</a:t>
            </a:r>
            <a:endParaRPr lang="en-US" sz="1300" dirty="0"/>
          </a:p>
        </p:txBody>
      </p:sp>
      <p:sp>
        <p:nvSpPr>
          <p:cNvPr id="29" name="card-241"/>
          <p:cNvSpPr/>
          <p:nvPr/>
        </p:nvSpPr>
        <p:spPr>
          <a:xfrm>
            <a:off x="548640" y="5486400"/>
            <a:ext cx="11064240" cy="777240"/>
          </a:xfrm>
          <a:prstGeom prst="roundRect">
            <a:avLst>
              <a:gd name="adj" fmla="val 9412"/>
            </a:avLst>
          </a:prstGeom>
          <a:solidFill>
            <a:schemeClr val="bg2"/>
          </a:solidFill>
          <a:ln w="12700">
            <a:solidFill>
              <a:schemeClr val="bg2"/>
            </a:solidFill>
            <a:prstDash val="solid"/>
          </a:ln>
        </p:spPr>
      </p:sp>
      <p:sp>
        <p:nvSpPr>
          <p:cNvPr id="30" name="chip-242"/>
          <p:cNvSpPr txBox="1"/>
          <p:nvPr/>
        </p:nvSpPr>
        <p:spPr>
          <a:xfrm>
            <a:off x="731520" y="5724144"/>
            <a:ext cx="91440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LLM10</a:t>
            </a:r>
            <a:endParaRPr lang="en-US" sz="1200" dirty="0"/>
          </a:p>
        </p:txBody>
      </p:sp>
      <p:sp>
        <p:nvSpPr>
          <p:cNvPr id="31" name="text-243"/>
          <p:cNvSpPr txBox="1"/>
          <p:nvPr/>
        </p:nvSpPr>
        <p:spPr>
          <a:xfrm>
            <a:off x="1783080" y="548640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不適切な出力処理</a:t>
            </a:r>
            <a:endParaRPr lang="en-US" sz="1400" dirty="0"/>
          </a:p>
        </p:txBody>
      </p:sp>
      <p:sp>
        <p:nvSpPr>
          <p:cNvPr id="32" name="text-244"/>
          <p:cNvSpPr txBox="1"/>
          <p:nvPr/>
        </p:nvSpPr>
        <p:spPr>
          <a:xfrm>
            <a:off x="4206240" y="5486400"/>
            <a:ext cx="3886200" cy="777240"/>
          </a:xfrm>
          <a:prstGeom prst="rect">
            <a:avLst/>
          </a:prstGeom>
          <a:noFill/>
          <a:ln/>
        </p:spPr>
        <p:txBody>
          <a:bodyPr wrap="square" lIns="0" tIns="0" rIns="0" bIns="0" rtlCol="0" anchor="ctr"/>
          <a:lstStyle/>
          <a:p>
            <a:pPr indent="0" marL="0">
              <a:buNone/>
            </a:pPr>
            <a:r>
              <a:rPr lang="en-US" sz="1300" dirty="0">
                <a:solidFill>
                  <a:schemeClr val="tx1"/>
                </a:solidFill>
              </a:rPr>
              <a:t>出力を検証せず下流へ渡し XSS・SQLi・RCE を招く</a:t>
            </a:r>
            <a:endParaRPr lang="en-US" sz="1300" dirty="0"/>
          </a:p>
        </p:txBody>
      </p:sp>
      <p:sp>
        <p:nvSpPr>
          <p:cNvPr id="33" name="text-245"/>
          <p:cNvSpPr txBox="1"/>
          <p:nvPr/>
        </p:nvSpPr>
        <p:spPr>
          <a:xfrm>
            <a:off x="8229600" y="5486400"/>
            <a:ext cx="3246120" cy="777240"/>
          </a:xfrm>
          <a:prstGeom prst="rect">
            <a:avLst/>
          </a:prstGeom>
          <a:noFill/>
          <a:ln/>
        </p:spPr>
        <p:txBody>
          <a:bodyPr wrap="square" lIns="0" tIns="0" rIns="0" bIns="0" rtlCol="0" anchor="ctr"/>
          <a:lstStyle/>
          <a:p>
            <a:pPr indent="0" marL="0">
              <a:buNone/>
            </a:pPr>
            <a:r>
              <a:rPr lang="en-US" sz="1300" b="1" dirty="0">
                <a:solidFill>
                  <a:schemeClr val="accent2"/>
                </a:solidFill>
              </a:rPr>
              <a:t>出力の検証・エンコード／Markdown画像の自動描画を無効化</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Agentic Top 10 2026：エージェント案件に上乗せする10リスク</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モデルが「行為者」になったら追加する。審査は「目標・権限・記憶・連携相手」の4点が軸</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出典：OWASP Top 10 for Agentic Applications 2026（2025-12-09）、重大度は GenAI Security Crosswalk（第5章）</a:t>
            </a:r>
            <a:endParaRPr lang="en-US" sz="1000" dirty="0"/>
          </a:p>
        </p:txBody>
      </p:sp>
      <p:sp>
        <p:nvSpPr>
          <p:cNvPr id="6" name="chip-246"/>
          <p:cNvSpPr txBox="1"/>
          <p:nvPr/>
        </p:nvSpPr>
        <p:spPr>
          <a:xfrm>
            <a:off x="548640" y="1746504"/>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ASI01</a:t>
            </a:r>
            <a:endParaRPr lang="en-US" sz="1200" dirty="0"/>
          </a:p>
        </p:txBody>
      </p:sp>
      <p:sp>
        <p:nvSpPr>
          <p:cNvPr id="7" name="text-247"/>
          <p:cNvSpPr txBox="1"/>
          <p:nvPr/>
        </p:nvSpPr>
        <p:spPr>
          <a:xfrm>
            <a:off x="1554480" y="1691640"/>
            <a:ext cx="3566160" cy="411480"/>
          </a:xfrm>
          <a:prstGeom prst="rect">
            <a:avLst/>
          </a:prstGeom>
          <a:noFill/>
          <a:ln/>
        </p:spPr>
        <p:txBody>
          <a:bodyPr wrap="square" lIns="0" tIns="0" rIns="0" bIns="0" rtlCol="0" anchor="ctr"/>
          <a:lstStyle/>
          <a:p>
            <a:pPr indent="0" marL="0">
              <a:buNone/>
            </a:pPr>
            <a:r>
              <a:rPr lang="en-US" sz="1400" dirty="0">
                <a:solidFill>
                  <a:schemeClr val="tx1"/>
                </a:solidFill>
              </a:rPr>
              <a:t>目標の乗っ取り</a:t>
            </a:r>
            <a:endParaRPr lang="en-US" sz="1400" dirty="0"/>
          </a:p>
        </p:txBody>
      </p:sp>
      <p:sp>
        <p:nvSpPr>
          <p:cNvPr id="8" name="chip-248"/>
          <p:cNvSpPr txBox="1"/>
          <p:nvPr/>
        </p:nvSpPr>
        <p:spPr>
          <a:xfrm>
            <a:off x="5120640" y="1764792"/>
            <a:ext cx="960120" cy="256032"/>
          </a:xfrm>
          <a:prstGeom prst="roundRect">
            <a:avLst>
              <a:gd name="adj" fmla="val 57143"/>
            </a:avLst>
          </a:prstGeom>
          <a:solidFill>
            <a:schemeClr val="accent3"/>
          </a:solidFill>
          <a:ln/>
        </p:spPr>
        <p:txBody>
          <a:bodyPr wrap="square" lIns="0" tIns="0" rIns="0" bIns="0" rtlCol="0" anchor="ctr"/>
          <a:lstStyle/>
          <a:p>
            <a:pPr algn="ctr" indent="0" marL="0">
              <a:buNone/>
            </a:pPr>
            <a:r>
              <a:rPr lang="en-US" sz="1100" b="1" dirty="0">
                <a:solidFill>
                  <a:schemeClr val="bg1"/>
                </a:solidFill>
              </a:rPr>
              <a:t>Critical</a:t>
            </a:r>
            <a:endParaRPr lang="en-US" sz="1100" dirty="0"/>
          </a:p>
        </p:txBody>
      </p:sp>
      <p:sp>
        <p:nvSpPr>
          <p:cNvPr id="9" name="chip-249"/>
          <p:cNvSpPr txBox="1"/>
          <p:nvPr/>
        </p:nvSpPr>
        <p:spPr>
          <a:xfrm>
            <a:off x="548640" y="2194560"/>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ASI02</a:t>
            </a:r>
            <a:endParaRPr lang="en-US" sz="1200" dirty="0"/>
          </a:p>
        </p:txBody>
      </p:sp>
      <p:sp>
        <p:nvSpPr>
          <p:cNvPr id="10" name="text-250"/>
          <p:cNvSpPr txBox="1"/>
          <p:nvPr/>
        </p:nvSpPr>
        <p:spPr>
          <a:xfrm>
            <a:off x="1554480" y="2139696"/>
            <a:ext cx="3566160" cy="411480"/>
          </a:xfrm>
          <a:prstGeom prst="rect">
            <a:avLst/>
          </a:prstGeom>
          <a:noFill/>
          <a:ln/>
        </p:spPr>
        <p:txBody>
          <a:bodyPr wrap="square" lIns="0" tIns="0" rIns="0" bIns="0" rtlCol="0" anchor="ctr"/>
          <a:lstStyle/>
          <a:p>
            <a:pPr indent="0" marL="0">
              <a:buNone/>
            </a:pPr>
            <a:r>
              <a:rPr lang="en-US" sz="1400" dirty="0">
                <a:solidFill>
                  <a:schemeClr val="tx1"/>
                </a:solidFill>
              </a:rPr>
              <a:t>ツールの誤用・悪用</a:t>
            </a:r>
            <a:endParaRPr lang="en-US" sz="1400" dirty="0"/>
          </a:p>
        </p:txBody>
      </p:sp>
      <p:sp>
        <p:nvSpPr>
          <p:cNvPr id="11" name="chip-251"/>
          <p:cNvSpPr txBox="1"/>
          <p:nvPr/>
        </p:nvSpPr>
        <p:spPr>
          <a:xfrm>
            <a:off x="5120640" y="2212848"/>
            <a:ext cx="960120" cy="256032"/>
          </a:xfrm>
          <a:prstGeom prst="roundRect">
            <a:avLst>
              <a:gd name="adj" fmla="val 57143"/>
            </a:avLst>
          </a:prstGeom>
          <a:solidFill>
            <a:schemeClr val="accent3"/>
          </a:solidFill>
          <a:ln/>
        </p:spPr>
        <p:txBody>
          <a:bodyPr wrap="square" lIns="0" tIns="0" rIns="0" bIns="0" rtlCol="0" anchor="ctr"/>
          <a:lstStyle/>
          <a:p>
            <a:pPr algn="ctr" indent="0" marL="0">
              <a:buNone/>
            </a:pPr>
            <a:r>
              <a:rPr lang="en-US" sz="1100" b="1" dirty="0">
                <a:solidFill>
                  <a:schemeClr val="bg1"/>
                </a:solidFill>
              </a:rPr>
              <a:t>Critical</a:t>
            </a:r>
            <a:endParaRPr lang="en-US" sz="1100" dirty="0"/>
          </a:p>
        </p:txBody>
      </p:sp>
      <p:sp>
        <p:nvSpPr>
          <p:cNvPr id="12" name="chip-252"/>
          <p:cNvSpPr txBox="1"/>
          <p:nvPr/>
        </p:nvSpPr>
        <p:spPr>
          <a:xfrm>
            <a:off x="548640" y="2642616"/>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ASI03</a:t>
            </a:r>
            <a:endParaRPr lang="en-US" sz="1200" dirty="0"/>
          </a:p>
        </p:txBody>
      </p:sp>
      <p:sp>
        <p:nvSpPr>
          <p:cNvPr id="13" name="text-253"/>
          <p:cNvSpPr txBox="1"/>
          <p:nvPr/>
        </p:nvSpPr>
        <p:spPr>
          <a:xfrm>
            <a:off x="1554480" y="2587752"/>
            <a:ext cx="3566160" cy="411480"/>
          </a:xfrm>
          <a:prstGeom prst="rect">
            <a:avLst/>
          </a:prstGeom>
          <a:noFill/>
          <a:ln/>
        </p:spPr>
        <p:txBody>
          <a:bodyPr wrap="square" lIns="0" tIns="0" rIns="0" bIns="0" rtlCol="0" anchor="ctr"/>
          <a:lstStyle/>
          <a:p>
            <a:pPr indent="0" marL="0">
              <a:buNone/>
            </a:pPr>
            <a:r>
              <a:rPr lang="en-US" sz="1400" dirty="0">
                <a:solidFill>
                  <a:schemeClr val="tx1"/>
                </a:solidFill>
              </a:rPr>
              <a:t>ID・権限の悪用</a:t>
            </a:r>
            <a:endParaRPr lang="en-US" sz="1400" dirty="0"/>
          </a:p>
        </p:txBody>
      </p:sp>
      <p:sp>
        <p:nvSpPr>
          <p:cNvPr id="14" name="chip-254"/>
          <p:cNvSpPr txBox="1"/>
          <p:nvPr/>
        </p:nvSpPr>
        <p:spPr>
          <a:xfrm>
            <a:off x="5120640" y="2660904"/>
            <a:ext cx="960120" cy="256032"/>
          </a:xfrm>
          <a:prstGeom prst="roundRect">
            <a:avLst>
              <a:gd name="adj" fmla="val 57143"/>
            </a:avLst>
          </a:prstGeom>
          <a:solidFill>
            <a:schemeClr val="accent3"/>
          </a:solidFill>
          <a:ln/>
        </p:spPr>
        <p:txBody>
          <a:bodyPr wrap="square" lIns="0" tIns="0" rIns="0" bIns="0" rtlCol="0" anchor="ctr"/>
          <a:lstStyle/>
          <a:p>
            <a:pPr algn="ctr" indent="0" marL="0">
              <a:buNone/>
            </a:pPr>
            <a:r>
              <a:rPr lang="en-US" sz="1100" b="1" dirty="0">
                <a:solidFill>
                  <a:schemeClr val="bg1"/>
                </a:solidFill>
              </a:rPr>
              <a:t>Critical</a:t>
            </a:r>
            <a:endParaRPr lang="en-US" sz="1100" dirty="0"/>
          </a:p>
        </p:txBody>
      </p:sp>
      <p:sp>
        <p:nvSpPr>
          <p:cNvPr id="15" name="chip-255"/>
          <p:cNvSpPr txBox="1"/>
          <p:nvPr/>
        </p:nvSpPr>
        <p:spPr>
          <a:xfrm>
            <a:off x="548640" y="3090672"/>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ASI04</a:t>
            </a:r>
            <a:endParaRPr lang="en-US" sz="1200" dirty="0"/>
          </a:p>
        </p:txBody>
      </p:sp>
      <p:sp>
        <p:nvSpPr>
          <p:cNvPr id="16" name="text-256"/>
          <p:cNvSpPr txBox="1"/>
          <p:nvPr/>
        </p:nvSpPr>
        <p:spPr>
          <a:xfrm>
            <a:off x="1554480" y="3035808"/>
            <a:ext cx="3566160" cy="411480"/>
          </a:xfrm>
          <a:prstGeom prst="rect">
            <a:avLst/>
          </a:prstGeom>
          <a:noFill/>
          <a:ln/>
        </p:spPr>
        <p:txBody>
          <a:bodyPr wrap="square" lIns="0" tIns="0" rIns="0" bIns="0" rtlCol="0" anchor="ctr"/>
          <a:lstStyle/>
          <a:p>
            <a:pPr indent="0" marL="0">
              <a:buNone/>
            </a:pPr>
            <a:r>
              <a:rPr lang="en-US" sz="1400" dirty="0">
                <a:solidFill>
                  <a:schemeClr val="tx1"/>
                </a:solidFill>
              </a:rPr>
              <a:t>エージェントのサプライチェーン</a:t>
            </a:r>
            <a:endParaRPr lang="en-US" sz="1400" dirty="0"/>
          </a:p>
        </p:txBody>
      </p:sp>
      <p:sp>
        <p:nvSpPr>
          <p:cNvPr id="17" name="chip-257"/>
          <p:cNvSpPr txBox="1"/>
          <p:nvPr/>
        </p:nvSpPr>
        <p:spPr>
          <a:xfrm>
            <a:off x="5120640" y="3108960"/>
            <a:ext cx="960120" cy="256032"/>
          </a:xfrm>
          <a:prstGeom prst="roundRect">
            <a:avLst>
              <a:gd name="adj" fmla="val 57143"/>
            </a:avLst>
          </a:prstGeom>
          <a:solidFill>
            <a:schemeClr val="accent5"/>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8" name="chip-258"/>
          <p:cNvSpPr txBox="1"/>
          <p:nvPr/>
        </p:nvSpPr>
        <p:spPr>
          <a:xfrm>
            <a:off x="548640" y="3538728"/>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ASI05</a:t>
            </a:r>
            <a:endParaRPr lang="en-US" sz="1200" dirty="0"/>
          </a:p>
        </p:txBody>
      </p:sp>
      <p:sp>
        <p:nvSpPr>
          <p:cNvPr id="19" name="text-259"/>
          <p:cNvSpPr txBox="1"/>
          <p:nvPr/>
        </p:nvSpPr>
        <p:spPr>
          <a:xfrm>
            <a:off x="1554480" y="3483864"/>
            <a:ext cx="3566160" cy="411480"/>
          </a:xfrm>
          <a:prstGeom prst="rect">
            <a:avLst/>
          </a:prstGeom>
          <a:noFill/>
          <a:ln/>
        </p:spPr>
        <p:txBody>
          <a:bodyPr wrap="square" lIns="0" tIns="0" rIns="0" bIns="0" rtlCol="0" anchor="ctr"/>
          <a:lstStyle/>
          <a:p>
            <a:pPr indent="0" marL="0">
              <a:buNone/>
            </a:pPr>
            <a:r>
              <a:rPr lang="en-US" sz="1400" dirty="0">
                <a:solidFill>
                  <a:schemeClr val="tx1"/>
                </a:solidFill>
              </a:rPr>
              <a:t>想定外のコード実行</a:t>
            </a:r>
            <a:endParaRPr lang="en-US" sz="1400" dirty="0"/>
          </a:p>
        </p:txBody>
      </p:sp>
      <p:sp>
        <p:nvSpPr>
          <p:cNvPr id="20" name="chip-260"/>
          <p:cNvSpPr txBox="1"/>
          <p:nvPr/>
        </p:nvSpPr>
        <p:spPr>
          <a:xfrm>
            <a:off x="5120640" y="3557016"/>
            <a:ext cx="960120" cy="256032"/>
          </a:xfrm>
          <a:prstGeom prst="roundRect">
            <a:avLst>
              <a:gd name="adj" fmla="val 57143"/>
            </a:avLst>
          </a:prstGeom>
          <a:solidFill>
            <a:schemeClr val="accent3"/>
          </a:solidFill>
          <a:ln/>
        </p:spPr>
        <p:txBody>
          <a:bodyPr wrap="square" lIns="0" tIns="0" rIns="0" bIns="0" rtlCol="0" anchor="ctr"/>
          <a:lstStyle/>
          <a:p>
            <a:pPr algn="ctr" indent="0" marL="0">
              <a:buNone/>
            </a:pPr>
            <a:r>
              <a:rPr lang="en-US" sz="1100" b="1" dirty="0">
                <a:solidFill>
                  <a:schemeClr val="bg1"/>
                </a:solidFill>
              </a:rPr>
              <a:t>Critical</a:t>
            </a:r>
            <a:endParaRPr lang="en-US" sz="1100" dirty="0"/>
          </a:p>
        </p:txBody>
      </p:sp>
      <p:sp>
        <p:nvSpPr>
          <p:cNvPr id="21" name="chip-261"/>
          <p:cNvSpPr txBox="1"/>
          <p:nvPr/>
        </p:nvSpPr>
        <p:spPr>
          <a:xfrm>
            <a:off x="548640" y="3986784"/>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ASI06</a:t>
            </a:r>
            <a:endParaRPr lang="en-US" sz="1200" dirty="0"/>
          </a:p>
        </p:txBody>
      </p:sp>
      <p:sp>
        <p:nvSpPr>
          <p:cNvPr id="22" name="text-262"/>
          <p:cNvSpPr txBox="1"/>
          <p:nvPr/>
        </p:nvSpPr>
        <p:spPr>
          <a:xfrm>
            <a:off x="1554480" y="3931920"/>
            <a:ext cx="3566160" cy="411480"/>
          </a:xfrm>
          <a:prstGeom prst="rect">
            <a:avLst/>
          </a:prstGeom>
          <a:noFill/>
          <a:ln/>
        </p:spPr>
        <p:txBody>
          <a:bodyPr wrap="square" lIns="0" tIns="0" rIns="0" bIns="0" rtlCol="0" anchor="ctr"/>
          <a:lstStyle/>
          <a:p>
            <a:pPr indent="0" marL="0">
              <a:buNone/>
            </a:pPr>
            <a:r>
              <a:rPr lang="en-US" sz="1400" dirty="0">
                <a:solidFill>
                  <a:schemeClr val="tx1"/>
                </a:solidFill>
              </a:rPr>
              <a:t>記憶・コンテキストの汚染</a:t>
            </a:r>
            <a:endParaRPr lang="en-US" sz="1400" dirty="0"/>
          </a:p>
        </p:txBody>
      </p:sp>
      <p:sp>
        <p:nvSpPr>
          <p:cNvPr id="23" name="chip-263"/>
          <p:cNvSpPr txBox="1"/>
          <p:nvPr/>
        </p:nvSpPr>
        <p:spPr>
          <a:xfrm>
            <a:off x="5120640" y="4005072"/>
            <a:ext cx="960120" cy="256032"/>
          </a:xfrm>
          <a:prstGeom prst="roundRect">
            <a:avLst>
              <a:gd name="adj" fmla="val 57143"/>
            </a:avLst>
          </a:prstGeom>
          <a:solidFill>
            <a:schemeClr val="accent5"/>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4" name="chip-264"/>
          <p:cNvSpPr txBox="1"/>
          <p:nvPr/>
        </p:nvSpPr>
        <p:spPr>
          <a:xfrm>
            <a:off x="548640" y="4434840"/>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ASI07</a:t>
            </a:r>
            <a:endParaRPr lang="en-US" sz="1200" dirty="0"/>
          </a:p>
        </p:txBody>
      </p:sp>
      <p:sp>
        <p:nvSpPr>
          <p:cNvPr id="25" name="text-265"/>
          <p:cNvSpPr txBox="1"/>
          <p:nvPr/>
        </p:nvSpPr>
        <p:spPr>
          <a:xfrm>
            <a:off x="1554480" y="4379976"/>
            <a:ext cx="3566160" cy="411480"/>
          </a:xfrm>
          <a:prstGeom prst="rect">
            <a:avLst/>
          </a:prstGeom>
          <a:noFill/>
          <a:ln/>
        </p:spPr>
        <p:txBody>
          <a:bodyPr wrap="square" lIns="0" tIns="0" rIns="0" bIns="0" rtlCol="0" anchor="ctr"/>
          <a:lstStyle/>
          <a:p>
            <a:pPr indent="0" marL="0">
              <a:buNone/>
            </a:pPr>
            <a:r>
              <a:rPr lang="en-US" sz="1400" dirty="0">
                <a:solidFill>
                  <a:schemeClr val="tx1"/>
                </a:solidFill>
              </a:rPr>
              <a:t>安全でないエージェント間通信</a:t>
            </a:r>
            <a:endParaRPr lang="en-US" sz="1400" dirty="0"/>
          </a:p>
        </p:txBody>
      </p:sp>
      <p:sp>
        <p:nvSpPr>
          <p:cNvPr id="26" name="chip-266"/>
          <p:cNvSpPr txBox="1"/>
          <p:nvPr/>
        </p:nvSpPr>
        <p:spPr>
          <a:xfrm>
            <a:off x="5120640" y="4453128"/>
            <a:ext cx="960120" cy="256032"/>
          </a:xfrm>
          <a:prstGeom prst="roundRect">
            <a:avLst>
              <a:gd name="adj" fmla="val 57143"/>
            </a:avLst>
          </a:prstGeom>
          <a:solidFill>
            <a:schemeClr val="accent5"/>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7" name="chip-267"/>
          <p:cNvSpPr txBox="1"/>
          <p:nvPr/>
        </p:nvSpPr>
        <p:spPr>
          <a:xfrm>
            <a:off x="548640" y="4882896"/>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ASI08</a:t>
            </a:r>
            <a:endParaRPr lang="en-US" sz="1200" dirty="0"/>
          </a:p>
        </p:txBody>
      </p:sp>
      <p:sp>
        <p:nvSpPr>
          <p:cNvPr id="28" name="text-268"/>
          <p:cNvSpPr txBox="1"/>
          <p:nvPr/>
        </p:nvSpPr>
        <p:spPr>
          <a:xfrm>
            <a:off x="1554480" y="4828032"/>
            <a:ext cx="3566160" cy="411480"/>
          </a:xfrm>
          <a:prstGeom prst="rect">
            <a:avLst/>
          </a:prstGeom>
          <a:noFill/>
          <a:ln/>
        </p:spPr>
        <p:txBody>
          <a:bodyPr wrap="square" lIns="0" tIns="0" rIns="0" bIns="0" rtlCol="0" anchor="ctr"/>
          <a:lstStyle/>
          <a:p>
            <a:pPr indent="0" marL="0">
              <a:buNone/>
            </a:pPr>
            <a:r>
              <a:rPr lang="en-US" sz="1400" dirty="0">
                <a:solidFill>
                  <a:schemeClr val="tx1"/>
                </a:solidFill>
              </a:rPr>
              <a:t>連鎖的な障害</a:t>
            </a:r>
            <a:endParaRPr lang="en-US" sz="1400" dirty="0"/>
          </a:p>
        </p:txBody>
      </p:sp>
      <p:sp>
        <p:nvSpPr>
          <p:cNvPr id="29" name="chip-269"/>
          <p:cNvSpPr txBox="1"/>
          <p:nvPr/>
        </p:nvSpPr>
        <p:spPr>
          <a:xfrm>
            <a:off x="5120640" y="4901184"/>
            <a:ext cx="960120" cy="256032"/>
          </a:xfrm>
          <a:prstGeom prst="roundRect">
            <a:avLst>
              <a:gd name="adj" fmla="val 57143"/>
            </a:avLst>
          </a:prstGeom>
          <a:solidFill>
            <a:schemeClr val="accent5"/>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0" name="chip-270"/>
          <p:cNvSpPr txBox="1"/>
          <p:nvPr/>
        </p:nvSpPr>
        <p:spPr>
          <a:xfrm>
            <a:off x="548640" y="5330952"/>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ASI09</a:t>
            </a:r>
            <a:endParaRPr lang="en-US" sz="1200" dirty="0"/>
          </a:p>
        </p:txBody>
      </p:sp>
      <p:sp>
        <p:nvSpPr>
          <p:cNvPr id="31" name="text-271"/>
          <p:cNvSpPr txBox="1"/>
          <p:nvPr/>
        </p:nvSpPr>
        <p:spPr>
          <a:xfrm>
            <a:off x="1554480" y="5276088"/>
            <a:ext cx="3566160" cy="411480"/>
          </a:xfrm>
          <a:prstGeom prst="rect">
            <a:avLst/>
          </a:prstGeom>
          <a:noFill/>
          <a:ln/>
        </p:spPr>
        <p:txBody>
          <a:bodyPr wrap="square" lIns="0" tIns="0" rIns="0" bIns="0" rtlCol="0" anchor="ctr"/>
          <a:lstStyle/>
          <a:p>
            <a:pPr indent="0" marL="0">
              <a:buNone/>
            </a:pPr>
            <a:r>
              <a:rPr lang="en-US" sz="1400" dirty="0">
                <a:solidFill>
                  <a:schemeClr val="tx1"/>
                </a:solidFill>
              </a:rPr>
              <a:t>人とエージェントの信頼の悪用</a:t>
            </a:r>
            <a:endParaRPr lang="en-US" sz="1400" dirty="0"/>
          </a:p>
        </p:txBody>
      </p:sp>
      <p:sp>
        <p:nvSpPr>
          <p:cNvPr id="32" name="chip-272"/>
          <p:cNvSpPr txBox="1"/>
          <p:nvPr/>
        </p:nvSpPr>
        <p:spPr>
          <a:xfrm>
            <a:off x="5120640" y="5349240"/>
            <a:ext cx="960120" cy="256032"/>
          </a:xfrm>
          <a:prstGeom prst="roundRect">
            <a:avLst>
              <a:gd name="adj" fmla="val 57143"/>
            </a:avLst>
          </a:prstGeom>
          <a:solidFill>
            <a:schemeClr val="accent4"/>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chip-273"/>
          <p:cNvSpPr txBox="1"/>
          <p:nvPr/>
        </p:nvSpPr>
        <p:spPr>
          <a:xfrm>
            <a:off x="548640" y="5779008"/>
            <a:ext cx="86868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ASI10</a:t>
            </a:r>
            <a:endParaRPr lang="en-US" sz="1200" dirty="0"/>
          </a:p>
        </p:txBody>
      </p:sp>
      <p:sp>
        <p:nvSpPr>
          <p:cNvPr id="34" name="text-274"/>
          <p:cNvSpPr txBox="1"/>
          <p:nvPr/>
        </p:nvSpPr>
        <p:spPr>
          <a:xfrm>
            <a:off x="1554480" y="5724144"/>
            <a:ext cx="3566160" cy="411480"/>
          </a:xfrm>
          <a:prstGeom prst="rect">
            <a:avLst/>
          </a:prstGeom>
          <a:noFill/>
          <a:ln/>
        </p:spPr>
        <p:txBody>
          <a:bodyPr wrap="square" lIns="0" tIns="0" rIns="0" bIns="0" rtlCol="0" anchor="ctr"/>
          <a:lstStyle/>
          <a:p>
            <a:pPr indent="0" marL="0">
              <a:buNone/>
            </a:pPr>
            <a:r>
              <a:rPr lang="en-US" sz="1400" dirty="0">
                <a:solidFill>
                  <a:schemeClr val="tx1"/>
                </a:solidFill>
              </a:rPr>
              <a:t>暴走エージェント</a:t>
            </a:r>
            <a:endParaRPr lang="en-US" sz="1400" dirty="0"/>
          </a:p>
        </p:txBody>
      </p:sp>
      <p:sp>
        <p:nvSpPr>
          <p:cNvPr id="35" name="chip-275"/>
          <p:cNvSpPr txBox="1"/>
          <p:nvPr/>
        </p:nvSpPr>
        <p:spPr>
          <a:xfrm>
            <a:off x="5120640" y="5797296"/>
            <a:ext cx="960120" cy="256032"/>
          </a:xfrm>
          <a:prstGeom prst="roundRect">
            <a:avLst>
              <a:gd name="adj" fmla="val 57143"/>
            </a:avLst>
          </a:prstGeom>
          <a:solidFill>
            <a:schemeClr val="accent3"/>
          </a:solidFill>
          <a:ln/>
        </p:spPr>
        <p:txBody>
          <a:bodyPr wrap="square" lIns="0" tIns="0" rIns="0" bIns="0" rtlCol="0" anchor="ctr"/>
          <a:lstStyle/>
          <a:p>
            <a:pPr algn="ctr" indent="0" marL="0">
              <a:buNone/>
            </a:pPr>
            <a:r>
              <a:rPr lang="en-US" sz="1100" b="1" dirty="0">
                <a:solidFill>
                  <a:schemeClr val="bg1"/>
                </a:solidFill>
              </a:rPr>
              <a:t>Critical</a:t>
            </a:r>
            <a:endParaRPr lang="en-US" sz="1100" dirty="0"/>
          </a:p>
        </p:txBody>
      </p:sp>
      <p:sp>
        <p:nvSpPr>
          <p:cNvPr id="36" name="card-276"/>
          <p:cNvSpPr/>
          <p:nvPr/>
        </p:nvSpPr>
        <p:spPr>
          <a:xfrm>
            <a:off x="6400800" y="1691640"/>
            <a:ext cx="5212080" cy="4480560"/>
          </a:xfrm>
          <a:prstGeom prst="roundRect">
            <a:avLst>
              <a:gd name="adj" fmla="val 1633"/>
            </a:avLst>
          </a:prstGeom>
          <a:solidFill>
            <a:schemeClr val="bg2"/>
          </a:solidFill>
          <a:ln w="12700">
            <a:solidFill>
              <a:schemeClr val="bg2"/>
            </a:solidFill>
            <a:prstDash val="solid"/>
          </a:ln>
        </p:spPr>
      </p:sp>
      <p:sp>
        <p:nvSpPr>
          <p:cNvPr id="37" name="text-277"/>
          <p:cNvSpPr txBox="1"/>
          <p:nvPr/>
        </p:nvSpPr>
        <p:spPr>
          <a:xfrm>
            <a:off x="6675120" y="1874520"/>
            <a:ext cx="4754880" cy="411480"/>
          </a:xfrm>
          <a:prstGeom prst="rect">
            <a:avLst/>
          </a:prstGeom>
          <a:noFill/>
          <a:ln/>
        </p:spPr>
        <p:txBody>
          <a:bodyPr wrap="square" lIns="0" tIns="0" rIns="0" bIns="0" rtlCol="0" anchor="t"/>
          <a:lstStyle/>
          <a:p>
            <a:pPr indent="0" marL="0">
              <a:buNone/>
            </a:pPr>
            <a:r>
              <a:rPr lang="en-US" sz="1800" b="1" dirty="0">
                <a:solidFill>
                  <a:schemeClr val="tx2"/>
                </a:solidFill>
              </a:rPr>
              <a:t>設計原則</a:t>
            </a:r>
            <a:endParaRPr lang="en-US" sz="1800" dirty="0"/>
          </a:p>
        </p:txBody>
      </p:sp>
      <p:sp>
        <p:nvSpPr>
          <p:cNvPr id="38" name="text-278"/>
          <p:cNvSpPr txBox="1"/>
          <p:nvPr/>
        </p:nvSpPr>
        <p:spPr>
          <a:xfrm>
            <a:off x="6675120" y="2377440"/>
            <a:ext cx="4754880" cy="3657600"/>
          </a:xfrm>
          <a:prstGeom prst="rect">
            <a:avLst/>
          </a:prstGeom>
          <a:noFill/>
          <a:ln/>
        </p:spPr>
        <p:txBody>
          <a:bodyPr wrap="square" lIns="0" tIns="0" rIns="0" bIns="0" rtlCol="0" anchor="t"/>
          <a:lstStyle/>
          <a:p>
            <a:pPr indent="0" marL="0">
              <a:spcAft>
                <a:spcPts val="800"/>
              </a:spcAft>
              <a:buNone/>
            </a:pPr>
            <a:r>
              <a:rPr lang="en-US" sz="1400" b="1" dirty="0">
                <a:solidFill>
                  <a:schemeClr val="accent2"/>
                </a:solidFill>
              </a:rPr>
              <a:t>最小エージェンシー　</a:t>
            </a:r>
            <a:pPr indent="0" marL="0">
              <a:spcAft>
                <a:spcPts val="800"/>
              </a:spcAft>
              <a:buNone/>
            </a:pPr>
            <a:r>
              <a:rPr lang="en-US" sz="1400" dirty="0">
                <a:solidFill>
                  <a:schemeClr val="tx1"/>
                </a:solidFill>
              </a:rPr>
              <a:t>必要のない自律性を与えない</a:t>
            </a:r>
            <a:endParaRPr lang="en-US" sz="1400" dirty="0"/>
          </a:p>
          <a:p>
            <a:pPr indent="0" marL="0">
              <a:spcAft>
                <a:spcPts val="800"/>
              </a:spcAft>
              <a:buNone/>
            </a:pPr>
            <a:r>
              <a:rPr lang="en-US" sz="1400" b="1" dirty="0">
                <a:solidFill>
                  <a:schemeClr val="accent2"/>
                </a:solidFill>
              </a:rPr>
              <a:t>最小権限　</a:t>
            </a:r>
            <a:pPr indent="0" marL="0">
              <a:spcAft>
                <a:spcPts val="800"/>
              </a:spcAft>
              <a:buNone/>
            </a:pPr>
            <a:r>
              <a:rPr lang="en-US" sz="1400" dirty="0">
                <a:solidFill>
                  <a:schemeClr val="tx1"/>
                </a:solidFill>
              </a:rPr>
              <a:t>ツール・資格情報・データを最小限に</a:t>
            </a:r>
            <a:endParaRPr lang="en-US" sz="1400" dirty="0"/>
          </a:p>
          <a:p>
            <a:pPr indent="0" marL="0">
              <a:spcAft>
                <a:spcPts val="800"/>
              </a:spcAft>
              <a:buNone/>
            </a:pPr>
            <a:r>
              <a:rPr lang="en-US" sz="1400" b="1" dirty="0">
                <a:solidFill>
                  <a:schemeClr val="accent2"/>
                </a:solidFill>
              </a:rPr>
              <a:t>全入力を非信頼として扱う　</a:t>
            </a:r>
            <a:pPr indent="0" marL="0">
              <a:spcAft>
                <a:spcPts val="800"/>
              </a:spcAft>
              <a:buNone/>
            </a:pPr>
            <a:r>
              <a:rPr lang="en-US" sz="1400" dirty="0">
                <a:solidFill>
                  <a:schemeClr val="tx1"/>
                </a:solidFill>
              </a:rPr>
              <a:t>文書・ツール出力・他エージェントのメッセージ</a:t>
            </a:r>
            <a:endParaRPr lang="en-US" sz="1400" dirty="0"/>
          </a:p>
          <a:p>
            <a:pPr indent="0" marL="0">
              <a:spcAft>
                <a:spcPts val="800"/>
              </a:spcAft>
              <a:buNone/>
            </a:pPr>
            <a:r>
              <a:rPr lang="en-US" sz="1400" b="1" dirty="0">
                <a:solidFill>
                  <a:schemeClr val="accent2"/>
                </a:solidFill>
              </a:rPr>
              <a:t>人の承認・操作ごとの認可　</a:t>
            </a:r>
            <a:pPr indent="0" marL="0">
              <a:spcAft>
                <a:spcPts val="800"/>
              </a:spcAft>
              <a:buNone/>
            </a:pPr>
            <a:r>
              <a:rPr lang="en-US" sz="1400" dirty="0">
                <a:solidFill>
                  <a:schemeClr val="tx1"/>
                </a:solidFill>
              </a:rPr>
              <a:t>高影響の操作は毎回検証する</a:t>
            </a:r>
            <a:endParaRPr lang="en-US" sz="1400" dirty="0"/>
          </a:p>
          <a:p>
            <a:pPr indent="0" marL="0">
              <a:spcAft>
                <a:spcPts val="800"/>
              </a:spcAft>
              <a:buNone/>
            </a:pPr>
            <a:r>
              <a:rPr lang="en-US" sz="1400" b="1" dirty="0">
                <a:solidFill>
                  <a:schemeClr val="accent2"/>
                </a:solidFill>
              </a:rPr>
              <a:t>可観測性と封じ込め　</a:t>
            </a:r>
            <a:pPr indent="0" marL="0">
              <a:spcAft>
                <a:spcPts val="800"/>
              </a:spcAft>
              <a:buNone/>
            </a:pPr>
            <a:r>
              <a:rPr lang="en-US" sz="1400" dirty="0">
                <a:solidFill>
                  <a:schemeClr val="tx1"/>
                </a:solidFill>
              </a:rPr>
              <a:t>記録・逸脱検知・キルスイッチ・失効・ロールバック</a:t>
            </a:r>
            <a:endParaRPr lang="en-US" sz="1400" dirty="0"/>
          </a:p>
          <a:p>
            <a:pPr indent="0" marL="0">
              <a:spcAft>
                <a:spcPts val="800"/>
              </a:spcAft>
              <a:buNone/>
            </a:pPr>
            <a:r>
              <a:rPr lang="en-US" sz="1400" b="1" dirty="0">
                <a:solidFill>
                  <a:schemeClr val="accent2"/>
                </a:solidFill>
              </a:rPr>
              <a:t>隔離と検証　</a:t>
            </a:r>
            <a:pPr indent="0" marL="0">
              <a:spcAft>
                <a:spcPts val="800"/>
              </a:spcAft>
              <a:buNone/>
            </a:pPr>
            <a:r>
              <a:rPr lang="en-US" sz="1400" dirty="0">
                <a:solidFill>
                  <a:schemeClr val="tx1"/>
                </a:solidFill>
              </a:rPr>
              <a:t>サンドボックス、署名・バージョン固定、レッドチーミング</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103120"/>
            <a:ext cx="3657600" cy="548640"/>
          </a:xfrm>
          <a:prstGeom prst="rect">
            <a:avLst/>
          </a:prstGeom>
          <a:noFill/>
          <a:ln/>
        </p:spPr>
        <p:txBody>
          <a:bodyPr wrap="square" lIns="0" tIns="0" rIns="0" bIns="0" rtlCol="0"/>
          <a:lstStyle/>
          <a:p>
            <a:pPr indent="0" marL="0">
              <a:buNone/>
            </a:pPr>
            <a:r>
              <a:rPr lang="en-US" sz="1800" b="1" dirty="0">
                <a:solidFill>
                  <a:schemeClr val="accent6"/>
                </a:solidFill>
              </a:rPr>
              <a:t>PART 2</a:t>
            </a:r>
            <a:endParaRPr lang="en-US" sz="1800" dirty="0"/>
          </a:p>
        </p:txBody>
      </p:sp>
      <p:sp>
        <p:nvSpPr>
          <p:cNvPr id="3" name="Text 0"/>
          <p:cNvSpPr/>
          <p:nvPr>
            <p:ph idx="101" type="title" hasCustomPrompt="1"/>
          </p:nvPr>
        </p:nvSpPr>
        <p:spPr>
          <a:xfrm>
            <a:off x="731520" y="2651760"/>
            <a:ext cx="10698480" cy="1097280"/>
          </a:xfrm>
          <a:prstGeom prst="rect">
            <a:avLst/>
          </a:prstGeom>
          <a:noFill/>
          <a:ln/>
        </p:spPr>
        <p:txBody>
          <a:bodyPr wrap="square" lIns="0" tIns="0" rIns="0" bIns="0" rtlCol="0" anchor="t"/>
          <a:lstStyle/>
          <a:p>
            <a:pPr algn="l" indent="0" marL="0">
              <a:buNone/>
            </a:pPr>
            <a:r>
              <a:rPr lang="en-US" sz="3600" b="1" dirty="0">
                <a:solidFill>
                  <a:schemeClr val="bg1"/>
                </a:solidFill>
              </a:rPr>
              <a:t>NISTとOWASPの統合と運用</a:t>
            </a:r>
            <a:endParaRPr lang="en-US" sz="3600" dirty="0"/>
          </a:p>
        </p:txBody>
      </p:sp>
      <p:sp>
        <p:nvSpPr>
          <p:cNvPr id="4" name="Text 0"/>
          <p:cNvSpPr/>
          <p:nvPr>
            <p:ph idx="102" type="body" hasCustomPrompt="1"/>
          </p:nvPr>
        </p:nvSpPr>
        <p:spPr>
          <a:xfrm>
            <a:off x="731520" y="3840480"/>
            <a:ext cx="10698480" cy="914400"/>
          </a:xfrm>
          <a:prstGeom prst="rect">
            <a:avLst/>
          </a:prstGeom>
          <a:noFill/>
          <a:ln/>
        </p:spPr>
        <p:txBody>
          <a:bodyPr wrap="square" lIns="0" tIns="0" rIns="0" bIns="0" rtlCol="0" anchor="t"/>
          <a:lstStyle/>
          <a:p>
            <a:pPr indent="0" marL="0">
              <a:buNone/>
            </a:pPr>
            <a:r>
              <a:rPr lang="en-US" sz="1800" dirty="0">
                <a:solidFill>
                  <a:schemeClr val="accent6"/>
                </a:solidFill>
              </a:rPr>
              <a:t>公式の対応表、既存CSFとの接続、審査の仕組み、ロードマップ</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公式の対応表から分かること</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独自の対応表は作らない。版が固定された OWASP Top 10 付録Aを一次根拠にする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出典：OWASP Top 10 for LLM Applications 2026, Appendix A（第6章 6.3・6.4）</a:t>
            </a:r>
            <a:endParaRPr lang="en-US" sz="1000" dirty="0"/>
          </a:p>
        </p:txBody>
      </p:sp>
      <p:sp>
        <p:nvSpPr>
          <p:cNvPr id="6" name="card-279"/>
          <p:cNvSpPr/>
          <p:nvPr/>
        </p:nvSpPr>
        <p:spPr>
          <a:xfrm>
            <a:off x="548640" y="1691640"/>
            <a:ext cx="5440680" cy="3566160"/>
          </a:xfrm>
          <a:prstGeom prst="roundRect">
            <a:avLst>
              <a:gd name="adj" fmla="val 2051"/>
            </a:avLst>
          </a:prstGeom>
          <a:solidFill>
            <a:schemeClr val="bg2"/>
          </a:solidFill>
          <a:ln w="12700">
            <a:solidFill>
              <a:schemeClr val="bg2"/>
            </a:solidFill>
            <a:prstDash val="solid"/>
          </a:ln>
        </p:spPr>
      </p:sp>
      <p:sp>
        <p:nvSpPr>
          <p:cNvPr id="7" name="chip-280"/>
          <p:cNvSpPr txBox="1"/>
          <p:nvPr/>
        </p:nvSpPr>
        <p:spPr>
          <a:xfrm>
            <a:off x="822960" y="1920240"/>
            <a:ext cx="2377440" cy="365760"/>
          </a:xfrm>
          <a:prstGeom prst="roundRect">
            <a:avLst>
              <a:gd name="adj" fmla="val 40000"/>
            </a:avLst>
          </a:prstGeom>
          <a:solidFill>
            <a:schemeClr val="accent1"/>
          </a:solidFill>
          <a:ln/>
        </p:spPr>
        <p:txBody>
          <a:bodyPr wrap="square" lIns="0" tIns="0" rIns="0" bIns="0" rtlCol="0" anchor="ctr"/>
          <a:lstStyle/>
          <a:p>
            <a:pPr algn="ctr" indent="0" marL="0">
              <a:buNone/>
            </a:pPr>
            <a:r>
              <a:rPr lang="en-US" sz="1300" b="1" dirty="0">
                <a:solidFill>
                  <a:schemeClr val="bg1"/>
                </a:solidFill>
              </a:rPr>
              <a:t>OWASP × NIST AI 600-1</a:t>
            </a:r>
            <a:endParaRPr lang="en-US" sz="1300" dirty="0"/>
          </a:p>
        </p:txBody>
      </p:sp>
      <p:sp>
        <p:nvSpPr>
          <p:cNvPr id="8" name="text-281"/>
          <p:cNvSpPr txBox="1"/>
          <p:nvPr/>
        </p:nvSpPr>
        <p:spPr>
          <a:xfrm>
            <a:off x="822960" y="2423160"/>
            <a:ext cx="2194560" cy="914400"/>
          </a:xfrm>
          <a:prstGeom prst="rect">
            <a:avLst/>
          </a:prstGeom>
          <a:noFill/>
          <a:ln/>
        </p:spPr>
        <p:txBody>
          <a:bodyPr wrap="square" lIns="0" tIns="0" rIns="0" bIns="0" rtlCol="0" anchor="ctr"/>
          <a:lstStyle/>
          <a:p>
            <a:pPr indent="0" marL="0">
              <a:buNone/>
            </a:pPr>
            <a:r>
              <a:rPr lang="en-US" sz="4400" b="1" dirty="0">
                <a:solidFill>
                  <a:schemeClr val="accent1"/>
                </a:solidFill>
              </a:rPr>
              <a:t>9 / 10</a:t>
            </a:r>
            <a:endParaRPr lang="en-US" sz="4400" dirty="0"/>
          </a:p>
        </p:txBody>
      </p:sp>
      <p:sp>
        <p:nvSpPr>
          <p:cNvPr id="9" name="text-282"/>
          <p:cNvSpPr txBox="1"/>
          <p:nvPr/>
        </p:nvSpPr>
        <p:spPr>
          <a:xfrm>
            <a:off x="3108960" y="2514600"/>
            <a:ext cx="2651760" cy="777240"/>
          </a:xfrm>
          <a:prstGeom prst="rect">
            <a:avLst/>
          </a:prstGeom>
          <a:noFill/>
          <a:ln/>
        </p:spPr>
        <p:txBody>
          <a:bodyPr wrap="square" lIns="0" tIns="0" rIns="0" bIns="0" rtlCol="0" anchor="ctr"/>
          <a:lstStyle/>
          <a:p>
            <a:pPr indent="0" marL="0">
              <a:buNone/>
            </a:pPr>
            <a:r>
              <a:rPr lang="en-US" sz="1400" b="1" dirty="0">
                <a:solidFill>
                  <a:schemeClr val="tx2"/>
                </a:solidFill>
              </a:rPr>
              <a:t>「情報セキュリティ」が主要な対応となるOWASPリスク</a:t>
            </a:r>
            <a:endParaRPr lang="en-US" sz="1400" dirty="0"/>
          </a:p>
        </p:txBody>
      </p:sp>
      <p:sp>
        <p:nvSpPr>
          <p:cNvPr id="10" name="text-283"/>
          <p:cNvSpPr txBox="1"/>
          <p:nvPr/>
        </p:nvSpPr>
        <p:spPr>
          <a:xfrm>
            <a:off x="822960" y="3566160"/>
            <a:ext cx="489204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10リスクすべてが情報セキュリティにかかわる</a:t>
            </a:r>
            <a:endParaRPr lang="en-US" sz="1400" dirty="0"/>
          </a:p>
          <a:p>
            <a:pPr marL="342900" indent="-342900">
              <a:spcAft>
                <a:spcPts val="800"/>
              </a:spcAft>
              <a:buSzPct val="100000"/>
              <a:buChar char="•"/>
            </a:pPr>
            <a:r>
              <a:rPr lang="en-US" sz="1400" dirty="0">
                <a:solidFill>
                  <a:schemeClr val="tx1"/>
                </a:solidFill>
              </a:rPr>
              <a:t>誤情報（LLM07）は「情報の完全性・作話・人間とAIの構成」と強く結びつく</a:t>
            </a:r>
            <a:endParaRPr lang="en-US" sz="1400" dirty="0"/>
          </a:p>
          <a:p>
            <a:pPr marL="342900" indent="-342900">
              <a:spcAft>
                <a:spcPts val="800"/>
              </a:spcAft>
              <a:buSzPct val="100000"/>
              <a:buChar char="•"/>
            </a:pPr>
            <a:r>
              <a:rPr lang="en-US" sz="1400" dirty="0">
                <a:solidFill>
                  <a:schemeClr val="tx1"/>
                </a:solidFill>
              </a:rPr>
              <a:t>→ 業務部門の利用ルール（検証してから使う）とセットで管理する</a:t>
            </a:r>
            <a:endParaRPr lang="en-US" sz="1400" dirty="0"/>
          </a:p>
        </p:txBody>
      </p:sp>
      <p:sp>
        <p:nvSpPr>
          <p:cNvPr id="11" name="card-284"/>
          <p:cNvSpPr/>
          <p:nvPr/>
        </p:nvSpPr>
        <p:spPr>
          <a:xfrm>
            <a:off x="6172200" y="1691640"/>
            <a:ext cx="5440680" cy="3566160"/>
          </a:xfrm>
          <a:prstGeom prst="roundRect">
            <a:avLst>
              <a:gd name="adj" fmla="val 2051"/>
            </a:avLst>
          </a:prstGeom>
          <a:solidFill>
            <a:schemeClr val="bg2"/>
          </a:solidFill>
          <a:ln w="12700">
            <a:solidFill>
              <a:schemeClr val="bg2"/>
            </a:solidFill>
            <a:prstDash val="solid"/>
          </a:ln>
        </p:spPr>
      </p:sp>
      <p:sp>
        <p:nvSpPr>
          <p:cNvPr id="12" name="chip-285"/>
          <p:cNvSpPr txBox="1"/>
          <p:nvPr/>
        </p:nvSpPr>
        <p:spPr>
          <a:xfrm>
            <a:off x="6446520" y="1920240"/>
            <a:ext cx="2377440" cy="365760"/>
          </a:xfrm>
          <a:prstGeom prst="roundRect">
            <a:avLst>
              <a:gd name="adj" fmla="val 40000"/>
            </a:avLst>
          </a:prstGeom>
          <a:solidFill>
            <a:schemeClr val="accent2"/>
          </a:solidFill>
          <a:ln/>
        </p:spPr>
        <p:txBody>
          <a:bodyPr wrap="square" lIns="0" tIns="0" rIns="0" bIns="0" rtlCol="0" anchor="ctr"/>
          <a:lstStyle/>
          <a:p>
            <a:pPr algn="ctr" indent="0" marL="0">
              <a:buNone/>
            </a:pPr>
            <a:r>
              <a:rPr lang="en-US" sz="1300" b="1" dirty="0">
                <a:solidFill>
                  <a:schemeClr val="bg1"/>
                </a:solidFill>
              </a:rPr>
              <a:t>OWASP × NIST AI RMF</a:t>
            </a:r>
            <a:endParaRPr lang="en-US" sz="1300" dirty="0"/>
          </a:p>
        </p:txBody>
      </p:sp>
      <p:sp>
        <p:nvSpPr>
          <p:cNvPr id="13" name="text-286"/>
          <p:cNvSpPr txBox="1"/>
          <p:nvPr/>
        </p:nvSpPr>
        <p:spPr>
          <a:xfrm>
            <a:off x="6446520" y="2423160"/>
            <a:ext cx="2194560" cy="914400"/>
          </a:xfrm>
          <a:prstGeom prst="rect">
            <a:avLst/>
          </a:prstGeom>
          <a:noFill/>
          <a:ln/>
        </p:spPr>
        <p:txBody>
          <a:bodyPr wrap="square" lIns="0" tIns="0" rIns="0" bIns="0" rtlCol="0" anchor="ctr"/>
          <a:lstStyle/>
          <a:p>
            <a:pPr indent="0" marL="0">
              <a:buNone/>
            </a:pPr>
            <a:r>
              <a:rPr lang="en-US" sz="4400" b="1" dirty="0">
                <a:solidFill>
                  <a:schemeClr val="accent2"/>
                </a:solidFill>
              </a:rPr>
              <a:t>2 / 10</a:t>
            </a:r>
            <a:endParaRPr lang="en-US" sz="4400" dirty="0"/>
          </a:p>
        </p:txBody>
      </p:sp>
      <p:sp>
        <p:nvSpPr>
          <p:cNvPr id="14" name="text-287"/>
          <p:cNvSpPr txBox="1"/>
          <p:nvPr/>
        </p:nvSpPr>
        <p:spPr>
          <a:xfrm>
            <a:off x="8732520" y="2514600"/>
            <a:ext cx="2651760" cy="777240"/>
          </a:xfrm>
          <a:prstGeom prst="rect">
            <a:avLst/>
          </a:prstGeom>
          <a:noFill/>
          <a:ln/>
        </p:spPr>
        <p:txBody>
          <a:bodyPr wrap="square" lIns="0" tIns="0" rIns="0" bIns="0" rtlCol="0" anchor="ctr"/>
          <a:lstStyle/>
          <a:p>
            <a:pPr indent="0" marL="0">
              <a:buNone/>
            </a:pPr>
            <a:r>
              <a:rPr lang="en-US" sz="1400" b="1" dirty="0">
                <a:solidFill>
                  <a:schemeClr val="tx2"/>
                </a:solidFill>
              </a:rPr>
              <a:t>AI RMF のカテゴリとほぼそのまま対応するOWASPリスク</a:t>
            </a:r>
            <a:endParaRPr lang="en-US" sz="1400" dirty="0"/>
          </a:p>
        </p:txBody>
      </p:sp>
      <p:sp>
        <p:nvSpPr>
          <p:cNvPr id="15" name="text-288"/>
          <p:cNvSpPr txBox="1"/>
          <p:nvPr/>
        </p:nvSpPr>
        <p:spPr>
          <a:xfrm>
            <a:off x="6446520" y="3566160"/>
            <a:ext cx="489204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LLM04 → GOVERN 6・MAP 4・MANAGE 3</a:t>
            </a:r>
            <a:endParaRPr lang="en-US" sz="1400" dirty="0"/>
          </a:p>
          <a:p>
            <a:pPr marL="342900" indent="-342900">
              <a:spcAft>
                <a:spcPts val="800"/>
              </a:spcAft>
              <a:buSzPct val="100000"/>
              <a:buChar char="•"/>
            </a:pPr>
            <a:r>
              <a:rPr lang="en-US" sz="1400" dirty="0">
                <a:solidFill>
                  <a:schemeClr val="tx1"/>
                </a:solidFill>
              </a:rPr>
              <a:t>LLM07 → MEASURE 2</a:t>
            </a:r>
            <a:endParaRPr lang="en-US" sz="1400" dirty="0"/>
          </a:p>
          <a:p>
            <a:pPr marL="342900" indent="-342900">
              <a:spcAft>
                <a:spcPts val="800"/>
              </a:spcAft>
              <a:buSzPct val="100000"/>
              <a:buChar char="•"/>
            </a:pPr>
            <a:r>
              <a:rPr lang="en-US" sz="1400" dirty="0">
                <a:solidFill>
                  <a:schemeClr val="tx1"/>
                </a:solidFill>
              </a:rPr>
              <a:t>残りは補助的な対応、LLM10 は対応なし → 二層構造が必要な根拠</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既存のCSF運用で、まず生成AIを含めるべき箇所</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OWASPの20リスク（LLM・Agentic）の主要な対応先は、既存のCSFサブカテゴリに集中している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出典：OWASP GenAI Security Crosswalk v4.0.0（LLM×CSF 2026-Q3、Agentic×CSF 2026-Q1）を集計（第6章 6.5）</a:t>
            </a:r>
            <a:endParaRPr lang="en-US" sz="1000" dirty="0"/>
          </a:p>
        </p:txBody>
      </p:sp>
      <p:graphicFrame>
        <p:nvGraphicFramePr>
          <p:cNvPr id="6" name="chart-289" descr=""/>
          <p:cNvGraphicFramePr/>
          <p:nvPr/>
        </p:nvGraphicFramePr>
        <p:xfrm>
          <a:off x="548640" y="1645920"/>
          <a:ext cx="6309360" cy="4617720"/>
        </p:xfrm>
        <a:graphic xmlns:a="http://schemas.openxmlformats.org/drawingml/2006/main">
          <a:graphicData uri="http://schemas.openxmlformats.org/drawingml/2006/chart">
            <c:chart xmlns:c="http://schemas.openxmlformats.org/drawingml/2006/chart" r:id="rId1"/>
          </a:graphicData>
        </a:graphic>
      </p:graphicFrame>
      <p:sp>
        <p:nvSpPr>
          <p:cNvPr id="7" name="card-290"/>
          <p:cNvSpPr/>
          <p:nvPr/>
        </p:nvSpPr>
        <p:spPr>
          <a:xfrm>
            <a:off x="7132320" y="1691640"/>
            <a:ext cx="4480560" cy="4480560"/>
          </a:xfrm>
          <a:prstGeom prst="roundRect">
            <a:avLst>
              <a:gd name="adj" fmla="val 1633"/>
            </a:avLst>
          </a:prstGeom>
          <a:solidFill>
            <a:schemeClr val="bg2"/>
          </a:solidFill>
          <a:ln w="12700">
            <a:solidFill>
              <a:schemeClr val="bg2"/>
            </a:solidFill>
            <a:prstDash val="solid"/>
          </a:ln>
        </p:spPr>
      </p:sp>
      <p:sp>
        <p:nvSpPr>
          <p:cNvPr id="8" name="text-291"/>
          <p:cNvSpPr txBox="1"/>
          <p:nvPr/>
        </p:nvSpPr>
        <p:spPr>
          <a:xfrm>
            <a:off x="7406640" y="1874520"/>
            <a:ext cx="4023360" cy="411480"/>
          </a:xfrm>
          <a:prstGeom prst="rect">
            <a:avLst/>
          </a:prstGeom>
          <a:noFill/>
          <a:ln/>
        </p:spPr>
        <p:txBody>
          <a:bodyPr wrap="square" lIns="0" tIns="0" rIns="0" bIns="0" rtlCol="0" anchor="t"/>
          <a:lstStyle/>
          <a:p>
            <a:pPr indent="0" marL="0">
              <a:buNone/>
            </a:pPr>
            <a:r>
              <a:rPr lang="en-US" sz="1700" b="1" dirty="0">
                <a:solidFill>
                  <a:schemeClr val="tx2"/>
                </a:solidFill>
              </a:rPr>
              <a:t>既存運用への追加事項</a:t>
            </a:r>
            <a:endParaRPr lang="en-US" sz="1700" dirty="0"/>
          </a:p>
        </p:txBody>
      </p:sp>
      <p:sp>
        <p:nvSpPr>
          <p:cNvPr id="9" name="chip-292"/>
          <p:cNvSpPr txBox="1"/>
          <p:nvPr/>
        </p:nvSpPr>
        <p:spPr>
          <a:xfrm>
            <a:off x="7406640" y="2423160"/>
            <a:ext cx="1188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DE.CM-01</a:t>
            </a:r>
            <a:endParaRPr lang="en-US" sz="1100" dirty="0"/>
          </a:p>
        </p:txBody>
      </p:sp>
      <p:sp>
        <p:nvSpPr>
          <p:cNvPr id="10" name="text-293"/>
          <p:cNvSpPr txBox="1"/>
          <p:nvPr/>
        </p:nvSpPr>
        <p:spPr>
          <a:xfrm>
            <a:off x="8732520" y="2377440"/>
            <a:ext cx="2743200" cy="685800"/>
          </a:xfrm>
          <a:prstGeom prst="rect">
            <a:avLst/>
          </a:prstGeom>
          <a:noFill/>
          <a:ln/>
        </p:spPr>
        <p:txBody>
          <a:bodyPr wrap="square" lIns="0" tIns="0" rIns="0" bIns="0" rtlCol="0" anchor="t"/>
          <a:lstStyle/>
          <a:p>
            <a:pPr indent="0" marL="0">
              <a:buNone/>
            </a:pPr>
            <a:r>
              <a:rPr lang="en-US" sz="1300" dirty="0">
                <a:solidFill>
                  <a:schemeClr val="tx1"/>
                </a:solidFill>
              </a:rPr>
              <a:t>プロンプト・ツール呼出・トークン消費を監視対象に加える</a:t>
            </a:r>
            <a:endParaRPr lang="en-US" sz="1300" dirty="0"/>
          </a:p>
        </p:txBody>
      </p:sp>
      <p:sp>
        <p:nvSpPr>
          <p:cNvPr id="11" name="chip-294"/>
          <p:cNvSpPr txBox="1"/>
          <p:nvPr/>
        </p:nvSpPr>
        <p:spPr>
          <a:xfrm>
            <a:off x="7406640" y="3154680"/>
            <a:ext cx="1188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PR.DS</a:t>
            </a:r>
            <a:endParaRPr lang="en-US" sz="1100" dirty="0"/>
          </a:p>
        </p:txBody>
      </p:sp>
      <p:sp>
        <p:nvSpPr>
          <p:cNvPr id="12" name="text-295"/>
          <p:cNvSpPr txBox="1"/>
          <p:nvPr/>
        </p:nvSpPr>
        <p:spPr>
          <a:xfrm>
            <a:off x="8732520" y="3108960"/>
            <a:ext cx="2743200" cy="685800"/>
          </a:xfrm>
          <a:prstGeom prst="rect">
            <a:avLst/>
          </a:prstGeom>
          <a:noFill/>
          <a:ln/>
        </p:spPr>
        <p:txBody>
          <a:bodyPr wrap="square" lIns="0" tIns="0" rIns="0" bIns="0" rtlCol="0" anchor="t"/>
          <a:lstStyle/>
          <a:p>
            <a:pPr indent="0" marL="0">
              <a:buNone/>
            </a:pPr>
            <a:r>
              <a:rPr lang="en-US" sz="1300" dirty="0">
                <a:solidFill>
                  <a:schemeClr val="tx1"/>
                </a:solidFill>
              </a:rPr>
              <a:t>ベクトルDB・埋め込み・プロンプトログを機密データとして扱う</a:t>
            </a:r>
            <a:endParaRPr lang="en-US" sz="1300" dirty="0"/>
          </a:p>
        </p:txBody>
      </p:sp>
      <p:sp>
        <p:nvSpPr>
          <p:cNvPr id="13" name="chip-296"/>
          <p:cNvSpPr txBox="1"/>
          <p:nvPr/>
        </p:nvSpPr>
        <p:spPr>
          <a:xfrm>
            <a:off x="7406640" y="3886200"/>
            <a:ext cx="1188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PR.AA</a:t>
            </a:r>
            <a:endParaRPr lang="en-US" sz="1100" dirty="0"/>
          </a:p>
        </p:txBody>
      </p:sp>
      <p:sp>
        <p:nvSpPr>
          <p:cNvPr id="14" name="text-297"/>
          <p:cNvSpPr txBox="1"/>
          <p:nvPr/>
        </p:nvSpPr>
        <p:spPr>
          <a:xfrm>
            <a:off x="8732520" y="3840480"/>
            <a:ext cx="2743200" cy="685800"/>
          </a:xfrm>
          <a:prstGeom prst="rect">
            <a:avLst/>
          </a:prstGeom>
          <a:noFill/>
          <a:ln/>
        </p:spPr>
        <p:txBody>
          <a:bodyPr wrap="square" lIns="0" tIns="0" rIns="0" bIns="0" rtlCol="0" anchor="t"/>
          <a:lstStyle/>
          <a:p>
            <a:pPr indent="0" marL="0">
              <a:buNone/>
            </a:pPr>
            <a:r>
              <a:rPr lang="en-US" sz="1300" dirty="0">
                <a:solidFill>
                  <a:schemeClr val="tx1"/>
                </a:solidFill>
              </a:rPr>
              <a:t>エージェントを非人間IDとして管理し、最小権限で動かす</a:t>
            </a:r>
            <a:endParaRPr lang="en-US" sz="1300" dirty="0"/>
          </a:p>
        </p:txBody>
      </p:sp>
      <p:sp>
        <p:nvSpPr>
          <p:cNvPr id="15" name="chip-298"/>
          <p:cNvSpPr txBox="1"/>
          <p:nvPr/>
        </p:nvSpPr>
        <p:spPr>
          <a:xfrm>
            <a:off x="7406640" y="4617720"/>
            <a:ext cx="1188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GV.SC</a:t>
            </a:r>
            <a:endParaRPr lang="en-US" sz="1100" dirty="0"/>
          </a:p>
        </p:txBody>
      </p:sp>
      <p:sp>
        <p:nvSpPr>
          <p:cNvPr id="16" name="text-299"/>
          <p:cNvSpPr txBox="1"/>
          <p:nvPr/>
        </p:nvSpPr>
        <p:spPr>
          <a:xfrm>
            <a:off x="8732520" y="4572000"/>
            <a:ext cx="2743200" cy="685800"/>
          </a:xfrm>
          <a:prstGeom prst="rect">
            <a:avLst/>
          </a:prstGeom>
          <a:noFill/>
          <a:ln/>
        </p:spPr>
        <p:txBody>
          <a:bodyPr wrap="square" lIns="0" tIns="0" rIns="0" bIns="0" rtlCol="0" anchor="t"/>
          <a:lstStyle/>
          <a:p>
            <a:pPr indent="0" marL="0">
              <a:buNone/>
            </a:pPr>
            <a:r>
              <a:rPr lang="en-US" sz="1300" dirty="0">
                <a:solidFill>
                  <a:schemeClr val="tx1"/>
                </a:solidFill>
              </a:rPr>
              <a:t>モデル・データ・MCPサーバの提供者を供給者管理に加える</a:t>
            </a:r>
            <a:endParaRPr lang="en-US" sz="1300" dirty="0"/>
          </a:p>
        </p:txBody>
      </p:sp>
      <p:sp>
        <p:nvSpPr>
          <p:cNvPr id="17" name="chip-300"/>
          <p:cNvSpPr txBox="1"/>
          <p:nvPr/>
        </p:nvSpPr>
        <p:spPr>
          <a:xfrm>
            <a:off x="7406640" y="5349240"/>
            <a:ext cx="11887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ID.AM-08</a:t>
            </a:r>
            <a:endParaRPr lang="en-US" sz="1100" dirty="0"/>
          </a:p>
        </p:txBody>
      </p:sp>
      <p:sp>
        <p:nvSpPr>
          <p:cNvPr id="18" name="text-301"/>
          <p:cNvSpPr txBox="1"/>
          <p:nvPr/>
        </p:nvSpPr>
        <p:spPr>
          <a:xfrm>
            <a:off x="8732520" y="5303520"/>
            <a:ext cx="2743200" cy="685800"/>
          </a:xfrm>
          <a:prstGeom prst="rect">
            <a:avLst/>
          </a:prstGeom>
          <a:noFill/>
          <a:ln/>
        </p:spPr>
        <p:txBody>
          <a:bodyPr wrap="square" lIns="0" tIns="0" rIns="0" bIns="0" rtlCol="0" anchor="t"/>
          <a:lstStyle/>
          <a:p>
            <a:pPr indent="0" marL="0">
              <a:buNone/>
            </a:pPr>
            <a:r>
              <a:rPr lang="en-US" sz="1300" dirty="0">
                <a:solidFill>
                  <a:schemeClr val="tx1"/>
                </a:solidFill>
              </a:rPr>
              <a:t>AI資産台帳を既存の資産台帳と統合する</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同じ生成AIでも、RAG型とエージェント型では審査の焦点が違う</a:t>
            </a:r>
            <a:endParaRPr lang="en-US" sz="2800" dirty="0"/>
          </a:p>
        </p:txBody>
      </p:sp>
      <p:sp>
        <p:nvSpPr>
          <p:cNvPr id="3"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出典：第7章（COSAiS のユースケース区分に対応）</a:t>
            </a:r>
            <a:endParaRPr lang="en-US" sz="1000" dirty="0"/>
          </a:p>
        </p:txBody>
      </p:sp>
      <p:sp>
        <p:nvSpPr>
          <p:cNvPr id="5" name="card-302"/>
          <p:cNvSpPr/>
          <p:nvPr/>
        </p:nvSpPr>
        <p:spPr>
          <a:xfrm>
            <a:off x="548640" y="1188720"/>
            <a:ext cx="5440680" cy="777240"/>
          </a:xfrm>
          <a:prstGeom prst="roundRect">
            <a:avLst>
              <a:gd name="adj" fmla="val 9412"/>
            </a:avLst>
          </a:prstGeom>
          <a:solidFill>
            <a:schemeClr val="accent1"/>
          </a:solidFill>
          <a:ln w="12700">
            <a:solidFill>
              <a:schemeClr val="accent1"/>
            </a:solidFill>
            <a:prstDash val="solid"/>
          </a:ln>
        </p:spPr>
      </p:sp>
      <p:sp>
        <p:nvSpPr>
          <p:cNvPr id="6" name="text-303"/>
          <p:cNvSpPr txBox="1"/>
          <p:nvPr/>
        </p:nvSpPr>
        <p:spPr>
          <a:xfrm>
            <a:off x="822960" y="1188720"/>
            <a:ext cx="4892040" cy="777240"/>
          </a:xfrm>
          <a:prstGeom prst="rect">
            <a:avLst/>
          </a:prstGeom>
          <a:noFill/>
          <a:ln/>
        </p:spPr>
        <p:txBody>
          <a:bodyPr wrap="square" lIns="0" tIns="0" rIns="0" bIns="0" rtlCol="0" anchor="ctr"/>
          <a:lstStyle/>
          <a:p>
            <a:pPr indent="0" marL="0">
              <a:buNone/>
            </a:pPr>
            <a:r>
              <a:rPr lang="en-US" sz="2000" b="1" dirty="0">
                <a:solidFill>
                  <a:schemeClr val="bg1"/>
                </a:solidFill>
              </a:rPr>
              <a:t>RAG型　</a:t>
            </a:r>
            <a:pPr indent="0" marL="0">
              <a:buNone/>
            </a:pPr>
            <a:r>
              <a:rPr lang="en-US" sz="1400" dirty="0">
                <a:solidFill>
                  <a:schemeClr val="bg1"/>
                </a:solidFill>
              </a:rPr>
              <a:t>社内FAQボットなど</a:t>
            </a:r>
            <a:endParaRPr lang="en-US" sz="1400" dirty="0"/>
          </a:p>
        </p:txBody>
      </p:sp>
      <p:sp>
        <p:nvSpPr>
          <p:cNvPr id="7" name="card-304"/>
          <p:cNvSpPr/>
          <p:nvPr/>
        </p:nvSpPr>
        <p:spPr>
          <a:xfrm>
            <a:off x="548640" y="2057400"/>
            <a:ext cx="5440680" cy="4160520"/>
          </a:xfrm>
          <a:prstGeom prst="roundRect">
            <a:avLst>
              <a:gd name="adj" fmla="val 1758"/>
            </a:avLst>
          </a:prstGeom>
          <a:solidFill>
            <a:schemeClr val="bg2"/>
          </a:solidFill>
          <a:ln w="12700">
            <a:solidFill>
              <a:schemeClr val="bg2"/>
            </a:solidFill>
            <a:prstDash val="solid"/>
          </a:ln>
        </p:spPr>
      </p:sp>
      <p:sp>
        <p:nvSpPr>
          <p:cNvPr id="8" name="text-305"/>
          <p:cNvSpPr txBox="1"/>
          <p:nvPr/>
        </p:nvSpPr>
        <p:spPr>
          <a:xfrm>
            <a:off x="822960" y="2240280"/>
            <a:ext cx="1417320" cy="685800"/>
          </a:xfrm>
          <a:prstGeom prst="rect">
            <a:avLst/>
          </a:prstGeom>
          <a:noFill/>
          <a:ln/>
        </p:spPr>
        <p:txBody>
          <a:bodyPr wrap="square" lIns="0" tIns="0" rIns="0" bIns="0" rtlCol="0" anchor="t"/>
          <a:lstStyle/>
          <a:p>
            <a:pPr indent="0" marL="0">
              <a:buNone/>
            </a:pPr>
            <a:r>
              <a:rPr lang="en-US" sz="1300" b="1" dirty="0">
                <a:solidFill>
                  <a:schemeClr val="accent4"/>
                </a:solidFill>
              </a:rPr>
              <a:t>焦点</a:t>
            </a:r>
            <a:endParaRPr lang="en-US" sz="1300" dirty="0"/>
          </a:p>
        </p:txBody>
      </p:sp>
      <p:sp>
        <p:nvSpPr>
          <p:cNvPr id="9" name="text-306"/>
          <p:cNvSpPr txBox="1"/>
          <p:nvPr/>
        </p:nvSpPr>
        <p:spPr>
          <a:xfrm>
            <a:off x="2286000" y="2240280"/>
            <a:ext cx="3429000" cy="731520"/>
          </a:xfrm>
          <a:prstGeom prst="rect">
            <a:avLst/>
          </a:prstGeom>
          <a:noFill/>
          <a:ln/>
        </p:spPr>
        <p:txBody>
          <a:bodyPr wrap="square" lIns="0" tIns="0" rIns="0" bIns="0" rtlCol="0" anchor="t"/>
          <a:lstStyle/>
          <a:p>
            <a:pPr indent="0" marL="0">
              <a:buNone/>
            </a:pPr>
            <a:r>
              <a:rPr lang="en-US" sz="1400" dirty="0">
                <a:solidFill>
                  <a:schemeClr val="tx1"/>
                </a:solidFill>
              </a:rPr>
              <a:t>データの境界：誰がどの文書を見られるか、何が漏れるか、誤答をどう検証させるか</a:t>
            </a:r>
            <a:endParaRPr lang="en-US" sz="1400" dirty="0"/>
          </a:p>
        </p:txBody>
      </p:sp>
      <p:sp>
        <p:nvSpPr>
          <p:cNvPr id="10" name="text-307"/>
          <p:cNvSpPr txBox="1"/>
          <p:nvPr/>
        </p:nvSpPr>
        <p:spPr>
          <a:xfrm>
            <a:off x="822960" y="3026664"/>
            <a:ext cx="1417320" cy="685800"/>
          </a:xfrm>
          <a:prstGeom prst="rect">
            <a:avLst/>
          </a:prstGeom>
          <a:noFill/>
          <a:ln/>
        </p:spPr>
        <p:txBody>
          <a:bodyPr wrap="square" lIns="0" tIns="0" rIns="0" bIns="0" rtlCol="0" anchor="t"/>
          <a:lstStyle/>
          <a:p>
            <a:pPr indent="0" marL="0">
              <a:buNone/>
            </a:pPr>
            <a:r>
              <a:rPr lang="en-US" sz="1300" b="1" dirty="0">
                <a:solidFill>
                  <a:schemeClr val="accent4"/>
                </a:solidFill>
              </a:rPr>
              <a:t>Rule of Two</a:t>
            </a:r>
            <a:endParaRPr lang="en-US" sz="1300" dirty="0"/>
          </a:p>
        </p:txBody>
      </p:sp>
      <p:sp>
        <p:nvSpPr>
          <p:cNvPr id="11" name="text-308"/>
          <p:cNvSpPr txBox="1"/>
          <p:nvPr/>
        </p:nvSpPr>
        <p:spPr>
          <a:xfrm>
            <a:off x="2286000" y="3026664"/>
            <a:ext cx="3429000" cy="731520"/>
          </a:xfrm>
          <a:prstGeom prst="rect">
            <a:avLst/>
          </a:prstGeom>
          <a:noFill/>
          <a:ln/>
        </p:spPr>
        <p:txBody>
          <a:bodyPr wrap="square" lIns="0" tIns="0" rIns="0" bIns="0" rtlCol="0" anchor="t"/>
          <a:lstStyle/>
          <a:p>
            <a:pPr indent="0" marL="0">
              <a:buNone/>
            </a:pPr>
            <a:r>
              <a:rPr lang="en-US" sz="1400" dirty="0">
                <a:solidFill>
                  <a:schemeClr val="tx1"/>
                </a:solidFill>
              </a:rPr>
              <a:t>A・B は有り、C は無し（参照のみに限定）</a:t>
            </a:r>
            <a:endParaRPr lang="en-US" sz="1400" dirty="0"/>
          </a:p>
        </p:txBody>
      </p:sp>
      <p:sp>
        <p:nvSpPr>
          <p:cNvPr id="12" name="text-309"/>
          <p:cNvSpPr txBox="1"/>
          <p:nvPr/>
        </p:nvSpPr>
        <p:spPr>
          <a:xfrm>
            <a:off x="822960" y="3813048"/>
            <a:ext cx="1417320" cy="685800"/>
          </a:xfrm>
          <a:prstGeom prst="rect">
            <a:avLst/>
          </a:prstGeom>
          <a:noFill/>
          <a:ln/>
        </p:spPr>
        <p:txBody>
          <a:bodyPr wrap="square" lIns="0" tIns="0" rIns="0" bIns="0" rtlCol="0" anchor="t"/>
          <a:lstStyle/>
          <a:p>
            <a:pPr indent="0" marL="0">
              <a:buNone/>
            </a:pPr>
            <a:r>
              <a:rPr lang="en-US" sz="1300" b="1" dirty="0">
                <a:solidFill>
                  <a:schemeClr val="accent4"/>
                </a:solidFill>
              </a:rPr>
              <a:t>最優先リスク</a:t>
            </a:r>
            <a:endParaRPr lang="en-US" sz="1300" dirty="0"/>
          </a:p>
        </p:txBody>
      </p:sp>
      <p:sp>
        <p:nvSpPr>
          <p:cNvPr id="13" name="chip-310"/>
          <p:cNvSpPr txBox="1"/>
          <p:nvPr/>
        </p:nvSpPr>
        <p:spPr>
          <a:xfrm>
            <a:off x="2286000" y="3813048"/>
            <a:ext cx="658368" cy="274320"/>
          </a:xfrm>
          <a:prstGeom prst="roundRect">
            <a:avLst>
              <a:gd name="adj" fmla="val 53333"/>
            </a:avLst>
          </a:prstGeom>
          <a:solidFill>
            <a:schemeClr val="accent3"/>
          </a:solidFill>
          <a:ln/>
        </p:spPr>
        <p:txBody>
          <a:bodyPr wrap="square" lIns="0" tIns="0" rIns="0" bIns="0" rtlCol="0" anchor="ctr"/>
          <a:lstStyle/>
          <a:p>
            <a:pPr algn="ctr" indent="0" marL="0">
              <a:buNone/>
            </a:pPr>
            <a:r>
              <a:rPr lang="en-US" sz="1000" b="1" dirty="0">
                <a:solidFill>
                  <a:schemeClr val="bg1"/>
                </a:solidFill>
              </a:rPr>
              <a:t>LLM02</a:t>
            </a:r>
            <a:endParaRPr lang="en-US" sz="1000" dirty="0"/>
          </a:p>
        </p:txBody>
      </p:sp>
      <p:sp>
        <p:nvSpPr>
          <p:cNvPr id="14" name="chip-311"/>
          <p:cNvSpPr txBox="1"/>
          <p:nvPr/>
        </p:nvSpPr>
        <p:spPr>
          <a:xfrm>
            <a:off x="2999232" y="3813048"/>
            <a:ext cx="658368" cy="274320"/>
          </a:xfrm>
          <a:prstGeom prst="roundRect">
            <a:avLst>
              <a:gd name="adj" fmla="val 53333"/>
            </a:avLst>
          </a:prstGeom>
          <a:solidFill>
            <a:schemeClr val="accent3"/>
          </a:solidFill>
          <a:ln/>
        </p:spPr>
        <p:txBody>
          <a:bodyPr wrap="square" lIns="0" tIns="0" rIns="0" bIns="0" rtlCol="0" anchor="ctr"/>
          <a:lstStyle/>
          <a:p>
            <a:pPr algn="ctr" indent="0" marL="0">
              <a:buNone/>
            </a:pPr>
            <a:r>
              <a:rPr lang="en-US" sz="1000" b="1" dirty="0">
                <a:solidFill>
                  <a:schemeClr val="bg1"/>
                </a:solidFill>
              </a:rPr>
              <a:t>LLM09</a:t>
            </a:r>
            <a:endParaRPr lang="en-US" sz="1000" dirty="0"/>
          </a:p>
        </p:txBody>
      </p:sp>
      <p:sp>
        <p:nvSpPr>
          <p:cNvPr id="15" name="chip-312"/>
          <p:cNvSpPr txBox="1"/>
          <p:nvPr/>
        </p:nvSpPr>
        <p:spPr>
          <a:xfrm>
            <a:off x="3712464" y="3813048"/>
            <a:ext cx="658368" cy="274320"/>
          </a:xfrm>
          <a:prstGeom prst="roundRect">
            <a:avLst>
              <a:gd name="adj" fmla="val 53333"/>
            </a:avLst>
          </a:prstGeom>
          <a:solidFill>
            <a:schemeClr val="accent3"/>
          </a:solidFill>
          <a:ln/>
        </p:spPr>
        <p:txBody>
          <a:bodyPr wrap="square" lIns="0" tIns="0" rIns="0" bIns="0" rtlCol="0" anchor="ctr"/>
          <a:lstStyle/>
          <a:p>
            <a:pPr algn="ctr" indent="0" marL="0">
              <a:buNone/>
            </a:pPr>
            <a:r>
              <a:rPr lang="en-US" sz="1000" b="1" dirty="0">
                <a:solidFill>
                  <a:schemeClr val="bg1"/>
                </a:solidFill>
              </a:rPr>
              <a:t>LLM07</a:t>
            </a:r>
            <a:endParaRPr lang="en-US" sz="1000" dirty="0"/>
          </a:p>
        </p:txBody>
      </p:sp>
      <p:sp>
        <p:nvSpPr>
          <p:cNvPr id="16" name="text-313"/>
          <p:cNvSpPr txBox="1"/>
          <p:nvPr/>
        </p:nvSpPr>
        <p:spPr>
          <a:xfrm>
            <a:off x="822960" y="4599432"/>
            <a:ext cx="1417320" cy="685800"/>
          </a:xfrm>
          <a:prstGeom prst="rect">
            <a:avLst/>
          </a:prstGeom>
          <a:noFill/>
          <a:ln/>
        </p:spPr>
        <p:txBody>
          <a:bodyPr wrap="square" lIns="0" tIns="0" rIns="0" bIns="0" rtlCol="0" anchor="t"/>
          <a:lstStyle/>
          <a:p>
            <a:pPr indent="0" marL="0">
              <a:buNone/>
            </a:pPr>
            <a:r>
              <a:rPr lang="en-US" sz="1300" b="1" dirty="0">
                <a:solidFill>
                  <a:schemeClr val="accent4"/>
                </a:solidFill>
              </a:rPr>
              <a:t>決定的な対策</a:t>
            </a:r>
            <a:endParaRPr lang="en-US" sz="1300" dirty="0"/>
          </a:p>
        </p:txBody>
      </p:sp>
      <p:sp>
        <p:nvSpPr>
          <p:cNvPr id="17" name="text-314"/>
          <p:cNvSpPr txBox="1"/>
          <p:nvPr/>
        </p:nvSpPr>
        <p:spPr>
          <a:xfrm>
            <a:off x="2286000" y="4599432"/>
            <a:ext cx="3429000" cy="731520"/>
          </a:xfrm>
          <a:prstGeom prst="rect">
            <a:avLst/>
          </a:prstGeom>
          <a:noFill/>
          <a:ln/>
        </p:spPr>
        <p:txBody>
          <a:bodyPr wrap="square" lIns="0" tIns="0" rIns="0" bIns="0" rtlCol="0" anchor="t"/>
          <a:lstStyle/>
          <a:p>
            <a:pPr indent="0" marL="0">
              <a:buNone/>
            </a:pPr>
            <a:r>
              <a:rPr lang="en-US" sz="1400" dirty="0">
                <a:solidFill>
                  <a:schemeClr val="tx1"/>
                </a:solidFill>
              </a:rPr>
              <a:t>検索前の認可、データ側の過剰共有の解消、出典の表示</a:t>
            </a:r>
            <a:endParaRPr lang="en-US" sz="1400" dirty="0"/>
          </a:p>
        </p:txBody>
      </p:sp>
      <p:sp>
        <p:nvSpPr>
          <p:cNvPr id="18" name="text-315"/>
          <p:cNvSpPr txBox="1"/>
          <p:nvPr/>
        </p:nvSpPr>
        <p:spPr>
          <a:xfrm>
            <a:off x="822960" y="5385816"/>
            <a:ext cx="1417320" cy="685800"/>
          </a:xfrm>
          <a:prstGeom prst="rect">
            <a:avLst/>
          </a:prstGeom>
          <a:noFill/>
          <a:ln/>
        </p:spPr>
        <p:txBody>
          <a:bodyPr wrap="square" lIns="0" tIns="0" rIns="0" bIns="0" rtlCol="0" anchor="t"/>
          <a:lstStyle/>
          <a:p>
            <a:pPr indent="0" marL="0">
              <a:buNone/>
            </a:pPr>
            <a:r>
              <a:rPr lang="en-US" sz="1300" b="1" dirty="0">
                <a:solidFill>
                  <a:schemeClr val="accent4"/>
                </a:solidFill>
              </a:rPr>
              <a:t>侵入時の被害</a:t>
            </a:r>
            <a:endParaRPr lang="en-US" sz="1300" dirty="0"/>
          </a:p>
        </p:txBody>
      </p:sp>
      <p:sp>
        <p:nvSpPr>
          <p:cNvPr id="19" name="text-316"/>
          <p:cNvSpPr txBox="1"/>
          <p:nvPr/>
        </p:nvSpPr>
        <p:spPr>
          <a:xfrm>
            <a:off x="2286000" y="5385816"/>
            <a:ext cx="3429000" cy="731520"/>
          </a:xfrm>
          <a:prstGeom prst="rect">
            <a:avLst/>
          </a:prstGeom>
          <a:noFill/>
          <a:ln/>
        </p:spPr>
        <p:txBody>
          <a:bodyPr wrap="square" lIns="0" tIns="0" rIns="0" bIns="0" rtlCol="0" anchor="t"/>
          <a:lstStyle/>
          <a:p>
            <a:pPr indent="0" marL="0">
              <a:buNone/>
            </a:pPr>
            <a:r>
              <a:rPr lang="en-US" sz="1400" dirty="0">
                <a:solidFill>
                  <a:schemeClr val="tx1"/>
                </a:solidFill>
              </a:rPr>
              <a:t>情報漏洩、誤った業務判断</a:t>
            </a:r>
            <a:endParaRPr lang="en-US" sz="1400" dirty="0"/>
          </a:p>
        </p:txBody>
      </p:sp>
      <p:sp>
        <p:nvSpPr>
          <p:cNvPr id="20" name="card-317"/>
          <p:cNvSpPr/>
          <p:nvPr/>
        </p:nvSpPr>
        <p:spPr>
          <a:xfrm>
            <a:off x="6172200" y="1188720"/>
            <a:ext cx="5440680" cy="777240"/>
          </a:xfrm>
          <a:prstGeom prst="roundRect">
            <a:avLst>
              <a:gd name="adj" fmla="val 9412"/>
            </a:avLst>
          </a:prstGeom>
          <a:solidFill>
            <a:schemeClr val="accent2"/>
          </a:solidFill>
          <a:ln w="12700">
            <a:solidFill>
              <a:schemeClr val="accent2"/>
            </a:solidFill>
            <a:prstDash val="solid"/>
          </a:ln>
        </p:spPr>
      </p:sp>
      <p:sp>
        <p:nvSpPr>
          <p:cNvPr id="21" name="text-318"/>
          <p:cNvSpPr txBox="1"/>
          <p:nvPr/>
        </p:nvSpPr>
        <p:spPr>
          <a:xfrm>
            <a:off x="6446520" y="1188720"/>
            <a:ext cx="4892040" cy="777240"/>
          </a:xfrm>
          <a:prstGeom prst="rect">
            <a:avLst/>
          </a:prstGeom>
          <a:noFill/>
          <a:ln/>
        </p:spPr>
        <p:txBody>
          <a:bodyPr wrap="square" lIns="0" tIns="0" rIns="0" bIns="0" rtlCol="0" anchor="ctr"/>
          <a:lstStyle/>
          <a:p>
            <a:pPr indent="0" marL="0">
              <a:buNone/>
            </a:pPr>
            <a:r>
              <a:rPr lang="en-US" sz="2000" b="1" dirty="0">
                <a:solidFill>
                  <a:schemeClr val="bg1"/>
                </a:solidFill>
              </a:rPr>
              <a:t>エージェント型　</a:t>
            </a:r>
            <a:pPr indent="0" marL="0">
              <a:buNone/>
            </a:pPr>
            <a:r>
              <a:rPr lang="en-US" sz="1400" dirty="0">
                <a:solidFill>
                  <a:schemeClr val="bg1"/>
                </a:solidFill>
              </a:rPr>
              <a:t>チャットUI＋ハーネスなど</a:t>
            </a:r>
            <a:endParaRPr lang="en-US" sz="1400" dirty="0"/>
          </a:p>
        </p:txBody>
      </p:sp>
      <p:sp>
        <p:nvSpPr>
          <p:cNvPr id="22" name="card-319"/>
          <p:cNvSpPr/>
          <p:nvPr/>
        </p:nvSpPr>
        <p:spPr>
          <a:xfrm>
            <a:off x="6172200" y="2057400"/>
            <a:ext cx="5440680" cy="4160520"/>
          </a:xfrm>
          <a:prstGeom prst="roundRect">
            <a:avLst>
              <a:gd name="adj" fmla="val 1758"/>
            </a:avLst>
          </a:prstGeom>
          <a:solidFill>
            <a:schemeClr val="bg2"/>
          </a:solidFill>
          <a:ln w="12700">
            <a:solidFill>
              <a:schemeClr val="bg2"/>
            </a:solidFill>
            <a:prstDash val="solid"/>
          </a:ln>
        </p:spPr>
      </p:sp>
      <p:sp>
        <p:nvSpPr>
          <p:cNvPr id="23" name="text-320"/>
          <p:cNvSpPr txBox="1"/>
          <p:nvPr/>
        </p:nvSpPr>
        <p:spPr>
          <a:xfrm>
            <a:off x="6446520" y="2240280"/>
            <a:ext cx="1417320" cy="685800"/>
          </a:xfrm>
          <a:prstGeom prst="rect">
            <a:avLst/>
          </a:prstGeom>
          <a:noFill/>
          <a:ln/>
        </p:spPr>
        <p:txBody>
          <a:bodyPr wrap="square" lIns="0" tIns="0" rIns="0" bIns="0" rtlCol="0" anchor="t"/>
          <a:lstStyle/>
          <a:p>
            <a:pPr indent="0" marL="0">
              <a:buNone/>
            </a:pPr>
            <a:r>
              <a:rPr lang="en-US" sz="1300" b="1" dirty="0">
                <a:solidFill>
                  <a:schemeClr val="accent4"/>
                </a:solidFill>
              </a:rPr>
              <a:t>焦点</a:t>
            </a:r>
            <a:endParaRPr lang="en-US" sz="1300" dirty="0"/>
          </a:p>
        </p:txBody>
      </p:sp>
      <p:sp>
        <p:nvSpPr>
          <p:cNvPr id="24" name="text-321"/>
          <p:cNvSpPr txBox="1"/>
          <p:nvPr/>
        </p:nvSpPr>
        <p:spPr>
          <a:xfrm>
            <a:off x="7909560" y="2240280"/>
            <a:ext cx="3429000" cy="731520"/>
          </a:xfrm>
          <a:prstGeom prst="rect">
            <a:avLst/>
          </a:prstGeom>
          <a:noFill/>
          <a:ln/>
        </p:spPr>
        <p:txBody>
          <a:bodyPr wrap="square" lIns="0" tIns="0" rIns="0" bIns="0" rtlCol="0" anchor="t"/>
          <a:lstStyle/>
          <a:p>
            <a:pPr indent="0" marL="0">
              <a:buNone/>
            </a:pPr>
            <a:r>
              <a:rPr lang="en-US" sz="1400" dirty="0">
                <a:solidFill>
                  <a:schemeClr val="tx1"/>
                </a:solidFill>
              </a:rPr>
              <a:t>行動の境界：何をしてよいか、誰が承認するか、暴走をどう止めるか、出力をどう描画するか</a:t>
            </a:r>
            <a:endParaRPr lang="en-US" sz="1400" dirty="0"/>
          </a:p>
        </p:txBody>
      </p:sp>
      <p:sp>
        <p:nvSpPr>
          <p:cNvPr id="25" name="text-322"/>
          <p:cNvSpPr txBox="1"/>
          <p:nvPr/>
        </p:nvSpPr>
        <p:spPr>
          <a:xfrm>
            <a:off x="6446520" y="3026664"/>
            <a:ext cx="1417320" cy="685800"/>
          </a:xfrm>
          <a:prstGeom prst="rect">
            <a:avLst/>
          </a:prstGeom>
          <a:noFill/>
          <a:ln/>
        </p:spPr>
        <p:txBody>
          <a:bodyPr wrap="square" lIns="0" tIns="0" rIns="0" bIns="0" rtlCol="0" anchor="t"/>
          <a:lstStyle/>
          <a:p>
            <a:pPr indent="0" marL="0">
              <a:buNone/>
            </a:pPr>
            <a:r>
              <a:rPr lang="en-US" sz="1300" b="1" dirty="0">
                <a:solidFill>
                  <a:schemeClr val="accent4"/>
                </a:solidFill>
              </a:rPr>
              <a:t>Rule of Two</a:t>
            </a:r>
            <a:endParaRPr lang="en-US" sz="1300" dirty="0"/>
          </a:p>
        </p:txBody>
      </p:sp>
      <p:sp>
        <p:nvSpPr>
          <p:cNvPr id="26" name="text-323"/>
          <p:cNvSpPr txBox="1"/>
          <p:nvPr/>
        </p:nvSpPr>
        <p:spPr>
          <a:xfrm>
            <a:off x="7909560" y="3026664"/>
            <a:ext cx="3429000" cy="731520"/>
          </a:xfrm>
          <a:prstGeom prst="rect">
            <a:avLst/>
          </a:prstGeom>
          <a:noFill/>
          <a:ln/>
        </p:spPr>
        <p:txBody>
          <a:bodyPr wrap="square" lIns="0" tIns="0" rIns="0" bIns="0" rtlCol="0" anchor="t"/>
          <a:lstStyle/>
          <a:p>
            <a:pPr indent="0" marL="0">
              <a:buNone/>
            </a:pPr>
            <a:r>
              <a:rPr lang="en-US" sz="1400" dirty="0">
                <a:solidFill>
                  <a:schemeClr val="tx1"/>
                </a:solidFill>
              </a:rPr>
              <a:t>A・B・C すべて有り得る → 操作ごとの承認</a:t>
            </a:r>
            <a:endParaRPr lang="en-US" sz="1400" dirty="0"/>
          </a:p>
        </p:txBody>
      </p:sp>
      <p:sp>
        <p:nvSpPr>
          <p:cNvPr id="27" name="text-324"/>
          <p:cNvSpPr txBox="1"/>
          <p:nvPr/>
        </p:nvSpPr>
        <p:spPr>
          <a:xfrm>
            <a:off x="6446520" y="3813048"/>
            <a:ext cx="1417320" cy="685800"/>
          </a:xfrm>
          <a:prstGeom prst="rect">
            <a:avLst/>
          </a:prstGeom>
          <a:noFill/>
          <a:ln/>
        </p:spPr>
        <p:txBody>
          <a:bodyPr wrap="square" lIns="0" tIns="0" rIns="0" bIns="0" rtlCol="0" anchor="t"/>
          <a:lstStyle/>
          <a:p>
            <a:pPr indent="0" marL="0">
              <a:buNone/>
            </a:pPr>
            <a:r>
              <a:rPr lang="en-US" sz="1300" b="1" dirty="0">
                <a:solidFill>
                  <a:schemeClr val="accent4"/>
                </a:solidFill>
              </a:rPr>
              <a:t>最優先リスク</a:t>
            </a:r>
            <a:endParaRPr lang="en-US" sz="1300" dirty="0"/>
          </a:p>
        </p:txBody>
      </p:sp>
      <p:sp>
        <p:nvSpPr>
          <p:cNvPr id="28" name="chip-325"/>
          <p:cNvSpPr txBox="1"/>
          <p:nvPr/>
        </p:nvSpPr>
        <p:spPr>
          <a:xfrm>
            <a:off x="7909560" y="3813048"/>
            <a:ext cx="658368" cy="274320"/>
          </a:xfrm>
          <a:prstGeom prst="roundRect">
            <a:avLst>
              <a:gd name="adj" fmla="val 53333"/>
            </a:avLst>
          </a:prstGeom>
          <a:solidFill>
            <a:schemeClr val="accent3"/>
          </a:solidFill>
          <a:ln/>
        </p:spPr>
        <p:txBody>
          <a:bodyPr wrap="square" lIns="0" tIns="0" rIns="0" bIns="0" rtlCol="0" anchor="ctr"/>
          <a:lstStyle/>
          <a:p>
            <a:pPr algn="ctr" indent="0" marL="0">
              <a:buNone/>
            </a:pPr>
            <a:r>
              <a:rPr lang="en-US" sz="1000" b="1" dirty="0">
                <a:solidFill>
                  <a:schemeClr val="bg1"/>
                </a:solidFill>
              </a:rPr>
              <a:t>LLM03</a:t>
            </a:r>
            <a:endParaRPr lang="en-US" sz="1000" dirty="0"/>
          </a:p>
        </p:txBody>
      </p:sp>
      <p:sp>
        <p:nvSpPr>
          <p:cNvPr id="29" name="chip-326"/>
          <p:cNvSpPr txBox="1"/>
          <p:nvPr/>
        </p:nvSpPr>
        <p:spPr>
          <a:xfrm>
            <a:off x="8622792" y="3813048"/>
            <a:ext cx="658368" cy="274320"/>
          </a:xfrm>
          <a:prstGeom prst="roundRect">
            <a:avLst>
              <a:gd name="adj" fmla="val 53333"/>
            </a:avLst>
          </a:prstGeom>
          <a:solidFill>
            <a:schemeClr val="accent3"/>
          </a:solidFill>
          <a:ln/>
        </p:spPr>
        <p:txBody>
          <a:bodyPr wrap="square" lIns="0" tIns="0" rIns="0" bIns="0" rtlCol="0" anchor="ctr"/>
          <a:lstStyle/>
          <a:p>
            <a:pPr algn="ctr" indent="0" marL="0">
              <a:buNone/>
            </a:pPr>
            <a:r>
              <a:rPr lang="en-US" sz="1000" b="1" dirty="0">
                <a:solidFill>
                  <a:schemeClr val="bg1"/>
                </a:solidFill>
              </a:rPr>
              <a:t>LLM01</a:t>
            </a:r>
            <a:endParaRPr lang="en-US" sz="1000" dirty="0"/>
          </a:p>
        </p:txBody>
      </p:sp>
      <p:sp>
        <p:nvSpPr>
          <p:cNvPr id="30" name="chip-327"/>
          <p:cNvSpPr txBox="1"/>
          <p:nvPr/>
        </p:nvSpPr>
        <p:spPr>
          <a:xfrm>
            <a:off x="9336024" y="3813048"/>
            <a:ext cx="658368" cy="274320"/>
          </a:xfrm>
          <a:prstGeom prst="roundRect">
            <a:avLst>
              <a:gd name="adj" fmla="val 53333"/>
            </a:avLst>
          </a:prstGeom>
          <a:solidFill>
            <a:schemeClr val="accent2"/>
          </a:solidFill>
          <a:ln/>
        </p:spPr>
        <p:txBody>
          <a:bodyPr wrap="square" lIns="0" tIns="0" rIns="0" bIns="0" rtlCol="0" anchor="ctr"/>
          <a:lstStyle/>
          <a:p>
            <a:pPr algn="ctr" indent="0" marL="0">
              <a:buNone/>
            </a:pPr>
            <a:r>
              <a:rPr lang="en-US" sz="1000" b="1" dirty="0">
                <a:solidFill>
                  <a:schemeClr val="bg1"/>
                </a:solidFill>
              </a:rPr>
              <a:t>ASI02</a:t>
            </a:r>
            <a:endParaRPr lang="en-US" sz="1000" dirty="0"/>
          </a:p>
        </p:txBody>
      </p:sp>
      <p:sp>
        <p:nvSpPr>
          <p:cNvPr id="31" name="chip-328"/>
          <p:cNvSpPr txBox="1"/>
          <p:nvPr/>
        </p:nvSpPr>
        <p:spPr>
          <a:xfrm>
            <a:off x="10049256" y="3813048"/>
            <a:ext cx="658368" cy="274320"/>
          </a:xfrm>
          <a:prstGeom prst="roundRect">
            <a:avLst>
              <a:gd name="adj" fmla="val 53333"/>
            </a:avLst>
          </a:prstGeom>
          <a:solidFill>
            <a:schemeClr val="accent2"/>
          </a:solidFill>
          <a:ln/>
        </p:spPr>
        <p:txBody>
          <a:bodyPr wrap="square" lIns="0" tIns="0" rIns="0" bIns="0" rtlCol="0" anchor="ctr"/>
          <a:lstStyle/>
          <a:p>
            <a:pPr algn="ctr" indent="0" marL="0">
              <a:buNone/>
            </a:pPr>
            <a:r>
              <a:rPr lang="en-US" sz="1000" b="1" dirty="0">
                <a:solidFill>
                  <a:schemeClr val="bg1"/>
                </a:solidFill>
              </a:rPr>
              <a:t>ASI05</a:t>
            </a:r>
            <a:endParaRPr lang="en-US" sz="1000" dirty="0"/>
          </a:p>
        </p:txBody>
      </p:sp>
      <p:sp>
        <p:nvSpPr>
          <p:cNvPr id="32" name="chip-329"/>
          <p:cNvSpPr txBox="1"/>
          <p:nvPr/>
        </p:nvSpPr>
        <p:spPr>
          <a:xfrm>
            <a:off x="10762488" y="3813048"/>
            <a:ext cx="658368" cy="274320"/>
          </a:xfrm>
          <a:prstGeom prst="roundRect">
            <a:avLst>
              <a:gd name="adj" fmla="val 53333"/>
            </a:avLst>
          </a:prstGeom>
          <a:solidFill>
            <a:schemeClr val="accent3"/>
          </a:solidFill>
          <a:ln/>
        </p:spPr>
        <p:txBody>
          <a:bodyPr wrap="square" lIns="0" tIns="0" rIns="0" bIns="0" rtlCol="0" anchor="ctr"/>
          <a:lstStyle/>
          <a:p>
            <a:pPr algn="ctr" indent="0" marL="0">
              <a:buNone/>
            </a:pPr>
            <a:r>
              <a:rPr lang="en-US" sz="1000" b="1" dirty="0">
                <a:solidFill>
                  <a:schemeClr val="bg1"/>
                </a:solidFill>
              </a:rPr>
              <a:t>LLM06</a:t>
            </a:r>
            <a:endParaRPr lang="en-US" sz="1000" dirty="0"/>
          </a:p>
        </p:txBody>
      </p:sp>
      <p:sp>
        <p:nvSpPr>
          <p:cNvPr id="33" name="text-330"/>
          <p:cNvSpPr txBox="1"/>
          <p:nvPr/>
        </p:nvSpPr>
        <p:spPr>
          <a:xfrm>
            <a:off x="6446520" y="4599432"/>
            <a:ext cx="1417320" cy="685800"/>
          </a:xfrm>
          <a:prstGeom prst="rect">
            <a:avLst/>
          </a:prstGeom>
          <a:noFill/>
          <a:ln/>
        </p:spPr>
        <p:txBody>
          <a:bodyPr wrap="square" lIns="0" tIns="0" rIns="0" bIns="0" rtlCol="0" anchor="t"/>
          <a:lstStyle/>
          <a:p>
            <a:pPr indent="0" marL="0">
              <a:buNone/>
            </a:pPr>
            <a:r>
              <a:rPr lang="en-US" sz="1300" b="1" dirty="0">
                <a:solidFill>
                  <a:schemeClr val="accent4"/>
                </a:solidFill>
              </a:rPr>
              <a:t>決定的な対策</a:t>
            </a:r>
            <a:endParaRPr lang="en-US" sz="1300" dirty="0"/>
          </a:p>
        </p:txBody>
      </p:sp>
      <p:sp>
        <p:nvSpPr>
          <p:cNvPr id="34" name="text-331"/>
          <p:cNvSpPr txBox="1"/>
          <p:nvPr/>
        </p:nvSpPr>
        <p:spPr>
          <a:xfrm>
            <a:off x="7909560" y="4599432"/>
            <a:ext cx="3429000" cy="731520"/>
          </a:xfrm>
          <a:prstGeom prst="rect">
            <a:avLst/>
          </a:prstGeom>
          <a:noFill/>
          <a:ln/>
        </p:spPr>
        <p:txBody>
          <a:bodyPr wrap="square" lIns="0" tIns="0" rIns="0" bIns="0" rtlCol="0" anchor="t"/>
          <a:lstStyle/>
          <a:p>
            <a:pPr indent="0" marL="0">
              <a:buNone/>
            </a:pPr>
            <a:r>
              <a:rPr lang="en-US" sz="1400" dirty="0">
                <a:solidFill>
                  <a:schemeClr val="tx1"/>
                </a:solidFill>
              </a:rPr>
              <a:t>最小エージェンシー、完全仲介、人の承認、サーキットブレーカー</a:t>
            </a:r>
            <a:endParaRPr lang="en-US" sz="1400" dirty="0"/>
          </a:p>
        </p:txBody>
      </p:sp>
      <p:sp>
        <p:nvSpPr>
          <p:cNvPr id="35" name="text-332"/>
          <p:cNvSpPr txBox="1"/>
          <p:nvPr/>
        </p:nvSpPr>
        <p:spPr>
          <a:xfrm>
            <a:off x="6446520" y="5385816"/>
            <a:ext cx="1417320" cy="685800"/>
          </a:xfrm>
          <a:prstGeom prst="rect">
            <a:avLst/>
          </a:prstGeom>
          <a:noFill/>
          <a:ln/>
        </p:spPr>
        <p:txBody>
          <a:bodyPr wrap="square" lIns="0" tIns="0" rIns="0" bIns="0" rtlCol="0" anchor="t"/>
          <a:lstStyle/>
          <a:p>
            <a:pPr indent="0" marL="0">
              <a:buNone/>
            </a:pPr>
            <a:r>
              <a:rPr lang="en-US" sz="1300" b="1" dirty="0">
                <a:solidFill>
                  <a:schemeClr val="accent4"/>
                </a:solidFill>
              </a:rPr>
              <a:t>侵入時の被害</a:t>
            </a:r>
            <a:endParaRPr lang="en-US" sz="1300" dirty="0"/>
          </a:p>
        </p:txBody>
      </p:sp>
      <p:sp>
        <p:nvSpPr>
          <p:cNvPr id="36" name="text-333"/>
          <p:cNvSpPr txBox="1"/>
          <p:nvPr/>
        </p:nvSpPr>
        <p:spPr>
          <a:xfrm>
            <a:off x="7909560" y="5385816"/>
            <a:ext cx="3429000" cy="731520"/>
          </a:xfrm>
          <a:prstGeom prst="rect">
            <a:avLst/>
          </a:prstGeom>
          <a:noFill/>
          <a:ln/>
        </p:spPr>
        <p:txBody>
          <a:bodyPr wrap="square" lIns="0" tIns="0" rIns="0" bIns="0" rtlCol="0" anchor="t"/>
          <a:lstStyle/>
          <a:p>
            <a:pPr indent="0" marL="0">
              <a:buNone/>
            </a:pPr>
            <a:r>
              <a:rPr lang="en-US" sz="1400" dirty="0">
                <a:solidFill>
                  <a:schemeClr val="tx1"/>
                </a:solidFill>
              </a:rPr>
              <a:t>加えてデータ破壊・不正送信・不正実行</a:t>
            </a:r>
            <a:endParaRPr lang="en-US" sz="1400" dirty="0"/>
          </a:p>
        </p:txBody>
      </p:sp>
      <p:sp>
        <p:nvSpPr>
          <p:cNvPr id="37"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評価テンプレート：事前分類5問でTierを決める</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審査をリスクに比例させる。Tier 条件と受容者は設計案で、リスク許容度とあわせて今後確定する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出典：第8章（根拠：GOVERN 1.3・2.3、MEASURE 1.3、MANAGE 1.4）</a:t>
            </a:r>
            <a:endParaRPr lang="en-US" sz="1000" dirty="0"/>
          </a:p>
        </p:txBody>
      </p:sp>
      <p:sp>
        <p:nvSpPr>
          <p:cNvPr id="6" name="card-334"/>
          <p:cNvSpPr/>
          <p:nvPr/>
        </p:nvSpPr>
        <p:spPr>
          <a:xfrm>
            <a:off x="548640" y="1691640"/>
            <a:ext cx="4206240" cy="4480560"/>
          </a:xfrm>
          <a:prstGeom prst="roundRect">
            <a:avLst>
              <a:gd name="adj" fmla="val 1739"/>
            </a:avLst>
          </a:prstGeom>
          <a:solidFill>
            <a:schemeClr val="bg2"/>
          </a:solidFill>
          <a:ln w="12700">
            <a:solidFill>
              <a:schemeClr val="bg2"/>
            </a:solidFill>
            <a:prstDash val="solid"/>
          </a:ln>
        </p:spPr>
      </p:sp>
      <p:sp>
        <p:nvSpPr>
          <p:cNvPr id="7" name="text-335"/>
          <p:cNvSpPr txBox="1"/>
          <p:nvPr/>
        </p:nvSpPr>
        <p:spPr>
          <a:xfrm>
            <a:off x="822960" y="1874520"/>
            <a:ext cx="3657600" cy="411480"/>
          </a:xfrm>
          <a:prstGeom prst="rect">
            <a:avLst/>
          </a:prstGeom>
          <a:noFill/>
          <a:ln/>
        </p:spPr>
        <p:txBody>
          <a:bodyPr wrap="square" lIns="0" tIns="0" rIns="0" bIns="0" rtlCol="0" anchor="t"/>
          <a:lstStyle/>
          <a:p>
            <a:pPr indent="0" marL="0">
              <a:buNone/>
            </a:pPr>
            <a:r>
              <a:rPr lang="en-US" sz="1800" b="1" dirty="0">
                <a:solidFill>
                  <a:schemeClr val="tx2"/>
                </a:solidFill>
              </a:rPr>
              <a:t>事前分類5問</a:t>
            </a:r>
            <a:endParaRPr lang="en-US" sz="1800" dirty="0"/>
          </a:p>
        </p:txBody>
      </p:sp>
      <p:sp>
        <p:nvSpPr>
          <p:cNvPr id="8" name="chip-336"/>
          <p:cNvSpPr txBox="1"/>
          <p:nvPr/>
        </p:nvSpPr>
        <p:spPr>
          <a:xfrm>
            <a:off x="822960" y="2468880"/>
            <a:ext cx="5486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Q1</a:t>
            </a:r>
            <a:endParaRPr lang="en-US" sz="1100" dirty="0"/>
          </a:p>
        </p:txBody>
      </p:sp>
      <p:sp>
        <p:nvSpPr>
          <p:cNvPr id="9" name="text-337"/>
          <p:cNvSpPr txBox="1"/>
          <p:nvPr/>
        </p:nvSpPr>
        <p:spPr>
          <a:xfrm>
            <a:off x="1508760" y="2423160"/>
            <a:ext cx="3108960" cy="320040"/>
          </a:xfrm>
          <a:prstGeom prst="rect">
            <a:avLst/>
          </a:prstGeom>
          <a:noFill/>
          <a:ln/>
        </p:spPr>
        <p:txBody>
          <a:bodyPr wrap="square" lIns="0" tIns="0" rIns="0" bIns="0" rtlCol="0" anchor="t"/>
          <a:lstStyle/>
          <a:p>
            <a:pPr indent="0" marL="0">
              <a:buNone/>
            </a:pPr>
            <a:r>
              <a:rPr lang="en-US" sz="1400" b="1" dirty="0">
                <a:solidFill>
                  <a:schemeClr val="tx1"/>
                </a:solidFill>
              </a:rPr>
              <a:t>データの機密性</a:t>
            </a:r>
            <a:endParaRPr lang="en-US" sz="1400" dirty="0"/>
          </a:p>
        </p:txBody>
      </p:sp>
      <p:sp>
        <p:nvSpPr>
          <p:cNvPr id="10" name="text-338"/>
          <p:cNvSpPr txBox="1"/>
          <p:nvPr/>
        </p:nvSpPr>
        <p:spPr>
          <a:xfrm>
            <a:off x="1508760" y="2743200"/>
            <a:ext cx="3108960" cy="320040"/>
          </a:xfrm>
          <a:prstGeom prst="rect">
            <a:avLst/>
          </a:prstGeom>
          <a:noFill/>
          <a:ln/>
        </p:spPr>
        <p:txBody>
          <a:bodyPr wrap="square" lIns="0" tIns="0" rIns="0" bIns="0" rtlCol="0" anchor="t"/>
          <a:lstStyle/>
          <a:p>
            <a:pPr indent="0" marL="0">
              <a:buNone/>
            </a:pPr>
            <a:r>
              <a:rPr lang="en-US" sz="1200" dirty="0">
                <a:solidFill>
                  <a:schemeClr val="accent4"/>
                </a:solidFill>
              </a:rPr>
              <a:t>公開／社内限定／機密</a:t>
            </a:r>
            <a:endParaRPr lang="en-US" sz="1200" dirty="0"/>
          </a:p>
        </p:txBody>
      </p:sp>
      <p:sp>
        <p:nvSpPr>
          <p:cNvPr id="11" name="chip-339"/>
          <p:cNvSpPr txBox="1"/>
          <p:nvPr/>
        </p:nvSpPr>
        <p:spPr>
          <a:xfrm>
            <a:off x="822960" y="3200400"/>
            <a:ext cx="5486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Q2</a:t>
            </a:r>
            <a:endParaRPr lang="en-US" sz="1100" dirty="0"/>
          </a:p>
        </p:txBody>
      </p:sp>
      <p:sp>
        <p:nvSpPr>
          <p:cNvPr id="12" name="text-340"/>
          <p:cNvSpPr txBox="1"/>
          <p:nvPr/>
        </p:nvSpPr>
        <p:spPr>
          <a:xfrm>
            <a:off x="1508760" y="3154680"/>
            <a:ext cx="3108960" cy="320040"/>
          </a:xfrm>
          <a:prstGeom prst="rect">
            <a:avLst/>
          </a:prstGeom>
          <a:noFill/>
          <a:ln/>
        </p:spPr>
        <p:txBody>
          <a:bodyPr wrap="square" lIns="0" tIns="0" rIns="0" bIns="0" rtlCol="0" anchor="t"/>
          <a:lstStyle/>
          <a:p>
            <a:pPr indent="0" marL="0">
              <a:buNone/>
            </a:pPr>
            <a:r>
              <a:rPr lang="en-US" sz="1400" b="1" dirty="0">
                <a:solidFill>
                  <a:schemeClr val="tx1"/>
                </a:solidFill>
              </a:rPr>
              <a:t>アーキテクチャ</a:t>
            </a:r>
            <a:endParaRPr lang="en-US" sz="1400" dirty="0"/>
          </a:p>
        </p:txBody>
      </p:sp>
      <p:sp>
        <p:nvSpPr>
          <p:cNvPr id="13" name="text-341"/>
          <p:cNvSpPr txBox="1"/>
          <p:nvPr/>
        </p:nvSpPr>
        <p:spPr>
          <a:xfrm>
            <a:off x="1508760" y="3474720"/>
            <a:ext cx="3108960" cy="320040"/>
          </a:xfrm>
          <a:prstGeom prst="rect">
            <a:avLst/>
          </a:prstGeom>
          <a:noFill/>
          <a:ln/>
        </p:spPr>
        <p:txBody>
          <a:bodyPr wrap="square" lIns="0" tIns="0" rIns="0" bIns="0" rtlCol="0" anchor="t"/>
          <a:lstStyle/>
          <a:p>
            <a:pPr indent="0" marL="0">
              <a:buNone/>
            </a:pPr>
            <a:r>
              <a:rPr lang="en-US" sz="1200" dirty="0">
                <a:solidFill>
                  <a:schemeClr val="accent4"/>
                </a:solidFill>
              </a:rPr>
              <a:t>単体／RAG／エージェント／FT</a:t>
            </a:r>
            <a:endParaRPr lang="en-US" sz="1200" dirty="0"/>
          </a:p>
        </p:txBody>
      </p:sp>
      <p:sp>
        <p:nvSpPr>
          <p:cNvPr id="14" name="chip-342"/>
          <p:cNvSpPr txBox="1"/>
          <p:nvPr/>
        </p:nvSpPr>
        <p:spPr>
          <a:xfrm>
            <a:off x="822960" y="3931920"/>
            <a:ext cx="5486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Q3</a:t>
            </a:r>
            <a:endParaRPr lang="en-US" sz="1100" dirty="0"/>
          </a:p>
        </p:txBody>
      </p:sp>
      <p:sp>
        <p:nvSpPr>
          <p:cNvPr id="15" name="text-343"/>
          <p:cNvSpPr txBox="1"/>
          <p:nvPr/>
        </p:nvSpPr>
        <p:spPr>
          <a:xfrm>
            <a:off x="1508760" y="3886200"/>
            <a:ext cx="3108960" cy="320040"/>
          </a:xfrm>
          <a:prstGeom prst="rect">
            <a:avLst/>
          </a:prstGeom>
          <a:noFill/>
          <a:ln/>
        </p:spPr>
        <p:txBody>
          <a:bodyPr wrap="square" lIns="0" tIns="0" rIns="0" bIns="0" rtlCol="0" anchor="t"/>
          <a:lstStyle/>
          <a:p>
            <a:pPr indent="0" marL="0">
              <a:buNone/>
            </a:pPr>
            <a:r>
              <a:rPr lang="en-US" sz="1400" b="1" dirty="0">
                <a:solidFill>
                  <a:schemeClr val="tx1"/>
                </a:solidFill>
              </a:rPr>
              <a:t>出力の自律性</a:t>
            </a:r>
            <a:endParaRPr lang="en-US" sz="1400" dirty="0"/>
          </a:p>
        </p:txBody>
      </p:sp>
      <p:sp>
        <p:nvSpPr>
          <p:cNvPr id="16" name="text-344"/>
          <p:cNvSpPr txBox="1"/>
          <p:nvPr/>
        </p:nvSpPr>
        <p:spPr>
          <a:xfrm>
            <a:off x="1508760" y="4206240"/>
            <a:ext cx="3108960" cy="320040"/>
          </a:xfrm>
          <a:prstGeom prst="rect">
            <a:avLst/>
          </a:prstGeom>
          <a:noFill/>
          <a:ln/>
        </p:spPr>
        <p:txBody>
          <a:bodyPr wrap="square" lIns="0" tIns="0" rIns="0" bIns="0" rtlCol="0" anchor="t"/>
          <a:lstStyle/>
          <a:p>
            <a:pPr indent="0" marL="0">
              <a:buNone/>
            </a:pPr>
            <a:r>
              <a:rPr lang="en-US" sz="1200" dirty="0">
                <a:solidFill>
                  <a:schemeClr val="accent4"/>
                </a:solidFill>
              </a:rPr>
              <a:t>下書き／承認後実行／完全自動</a:t>
            </a:r>
            <a:endParaRPr lang="en-US" sz="1200" dirty="0"/>
          </a:p>
        </p:txBody>
      </p:sp>
      <p:sp>
        <p:nvSpPr>
          <p:cNvPr id="17" name="chip-345"/>
          <p:cNvSpPr txBox="1"/>
          <p:nvPr/>
        </p:nvSpPr>
        <p:spPr>
          <a:xfrm>
            <a:off x="822960" y="4663440"/>
            <a:ext cx="5486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Q4</a:t>
            </a:r>
            <a:endParaRPr lang="en-US" sz="1100" dirty="0"/>
          </a:p>
        </p:txBody>
      </p:sp>
      <p:sp>
        <p:nvSpPr>
          <p:cNvPr id="18" name="text-346"/>
          <p:cNvSpPr txBox="1"/>
          <p:nvPr/>
        </p:nvSpPr>
        <p:spPr>
          <a:xfrm>
            <a:off x="1508760" y="4617720"/>
            <a:ext cx="3108960" cy="320040"/>
          </a:xfrm>
          <a:prstGeom prst="rect">
            <a:avLst/>
          </a:prstGeom>
          <a:noFill/>
          <a:ln/>
        </p:spPr>
        <p:txBody>
          <a:bodyPr wrap="square" lIns="0" tIns="0" rIns="0" bIns="0" rtlCol="0" anchor="t"/>
          <a:lstStyle/>
          <a:p>
            <a:pPr indent="0" marL="0">
              <a:buNone/>
            </a:pPr>
            <a:r>
              <a:rPr lang="en-US" sz="1400" b="1" dirty="0">
                <a:solidFill>
                  <a:schemeClr val="tx1"/>
                </a:solidFill>
              </a:rPr>
              <a:t>提供形態</a:t>
            </a:r>
            <a:endParaRPr lang="en-US" sz="1400" dirty="0"/>
          </a:p>
        </p:txBody>
      </p:sp>
      <p:sp>
        <p:nvSpPr>
          <p:cNvPr id="19" name="text-347"/>
          <p:cNvSpPr txBox="1"/>
          <p:nvPr/>
        </p:nvSpPr>
        <p:spPr>
          <a:xfrm>
            <a:off x="1508760" y="4937760"/>
            <a:ext cx="3108960" cy="320040"/>
          </a:xfrm>
          <a:prstGeom prst="rect">
            <a:avLst/>
          </a:prstGeom>
          <a:noFill/>
          <a:ln/>
        </p:spPr>
        <p:txBody>
          <a:bodyPr wrap="square" lIns="0" tIns="0" rIns="0" bIns="0" rtlCol="0" anchor="t"/>
          <a:lstStyle/>
          <a:p>
            <a:pPr indent="0" marL="0">
              <a:buNone/>
            </a:pPr>
            <a:r>
              <a:rPr lang="en-US" sz="1200" dirty="0">
                <a:solidFill>
                  <a:schemeClr val="accent4"/>
                </a:solidFill>
              </a:rPr>
              <a:t>外部SaaS／社内構築／自社運用</a:t>
            </a:r>
            <a:endParaRPr lang="en-US" sz="1200" dirty="0"/>
          </a:p>
        </p:txBody>
      </p:sp>
      <p:sp>
        <p:nvSpPr>
          <p:cNvPr id="20" name="chip-348"/>
          <p:cNvSpPr txBox="1"/>
          <p:nvPr/>
        </p:nvSpPr>
        <p:spPr>
          <a:xfrm>
            <a:off x="822960" y="5394960"/>
            <a:ext cx="54864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Q5</a:t>
            </a:r>
            <a:endParaRPr lang="en-US" sz="1100" dirty="0"/>
          </a:p>
        </p:txBody>
      </p:sp>
      <p:sp>
        <p:nvSpPr>
          <p:cNvPr id="21" name="text-349"/>
          <p:cNvSpPr txBox="1"/>
          <p:nvPr/>
        </p:nvSpPr>
        <p:spPr>
          <a:xfrm>
            <a:off x="1508760" y="5349240"/>
            <a:ext cx="3108960" cy="320040"/>
          </a:xfrm>
          <a:prstGeom prst="rect">
            <a:avLst/>
          </a:prstGeom>
          <a:noFill/>
          <a:ln/>
        </p:spPr>
        <p:txBody>
          <a:bodyPr wrap="square" lIns="0" tIns="0" rIns="0" bIns="0" rtlCol="0" anchor="t"/>
          <a:lstStyle/>
          <a:p>
            <a:pPr indent="0" marL="0">
              <a:buNone/>
            </a:pPr>
            <a:r>
              <a:rPr lang="en-US" sz="1400" b="1" dirty="0">
                <a:solidFill>
                  <a:schemeClr val="tx1"/>
                </a:solidFill>
              </a:rPr>
              <a:t>Rule of Two</a:t>
            </a:r>
            <a:endParaRPr lang="en-US" sz="1400" dirty="0"/>
          </a:p>
        </p:txBody>
      </p:sp>
      <p:sp>
        <p:nvSpPr>
          <p:cNvPr id="22" name="text-350"/>
          <p:cNvSpPr txBox="1"/>
          <p:nvPr/>
        </p:nvSpPr>
        <p:spPr>
          <a:xfrm>
            <a:off x="1508760" y="5669280"/>
            <a:ext cx="3108960" cy="320040"/>
          </a:xfrm>
          <a:prstGeom prst="rect">
            <a:avLst/>
          </a:prstGeom>
          <a:noFill/>
          <a:ln/>
        </p:spPr>
        <p:txBody>
          <a:bodyPr wrap="square" lIns="0" tIns="0" rIns="0" bIns="0" rtlCol="0" anchor="t"/>
          <a:lstStyle/>
          <a:p>
            <a:pPr indent="0" marL="0">
              <a:buNone/>
            </a:pPr>
            <a:r>
              <a:rPr lang="en-US" sz="1200" dirty="0">
                <a:solidFill>
                  <a:schemeClr val="accent4"/>
                </a:solidFill>
              </a:rPr>
              <a:t>A・B・C の有無</a:t>
            </a:r>
            <a:endParaRPr lang="en-US" sz="1200" dirty="0"/>
          </a:p>
        </p:txBody>
      </p:sp>
      <p:sp>
        <p:nvSpPr>
          <p:cNvPr id="23" name="card-351"/>
          <p:cNvSpPr/>
          <p:nvPr/>
        </p:nvSpPr>
        <p:spPr>
          <a:xfrm>
            <a:off x="5029200" y="1691640"/>
            <a:ext cx="6583680" cy="1371600"/>
          </a:xfrm>
          <a:prstGeom prst="roundRect">
            <a:avLst>
              <a:gd name="adj" fmla="val 5333"/>
            </a:avLst>
          </a:prstGeom>
          <a:solidFill>
            <a:schemeClr val="bg2"/>
          </a:solidFill>
          <a:ln w="12700">
            <a:solidFill>
              <a:schemeClr val="bg2"/>
            </a:solidFill>
            <a:prstDash val="solid"/>
          </a:ln>
        </p:spPr>
      </p:sp>
      <p:sp>
        <p:nvSpPr>
          <p:cNvPr id="24" name="chip-352"/>
          <p:cNvSpPr txBox="1"/>
          <p:nvPr/>
        </p:nvSpPr>
        <p:spPr>
          <a:xfrm>
            <a:off x="5257800" y="1874520"/>
            <a:ext cx="1097280" cy="347472"/>
          </a:xfrm>
          <a:prstGeom prst="roundRect">
            <a:avLst>
              <a:gd name="adj" fmla="val 42105"/>
            </a:avLst>
          </a:prstGeom>
          <a:solidFill>
            <a:schemeClr val="accent3"/>
          </a:solidFill>
          <a:ln/>
        </p:spPr>
        <p:txBody>
          <a:bodyPr wrap="square" lIns="0" tIns="0" rIns="0" bIns="0" rtlCol="0" anchor="ctr"/>
          <a:lstStyle/>
          <a:p>
            <a:pPr algn="ctr" indent="0" marL="0">
              <a:buNone/>
            </a:pPr>
            <a:r>
              <a:rPr lang="en-US" sz="1400" b="1" dirty="0">
                <a:solidFill>
                  <a:schemeClr val="bg1"/>
                </a:solidFill>
              </a:rPr>
              <a:t>High</a:t>
            </a:r>
            <a:endParaRPr lang="en-US" sz="1400" dirty="0"/>
          </a:p>
        </p:txBody>
      </p:sp>
      <p:sp>
        <p:nvSpPr>
          <p:cNvPr id="25" name="text-353"/>
          <p:cNvSpPr txBox="1"/>
          <p:nvPr/>
        </p:nvSpPr>
        <p:spPr>
          <a:xfrm>
            <a:off x="6537960" y="1783080"/>
            <a:ext cx="4846320" cy="566928"/>
          </a:xfrm>
          <a:prstGeom prst="rect">
            <a:avLst/>
          </a:prstGeom>
          <a:noFill/>
          <a:ln/>
        </p:spPr>
        <p:txBody>
          <a:bodyPr wrap="square" lIns="0" tIns="0" rIns="0" bIns="0" rtlCol="0" anchor="t"/>
          <a:lstStyle/>
          <a:p>
            <a:pPr indent="0" marL="0">
              <a:buNone/>
            </a:pPr>
            <a:r>
              <a:rPr lang="en-US" sz="1300" dirty="0">
                <a:solidFill>
                  <a:schemeClr val="tx1"/>
                </a:solidFill>
              </a:rPr>
              <a:t>Rule of Two で3つ／完全自動かつ外部への作用あり／機密×エージェントまたはFT／社外の顧客等が直接利用</a:t>
            </a:r>
            <a:endParaRPr lang="en-US" sz="1300" dirty="0"/>
          </a:p>
        </p:txBody>
      </p:sp>
      <p:sp>
        <p:nvSpPr>
          <p:cNvPr id="26" name="text-354"/>
          <p:cNvSpPr txBox="1"/>
          <p:nvPr/>
        </p:nvSpPr>
        <p:spPr>
          <a:xfrm>
            <a:off x="6537960" y="2404872"/>
            <a:ext cx="4846320" cy="274320"/>
          </a:xfrm>
          <a:prstGeom prst="rect">
            <a:avLst/>
          </a:prstGeom>
          <a:noFill/>
          <a:ln/>
        </p:spPr>
        <p:txBody>
          <a:bodyPr wrap="square" lIns="0" tIns="0" rIns="0" bIns="0" rtlCol="0" anchor="t"/>
          <a:lstStyle/>
          <a:p>
            <a:pPr indent="0" marL="0">
              <a:buNone/>
            </a:pPr>
            <a:r>
              <a:rPr lang="en-US" sz="1300" b="1" dirty="0">
                <a:solidFill>
                  <a:schemeClr val="accent4"/>
                </a:solidFill>
              </a:rPr>
              <a:t>評価　</a:t>
            </a:r>
            <a:pPr indent="0" marL="0">
              <a:buNone/>
            </a:pPr>
            <a:r>
              <a:rPr lang="en-US" sz="1300" dirty="0">
                <a:solidFill>
                  <a:schemeClr val="tx1"/>
                </a:solidFill>
              </a:rPr>
              <a:t>専門部会＋独立評価者のレッドチーミング</a:t>
            </a:r>
            <a:endParaRPr lang="en-US" sz="1300" dirty="0"/>
          </a:p>
        </p:txBody>
      </p:sp>
      <p:sp>
        <p:nvSpPr>
          <p:cNvPr id="27" name="text-355"/>
          <p:cNvSpPr txBox="1"/>
          <p:nvPr/>
        </p:nvSpPr>
        <p:spPr>
          <a:xfrm>
            <a:off x="6537960" y="2697480"/>
            <a:ext cx="4846320" cy="274320"/>
          </a:xfrm>
          <a:prstGeom prst="rect">
            <a:avLst/>
          </a:prstGeom>
          <a:noFill/>
          <a:ln/>
        </p:spPr>
        <p:txBody>
          <a:bodyPr wrap="square" lIns="0" tIns="0" rIns="0" bIns="0" rtlCol="0" anchor="t"/>
          <a:lstStyle/>
          <a:p>
            <a:pPr indent="0" marL="0">
              <a:buNone/>
            </a:pPr>
            <a:r>
              <a:rPr lang="en-US" sz="1300" b="1" dirty="0">
                <a:solidFill>
                  <a:schemeClr val="accent4"/>
                </a:solidFill>
              </a:rPr>
              <a:t>受容者　</a:t>
            </a:r>
            <a:pPr indent="0" marL="0">
              <a:buNone/>
            </a:pPr>
            <a:r>
              <a:rPr lang="en-US" sz="1300" b="1" dirty="0">
                <a:solidFill>
                  <a:schemeClr val="tx1"/>
                </a:solidFill>
              </a:rPr>
              <a:t>経営層（案）</a:t>
            </a:r>
            <a:endParaRPr lang="en-US" sz="1300" dirty="0"/>
          </a:p>
        </p:txBody>
      </p:sp>
      <p:sp>
        <p:nvSpPr>
          <p:cNvPr id="28" name="card-356"/>
          <p:cNvSpPr/>
          <p:nvPr/>
        </p:nvSpPr>
        <p:spPr>
          <a:xfrm>
            <a:off x="5029200" y="3209544"/>
            <a:ext cx="6583680" cy="1371600"/>
          </a:xfrm>
          <a:prstGeom prst="roundRect">
            <a:avLst>
              <a:gd name="adj" fmla="val 5333"/>
            </a:avLst>
          </a:prstGeom>
          <a:solidFill>
            <a:schemeClr val="bg2"/>
          </a:solidFill>
          <a:ln w="12700">
            <a:solidFill>
              <a:schemeClr val="bg2"/>
            </a:solidFill>
            <a:prstDash val="solid"/>
          </a:ln>
        </p:spPr>
      </p:sp>
      <p:sp>
        <p:nvSpPr>
          <p:cNvPr id="29" name="chip-357"/>
          <p:cNvSpPr txBox="1"/>
          <p:nvPr/>
        </p:nvSpPr>
        <p:spPr>
          <a:xfrm>
            <a:off x="5257800" y="3392424"/>
            <a:ext cx="1097280" cy="347472"/>
          </a:xfrm>
          <a:prstGeom prst="roundRect">
            <a:avLst>
              <a:gd name="adj" fmla="val 42105"/>
            </a:avLst>
          </a:prstGeom>
          <a:solidFill>
            <a:schemeClr val="accent5"/>
          </a:solidFill>
          <a:ln/>
        </p:spPr>
        <p:txBody>
          <a:bodyPr wrap="square" lIns="0" tIns="0" rIns="0" bIns="0" rtlCol="0" anchor="ctr"/>
          <a:lstStyle/>
          <a:p>
            <a:pPr algn="ctr" indent="0" marL="0">
              <a:buNone/>
            </a:pPr>
            <a:r>
              <a:rPr lang="en-US" sz="1400" b="1" dirty="0">
                <a:solidFill>
                  <a:schemeClr val="bg1"/>
                </a:solidFill>
              </a:rPr>
              <a:t>Medium</a:t>
            </a:r>
            <a:endParaRPr lang="en-US" sz="1400" dirty="0"/>
          </a:p>
        </p:txBody>
      </p:sp>
      <p:sp>
        <p:nvSpPr>
          <p:cNvPr id="30" name="text-358"/>
          <p:cNvSpPr txBox="1"/>
          <p:nvPr/>
        </p:nvSpPr>
        <p:spPr>
          <a:xfrm>
            <a:off x="6537960" y="3300984"/>
            <a:ext cx="4846320" cy="566928"/>
          </a:xfrm>
          <a:prstGeom prst="rect">
            <a:avLst/>
          </a:prstGeom>
          <a:noFill/>
          <a:ln/>
        </p:spPr>
        <p:txBody>
          <a:bodyPr wrap="square" lIns="0" tIns="0" rIns="0" bIns="0" rtlCol="0" anchor="t"/>
          <a:lstStyle/>
          <a:p>
            <a:pPr indent="0" marL="0">
              <a:buNone/>
            </a:pPr>
            <a:r>
              <a:rPr lang="en-US" sz="1300" dirty="0">
                <a:solidFill>
                  <a:schemeClr val="tx1"/>
                </a:solidFill>
              </a:rPr>
              <a:t>Rule of Two で2つ／機密データ／RAG またはエージェント</a:t>
            </a:r>
            <a:endParaRPr lang="en-US" sz="1300" dirty="0"/>
          </a:p>
        </p:txBody>
      </p:sp>
      <p:sp>
        <p:nvSpPr>
          <p:cNvPr id="31" name="text-359"/>
          <p:cNvSpPr txBox="1"/>
          <p:nvPr/>
        </p:nvSpPr>
        <p:spPr>
          <a:xfrm>
            <a:off x="6537960" y="3922776"/>
            <a:ext cx="4846320" cy="274320"/>
          </a:xfrm>
          <a:prstGeom prst="rect">
            <a:avLst/>
          </a:prstGeom>
          <a:noFill/>
          <a:ln/>
        </p:spPr>
        <p:txBody>
          <a:bodyPr wrap="square" lIns="0" tIns="0" rIns="0" bIns="0" rtlCol="0" anchor="t"/>
          <a:lstStyle/>
          <a:p>
            <a:pPr indent="0" marL="0">
              <a:buNone/>
            </a:pPr>
            <a:r>
              <a:rPr lang="en-US" sz="1300" b="1" dirty="0">
                <a:solidFill>
                  <a:schemeClr val="accent4"/>
                </a:solidFill>
              </a:rPr>
              <a:t>評価　</a:t>
            </a:r>
            <a:pPr indent="0" marL="0">
              <a:buNone/>
            </a:pPr>
            <a:r>
              <a:rPr lang="en-US" sz="1300" dirty="0">
                <a:solidFill>
                  <a:schemeClr val="tx1"/>
                </a:solidFill>
              </a:rPr>
              <a:t>セキュリティ担当の確認＋導入前テスト</a:t>
            </a:r>
            <a:endParaRPr lang="en-US" sz="1300" dirty="0"/>
          </a:p>
        </p:txBody>
      </p:sp>
      <p:sp>
        <p:nvSpPr>
          <p:cNvPr id="32" name="text-360"/>
          <p:cNvSpPr txBox="1"/>
          <p:nvPr/>
        </p:nvSpPr>
        <p:spPr>
          <a:xfrm>
            <a:off x="6537960" y="4215384"/>
            <a:ext cx="4846320" cy="274320"/>
          </a:xfrm>
          <a:prstGeom prst="rect">
            <a:avLst/>
          </a:prstGeom>
          <a:noFill/>
          <a:ln/>
        </p:spPr>
        <p:txBody>
          <a:bodyPr wrap="square" lIns="0" tIns="0" rIns="0" bIns="0" rtlCol="0" anchor="t"/>
          <a:lstStyle/>
          <a:p>
            <a:pPr indent="0" marL="0">
              <a:buNone/>
            </a:pPr>
            <a:r>
              <a:rPr lang="en-US" sz="1300" b="1" dirty="0">
                <a:solidFill>
                  <a:schemeClr val="accent4"/>
                </a:solidFill>
              </a:rPr>
              <a:t>受容者　</a:t>
            </a:r>
            <a:pPr indent="0" marL="0">
              <a:buNone/>
            </a:pPr>
            <a:r>
              <a:rPr lang="en-US" sz="1300" b="1" dirty="0">
                <a:solidFill>
                  <a:schemeClr val="tx1"/>
                </a:solidFill>
              </a:rPr>
              <a:t>部門長（案）</a:t>
            </a:r>
            <a:endParaRPr lang="en-US" sz="1300" dirty="0"/>
          </a:p>
        </p:txBody>
      </p:sp>
      <p:sp>
        <p:nvSpPr>
          <p:cNvPr id="33" name="card-361"/>
          <p:cNvSpPr/>
          <p:nvPr/>
        </p:nvSpPr>
        <p:spPr>
          <a:xfrm>
            <a:off x="5029200" y="4727448"/>
            <a:ext cx="6583680" cy="1371600"/>
          </a:xfrm>
          <a:prstGeom prst="roundRect">
            <a:avLst>
              <a:gd name="adj" fmla="val 5333"/>
            </a:avLst>
          </a:prstGeom>
          <a:solidFill>
            <a:schemeClr val="bg2"/>
          </a:solidFill>
          <a:ln w="12700">
            <a:solidFill>
              <a:schemeClr val="bg2"/>
            </a:solidFill>
            <a:prstDash val="solid"/>
          </a:ln>
        </p:spPr>
      </p:sp>
      <p:sp>
        <p:nvSpPr>
          <p:cNvPr id="34" name="chip-362"/>
          <p:cNvSpPr txBox="1"/>
          <p:nvPr/>
        </p:nvSpPr>
        <p:spPr>
          <a:xfrm>
            <a:off x="5257800" y="4910328"/>
            <a:ext cx="1097280" cy="347472"/>
          </a:xfrm>
          <a:prstGeom prst="roundRect">
            <a:avLst>
              <a:gd name="adj" fmla="val 42105"/>
            </a:avLst>
          </a:prstGeom>
          <a:solidFill>
            <a:schemeClr val="accent4"/>
          </a:solidFill>
          <a:ln/>
        </p:spPr>
        <p:txBody>
          <a:bodyPr wrap="square" lIns="0" tIns="0" rIns="0" bIns="0" rtlCol="0" anchor="ctr"/>
          <a:lstStyle/>
          <a:p>
            <a:pPr algn="ctr" indent="0" marL="0">
              <a:buNone/>
            </a:pPr>
            <a:r>
              <a:rPr lang="en-US" sz="1400" b="1" dirty="0">
                <a:solidFill>
                  <a:schemeClr val="bg1"/>
                </a:solidFill>
              </a:rPr>
              <a:t>Low</a:t>
            </a:r>
            <a:endParaRPr lang="en-US" sz="1400" dirty="0"/>
          </a:p>
        </p:txBody>
      </p:sp>
      <p:sp>
        <p:nvSpPr>
          <p:cNvPr id="35" name="text-363"/>
          <p:cNvSpPr txBox="1"/>
          <p:nvPr/>
        </p:nvSpPr>
        <p:spPr>
          <a:xfrm>
            <a:off x="6537960" y="4818888"/>
            <a:ext cx="4846320" cy="566928"/>
          </a:xfrm>
          <a:prstGeom prst="rect">
            <a:avLst/>
          </a:prstGeom>
          <a:noFill/>
          <a:ln/>
        </p:spPr>
        <p:txBody>
          <a:bodyPr wrap="square" lIns="0" tIns="0" rIns="0" bIns="0" rtlCol="0" anchor="t"/>
          <a:lstStyle/>
          <a:p>
            <a:pPr indent="0" marL="0">
              <a:buNone/>
            </a:pPr>
            <a:r>
              <a:rPr lang="en-US" sz="1300" dirty="0">
                <a:solidFill>
                  <a:schemeClr val="tx1"/>
                </a:solidFill>
              </a:rPr>
              <a:t>上記以外</a:t>
            </a:r>
            <a:endParaRPr lang="en-US" sz="1300" dirty="0"/>
          </a:p>
        </p:txBody>
      </p:sp>
      <p:sp>
        <p:nvSpPr>
          <p:cNvPr id="36" name="text-364"/>
          <p:cNvSpPr txBox="1"/>
          <p:nvPr/>
        </p:nvSpPr>
        <p:spPr>
          <a:xfrm>
            <a:off x="6537960" y="5440680"/>
            <a:ext cx="4846320" cy="274320"/>
          </a:xfrm>
          <a:prstGeom prst="rect">
            <a:avLst/>
          </a:prstGeom>
          <a:noFill/>
          <a:ln/>
        </p:spPr>
        <p:txBody>
          <a:bodyPr wrap="square" lIns="0" tIns="0" rIns="0" bIns="0" rtlCol="0" anchor="t"/>
          <a:lstStyle/>
          <a:p>
            <a:pPr indent="0" marL="0">
              <a:buNone/>
            </a:pPr>
            <a:r>
              <a:rPr lang="en-US" sz="1300" b="1" dirty="0">
                <a:solidFill>
                  <a:schemeClr val="accent4"/>
                </a:solidFill>
              </a:rPr>
              <a:t>評価　</a:t>
            </a:r>
            <a:pPr indent="0" marL="0">
              <a:buNone/>
            </a:pPr>
            <a:r>
              <a:rPr lang="en-US" sz="1300" dirty="0">
                <a:solidFill>
                  <a:schemeClr val="tx1"/>
                </a:solidFill>
              </a:rPr>
              <a:t>セルフチェック（チェックシート記入）</a:t>
            </a:r>
            <a:endParaRPr lang="en-US" sz="1300" dirty="0"/>
          </a:p>
        </p:txBody>
      </p:sp>
      <p:sp>
        <p:nvSpPr>
          <p:cNvPr id="37" name="text-365"/>
          <p:cNvSpPr txBox="1"/>
          <p:nvPr/>
        </p:nvSpPr>
        <p:spPr>
          <a:xfrm>
            <a:off x="6537960" y="5733288"/>
            <a:ext cx="4846320" cy="274320"/>
          </a:xfrm>
          <a:prstGeom prst="rect">
            <a:avLst/>
          </a:prstGeom>
          <a:noFill/>
          <a:ln/>
        </p:spPr>
        <p:txBody>
          <a:bodyPr wrap="square" lIns="0" tIns="0" rIns="0" bIns="0" rtlCol="0" anchor="t"/>
          <a:lstStyle/>
          <a:p>
            <a:pPr indent="0" marL="0">
              <a:buNone/>
            </a:pPr>
            <a:r>
              <a:rPr lang="en-US" sz="1300" b="1" dirty="0">
                <a:solidFill>
                  <a:schemeClr val="accent4"/>
                </a:solidFill>
              </a:rPr>
              <a:t>受容者　</a:t>
            </a:r>
            <a:pPr indent="0" marL="0">
              <a:buNone/>
            </a:pPr>
            <a:r>
              <a:rPr lang="en-US" sz="1300" b="1" dirty="0">
                <a:solidFill>
                  <a:schemeClr val="tx1"/>
                </a:solidFill>
              </a:rPr>
              <a:t>案件オーナー</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経営と現場の目線合わせ：同じ記録から両方の報告を出す</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この往復が回っている状態を「ガバナンスが安定した状態」とする（集約の仕組みは Phase 3 で構築）</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出典：第8章 8.6</a:t>
            </a:r>
            <a:endParaRPr lang="en-US" sz="1000" dirty="0"/>
          </a:p>
        </p:txBody>
      </p:sp>
      <p:sp>
        <p:nvSpPr>
          <p:cNvPr id="6" name="card-366"/>
          <p:cNvSpPr/>
          <p:nvPr/>
        </p:nvSpPr>
        <p:spPr>
          <a:xfrm>
            <a:off x="548640" y="1691640"/>
            <a:ext cx="3383280" cy="868680"/>
          </a:xfrm>
          <a:prstGeom prst="roundRect">
            <a:avLst>
              <a:gd name="adj" fmla="val 8421"/>
            </a:avLst>
          </a:prstGeom>
          <a:solidFill>
            <a:schemeClr val="accent2"/>
          </a:solidFill>
          <a:ln w="12700">
            <a:solidFill>
              <a:schemeClr val="accent2"/>
            </a:solidFill>
            <a:prstDash val="solid"/>
          </a:ln>
        </p:spPr>
      </p:sp>
      <p:sp>
        <p:nvSpPr>
          <p:cNvPr id="7" name="text-367"/>
          <p:cNvSpPr txBox="1"/>
          <p:nvPr/>
        </p:nvSpPr>
        <p:spPr>
          <a:xfrm>
            <a:off x="777240" y="1691640"/>
            <a:ext cx="2926080" cy="868680"/>
          </a:xfrm>
          <a:prstGeom prst="rect">
            <a:avLst/>
          </a:prstGeom>
          <a:noFill/>
          <a:ln/>
        </p:spPr>
        <p:txBody>
          <a:bodyPr wrap="square" lIns="0" tIns="0" rIns="0" bIns="0" rtlCol="0" anchor="ctr"/>
          <a:lstStyle/>
          <a:p>
            <a:pPr indent="0" marL="0">
              <a:buNone/>
            </a:pPr>
            <a:r>
              <a:rPr lang="en-US" sz="1800" b="1" dirty="0">
                <a:solidFill>
                  <a:schemeClr val="bg1"/>
                </a:solidFill>
              </a:rPr>
              <a:t>現場の記録</a:t>
            </a:r>
            <a:endParaRPr lang="en-US" sz="1400" dirty="0"/>
          </a:p>
          <a:p>
            <a:pPr indent="0" marL="0">
              <a:buNone/>
            </a:pPr>
            <a:r>
              <a:rPr lang="en-US" sz="1300" dirty="0">
                <a:solidFill>
                  <a:schemeClr val="bg1"/>
                </a:solidFill>
              </a:rPr>
              <a:t>OWASP ID</a:t>
            </a:r>
            <a:endParaRPr lang="en-US" sz="1400" dirty="0"/>
          </a:p>
        </p:txBody>
      </p:sp>
      <p:sp>
        <p:nvSpPr>
          <p:cNvPr id="8" name="card-368"/>
          <p:cNvSpPr/>
          <p:nvPr/>
        </p:nvSpPr>
        <p:spPr>
          <a:xfrm>
            <a:off x="548640" y="2651760"/>
            <a:ext cx="3383280" cy="2514600"/>
          </a:xfrm>
          <a:prstGeom prst="roundRect">
            <a:avLst>
              <a:gd name="adj" fmla="val 2909"/>
            </a:avLst>
          </a:prstGeom>
          <a:solidFill>
            <a:schemeClr val="bg2"/>
          </a:solidFill>
          <a:ln w="12700">
            <a:solidFill>
              <a:schemeClr val="bg2"/>
            </a:solidFill>
            <a:prstDash val="solid"/>
          </a:ln>
        </p:spPr>
      </p:sp>
      <p:sp>
        <p:nvSpPr>
          <p:cNvPr id="9" name="text-369"/>
          <p:cNvSpPr txBox="1"/>
          <p:nvPr/>
        </p:nvSpPr>
        <p:spPr>
          <a:xfrm>
            <a:off x="777240" y="2788920"/>
            <a:ext cx="29260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事前分類の回答と Tier</a:t>
            </a:r>
            <a:endParaRPr lang="en-US" sz="1400" dirty="0"/>
          </a:p>
          <a:p>
            <a:pPr marL="342900" indent="-342900">
              <a:spcAft>
                <a:spcPts val="600"/>
              </a:spcAft>
              <a:buSzPct val="100000"/>
              <a:buChar char="•"/>
            </a:pPr>
            <a:r>
              <a:rPr lang="en-US" sz="1400" dirty="0">
                <a:solidFill>
                  <a:schemeClr val="tx1"/>
                </a:solidFill>
              </a:rPr>
              <a:t>技術設問の回答と証跡</a:t>
            </a:r>
            <a:endParaRPr lang="en-US" sz="1400" dirty="0"/>
          </a:p>
          <a:p>
            <a:pPr marL="342900" indent="-342900">
              <a:spcAft>
                <a:spcPts val="600"/>
              </a:spcAft>
              <a:buSzPct val="100000"/>
              <a:buChar char="•"/>
            </a:pPr>
            <a:r>
              <a:rPr lang="en-US" sz="1400" dirty="0">
                <a:solidFill>
                  <a:schemeClr val="tx1"/>
                </a:solidFill>
              </a:rPr>
              <a:t>未実施の理由・代替策・残留リスク・受容者</a:t>
            </a:r>
            <a:endParaRPr lang="en-US" sz="1400" dirty="0"/>
          </a:p>
        </p:txBody>
      </p:sp>
      <p:sp>
        <p:nvSpPr>
          <p:cNvPr id="10" name="arrow-370"/>
          <p:cNvSpPr/>
          <p:nvPr/>
        </p:nvSpPr>
        <p:spPr>
          <a:xfrm>
            <a:off x="4005072" y="3611880"/>
            <a:ext cx="310896" cy="457200"/>
          </a:xfrm>
          <a:prstGeom prst="rightArrow">
            <a:avLst/>
          </a:prstGeom>
          <a:solidFill>
            <a:schemeClr val="accent6"/>
          </a:solidFill>
          <a:ln w="12700">
            <a:solidFill>
              <a:schemeClr val="accent6"/>
            </a:solidFill>
            <a:prstDash val="solid"/>
          </a:ln>
        </p:spPr>
      </p:sp>
      <p:sp>
        <p:nvSpPr>
          <p:cNvPr id="11" name="card-371"/>
          <p:cNvSpPr/>
          <p:nvPr/>
        </p:nvSpPr>
        <p:spPr>
          <a:xfrm>
            <a:off x="4389120" y="1691640"/>
            <a:ext cx="3383280" cy="868680"/>
          </a:xfrm>
          <a:prstGeom prst="roundRect">
            <a:avLst>
              <a:gd name="adj" fmla="val 8421"/>
            </a:avLst>
          </a:prstGeom>
          <a:solidFill>
            <a:schemeClr val="accent4"/>
          </a:solidFill>
          <a:ln w="12700">
            <a:solidFill>
              <a:schemeClr val="accent4"/>
            </a:solidFill>
            <a:prstDash val="solid"/>
          </a:ln>
        </p:spPr>
      </p:sp>
      <p:sp>
        <p:nvSpPr>
          <p:cNvPr id="12" name="text-372"/>
          <p:cNvSpPr txBox="1"/>
          <p:nvPr/>
        </p:nvSpPr>
        <p:spPr>
          <a:xfrm>
            <a:off x="4617720" y="1691640"/>
            <a:ext cx="2926080" cy="868680"/>
          </a:xfrm>
          <a:prstGeom prst="rect">
            <a:avLst/>
          </a:prstGeom>
          <a:noFill/>
          <a:ln/>
        </p:spPr>
        <p:txBody>
          <a:bodyPr wrap="square" lIns="0" tIns="0" rIns="0" bIns="0" rtlCol="0" anchor="ctr"/>
          <a:lstStyle/>
          <a:p>
            <a:pPr indent="0" marL="0">
              <a:buNone/>
            </a:pPr>
            <a:r>
              <a:rPr lang="en-US" sz="1800" b="1" dirty="0">
                <a:solidFill>
                  <a:schemeClr val="bg1"/>
                </a:solidFill>
              </a:rPr>
              <a:t>公式の対応表で変換</a:t>
            </a:r>
            <a:endParaRPr lang="en-US" sz="1400" dirty="0"/>
          </a:p>
          <a:p>
            <a:pPr indent="0" marL="0">
              <a:buNone/>
            </a:pPr>
            <a:r>
              <a:rPr lang="en-US" sz="1300" dirty="0">
                <a:solidFill>
                  <a:schemeClr val="bg1"/>
                </a:solidFill>
              </a:rPr>
              <a:t>付録A／Crosswalk</a:t>
            </a:r>
            <a:endParaRPr lang="en-US" sz="1400" dirty="0"/>
          </a:p>
        </p:txBody>
      </p:sp>
      <p:sp>
        <p:nvSpPr>
          <p:cNvPr id="13" name="card-373"/>
          <p:cNvSpPr/>
          <p:nvPr/>
        </p:nvSpPr>
        <p:spPr>
          <a:xfrm>
            <a:off x="4389120" y="2651760"/>
            <a:ext cx="3383280" cy="2514600"/>
          </a:xfrm>
          <a:prstGeom prst="roundRect">
            <a:avLst>
              <a:gd name="adj" fmla="val 2909"/>
            </a:avLst>
          </a:prstGeom>
          <a:solidFill>
            <a:schemeClr val="bg2"/>
          </a:solidFill>
          <a:ln w="12700">
            <a:solidFill>
              <a:schemeClr val="bg2"/>
            </a:solidFill>
            <a:prstDash val="solid"/>
          </a:ln>
        </p:spPr>
      </p:sp>
      <p:sp>
        <p:nvSpPr>
          <p:cNvPr id="14" name="text-374"/>
          <p:cNvSpPr txBox="1"/>
          <p:nvPr/>
        </p:nvSpPr>
        <p:spPr>
          <a:xfrm>
            <a:off x="4617720" y="2788920"/>
            <a:ext cx="29260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AI RMF の機能・カテゴリへ</a:t>
            </a:r>
            <a:endParaRPr lang="en-US" sz="1400" dirty="0"/>
          </a:p>
          <a:p>
            <a:pPr marL="342900" indent="-342900">
              <a:spcAft>
                <a:spcPts val="600"/>
              </a:spcAft>
              <a:buSzPct val="100000"/>
              <a:buChar char="•"/>
            </a:pPr>
            <a:r>
              <a:rPr lang="en-US" sz="1400" dirty="0">
                <a:solidFill>
                  <a:schemeClr val="tx1"/>
                </a:solidFill>
              </a:rPr>
              <a:t>AI 600-1 のリスク区分へ</a:t>
            </a:r>
            <a:endParaRPr lang="en-US" sz="1400" dirty="0"/>
          </a:p>
          <a:p>
            <a:pPr marL="342900" indent="-342900">
              <a:spcAft>
                <a:spcPts val="600"/>
              </a:spcAft>
              <a:buSzPct val="100000"/>
              <a:buChar char="•"/>
            </a:pPr>
            <a:r>
              <a:rPr lang="en-US" sz="1400" dirty="0">
                <a:solidFill>
                  <a:schemeClr val="tx1"/>
                </a:solidFill>
              </a:rPr>
              <a:t>CSF 2.0 のサブカテゴリへ</a:t>
            </a:r>
            <a:endParaRPr lang="en-US" sz="1400" dirty="0"/>
          </a:p>
        </p:txBody>
      </p:sp>
      <p:sp>
        <p:nvSpPr>
          <p:cNvPr id="15" name="arrow-375"/>
          <p:cNvSpPr/>
          <p:nvPr/>
        </p:nvSpPr>
        <p:spPr>
          <a:xfrm>
            <a:off x="7845552" y="3611880"/>
            <a:ext cx="310896" cy="457200"/>
          </a:xfrm>
          <a:prstGeom prst="rightArrow">
            <a:avLst/>
          </a:prstGeom>
          <a:solidFill>
            <a:schemeClr val="accent6"/>
          </a:solidFill>
          <a:ln w="12700">
            <a:solidFill>
              <a:schemeClr val="accent6"/>
            </a:solidFill>
            <a:prstDash val="solid"/>
          </a:ln>
        </p:spPr>
      </p:sp>
      <p:sp>
        <p:nvSpPr>
          <p:cNvPr id="16" name="card-376"/>
          <p:cNvSpPr/>
          <p:nvPr/>
        </p:nvSpPr>
        <p:spPr>
          <a:xfrm>
            <a:off x="8229600" y="1691640"/>
            <a:ext cx="3383280" cy="868680"/>
          </a:xfrm>
          <a:prstGeom prst="roundRect">
            <a:avLst>
              <a:gd name="adj" fmla="val 8421"/>
            </a:avLst>
          </a:prstGeom>
          <a:solidFill>
            <a:schemeClr val="accent1"/>
          </a:solidFill>
          <a:ln w="12700">
            <a:solidFill>
              <a:schemeClr val="accent1"/>
            </a:solidFill>
            <a:prstDash val="solid"/>
          </a:ln>
        </p:spPr>
      </p:sp>
      <p:sp>
        <p:nvSpPr>
          <p:cNvPr id="17" name="text-377"/>
          <p:cNvSpPr txBox="1"/>
          <p:nvPr/>
        </p:nvSpPr>
        <p:spPr>
          <a:xfrm>
            <a:off x="8458200" y="1691640"/>
            <a:ext cx="2926080" cy="868680"/>
          </a:xfrm>
          <a:prstGeom prst="rect">
            <a:avLst/>
          </a:prstGeom>
          <a:noFill/>
          <a:ln/>
        </p:spPr>
        <p:txBody>
          <a:bodyPr wrap="square" lIns="0" tIns="0" rIns="0" bIns="0" rtlCol="0" anchor="ctr"/>
          <a:lstStyle/>
          <a:p>
            <a:pPr indent="0" marL="0">
              <a:buNone/>
            </a:pPr>
            <a:r>
              <a:rPr lang="en-US" sz="1800" b="1" dirty="0">
                <a:solidFill>
                  <a:schemeClr val="bg1"/>
                </a:solidFill>
              </a:rPr>
              <a:t>経営への報告</a:t>
            </a:r>
            <a:endParaRPr lang="en-US" sz="1400" dirty="0"/>
          </a:p>
          <a:p>
            <a:pPr indent="0" marL="0">
              <a:buNone/>
            </a:pPr>
            <a:r>
              <a:rPr lang="en-US" sz="1300" dirty="0">
                <a:solidFill>
                  <a:schemeClr val="bg1"/>
                </a:solidFill>
              </a:rPr>
              <a:t>NIST の言葉</a:t>
            </a:r>
            <a:endParaRPr lang="en-US" sz="1400" dirty="0"/>
          </a:p>
        </p:txBody>
      </p:sp>
      <p:sp>
        <p:nvSpPr>
          <p:cNvPr id="18" name="card-378"/>
          <p:cNvSpPr/>
          <p:nvPr/>
        </p:nvSpPr>
        <p:spPr>
          <a:xfrm>
            <a:off x="8229600" y="2651760"/>
            <a:ext cx="3383280" cy="2514600"/>
          </a:xfrm>
          <a:prstGeom prst="roundRect">
            <a:avLst>
              <a:gd name="adj" fmla="val 2909"/>
            </a:avLst>
          </a:prstGeom>
          <a:solidFill>
            <a:schemeClr val="bg2"/>
          </a:solidFill>
          <a:ln w="12700">
            <a:solidFill>
              <a:schemeClr val="bg2"/>
            </a:solidFill>
            <a:prstDash val="solid"/>
          </a:ln>
        </p:spPr>
      </p:sp>
      <p:sp>
        <p:nvSpPr>
          <p:cNvPr id="19" name="text-379"/>
          <p:cNvSpPr txBox="1"/>
          <p:nvPr/>
        </p:nvSpPr>
        <p:spPr>
          <a:xfrm>
            <a:off x="8458200" y="2788920"/>
            <a:ext cx="29260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Tier 別の案件数と審査状況</a:t>
            </a:r>
            <a:endParaRPr lang="en-US" sz="1400" dirty="0"/>
          </a:p>
          <a:p>
            <a:pPr marL="342900" indent="-342900">
              <a:spcAft>
                <a:spcPts val="600"/>
              </a:spcAft>
              <a:buSzPct val="100000"/>
              <a:buChar char="•"/>
            </a:pPr>
            <a:r>
              <a:rPr lang="en-US" sz="1400" dirty="0">
                <a:solidFill>
                  <a:schemeClr val="tx1"/>
                </a:solidFill>
              </a:rPr>
              <a:t>AI RMF 機能別の充足状況</a:t>
            </a:r>
            <a:endParaRPr lang="en-US" sz="1400" dirty="0"/>
          </a:p>
          <a:p>
            <a:pPr marL="342900" indent="-342900">
              <a:spcAft>
                <a:spcPts val="600"/>
              </a:spcAft>
              <a:buSzPct val="100000"/>
              <a:buChar char="•"/>
            </a:pPr>
            <a:r>
              <a:rPr lang="en-US" sz="1400" dirty="0">
                <a:solidFill>
                  <a:schemeClr val="tx1"/>
                </a:solidFill>
              </a:rPr>
              <a:t>AI 600-1 リスク別の露出</a:t>
            </a:r>
            <a:endParaRPr lang="en-US" sz="1400" dirty="0"/>
          </a:p>
          <a:p>
            <a:pPr marL="342900" indent="-342900">
              <a:spcAft>
                <a:spcPts val="600"/>
              </a:spcAft>
              <a:buSzPct val="100000"/>
              <a:buChar char="•"/>
            </a:pPr>
            <a:r>
              <a:rPr lang="en-US" sz="1400" dirty="0">
                <a:solidFill>
                  <a:schemeClr val="tx1"/>
                </a:solidFill>
              </a:rPr>
              <a:t>OWASP ID 別の頻出未対策</a:t>
            </a:r>
            <a:endParaRPr lang="en-US" sz="1400" dirty="0"/>
          </a:p>
        </p:txBody>
      </p:sp>
      <p:sp>
        <p:nvSpPr>
          <p:cNvPr id="20" name="card-380"/>
          <p:cNvSpPr/>
          <p:nvPr/>
        </p:nvSpPr>
        <p:spPr>
          <a:xfrm>
            <a:off x="548640" y="5349240"/>
            <a:ext cx="11064240" cy="822960"/>
          </a:xfrm>
          <a:prstGeom prst="roundRect">
            <a:avLst>
              <a:gd name="adj" fmla="val 8889"/>
            </a:avLst>
          </a:prstGeom>
          <a:solidFill>
            <a:srgbClr val="E6F2F1"/>
          </a:solidFill>
          <a:ln w="12700">
            <a:solidFill>
              <a:srgbClr val="E6F2F1"/>
            </a:solidFill>
            <a:prstDash val="solid"/>
          </a:ln>
        </p:spPr>
      </p:sp>
      <p:sp>
        <p:nvSpPr>
          <p:cNvPr id="21" name="arrow-381"/>
          <p:cNvSpPr/>
          <p:nvPr/>
        </p:nvSpPr>
        <p:spPr>
          <a:xfrm>
            <a:off x="777240" y="5577840"/>
            <a:ext cx="548640" cy="365760"/>
          </a:xfrm>
          <a:prstGeom prst="leftArrow">
            <a:avLst/>
          </a:prstGeom>
          <a:solidFill>
            <a:schemeClr val="accent2"/>
          </a:solidFill>
          <a:ln w="12700">
            <a:solidFill>
              <a:schemeClr val="accent2"/>
            </a:solidFill>
            <a:prstDash val="solid"/>
          </a:ln>
        </p:spPr>
      </p:sp>
      <p:sp>
        <p:nvSpPr>
          <p:cNvPr id="22" name="text-382"/>
          <p:cNvSpPr txBox="1"/>
          <p:nvPr/>
        </p:nvSpPr>
        <p:spPr>
          <a:xfrm>
            <a:off x="1508760" y="5349240"/>
            <a:ext cx="9875520" cy="822960"/>
          </a:xfrm>
          <a:prstGeom prst="rect">
            <a:avLst/>
          </a:prstGeom>
          <a:noFill/>
          <a:ln/>
        </p:spPr>
        <p:txBody>
          <a:bodyPr wrap="square" lIns="0" tIns="0" rIns="0" bIns="0" rtlCol="0" anchor="ctr"/>
          <a:lstStyle/>
          <a:p>
            <a:pPr indent="0" marL="0">
              <a:buNone/>
            </a:pPr>
            <a:r>
              <a:rPr lang="en-US" sz="1400" b="1" dirty="0">
                <a:solidFill>
                  <a:schemeClr val="accent2"/>
                </a:solidFill>
              </a:rPr>
              <a:t>逆方向　</a:t>
            </a:r>
            <a:pPr indent="0" marL="0">
              <a:buNone/>
            </a:pPr>
            <a:r>
              <a:rPr lang="en-US" sz="1400" dirty="0">
                <a:solidFill>
                  <a:schemeClr val="tx1"/>
                </a:solidFill>
              </a:rPr>
              <a:t>経営の方針（例：エージェントの不可逆操作は必ず人が承認）が、技術設問の「必須」指定として現場に降りる</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ロードマップ：NISTとOWASPを同時に進める3段階</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片方だけが先行しないよう、各 Phase でガバナンス層と技術対策層を対にして進める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出典：第9章</a:t>
            </a:r>
            <a:endParaRPr lang="en-US" sz="1000" dirty="0"/>
          </a:p>
        </p:txBody>
      </p:sp>
      <p:sp>
        <p:nvSpPr>
          <p:cNvPr id="6" name="chev-383"/>
          <p:cNvSpPr/>
          <p:nvPr/>
        </p:nvSpPr>
        <p:spPr>
          <a:xfrm>
            <a:off x="548640" y="1691640"/>
            <a:ext cx="3566160" cy="731520"/>
          </a:xfrm>
          <a:prstGeom prst="chevron">
            <a:avLst/>
          </a:prstGeom>
          <a:solidFill>
            <a:schemeClr val="accent3"/>
          </a:solidFill>
          <a:ln w="12700">
            <a:solidFill>
              <a:schemeClr val="accent3"/>
            </a:solidFill>
            <a:prstDash val="solid"/>
          </a:ln>
        </p:spPr>
      </p:sp>
      <p:sp>
        <p:nvSpPr>
          <p:cNvPr id="7" name="text-384"/>
          <p:cNvSpPr txBox="1"/>
          <p:nvPr/>
        </p:nvSpPr>
        <p:spPr>
          <a:xfrm>
            <a:off x="868680" y="1691640"/>
            <a:ext cx="2926080" cy="731520"/>
          </a:xfrm>
          <a:prstGeom prst="rect">
            <a:avLst/>
          </a:prstGeom>
          <a:noFill/>
          <a:ln/>
        </p:spPr>
        <p:txBody>
          <a:bodyPr wrap="square" lIns="0" tIns="0" rIns="0" bIns="0" rtlCol="0" anchor="ctr"/>
          <a:lstStyle/>
          <a:p>
            <a:pPr algn="ctr" indent="0" marL="0">
              <a:buNone/>
            </a:pPr>
            <a:r>
              <a:rPr lang="en-US" sz="1800" b="1" dirty="0">
                <a:solidFill>
                  <a:schemeClr val="bg1"/>
                </a:solidFill>
              </a:rPr>
              <a:t>Phase 1</a:t>
            </a:r>
            <a:endParaRPr lang="en-US" sz="1800" dirty="0"/>
          </a:p>
        </p:txBody>
      </p:sp>
      <p:sp>
        <p:nvSpPr>
          <p:cNvPr id="8" name="text-385"/>
          <p:cNvSpPr txBox="1"/>
          <p:nvPr/>
        </p:nvSpPr>
        <p:spPr>
          <a:xfrm>
            <a:off x="548640" y="2514600"/>
            <a:ext cx="3566160" cy="365760"/>
          </a:xfrm>
          <a:prstGeom prst="rect">
            <a:avLst/>
          </a:prstGeom>
          <a:noFill/>
          <a:ln/>
        </p:spPr>
        <p:txBody>
          <a:bodyPr wrap="square" lIns="0" tIns="0" rIns="0" bIns="0" rtlCol="0" anchor="t"/>
          <a:lstStyle/>
          <a:p>
            <a:pPr indent="0" marL="0">
              <a:buNone/>
            </a:pPr>
            <a:r>
              <a:rPr lang="en-US" sz="1400" b="1" dirty="0">
                <a:solidFill>
                  <a:schemeClr val="tx2"/>
                </a:solidFill>
              </a:rPr>
              <a:t>ガバナンス拡張と基本対策の同時開始</a:t>
            </a:r>
            <a:endParaRPr lang="en-US" sz="1400" dirty="0"/>
          </a:p>
        </p:txBody>
      </p:sp>
      <p:sp>
        <p:nvSpPr>
          <p:cNvPr id="9" name="card-386"/>
          <p:cNvSpPr/>
          <p:nvPr/>
        </p:nvSpPr>
        <p:spPr>
          <a:xfrm>
            <a:off x="548640" y="2926080"/>
            <a:ext cx="3566160" cy="1417320"/>
          </a:xfrm>
          <a:prstGeom prst="roundRect">
            <a:avLst>
              <a:gd name="adj" fmla="val 5161"/>
            </a:avLst>
          </a:prstGeom>
          <a:solidFill>
            <a:schemeClr val="bg2"/>
          </a:solidFill>
          <a:ln w="12700">
            <a:solidFill>
              <a:schemeClr val="bg2"/>
            </a:solidFill>
            <a:prstDash val="solid"/>
          </a:ln>
        </p:spPr>
      </p:sp>
      <p:sp>
        <p:nvSpPr>
          <p:cNvPr id="10" name="text-387"/>
          <p:cNvSpPr txBox="1"/>
          <p:nvPr/>
        </p:nvSpPr>
        <p:spPr>
          <a:xfrm>
            <a:off x="731520" y="2999232"/>
            <a:ext cx="3200400" cy="1325880"/>
          </a:xfrm>
          <a:prstGeom prst="rect">
            <a:avLst/>
          </a:prstGeom>
          <a:noFill/>
          <a:ln/>
        </p:spPr>
        <p:txBody>
          <a:bodyPr wrap="square" lIns="0" tIns="0" rIns="0" bIns="0" rtlCol="0" anchor="t"/>
          <a:lstStyle/>
          <a:p>
            <a:pPr indent="0" marL="0">
              <a:buNone/>
            </a:pPr>
            <a:r>
              <a:rPr lang="en-US" sz="1300" b="1" dirty="0">
                <a:solidFill>
                  <a:schemeClr val="accent1"/>
                </a:solidFill>
              </a:rPr>
              <a:t>NIST</a:t>
            </a:r>
            <a:endParaRPr lang="en-US" sz="1300" dirty="0"/>
          </a:p>
          <a:p>
            <a:pPr marL="342900" indent="-342900">
              <a:buSzPct val="100000"/>
              <a:buChar char="•"/>
            </a:pPr>
            <a:r>
              <a:rPr lang="en-US" sz="1300" dirty="0">
                <a:solidFill>
                  <a:schemeClr val="tx1"/>
                </a:solidFill>
              </a:rPr>
              <a:t>生成AI利用方針</a:t>
            </a:r>
            <a:endParaRPr lang="en-US" sz="1300" dirty="0"/>
          </a:p>
          <a:p>
            <a:pPr marL="342900" indent="-342900">
              <a:buSzPct val="100000"/>
              <a:buChar char="•"/>
            </a:pPr>
            <a:r>
              <a:rPr lang="en-US" sz="1300" dirty="0">
                <a:solidFill>
                  <a:schemeClr val="tx1"/>
                </a:solidFill>
              </a:rPr>
              <a:t>AI資産台帳を既存台帳と統合</a:t>
            </a:r>
            <a:endParaRPr lang="en-US" sz="1300" dirty="0"/>
          </a:p>
          <a:p>
            <a:pPr marL="342900" indent="-342900">
              <a:buSzPct val="100000"/>
              <a:buChar char="•"/>
            </a:pPr>
            <a:r>
              <a:rPr lang="en-US" sz="1300" dirty="0">
                <a:solidFill>
                  <a:schemeClr val="tx1"/>
                </a:solidFill>
              </a:rPr>
              <a:t>供給者管理にモデル・AIサービスを追加</a:t>
            </a:r>
            <a:endParaRPr lang="en-US" sz="1300" dirty="0"/>
          </a:p>
          <a:p>
            <a:pPr marL="342900" indent="-342900">
              <a:buSzPct val="100000"/>
              <a:buChar char="•"/>
            </a:pPr>
            <a:r>
              <a:rPr lang="en-US" sz="1300" dirty="0">
                <a:solidFill>
                  <a:schemeClr val="tx1"/>
                </a:solidFill>
              </a:rPr>
              <a:t>暫定審査（事前分類5問）</a:t>
            </a:r>
            <a:endParaRPr lang="en-US" sz="1300" dirty="0"/>
          </a:p>
        </p:txBody>
      </p:sp>
      <p:sp>
        <p:nvSpPr>
          <p:cNvPr id="11" name="card-388"/>
          <p:cNvSpPr/>
          <p:nvPr/>
        </p:nvSpPr>
        <p:spPr>
          <a:xfrm>
            <a:off x="548640" y="4434840"/>
            <a:ext cx="3566160" cy="1097280"/>
          </a:xfrm>
          <a:prstGeom prst="roundRect">
            <a:avLst>
              <a:gd name="adj" fmla="val 6667"/>
            </a:avLst>
          </a:prstGeom>
          <a:solidFill>
            <a:schemeClr val="bg2"/>
          </a:solidFill>
          <a:ln w="12700">
            <a:solidFill>
              <a:schemeClr val="bg2"/>
            </a:solidFill>
            <a:prstDash val="solid"/>
          </a:ln>
        </p:spPr>
      </p:sp>
      <p:sp>
        <p:nvSpPr>
          <p:cNvPr id="12" name="text-389"/>
          <p:cNvSpPr txBox="1"/>
          <p:nvPr/>
        </p:nvSpPr>
        <p:spPr>
          <a:xfrm>
            <a:off x="731520" y="4507992"/>
            <a:ext cx="3200400" cy="1005840"/>
          </a:xfrm>
          <a:prstGeom prst="rect">
            <a:avLst/>
          </a:prstGeom>
          <a:noFill/>
          <a:ln/>
        </p:spPr>
        <p:txBody>
          <a:bodyPr wrap="square" lIns="0" tIns="0" rIns="0" bIns="0" rtlCol="0" anchor="t"/>
          <a:lstStyle/>
          <a:p>
            <a:pPr indent="0" marL="0">
              <a:buNone/>
            </a:pPr>
            <a:r>
              <a:rPr lang="en-US" sz="1300" b="1" dirty="0">
                <a:solidFill>
                  <a:schemeClr val="accent2"/>
                </a:solidFill>
              </a:rPr>
              <a:t>OWASP</a:t>
            </a:r>
            <a:endParaRPr lang="en-US" sz="1300" dirty="0"/>
          </a:p>
          <a:p>
            <a:pPr marL="342900" indent="-342900">
              <a:buSzPct val="100000"/>
              <a:buChar char="•"/>
            </a:pPr>
            <a:r>
              <a:rPr lang="en-US" sz="1300" dirty="0">
                <a:solidFill>
                  <a:schemeClr val="tx1"/>
                </a:solidFill>
              </a:rPr>
              <a:t>最優先 LLM01・LLM02・LLM10（エージェントは＋LLM03）</a:t>
            </a:r>
            <a:endParaRPr lang="en-US" sz="1300" dirty="0"/>
          </a:p>
          <a:p>
            <a:pPr marL="342900" indent="-342900">
              <a:buSzPct val="100000"/>
              <a:buChar char="•"/>
            </a:pPr>
            <a:r>
              <a:rPr lang="en-US" sz="1300" dirty="0">
                <a:solidFill>
                  <a:schemeClr val="tx1"/>
                </a:solidFill>
              </a:rPr>
              <a:t>既存監視にプロンプト・ツール呼出・トークン消費を追加</a:t>
            </a:r>
            <a:endParaRPr lang="en-US" sz="1300" dirty="0"/>
          </a:p>
        </p:txBody>
      </p:sp>
      <p:sp>
        <p:nvSpPr>
          <p:cNvPr id="13" name="text-390"/>
          <p:cNvSpPr txBox="1"/>
          <p:nvPr/>
        </p:nvSpPr>
        <p:spPr>
          <a:xfrm>
            <a:off x="548640" y="5623560"/>
            <a:ext cx="3566160" cy="640080"/>
          </a:xfrm>
          <a:prstGeom prst="rect">
            <a:avLst/>
          </a:prstGeom>
          <a:noFill/>
          <a:ln/>
        </p:spPr>
        <p:txBody>
          <a:bodyPr wrap="square" lIns="0" tIns="0" rIns="0" bIns="0" rtlCol="0" anchor="t"/>
          <a:lstStyle/>
          <a:p>
            <a:pPr indent="0" marL="0">
              <a:buNone/>
            </a:pPr>
            <a:r>
              <a:rPr lang="en-US" sz="1300" b="1" dirty="0">
                <a:solidFill>
                  <a:schemeClr val="accent3"/>
                </a:solidFill>
              </a:rPr>
              <a:t>完了の目安　</a:t>
            </a:r>
            <a:pPr indent="0" marL="0">
              <a:buNone/>
            </a:pPr>
            <a:r>
              <a:rPr lang="en-US" sz="1300" dirty="0">
                <a:solidFill>
                  <a:schemeClr val="tx1"/>
                </a:solidFill>
              </a:rPr>
              <a:t>全生成AIが台帳に載り、新規案件が審査を通る</a:t>
            </a:r>
            <a:endParaRPr lang="en-US" sz="1300" dirty="0"/>
          </a:p>
        </p:txBody>
      </p:sp>
      <p:sp>
        <p:nvSpPr>
          <p:cNvPr id="14" name="chev-391"/>
          <p:cNvSpPr/>
          <p:nvPr/>
        </p:nvSpPr>
        <p:spPr>
          <a:xfrm>
            <a:off x="4297680" y="1691640"/>
            <a:ext cx="3566160" cy="731520"/>
          </a:xfrm>
          <a:prstGeom prst="chevron">
            <a:avLst/>
          </a:prstGeom>
          <a:solidFill>
            <a:schemeClr val="tx2"/>
          </a:solidFill>
          <a:ln w="12700">
            <a:solidFill>
              <a:schemeClr val="tx2"/>
            </a:solidFill>
            <a:prstDash val="solid"/>
          </a:ln>
        </p:spPr>
      </p:sp>
      <p:sp>
        <p:nvSpPr>
          <p:cNvPr id="15" name="text-392"/>
          <p:cNvSpPr txBox="1"/>
          <p:nvPr/>
        </p:nvSpPr>
        <p:spPr>
          <a:xfrm>
            <a:off x="4617720" y="1691640"/>
            <a:ext cx="2926080" cy="731520"/>
          </a:xfrm>
          <a:prstGeom prst="rect">
            <a:avLst/>
          </a:prstGeom>
          <a:noFill/>
          <a:ln/>
        </p:spPr>
        <p:txBody>
          <a:bodyPr wrap="square" lIns="0" tIns="0" rIns="0" bIns="0" rtlCol="0" anchor="ctr"/>
          <a:lstStyle/>
          <a:p>
            <a:pPr algn="ctr" indent="0" marL="0">
              <a:buNone/>
            </a:pPr>
            <a:r>
              <a:rPr lang="en-US" sz="1800" b="1" dirty="0">
                <a:solidFill>
                  <a:schemeClr val="bg1"/>
                </a:solidFill>
              </a:rPr>
              <a:t>Phase 2</a:t>
            </a:r>
            <a:endParaRPr lang="en-US" sz="1800" dirty="0"/>
          </a:p>
        </p:txBody>
      </p:sp>
      <p:sp>
        <p:nvSpPr>
          <p:cNvPr id="16" name="text-393"/>
          <p:cNvSpPr txBox="1"/>
          <p:nvPr/>
        </p:nvSpPr>
        <p:spPr>
          <a:xfrm>
            <a:off x="4297680" y="2514600"/>
            <a:ext cx="3566160" cy="365760"/>
          </a:xfrm>
          <a:prstGeom prst="rect">
            <a:avLst/>
          </a:prstGeom>
          <a:noFill/>
          <a:ln/>
        </p:spPr>
        <p:txBody>
          <a:bodyPr wrap="square" lIns="0" tIns="0" rIns="0" bIns="0" rtlCol="0" anchor="t"/>
          <a:lstStyle/>
          <a:p>
            <a:pPr indent="0" marL="0">
              <a:buNone/>
            </a:pPr>
            <a:r>
              <a:rPr lang="en-US" sz="1400" b="1" dirty="0">
                <a:solidFill>
                  <a:schemeClr val="tx2"/>
                </a:solidFill>
              </a:rPr>
              <a:t>ユースケース別評価の高度化</a:t>
            </a:r>
            <a:endParaRPr lang="en-US" sz="1400" dirty="0"/>
          </a:p>
        </p:txBody>
      </p:sp>
      <p:sp>
        <p:nvSpPr>
          <p:cNvPr id="17" name="card-394"/>
          <p:cNvSpPr/>
          <p:nvPr/>
        </p:nvSpPr>
        <p:spPr>
          <a:xfrm>
            <a:off x="4297680" y="2926080"/>
            <a:ext cx="3566160" cy="1417320"/>
          </a:xfrm>
          <a:prstGeom prst="roundRect">
            <a:avLst>
              <a:gd name="adj" fmla="val 5161"/>
            </a:avLst>
          </a:prstGeom>
          <a:solidFill>
            <a:schemeClr val="bg2"/>
          </a:solidFill>
          <a:ln w="12700">
            <a:solidFill>
              <a:schemeClr val="bg2"/>
            </a:solidFill>
            <a:prstDash val="solid"/>
          </a:ln>
        </p:spPr>
      </p:sp>
      <p:sp>
        <p:nvSpPr>
          <p:cNvPr id="18" name="text-395"/>
          <p:cNvSpPr txBox="1"/>
          <p:nvPr/>
        </p:nvSpPr>
        <p:spPr>
          <a:xfrm>
            <a:off x="4480560" y="2999232"/>
            <a:ext cx="3200400" cy="1325880"/>
          </a:xfrm>
          <a:prstGeom prst="rect">
            <a:avLst/>
          </a:prstGeom>
          <a:noFill/>
          <a:ln/>
        </p:spPr>
        <p:txBody>
          <a:bodyPr wrap="square" lIns="0" tIns="0" rIns="0" bIns="0" rtlCol="0" anchor="t"/>
          <a:lstStyle/>
          <a:p>
            <a:pPr indent="0" marL="0">
              <a:buNone/>
            </a:pPr>
            <a:r>
              <a:rPr lang="en-US" sz="1300" b="1" dirty="0">
                <a:solidFill>
                  <a:schemeClr val="accent1"/>
                </a:solidFill>
              </a:rPr>
              <a:t>NIST</a:t>
            </a:r>
            <a:endParaRPr lang="en-US" sz="1300" dirty="0"/>
          </a:p>
          <a:p>
            <a:pPr marL="342900" indent="-342900">
              <a:buSzPct val="100000"/>
              <a:buChar char="•"/>
            </a:pPr>
            <a:r>
              <a:rPr lang="en-US" sz="1300" dirty="0">
                <a:solidFill>
                  <a:schemeClr val="tx1"/>
                </a:solidFill>
              </a:rPr>
              <a:t>Tier 別審査の本格運用</a:t>
            </a:r>
            <a:endParaRPr lang="en-US" sz="1300" dirty="0"/>
          </a:p>
          <a:p>
            <a:pPr marL="342900" indent="-342900">
              <a:buSzPct val="100000"/>
              <a:buChar char="•"/>
            </a:pPr>
            <a:r>
              <a:rPr lang="en-US" sz="1300" dirty="0">
                <a:solidFill>
                  <a:schemeClr val="tx1"/>
                </a:solidFill>
              </a:rPr>
              <a:t>独立評価の体制</a:t>
            </a:r>
            <a:endParaRPr lang="en-US" sz="1300" dirty="0"/>
          </a:p>
          <a:p>
            <a:pPr marL="342900" indent="-342900">
              <a:buSzPct val="100000"/>
              <a:buChar char="•"/>
            </a:pPr>
            <a:r>
              <a:rPr lang="en-US" sz="1300" dirty="0">
                <a:solidFill>
                  <a:schemeClr val="tx1"/>
                </a:solidFill>
              </a:rPr>
              <a:t>停止・廃止の手順と責任者</a:t>
            </a:r>
            <a:endParaRPr lang="en-US" sz="1300" dirty="0"/>
          </a:p>
        </p:txBody>
      </p:sp>
      <p:sp>
        <p:nvSpPr>
          <p:cNvPr id="19" name="card-396"/>
          <p:cNvSpPr/>
          <p:nvPr/>
        </p:nvSpPr>
        <p:spPr>
          <a:xfrm>
            <a:off x="4297680" y="4434840"/>
            <a:ext cx="3566160" cy="1097280"/>
          </a:xfrm>
          <a:prstGeom prst="roundRect">
            <a:avLst>
              <a:gd name="adj" fmla="val 6667"/>
            </a:avLst>
          </a:prstGeom>
          <a:solidFill>
            <a:schemeClr val="bg2"/>
          </a:solidFill>
          <a:ln w="12700">
            <a:solidFill>
              <a:schemeClr val="bg2"/>
            </a:solidFill>
            <a:prstDash val="solid"/>
          </a:ln>
        </p:spPr>
      </p:sp>
      <p:sp>
        <p:nvSpPr>
          <p:cNvPr id="20" name="text-397"/>
          <p:cNvSpPr txBox="1"/>
          <p:nvPr/>
        </p:nvSpPr>
        <p:spPr>
          <a:xfrm>
            <a:off x="4480560" y="4507992"/>
            <a:ext cx="3200400" cy="1005840"/>
          </a:xfrm>
          <a:prstGeom prst="rect">
            <a:avLst/>
          </a:prstGeom>
          <a:noFill/>
          <a:ln/>
        </p:spPr>
        <p:txBody>
          <a:bodyPr wrap="square" lIns="0" tIns="0" rIns="0" bIns="0" rtlCol="0" anchor="t"/>
          <a:lstStyle/>
          <a:p>
            <a:pPr indent="0" marL="0">
              <a:buNone/>
            </a:pPr>
            <a:r>
              <a:rPr lang="en-US" sz="1300" b="1" dirty="0">
                <a:solidFill>
                  <a:schemeClr val="accent2"/>
                </a:solidFill>
              </a:rPr>
              <a:t>OWASP</a:t>
            </a:r>
            <a:endParaRPr lang="en-US" sz="1300" dirty="0"/>
          </a:p>
          <a:p>
            <a:pPr marL="342900" indent="-342900">
              <a:buSzPct val="100000"/>
              <a:buChar char="•"/>
            </a:pPr>
            <a:r>
              <a:rPr lang="en-US" sz="1300" dirty="0">
                <a:solidFill>
                  <a:schemeClr val="tx1"/>
                </a:solidFill>
              </a:rPr>
              <a:t>RAG：LLM09・LLM07</a:t>
            </a:r>
            <a:endParaRPr lang="en-US" sz="1300" dirty="0"/>
          </a:p>
          <a:p>
            <a:pPr marL="342900" indent="-342900">
              <a:buSzPct val="100000"/>
              <a:buChar char="•"/>
            </a:pPr>
            <a:r>
              <a:rPr lang="en-US" sz="1300" dirty="0">
                <a:solidFill>
                  <a:schemeClr val="tx1"/>
                </a:solidFill>
              </a:rPr>
              <a:t>エージェント：Agentic Top 10 全体</a:t>
            </a:r>
            <a:endParaRPr lang="en-US" sz="1300" dirty="0"/>
          </a:p>
          <a:p>
            <a:pPr marL="342900" indent="-342900">
              <a:buSzPct val="100000"/>
              <a:buChar char="•"/>
            </a:pPr>
            <a:r>
              <a:rPr lang="en-US" sz="1300" dirty="0">
                <a:solidFill>
                  <a:schemeClr val="tx1"/>
                </a:solidFill>
              </a:rPr>
              <a:t>High 案件のレッドチーミング</a:t>
            </a:r>
            <a:endParaRPr lang="en-US" sz="1300" dirty="0"/>
          </a:p>
        </p:txBody>
      </p:sp>
      <p:sp>
        <p:nvSpPr>
          <p:cNvPr id="21" name="text-398"/>
          <p:cNvSpPr txBox="1"/>
          <p:nvPr/>
        </p:nvSpPr>
        <p:spPr>
          <a:xfrm>
            <a:off x="4297680" y="5623560"/>
            <a:ext cx="3566160" cy="640080"/>
          </a:xfrm>
          <a:prstGeom prst="rect">
            <a:avLst/>
          </a:prstGeom>
          <a:noFill/>
          <a:ln/>
        </p:spPr>
        <p:txBody>
          <a:bodyPr wrap="square" lIns="0" tIns="0" rIns="0" bIns="0" rtlCol="0" anchor="t"/>
          <a:lstStyle/>
          <a:p>
            <a:pPr indent="0" marL="0">
              <a:buNone/>
            </a:pPr>
            <a:r>
              <a:rPr lang="en-US" sz="1300" b="1" dirty="0">
                <a:solidFill>
                  <a:schemeClr val="accent3"/>
                </a:solidFill>
              </a:rPr>
              <a:t>完了の目安　</a:t>
            </a:r>
            <a:pPr indent="0" marL="0">
              <a:buNone/>
            </a:pPr>
            <a:r>
              <a:rPr lang="en-US" sz="1300" dirty="0">
                <a:solidFill>
                  <a:schemeClr val="tx1"/>
                </a:solidFill>
              </a:rPr>
              <a:t>High 案件がすべてレッドチーミング済み</a:t>
            </a:r>
            <a:endParaRPr lang="en-US" sz="1300" dirty="0"/>
          </a:p>
        </p:txBody>
      </p:sp>
      <p:sp>
        <p:nvSpPr>
          <p:cNvPr id="22" name="chev-399"/>
          <p:cNvSpPr/>
          <p:nvPr/>
        </p:nvSpPr>
        <p:spPr>
          <a:xfrm>
            <a:off x="8046720" y="1691640"/>
            <a:ext cx="3566160" cy="731520"/>
          </a:xfrm>
          <a:prstGeom prst="chevron">
            <a:avLst/>
          </a:prstGeom>
          <a:solidFill>
            <a:schemeClr val="tx2"/>
          </a:solidFill>
          <a:ln w="12700">
            <a:solidFill>
              <a:schemeClr val="tx2"/>
            </a:solidFill>
            <a:prstDash val="solid"/>
          </a:ln>
        </p:spPr>
      </p:sp>
      <p:sp>
        <p:nvSpPr>
          <p:cNvPr id="23" name="text-400"/>
          <p:cNvSpPr txBox="1"/>
          <p:nvPr/>
        </p:nvSpPr>
        <p:spPr>
          <a:xfrm>
            <a:off x="8366760" y="1691640"/>
            <a:ext cx="2926080" cy="731520"/>
          </a:xfrm>
          <a:prstGeom prst="rect">
            <a:avLst/>
          </a:prstGeom>
          <a:noFill/>
          <a:ln/>
        </p:spPr>
        <p:txBody>
          <a:bodyPr wrap="square" lIns="0" tIns="0" rIns="0" bIns="0" rtlCol="0" anchor="ctr"/>
          <a:lstStyle/>
          <a:p>
            <a:pPr algn="ctr" indent="0" marL="0">
              <a:buNone/>
            </a:pPr>
            <a:r>
              <a:rPr lang="en-US" sz="1800" b="1" dirty="0">
                <a:solidFill>
                  <a:schemeClr val="bg1"/>
                </a:solidFill>
              </a:rPr>
              <a:t>Phase 3</a:t>
            </a:r>
            <a:endParaRPr lang="en-US" sz="1800" dirty="0"/>
          </a:p>
        </p:txBody>
      </p:sp>
      <p:sp>
        <p:nvSpPr>
          <p:cNvPr id="24" name="text-401"/>
          <p:cNvSpPr txBox="1"/>
          <p:nvPr/>
        </p:nvSpPr>
        <p:spPr>
          <a:xfrm>
            <a:off x="8046720" y="2514600"/>
            <a:ext cx="3566160" cy="365760"/>
          </a:xfrm>
          <a:prstGeom prst="rect">
            <a:avLst/>
          </a:prstGeom>
          <a:noFill/>
          <a:ln/>
        </p:spPr>
        <p:txBody>
          <a:bodyPr wrap="square" lIns="0" tIns="0" rIns="0" bIns="0" rtlCol="0" anchor="t"/>
          <a:lstStyle/>
          <a:p>
            <a:pPr indent="0" marL="0">
              <a:buNone/>
            </a:pPr>
            <a:r>
              <a:rPr lang="en-US" sz="1400" b="1" dirty="0">
                <a:solidFill>
                  <a:schemeClr val="tx2"/>
                </a:solidFill>
              </a:rPr>
              <a:t>対応表による統合管理と監査運用</a:t>
            </a:r>
            <a:endParaRPr lang="en-US" sz="1400" dirty="0"/>
          </a:p>
        </p:txBody>
      </p:sp>
      <p:sp>
        <p:nvSpPr>
          <p:cNvPr id="25" name="card-402"/>
          <p:cNvSpPr/>
          <p:nvPr/>
        </p:nvSpPr>
        <p:spPr>
          <a:xfrm>
            <a:off x="8046720" y="2926080"/>
            <a:ext cx="3566160" cy="1417320"/>
          </a:xfrm>
          <a:prstGeom prst="roundRect">
            <a:avLst>
              <a:gd name="adj" fmla="val 5161"/>
            </a:avLst>
          </a:prstGeom>
          <a:solidFill>
            <a:schemeClr val="bg2"/>
          </a:solidFill>
          <a:ln w="12700">
            <a:solidFill>
              <a:schemeClr val="bg2"/>
            </a:solidFill>
            <a:prstDash val="solid"/>
          </a:ln>
        </p:spPr>
      </p:sp>
      <p:sp>
        <p:nvSpPr>
          <p:cNvPr id="26" name="text-403"/>
          <p:cNvSpPr txBox="1"/>
          <p:nvPr/>
        </p:nvSpPr>
        <p:spPr>
          <a:xfrm>
            <a:off x="8229600" y="2999232"/>
            <a:ext cx="3200400" cy="1325880"/>
          </a:xfrm>
          <a:prstGeom prst="rect">
            <a:avLst/>
          </a:prstGeom>
          <a:noFill/>
          <a:ln/>
        </p:spPr>
        <p:txBody>
          <a:bodyPr wrap="square" lIns="0" tIns="0" rIns="0" bIns="0" rtlCol="0" anchor="t"/>
          <a:lstStyle/>
          <a:p>
            <a:pPr indent="0" marL="0">
              <a:buNone/>
            </a:pPr>
            <a:r>
              <a:rPr lang="en-US" sz="1300" b="1" dirty="0">
                <a:solidFill>
                  <a:schemeClr val="accent1"/>
                </a:solidFill>
              </a:rPr>
              <a:t>NIST</a:t>
            </a:r>
            <a:endParaRPr lang="en-US" sz="1300" dirty="0"/>
          </a:p>
          <a:p>
            <a:pPr marL="342900" indent="-342900">
              <a:buSzPct val="100000"/>
              <a:buChar char="•"/>
            </a:pPr>
            <a:r>
              <a:rPr lang="en-US" sz="1300" dirty="0">
                <a:solidFill>
                  <a:schemeClr val="tx1"/>
                </a:solidFill>
              </a:rPr>
              <a:t>機能別・リスク別の経営報告</a:t>
            </a:r>
            <a:endParaRPr lang="en-US" sz="1300" dirty="0"/>
          </a:p>
          <a:p>
            <a:pPr marL="342900" indent="-342900">
              <a:buSzPct val="100000"/>
              <a:buChar char="•"/>
            </a:pPr>
            <a:r>
              <a:rPr lang="en-US" sz="1300" dirty="0">
                <a:solidFill>
                  <a:schemeClr val="tx1"/>
                </a:solidFill>
              </a:rPr>
              <a:t>インシデントの通知・追跡</a:t>
            </a:r>
            <a:endParaRPr lang="en-US" sz="1300" dirty="0"/>
          </a:p>
          <a:p>
            <a:pPr marL="342900" indent="-342900">
              <a:buSzPct val="100000"/>
              <a:buChar char="•"/>
            </a:pPr>
            <a:r>
              <a:rPr lang="en-US" sz="1300" dirty="0">
                <a:solidFill>
                  <a:schemeClr val="tx1"/>
                </a:solidFill>
              </a:rPr>
              <a:t>年次のプロファイル見直し</a:t>
            </a:r>
            <a:endParaRPr lang="en-US" sz="1300" dirty="0"/>
          </a:p>
        </p:txBody>
      </p:sp>
      <p:sp>
        <p:nvSpPr>
          <p:cNvPr id="27" name="card-404"/>
          <p:cNvSpPr/>
          <p:nvPr/>
        </p:nvSpPr>
        <p:spPr>
          <a:xfrm>
            <a:off x="8046720" y="4434840"/>
            <a:ext cx="3566160" cy="1097280"/>
          </a:xfrm>
          <a:prstGeom prst="roundRect">
            <a:avLst>
              <a:gd name="adj" fmla="val 6667"/>
            </a:avLst>
          </a:prstGeom>
          <a:solidFill>
            <a:schemeClr val="bg2"/>
          </a:solidFill>
          <a:ln w="12700">
            <a:solidFill>
              <a:schemeClr val="bg2"/>
            </a:solidFill>
            <a:prstDash val="solid"/>
          </a:ln>
        </p:spPr>
      </p:sp>
      <p:sp>
        <p:nvSpPr>
          <p:cNvPr id="28" name="text-405"/>
          <p:cNvSpPr txBox="1"/>
          <p:nvPr/>
        </p:nvSpPr>
        <p:spPr>
          <a:xfrm>
            <a:off x="8229600" y="4507992"/>
            <a:ext cx="3200400" cy="1005840"/>
          </a:xfrm>
          <a:prstGeom prst="rect">
            <a:avLst/>
          </a:prstGeom>
          <a:noFill/>
          <a:ln/>
        </p:spPr>
        <p:txBody>
          <a:bodyPr wrap="square" lIns="0" tIns="0" rIns="0" bIns="0" rtlCol="0" anchor="t"/>
          <a:lstStyle/>
          <a:p>
            <a:pPr indent="0" marL="0">
              <a:buNone/>
            </a:pPr>
            <a:r>
              <a:rPr lang="en-US" sz="1300" b="1" dirty="0">
                <a:solidFill>
                  <a:schemeClr val="accent2"/>
                </a:solidFill>
              </a:rPr>
              <a:t>OWASP</a:t>
            </a:r>
            <a:endParaRPr lang="en-US" sz="1300" dirty="0"/>
          </a:p>
          <a:p>
            <a:pPr marL="342900" indent="-342900">
              <a:buSzPct val="100000"/>
              <a:buChar char="•"/>
            </a:pPr>
            <a:r>
              <a:rPr lang="en-US" sz="1300" dirty="0">
                <a:solidFill>
                  <a:schemeClr val="tx1"/>
                </a:solidFill>
              </a:rPr>
              <a:t>対応表で集約しダッシュボード化</a:t>
            </a:r>
            <a:endParaRPr lang="en-US" sz="1300" dirty="0"/>
          </a:p>
          <a:p>
            <a:pPr marL="342900" indent="-342900">
              <a:buSzPct val="100000"/>
              <a:buChar char="•"/>
            </a:pPr>
            <a:r>
              <a:rPr lang="en-US" sz="1300" dirty="0">
                <a:solidFill>
                  <a:schemeClr val="tx1"/>
                </a:solidFill>
              </a:rPr>
              <a:t>Crosswalk でギャップ確認</a:t>
            </a:r>
            <a:endParaRPr lang="en-US" sz="1300" dirty="0"/>
          </a:p>
          <a:p>
            <a:pPr marL="342900" indent="-342900">
              <a:buSzPct val="100000"/>
              <a:buChar char="•"/>
            </a:pPr>
            <a:r>
              <a:rPr lang="en-US" sz="1300" dirty="0">
                <a:solidFill>
                  <a:schemeClr val="tx1"/>
                </a:solidFill>
              </a:rPr>
              <a:t>OWASP 改訂の反映</a:t>
            </a:r>
            <a:endParaRPr lang="en-US" sz="1300" dirty="0"/>
          </a:p>
        </p:txBody>
      </p:sp>
      <p:sp>
        <p:nvSpPr>
          <p:cNvPr id="29" name="text-406"/>
          <p:cNvSpPr txBox="1"/>
          <p:nvPr/>
        </p:nvSpPr>
        <p:spPr>
          <a:xfrm>
            <a:off x="8046720" y="5623560"/>
            <a:ext cx="3566160" cy="640080"/>
          </a:xfrm>
          <a:prstGeom prst="rect">
            <a:avLst/>
          </a:prstGeom>
          <a:noFill/>
          <a:ln/>
        </p:spPr>
        <p:txBody>
          <a:bodyPr wrap="square" lIns="0" tIns="0" rIns="0" bIns="0" rtlCol="0" anchor="t"/>
          <a:lstStyle/>
          <a:p>
            <a:pPr indent="0" marL="0">
              <a:buNone/>
            </a:pPr>
            <a:r>
              <a:rPr lang="en-US" sz="1300" b="1" dirty="0">
                <a:solidFill>
                  <a:schemeClr val="accent3"/>
                </a:solidFill>
              </a:rPr>
              <a:t>完了の目安　</a:t>
            </a:r>
            <a:pPr indent="0" marL="0">
              <a:buNone/>
            </a:pPr>
            <a:r>
              <a:rPr lang="en-US" sz="1300" dirty="0">
                <a:solidFill>
                  <a:schemeClr val="tx1"/>
                </a:solidFill>
              </a:rPr>
              <a:t>経営報告と現場記録が同じデータから出ている</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外部の枠組みは動いている：追跡して正式版で差し替える</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版を付録Aで固定し、改訂されたら見直す章を決めてある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出典：NIST、OWASP、総務省・経済産業省（2026-10 確認）／第9章 9.5、付録A</a:t>
            </a:r>
            <a:endParaRPr lang="en-US" sz="1000" dirty="0"/>
          </a:p>
        </p:txBody>
      </p:sp>
      <p:graphicFrame>
        <p:nvGraphicFramePr>
          <p:cNvPr id="23" name="table-407"/>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931920"/>
                <a:gridCol w="4023360"/>
              </a:tblGrid>
              <a:tr h="621792">
                <a:tc>
                  <a:txBody>
                    <a:bodyPr/>
                    <a:lstStyle/>
                    <a:p>
                      <a:pPr indent="0" marL="0">
                        <a:buNone/>
                      </a:pPr>
                      <a:r>
                        <a:rPr lang="en-US" sz="1300" b="1" dirty="0">
                          <a:solidFill>
                            <a:schemeClr val="bg1"/>
                          </a:solidFill>
                          <a:latin typeface="Yu Gothic" pitchFamily="34" charset="0"/>
                          <a:ea typeface="Yu Gothic" pitchFamily="34" charset="-122"/>
                          <a:cs typeface="Yu Gothic" pitchFamily="34" charset="-120"/>
                        </a:rPr>
                        <a:t>対象</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Yu Gothic" pitchFamily="34" charset="0"/>
                          <a:ea typeface="Yu Gothic" pitchFamily="34" charset="-122"/>
                          <a:cs typeface="Yu Gothic" pitchFamily="34" charset="-120"/>
                        </a:rPr>
                        <a:t>状況（2026-10）</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Yu Gothic" pitchFamily="34" charset="0"/>
                          <a:ea typeface="Yu Gothic" pitchFamily="34" charset="-122"/>
                          <a:cs typeface="Yu Gothic" pitchFamily="34" charset="-120"/>
                        </a:rPr>
                        <a:t>正式版が出たときの対応</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r>
              <a:tr h="621792">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NIST AI RMF 改訂版</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改訂中・未公開（AI行動計画に基づく）</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番号・表現の変更を各章に反映。主に使うカテゴリは影響を受けにくい</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21792">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NIST Cyber AI Profile（IR 8596）</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準備草案公開済み（2025-12）、初期公開草案は2026年中の予定</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CSF 対応の根拠を Crosswalk から置き換える</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21792">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NIST COSAiS</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予測AI版の注釈付きアウトライン（2026-01）まで</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生成AI・エージェント版で対策を SP 800-53 管理策に対応付け</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21792">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OWASP LLM／Agentic Top 10</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2026年版</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次版で順位・項目が変われば設問を更新</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21792">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OWASP GenAI Security Crosswalk</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v4.0.0、継続更新。多くの行が査読前</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査読の進展にあわせて注記を見直す</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621792">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AI事業者ガイドライン</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第1.2版（2026-03）でAIエージェントを定義。本格的な扱いは次版</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国内の説明責任の基準として更新</a:t>
                      </a:r>
                      <a:endParaRPr lang="en-US" sz="13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IT部門の各担当に求めること</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理解した後、それぞれの持ち場で何をするか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出典：proposal 10.2</a:t>
            </a:r>
            <a:endParaRPr lang="en-US" sz="1000" dirty="0"/>
          </a:p>
        </p:txBody>
      </p:sp>
      <p:sp>
        <p:nvSpPr>
          <p:cNvPr id="6" name="card-408"/>
          <p:cNvSpPr/>
          <p:nvPr/>
        </p:nvSpPr>
        <p:spPr>
          <a:xfrm>
            <a:off x="548640" y="1691640"/>
            <a:ext cx="2651760" cy="4480560"/>
          </a:xfrm>
          <a:prstGeom prst="roundRect">
            <a:avLst>
              <a:gd name="adj" fmla="val 2759"/>
            </a:avLst>
          </a:prstGeom>
          <a:solidFill>
            <a:schemeClr val="bg2"/>
          </a:solidFill>
          <a:ln w="12700">
            <a:solidFill>
              <a:schemeClr val="bg2"/>
            </a:solidFill>
            <a:prstDash val="solid"/>
          </a:ln>
        </p:spPr>
      </p:sp>
      <p:sp>
        <p:nvSpPr>
          <p:cNvPr id="7" name="iconbg-409"/>
          <p:cNvSpPr/>
          <p:nvPr/>
        </p:nvSpPr>
        <p:spPr>
          <a:xfrm>
            <a:off x="822960" y="1965960"/>
            <a:ext cx="822960" cy="822960"/>
          </a:xfrm>
          <a:prstGeom prst="ellipse">
            <a:avLst/>
          </a:prstGeom>
          <a:solidFill>
            <a:schemeClr val="accent1"/>
          </a:solidFill>
          <a:ln w="12700">
            <a:solidFill>
              <a:schemeClr val="accent1"/>
            </a:solidFill>
            <a:prstDash val="solid"/>
          </a:ln>
        </p:spPr>
      </p:sp>
      <p:pic>
        <p:nvPicPr>
          <p:cNvPr id="8" name="icon-410" descr="preencoded.png">    </p:cNvPr>
          <p:cNvPicPr>
            <a:picLocks noChangeAspect="1"/>
          </p:cNvPicPr>
          <p:nvPr/>
        </p:nvPicPr>
        <p:blipFill>
          <a:blip r:embed="rId1"/>
          <a:stretch>
            <a:fillRect/>
          </a:stretch>
        </p:blipFill>
        <p:spPr>
          <a:xfrm>
            <a:off x="1028700" y="2171700"/>
            <a:ext cx="411480" cy="411480"/>
          </a:xfrm>
          <a:prstGeom prst="rect">
            <a:avLst/>
          </a:prstGeom>
        </p:spPr>
      </p:pic>
      <p:sp>
        <p:nvSpPr>
          <p:cNvPr id="9" name="text-411"/>
          <p:cNvSpPr txBox="1"/>
          <p:nvPr/>
        </p:nvSpPr>
        <p:spPr>
          <a:xfrm>
            <a:off x="822960" y="2971800"/>
            <a:ext cx="2103120" cy="731520"/>
          </a:xfrm>
          <a:prstGeom prst="rect">
            <a:avLst/>
          </a:prstGeom>
          <a:noFill/>
          <a:ln/>
        </p:spPr>
        <p:txBody>
          <a:bodyPr wrap="square" lIns="0" tIns="0" rIns="0" bIns="0" rtlCol="0" anchor="t"/>
          <a:lstStyle/>
          <a:p>
            <a:pPr indent="0" marL="0">
              <a:buNone/>
            </a:pPr>
            <a:r>
              <a:rPr lang="en-US" sz="1500" b="1" dirty="0">
                <a:solidFill>
                  <a:schemeClr val="tx2"/>
                </a:solidFill>
              </a:rPr>
              <a:t>セキュリティガバナンス</a:t>
            </a:r>
            <a:endParaRPr lang="en-US" sz="1500" dirty="0"/>
          </a:p>
        </p:txBody>
      </p:sp>
      <p:sp>
        <p:nvSpPr>
          <p:cNvPr id="10" name="text-412"/>
          <p:cNvSpPr txBox="1"/>
          <p:nvPr/>
        </p:nvSpPr>
        <p:spPr>
          <a:xfrm>
            <a:off x="822960" y="3703320"/>
            <a:ext cx="2103120" cy="2286000"/>
          </a:xfrm>
          <a:prstGeom prst="rect">
            <a:avLst/>
          </a:prstGeom>
          <a:noFill/>
          <a:ln/>
        </p:spPr>
        <p:txBody>
          <a:bodyPr wrap="square" lIns="0" tIns="0" rIns="0" bIns="0" rtlCol="0" anchor="t"/>
          <a:lstStyle/>
          <a:p>
            <a:pPr indent="0" marL="0">
              <a:buNone/>
            </a:pPr>
            <a:r>
              <a:rPr lang="en-US" sz="1400" dirty="0">
                <a:solidFill>
                  <a:schemeClr val="tx1"/>
                </a:solidFill>
              </a:rPr>
              <a:t>AI資産台帳・評価テンプレートを整備し、既存CSF運用（DE.CM-01、PR.DS、PR.AA、GV.SC、ID.AM-08）に生成AIを組み込む</a:t>
            </a:r>
            <a:endParaRPr lang="en-US" sz="1400" dirty="0"/>
          </a:p>
        </p:txBody>
      </p:sp>
      <p:sp>
        <p:nvSpPr>
          <p:cNvPr id="11" name="card-413"/>
          <p:cNvSpPr/>
          <p:nvPr/>
        </p:nvSpPr>
        <p:spPr>
          <a:xfrm>
            <a:off x="3346704" y="1691640"/>
            <a:ext cx="2651760" cy="4480560"/>
          </a:xfrm>
          <a:prstGeom prst="roundRect">
            <a:avLst>
              <a:gd name="adj" fmla="val 2759"/>
            </a:avLst>
          </a:prstGeom>
          <a:solidFill>
            <a:schemeClr val="bg2"/>
          </a:solidFill>
          <a:ln w="12700">
            <a:solidFill>
              <a:schemeClr val="bg2"/>
            </a:solidFill>
            <a:prstDash val="solid"/>
          </a:ln>
        </p:spPr>
      </p:sp>
      <p:sp>
        <p:nvSpPr>
          <p:cNvPr id="12" name="iconbg-414"/>
          <p:cNvSpPr/>
          <p:nvPr/>
        </p:nvSpPr>
        <p:spPr>
          <a:xfrm>
            <a:off x="3621024" y="1965960"/>
            <a:ext cx="822960" cy="822960"/>
          </a:xfrm>
          <a:prstGeom prst="ellipse">
            <a:avLst/>
          </a:prstGeom>
          <a:solidFill>
            <a:schemeClr val="accent2"/>
          </a:solidFill>
          <a:ln w="12700">
            <a:solidFill>
              <a:schemeClr val="accent2"/>
            </a:solidFill>
            <a:prstDash val="solid"/>
          </a:ln>
        </p:spPr>
      </p:sp>
      <p:pic>
        <p:nvPicPr>
          <p:cNvPr id="13" name="icon-415" descr="preencoded.png">    </p:cNvPr>
          <p:cNvPicPr>
            <a:picLocks noChangeAspect="1"/>
          </p:cNvPicPr>
          <p:nvPr/>
        </p:nvPicPr>
        <p:blipFill>
          <a:blip r:embed="rId2"/>
          <a:stretch>
            <a:fillRect/>
          </a:stretch>
        </p:blipFill>
        <p:spPr>
          <a:xfrm>
            <a:off x="3826764" y="2171700"/>
            <a:ext cx="411480" cy="411480"/>
          </a:xfrm>
          <a:prstGeom prst="rect">
            <a:avLst/>
          </a:prstGeom>
        </p:spPr>
      </p:pic>
      <p:sp>
        <p:nvSpPr>
          <p:cNvPr id="14" name="text-416"/>
          <p:cNvSpPr txBox="1"/>
          <p:nvPr/>
        </p:nvSpPr>
        <p:spPr>
          <a:xfrm>
            <a:off x="3621024" y="2971800"/>
            <a:ext cx="2103120" cy="731520"/>
          </a:xfrm>
          <a:prstGeom prst="rect">
            <a:avLst/>
          </a:prstGeom>
          <a:noFill/>
          <a:ln/>
        </p:spPr>
        <p:txBody>
          <a:bodyPr wrap="square" lIns="0" tIns="0" rIns="0" bIns="0" rtlCol="0" anchor="t"/>
          <a:lstStyle/>
          <a:p>
            <a:pPr indent="0" marL="0">
              <a:buNone/>
            </a:pPr>
            <a:r>
              <a:rPr lang="en-US" sz="1500" b="1" dirty="0">
                <a:solidFill>
                  <a:schemeClr val="tx2"/>
                </a:solidFill>
              </a:rPr>
              <a:t>アーキテクト</a:t>
            </a:r>
            <a:endParaRPr lang="en-US" sz="1500" dirty="0"/>
          </a:p>
        </p:txBody>
      </p:sp>
      <p:sp>
        <p:nvSpPr>
          <p:cNvPr id="15" name="text-417"/>
          <p:cNvSpPr txBox="1"/>
          <p:nvPr/>
        </p:nvSpPr>
        <p:spPr>
          <a:xfrm>
            <a:off x="3621024" y="3703320"/>
            <a:ext cx="2103120" cy="2286000"/>
          </a:xfrm>
          <a:prstGeom prst="rect">
            <a:avLst/>
          </a:prstGeom>
          <a:noFill/>
          <a:ln/>
        </p:spPr>
        <p:txBody>
          <a:bodyPr wrap="square" lIns="0" tIns="0" rIns="0" bIns="0" rtlCol="0" anchor="t"/>
          <a:lstStyle/>
          <a:p>
            <a:pPr indent="0" marL="0">
              <a:buNone/>
            </a:pPr>
            <a:r>
              <a:rPr lang="en-US" sz="1400" dirty="0">
                <a:solidFill>
                  <a:schemeClr val="tx1"/>
                </a:solidFill>
              </a:rPr>
              <a:t>RAG は「データの境界」、エージェントは「行動の境界」を設計の中心に置く</a:t>
            </a:r>
            <a:endParaRPr lang="en-US" sz="1400" dirty="0"/>
          </a:p>
        </p:txBody>
      </p:sp>
      <p:sp>
        <p:nvSpPr>
          <p:cNvPr id="16" name="card-418"/>
          <p:cNvSpPr/>
          <p:nvPr/>
        </p:nvSpPr>
        <p:spPr>
          <a:xfrm>
            <a:off x="6144768" y="1691640"/>
            <a:ext cx="2651760" cy="4480560"/>
          </a:xfrm>
          <a:prstGeom prst="roundRect">
            <a:avLst>
              <a:gd name="adj" fmla="val 2759"/>
            </a:avLst>
          </a:prstGeom>
          <a:solidFill>
            <a:schemeClr val="bg2"/>
          </a:solidFill>
          <a:ln w="12700">
            <a:solidFill>
              <a:schemeClr val="bg2"/>
            </a:solidFill>
            <a:prstDash val="solid"/>
          </a:ln>
        </p:spPr>
      </p:sp>
      <p:sp>
        <p:nvSpPr>
          <p:cNvPr id="17" name="iconbg-419"/>
          <p:cNvSpPr/>
          <p:nvPr/>
        </p:nvSpPr>
        <p:spPr>
          <a:xfrm>
            <a:off x="6419088" y="1965960"/>
            <a:ext cx="822960" cy="822960"/>
          </a:xfrm>
          <a:prstGeom prst="ellipse">
            <a:avLst/>
          </a:prstGeom>
          <a:solidFill>
            <a:schemeClr val="accent1"/>
          </a:solidFill>
          <a:ln w="12700">
            <a:solidFill>
              <a:schemeClr val="accent1"/>
            </a:solidFill>
            <a:prstDash val="solid"/>
          </a:ln>
        </p:spPr>
      </p:sp>
      <p:pic>
        <p:nvPicPr>
          <p:cNvPr id="18" name="icon-420" descr="preencoded.png">    </p:cNvPr>
          <p:cNvPicPr>
            <a:picLocks noChangeAspect="1"/>
          </p:cNvPicPr>
          <p:nvPr/>
        </p:nvPicPr>
        <p:blipFill>
          <a:blip r:embed="rId3"/>
          <a:stretch>
            <a:fillRect/>
          </a:stretch>
        </p:blipFill>
        <p:spPr>
          <a:xfrm>
            <a:off x="6624828" y="2171700"/>
            <a:ext cx="411480" cy="411480"/>
          </a:xfrm>
          <a:prstGeom prst="rect">
            <a:avLst/>
          </a:prstGeom>
        </p:spPr>
      </p:pic>
      <p:sp>
        <p:nvSpPr>
          <p:cNvPr id="19" name="text-421"/>
          <p:cNvSpPr txBox="1"/>
          <p:nvPr/>
        </p:nvSpPr>
        <p:spPr>
          <a:xfrm>
            <a:off x="6419088" y="2971800"/>
            <a:ext cx="2103120" cy="731520"/>
          </a:xfrm>
          <a:prstGeom prst="rect">
            <a:avLst/>
          </a:prstGeom>
          <a:noFill/>
          <a:ln/>
        </p:spPr>
        <p:txBody>
          <a:bodyPr wrap="square" lIns="0" tIns="0" rIns="0" bIns="0" rtlCol="0" anchor="t"/>
          <a:lstStyle/>
          <a:p>
            <a:pPr indent="0" marL="0">
              <a:buNone/>
            </a:pPr>
            <a:r>
              <a:rPr lang="en-US" sz="1500" b="1" dirty="0">
                <a:solidFill>
                  <a:schemeClr val="tx2"/>
                </a:solidFill>
              </a:rPr>
              <a:t>案件担当</a:t>
            </a:r>
            <a:endParaRPr lang="en-US" sz="1500" dirty="0"/>
          </a:p>
        </p:txBody>
      </p:sp>
      <p:sp>
        <p:nvSpPr>
          <p:cNvPr id="20" name="text-422"/>
          <p:cNvSpPr txBox="1"/>
          <p:nvPr/>
        </p:nvSpPr>
        <p:spPr>
          <a:xfrm>
            <a:off x="6419088" y="3703320"/>
            <a:ext cx="2103120" cy="2286000"/>
          </a:xfrm>
          <a:prstGeom prst="rect">
            <a:avLst/>
          </a:prstGeom>
          <a:noFill/>
          <a:ln/>
        </p:spPr>
        <p:txBody>
          <a:bodyPr wrap="square" lIns="0" tIns="0" rIns="0" bIns="0" rtlCol="0" anchor="t"/>
          <a:lstStyle/>
          <a:p>
            <a:pPr indent="0" marL="0">
              <a:buNone/>
            </a:pPr>
            <a:r>
              <a:rPr lang="en-US" sz="1400" dirty="0">
                <a:solidFill>
                  <a:schemeClr val="tx1"/>
                </a:solidFill>
              </a:rPr>
              <a:t>案件ごとに事前分類とチェックシートを記入し、OWASP ID で記録する</a:t>
            </a:r>
            <a:endParaRPr lang="en-US" sz="1400" dirty="0"/>
          </a:p>
        </p:txBody>
      </p:sp>
      <p:sp>
        <p:nvSpPr>
          <p:cNvPr id="21" name="card-423"/>
          <p:cNvSpPr/>
          <p:nvPr/>
        </p:nvSpPr>
        <p:spPr>
          <a:xfrm>
            <a:off x="8942832" y="1691640"/>
            <a:ext cx="2651760" cy="4480560"/>
          </a:xfrm>
          <a:prstGeom prst="roundRect">
            <a:avLst>
              <a:gd name="adj" fmla="val 2759"/>
            </a:avLst>
          </a:prstGeom>
          <a:solidFill>
            <a:schemeClr val="bg2"/>
          </a:solidFill>
          <a:ln w="12700">
            <a:solidFill>
              <a:schemeClr val="bg2"/>
            </a:solidFill>
            <a:prstDash val="solid"/>
          </a:ln>
        </p:spPr>
      </p:sp>
      <p:sp>
        <p:nvSpPr>
          <p:cNvPr id="22" name="iconbg-424"/>
          <p:cNvSpPr/>
          <p:nvPr/>
        </p:nvSpPr>
        <p:spPr>
          <a:xfrm>
            <a:off x="9217152" y="1965960"/>
            <a:ext cx="822960" cy="822960"/>
          </a:xfrm>
          <a:prstGeom prst="ellipse">
            <a:avLst/>
          </a:prstGeom>
          <a:solidFill>
            <a:schemeClr val="accent2"/>
          </a:solidFill>
          <a:ln w="12700">
            <a:solidFill>
              <a:schemeClr val="accent2"/>
            </a:solidFill>
            <a:prstDash val="solid"/>
          </a:ln>
        </p:spPr>
      </p:sp>
      <p:pic>
        <p:nvPicPr>
          <p:cNvPr id="23" name="icon-425" descr="preencoded.png">    </p:cNvPr>
          <p:cNvPicPr>
            <a:picLocks noChangeAspect="1"/>
          </p:cNvPicPr>
          <p:nvPr/>
        </p:nvPicPr>
        <p:blipFill>
          <a:blip r:embed="rId4"/>
          <a:stretch>
            <a:fillRect/>
          </a:stretch>
        </p:blipFill>
        <p:spPr>
          <a:xfrm>
            <a:off x="9422892" y="2171700"/>
            <a:ext cx="411480" cy="411480"/>
          </a:xfrm>
          <a:prstGeom prst="rect">
            <a:avLst/>
          </a:prstGeom>
        </p:spPr>
      </p:pic>
      <p:sp>
        <p:nvSpPr>
          <p:cNvPr id="24" name="text-426"/>
          <p:cNvSpPr txBox="1"/>
          <p:nvPr/>
        </p:nvSpPr>
        <p:spPr>
          <a:xfrm>
            <a:off x="9217152" y="2971800"/>
            <a:ext cx="2103120" cy="731520"/>
          </a:xfrm>
          <a:prstGeom prst="rect">
            <a:avLst/>
          </a:prstGeom>
          <a:noFill/>
          <a:ln/>
        </p:spPr>
        <p:txBody>
          <a:bodyPr wrap="square" lIns="0" tIns="0" rIns="0" bIns="0" rtlCol="0" anchor="t"/>
          <a:lstStyle/>
          <a:p>
            <a:pPr indent="0" marL="0">
              <a:buNone/>
            </a:pPr>
            <a:r>
              <a:rPr lang="en-US" sz="1500" b="1" dirty="0">
                <a:solidFill>
                  <a:schemeClr val="tx2"/>
                </a:solidFill>
              </a:rPr>
              <a:t>運用</a:t>
            </a:r>
            <a:endParaRPr lang="en-US" sz="1500" dirty="0"/>
          </a:p>
        </p:txBody>
      </p:sp>
      <p:sp>
        <p:nvSpPr>
          <p:cNvPr id="25" name="text-427"/>
          <p:cNvSpPr txBox="1"/>
          <p:nvPr/>
        </p:nvSpPr>
        <p:spPr>
          <a:xfrm>
            <a:off x="9217152" y="3703320"/>
            <a:ext cx="2103120" cy="2286000"/>
          </a:xfrm>
          <a:prstGeom prst="rect">
            <a:avLst/>
          </a:prstGeom>
          <a:noFill/>
          <a:ln/>
        </p:spPr>
        <p:txBody>
          <a:bodyPr wrap="square" lIns="0" tIns="0" rIns="0" bIns="0" rtlCol="0" anchor="t"/>
          <a:lstStyle/>
          <a:p>
            <a:pPr indent="0" marL="0">
              <a:buNone/>
            </a:pPr>
            <a:r>
              <a:rPr lang="en-US" sz="1400" dirty="0">
                <a:solidFill>
                  <a:schemeClr val="tx1"/>
                </a:solidFill>
              </a:rPr>
              <a:t>プロンプト・ツール呼出・トークン消費を監視し、停止手順を準備する</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365760"/>
            <a:ext cx="10881360" cy="685800"/>
          </a:xfrm>
          <a:prstGeom prst="rect">
            <a:avLst/>
          </a:prstGeom>
          <a:noFill/>
          <a:ln/>
        </p:spPr>
        <p:txBody>
          <a:bodyPr wrap="square" lIns="0" tIns="0" rIns="0" bIns="0" rtlCol="0" anchor="ctr"/>
          <a:lstStyle/>
          <a:p>
            <a:pPr algn="l" indent="0" marL="0">
              <a:buNone/>
            </a:pPr>
            <a:r>
              <a:rPr lang="en-US" sz="2800" b="1" dirty="0">
                <a:solidFill>
                  <a:schemeClr val="bg1"/>
                </a:solidFill>
              </a:rPr>
              <a:t>まとめ：押さえてほしい5点と今後決めること</a:t>
            </a:r>
            <a:endParaRPr lang="en-US" sz="2800" dirty="0"/>
          </a:p>
        </p:txBody>
      </p:sp>
      <p:sp>
        <p:nvSpPr>
          <p:cNvPr id="4" name="text-428"/>
          <p:cNvSpPr txBox="1"/>
          <p:nvPr/>
        </p:nvSpPr>
        <p:spPr>
          <a:xfrm>
            <a:off x="731520" y="1325880"/>
            <a:ext cx="6400800" cy="457200"/>
          </a:xfrm>
          <a:prstGeom prst="rect">
            <a:avLst/>
          </a:prstGeom>
          <a:noFill/>
          <a:ln/>
        </p:spPr>
        <p:txBody>
          <a:bodyPr wrap="square" lIns="0" tIns="0" rIns="0" bIns="0" rtlCol="0" anchor="t"/>
          <a:lstStyle/>
          <a:p>
            <a:pPr indent="0" marL="0">
              <a:buNone/>
            </a:pPr>
            <a:r>
              <a:rPr lang="en-US" sz="2000" b="1" dirty="0">
                <a:solidFill>
                  <a:schemeClr val="bg1"/>
                </a:solidFill>
              </a:rPr>
              <a:t>押さえてほしい5点</a:t>
            </a:r>
            <a:endParaRPr lang="en-US" sz="2000" dirty="0"/>
          </a:p>
        </p:txBody>
      </p:sp>
      <p:sp>
        <p:nvSpPr>
          <p:cNvPr id="5" name="num-429"/>
          <p:cNvSpPr/>
          <p:nvPr/>
        </p:nvSpPr>
        <p:spPr>
          <a:xfrm>
            <a:off x="731520" y="1920240"/>
            <a:ext cx="502920" cy="502920"/>
          </a:xfrm>
          <a:prstGeom prst="ellipse">
            <a:avLst/>
          </a:prstGeom>
          <a:solidFill>
            <a:schemeClr val="accent3"/>
          </a:solidFill>
          <a:ln w="12700">
            <a:solidFill>
              <a:schemeClr val="accent3"/>
            </a:solidFill>
            <a:prstDash val="solid"/>
          </a:ln>
        </p:spPr>
      </p:sp>
      <p:sp>
        <p:nvSpPr>
          <p:cNvPr id="6" name="text-430"/>
          <p:cNvSpPr txBox="1"/>
          <p:nvPr/>
        </p:nvSpPr>
        <p:spPr>
          <a:xfrm>
            <a:off x="731520" y="19202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431"/>
          <p:cNvSpPr txBox="1"/>
          <p:nvPr/>
        </p:nvSpPr>
        <p:spPr>
          <a:xfrm>
            <a:off x="1417320" y="1874520"/>
            <a:ext cx="5943600" cy="822960"/>
          </a:xfrm>
          <a:prstGeom prst="rect">
            <a:avLst/>
          </a:prstGeom>
          <a:noFill/>
          <a:ln/>
        </p:spPr>
        <p:txBody>
          <a:bodyPr wrap="square" lIns="0" tIns="0" rIns="0" bIns="0" rtlCol="0" anchor="t"/>
          <a:lstStyle/>
          <a:p>
            <a:pPr indent="0" marL="0">
              <a:buNone/>
            </a:pPr>
            <a:r>
              <a:rPr lang="en-US" sz="1500" dirty="0">
                <a:solidFill>
                  <a:schemeClr val="bg1"/>
                </a:solidFill>
              </a:rPr>
              <a:t>目的はガバナンスの安定。別体系は作らず、既存CSFにAI RMF／AI 600-1を追加し、OWASPで具体化する</a:t>
            </a:r>
            <a:endParaRPr lang="en-US" sz="1500" dirty="0"/>
          </a:p>
        </p:txBody>
      </p:sp>
      <p:sp>
        <p:nvSpPr>
          <p:cNvPr id="8" name="num-432"/>
          <p:cNvSpPr/>
          <p:nvPr/>
        </p:nvSpPr>
        <p:spPr>
          <a:xfrm>
            <a:off x="731520" y="2788920"/>
            <a:ext cx="502920" cy="502920"/>
          </a:xfrm>
          <a:prstGeom prst="ellipse">
            <a:avLst/>
          </a:prstGeom>
          <a:solidFill>
            <a:schemeClr val="accent3"/>
          </a:solidFill>
          <a:ln w="12700">
            <a:solidFill>
              <a:schemeClr val="accent3"/>
            </a:solidFill>
            <a:prstDash val="solid"/>
          </a:ln>
        </p:spPr>
      </p:sp>
      <p:sp>
        <p:nvSpPr>
          <p:cNvPr id="9" name="text-433"/>
          <p:cNvSpPr txBox="1"/>
          <p:nvPr/>
        </p:nvSpPr>
        <p:spPr>
          <a:xfrm>
            <a:off x="731520" y="2788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434"/>
          <p:cNvSpPr txBox="1"/>
          <p:nvPr/>
        </p:nvSpPr>
        <p:spPr>
          <a:xfrm>
            <a:off x="1417320" y="2743200"/>
            <a:ext cx="5943600" cy="822960"/>
          </a:xfrm>
          <a:prstGeom prst="rect">
            <a:avLst/>
          </a:prstGeom>
          <a:noFill/>
          <a:ln/>
        </p:spPr>
        <p:txBody>
          <a:bodyPr wrap="square" lIns="0" tIns="0" rIns="0" bIns="0" rtlCol="0" anchor="t"/>
          <a:lstStyle/>
          <a:p>
            <a:pPr indent="0" marL="0">
              <a:buNone/>
            </a:pPr>
            <a:r>
              <a:rPr lang="en-US" sz="1500" dirty="0">
                <a:solidFill>
                  <a:schemeClr val="bg1"/>
                </a:solidFill>
              </a:rPr>
              <a:t>二層は役割が違う。どちらか一方だけでは閉じない（AI RMFとほぼそのまま対応するのは10件中2件）</a:t>
            </a:r>
            <a:endParaRPr lang="en-US" sz="1500" dirty="0"/>
          </a:p>
        </p:txBody>
      </p:sp>
      <p:sp>
        <p:nvSpPr>
          <p:cNvPr id="11" name="num-435"/>
          <p:cNvSpPr/>
          <p:nvPr/>
        </p:nvSpPr>
        <p:spPr>
          <a:xfrm>
            <a:off x="731520" y="3657600"/>
            <a:ext cx="502920" cy="502920"/>
          </a:xfrm>
          <a:prstGeom prst="ellipse">
            <a:avLst/>
          </a:prstGeom>
          <a:solidFill>
            <a:schemeClr val="accent3"/>
          </a:solidFill>
          <a:ln w="12700">
            <a:solidFill>
              <a:schemeClr val="accent3"/>
            </a:solidFill>
            <a:prstDash val="solid"/>
          </a:ln>
        </p:spPr>
      </p:sp>
      <p:sp>
        <p:nvSpPr>
          <p:cNvPr id="12" name="text-436"/>
          <p:cNvSpPr txBox="1"/>
          <p:nvPr/>
        </p:nvSpPr>
        <p:spPr>
          <a:xfrm>
            <a:off x="731520" y="36576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437"/>
          <p:cNvSpPr txBox="1"/>
          <p:nvPr/>
        </p:nvSpPr>
        <p:spPr>
          <a:xfrm>
            <a:off x="1417320" y="3611880"/>
            <a:ext cx="5943600" cy="822960"/>
          </a:xfrm>
          <a:prstGeom prst="rect">
            <a:avLst/>
          </a:prstGeom>
          <a:noFill/>
          <a:ln/>
        </p:spPr>
        <p:txBody>
          <a:bodyPr wrap="square" lIns="0" tIns="0" rIns="0" bIns="0" rtlCol="0" anchor="t"/>
          <a:lstStyle/>
          <a:p>
            <a:pPr indent="0" marL="0">
              <a:buNone/>
            </a:pPr>
            <a:r>
              <a:rPr lang="en-US" sz="1500" dirty="0">
                <a:solidFill>
                  <a:schemeClr val="bg1"/>
                </a:solidFill>
              </a:rPr>
              <a:t>対応表は独自に作らない。現場の記録（OWASP ID）がそのまま経営向けの集約（NIST）になる</a:t>
            </a:r>
            <a:endParaRPr lang="en-US" sz="1500" dirty="0"/>
          </a:p>
        </p:txBody>
      </p:sp>
      <p:sp>
        <p:nvSpPr>
          <p:cNvPr id="14" name="num-438"/>
          <p:cNvSpPr/>
          <p:nvPr/>
        </p:nvSpPr>
        <p:spPr>
          <a:xfrm>
            <a:off x="731520" y="4526280"/>
            <a:ext cx="502920" cy="502920"/>
          </a:xfrm>
          <a:prstGeom prst="ellipse">
            <a:avLst/>
          </a:prstGeom>
          <a:solidFill>
            <a:schemeClr val="accent3"/>
          </a:solidFill>
          <a:ln w="12700">
            <a:solidFill>
              <a:schemeClr val="accent3"/>
            </a:solidFill>
            <a:prstDash val="solid"/>
          </a:ln>
        </p:spPr>
      </p:sp>
      <p:sp>
        <p:nvSpPr>
          <p:cNvPr id="15" name="text-439"/>
          <p:cNvSpPr txBox="1"/>
          <p:nvPr/>
        </p:nvSpPr>
        <p:spPr>
          <a:xfrm>
            <a:off x="731520" y="45262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440"/>
          <p:cNvSpPr txBox="1"/>
          <p:nvPr/>
        </p:nvSpPr>
        <p:spPr>
          <a:xfrm>
            <a:off x="1417320" y="4480560"/>
            <a:ext cx="5943600" cy="822960"/>
          </a:xfrm>
          <a:prstGeom prst="rect">
            <a:avLst/>
          </a:prstGeom>
          <a:noFill/>
          <a:ln/>
        </p:spPr>
        <p:txBody>
          <a:bodyPr wrap="square" lIns="0" tIns="0" rIns="0" bIns="0" rtlCol="0" anchor="t"/>
          <a:lstStyle/>
          <a:p>
            <a:pPr indent="0" marL="0">
              <a:buNone/>
            </a:pPr>
            <a:r>
              <a:rPr lang="en-US" sz="1500" dirty="0">
                <a:solidFill>
                  <a:schemeClr val="bg1"/>
                </a:solidFill>
              </a:rPr>
              <a:t>プロンプトインジェクションは防げない前提。評価基準は「侵入されても被害が広がらないか」</a:t>
            </a:r>
            <a:endParaRPr lang="en-US" sz="1500" dirty="0"/>
          </a:p>
        </p:txBody>
      </p:sp>
      <p:sp>
        <p:nvSpPr>
          <p:cNvPr id="17" name="num-441"/>
          <p:cNvSpPr/>
          <p:nvPr/>
        </p:nvSpPr>
        <p:spPr>
          <a:xfrm>
            <a:off x="731520" y="5394960"/>
            <a:ext cx="502920" cy="502920"/>
          </a:xfrm>
          <a:prstGeom prst="ellipse">
            <a:avLst/>
          </a:prstGeom>
          <a:solidFill>
            <a:schemeClr val="accent3"/>
          </a:solidFill>
          <a:ln w="12700">
            <a:solidFill>
              <a:schemeClr val="accent3"/>
            </a:solidFill>
            <a:prstDash val="solid"/>
          </a:ln>
        </p:spPr>
      </p:sp>
      <p:sp>
        <p:nvSpPr>
          <p:cNvPr id="18" name="text-442"/>
          <p:cNvSpPr txBox="1"/>
          <p:nvPr/>
        </p:nvSpPr>
        <p:spPr>
          <a:xfrm>
            <a:off x="731520" y="5394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443"/>
          <p:cNvSpPr txBox="1"/>
          <p:nvPr/>
        </p:nvSpPr>
        <p:spPr>
          <a:xfrm>
            <a:off x="1417320" y="5349240"/>
            <a:ext cx="5943600" cy="822960"/>
          </a:xfrm>
          <a:prstGeom prst="rect">
            <a:avLst/>
          </a:prstGeom>
          <a:noFill/>
          <a:ln/>
        </p:spPr>
        <p:txBody>
          <a:bodyPr wrap="square" lIns="0" tIns="0" rIns="0" bIns="0" rtlCol="0" anchor="t"/>
          <a:lstStyle/>
          <a:p>
            <a:pPr indent="0" marL="0">
              <a:buNone/>
            </a:pPr>
            <a:r>
              <a:rPr lang="en-US" sz="1500" dirty="0">
                <a:solidFill>
                  <a:schemeClr val="bg1"/>
                </a:solidFill>
              </a:rPr>
              <a:t>審査はリスクに比例させる。Tier 条件と受容者は設計案</a:t>
            </a:r>
            <a:endParaRPr lang="en-US" sz="1500" dirty="0"/>
          </a:p>
        </p:txBody>
      </p:sp>
      <p:sp>
        <p:nvSpPr>
          <p:cNvPr id="20" name="card-444"/>
          <p:cNvSpPr/>
          <p:nvPr/>
        </p:nvSpPr>
        <p:spPr>
          <a:xfrm>
            <a:off x="7772400" y="1325880"/>
            <a:ext cx="3840480" cy="4937760"/>
          </a:xfrm>
          <a:prstGeom prst="roundRect">
            <a:avLst>
              <a:gd name="adj" fmla="val 1905"/>
            </a:avLst>
          </a:prstGeom>
          <a:solidFill>
            <a:schemeClr val="accent1"/>
          </a:solidFill>
          <a:ln w="12700">
            <a:solidFill>
              <a:schemeClr val="accent1"/>
            </a:solidFill>
            <a:prstDash val="solid"/>
          </a:ln>
        </p:spPr>
      </p:sp>
      <p:sp>
        <p:nvSpPr>
          <p:cNvPr id="21" name="text-445"/>
          <p:cNvSpPr txBox="1"/>
          <p:nvPr/>
        </p:nvSpPr>
        <p:spPr>
          <a:xfrm>
            <a:off x="8046720" y="1554480"/>
            <a:ext cx="3383280" cy="457200"/>
          </a:xfrm>
          <a:prstGeom prst="rect">
            <a:avLst/>
          </a:prstGeom>
          <a:noFill/>
          <a:ln/>
        </p:spPr>
        <p:txBody>
          <a:bodyPr wrap="square" lIns="0" tIns="0" rIns="0" bIns="0" rtlCol="0" anchor="t"/>
          <a:lstStyle/>
          <a:p>
            <a:pPr indent="0" marL="0">
              <a:buNone/>
            </a:pPr>
            <a:r>
              <a:rPr lang="en-US" sz="1700" b="1" dirty="0">
                <a:solidFill>
                  <a:schemeClr val="bg1"/>
                </a:solidFill>
              </a:rPr>
              <a:t>今後IT部門内で決めること</a:t>
            </a:r>
            <a:endParaRPr lang="en-US" sz="1700" dirty="0"/>
          </a:p>
        </p:txBody>
      </p:sp>
      <p:sp>
        <p:nvSpPr>
          <p:cNvPr id="22" name="text-446"/>
          <p:cNvSpPr txBox="1"/>
          <p:nvPr/>
        </p:nvSpPr>
        <p:spPr>
          <a:xfrm>
            <a:off x="8046720" y="2148840"/>
            <a:ext cx="3383280" cy="39319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bg1"/>
                </a:solidFill>
              </a:rPr>
              <a:t>リスク許容度と Tier 条件の確定</a:t>
            </a:r>
            <a:endParaRPr lang="en-US" sz="1500" dirty="0"/>
          </a:p>
          <a:p>
            <a:pPr marL="342900" indent="-342900">
              <a:spcAft>
                <a:spcPts val="1200"/>
              </a:spcAft>
              <a:buSzPct val="100000"/>
              <a:buChar char="•"/>
            </a:pPr>
            <a:r>
              <a:rPr lang="en-US" sz="1500" dirty="0">
                <a:solidFill>
                  <a:schemeClr val="bg1"/>
                </a:solidFill>
              </a:rPr>
              <a:t>残留リスクの受容者（Medium＝部門長、High＝経営層の案の是非）</a:t>
            </a:r>
            <a:endParaRPr lang="en-US" sz="1500" dirty="0"/>
          </a:p>
          <a:p>
            <a:pPr marL="342900" indent="-342900">
              <a:spcAft>
                <a:spcPts val="1200"/>
              </a:spcAft>
              <a:buSzPct val="100000"/>
              <a:buChar char="•"/>
            </a:pPr>
            <a:r>
              <a:rPr lang="en-US" sz="1500" dirty="0">
                <a:solidFill>
                  <a:schemeClr val="bg1"/>
                </a:solidFill>
              </a:rPr>
              <a:t>レッドチーミングを内製するか外部委託するか</a:t>
            </a:r>
            <a:endParaRPr lang="en-US" sz="1500" dirty="0"/>
          </a:p>
          <a:p>
            <a:pPr marL="342900" indent="-342900">
              <a:spcAft>
                <a:spcPts val="1200"/>
              </a:spcAft>
              <a:buSzPct val="100000"/>
              <a:buChar char="•"/>
            </a:pPr>
            <a:r>
              <a:rPr lang="en-US" sz="1500" dirty="0">
                <a:solidFill>
                  <a:schemeClr val="bg1"/>
                </a:solidFill>
              </a:rPr>
              <a:t>経営層への提示の時期と内容（投資額を含む）</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chemeClr val="tx2"/>
                </a:solidFill>
              </a:rPr>
              <a:t>付録：参照した枠組みと版</a:t>
            </a:r>
            <a:endParaRPr lang="en-US" sz="2800" dirty="0"/>
          </a:p>
        </p:txBody>
      </p:sp>
      <p:sp>
        <p:nvSpPr>
          <p:cNvPr id="3" name="Text 0"/>
          <p:cNvSpPr/>
          <p:nvPr>
            <p:ph idx="101" type="body" hasCustomPrompt="1"/>
          </p:nvPr>
        </p:nvSpPr>
        <p:spPr>
          <a:xfrm>
            <a:off x="548640" y="100584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版を固定して記録し、改訂時に見直す章を判断する基準にする</a:t>
            </a:r>
            <a:endParaRPr lang="en-US" sz="1600" dirty="0"/>
          </a:p>
        </p:txBody>
      </p:sp>
      <p:sp>
        <p:nvSpPr>
          <p:cNvPr id="4" name="Text 0"/>
          <p:cNvSpPr/>
          <p:nvPr>
            <p:ph idx="102" type="body" hasCustomPrompt="1"/>
          </p:nvPr>
        </p:nvSpPr>
        <p:spPr>
          <a:xfrm>
            <a:off x="548640" y="6400800"/>
            <a:ext cx="10241280" cy="274320"/>
          </a:xfrm>
          <a:prstGeom prst="rect">
            <a:avLst/>
          </a:prstGeom>
          <a:noFill/>
          <a:ln/>
        </p:spPr>
        <p:txBody>
          <a:bodyPr wrap="square" lIns="0" tIns="0" rIns="0" bIns="0" rtlCol="0" anchor="ctr"/>
          <a:lstStyle/>
          <a:p>
            <a:pPr indent="0" marL="0">
              <a:buNone/>
            </a:pPr>
            <a:r>
              <a:rPr lang="en-US" sz="1000" dirty="0">
                <a:solidFill>
                  <a:schemeClr val="accent4"/>
                </a:solidFill>
              </a:rPr>
              <a:t>出典：appendix/A_framework-sources.md</a:t>
            </a:r>
            <a:endParaRPr lang="en-US" sz="1000" dirty="0"/>
          </a:p>
        </p:txBody>
      </p:sp>
      <p:graphicFrame>
        <p:nvGraphicFramePr>
          <p:cNvPr id="26" name="table-447"/>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4846320"/>
                <a:gridCol w="3108960"/>
                <a:gridCol w="3108960"/>
              </a:tblGrid>
              <a:tr h="548640">
                <a:tc>
                  <a:txBody>
                    <a:bodyPr/>
                    <a:lstStyle/>
                    <a:p>
                      <a:pPr indent="0" marL="0">
                        <a:buNone/>
                      </a:pPr>
                      <a:r>
                        <a:rPr lang="en-US" sz="1400" b="1" dirty="0">
                          <a:solidFill>
                            <a:schemeClr val="bg1"/>
                          </a:solidFill>
                          <a:latin typeface="Yu Gothic" pitchFamily="34" charset="0"/>
                          <a:ea typeface="Yu Gothic" pitchFamily="34" charset="-122"/>
                          <a:cs typeface="Yu Gothic" pitchFamily="34" charset="-120"/>
                        </a:rPr>
                        <a:t>枠組み</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Yu Gothic" pitchFamily="34" charset="0"/>
                          <a:ea typeface="Yu Gothic" pitchFamily="34" charset="-122"/>
                          <a:cs typeface="Yu Gothic" pitchFamily="34" charset="-120"/>
                        </a:rPr>
                        <a:t>版</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Yu Gothic" pitchFamily="34" charset="0"/>
                          <a:ea typeface="Yu Gothic" pitchFamily="34" charset="-122"/>
                          <a:cs typeface="Yu Gothic" pitchFamily="34" charset="-120"/>
                        </a:rPr>
                        <a:t>主に使った箇所</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r>
              <a:tr h="548640">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NIST AI 100-1（AI RMF 1.0）＋ 公式日本語訳</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1.0（2023-01）</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コア・用語（全体）</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NIST AI RMF Playbook</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AIRC 版</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評価テンプレートの設問</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NIST AI 600-1（Generative AI Profile）</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2024-07</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12リスク、台帳の項目</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OWASP Top 10 for LLM Applications</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2026（v1.0, 2026-08-04）</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10リスク、付録Aの対応表</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OWASP Top 10 for Agentic Applications</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2026（2025-12-09）</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エージェントの10リスクと設計原則</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OWASP GenAI Security Crosswalk</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v4.0.0（2026-08-28）</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CSF 2.0 との接続、重大度</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48640">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NIST CSF 2.0／IR 8596／COSAiS</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2024-02／準備草案／草案作成中</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chemeClr val="tx1"/>
                          </a:solidFill>
                          <a:latin typeface="Yu Gothic" pitchFamily="34" charset="0"/>
                          <a:ea typeface="Yu Gothic" pitchFamily="34" charset="-122"/>
                          <a:cs typeface="Yu Gothic" pitchFamily="34" charset="-120"/>
                        </a:rPr>
                        <a:t>既存ガバナンス、追跡対象</a:t>
                      </a:r>
                      <a:endParaRPr lang="en-US" sz="1400" dirty="0">
                        <a:latin typeface="Yu Gothic" charset="0"/>
                        <a:ea typeface="Yu Gothic" charset="0"/>
                        <a:cs typeface="Yu Gothic" charset="0"/>
                      </a:endParaRPr>
                    </a:p>
                  </a:txBody>
                  <a:tcPr marL="109728" marR="109728"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AI Security Governance">
  <a:themeElements>
    <a:clrScheme name="AI Security Governance">
      <a:dk1>
        <a:srgbClr val="1E293B"/>
      </a:dk1>
      <a:lt1>
        <a:srgbClr val="FFFFFF"/>
      </a:lt1>
      <a:dk2>
        <a:srgbClr val="1F2A44"/>
      </a:dk2>
      <a:lt2>
        <a:srgbClr val="F1F5F9"/>
      </a:lt2>
      <a:accent1>
        <a:srgbClr val="1F3A68"/>
      </a:accent1>
      <a:accent2>
        <a:srgbClr val="0F766E"/>
      </a:accent2>
      <a:accent3>
        <a:srgbClr val="C2410C"/>
      </a:accent3>
      <a:accent4>
        <a:srgbClr val="64748B"/>
      </a:accent4>
      <a:accent5>
        <a:srgbClr val="B45309"/>
      </a:accent5>
      <a:accent6>
        <a:srgbClr val="CBD5E1"/>
      </a:accent6>
      <a:hlink>
        <a:srgbClr val="0F766E"/>
      </a:hlink>
      <a:folHlink>
        <a:srgbClr val="64748B"/>
      </a:folHlink>
    </a:clrScheme>
    <a:fontScheme name="AI Security Governan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生成AIセキュリティガバナンス導入の考え方</dc:title>
  <dc:subject>PptxGenJS Presentation</dc:subject>
  <dc:creator>IT部門 セキュリティガバナンス</dc:creator>
  <cp:lastModifiedBy>IT部門 セキュリティガバナンス</cp:lastModifiedBy>
  <cp:revision>1</cp:revision>
  <dcterms:created xsi:type="dcterms:W3CDTF">2026-10-10T10:17:41Z</dcterms:created>
  <dcterms:modified xsi:type="dcterms:W3CDTF">2026-10-10T10:17:41Z</dcterms:modified>
</cp:coreProperties>
</file>